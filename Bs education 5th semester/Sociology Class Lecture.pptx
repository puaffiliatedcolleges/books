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229.xml" ContentType="application/vnd.openxmlformats-officedocument.presentationml.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s/slide218.xml" ContentType="application/vnd.openxmlformats-officedocument.presentationml.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s/slide207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2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69.xml" ContentType="application/vnd.openxmlformats-officedocument.presentationml.slide+xml"/>
  <Override PartName="/ppt/slides/slide221.xml" ContentType="application/vnd.openxmlformats-officedocument.presentationml.slide+xml"/>
  <Override PartName="/ppt/tableStyles.xml" ContentType="application/vnd.openxmlformats-officedocument.presentationml.tableStyles+xml"/>
  <Override PartName="/ppt/slides/slide147.xml" ContentType="application/vnd.openxmlformats-officedocument.presentationml.slide+xml"/>
  <Override PartName="/ppt/slides/slide158.xml" ContentType="application/vnd.openxmlformats-officedocument.presentationml.slide+xml"/>
  <Override PartName="/ppt/slides/slide194.xml" ContentType="application/vnd.openxmlformats-officedocument.presentationml.slide+xml"/>
  <Override PartName="/ppt/slides/slide210.xml" ContentType="application/vnd.openxmlformats-officedocument.presentationml.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slides/slide183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17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5.xml" ContentType="application/vnd.openxmlformats-officedocument.presentationml.slide+xml"/>
  <Override PartName="/ppt/slides/slide237.xml" ContentType="application/vnd.openxmlformats-officedocument.presentationml.slide+xml"/>
  <Override PartName="/ppt/theme/theme2.xml" ContentType="application/vnd.openxmlformats-officedocument.them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215.xml" ContentType="application/vnd.openxmlformats-officedocument.presentationml.slide+xml"/>
  <Override PartName="/ppt/slides/slide226.xml" ContentType="application/vnd.openxmlformats-officedocument.presentationml.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99.xml" ContentType="application/vnd.openxmlformats-officedocument.presentationml.slide+xml"/>
  <Override PartName="/ppt/slides/slide204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8.xml" ContentType="application/vnd.openxmlformats-officedocument.presentationml.slide+xml"/>
  <Override PartName="/ppt/slides/slide240.xml" ContentType="application/vnd.openxmlformats-officedocument.presentationml.slide+xml"/>
  <Override PartName="/ppt/slides/slide119.xml" ContentType="application/vnd.openxmlformats-officedocument.presentationml.slide+xml"/>
  <Override PartName="/ppt/slides/slide148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s/slide195.xml" ContentType="application/vnd.openxmlformats-officedocument.presentationml.slide+xml"/>
  <Override PartName="/ppt/slides/slide20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55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slides/slide144.xml" ContentType="application/vnd.openxmlformats-officedocument.presentationml.slide+xml"/>
  <Override PartName="/ppt/slides/slide162.xml" ContentType="application/vnd.openxmlformats-officedocument.presentationml.slide+xml"/>
  <Override PartName="/ppt/slides/slide191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51.xml" ContentType="application/vnd.openxmlformats-officedocument.presentationml.slide+xml"/>
  <Override PartName="/ppt/slides/slide180.xml" ContentType="application/vnd.openxmlformats-officedocument.presentationml.slide+xml"/>
  <Override PartName="/ppt/slides/slide2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s/slide209.xml" ContentType="application/vnd.openxmlformats-officedocument.presentationml.slide+xml"/>
  <Override PartName="/ppt/slides/slide22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s/slide216.xml" ContentType="application/vnd.openxmlformats-officedocument.presentationml.slide+xml"/>
  <Override PartName="/ppt/slides/slide234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205.xml" ContentType="application/vnd.openxmlformats-officedocument.presentationml.slide+xml"/>
  <Override PartName="/ppt/slides/slide223.xml" ContentType="application/vnd.openxmlformats-officedocument.presentationml.slide+xml"/>
  <Override PartName="/ppt/slides/slide241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78.xml" ContentType="application/vnd.openxmlformats-officedocument.presentationml.slide+xml"/>
  <Override PartName="/ppt/slides/slide196.xml" ContentType="application/vnd.openxmlformats-officedocument.presentationml.slide+xml"/>
  <Override PartName="/ppt/slides/slide212.xml" ContentType="application/vnd.openxmlformats-officedocument.presentationml.slide+xml"/>
  <Override PartName="/ppt/slides/slide2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slides/slide167.xml" ContentType="application/vnd.openxmlformats-officedocument.presentationml.slide+xml"/>
  <Override PartName="/ppt/slides/slide185.xml" ContentType="application/vnd.openxmlformats-officedocument.presentationml.slide+xml"/>
  <Override PartName="/ppt/slides/slide201.xml" ContentType="application/vnd.openxmlformats-officedocument.presentationml.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74.xml" ContentType="application/vnd.openxmlformats-officedocument.presentationml.slide+xml"/>
  <Override PartName="/ppt/slides/slide192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s/slide163.xml" ContentType="application/vnd.openxmlformats-officedocument.presentationml.slide+xml"/>
  <Override PartName="/ppt/slides/slide181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slides/slide170.xml" ContentType="application/vnd.openxmlformats-officedocument.presentationml.slide+xml"/>
  <Override PartName="/ppt/slides/slide239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s/slide217.xml" ContentType="application/vnd.openxmlformats-officedocument.presentationml.slide+xml"/>
  <Override PartName="/ppt/slides/slide228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s/slide206.xml" ContentType="application/vnd.openxmlformats-officedocument.presentationml.slide+xml"/>
  <Override PartName="/ppt/slides/slide235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s/slide213.xml" ContentType="application/vnd.openxmlformats-officedocument.presentationml.slide+xml"/>
  <Override PartName="/ppt/slides/slide22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197.xml" ContentType="application/vnd.openxmlformats-officedocument.presentationml.slide+xml"/>
  <Override PartName="/ppt/slides/slide202.xml" ContentType="application/vnd.openxmlformats-officedocument.presentationml.slide+xml"/>
  <Override PartName="/ppt/slides/slide231.xml" ContentType="application/vnd.openxmlformats-officedocument.presentationml.slide+xml"/>
  <Override PartName="/ppt/slides/slide139.xml" ContentType="application/vnd.openxmlformats-officedocument.presentationml.slide+xml"/>
  <Override PartName="/ppt/slides/slide157.xml" ContentType="application/vnd.openxmlformats-officedocument.presentationml.slide+xml"/>
  <Override PartName="/ppt/slides/slide186.xml" ContentType="application/vnd.openxmlformats-officedocument.presentationml.slide+xml"/>
  <Override PartName="/ppt/slides/slide220.xml" ContentType="application/vnd.openxmlformats-officedocument.presentationml.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46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slides/slide193.xml" ContentType="application/vnd.openxmlformats-officedocument.presentationml.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53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s/slide2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slides/slide225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slides/slide214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  <Override PartName="/ppt/slides/slide198.xml" ContentType="application/vnd.openxmlformats-officedocument.presentationml.slide+xml"/>
  <Override PartName="/ppt/slides/slide203.xml" ContentType="application/vnd.openxmlformats-officedocument.presentationml.slide+xml"/>
  <Override PartName="/ppt/slides/slide129.xml" ContentType="application/vnd.openxmlformats-officedocument.presentationml.slide+xml"/>
  <Override PartName="/ppt/slides/slide176.xml" ContentType="application/vnd.openxmlformats-officedocument.presentationml.slide+xml"/>
  <Override PartName="/ppt/slides/slide118.xml" ContentType="application/vnd.openxmlformats-officedocument.presentationml.slide+xml"/>
  <Override PartName="/ppt/slides/slide165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slides/slide208.xml" ContentType="application/vnd.openxmlformats-officedocument.presentationml.slide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51.xml" ContentType="application/vnd.openxmlformats-officedocument.presentationml.slide+xml"/>
  <Override PartName="/ppt/slides/slide233.xml" ContentType="application/vnd.openxmlformats-officedocument.presentationml.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211.xml" ContentType="application/vnd.openxmlformats-officedocument.presentationml.slide+xml"/>
  <Override PartName="/ppt/slides/slide2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43"/>
  </p:notesMasterIdLst>
  <p:sldIdLst>
    <p:sldId id="256" r:id="rId2"/>
    <p:sldId id="265" r:id="rId3"/>
    <p:sldId id="266" r:id="rId4"/>
    <p:sldId id="267" r:id="rId5"/>
    <p:sldId id="268" r:id="rId6"/>
    <p:sldId id="382" r:id="rId7"/>
    <p:sldId id="383" r:id="rId8"/>
    <p:sldId id="384" r:id="rId9"/>
    <p:sldId id="390" r:id="rId10"/>
    <p:sldId id="385" r:id="rId11"/>
    <p:sldId id="386" r:id="rId12"/>
    <p:sldId id="387" r:id="rId13"/>
    <p:sldId id="388" r:id="rId14"/>
    <p:sldId id="389" r:id="rId15"/>
    <p:sldId id="264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9" r:id="rId63"/>
    <p:sldId id="308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20" r:id="rId74"/>
    <p:sldId id="319" r:id="rId75"/>
    <p:sldId id="321" r:id="rId76"/>
    <p:sldId id="322" r:id="rId77"/>
    <p:sldId id="323" r:id="rId78"/>
    <p:sldId id="324" r:id="rId79"/>
    <p:sldId id="325" r:id="rId80"/>
    <p:sldId id="326" r:id="rId81"/>
    <p:sldId id="327" r:id="rId82"/>
    <p:sldId id="328" r:id="rId83"/>
    <p:sldId id="329" r:id="rId84"/>
    <p:sldId id="330" r:id="rId85"/>
    <p:sldId id="331" r:id="rId86"/>
    <p:sldId id="332" r:id="rId87"/>
    <p:sldId id="334" r:id="rId88"/>
    <p:sldId id="333" r:id="rId89"/>
    <p:sldId id="335" r:id="rId90"/>
    <p:sldId id="336" r:id="rId91"/>
    <p:sldId id="337" r:id="rId92"/>
    <p:sldId id="338" r:id="rId93"/>
    <p:sldId id="339" r:id="rId94"/>
    <p:sldId id="340" r:id="rId95"/>
    <p:sldId id="341" r:id="rId96"/>
    <p:sldId id="342" r:id="rId97"/>
    <p:sldId id="343" r:id="rId98"/>
    <p:sldId id="344" r:id="rId99"/>
    <p:sldId id="345" r:id="rId100"/>
    <p:sldId id="347" r:id="rId101"/>
    <p:sldId id="346" r:id="rId102"/>
    <p:sldId id="348" r:id="rId103"/>
    <p:sldId id="349" r:id="rId104"/>
    <p:sldId id="350" r:id="rId105"/>
    <p:sldId id="351" r:id="rId106"/>
    <p:sldId id="352" r:id="rId107"/>
    <p:sldId id="353" r:id="rId108"/>
    <p:sldId id="354" r:id="rId109"/>
    <p:sldId id="355" r:id="rId110"/>
    <p:sldId id="356" r:id="rId111"/>
    <p:sldId id="357" r:id="rId112"/>
    <p:sldId id="358" r:id="rId113"/>
    <p:sldId id="359" r:id="rId114"/>
    <p:sldId id="391" r:id="rId115"/>
    <p:sldId id="392" r:id="rId116"/>
    <p:sldId id="393" r:id="rId117"/>
    <p:sldId id="394" r:id="rId118"/>
    <p:sldId id="395" r:id="rId119"/>
    <p:sldId id="396" r:id="rId120"/>
    <p:sldId id="399" r:id="rId121"/>
    <p:sldId id="397" r:id="rId122"/>
    <p:sldId id="398" r:id="rId123"/>
    <p:sldId id="400" r:id="rId124"/>
    <p:sldId id="401" r:id="rId125"/>
    <p:sldId id="402" r:id="rId126"/>
    <p:sldId id="403" r:id="rId127"/>
    <p:sldId id="404" r:id="rId128"/>
    <p:sldId id="373" r:id="rId129"/>
    <p:sldId id="368" r:id="rId130"/>
    <p:sldId id="369" r:id="rId131"/>
    <p:sldId id="370" r:id="rId132"/>
    <p:sldId id="371" r:id="rId133"/>
    <p:sldId id="372" r:id="rId134"/>
    <p:sldId id="374" r:id="rId135"/>
    <p:sldId id="375" r:id="rId136"/>
    <p:sldId id="376" r:id="rId137"/>
    <p:sldId id="377" r:id="rId138"/>
    <p:sldId id="378" r:id="rId139"/>
    <p:sldId id="380" r:id="rId140"/>
    <p:sldId id="379" r:id="rId141"/>
    <p:sldId id="381" r:id="rId142"/>
    <p:sldId id="405" r:id="rId143"/>
    <p:sldId id="406" r:id="rId144"/>
    <p:sldId id="407" r:id="rId145"/>
    <p:sldId id="408" r:id="rId146"/>
    <p:sldId id="409" r:id="rId147"/>
    <p:sldId id="410" r:id="rId148"/>
    <p:sldId id="411" r:id="rId149"/>
    <p:sldId id="412" r:id="rId150"/>
    <p:sldId id="413" r:id="rId151"/>
    <p:sldId id="415" r:id="rId152"/>
    <p:sldId id="414" r:id="rId153"/>
    <p:sldId id="416" r:id="rId154"/>
    <p:sldId id="417" r:id="rId155"/>
    <p:sldId id="418" r:id="rId156"/>
    <p:sldId id="419" r:id="rId157"/>
    <p:sldId id="420" r:id="rId158"/>
    <p:sldId id="421" r:id="rId159"/>
    <p:sldId id="422" r:id="rId160"/>
    <p:sldId id="423" r:id="rId161"/>
    <p:sldId id="424" r:id="rId162"/>
    <p:sldId id="425" r:id="rId163"/>
    <p:sldId id="426" r:id="rId164"/>
    <p:sldId id="427" r:id="rId165"/>
    <p:sldId id="428" r:id="rId166"/>
    <p:sldId id="429" r:id="rId167"/>
    <p:sldId id="430" r:id="rId168"/>
    <p:sldId id="431" r:id="rId169"/>
    <p:sldId id="432" r:id="rId170"/>
    <p:sldId id="433" r:id="rId171"/>
    <p:sldId id="434" r:id="rId172"/>
    <p:sldId id="435" r:id="rId173"/>
    <p:sldId id="436" r:id="rId174"/>
    <p:sldId id="437" r:id="rId175"/>
    <p:sldId id="438" r:id="rId176"/>
    <p:sldId id="439" r:id="rId177"/>
    <p:sldId id="440" r:id="rId178"/>
    <p:sldId id="441" r:id="rId179"/>
    <p:sldId id="442" r:id="rId180"/>
    <p:sldId id="443" r:id="rId181"/>
    <p:sldId id="444" r:id="rId182"/>
    <p:sldId id="445" r:id="rId183"/>
    <p:sldId id="446" r:id="rId184"/>
    <p:sldId id="447" r:id="rId185"/>
    <p:sldId id="448" r:id="rId186"/>
    <p:sldId id="449" r:id="rId187"/>
    <p:sldId id="450" r:id="rId188"/>
    <p:sldId id="451" r:id="rId189"/>
    <p:sldId id="452" r:id="rId190"/>
    <p:sldId id="453" r:id="rId191"/>
    <p:sldId id="454" r:id="rId192"/>
    <p:sldId id="455" r:id="rId193"/>
    <p:sldId id="456" r:id="rId194"/>
    <p:sldId id="457" r:id="rId195"/>
    <p:sldId id="500" r:id="rId196"/>
    <p:sldId id="501" r:id="rId197"/>
    <p:sldId id="458" r:id="rId198"/>
    <p:sldId id="460" r:id="rId199"/>
    <p:sldId id="459" r:id="rId200"/>
    <p:sldId id="462" r:id="rId201"/>
    <p:sldId id="463" r:id="rId202"/>
    <p:sldId id="464" r:id="rId203"/>
    <p:sldId id="465" r:id="rId204"/>
    <p:sldId id="466" r:id="rId205"/>
    <p:sldId id="467" r:id="rId206"/>
    <p:sldId id="468" r:id="rId207"/>
    <p:sldId id="469" r:id="rId208"/>
    <p:sldId id="470" r:id="rId209"/>
    <p:sldId id="471" r:id="rId210"/>
    <p:sldId id="472" r:id="rId211"/>
    <p:sldId id="473" r:id="rId212"/>
    <p:sldId id="474" r:id="rId213"/>
    <p:sldId id="475" r:id="rId214"/>
    <p:sldId id="476" r:id="rId215"/>
    <p:sldId id="477" r:id="rId216"/>
    <p:sldId id="478" r:id="rId217"/>
    <p:sldId id="479" r:id="rId218"/>
    <p:sldId id="480" r:id="rId219"/>
    <p:sldId id="481" r:id="rId220"/>
    <p:sldId id="482" r:id="rId221"/>
    <p:sldId id="483" r:id="rId222"/>
    <p:sldId id="484" r:id="rId223"/>
    <p:sldId id="485" r:id="rId224"/>
    <p:sldId id="486" r:id="rId225"/>
    <p:sldId id="487" r:id="rId226"/>
    <p:sldId id="488" r:id="rId227"/>
    <p:sldId id="489" r:id="rId228"/>
    <p:sldId id="490" r:id="rId229"/>
    <p:sldId id="491" r:id="rId230"/>
    <p:sldId id="497" r:id="rId231"/>
    <p:sldId id="498" r:id="rId232"/>
    <p:sldId id="499" r:id="rId233"/>
    <p:sldId id="496" r:id="rId234"/>
    <p:sldId id="492" r:id="rId235"/>
    <p:sldId id="493" r:id="rId236"/>
    <p:sldId id="494" r:id="rId237"/>
    <p:sldId id="495" r:id="rId238"/>
    <p:sldId id="504" r:id="rId239"/>
    <p:sldId id="503" r:id="rId240"/>
    <p:sldId id="505" r:id="rId241"/>
    <p:sldId id="506" r:id="rId2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56" y="-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viewProps" Target="viewProps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FFAC1-73D3-436E-A317-83216ED57FCA}" type="datetimeFigureOut">
              <a:rPr lang="en-US" smtClean="0"/>
              <a:pPr/>
              <a:t>11/28/2021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696A1C-48B2-45BE-8A9E-86531BF995C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0FF9C-14BD-48DE-98C0-DCB466165960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13425-3FFD-4CB0-B214-C2905EACC39D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4D588-3863-471C-B60B-A10AF737363B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B76F7-826A-4442-9E28-7A97946A9C23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3095A-8860-443B-950C-9715DF5B2B4E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F639-7CD7-4CD4-B109-DF9C9B4A5B8C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5789-9807-460F-BD88-2C5CBF8E0AD5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43AF-A198-4A0B-8121-76CB0EC6B404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8113-2C3E-4596-88AE-99FB754F19FE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73E6-4BB8-4391-92CE-B301D749F086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DC9F-548E-429F-B9EB-8840A3F71EE9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7A20FB5-1970-44F1-B534-AC9852351B6D}" type="datetime1">
              <a:rPr lang="en-US" smtClean="0"/>
              <a:pPr/>
              <a:t>11/28/2021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0D681EF-E9A5-46FC-BAE3-F3E09C575C6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Made by ZOHAIB SHOUKAT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86585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World of People </a:t>
            </a:r>
          </a:p>
          <a:p>
            <a:r>
              <a:rPr lang="en-US" dirty="0" smtClean="0"/>
              <a:t>Systematic study of society, and social interaction.</a:t>
            </a:r>
          </a:p>
          <a:p>
            <a:r>
              <a:rPr lang="en-US" dirty="0" smtClean="0"/>
              <a:t>Word Sociology is derived from </a:t>
            </a:r>
            <a:br>
              <a:rPr lang="en-US" dirty="0" smtClean="0"/>
            </a:br>
            <a:r>
              <a:rPr lang="en-US" b="1" dirty="0" smtClean="0"/>
              <a:t>Latin</a:t>
            </a:r>
            <a:r>
              <a:rPr lang="en-US" dirty="0" smtClean="0"/>
              <a:t> word </a:t>
            </a:r>
            <a:r>
              <a:rPr lang="en-US" b="1" dirty="0" err="1" smtClean="0"/>
              <a:t>Socius</a:t>
            </a:r>
            <a:r>
              <a:rPr lang="en-US" dirty="0" smtClean="0"/>
              <a:t> (Companion) 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 smtClean="0"/>
              <a:t>Greek</a:t>
            </a:r>
            <a:r>
              <a:rPr lang="en-US" dirty="0" smtClean="0"/>
              <a:t> word </a:t>
            </a:r>
            <a:r>
              <a:rPr lang="en-US" b="1" dirty="0" err="1" smtClean="0"/>
              <a:t>Logus</a:t>
            </a:r>
            <a:r>
              <a:rPr lang="en-US" dirty="0" smtClean="0"/>
              <a:t> (study of), </a:t>
            </a:r>
          </a:p>
          <a:p>
            <a:r>
              <a:rPr lang="en-US" dirty="0" smtClean="0"/>
              <a:t>meaning </a:t>
            </a:r>
            <a:r>
              <a:rPr lang="en-US" b="1" dirty="0" smtClean="0"/>
              <a:t>“The study of companionship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dirty="0" smtClean="0"/>
              <a:t>1838 – term by </a:t>
            </a:r>
            <a:r>
              <a:rPr lang="en-US" dirty="0" err="1" smtClean="0"/>
              <a:t>Auguste</a:t>
            </a:r>
            <a:r>
              <a:rPr lang="en-US" dirty="0" smtClean="0"/>
              <a:t> Comte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464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Study of </a:t>
            </a:r>
            <a:r>
              <a:rPr lang="en-US" dirty="0" smtClean="0"/>
              <a:t>society</a:t>
            </a:r>
            <a:endParaRPr lang="en-US" dirty="0"/>
          </a:p>
          <a:p>
            <a:r>
              <a:rPr lang="en-US" dirty="0"/>
              <a:t>patterns of social </a:t>
            </a:r>
            <a:r>
              <a:rPr lang="en-US" dirty="0" smtClean="0"/>
              <a:t>relationships</a:t>
            </a:r>
          </a:p>
          <a:p>
            <a:r>
              <a:rPr lang="en-US" dirty="0" smtClean="0"/>
              <a:t>social interaction</a:t>
            </a:r>
          </a:p>
          <a:p>
            <a:r>
              <a:rPr lang="en-US" dirty="0" smtClean="0"/>
              <a:t>culture </a:t>
            </a:r>
            <a:r>
              <a:rPr lang="en-US" dirty="0"/>
              <a:t>that surrounds everyday life.</a:t>
            </a:r>
          </a:p>
          <a:p>
            <a:r>
              <a:rPr lang="en-US" dirty="0"/>
              <a:t>Uses various methods of empirical investigation and critical analysis to develop a body of knowledge </a:t>
            </a:r>
            <a:r>
              <a:rPr lang="en-US" b="1" dirty="0"/>
              <a:t>about social order and social change</a:t>
            </a:r>
            <a:r>
              <a:rPr lang="en-US" b="1" dirty="0" smtClean="0"/>
              <a:t>.</a:t>
            </a:r>
          </a:p>
          <a:p>
            <a:endParaRPr lang="en-US" b="1" dirty="0" smtClean="0"/>
          </a:p>
          <a:p>
            <a:r>
              <a:rPr lang="en-US" dirty="0" smtClean="0"/>
              <a:t>Society is </a:t>
            </a:r>
            <a:r>
              <a:rPr lang="en-US" dirty="0" err="1" smtClean="0"/>
              <a:t>v.big</a:t>
            </a:r>
            <a:r>
              <a:rPr lang="en-US" dirty="0" smtClean="0"/>
              <a:t> (2 Nations) but also </a:t>
            </a:r>
            <a:r>
              <a:rPr lang="en-US" dirty="0" err="1" smtClean="0"/>
              <a:t>v.small</a:t>
            </a:r>
            <a:r>
              <a:rPr lang="en-US" dirty="0" smtClean="0"/>
              <a:t>  (2 Persons)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897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Scientific study of society – August Comte</a:t>
            </a:r>
          </a:p>
          <a:p>
            <a:r>
              <a:rPr lang="en-US" dirty="0" smtClean="0"/>
              <a:t>Study of Social action – Max Weber</a:t>
            </a:r>
          </a:p>
          <a:p>
            <a:r>
              <a:rPr lang="en-US" dirty="0" smtClean="0"/>
              <a:t>Study of collective behavior – Park and Burgess</a:t>
            </a:r>
          </a:p>
          <a:p>
            <a:r>
              <a:rPr lang="en-US" dirty="0" smtClean="0"/>
              <a:t>Study of social facts through social institution – Emile Durkheim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2278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of Sociology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human diversity</a:t>
            </a:r>
          </a:p>
          <a:p>
            <a:r>
              <a:rPr lang="en-US" dirty="0" smtClean="0"/>
              <a:t>Explain crime and deviance</a:t>
            </a:r>
          </a:p>
          <a:p>
            <a:r>
              <a:rPr lang="en-US" dirty="0" smtClean="0"/>
              <a:t>Understand complex world</a:t>
            </a:r>
          </a:p>
          <a:p>
            <a:r>
              <a:rPr lang="en-US" dirty="0" smtClean="0"/>
              <a:t>Develops rational thinking</a:t>
            </a:r>
          </a:p>
          <a:p>
            <a:r>
              <a:rPr lang="en-US" dirty="0" smtClean="0"/>
              <a:t>Develop underdeveloped world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9235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SOCIOLOGICAL </a:t>
            </a:r>
            <a:br>
              <a:rPr lang="en-US" dirty="0" smtClean="0"/>
            </a:br>
            <a:r>
              <a:rPr lang="en-US" dirty="0" smtClean="0"/>
              <a:t>PERSPECTIVES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SOCIOLOGICAL PERSPECTIVES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Way of looking at the world</a:t>
            </a:r>
          </a:p>
          <a:p>
            <a:r>
              <a:rPr lang="en-US" dirty="0" smtClean="0"/>
              <a:t>Relationship between individual and the broader societal patterns</a:t>
            </a:r>
          </a:p>
          <a:p>
            <a:endParaRPr lang="en-US" dirty="0" smtClean="0"/>
          </a:p>
          <a:p>
            <a:r>
              <a:rPr lang="en-US" dirty="0" smtClean="0"/>
              <a:t>Perspectives –frameworks that generate theories to explain social world , structure and relationship</a:t>
            </a:r>
          </a:p>
          <a:p>
            <a:r>
              <a:rPr lang="en-US" dirty="0" smtClean="0"/>
              <a:t>Facilitates to explain phenomenon 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 rise in crime  ……….unemployment……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u="sng" dirty="0" smtClean="0"/>
              <a:t>PETER BERGER defines 3 goals of perspectives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arenR"/>
            </a:pPr>
            <a:r>
              <a:rPr lang="en-US" u="sng" dirty="0" smtClean="0"/>
              <a:t>Looking for general in the particular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by placing it in wider social context</a:t>
            </a:r>
            <a:br>
              <a:rPr lang="en-US" dirty="0" smtClean="0"/>
            </a:br>
            <a:r>
              <a:rPr lang="en-US" dirty="0" smtClean="0"/>
              <a:t>- looking individual abusing – pattern –from broken families</a:t>
            </a:r>
            <a:br>
              <a:rPr lang="en-US" dirty="0" smtClean="0"/>
            </a:br>
            <a:r>
              <a:rPr lang="en-US" dirty="0" smtClean="0"/>
              <a:t>- What you sing/listen – influence </a:t>
            </a:r>
            <a:br>
              <a:rPr lang="en-US" dirty="0" smtClean="0"/>
            </a:br>
            <a:r>
              <a:rPr lang="en-US" dirty="0" smtClean="0"/>
              <a:t>- Marriage</a:t>
            </a:r>
          </a:p>
          <a:p>
            <a:pPr marL="514350" indent="-514350">
              <a:buAutoNum type="arabicParenR"/>
            </a:pPr>
            <a:r>
              <a:rPr lang="en-US" u="sng" dirty="0" smtClean="0"/>
              <a:t>Looking for the strange pattern in the familiar environment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raise hands in math class but not on dinner table </a:t>
            </a:r>
            <a:br>
              <a:rPr lang="en-US" dirty="0" smtClean="0"/>
            </a:br>
            <a:r>
              <a:rPr lang="en-US" dirty="0" smtClean="0"/>
              <a:t>- looks things as strange and unfamiliar to understand how they work</a:t>
            </a:r>
          </a:p>
          <a:p>
            <a:pPr marL="514350" indent="-514350">
              <a:buAutoNum type="arabicParenR"/>
            </a:pPr>
            <a:r>
              <a:rPr lang="en-US" u="sng" dirty="0" smtClean="0"/>
              <a:t>Looking for Social Influence in Individual Life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in decision making </a:t>
            </a:r>
            <a:br>
              <a:rPr lang="en-US" dirty="0" smtClean="0"/>
            </a:br>
            <a:r>
              <a:rPr lang="en-US" dirty="0" smtClean="0"/>
              <a:t>-choosing university, partner </a:t>
            </a:r>
            <a:br>
              <a:rPr lang="en-US" dirty="0" smtClean="0"/>
            </a:br>
            <a:r>
              <a:rPr lang="en-US" dirty="0" smtClean="0"/>
              <a:t>- Durkheim- suicide (seems personal)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Social location , Marginalization, Power &amp; Inequality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Location – race, social class, gender, religion</a:t>
            </a:r>
          </a:p>
          <a:p>
            <a:r>
              <a:rPr lang="en-US" dirty="0" smtClean="0"/>
              <a:t>Person choices are influenced by Social Location</a:t>
            </a:r>
          </a:p>
          <a:p>
            <a:endParaRPr lang="en-US" dirty="0" smtClean="0"/>
          </a:p>
          <a:p>
            <a:r>
              <a:rPr lang="en-US" dirty="0" smtClean="0"/>
              <a:t>Marginalization – Social location contribute to marginalization of social group </a:t>
            </a:r>
          </a:p>
          <a:p>
            <a:r>
              <a:rPr lang="en-US" dirty="0" smtClean="0"/>
              <a:t>If marginalized – position outside the Centers of Power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SOCIOLOGICAL PERSPECTIVES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MACRO LEVEL – broad structural aspects</a:t>
            </a:r>
            <a:br>
              <a:rPr lang="en-US" dirty="0" smtClean="0"/>
            </a:br>
            <a:r>
              <a:rPr lang="en-US" dirty="0" smtClean="0"/>
              <a:t>-looking at the big (broad scope)</a:t>
            </a:r>
            <a:br>
              <a:rPr lang="en-US" dirty="0" smtClean="0"/>
            </a:br>
            <a:r>
              <a:rPr lang="en-US" dirty="0" smtClean="0"/>
              <a:t>- Transition from feudalism to capitalism </a:t>
            </a:r>
            <a:br>
              <a:rPr lang="en-US" dirty="0" smtClean="0"/>
            </a:br>
            <a:r>
              <a:rPr lang="en-US" dirty="0" smtClean="0"/>
              <a:t>- Race and education relation</a:t>
            </a:r>
            <a:br>
              <a:rPr lang="en-US" dirty="0" smtClean="0"/>
            </a:br>
            <a:r>
              <a:rPr lang="en-US" dirty="0" smtClean="0"/>
              <a:t>-Healthcare Racism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smtClean="0"/>
              <a:t>MICRO LEVEL – how individual construct</a:t>
            </a:r>
            <a:br>
              <a:rPr lang="en-US" dirty="0" smtClean="0"/>
            </a:br>
            <a:r>
              <a:rPr lang="en-US" dirty="0" smtClean="0"/>
              <a:t>- interactions between individual </a:t>
            </a:r>
            <a:br>
              <a:rPr lang="en-US" dirty="0" smtClean="0"/>
            </a:br>
            <a:r>
              <a:rPr lang="en-US" dirty="0" smtClean="0"/>
              <a:t>- Doctor talk to different races 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SOCIOLOGICAL PERSPECTIVES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3 main sociological perspectives</a:t>
            </a:r>
          </a:p>
          <a:p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smtClean="0"/>
              <a:t>Structural Functionalism</a:t>
            </a:r>
          </a:p>
          <a:p>
            <a:pPr marL="514350" indent="-514350">
              <a:buAutoNum type="arabicParenR"/>
            </a:pPr>
            <a:r>
              <a:rPr lang="en-US" dirty="0" smtClean="0"/>
              <a:t>Social Conflict</a:t>
            </a:r>
          </a:p>
          <a:p>
            <a:pPr marL="514350" indent="-514350">
              <a:buAutoNum type="arabicParenR"/>
            </a:pPr>
            <a:r>
              <a:rPr lang="en-US" dirty="0" smtClean="0"/>
              <a:t>Symbolic </a:t>
            </a:r>
            <a:r>
              <a:rPr lang="en-US" dirty="0" err="1" smtClean="0"/>
              <a:t>Interactionism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 STRUCTURAL FUNCTIONALISM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Doctrine of organism </a:t>
            </a:r>
          </a:p>
          <a:p>
            <a:r>
              <a:rPr lang="en-US" dirty="0" smtClean="0"/>
              <a:t>Human body </a:t>
            </a:r>
          </a:p>
          <a:p>
            <a:r>
              <a:rPr lang="en-US" dirty="0" smtClean="0"/>
              <a:t>A framework for building theory that sees society as stable system of different interrelated parts – </a:t>
            </a:r>
            <a:r>
              <a:rPr lang="en-US" b="1" dirty="0" smtClean="0"/>
              <a:t>solidarity and stability</a:t>
            </a:r>
          </a:p>
          <a:p>
            <a:r>
              <a:rPr lang="en-US" dirty="0" err="1" smtClean="0"/>
              <a:t>Khuldun</a:t>
            </a:r>
            <a:r>
              <a:rPr lang="en-US" dirty="0" smtClean="0"/>
              <a:t>, August Comte, Durkheim, Herbert Spencer, </a:t>
            </a:r>
            <a:r>
              <a:rPr lang="en-US" dirty="0" err="1" smtClean="0"/>
              <a:t>Talcott</a:t>
            </a:r>
            <a:r>
              <a:rPr lang="en-US" dirty="0" smtClean="0"/>
              <a:t> Parson</a:t>
            </a:r>
          </a:p>
          <a:p>
            <a:r>
              <a:rPr lang="en-US" dirty="0" smtClean="0"/>
              <a:t>Change in one – effect other</a:t>
            </a:r>
          </a:p>
          <a:p>
            <a:r>
              <a:rPr lang="en-US" dirty="0" smtClean="0"/>
              <a:t>Family function – socialize children –if failed – crime</a:t>
            </a:r>
          </a:p>
          <a:p>
            <a:endParaRPr lang="en-US" dirty="0" smtClean="0"/>
          </a:p>
          <a:p>
            <a:r>
              <a:rPr lang="en-US" dirty="0" smtClean="0"/>
              <a:t>FUNCTIONS </a:t>
            </a:r>
          </a:p>
          <a:p>
            <a:pPr marL="514350" indent="-514350">
              <a:buAutoNum type="alphaLcParenR"/>
            </a:pPr>
            <a:r>
              <a:rPr lang="en-US" dirty="0" smtClean="0"/>
              <a:t>Manifest Functions – intended, deliberate recognized outcomes</a:t>
            </a:r>
          </a:p>
          <a:p>
            <a:pPr marL="514350" indent="-514350">
              <a:buAutoNum type="alphaLcParenR"/>
            </a:pPr>
            <a:r>
              <a:rPr lang="en-US" dirty="0" smtClean="0"/>
              <a:t>Latent Function – unintended, involuntary outcomes</a:t>
            </a:r>
          </a:p>
          <a:p>
            <a:pPr marL="514350" indent="-514350">
              <a:buAutoNum type="alphaLcParenR"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Dysfunction – outcome that can create disorder</a:t>
            </a:r>
          </a:p>
          <a:p>
            <a:pPr marL="514350" indent="-514350">
              <a:buNone/>
            </a:pPr>
            <a:r>
              <a:rPr lang="en-US" dirty="0" smtClean="0"/>
              <a:t>- Bad in dealing with change – sees bad things as positive e.g. Poverty (always people who want work)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SOCIAL CONFLICT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Consider society to be composed of various parts –in state of conflict and competition </a:t>
            </a:r>
          </a:p>
          <a:p>
            <a:r>
              <a:rPr lang="en-US" dirty="0" smtClean="0"/>
              <a:t>Society composed of binary components –rich poor, black white, male female </a:t>
            </a:r>
          </a:p>
          <a:p>
            <a:r>
              <a:rPr lang="en-US" dirty="0" smtClean="0"/>
              <a:t>One category benefitting</a:t>
            </a:r>
          </a:p>
          <a:p>
            <a:r>
              <a:rPr lang="en-US" dirty="0" smtClean="0"/>
              <a:t>Sees society as arena of inequality that generates conflict and change</a:t>
            </a:r>
          </a:p>
          <a:p>
            <a:r>
              <a:rPr lang="en-US" dirty="0" smtClean="0"/>
              <a:t>Unequal distribution</a:t>
            </a:r>
          </a:p>
          <a:p>
            <a:r>
              <a:rPr lang="en-US" dirty="0" smtClean="0"/>
              <a:t>Work of Karl Marx – because of industrialization 2 classes emerge</a:t>
            </a:r>
            <a:br>
              <a:rPr lang="en-US" dirty="0" smtClean="0"/>
            </a:br>
            <a:r>
              <a:rPr lang="en-US" dirty="0" smtClean="0"/>
              <a:t>Bourgeoisie and Proletariat  (CLASS CONFLICT THEORY)</a:t>
            </a:r>
          </a:p>
          <a:p>
            <a:r>
              <a:rPr lang="en-US" dirty="0" smtClean="0"/>
              <a:t>RACIAL AND GENDER CONFLICT</a:t>
            </a:r>
          </a:p>
          <a:p>
            <a:r>
              <a:rPr lang="en-US" dirty="0" smtClean="0"/>
              <a:t>Macro- looks at how society defines sources of inequality and conflict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3) SYMBOLIC INTERACTIONISM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It looks at the whole world we create when we assign meaning to interactions and objects</a:t>
            </a:r>
          </a:p>
          <a:p>
            <a:r>
              <a:rPr lang="en-US" dirty="0" smtClean="0"/>
              <a:t>Society as product of everyday interactions</a:t>
            </a:r>
          </a:p>
          <a:p>
            <a:r>
              <a:rPr lang="en-US" dirty="0" smtClean="0"/>
              <a:t> Raw Facts - Waving hands, Hand shake</a:t>
            </a:r>
          </a:p>
          <a:p>
            <a:r>
              <a:rPr lang="en-US" dirty="0" smtClean="0"/>
              <a:t>Dog – foe/friend </a:t>
            </a:r>
          </a:p>
          <a:p>
            <a:r>
              <a:rPr lang="en-US" b="1" dirty="0" smtClean="0"/>
              <a:t>Max Weber</a:t>
            </a:r>
            <a:r>
              <a:rPr lang="en-US" dirty="0" smtClean="0"/>
              <a:t> </a:t>
            </a:r>
          </a:p>
          <a:p>
            <a:r>
              <a:rPr lang="en-US" dirty="0" smtClean="0"/>
              <a:t>Sees human as active beings – constantly shaping their social world through interaction</a:t>
            </a:r>
          </a:p>
          <a:p>
            <a:r>
              <a:rPr lang="en-US" dirty="0" smtClean="0"/>
              <a:t>Conditions  and situations – considered as real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: just assume text boring, appear boring</a:t>
            </a:r>
          </a:p>
          <a:p>
            <a:r>
              <a:rPr lang="en-US" dirty="0" smtClean="0"/>
              <a:t>Power of symbols</a:t>
            </a:r>
          </a:p>
          <a:p>
            <a:r>
              <a:rPr lang="en-US" dirty="0" smtClean="0"/>
              <a:t>Cricket match ?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INDIVIDUAL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02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SOCIABILITY OR SOCIALITY OF 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Whether reality is shaped for humans by society or</a:t>
            </a:r>
          </a:p>
          <a:p>
            <a:r>
              <a:rPr lang="en-US" dirty="0" smtClean="0"/>
              <a:t>Are humans shaping reality themselves</a:t>
            </a:r>
          </a:p>
          <a:p>
            <a:r>
              <a:rPr lang="en-US" b="1" dirty="0" smtClean="0"/>
              <a:t>Society composed of interacting individuals</a:t>
            </a:r>
          </a:p>
          <a:p>
            <a:r>
              <a:rPr lang="en-US" dirty="0" smtClean="0"/>
              <a:t>Members – connect in different associations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4407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THEORY OF SOCIABILITY BY GEORGE SIMMEL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Society – </a:t>
            </a:r>
            <a:r>
              <a:rPr lang="en-US" b="1" dirty="0" smtClean="0"/>
              <a:t>web of interacting individuals </a:t>
            </a:r>
            <a:r>
              <a:rPr lang="en-US" dirty="0" smtClean="0"/>
              <a:t>(certain drivers/purposes)</a:t>
            </a:r>
          </a:p>
          <a:p>
            <a:r>
              <a:rPr lang="en-US" b="1" dirty="0" smtClean="0"/>
              <a:t>Satisfy interests</a:t>
            </a:r>
          </a:p>
          <a:p>
            <a:r>
              <a:rPr lang="en-US" dirty="0" smtClean="0"/>
              <a:t>Argued – material of life cannot be viewed as social unless they encourage association.</a:t>
            </a:r>
          </a:p>
          <a:p>
            <a:r>
              <a:rPr lang="en-US" dirty="0" smtClean="0"/>
              <a:t>Events and phenomena are difficult for individuals to deal with</a:t>
            </a:r>
          </a:p>
          <a:p>
            <a:r>
              <a:rPr lang="en-US" b="1" dirty="0" smtClean="0"/>
              <a:t>Individual follow patterns </a:t>
            </a:r>
            <a:r>
              <a:rPr lang="en-US" dirty="0" smtClean="0"/>
              <a:t>on it which gain a life of their own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955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SELF DEVELOPMENT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GEORGE HERBERT MEAD- FATHER OF SOCIAL BEHAVIOURISM</a:t>
            </a:r>
          </a:p>
          <a:p>
            <a:r>
              <a:rPr lang="en-US" dirty="0" smtClean="0"/>
              <a:t>Development of </a:t>
            </a:r>
            <a:r>
              <a:rPr lang="en-US" b="1" dirty="0" smtClean="0"/>
              <a:t>human personality - social experience </a:t>
            </a:r>
          </a:p>
          <a:p>
            <a:r>
              <a:rPr lang="en-US" dirty="0" smtClean="0"/>
              <a:t>Self is product of social experience </a:t>
            </a:r>
          </a:p>
          <a:p>
            <a:r>
              <a:rPr lang="en-US" b="1" u="sng" dirty="0" smtClean="0"/>
              <a:t>“Personality is composed of Self </a:t>
            </a:r>
            <a:r>
              <a:rPr lang="en-US" b="1" u="sng" dirty="0"/>
              <a:t>A</a:t>
            </a:r>
            <a:r>
              <a:rPr lang="en-US" b="1" u="sng" dirty="0" smtClean="0"/>
              <a:t>wareness and Self Image” </a:t>
            </a:r>
            <a:r>
              <a:rPr lang="en-US" b="1" u="sng" dirty="0" err="1" smtClean="0"/>
              <a:t>Macionis</a:t>
            </a:r>
            <a:endParaRPr lang="en-US" b="1" u="sng" dirty="0" smtClean="0"/>
          </a:p>
          <a:p>
            <a:r>
              <a:rPr lang="en-US" dirty="0" smtClean="0"/>
              <a:t>Cannot develop in isolation</a:t>
            </a:r>
          </a:p>
          <a:p>
            <a:r>
              <a:rPr lang="en-US" dirty="0" smtClean="0"/>
              <a:t>Involve in exchange system of symbols</a:t>
            </a:r>
          </a:p>
          <a:p>
            <a:r>
              <a:rPr lang="en-US" dirty="0" smtClean="0"/>
              <a:t>Symbols- carries particular mean recognized by people who share culture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0035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 smtClean="0">
                <a:solidFill>
                  <a:srgbClr val="FF0000"/>
                </a:solidFill>
              </a:rPr>
              <a:t>C.H. Cooley</a:t>
            </a:r>
            <a:r>
              <a:rPr lang="en-US" dirty="0" smtClean="0"/>
              <a:t> – Society – mirror- see our image</a:t>
            </a:r>
          </a:p>
          <a:p>
            <a:endParaRPr lang="en-US" dirty="0"/>
          </a:p>
          <a:p>
            <a:r>
              <a:rPr lang="en-US" sz="4400" b="1" dirty="0" smtClean="0">
                <a:solidFill>
                  <a:srgbClr val="FF0000"/>
                </a:solidFill>
              </a:rPr>
              <a:t>Mead </a:t>
            </a:r>
            <a:r>
              <a:rPr lang="en-US" dirty="0" smtClean="0"/>
              <a:t>– Differentiated I and Me</a:t>
            </a:r>
          </a:p>
          <a:p>
            <a:pPr marL="0" indent="0">
              <a:buNone/>
            </a:pPr>
            <a:r>
              <a:rPr lang="en-US" dirty="0" smtClean="0"/>
              <a:t>I – Active part –initiates an action</a:t>
            </a:r>
          </a:p>
          <a:p>
            <a:pPr marL="0" indent="0">
              <a:buNone/>
            </a:pPr>
            <a:r>
              <a:rPr lang="en-US" dirty="0" smtClean="0"/>
              <a:t>Me- Passive part – Influenced by Society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2618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Mead – Development of 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 Stages</a:t>
            </a:r>
          </a:p>
          <a:p>
            <a:pPr marL="514350" indent="-514350">
              <a:buAutoNum type="arabicParenR"/>
            </a:pPr>
            <a:r>
              <a:rPr lang="en-US" dirty="0" smtClean="0"/>
              <a:t>Imitation</a:t>
            </a:r>
          </a:p>
          <a:p>
            <a:pPr marL="514350" indent="-514350">
              <a:buAutoNum type="arabicParenR"/>
            </a:pPr>
            <a:r>
              <a:rPr lang="en-US" dirty="0" smtClean="0"/>
              <a:t>Play</a:t>
            </a:r>
          </a:p>
          <a:p>
            <a:pPr marL="514350" indent="-514350">
              <a:buAutoNum type="arabicParenR"/>
            </a:pPr>
            <a:r>
              <a:rPr lang="en-US" dirty="0" smtClean="0"/>
              <a:t>Game</a:t>
            </a:r>
          </a:p>
          <a:p>
            <a:pPr marL="514350" indent="-514350">
              <a:buAutoNum type="arabicParenR"/>
            </a:pPr>
            <a:r>
              <a:rPr lang="en-US" dirty="0" smtClean="0"/>
              <a:t>Understanding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18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 IS NECESSARY FOR HUMANS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ARISTOTLE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pPr marL="514350" indent="-514350">
              <a:buAutoNum type="alphaLcParenR"/>
            </a:pPr>
            <a:r>
              <a:rPr lang="en-US" b="1" dirty="0" smtClean="0"/>
              <a:t>Kasper Houser</a:t>
            </a:r>
            <a:r>
              <a:rPr lang="en-US" dirty="0" smtClean="0"/>
              <a:t>: 1925 – 17 years – Forest of Germany – couldn’t communicate + cant walk properly</a:t>
            </a:r>
          </a:p>
          <a:p>
            <a:pPr marL="514350" indent="-514350">
              <a:buAutoNum type="alphaLcParenR"/>
            </a:pPr>
            <a:r>
              <a:rPr lang="en-US" b="1" dirty="0" smtClean="0"/>
              <a:t>Anna</a:t>
            </a:r>
            <a:r>
              <a:rPr lang="en-US" dirty="0" smtClean="0"/>
              <a:t> : American –detained in a room at age of 6 months – lacked social interaction for 5 years – unable to walk, talk and unresponsive</a:t>
            </a:r>
          </a:p>
          <a:p>
            <a:pPr marL="514350" indent="-514350">
              <a:buAutoNum type="alphaLcParenR"/>
            </a:pPr>
            <a:r>
              <a:rPr lang="en-US" b="1" dirty="0" smtClean="0"/>
              <a:t>Genie</a:t>
            </a:r>
            <a:r>
              <a:rPr lang="en-US" dirty="0" smtClean="0"/>
              <a:t>: Californian Girl – tied at age of 2 by father – discovered 1976 – 13 years – mental age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4859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9550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8469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 set of values, beliefs, Behaviors, and material objects that together constitutes a people’s way of life” </a:t>
            </a:r>
            <a:r>
              <a:rPr lang="en-US" b="1" dirty="0" err="1" smtClean="0"/>
              <a:t>Macionis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dirty="0" smtClean="0"/>
              <a:t>A totality of learned, socially transmitted behavior” </a:t>
            </a:r>
            <a:r>
              <a:rPr lang="en-US" b="1" dirty="0" err="1" smtClean="0"/>
              <a:t>R.T.Schoefer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err="1" smtClean="0"/>
              <a:t>E.B.Taylor</a:t>
            </a:r>
            <a:r>
              <a:rPr lang="en-US" b="1" dirty="0" smtClean="0"/>
              <a:t> –</a:t>
            </a:r>
            <a:r>
              <a:rPr lang="en-US" dirty="0" smtClean="0"/>
              <a:t> English Anthropologist coined term “Culture”</a:t>
            </a:r>
          </a:p>
          <a:p>
            <a:r>
              <a:rPr lang="en-US" dirty="0" smtClean="0"/>
              <a:t>Babies are born “Culturally Blank Slates”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8477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smtClean="0"/>
              <a:t>CHARACTERISTICS OF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684"/>
            <a:ext cx="10515600" cy="543131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AutoNum type="arabicParenR"/>
            </a:pPr>
            <a:r>
              <a:rPr lang="en-US" u="sng" dirty="0" smtClean="0"/>
              <a:t>Culture is Learnt </a:t>
            </a:r>
            <a:r>
              <a:rPr lang="en-US" dirty="0" smtClean="0"/>
              <a:t>– </a:t>
            </a:r>
            <a:br>
              <a:rPr lang="en-US" dirty="0" smtClean="0"/>
            </a:br>
            <a:r>
              <a:rPr lang="en-US" dirty="0" smtClean="0"/>
              <a:t>-Eating + Sleeping – Learning Agents – Process - </a:t>
            </a:r>
            <a:r>
              <a:rPr lang="en-US" b="1" dirty="0" smtClean="0"/>
              <a:t>Enculturation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Culture is Variable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Society own culture – Cultural Relativism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Culture is Social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through social interaction 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 err="1" smtClean="0"/>
              <a:t>Simmel</a:t>
            </a:r>
            <a:r>
              <a:rPr lang="en-US" dirty="0" smtClean="0"/>
              <a:t> – web of interacting individuals </a:t>
            </a:r>
          </a:p>
          <a:p>
            <a:pPr marL="514350" indent="-514350">
              <a:buAutoNum type="arabicParenR"/>
            </a:pPr>
            <a:r>
              <a:rPr lang="en-US" u="sng" dirty="0" smtClean="0"/>
              <a:t>Culture is Shared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-similar beliefs, values and norms</a:t>
            </a:r>
          </a:p>
          <a:p>
            <a:pPr marL="514350" indent="-514350">
              <a:buAutoNum type="arabicParenR"/>
            </a:pPr>
            <a:r>
              <a:rPr lang="en-US" u="sng" dirty="0" smtClean="0"/>
              <a:t>Culture is </a:t>
            </a:r>
            <a:r>
              <a:rPr lang="en-US" u="sng" dirty="0" err="1" smtClean="0"/>
              <a:t>Transmissive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from one generation to another generation - Language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Culture is Dynamic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-values have </a:t>
            </a:r>
            <a:r>
              <a:rPr lang="en-US" b="1" dirty="0" smtClean="0"/>
              <a:t>changed over times </a:t>
            </a:r>
            <a:r>
              <a:rPr lang="en-US" dirty="0" smtClean="0"/>
              <a:t>– </a:t>
            </a:r>
            <a:r>
              <a:rPr lang="en-US" b="1" dirty="0" smtClean="0"/>
              <a:t>Evolve</a:t>
            </a:r>
            <a:r>
              <a:rPr lang="en-US" dirty="0" smtClean="0"/>
              <a:t> and change – Tech 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Culture is Adaptive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adopt to </a:t>
            </a:r>
            <a:r>
              <a:rPr lang="en-US" b="1" dirty="0" smtClean="0"/>
              <a:t>changing physical and social </a:t>
            </a:r>
            <a:r>
              <a:rPr lang="en-US" dirty="0" smtClean="0"/>
              <a:t>conditions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8082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arenR"/>
            </a:pPr>
            <a:r>
              <a:rPr lang="en-US" u="sng" dirty="0" smtClean="0"/>
              <a:t>Defines Situation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culture –tool- provide symbol to access the intention of actors institution</a:t>
            </a:r>
            <a:br>
              <a:rPr lang="en-US" dirty="0" smtClean="0"/>
            </a:br>
            <a:r>
              <a:rPr lang="en-US" dirty="0" smtClean="0"/>
              <a:t>-if cat crosses way –postpone </a:t>
            </a:r>
            <a:r>
              <a:rPr lang="en-US" dirty="0" err="1" smtClean="0"/>
              <a:t>joruney</a:t>
            </a:r>
            <a:endParaRPr lang="en-US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Providing Behavioral Patterns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-learn to make societies </a:t>
            </a:r>
            <a:r>
              <a:rPr lang="en-US" b="1" dirty="0" smtClean="0"/>
              <a:t>more predictable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-understand </a:t>
            </a:r>
            <a:r>
              <a:rPr lang="en-US" b="1" dirty="0" smtClean="0"/>
              <a:t>multiple roles in multiple situation</a:t>
            </a:r>
            <a:br>
              <a:rPr lang="en-US" b="1" dirty="0" smtClean="0"/>
            </a:br>
            <a:r>
              <a:rPr lang="en-US" b="1" dirty="0" smtClean="0"/>
              <a:t>- Gender roles (Eastern / Western)</a:t>
            </a:r>
          </a:p>
          <a:p>
            <a:pPr marL="514350" indent="-514350">
              <a:buAutoNum type="arabicParenR"/>
            </a:pPr>
            <a:r>
              <a:rPr lang="en-US" u="sng" dirty="0" smtClean="0"/>
              <a:t>Transferring Knowledge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Bridge that links a society to its past - Future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Moulds Personality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- </a:t>
            </a:r>
            <a:r>
              <a:rPr lang="en-US" dirty="0"/>
              <a:t>G</a:t>
            </a:r>
            <a:r>
              <a:rPr lang="en-US" dirty="0" smtClean="0"/>
              <a:t>reek work </a:t>
            </a:r>
            <a:r>
              <a:rPr lang="en-US" b="1" dirty="0" smtClean="0"/>
              <a:t>Persona means “Mask”</a:t>
            </a:r>
            <a:br>
              <a:rPr lang="en-US" b="1" dirty="0" smtClean="0"/>
            </a:br>
            <a:r>
              <a:rPr lang="en-US" dirty="0" smtClean="0"/>
              <a:t>-shaped by society and cultural forces</a:t>
            </a:r>
            <a:br>
              <a:rPr lang="en-US" dirty="0" smtClean="0"/>
            </a:br>
            <a:r>
              <a:rPr lang="en-US" dirty="0" smtClean="0"/>
              <a:t>-</a:t>
            </a:r>
            <a:r>
              <a:rPr lang="en-US" dirty="0" err="1" smtClean="0"/>
              <a:t>e.g</a:t>
            </a:r>
            <a:r>
              <a:rPr lang="en-US" dirty="0" smtClean="0"/>
              <a:t> Donkey Meal (Act, Think, Feel)</a:t>
            </a:r>
            <a:br>
              <a:rPr lang="en-US" dirty="0" smtClean="0"/>
            </a:br>
            <a:r>
              <a:rPr lang="en-US" dirty="0" smtClean="0"/>
              <a:t>- Female’s Personality (Eastern/Western)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8413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u="sng" dirty="0" smtClean="0"/>
              <a:t>Material Culture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-Touchable, concrete, physical aspects </a:t>
            </a:r>
            <a:br>
              <a:rPr lang="en-US" dirty="0" smtClean="0"/>
            </a:br>
            <a:r>
              <a:rPr lang="en-US" dirty="0" smtClean="0"/>
              <a:t>-Food Clothing, architecture, tools, devices, vehicles, artifacts</a:t>
            </a:r>
            <a:endParaRPr lang="en-US" u="sng" dirty="0" smtClean="0"/>
          </a:p>
          <a:p>
            <a:pPr marL="514350" indent="-514350">
              <a:buAutoNum type="arabicParenR"/>
            </a:pPr>
            <a:r>
              <a:rPr lang="en-US" u="sng" dirty="0" smtClean="0"/>
              <a:t>Non Material Culture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untouchables, abstract, non-physical</a:t>
            </a:r>
            <a:br>
              <a:rPr lang="en-US" dirty="0" smtClean="0"/>
            </a:br>
            <a:r>
              <a:rPr lang="en-US" dirty="0" smtClean="0"/>
              <a:t>-norms, customs, values, language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302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ELEMENTS OF CULTURE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b="1" u="sng" dirty="0" smtClean="0"/>
              <a:t>NORMS</a:t>
            </a:r>
            <a:endParaRPr lang="en-US" b="1" u="sng" dirty="0"/>
          </a:p>
          <a:p>
            <a:r>
              <a:rPr lang="en-US" dirty="0" smtClean="0">
                <a:solidFill>
                  <a:srgbClr val="FF0000"/>
                </a:solidFill>
              </a:rPr>
              <a:t>Expectations with respect to behavior that should be followed </a:t>
            </a:r>
          </a:p>
          <a:p>
            <a:r>
              <a:rPr lang="en-US" dirty="0" smtClean="0"/>
              <a:t>Either </a:t>
            </a:r>
          </a:p>
          <a:p>
            <a:r>
              <a:rPr lang="en-US" b="1" dirty="0" smtClean="0"/>
              <a:t>Prescriptive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Proscriptive</a:t>
            </a:r>
          </a:p>
          <a:p>
            <a:endParaRPr lang="en-US" b="1" dirty="0" smtClean="0"/>
          </a:p>
          <a:p>
            <a:r>
              <a:rPr lang="en-US" dirty="0" smtClean="0"/>
              <a:t>Proscriptive norm in one culture can be Prescriptive in other</a:t>
            </a:r>
            <a:br>
              <a:rPr lang="en-US" dirty="0" smtClean="0"/>
            </a:br>
            <a:r>
              <a:rPr lang="en-US" dirty="0" smtClean="0"/>
              <a:t>- Homosexual Marriages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0890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</a:t>
            </a:r>
            <a:r>
              <a:rPr lang="en-US" dirty="0" smtClean="0"/>
              <a:t>NORMS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6913"/>
            <a:ext cx="10515600" cy="536950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Arial" panose="020B0604020202020204" pitchFamily="34" charset="0"/>
              <a:buAutoNum type="alphaUcParenR"/>
            </a:pPr>
            <a:r>
              <a:rPr lang="en-US" b="1" dirty="0">
                <a:solidFill>
                  <a:srgbClr val="FF0000"/>
                </a:solidFill>
              </a:rPr>
              <a:t>Folkways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</a:t>
            </a:r>
            <a:r>
              <a:rPr lang="en-US" b="1" dirty="0"/>
              <a:t>Not significant </a:t>
            </a:r>
            <a:r>
              <a:rPr lang="en-US" dirty="0"/>
              <a:t>(rarely serious consequences)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smtClean="0"/>
              <a:t>everyday </a:t>
            </a:r>
            <a:r>
              <a:rPr lang="en-US" dirty="0"/>
              <a:t>interaction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smtClean="0"/>
              <a:t>repetition </a:t>
            </a:r>
            <a:r>
              <a:rPr lang="en-US" dirty="0"/>
              <a:t>and routine</a:t>
            </a:r>
            <a:br>
              <a:rPr lang="en-US" dirty="0"/>
            </a:br>
            <a:r>
              <a:rPr lang="en-US" dirty="0"/>
              <a:t>-Slapping man</a:t>
            </a:r>
          </a:p>
          <a:p>
            <a:pPr marL="514350" indent="-514350">
              <a:buAutoNum type="alphaUcParenR"/>
            </a:pPr>
            <a:r>
              <a:rPr lang="en-US" b="1" dirty="0">
                <a:solidFill>
                  <a:srgbClr val="FF0000"/>
                </a:solidFill>
              </a:rPr>
              <a:t>Mores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</a:t>
            </a:r>
            <a:r>
              <a:rPr lang="en-US" b="1" dirty="0"/>
              <a:t>Highly significant</a:t>
            </a:r>
            <a:r>
              <a:rPr lang="en-US" dirty="0"/>
              <a:t> (strict)</a:t>
            </a:r>
            <a:br>
              <a:rPr lang="en-US" dirty="0"/>
            </a:br>
            <a:r>
              <a:rPr lang="en-US" dirty="0"/>
              <a:t>-considered moral and ethical behavior</a:t>
            </a:r>
            <a:br>
              <a:rPr lang="en-US" dirty="0"/>
            </a:br>
            <a:r>
              <a:rPr lang="en-US" dirty="0"/>
              <a:t>- breakdown serious response from society</a:t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/>
              <a:t>e.g</a:t>
            </a:r>
            <a:r>
              <a:rPr lang="en-US" dirty="0"/>
              <a:t> religious doctrine of mores that govern social behavior (prohibitions on cohabitating with a romantic partner before marriage) </a:t>
            </a:r>
            <a:br>
              <a:rPr lang="en-US" dirty="0"/>
            </a:br>
            <a:r>
              <a:rPr lang="en-US" dirty="0"/>
              <a:t>- discrimination and oppression, like racism and sexism another example</a:t>
            </a:r>
          </a:p>
          <a:p>
            <a:pPr marL="514350" indent="-514350">
              <a:buAutoNum type="alphaUcParenR"/>
            </a:pPr>
            <a:r>
              <a:rPr lang="en-US" b="1" dirty="0">
                <a:solidFill>
                  <a:srgbClr val="FF0000"/>
                </a:solidFill>
              </a:rPr>
              <a:t>Taboos</a:t>
            </a:r>
            <a:r>
              <a:rPr lang="en-US" dirty="0"/>
              <a:t> – </a:t>
            </a:r>
            <a:r>
              <a:rPr lang="en-US" b="1" dirty="0"/>
              <a:t>Strong negative norm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-violating it results in extreme disgust</a:t>
            </a:r>
            <a:br>
              <a:rPr lang="en-US" dirty="0"/>
            </a:br>
            <a:r>
              <a:rPr lang="en-US" dirty="0"/>
              <a:t>-violator of the taboo is considered unfit to live in that society</a:t>
            </a:r>
            <a:br>
              <a:rPr lang="en-US" dirty="0"/>
            </a:br>
            <a:r>
              <a:rPr lang="en-US" dirty="0"/>
              <a:t>-some Muslim cultures, eating pork is taboo because the pig is considered unclear</a:t>
            </a:r>
          </a:p>
          <a:p>
            <a:pPr marL="514350" indent="-51435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221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Culturally defined standards – decide what is desirable, good and beautiful</a:t>
            </a:r>
          </a:p>
          <a:p>
            <a:r>
              <a:rPr lang="en-US" dirty="0" smtClean="0"/>
              <a:t>Serve as </a:t>
            </a:r>
            <a:r>
              <a:rPr lang="en-US" b="1" dirty="0" smtClean="0"/>
              <a:t>broad guidelines </a:t>
            </a:r>
            <a:r>
              <a:rPr lang="en-US" dirty="0" smtClean="0"/>
              <a:t>of social living</a:t>
            </a:r>
          </a:p>
          <a:p>
            <a:r>
              <a:rPr lang="en-US" dirty="0" smtClean="0"/>
              <a:t>Key Values of Pakistan Society</a:t>
            </a:r>
          </a:p>
          <a:p>
            <a:pPr marL="514350" indent="-514350">
              <a:buAutoNum type="alphaLcParenR"/>
            </a:pPr>
            <a:r>
              <a:rPr lang="en-US" dirty="0" smtClean="0"/>
              <a:t>Caste and Superiority (judge by caste- his social position)</a:t>
            </a:r>
          </a:p>
          <a:p>
            <a:pPr marL="514350" indent="-514350">
              <a:buAutoNum type="alphaLcParenR"/>
            </a:pPr>
            <a:r>
              <a:rPr lang="en-US" dirty="0" smtClean="0"/>
              <a:t>Hospitality (Khyber </a:t>
            </a:r>
            <a:r>
              <a:rPr lang="en-US" dirty="0" err="1" smtClean="0"/>
              <a:t>Pakhtunkhawa</a:t>
            </a:r>
            <a:r>
              <a:rPr lang="en-US" dirty="0" smtClean="0"/>
              <a:t>)</a:t>
            </a:r>
          </a:p>
          <a:p>
            <a:pPr marL="514350" indent="-514350">
              <a:buAutoNum type="alphaLcParenR"/>
            </a:pPr>
            <a:r>
              <a:rPr lang="en-US" dirty="0" smtClean="0"/>
              <a:t>Materialism (amount of wealth / worth)</a:t>
            </a:r>
          </a:p>
          <a:p>
            <a:pPr marL="514350" indent="-514350">
              <a:buAutoNum type="alphaLcParenR"/>
            </a:pPr>
            <a:r>
              <a:rPr lang="en-US" dirty="0" smtClean="0"/>
              <a:t>Simplicity (who spends simple life)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Can be contradictory- people who prefer making wealth avoid simplicity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9230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3)BELIEFS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Specific ideas and thoughts that people hold to be true” </a:t>
            </a:r>
            <a:r>
              <a:rPr lang="en-US" b="1" dirty="0" err="1" smtClean="0"/>
              <a:t>Macionis</a:t>
            </a:r>
            <a:endParaRPr lang="en-US" b="1" dirty="0" smtClean="0"/>
          </a:p>
          <a:p>
            <a:r>
              <a:rPr lang="en-US" dirty="0" smtClean="0"/>
              <a:t>Always speak truth</a:t>
            </a:r>
          </a:p>
          <a:p>
            <a:r>
              <a:rPr lang="en-US" dirty="0" smtClean="0"/>
              <a:t>Work hard - successful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1123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4) Sanctions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Rewards or punishments used to establish social control- </a:t>
            </a:r>
            <a:r>
              <a:rPr lang="en-US" dirty="0" smtClean="0"/>
              <a:t>enforce the norms in a society </a:t>
            </a:r>
          </a:p>
          <a:p>
            <a:r>
              <a:rPr lang="en-US" dirty="0" smtClean="0"/>
              <a:t>Attempt by society to regulate peoples thoughts and behaviors </a:t>
            </a:r>
          </a:p>
          <a:p>
            <a:r>
              <a:rPr lang="en-US" dirty="0" smtClean="0"/>
              <a:t>Either Formal or Informal</a:t>
            </a:r>
          </a:p>
          <a:p>
            <a:r>
              <a:rPr lang="en-US" b="1" dirty="0" smtClean="0"/>
              <a:t>Formal</a:t>
            </a:r>
            <a:r>
              <a:rPr lang="en-US" dirty="0" smtClean="0"/>
              <a:t> – through rules and Laws</a:t>
            </a:r>
          </a:p>
          <a:p>
            <a:r>
              <a:rPr lang="en-US" dirty="0" smtClean="0"/>
              <a:t>Positive Formal – Giving promotion to honest</a:t>
            </a:r>
          </a:p>
          <a:p>
            <a:r>
              <a:rPr lang="en-US" dirty="0" smtClean="0"/>
              <a:t>Negative Formal – Sending Govt. employee to jail for corruption</a:t>
            </a:r>
          </a:p>
          <a:p>
            <a:r>
              <a:rPr lang="en-US" b="1" dirty="0" smtClean="0"/>
              <a:t>Informal</a:t>
            </a:r>
            <a:r>
              <a:rPr lang="en-US" dirty="0" smtClean="0"/>
              <a:t> – Without rules and laws by a group, community, society.</a:t>
            </a:r>
          </a:p>
          <a:p>
            <a:r>
              <a:rPr lang="en-US" dirty="0" smtClean="0"/>
              <a:t>Positive informal – Appreciating </a:t>
            </a:r>
          </a:p>
          <a:p>
            <a:r>
              <a:rPr lang="en-US" dirty="0" smtClean="0"/>
              <a:t>Negative Informal – Attaching a stigma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47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5) CUSTOMS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Regular or patterned way of behaving and appearing (Ancient Nature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Considered characteristic of life</a:t>
            </a:r>
          </a:p>
          <a:p>
            <a:r>
              <a:rPr lang="en-US" dirty="0" smtClean="0"/>
              <a:t>Muslims pay Salam</a:t>
            </a:r>
          </a:p>
          <a:p>
            <a:r>
              <a:rPr lang="en-US" dirty="0" smtClean="0"/>
              <a:t>Bathing in River Ganga reduces sins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7125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Process of learning but what to learn varies culture to culture</a:t>
            </a:r>
          </a:p>
          <a:p>
            <a:r>
              <a:rPr lang="en-US" dirty="0" smtClean="0"/>
              <a:t>E.g. Funeral in Pak </a:t>
            </a:r>
            <a:r>
              <a:rPr lang="en-US" dirty="0"/>
              <a:t> </a:t>
            </a:r>
            <a:r>
              <a:rPr lang="en-US" dirty="0" smtClean="0"/>
              <a:t>VS </a:t>
            </a:r>
            <a:r>
              <a:rPr lang="en-US" dirty="0" err="1" smtClean="0"/>
              <a:t>Kalash</a:t>
            </a:r>
            <a:r>
              <a:rPr lang="en-US" dirty="0" smtClean="0"/>
              <a:t> Valley</a:t>
            </a:r>
          </a:p>
          <a:p>
            <a:endParaRPr lang="en-US" dirty="0"/>
          </a:p>
          <a:p>
            <a:r>
              <a:rPr lang="en-US" b="1" dirty="0" smtClean="0"/>
              <a:t>Socialize to internalize </a:t>
            </a:r>
            <a:r>
              <a:rPr lang="en-US" dirty="0" smtClean="0"/>
              <a:t>cultural norms and values</a:t>
            </a:r>
          </a:p>
          <a:p>
            <a:r>
              <a:rPr lang="en-US" dirty="0" smtClean="0"/>
              <a:t>Need a culture for survival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954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SOCIALIZATION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lphaUcParenR"/>
            </a:pPr>
            <a:r>
              <a:rPr lang="en-US" b="1" dirty="0" smtClean="0"/>
              <a:t>Primary Socialization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Infant’s – Personality </a:t>
            </a:r>
            <a:br>
              <a:rPr lang="en-US" dirty="0" smtClean="0"/>
            </a:br>
            <a:r>
              <a:rPr lang="en-US" dirty="0" smtClean="0"/>
              <a:t>-Family – important</a:t>
            </a:r>
          </a:p>
          <a:p>
            <a:pPr marL="514350" indent="-514350">
              <a:buAutoNum type="alphaUcParenR"/>
            </a:pPr>
            <a:r>
              <a:rPr lang="en-US" b="1" dirty="0" smtClean="0"/>
              <a:t>Secondary Socialization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-informal and institutional settings – Peer Groups</a:t>
            </a:r>
          </a:p>
          <a:p>
            <a:pPr marL="514350" indent="-514350">
              <a:buAutoNum type="alphaUcParenR"/>
            </a:pPr>
            <a:r>
              <a:rPr lang="en-US" b="1" dirty="0" smtClean="0"/>
              <a:t>Adult Socialization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-Social roles one acquires after adolescence  -after marriage</a:t>
            </a:r>
          </a:p>
          <a:p>
            <a:pPr marL="514350" indent="-514350">
              <a:buAutoNum type="alphaUcParenR"/>
            </a:pPr>
            <a:r>
              <a:rPr lang="en-US" b="1" dirty="0" smtClean="0"/>
              <a:t>Anticipatory Socialization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learning expectations attached to </a:t>
            </a:r>
            <a:r>
              <a:rPr lang="en-US" b="1" dirty="0" smtClean="0"/>
              <a:t>particular groups </a:t>
            </a:r>
            <a:r>
              <a:rPr lang="en-US" dirty="0" smtClean="0"/>
              <a:t>(for membership)</a:t>
            </a:r>
            <a:br>
              <a:rPr lang="en-US" dirty="0" smtClean="0"/>
            </a:br>
            <a:r>
              <a:rPr lang="en-US" dirty="0" smtClean="0"/>
              <a:t>-Business student </a:t>
            </a:r>
          </a:p>
          <a:p>
            <a:pPr marL="514350" indent="-514350">
              <a:buAutoNum type="alphaUcParenR"/>
            </a:pPr>
            <a:r>
              <a:rPr lang="en-US" b="1" dirty="0" smtClean="0"/>
              <a:t>Re- Socialization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Discard previous , favor new </a:t>
            </a:r>
            <a:br>
              <a:rPr lang="en-US" dirty="0" smtClean="0"/>
            </a:br>
            <a:r>
              <a:rPr lang="en-US" dirty="0" smtClean="0"/>
              <a:t>- Rehabilitation </a:t>
            </a:r>
            <a:r>
              <a:rPr lang="en-US" dirty="0" err="1" smtClean="0"/>
              <a:t>centres</a:t>
            </a:r>
            <a:endParaRPr lang="en-US" dirty="0" smtClean="0"/>
          </a:p>
          <a:p>
            <a:pPr marL="514350" indent="-514350">
              <a:buAutoNum type="alphaU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838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AGENTS OF SOCIALIZATION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Agents, groups or institutes – play their role in internalizing process of norms and values</a:t>
            </a:r>
          </a:p>
          <a:p>
            <a:pPr marL="514350" indent="-514350">
              <a:buAutoNum type="arabicParenR"/>
            </a:pPr>
            <a:r>
              <a:rPr lang="en-US" dirty="0" smtClean="0"/>
              <a:t>Family – </a:t>
            </a:r>
          </a:p>
          <a:p>
            <a:pPr marL="514350" indent="-514350">
              <a:buAutoNum type="arabicParenR"/>
            </a:pPr>
            <a:r>
              <a:rPr lang="en-US" dirty="0" smtClean="0"/>
              <a:t>Peer Groups </a:t>
            </a:r>
          </a:p>
          <a:p>
            <a:pPr marL="514350" indent="-514350">
              <a:buAutoNum type="arabicParenR"/>
            </a:pPr>
            <a:r>
              <a:rPr lang="en-US" dirty="0" smtClean="0"/>
              <a:t>Religious –</a:t>
            </a:r>
          </a:p>
          <a:p>
            <a:pPr marL="514350" indent="-514350">
              <a:buAutoNum type="arabicParenR"/>
            </a:pPr>
            <a:r>
              <a:rPr lang="en-US" dirty="0" smtClean="0"/>
              <a:t>Schools –  </a:t>
            </a:r>
          </a:p>
          <a:p>
            <a:pPr marL="514350" indent="-514350">
              <a:buAutoNum type="arabicParenR"/>
            </a:pPr>
            <a:r>
              <a:rPr lang="en-US" dirty="0" smtClean="0"/>
              <a:t>Mass Media – Strongest – Catalyst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32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CULTURAL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SUBCULTURE</a:t>
            </a:r>
          </a:p>
          <a:p>
            <a:r>
              <a:rPr lang="en-US" dirty="0" smtClean="0"/>
              <a:t>In harmony with mainstream</a:t>
            </a:r>
          </a:p>
          <a:p>
            <a:r>
              <a:rPr lang="en-US" dirty="0" err="1" smtClean="0"/>
              <a:t>Malangs</a:t>
            </a:r>
            <a:r>
              <a:rPr lang="en-US" dirty="0" smtClean="0"/>
              <a:t> / </a:t>
            </a:r>
            <a:r>
              <a:rPr lang="en-US" dirty="0" err="1" smtClean="0"/>
              <a:t>Kalash</a:t>
            </a:r>
            <a:endParaRPr lang="en-US" dirty="0" smtClean="0"/>
          </a:p>
          <a:p>
            <a:endParaRPr lang="en-US" dirty="0"/>
          </a:p>
          <a:p>
            <a:r>
              <a:rPr lang="en-US" b="1" u="sng" dirty="0" smtClean="0"/>
              <a:t>COUNTER-CULTURE</a:t>
            </a:r>
          </a:p>
          <a:p>
            <a:r>
              <a:rPr lang="en-US" dirty="0" smtClean="0"/>
              <a:t>Opposing mainstream </a:t>
            </a:r>
          </a:p>
          <a:p>
            <a:r>
              <a:rPr lang="en-US" dirty="0" smtClean="0"/>
              <a:t>Red Light Areas/Militants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406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ETHNOCENTRISM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Evaluate someone’s culture by using one’s own yardstick</a:t>
            </a:r>
          </a:p>
          <a:p>
            <a:r>
              <a:rPr lang="en-US" dirty="0" smtClean="0"/>
              <a:t>Own –Superior </a:t>
            </a:r>
          </a:p>
          <a:p>
            <a:r>
              <a:rPr lang="en-US" dirty="0" smtClean="0"/>
              <a:t>In-group solidarity, patriotism, nationalism</a:t>
            </a:r>
          </a:p>
          <a:p>
            <a:endParaRPr lang="en-US" dirty="0"/>
          </a:p>
          <a:p>
            <a:r>
              <a:rPr lang="en-US" dirty="0" smtClean="0"/>
              <a:t>Contrary – All conflicts </a:t>
            </a:r>
          </a:p>
          <a:p>
            <a:r>
              <a:rPr lang="en-US" dirty="0" smtClean="0"/>
              <a:t>Hijab Controversy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584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XENOCENTRISM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Contrary to ethnocentrism</a:t>
            </a:r>
          </a:p>
          <a:p>
            <a:endParaRPr lang="en-US" dirty="0"/>
          </a:p>
          <a:p>
            <a:r>
              <a:rPr lang="en-US" dirty="0" smtClean="0"/>
              <a:t>Strong preference – foreign</a:t>
            </a:r>
          </a:p>
          <a:p>
            <a:r>
              <a:rPr lang="en-US" dirty="0" smtClean="0"/>
              <a:t>English Lang</a:t>
            </a:r>
          </a:p>
          <a:p>
            <a:r>
              <a:rPr lang="en-US" dirty="0" smtClean="0"/>
              <a:t>Foreign Graduates </a:t>
            </a:r>
          </a:p>
          <a:p>
            <a:r>
              <a:rPr lang="en-US" dirty="0" smtClean="0"/>
              <a:t>Imported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0688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CULTURAL RELATIVISM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society – own traits , symbols, meanings</a:t>
            </a:r>
          </a:p>
          <a:p>
            <a:r>
              <a:rPr lang="en-US" dirty="0" smtClean="0"/>
              <a:t>Understood – social context</a:t>
            </a:r>
          </a:p>
          <a:p>
            <a:endParaRPr lang="en-US" dirty="0"/>
          </a:p>
          <a:p>
            <a:r>
              <a:rPr lang="en-US" dirty="0" smtClean="0"/>
              <a:t>Child </a:t>
            </a:r>
            <a:r>
              <a:rPr lang="en-US" dirty="0" err="1" smtClean="0"/>
              <a:t>Labour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251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MULTICULTURALISM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Stresses appreciation, protection, and institutionalization of cultural </a:t>
            </a:r>
            <a:r>
              <a:rPr lang="en-US" b="1" dirty="0" smtClean="0"/>
              <a:t>diversity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1825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565" y="365125"/>
            <a:ext cx="10515600" cy="1325563"/>
          </a:xfrm>
        </p:spPr>
        <p:txBody>
          <a:bodyPr/>
          <a:lstStyle/>
          <a:p>
            <a:r>
              <a:rPr lang="en-US" dirty="0" smtClean="0"/>
              <a:t>CULTURAL LAG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cultural elements change quickly than others</a:t>
            </a:r>
          </a:p>
          <a:p>
            <a:r>
              <a:rPr lang="en-US" dirty="0" smtClean="0"/>
              <a:t>Disrupt cultural system</a:t>
            </a:r>
          </a:p>
          <a:p>
            <a:endParaRPr lang="en-US" dirty="0"/>
          </a:p>
          <a:p>
            <a:r>
              <a:rPr lang="en-US" dirty="0" smtClean="0"/>
              <a:t>Tech changes</a:t>
            </a:r>
          </a:p>
          <a:p>
            <a:r>
              <a:rPr lang="en-US" dirty="0" smtClean="0"/>
              <a:t>In-Vitro Fertilization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5742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AND POPULAR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HIGH</a:t>
            </a:r>
            <a:r>
              <a:rPr lang="en-US" dirty="0" smtClean="0"/>
              <a:t> – elite</a:t>
            </a:r>
          </a:p>
          <a:p>
            <a:r>
              <a:rPr lang="en-US" dirty="0" smtClean="0"/>
              <a:t>Shape certain patterns</a:t>
            </a:r>
          </a:p>
          <a:p>
            <a:r>
              <a:rPr lang="en-US" dirty="0" smtClean="0"/>
              <a:t>Maintain identity</a:t>
            </a:r>
          </a:p>
          <a:p>
            <a:endParaRPr lang="en-US" dirty="0"/>
          </a:p>
          <a:p>
            <a:r>
              <a:rPr lang="en-US" b="1" u="sng" dirty="0" smtClean="0"/>
              <a:t>POPULAR –</a:t>
            </a:r>
          </a:p>
          <a:p>
            <a:r>
              <a:rPr lang="en-US" dirty="0" smtClean="0"/>
              <a:t>Widespread </a:t>
            </a:r>
          </a:p>
          <a:p>
            <a:r>
              <a:rPr lang="en-US" dirty="0" smtClean="0"/>
              <a:t>Replicate high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072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IDEAL AND REAL CULTURE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smtClean="0"/>
              <a:t>IDEAL</a:t>
            </a:r>
          </a:p>
          <a:p>
            <a:r>
              <a:rPr lang="en-US" dirty="0" smtClean="0"/>
              <a:t>Standards</a:t>
            </a:r>
          </a:p>
          <a:p>
            <a:r>
              <a:rPr lang="en-US" dirty="0" smtClean="0"/>
              <a:t>Dowry / clean environment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u="sng" dirty="0" smtClean="0"/>
              <a:t>REAL </a:t>
            </a:r>
          </a:p>
          <a:p>
            <a:r>
              <a:rPr lang="en-US" dirty="0" smtClean="0"/>
              <a:t>Follow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4817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ACCOMODATION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The adjustment of the hostile individual or group</a:t>
            </a:r>
            <a:r>
              <a:rPr lang="en-US" dirty="0" smtClean="0"/>
              <a:t> – </a:t>
            </a:r>
            <a:r>
              <a:rPr lang="en-US" dirty="0" err="1" smtClean="0"/>
              <a:t>Nimkoff</a:t>
            </a:r>
            <a:endParaRPr lang="en-US" dirty="0" smtClean="0"/>
          </a:p>
          <a:p>
            <a:r>
              <a:rPr lang="en-US" dirty="0" smtClean="0"/>
              <a:t>Necessary – maintain social order  - survival </a:t>
            </a:r>
          </a:p>
          <a:p>
            <a:endParaRPr lang="en-US" dirty="0"/>
          </a:p>
          <a:p>
            <a:r>
              <a:rPr lang="en-US" dirty="0" smtClean="0"/>
              <a:t>GILLIN – Forms of </a:t>
            </a:r>
            <a:r>
              <a:rPr lang="en-US" dirty="0" err="1" smtClean="0"/>
              <a:t>Accomodation</a:t>
            </a:r>
            <a:r>
              <a:rPr lang="en-US" dirty="0" smtClean="0"/>
              <a:t> </a:t>
            </a:r>
          </a:p>
          <a:p>
            <a:pPr marL="514350" indent="-514350">
              <a:buAutoNum type="arabicParenR"/>
            </a:pPr>
            <a:r>
              <a:rPr lang="en-US" dirty="0" smtClean="0"/>
              <a:t>Coercion</a:t>
            </a:r>
          </a:p>
          <a:p>
            <a:pPr marL="514350" indent="-514350">
              <a:buAutoNum type="arabicParenR"/>
            </a:pPr>
            <a:r>
              <a:rPr lang="en-US" dirty="0" smtClean="0"/>
              <a:t>Compromise</a:t>
            </a:r>
          </a:p>
          <a:p>
            <a:pPr marL="514350" indent="-514350">
              <a:buAutoNum type="arabicParenR"/>
            </a:pPr>
            <a:r>
              <a:rPr lang="en-US" dirty="0" smtClean="0"/>
              <a:t>Arbitration</a:t>
            </a:r>
          </a:p>
          <a:p>
            <a:pPr marL="514350" indent="-514350">
              <a:buAutoNum type="arabicParenR"/>
            </a:pPr>
            <a:r>
              <a:rPr lang="en-US" dirty="0" smtClean="0"/>
              <a:t>Conversion</a:t>
            </a:r>
          </a:p>
          <a:p>
            <a:pPr marL="514350" indent="-514350">
              <a:buAutoNum type="arabicParenR"/>
            </a:pPr>
            <a:r>
              <a:rPr lang="en-US" dirty="0" smtClean="0"/>
              <a:t>Sublimation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262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ASSIMILATION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Individuals /groups once dissimilar become similar and identified in their interest and outlook</a:t>
            </a:r>
          </a:p>
          <a:p>
            <a:endParaRPr lang="en-US" dirty="0" smtClean="0"/>
          </a:p>
          <a:p>
            <a:r>
              <a:rPr lang="en-US" dirty="0" smtClean="0"/>
              <a:t>Long term:</a:t>
            </a:r>
          </a:p>
          <a:p>
            <a:r>
              <a:rPr lang="en-US" dirty="0" smtClean="0"/>
              <a:t>Factors –</a:t>
            </a:r>
          </a:p>
          <a:p>
            <a:r>
              <a:rPr lang="en-US" dirty="0" smtClean="0"/>
              <a:t> exogamy, </a:t>
            </a:r>
          </a:p>
          <a:p>
            <a:r>
              <a:rPr lang="en-US" dirty="0" smtClean="0"/>
              <a:t>tolerance, </a:t>
            </a:r>
          </a:p>
          <a:p>
            <a:r>
              <a:rPr lang="en-US" dirty="0" smtClean="0"/>
              <a:t>multiculturalism, </a:t>
            </a:r>
          </a:p>
          <a:p>
            <a:r>
              <a:rPr lang="en-US" dirty="0" smtClean="0"/>
              <a:t>migration, </a:t>
            </a:r>
          </a:p>
          <a:p>
            <a:r>
              <a:rPr lang="en-US" dirty="0" smtClean="0"/>
              <a:t>education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0183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ACCULTURATION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Members of one culture adopt the pattern of another culture</a:t>
            </a:r>
          </a:p>
          <a:p>
            <a:r>
              <a:rPr lang="en-US" dirty="0" err="1" smtClean="0"/>
              <a:t>Bajrangi</a:t>
            </a:r>
            <a:r>
              <a:rPr lang="en-US" dirty="0" smtClean="0"/>
              <a:t> </a:t>
            </a:r>
            <a:r>
              <a:rPr lang="en-US" dirty="0" err="1" smtClean="0"/>
              <a:t>Bhaijaan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8168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497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SOCIETY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9928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Group of people who share culture and a territory.</a:t>
            </a:r>
          </a:p>
          <a:p>
            <a:endParaRPr lang="en-US" dirty="0"/>
          </a:p>
          <a:p>
            <a:r>
              <a:rPr lang="en-US" dirty="0" smtClean="0"/>
              <a:t>A place with a designated border where people live, interact and share a culture (</a:t>
            </a:r>
            <a:r>
              <a:rPr lang="en-US" dirty="0" err="1" smtClean="0"/>
              <a:t>Macionis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Have social structure – stable patterns – govern – social institutions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0588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Society is Sui generis – independent existence – interaction</a:t>
            </a:r>
          </a:p>
          <a:p>
            <a:pPr marL="514350" indent="-514350">
              <a:buAutoNum type="arabicParenR"/>
            </a:pPr>
            <a:r>
              <a:rPr lang="en-US" dirty="0" smtClean="0"/>
              <a:t>Human Groups – comprise many social groups</a:t>
            </a:r>
          </a:p>
          <a:p>
            <a:pPr marL="514350" indent="-514350">
              <a:buAutoNum type="arabicParenR"/>
            </a:pPr>
            <a:r>
              <a:rPr lang="en-US" dirty="0" smtClean="0"/>
              <a:t>Satisfying – social order</a:t>
            </a:r>
          </a:p>
          <a:p>
            <a:pPr marL="514350" indent="-514350">
              <a:buAutoNum type="arabicParenR"/>
            </a:pPr>
            <a:r>
              <a:rPr lang="en-US" dirty="0" smtClean="0"/>
              <a:t>Dynamics – adopt to new needs (adjust structure and institution)</a:t>
            </a:r>
          </a:p>
          <a:p>
            <a:pPr marL="514350" indent="-514350">
              <a:buAutoNum type="arabicParenR"/>
            </a:pPr>
            <a:r>
              <a:rPr lang="en-US" dirty="0" smtClean="0"/>
              <a:t>Interdependent – Integrated whole</a:t>
            </a:r>
          </a:p>
          <a:p>
            <a:pPr marL="514350" indent="-514350">
              <a:buAutoNum type="arabicParenR"/>
            </a:pPr>
            <a:r>
              <a:rPr lang="en-US" dirty="0" smtClean="0"/>
              <a:t>Common Interests – mostly</a:t>
            </a:r>
          </a:p>
          <a:p>
            <a:pPr marL="514350" indent="-514350">
              <a:buAutoNum type="arabicParenR"/>
            </a:pPr>
            <a:r>
              <a:rPr lang="en-US" dirty="0" smtClean="0"/>
              <a:t>Social Interaction – status and roles</a:t>
            </a:r>
          </a:p>
          <a:p>
            <a:pPr marL="514350" indent="-514350">
              <a:buAutoNum type="arabicParenR"/>
            </a:pPr>
            <a:r>
              <a:rPr lang="en-US" dirty="0" smtClean="0"/>
              <a:t>Social Institutions  -fulfill human needs</a:t>
            </a:r>
          </a:p>
          <a:p>
            <a:pPr marL="514350" indent="-514350">
              <a:buAutoNum type="arabicParenR"/>
            </a:pPr>
            <a:r>
              <a:rPr lang="en-US" dirty="0" smtClean="0"/>
              <a:t>Technology – more change</a:t>
            </a:r>
          </a:p>
          <a:p>
            <a:pPr marL="514350" indent="-514350">
              <a:buAutoNum type="arabicParenR"/>
            </a:pPr>
            <a:r>
              <a:rPr lang="en-US" dirty="0" smtClean="0"/>
              <a:t>Culture – ways to behave</a:t>
            </a:r>
          </a:p>
          <a:p>
            <a:pPr marL="514350" indent="-514350">
              <a:buAutoNum type="arabicParenR"/>
            </a:pPr>
            <a:r>
              <a:rPr lang="en-US" dirty="0" smtClean="0"/>
              <a:t>Geographical boundary – separate</a:t>
            </a:r>
          </a:p>
          <a:p>
            <a:pPr marL="514350" indent="-514350">
              <a:buAutoNum type="arabicParenR"/>
            </a:pPr>
            <a:r>
              <a:rPr lang="en-US" dirty="0" smtClean="0"/>
              <a:t>Code of conduct 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546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Theories on relationship between Men and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1. SOCIAL CONTRACT THEORY </a:t>
            </a:r>
          </a:p>
          <a:p>
            <a:r>
              <a:rPr lang="en-US" dirty="0" smtClean="0"/>
              <a:t>Society emerged as a result of insecurity of man – due to lack of guiding authority – protection</a:t>
            </a:r>
          </a:p>
          <a:p>
            <a:endParaRPr lang="en-US" dirty="0"/>
          </a:p>
          <a:p>
            <a:r>
              <a:rPr lang="en-US" b="1" dirty="0" smtClean="0"/>
              <a:t>A) Thomas Hobbes</a:t>
            </a:r>
          </a:p>
          <a:p>
            <a:r>
              <a:rPr lang="en-US" dirty="0" smtClean="0"/>
              <a:t>Human – barbaric – easily result in bellum </a:t>
            </a:r>
            <a:r>
              <a:rPr lang="en-US" dirty="0" err="1" smtClean="0"/>
              <a:t>omnium</a:t>
            </a:r>
            <a:r>
              <a:rPr lang="en-US" dirty="0" smtClean="0"/>
              <a:t> contra </a:t>
            </a:r>
            <a:r>
              <a:rPr lang="en-US" dirty="0" err="1" smtClean="0"/>
              <a:t>omnes</a:t>
            </a:r>
            <a:endParaRPr lang="en-US" dirty="0" smtClean="0"/>
          </a:p>
          <a:p>
            <a:r>
              <a:rPr lang="en-US" dirty="0" smtClean="0"/>
              <a:t>Prevention – social contract </a:t>
            </a:r>
          </a:p>
          <a:p>
            <a:r>
              <a:rPr lang="en-US" dirty="0" smtClean="0"/>
              <a:t>-under control of sovereign authority</a:t>
            </a:r>
          </a:p>
          <a:p>
            <a:r>
              <a:rPr lang="en-US" dirty="0" smtClean="0"/>
              <a:t>Efforts – against own nature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546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6348"/>
            <a:ext cx="10515600" cy="5580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</a:t>
            </a:r>
            <a:r>
              <a:rPr lang="en-US" b="1" dirty="0" smtClean="0"/>
              <a:t>) John Locke</a:t>
            </a:r>
          </a:p>
          <a:p>
            <a:r>
              <a:rPr lang="en-US" dirty="0" smtClean="0"/>
              <a:t>Contrary to Hobbes </a:t>
            </a:r>
          </a:p>
          <a:p>
            <a:r>
              <a:rPr lang="en-US" dirty="0" smtClean="0"/>
              <a:t>Nature- serene, compassionate, sociable</a:t>
            </a:r>
          </a:p>
          <a:p>
            <a:r>
              <a:rPr lang="en-US" dirty="0" err="1" smtClean="0"/>
              <a:t>Absense</a:t>
            </a:r>
            <a:r>
              <a:rPr lang="en-US" dirty="0" smtClean="0"/>
              <a:t> of organized system –Justice and Laws – issues arises</a:t>
            </a:r>
          </a:p>
          <a:p>
            <a:r>
              <a:rPr lang="en-US" dirty="0" smtClean="0"/>
              <a:t>Form Society – rights , liberties, self-</a:t>
            </a:r>
            <a:r>
              <a:rPr lang="en-US" dirty="0" err="1" smtClean="0"/>
              <a:t>defence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C) Jean Jacques Rousseau</a:t>
            </a:r>
          </a:p>
          <a:p>
            <a:r>
              <a:rPr lang="en-US" dirty="0" smtClean="0"/>
              <a:t>Men – simple, independent, courageous </a:t>
            </a:r>
          </a:p>
          <a:p>
            <a:r>
              <a:rPr lang="en-US" dirty="0" smtClean="0"/>
              <a:t>Living a pure life</a:t>
            </a:r>
          </a:p>
          <a:p>
            <a:r>
              <a:rPr lang="en-US" dirty="0" smtClean="0"/>
              <a:t>Population growth – polluted </a:t>
            </a:r>
          </a:p>
          <a:p>
            <a:r>
              <a:rPr lang="en-US" dirty="0" smtClean="0"/>
              <a:t>Solution for protection – led to civil society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546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17443"/>
            <a:ext cx="10515600" cy="5759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2) ORGANISM THEORY</a:t>
            </a:r>
          </a:p>
          <a:p>
            <a:r>
              <a:rPr lang="en-US" dirty="0" smtClean="0"/>
              <a:t>Drawing analogy of human body</a:t>
            </a:r>
          </a:p>
          <a:p>
            <a:r>
              <a:rPr lang="en-US" dirty="0" err="1" smtClean="0"/>
              <a:t>Ibn</a:t>
            </a:r>
            <a:r>
              <a:rPr lang="en-US" dirty="0" smtClean="0"/>
              <a:t>-e-</a:t>
            </a:r>
            <a:r>
              <a:rPr lang="en-US" dirty="0" err="1" smtClean="0"/>
              <a:t>Khuldun</a:t>
            </a:r>
            <a:r>
              <a:rPr lang="en-US" dirty="0" smtClean="0"/>
              <a:t> – born, grows, mature, declines, and die</a:t>
            </a:r>
          </a:p>
          <a:p>
            <a:r>
              <a:rPr lang="en-US" dirty="0" err="1" smtClean="0"/>
              <a:t>Khuldun</a:t>
            </a:r>
            <a:r>
              <a:rPr lang="en-US" dirty="0" smtClean="0"/>
              <a:t> cyclic theory of Socio-Political Change</a:t>
            </a:r>
          </a:p>
          <a:p>
            <a:r>
              <a:rPr lang="en-US" dirty="0" smtClean="0"/>
              <a:t>Durkheim – views society as integrated whole – different parts – stability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546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5739"/>
            <a:ext cx="10515600" cy="5481224"/>
          </a:xfrm>
        </p:spPr>
        <p:txBody>
          <a:bodyPr>
            <a:normAutofit/>
          </a:bodyPr>
          <a:lstStyle/>
          <a:p>
            <a:r>
              <a:rPr lang="en-US" b="1" u="sng" dirty="0"/>
              <a:t>Spencer – Similarities and Difference</a:t>
            </a:r>
            <a:r>
              <a:rPr lang="en-US" dirty="0"/>
              <a:t>s </a:t>
            </a:r>
          </a:p>
          <a:p>
            <a:r>
              <a:rPr lang="en-US" b="1" dirty="0"/>
              <a:t>Similarities</a:t>
            </a:r>
          </a:p>
          <a:p>
            <a:pPr marL="514350" indent="-514350">
              <a:buAutoNum type="arabicParenR"/>
            </a:pPr>
            <a:r>
              <a:rPr lang="en-US" dirty="0"/>
              <a:t>Growth and development</a:t>
            </a:r>
          </a:p>
          <a:p>
            <a:pPr marL="514350" indent="-514350">
              <a:buAutoNum type="arabicParenR"/>
            </a:pPr>
            <a:r>
              <a:rPr lang="en-US" dirty="0"/>
              <a:t>Diseases</a:t>
            </a:r>
          </a:p>
          <a:p>
            <a:pPr marL="514350" indent="-514350">
              <a:buAutoNum type="arabicParenR"/>
            </a:pPr>
            <a:r>
              <a:rPr lang="en-US" dirty="0"/>
              <a:t>Smaller </a:t>
            </a:r>
            <a:r>
              <a:rPr lang="en-US" dirty="0" smtClean="0"/>
              <a:t>units</a:t>
            </a:r>
          </a:p>
          <a:p>
            <a:pPr marL="514350" indent="-514350">
              <a:buAutoNum type="arabicParenR"/>
            </a:pPr>
            <a:r>
              <a:rPr lang="en-US" dirty="0" smtClean="0"/>
              <a:t>Changes in structure and function</a:t>
            </a:r>
          </a:p>
          <a:p>
            <a:r>
              <a:rPr lang="en-US" b="1" dirty="0" smtClean="0"/>
              <a:t>Differences</a:t>
            </a:r>
          </a:p>
          <a:p>
            <a:pPr marL="514350" indent="-514350">
              <a:buAutoNum type="arabicParenR"/>
            </a:pPr>
            <a:r>
              <a:rPr lang="en-US" dirty="0" smtClean="0"/>
              <a:t>Society – no physical structure</a:t>
            </a:r>
          </a:p>
          <a:p>
            <a:pPr marL="514350" indent="-514350">
              <a:buAutoNum type="arabicParenR"/>
            </a:pPr>
            <a:r>
              <a:rPr lang="en-US" dirty="0" smtClean="0"/>
              <a:t>Society – relatively independent</a:t>
            </a:r>
          </a:p>
          <a:p>
            <a:pPr marL="514350" indent="-514350">
              <a:buAutoNum type="arabicParenR"/>
            </a:pPr>
            <a:r>
              <a:rPr lang="en-US" dirty="0" smtClean="0"/>
              <a:t>Consciousness – diffused in society ----- Human –brain(concentrated)</a:t>
            </a: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7652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SOCIO-CULTURAL EVOLUTION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Changes – technology</a:t>
            </a:r>
          </a:p>
          <a:p>
            <a:r>
              <a:rPr lang="en-US" dirty="0" smtClean="0"/>
              <a:t>Changes in tech – changes in basic org. of society</a:t>
            </a:r>
          </a:p>
          <a:p>
            <a:r>
              <a:rPr lang="en-US" dirty="0" smtClean="0"/>
              <a:t>Tech- develops material culture –open avenues for non-material changes as well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0691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LENSKI – TYPES OF SOCIETIES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9609"/>
            <a:ext cx="10515600" cy="4725850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b="1" u="sng" dirty="0" smtClean="0"/>
              <a:t>HUNTING AND GATHERING </a:t>
            </a:r>
          </a:p>
          <a:p>
            <a:r>
              <a:rPr lang="en-US" dirty="0" smtClean="0"/>
              <a:t>12000 years ago</a:t>
            </a:r>
          </a:p>
          <a:p>
            <a:r>
              <a:rPr lang="en-US" dirty="0" smtClean="0"/>
              <a:t>Simple tech – arrows, spears and digging sticks </a:t>
            </a:r>
          </a:p>
          <a:p>
            <a:r>
              <a:rPr lang="en-US" dirty="0" smtClean="0"/>
              <a:t>Hunt animal, catch fishes, collect herbs, plants, fruits</a:t>
            </a:r>
          </a:p>
          <a:p>
            <a:r>
              <a:rPr lang="en-US" dirty="0" smtClean="0"/>
              <a:t>Social Stratification &amp; inequality –less likely</a:t>
            </a:r>
          </a:p>
          <a:p>
            <a:r>
              <a:rPr lang="en-US" dirty="0" smtClean="0"/>
              <a:t>No surplus</a:t>
            </a:r>
          </a:p>
          <a:p>
            <a:r>
              <a:rPr lang="en-US" dirty="0" smtClean="0"/>
              <a:t>Integration – high (survival &amp; protection)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7078"/>
            <a:ext cx="10515600" cy="5699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</a:t>
            </a:r>
            <a:r>
              <a:rPr lang="en-US" b="1" u="sng" dirty="0"/>
              <a:t>) HORTICULTURAL AND PASTORAL SOCIETY</a:t>
            </a:r>
          </a:p>
          <a:p>
            <a:r>
              <a:rPr lang="en-US" dirty="0"/>
              <a:t>10,000 years ago</a:t>
            </a:r>
          </a:p>
          <a:p>
            <a:r>
              <a:rPr lang="en-US" dirty="0"/>
              <a:t>Simple tools for raising crops</a:t>
            </a:r>
          </a:p>
          <a:p>
            <a:r>
              <a:rPr lang="en-US" dirty="0"/>
              <a:t>Used tools - </a:t>
            </a:r>
            <a:r>
              <a:rPr lang="en-US" dirty="0" smtClean="0"/>
              <a:t>hoe </a:t>
            </a:r>
            <a:endParaRPr lang="en-US" dirty="0"/>
          </a:p>
          <a:p>
            <a:r>
              <a:rPr lang="en-US" dirty="0"/>
              <a:t>Reason of shift – population / environment</a:t>
            </a:r>
          </a:p>
          <a:p>
            <a:r>
              <a:rPr lang="en-US" dirty="0"/>
              <a:t>Pastoral  developed in dry mountains areas – domestic animals for </a:t>
            </a:r>
            <a:r>
              <a:rPr lang="en-US" dirty="0" smtClean="0"/>
              <a:t>food</a:t>
            </a:r>
            <a:endParaRPr lang="en-US" dirty="0"/>
          </a:p>
          <a:p>
            <a:r>
              <a:rPr lang="en-US" dirty="0"/>
              <a:t>Concept of surplus made ways – rise of population  - clans </a:t>
            </a:r>
          </a:p>
          <a:p>
            <a:r>
              <a:rPr lang="en-US" dirty="0"/>
              <a:t>Develop – other crafts started </a:t>
            </a:r>
          </a:p>
          <a:p>
            <a:r>
              <a:rPr lang="en-US" dirty="0"/>
              <a:t>Permanent settlement – accumulation – inequality</a:t>
            </a:r>
          </a:p>
          <a:p>
            <a:r>
              <a:rPr lang="en-US" dirty="0"/>
              <a:t>Families – more food –powerful - warfare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54305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7322"/>
            <a:ext cx="10515600" cy="5739641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3) AGRARIAN SOCIETY</a:t>
            </a:r>
          </a:p>
          <a:p>
            <a:r>
              <a:rPr lang="en-US" dirty="0" smtClean="0"/>
              <a:t>5000 YEARS</a:t>
            </a:r>
          </a:p>
          <a:p>
            <a:r>
              <a:rPr lang="en-US" dirty="0" smtClean="0"/>
              <a:t>Discovery of agriculture – surplus </a:t>
            </a:r>
          </a:p>
          <a:p>
            <a:r>
              <a:rPr lang="en-US" dirty="0" smtClean="0"/>
              <a:t>Dawn – human civilization</a:t>
            </a:r>
          </a:p>
          <a:p>
            <a:r>
              <a:rPr lang="en-US" dirty="0" smtClean="0"/>
              <a:t>Innovations   *Irrigation *Wheel *crafts</a:t>
            </a:r>
          </a:p>
          <a:p>
            <a:r>
              <a:rPr lang="en-US" dirty="0" smtClean="0"/>
              <a:t>Use of Plough – cultivate large areas</a:t>
            </a:r>
          </a:p>
          <a:p>
            <a:r>
              <a:rPr lang="en-US" dirty="0" smtClean="0"/>
              <a:t>Population increased </a:t>
            </a:r>
          </a:p>
          <a:p>
            <a:r>
              <a:rPr lang="en-US" dirty="0" smtClean="0"/>
              <a:t>Wheel – transportation</a:t>
            </a:r>
          </a:p>
          <a:p>
            <a:r>
              <a:rPr lang="en-US" dirty="0" smtClean="0"/>
              <a:t>Inequality increased </a:t>
            </a:r>
          </a:p>
          <a:p>
            <a:r>
              <a:rPr lang="en-US" dirty="0" smtClean="0"/>
              <a:t>New mode of production – strength – lower status women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228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6957"/>
            <a:ext cx="10515600" cy="568000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4)</a:t>
            </a:r>
            <a:r>
              <a:rPr lang="en-US" b="1" u="sng" dirty="0" smtClean="0"/>
              <a:t> INDUSTRIAL SOCIETIES</a:t>
            </a:r>
          </a:p>
          <a:p>
            <a:r>
              <a:rPr lang="en-US" dirty="0" smtClean="0"/>
              <a:t>Industries – alternate source of energy</a:t>
            </a:r>
          </a:p>
          <a:p>
            <a:r>
              <a:rPr lang="en-US" dirty="0" smtClean="0"/>
              <a:t>Machines – for production</a:t>
            </a:r>
          </a:p>
          <a:p>
            <a:r>
              <a:rPr lang="en-US" dirty="0" smtClean="0"/>
              <a:t>Industrial Revolution</a:t>
            </a:r>
          </a:p>
          <a:p>
            <a:r>
              <a:rPr lang="en-US" dirty="0" smtClean="0"/>
              <a:t>Shaped basic org. of societies </a:t>
            </a:r>
          </a:p>
          <a:p>
            <a:r>
              <a:rPr lang="en-US" dirty="0" smtClean="0"/>
              <a:t>Work patterns changed – Specialization</a:t>
            </a:r>
          </a:p>
          <a:p>
            <a:r>
              <a:rPr lang="en-US" dirty="0" smtClean="0"/>
              <a:t>New Techniques of scientific management</a:t>
            </a:r>
          </a:p>
          <a:p>
            <a:r>
              <a:rPr lang="en-US" dirty="0" smtClean="0"/>
              <a:t>New ideologies – Capitalism, Socialism, Nationalism</a:t>
            </a:r>
          </a:p>
          <a:p>
            <a:r>
              <a:rPr lang="en-US" dirty="0" smtClean="0"/>
              <a:t>Inequality – increased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561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7565"/>
            <a:ext cx="10515600" cy="5779398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5) POST INDUSTRIAL SOCIETIES</a:t>
            </a:r>
          </a:p>
          <a:p>
            <a:r>
              <a:rPr lang="en-US" dirty="0" smtClean="0"/>
              <a:t>Production of information using computer technology</a:t>
            </a:r>
          </a:p>
          <a:p>
            <a:r>
              <a:rPr lang="en-US" dirty="0" smtClean="0"/>
              <a:t>Data- more essential </a:t>
            </a:r>
          </a:p>
          <a:p>
            <a:r>
              <a:rPr lang="en-US" dirty="0" smtClean="0"/>
              <a:t>Information based skills required </a:t>
            </a:r>
          </a:p>
          <a:p>
            <a:r>
              <a:rPr lang="en-US" dirty="0" smtClean="0"/>
              <a:t>Service work – banking, financial services, education, healthcare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695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COMMUNITY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7146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social group “we feeling” and living in a given area</a:t>
            </a:r>
          </a:p>
          <a:p>
            <a:endParaRPr lang="en-US" dirty="0"/>
          </a:p>
          <a:p>
            <a:r>
              <a:rPr lang="en-US" dirty="0" smtClean="0"/>
              <a:t>Includes</a:t>
            </a:r>
          </a:p>
          <a:p>
            <a:r>
              <a:rPr lang="en-US" dirty="0" smtClean="0"/>
              <a:t>Grouping</a:t>
            </a:r>
          </a:p>
          <a:p>
            <a:r>
              <a:rPr lang="en-US" dirty="0" smtClean="0"/>
              <a:t>Area</a:t>
            </a:r>
          </a:p>
          <a:p>
            <a:r>
              <a:rPr lang="en-US" dirty="0" smtClean="0"/>
              <a:t>Division of labor</a:t>
            </a:r>
          </a:p>
          <a:p>
            <a:r>
              <a:rPr lang="en-US" dirty="0" smtClean="0"/>
              <a:t>Common culture/social life</a:t>
            </a:r>
          </a:p>
          <a:p>
            <a:r>
              <a:rPr lang="en-US" dirty="0" smtClean="0"/>
              <a:t>Unity and belonging</a:t>
            </a:r>
          </a:p>
          <a:p>
            <a:r>
              <a:rPr lang="en-US" dirty="0" smtClean="0"/>
              <a:t>Act collectively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900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COMMUNITY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Common Culture –can differ from mainstream</a:t>
            </a:r>
          </a:p>
          <a:p>
            <a:pPr marL="514350" indent="-514350">
              <a:buAutoNum type="arabicParenR"/>
            </a:pPr>
            <a:r>
              <a:rPr lang="en-US" dirty="0" smtClean="0"/>
              <a:t>Conscious of Belongingness </a:t>
            </a:r>
          </a:p>
          <a:p>
            <a:pPr marL="514350" indent="-514350">
              <a:buAutoNum type="arabicParenR"/>
            </a:pPr>
            <a:r>
              <a:rPr lang="en-US" dirty="0" smtClean="0"/>
              <a:t>Organized Group – solidarity – get mobilized easily (threat)</a:t>
            </a:r>
          </a:p>
          <a:p>
            <a:pPr marL="514350" indent="-514350">
              <a:buAutoNum type="arabicParenR"/>
            </a:pPr>
            <a:r>
              <a:rPr lang="en-US" dirty="0" smtClean="0"/>
              <a:t>Mutual cooperation – interdependency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23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RURAL</a:t>
            </a:r>
          </a:p>
          <a:p>
            <a:r>
              <a:rPr lang="en-US" dirty="0" smtClean="0"/>
              <a:t>URBAN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61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 RURAL COMMUNITY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WRT integration, cooperation and low specialization – preferred over urban</a:t>
            </a:r>
          </a:p>
          <a:p>
            <a:r>
              <a:rPr lang="en-US" dirty="0" smtClean="0"/>
              <a:t>Highly integrated</a:t>
            </a:r>
          </a:p>
          <a:p>
            <a:r>
              <a:rPr lang="en-US" dirty="0" smtClean="0"/>
              <a:t>Face to face interaction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8936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RURAL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Low population\integration</a:t>
            </a:r>
          </a:p>
          <a:p>
            <a:r>
              <a:rPr lang="en-US" dirty="0" smtClean="0"/>
              <a:t>Hospitality</a:t>
            </a:r>
          </a:p>
          <a:p>
            <a:r>
              <a:rPr lang="en-US" dirty="0" smtClean="0"/>
              <a:t>Homogeneity </a:t>
            </a:r>
          </a:p>
          <a:p>
            <a:r>
              <a:rPr lang="en-US" dirty="0" smtClean="0"/>
              <a:t>Subsistence economy – agriculture –same tasks</a:t>
            </a:r>
          </a:p>
          <a:p>
            <a:r>
              <a:rPr lang="en-US" dirty="0" smtClean="0"/>
              <a:t>Clean environment</a:t>
            </a:r>
          </a:p>
          <a:p>
            <a:r>
              <a:rPr lang="en-US" dirty="0" smtClean="0"/>
              <a:t>Family pattern –joint (Pop low, </a:t>
            </a:r>
            <a:r>
              <a:rPr lang="en-US" dirty="0" err="1" smtClean="0"/>
              <a:t>avg</a:t>
            </a:r>
            <a:r>
              <a:rPr lang="en-US" dirty="0" smtClean="0"/>
              <a:t> household-high)</a:t>
            </a:r>
          </a:p>
          <a:p>
            <a:r>
              <a:rPr lang="en-US" dirty="0" smtClean="0"/>
              <a:t>Economic Standing –almost same</a:t>
            </a:r>
          </a:p>
          <a:p>
            <a:r>
              <a:rPr lang="en-US" dirty="0" smtClean="0"/>
              <a:t>Education-low</a:t>
            </a:r>
          </a:p>
          <a:p>
            <a:r>
              <a:rPr lang="en-US" dirty="0" smtClean="0"/>
              <a:t>Religious affiliation – almost same</a:t>
            </a:r>
          </a:p>
          <a:p>
            <a:r>
              <a:rPr lang="en-US" dirty="0" smtClean="0"/>
              <a:t>Division of labor – not complex</a:t>
            </a:r>
          </a:p>
          <a:p>
            <a:r>
              <a:rPr lang="en-US" dirty="0" smtClean="0"/>
              <a:t>Lack modern facilities</a:t>
            </a:r>
          </a:p>
          <a:p>
            <a:r>
              <a:rPr lang="en-US" dirty="0" smtClean="0"/>
              <a:t>Social change - traditionalism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54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URBAN COMMUNITY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surplus Food, Transportation, abundant water supply</a:t>
            </a:r>
          </a:p>
          <a:p>
            <a:r>
              <a:rPr lang="en-US" dirty="0" smtClean="0"/>
              <a:t>First communities – occupied river valleys</a:t>
            </a:r>
          </a:p>
          <a:p>
            <a:r>
              <a:rPr lang="en-US" dirty="0" smtClean="0"/>
              <a:t>Cities developed around – valleys of Nile, Euphrates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1137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URBAN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Specialization – high division of labor</a:t>
            </a:r>
          </a:p>
          <a:p>
            <a:r>
              <a:rPr lang="en-US" dirty="0" smtClean="0"/>
              <a:t>Social org. –centered </a:t>
            </a:r>
          </a:p>
          <a:p>
            <a:r>
              <a:rPr lang="en-US" dirty="0" smtClean="0"/>
              <a:t>Formal institutions</a:t>
            </a:r>
          </a:p>
          <a:p>
            <a:r>
              <a:rPr lang="en-US" dirty="0" smtClean="0"/>
              <a:t>Subsistence economy – Manufacturing and services</a:t>
            </a:r>
          </a:p>
          <a:p>
            <a:r>
              <a:rPr lang="en-US" dirty="0" smtClean="0"/>
              <a:t>Rationality and Tech</a:t>
            </a:r>
          </a:p>
          <a:p>
            <a:r>
              <a:rPr lang="en-US" dirty="0" smtClean="0"/>
              <a:t>Segregation – people with same status –particular areas</a:t>
            </a:r>
          </a:p>
          <a:p>
            <a:r>
              <a:rPr lang="en-US" dirty="0" smtClean="0"/>
              <a:t>Heterogeneity- degree of anonymity </a:t>
            </a:r>
          </a:p>
          <a:p>
            <a:r>
              <a:rPr lang="en-US" dirty="0" smtClean="0"/>
              <a:t>Social distance – socially isolated </a:t>
            </a:r>
          </a:p>
          <a:p>
            <a:r>
              <a:rPr lang="en-US" dirty="0" smtClean="0"/>
              <a:t>Regimentation – discipline &amp; importance of time</a:t>
            </a:r>
          </a:p>
          <a:p>
            <a:r>
              <a:rPr lang="en-US" dirty="0" smtClean="0"/>
              <a:t>Family Patterns  - high cost of living (High pop, low </a:t>
            </a:r>
            <a:r>
              <a:rPr lang="en-US" dirty="0" err="1" smtClean="0"/>
              <a:t>avg</a:t>
            </a:r>
            <a:r>
              <a:rPr lang="en-US" dirty="0" smtClean="0"/>
              <a:t>)</a:t>
            </a:r>
          </a:p>
          <a:p>
            <a:r>
              <a:rPr lang="en-US" dirty="0" smtClean="0"/>
              <a:t>Education –high</a:t>
            </a:r>
          </a:p>
          <a:p>
            <a:r>
              <a:rPr lang="en-US" dirty="0" smtClean="0"/>
              <a:t>Social change –less resistant</a:t>
            </a:r>
          </a:p>
          <a:p>
            <a:r>
              <a:rPr lang="en-US" dirty="0" smtClean="0"/>
              <a:t>Consumption –high –social status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896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RURAL – URBAN CONVERGENCE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form of town</a:t>
            </a:r>
          </a:p>
          <a:p>
            <a:r>
              <a:rPr lang="en-US" dirty="0" smtClean="0"/>
              <a:t>Town – bridge the gap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0766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URBANISM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Way of life followed by people living in urban areas</a:t>
            </a:r>
          </a:p>
          <a:p>
            <a:endParaRPr lang="en-US" dirty="0"/>
          </a:p>
          <a:p>
            <a:r>
              <a:rPr lang="en-US" b="1" dirty="0" smtClean="0"/>
              <a:t>CHARACTERISTICS</a:t>
            </a:r>
          </a:p>
          <a:p>
            <a:r>
              <a:rPr lang="en-US" dirty="0" smtClean="0"/>
              <a:t>A) Anonymity		B)Individualism	C) Rapid social change</a:t>
            </a:r>
          </a:p>
          <a:p>
            <a:r>
              <a:rPr lang="en-US" dirty="0" smtClean="0"/>
              <a:t>D) Organic Solidarity	E) Conspicuous(consumption)</a:t>
            </a:r>
          </a:p>
          <a:p>
            <a:r>
              <a:rPr lang="en-US" dirty="0" smtClean="0"/>
              <a:t>F)Heterogeneity	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994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OF CITIES OF PAK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Population growth – Urbanization growth rate 3.1%</a:t>
            </a:r>
          </a:p>
          <a:p>
            <a:r>
              <a:rPr lang="en-US" dirty="0" smtClean="0"/>
              <a:t>UNDP – by 2030 – half pop will become urban</a:t>
            </a:r>
          </a:p>
          <a:p>
            <a:r>
              <a:rPr lang="en-US" dirty="0" smtClean="0"/>
              <a:t>Abrupt</a:t>
            </a:r>
          </a:p>
          <a:p>
            <a:r>
              <a:rPr lang="en-US" dirty="0" smtClean="0"/>
              <a:t>FACTORS</a:t>
            </a:r>
          </a:p>
          <a:p>
            <a:r>
              <a:rPr lang="en-US" dirty="0" smtClean="0"/>
              <a:t>*Governance	*Rising Urban Poverty	*Rising Population</a:t>
            </a:r>
          </a:p>
          <a:p>
            <a:r>
              <a:rPr lang="en-US" dirty="0" smtClean="0"/>
              <a:t>*Issues of service delivery	*Pollution	*Housing	</a:t>
            </a:r>
          </a:p>
          <a:p>
            <a:r>
              <a:rPr lang="en-US" dirty="0" smtClean="0"/>
              <a:t>*Crime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17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SOCIAL</a:t>
            </a:r>
            <a:br>
              <a:rPr lang="en-US" dirty="0" smtClean="0"/>
            </a:br>
            <a:r>
              <a:rPr lang="en-US" dirty="0" smtClean="0"/>
              <a:t> INTERACTION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INTERACTION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general process whereby two or more persons are in meaningful contact as a result of which their </a:t>
            </a:r>
            <a:r>
              <a:rPr lang="en-US" b="1" dirty="0" smtClean="0"/>
              <a:t>behavior is modified</a:t>
            </a:r>
            <a:r>
              <a:rPr lang="en-US" dirty="0" smtClean="0"/>
              <a:t>, however, slightly.</a:t>
            </a:r>
          </a:p>
          <a:p>
            <a:r>
              <a:rPr lang="en-US" dirty="0" smtClean="0"/>
              <a:t>Occurs between people who hold status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0257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position that a person occupies</a:t>
            </a:r>
          </a:p>
          <a:p>
            <a:endParaRPr lang="en-US" dirty="0" smtClean="0"/>
          </a:p>
          <a:p>
            <a:r>
              <a:rPr lang="en-US" dirty="0" smtClean="0"/>
              <a:t>ASCRIBED STATUS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ACHIEVED STATUS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STRATIFICATION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Structured ranking  - unequal economic rewards and power</a:t>
            </a:r>
          </a:p>
          <a:p>
            <a:endParaRPr lang="en-US" dirty="0" smtClean="0"/>
          </a:p>
          <a:p>
            <a:r>
              <a:rPr lang="en-US" dirty="0" smtClean="0"/>
              <a:t>Differential distribution </a:t>
            </a:r>
          </a:p>
          <a:p>
            <a:endParaRPr lang="en-US" dirty="0" smtClean="0"/>
          </a:p>
          <a:p>
            <a:r>
              <a:rPr lang="en-US" dirty="0" smtClean="0"/>
              <a:t>Status quo – inequality is maintained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CASTE AND CLASS SYSTEM</a:t>
            </a:r>
            <a:endParaRPr lang="en-US" dirty="0"/>
          </a:p>
        </p:txBody>
      </p:sp>
      <p:pic>
        <p:nvPicPr>
          <p:cNvPr id="4" name="Content Placeholder 3" descr="caste-and-class-systems-l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7435" y="1566316"/>
            <a:ext cx="6685871" cy="5014403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 CASTE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Prevents people from achieving higher status or social position</a:t>
            </a:r>
          </a:p>
          <a:p>
            <a:r>
              <a:rPr lang="en-US" dirty="0" smtClean="0"/>
              <a:t>Incurred at birth</a:t>
            </a:r>
          </a:p>
          <a:p>
            <a:r>
              <a:rPr lang="en-US" dirty="0" smtClean="0"/>
              <a:t>Consider natural</a:t>
            </a:r>
          </a:p>
          <a:p>
            <a:endParaRPr lang="en-US" dirty="0" smtClean="0"/>
          </a:p>
          <a:p>
            <a:r>
              <a:rPr lang="en-US" dirty="0" smtClean="0"/>
              <a:t>INDIAN CASTSE SYSTEM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Brahamans</a:t>
            </a:r>
            <a:r>
              <a:rPr lang="en-US" dirty="0" smtClean="0"/>
              <a:t> – priests – superiors - administer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Kshatriya</a:t>
            </a:r>
            <a:r>
              <a:rPr lang="en-US" dirty="0" smtClean="0"/>
              <a:t> - warriors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Vesha</a:t>
            </a:r>
            <a:r>
              <a:rPr lang="en-US" dirty="0" smtClean="0"/>
              <a:t> – business - </a:t>
            </a:r>
            <a:r>
              <a:rPr lang="en-US" dirty="0" err="1" smtClean="0"/>
              <a:t>agricultre</a:t>
            </a: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err="1" smtClean="0"/>
              <a:t>Shudra</a:t>
            </a:r>
            <a:r>
              <a:rPr lang="en-US" dirty="0" smtClean="0"/>
              <a:t> – crafts 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Dalits</a:t>
            </a:r>
            <a:r>
              <a:rPr lang="en-US" dirty="0" smtClean="0"/>
              <a:t> – petty jobs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95785"/>
            <a:ext cx="10515600" cy="5781178"/>
          </a:xfrm>
        </p:spPr>
        <p:txBody>
          <a:bodyPr/>
          <a:lstStyle/>
          <a:p>
            <a:r>
              <a:rPr lang="en-US" dirty="0" smtClean="0"/>
              <a:t>ENDOGAMY – prevail inequalities</a:t>
            </a:r>
          </a:p>
          <a:p>
            <a:endParaRPr lang="en-US" dirty="0" smtClean="0"/>
          </a:p>
          <a:p>
            <a:r>
              <a:rPr lang="en-US" dirty="0" smtClean="0"/>
              <a:t>CASTE SYSTEM IN PAKISTAN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Ashraaf</a:t>
            </a: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err="1" smtClean="0"/>
              <a:t>Ajlaaf</a:t>
            </a: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err="1" smtClean="0"/>
              <a:t>Arzaal</a:t>
            </a:r>
            <a:endParaRPr lang="en-US" dirty="0" smtClean="0"/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/>
            <a:r>
              <a:rPr lang="en-US" dirty="0" smtClean="0"/>
              <a:t>Ethnocentrism – reason of conflict among caste </a:t>
            </a:r>
          </a:p>
          <a:p>
            <a:pPr marL="514350" indent="-514350"/>
            <a:endParaRPr lang="en-US" dirty="0" smtClean="0"/>
          </a:p>
          <a:p>
            <a:pPr marL="514350" indent="-514350"/>
            <a:r>
              <a:rPr lang="en-US" dirty="0" smtClean="0"/>
              <a:t>Now reducing – education, economic prosperity, mass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CLASS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Based – primary on economic position</a:t>
            </a:r>
          </a:p>
          <a:p>
            <a:r>
              <a:rPr lang="en-US" dirty="0" smtClean="0"/>
              <a:t>Less rigid</a:t>
            </a:r>
          </a:p>
          <a:p>
            <a:r>
              <a:rPr lang="en-US" dirty="0" smtClean="0"/>
              <a:t>Central concept – social class (similar status)</a:t>
            </a:r>
          </a:p>
          <a:p>
            <a:endParaRPr lang="en-US" dirty="0" smtClean="0"/>
          </a:p>
          <a:p>
            <a:r>
              <a:rPr lang="en-US" dirty="0" smtClean="0"/>
              <a:t>SIX-FOLD CLASSIFICATION BY WARNER</a:t>
            </a:r>
          </a:p>
          <a:p>
            <a:pPr marL="514350" indent="-514350">
              <a:buAutoNum type="arabicParenR"/>
            </a:pPr>
            <a:r>
              <a:rPr lang="en-US" dirty="0" smtClean="0"/>
              <a:t>Upper-Upper  -few</a:t>
            </a:r>
          </a:p>
          <a:p>
            <a:pPr marL="514350" indent="-514350">
              <a:buAutoNum type="arabicParenR"/>
            </a:pPr>
            <a:r>
              <a:rPr lang="en-US" dirty="0" smtClean="0"/>
              <a:t>Lower –Upper – not completely established</a:t>
            </a:r>
          </a:p>
          <a:p>
            <a:pPr marL="514350" indent="-514350">
              <a:buAutoNum type="arabicParenR"/>
            </a:pPr>
            <a:r>
              <a:rPr lang="en-US" dirty="0" smtClean="0"/>
              <a:t>Upper-Middle – entrepreneurs, civil leaders, academicians, scientists (Intellectual backbone)</a:t>
            </a:r>
          </a:p>
          <a:p>
            <a:pPr marL="514350" indent="-514350">
              <a:buAutoNum type="arabicParenR"/>
            </a:pPr>
            <a:r>
              <a:rPr lang="en-US" dirty="0" smtClean="0"/>
              <a:t>Lower-Middle – White collar, small land owner (highly motivated to change)</a:t>
            </a:r>
          </a:p>
          <a:p>
            <a:pPr marL="514350" indent="-514350">
              <a:buAutoNum type="arabicParenR"/>
            </a:pPr>
            <a:r>
              <a:rPr lang="en-US" dirty="0" smtClean="0"/>
              <a:t>Upper-Lower – blue collar, semi-skilled</a:t>
            </a:r>
          </a:p>
          <a:p>
            <a:pPr marL="514350" indent="-514350">
              <a:buAutoNum type="arabicParenR"/>
            </a:pPr>
            <a:r>
              <a:rPr lang="en-US" dirty="0" smtClean="0"/>
              <a:t>Lower-Lower 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FEUDAL SYSTEM IN PAKISTAN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Posses acres of land </a:t>
            </a:r>
          </a:p>
          <a:p>
            <a:r>
              <a:rPr lang="en-US" dirty="0" smtClean="0"/>
              <a:t>Powerful</a:t>
            </a:r>
          </a:p>
          <a:p>
            <a:r>
              <a:rPr lang="en-US" dirty="0" smtClean="0"/>
              <a:t>Resources  -influence over executive and judicial of their areas</a:t>
            </a:r>
          </a:p>
          <a:p>
            <a:r>
              <a:rPr lang="en-US" dirty="0" smtClean="0"/>
              <a:t>Feudal lords –way to parliament </a:t>
            </a:r>
          </a:p>
          <a:p>
            <a:r>
              <a:rPr lang="en-US" dirty="0" smtClean="0"/>
              <a:t>Bangladesh </a:t>
            </a:r>
            <a:r>
              <a:rPr lang="en-US" dirty="0" smtClean="0"/>
              <a:t>abolished in 1971 – Pak failed</a:t>
            </a:r>
          </a:p>
          <a:p>
            <a:r>
              <a:rPr lang="en-US" dirty="0" smtClean="0"/>
              <a:t>Haunts development and prosperity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 behind strong feudalism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Historical roots – (Muslim league dominated)</a:t>
            </a:r>
          </a:p>
          <a:p>
            <a:pPr marL="514350" indent="-514350">
              <a:buAutoNum type="arabicParenR"/>
            </a:pPr>
            <a:r>
              <a:rPr lang="en-US" dirty="0" smtClean="0"/>
              <a:t>Land Reforms – </a:t>
            </a:r>
            <a:r>
              <a:rPr lang="en-US" dirty="0" err="1" smtClean="0"/>
              <a:t>Ayub</a:t>
            </a:r>
            <a:r>
              <a:rPr lang="en-US" dirty="0" smtClean="0"/>
              <a:t> &amp;Bhutto 1959, 1972, 1977</a:t>
            </a:r>
          </a:p>
          <a:p>
            <a:pPr marL="514350" indent="-514350">
              <a:buAutoNum type="arabicParenR"/>
            </a:pPr>
            <a:r>
              <a:rPr lang="en-US" dirty="0" smtClean="0"/>
              <a:t>Political Power – 1952 80% of legislature – democracy ?</a:t>
            </a:r>
          </a:p>
          <a:p>
            <a:pPr marL="514350" indent="-514350">
              <a:buAutoNum type="alphaLcParenR"/>
            </a:pPr>
            <a:r>
              <a:rPr lang="en-US" dirty="0" smtClean="0"/>
              <a:t>Personal Militias </a:t>
            </a:r>
          </a:p>
          <a:p>
            <a:pPr marL="514350" indent="-514350">
              <a:buAutoNum type="alphaLcParenR"/>
            </a:pPr>
            <a:r>
              <a:rPr lang="en-US" dirty="0" smtClean="0"/>
              <a:t>Debt bondage</a:t>
            </a:r>
          </a:p>
          <a:p>
            <a:pPr marL="514350" indent="-514350">
              <a:buAutoNum type="alphaL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 of Feudalism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Obstacles </a:t>
            </a:r>
          </a:p>
          <a:p>
            <a:r>
              <a:rPr lang="en-US" dirty="0" smtClean="0"/>
              <a:t>No industry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Health</a:t>
            </a:r>
          </a:p>
          <a:p>
            <a:r>
              <a:rPr lang="en-US" dirty="0" smtClean="0"/>
              <a:t>Freedom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MOBILITY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Movement from one social class to another</a:t>
            </a:r>
          </a:p>
          <a:p>
            <a:endParaRPr lang="en-US" dirty="0" smtClean="0"/>
          </a:p>
          <a:p>
            <a:r>
              <a:rPr lang="en-US" dirty="0" smtClean="0"/>
              <a:t>CLOSED SOCIETIES –Low degree</a:t>
            </a:r>
          </a:p>
          <a:p>
            <a:endParaRPr lang="en-US" dirty="0" smtClean="0"/>
          </a:p>
          <a:p>
            <a:r>
              <a:rPr lang="en-US" dirty="0" smtClean="0"/>
              <a:t>OPEN SOCIETIES – greater degree </a:t>
            </a:r>
          </a:p>
          <a:p>
            <a:endParaRPr lang="en-US" dirty="0" smtClean="0"/>
          </a:p>
          <a:p>
            <a:r>
              <a:rPr lang="en-US" dirty="0" smtClean="0"/>
              <a:t>Free to move  - both upward and downward , a change in social position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SOCIAL MOBILITY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lphaUcParenR"/>
            </a:pPr>
            <a:r>
              <a:rPr lang="en-US" dirty="0" smtClean="0"/>
              <a:t>Territorial Mobility </a:t>
            </a:r>
          </a:p>
          <a:p>
            <a:pPr marL="514350" indent="-514350">
              <a:buAutoNum type="alphaUcParenR"/>
            </a:pPr>
            <a:endParaRPr lang="en-US" dirty="0" smtClean="0"/>
          </a:p>
          <a:p>
            <a:pPr marL="514350" indent="-514350">
              <a:buAutoNum type="alphaUcParenR"/>
            </a:pPr>
            <a:r>
              <a:rPr lang="en-US" dirty="0" smtClean="0"/>
              <a:t>Horizontal Mobility – no change in social status</a:t>
            </a:r>
          </a:p>
          <a:p>
            <a:pPr marL="514350" indent="-514350">
              <a:buAutoNum type="alphaUcParenR"/>
            </a:pPr>
            <a:endParaRPr lang="en-US" dirty="0" smtClean="0"/>
          </a:p>
          <a:p>
            <a:pPr marL="514350" indent="-514350">
              <a:buAutoNum type="alphaUcParenR"/>
            </a:pPr>
            <a:r>
              <a:rPr lang="en-US" dirty="0" smtClean="0"/>
              <a:t>Vertical Mobility – upward / downward –hierarchy</a:t>
            </a:r>
          </a:p>
          <a:p>
            <a:pPr marL="514350" indent="-514350">
              <a:buAutoNum type="alphaUcParenR"/>
            </a:pPr>
            <a:endParaRPr lang="en-US" dirty="0" smtClean="0"/>
          </a:p>
          <a:p>
            <a:pPr marL="514350" indent="-514350">
              <a:buAutoNum type="alphaUcParenR"/>
            </a:pPr>
            <a:r>
              <a:rPr lang="en-US" dirty="0" smtClean="0"/>
              <a:t>Intergenerational Mobility – contemporary </a:t>
            </a:r>
            <a:r>
              <a:rPr lang="en-US" dirty="0" err="1" smtClean="0"/>
              <a:t>vs</a:t>
            </a:r>
            <a:r>
              <a:rPr lang="en-US" dirty="0" smtClean="0"/>
              <a:t> preceding generation  -Upward/ downward</a:t>
            </a:r>
          </a:p>
          <a:p>
            <a:pPr marL="514350" indent="-514350">
              <a:buAutoNum type="alphaUcParenR"/>
            </a:pPr>
            <a:endParaRPr lang="en-US" dirty="0" smtClean="0"/>
          </a:p>
          <a:p>
            <a:pPr marL="514350" indent="-514350">
              <a:buAutoNum type="alphaUcParenR"/>
            </a:pPr>
            <a:r>
              <a:rPr lang="en-US" dirty="0" smtClean="0"/>
              <a:t>Intra-generational Mobility – during life span – upward/downward</a:t>
            </a:r>
          </a:p>
          <a:p>
            <a:pPr marL="514350" indent="-514350">
              <a:buAutoNum type="alphaUcParenR"/>
            </a:pPr>
            <a:endParaRPr lang="en-US" dirty="0" smtClean="0"/>
          </a:p>
          <a:p>
            <a:pPr marL="514350" indent="-514350">
              <a:buAutoNum type="alphaUcParenR"/>
            </a:pPr>
            <a:r>
              <a:rPr lang="en-US" dirty="0" smtClean="0"/>
              <a:t>Occupational Mobility – change occupation/profession , Horizontal/Vertical, Inter/intra</a:t>
            </a:r>
          </a:p>
          <a:p>
            <a:pPr marL="514350" indent="-514350">
              <a:buAutoNum type="alphaUcParenR"/>
            </a:pPr>
            <a:endParaRPr lang="en-US" dirty="0" smtClean="0"/>
          </a:p>
          <a:p>
            <a:pPr marL="514350" indent="-514350">
              <a:buAutoNum type="alphaU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 OF SOCIAL MOBILITY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TYPES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1) STRUCTURAL FACTORS </a:t>
            </a:r>
          </a:p>
          <a:p>
            <a:r>
              <a:rPr lang="en-US" dirty="0" smtClean="0"/>
              <a:t>Factors which determine the relative proportion of high status positions to be filled and ease of getting them</a:t>
            </a:r>
          </a:p>
          <a:p>
            <a:pPr marL="514350" indent="-514350">
              <a:buAutoNum type="alphaLcParenR"/>
            </a:pPr>
            <a:r>
              <a:rPr lang="en-US" dirty="0" smtClean="0"/>
              <a:t>Occupational Structure – agriculture </a:t>
            </a:r>
            <a:r>
              <a:rPr lang="en-US" dirty="0" err="1" smtClean="0"/>
              <a:t>vs</a:t>
            </a:r>
            <a:r>
              <a:rPr lang="en-US" dirty="0" smtClean="0"/>
              <a:t> industrial (high specialization)</a:t>
            </a:r>
          </a:p>
          <a:p>
            <a:pPr marL="514350" indent="-514350">
              <a:buAutoNum type="alphaLcParenR"/>
            </a:pPr>
            <a:r>
              <a:rPr lang="en-US" dirty="0" smtClean="0"/>
              <a:t>Differential </a:t>
            </a:r>
            <a:r>
              <a:rPr lang="en-US" dirty="0" smtClean="0"/>
              <a:t>Fertility </a:t>
            </a:r>
            <a:endParaRPr lang="en-US" dirty="0" smtClean="0"/>
          </a:p>
          <a:p>
            <a:pPr marL="514350" indent="-514350">
              <a:buAutoNum type="alphaLcParenR"/>
            </a:pPr>
            <a:r>
              <a:rPr lang="en-US" dirty="0" smtClean="0"/>
              <a:t>Dual Economy – some sectors high/low salaries</a:t>
            </a:r>
          </a:p>
          <a:p>
            <a:pPr marL="514350" indent="-514350">
              <a:buAutoNum type="alphaLcParenR"/>
            </a:pPr>
            <a:r>
              <a:rPr lang="en-US" dirty="0" smtClean="0"/>
              <a:t>Mobility Aid/ Barriers – Aid (Scholarship) Barrier (Private schools)</a:t>
            </a:r>
          </a:p>
          <a:p>
            <a:pPr marL="514350" indent="-514350">
              <a:buAutoNum type="alphaLcParenR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2) INDIVIDUAL FACTORS</a:t>
            </a:r>
          </a:p>
          <a:p>
            <a:pPr marL="514350" indent="-514350">
              <a:buAutoNum type="alphaLcParenR"/>
            </a:pPr>
            <a:r>
              <a:rPr lang="en-US" dirty="0" smtClean="0"/>
              <a:t>Mobility oriented behavior</a:t>
            </a:r>
          </a:p>
          <a:p>
            <a:pPr marL="514350" indent="-514350">
              <a:buAutoNum type="alphaLcParenR"/>
            </a:pPr>
            <a:r>
              <a:rPr lang="en-US" dirty="0" smtClean="0"/>
              <a:t>Culture of poverty</a:t>
            </a:r>
          </a:p>
          <a:p>
            <a:pPr marL="514350" indent="-514350">
              <a:buAutoNum type="alphaLcParenR"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SOCIAL</a:t>
            </a:r>
            <a:br>
              <a:rPr lang="en-US" dirty="0" smtClean="0"/>
            </a:br>
            <a:r>
              <a:rPr lang="en-US" dirty="0" smtClean="0"/>
              <a:t> CONTROL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dirty="0" smtClean="0"/>
              <a:t>Human should be regulated – act accordingly to the pattern</a:t>
            </a:r>
          </a:p>
          <a:p>
            <a:pPr marL="514350" indent="-514350"/>
            <a:r>
              <a:rPr lang="en-US" dirty="0" smtClean="0"/>
              <a:t>Rewards / punishments </a:t>
            </a:r>
          </a:p>
          <a:p>
            <a:pPr marL="514350" indent="-514350"/>
            <a:r>
              <a:rPr lang="en-US" dirty="0" smtClean="0"/>
              <a:t>Techniques and strategies - Prevent deviant behavior</a:t>
            </a:r>
          </a:p>
          <a:p>
            <a:pPr marL="514350" indent="-51435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 OF SOCIAL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KARL MANNEHEIM – considered 2 mechanism </a:t>
            </a:r>
            <a:br>
              <a:rPr lang="en-US" dirty="0" smtClean="0"/>
            </a:br>
            <a:r>
              <a:rPr lang="en-US" dirty="0" smtClean="0"/>
              <a:t>a)Direct Social Control (by primary groups) </a:t>
            </a:r>
            <a:br>
              <a:rPr lang="en-US" dirty="0" smtClean="0"/>
            </a:br>
            <a:r>
              <a:rPr lang="en-US" dirty="0" smtClean="0"/>
              <a:t>b) Indirect Social Control (by secondary groups  tradition/customs)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smtClean="0"/>
              <a:t>LUMLEY- 2 Mechanism </a:t>
            </a:r>
            <a:br>
              <a:rPr lang="en-US" dirty="0" smtClean="0"/>
            </a:br>
            <a:r>
              <a:rPr lang="en-US" dirty="0" smtClean="0"/>
              <a:t>a) Physical Forced Method</a:t>
            </a:r>
            <a:br>
              <a:rPr lang="en-US" dirty="0" smtClean="0"/>
            </a:br>
            <a:r>
              <a:rPr lang="en-US" dirty="0" smtClean="0"/>
              <a:t>b) Human Symbol Method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smtClean="0"/>
              <a:t>KIMBALL YOUNG </a:t>
            </a:r>
            <a:br>
              <a:rPr lang="en-US" dirty="0" smtClean="0"/>
            </a:br>
            <a:r>
              <a:rPr lang="en-US" dirty="0" smtClean="0"/>
              <a:t>a) Positive Social Control</a:t>
            </a:r>
            <a:br>
              <a:rPr lang="en-US" dirty="0" smtClean="0"/>
            </a:br>
            <a:r>
              <a:rPr lang="en-US" dirty="0" smtClean="0"/>
              <a:t>b) Negative Social Control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FORMAL AND INFORMAL MEANS OF SOCIAL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FORMAL MEANS</a:t>
            </a:r>
          </a:p>
          <a:p>
            <a:pPr marL="514350" indent="-514350">
              <a:buAutoNum type="alphaLcParenR"/>
            </a:pPr>
            <a:r>
              <a:rPr lang="en-US" dirty="0" smtClean="0"/>
              <a:t>Education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Law</a:t>
            </a:r>
          </a:p>
          <a:p>
            <a:pPr marL="514350" indent="-514350">
              <a:buAutoNum type="alphaLcParenR"/>
            </a:pPr>
            <a:endParaRPr lang="en-US" dirty="0" smtClean="0"/>
          </a:p>
          <a:p>
            <a:pPr marL="514350" indent="-514350">
              <a:buAutoNum type="alphaLcParenR"/>
            </a:pPr>
            <a:endParaRPr lang="en-US" dirty="0" smtClean="0"/>
          </a:p>
          <a:p>
            <a:pPr marL="514350" indent="-514350"/>
            <a:r>
              <a:rPr lang="en-US" dirty="0" smtClean="0"/>
              <a:t>INFORMAL MEANS</a:t>
            </a:r>
          </a:p>
          <a:p>
            <a:pPr marL="514350" indent="-514350">
              <a:buAutoNum type="alphaLcParenR"/>
            </a:pPr>
            <a:r>
              <a:rPr lang="en-US" dirty="0" smtClean="0"/>
              <a:t>Norms</a:t>
            </a:r>
          </a:p>
          <a:p>
            <a:pPr marL="514350" indent="-514350">
              <a:buAutoNum type="alphaLcParenR"/>
            </a:pPr>
            <a:r>
              <a:rPr lang="en-US" dirty="0" smtClean="0"/>
              <a:t>Values</a:t>
            </a:r>
          </a:p>
          <a:p>
            <a:pPr marL="514350" indent="-514350">
              <a:buAutoNum type="alphaLcParenR"/>
            </a:pPr>
            <a:r>
              <a:rPr lang="en-US" dirty="0" smtClean="0"/>
              <a:t>Beliefs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AGENTS OF SOCIAL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Family</a:t>
            </a:r>
          </a:p>
          <a:p>
            <a:r>
              <a:rPr lang="en-US" dirty="0" smtClean="0"/>
              <a:t>State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Neighborhood – stigma - mores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ANOMIE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1897 – </a:t>
            </a:r>
            <a:r>
              <a:rPr lang="en-US" dirty="0" err="1" smtClean="0"/>
              <a:t>Durkhiem</a:t>
            </a:r>
            <a:r>
              <a:rPr lang="en-US" dirty="0" smtClean="0"/>
              <a:t> </a:t>
            </a:r>
          </a:p>
          <a:p>
            <a:r>
              <a:rPr lang="en-US" dirty="0" smtClean="0"/>
              <a:t>State of </a:t>
            </a:r>
            <a:r>
              <a:rPr lang="en-US" dirty="0" err="1" smtClean="0"/>
              <a:t>normlessness</a:t>
            </a:r>
            <a:r>
              <a:rPr lang="en-US" dirty="0" smtClean="0"/>
              <a:t> </a:t>
            </a:r>
          </a:p>
          <a:p>
            <a:r>
              <a:rPr lang="en-US" dirty="0" smtClean="0"/>
              <a:t>Where there are contradictory set of norms and values</a:t>
            </a:r>
          </a:p>
          <a:p>
            <a:r>
              <a:rPr lang="en-US" dirty="0" smtClean="0"/>
              <a:t>Rapid transition of societies  -Specialization, division of labor </a:t>
            </a:r>
          </a:p>
          <a:p>
            <a:r>
              <a:rPr lang="en-US" dirty="0" smtClean="0"/>
              <a:t>Increase </a:t>
            </a:r>
            <a:r>
              <a:rPr lang="en-US" dirty="0" err="1" smtClean="0"/>
              <a:t>dysfuction</a:t>
            </a:r>
            <a:r>
              <a:rPr lang="en-US" dirty="0" smtClean="0"/>
              <a:t> traits – impersonality, disengagement – Anomic Condition</a:t>
            </a:r>
          </a:p>
          <a:p>
            <a:endParaRPr lang="en-US" dirty="0" smtClean="0"/>
          </a:p>
          <a:p>
            <a:r>
              <a:rPr lang="en-US" dirty="0" smtClean="0"/>
              <a:t>One manifestation – Suicide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ALIENATION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Feelings that characterize losing control over one’s social world</a:t>
            </a:r>
          </a:p>
          <a:p>
            <a:r>
              <a:rPr lang="en-US" dirty="0" smtClean="0"/>
              <a:t>Marx defined it in relation with capitalist society</a:t>
            </a:r>
          </a:p>
          <a:p>
            <a:r>
              <a:rPr lang="en-US" dirty="0" smtClean="0"/>
              <a:t>A sense of powerlessness, isolation and meaninglessness experienced by human when they are confronted with social institutions and conditions that they cannot control and consider oppressive.</a:t>
            </a:r>
          </a:p>
          <a:p>
            <a:r>
              <a:rPr lang="en-US" dirty="0" smtClean="0"/>
              <a:t>Psychological -Estrangement from certain aspects of his social existence.</a:t>
            </a:r>
          </a:p>
          <a:p>
            <a:r>
              <a:rPr lang="en-US" dirty="0" smtClean="0"/>
              <a:t>Results in loss of integration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Society – different institutions – harmony – proper functioning </a:t>
            </a:r>
          </a:p>
          <a:p>
            <a:r>
              <a:rPr lang="en-US" dirty="0" smtClean="0"/>
              <a:t>Process of creating single unit by joining different parts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Assimilation – Homogeneity  mixture- no separate identity</a:t>
            </a:r>
          </a:p>
          <a:p>
            <a:r>
              <a:rPr lang="en-US" dirty="0" smtClean="0"/>
              <a:t>Integration – Heterogeneity - pluralistic</a:t>
            </a:r>
          </a:p>
          <a:p>
            <a:endParaRPr lang="en-US" dirty="0" smtClean="0"/>
          </a:p>
          <a:p>
            <a:r>
              <a:rPr lang="en-US" dirty="0" smtClean="0"/>
              <a:t>Pakistan issue – lack of social integration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MEANS OF SOCIAL INTEGRATION IN PAKISTAN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Emphasize share identity</a:t>
            </a:r>
          </a:p>
          <a:p>
            <a:r>
              <a:rPr lang="en-US" dirty="0" smtClean="0"/>
              <a:t>Limit ethnic politics</a:t>
            </a:r>
          </a:p>
          <a:p>
            <a:r>
              <a:rPr lang="en-US" dirty="0" smtClean="0"/>
              <a:t>Limit linguistic </a:t>
            </a:r>
            <a:r>
              <a:rPr lang="en-US" dirty="0" err="1" smtClean="0"/>
              <a:t>poltics</a:t>
            </a:r>
            <a:endParaRPr lang="en-US" dirty="0" smtClean="0"/>
          </a:p>
          <a:p>
            <a:r>
              <a:rPr lang="en-US" dirty="0" smtClean="0"/>
              <a:t>Interfaith harmony</a:t>
            </a:r>
          </a:p>
          <a:p>
            <a:r>
              <a:rPr lang="en-US" dirty="0" smtClean="0"/>
              <a:t>End sectarianism </a:t>
            </a:r>
          </a:p>
          <a:p>
            <a:r>
              <a:rPr lang="en-US" dirty="0" smtClean="0"/>
              <a:t>Provide economic opportunities</a:t>
            </a:r>
          </a:p>
          <a:p>
            <a:r>
              <a:rPr lang="en-US" dirty="0" smtClean="0"/>
              <a:t>Provision of human rights</a:t>
            </a:r>
          </a:p>
          <a:p>
            <a:r>
              <a:rPr lang="en-US" dirty="0" smtClean="0"/>
              <a:t>Curriculum changes</a:t>
            </a:r>
          </a:p>
          <a:p>
            <a:r>
              <a:rPr lang="en-US" dirty="0" smtClean="0"/>
              <a:t>Take religious scholars on board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SOCIAL AND CULTURAL CHANGE </a:t>
            </a:r>
            <a:br>
              <a:rPr lang="en-US" dirty="0" smtClean="0"/>
            </a:br>
            <a:r>
              <a:rPr lang="en-US" dirty="0" smtClean="0"/>
              <a:t>AND </a:t>
            </a:r>
            <a:br>
              <a:rPr lang="en-US" dirty="0" smtClean="0"/>
            </a:br>
            <a:r>
              <a:rPr lang="en-US" dirty="0" smtClean="0"/>
              <a:t>SOCIAL POLICY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Transformation of culture and social institutions over time (</a:t>
            </a:r>
            <a:r>
              <a:rPr lang="en-US" dirty="0" err="1" smtClean="0"/>
              <a:t>Macionis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CHARACTERISTICS OF SOCIAL CHANGE</a:t>
            </a:r>
          </a:p>
          <a:p>
            <a:pPr marL="514350" indent="-514350">
              <a:buAutoNum type="alphaLcParenR"/>
            </a:pPr>
            <a:r>
              <a:rPr lang="en-US" dirty="0" smtClean="0"/>
              <a:t>Continuous – contemporary fast</a:t>
            </a:r>
          </a:p>
          <a:p>
            <a:pPr marL="514350" indent="-514350">
              <a:buAutoNum type="alphaLcParenR"/>
            </a:pPr>
            <a:r>
              <a:rPr lang="en-US" dirty="0" smtClean="0"/>
              <a:t>Intentional and Unintentional  (</a:t>
            </a:r>
            <a:r>
              <a:rPr lang="en-US" dirty="0" err="1" smtClean="0"/>
              <a:t>Govt</a:t>
            </a:r>
            <a:r>
              <a:rPr lang="en-US" dirty="0" smtClean="0"/>
              <a:t> policy </a:t>
            </a:r>
            <a:r>
              <a:rPr lang="en-US" dirty="0" err="1" smtClean="0"/>
              <a:t>vs</a:t>
            </a:r>
            <a:r>
              <a:rPr lang="en-US" dirty="0" smtClean="0"/>
              <a:t> effect)</a:t>
            </a:r>
          </a:p>
          <a:p>
            <a:pPr marL="514350" indent="-514350">
              <a:buAutoNum type="alphaLcParenR"/>
            </a:pPr>
            <a:r>
              <a:rPr lang="en-US" dirty="0" smtClean="0"/>
              <a:t>Divisive – controversial (one consider benefit /other do not)</a:t>
            </a:r>
          </a:p>
          <a:p>
            <a:pPr marL="514350" indent="-514350">
              <a:buAutoNum type="alphaLcParenR"/>
            </a:pPr>
            <a:r>
              <a:rPr lang="en-US" dirty="0" smtClean="0"/>
              <a:t>Significant – some consider significant others do not (Phones)</a:t>
            </a:r>
          </a:p>
          <a:p>
            <a:pPr marL="514350" indent="-514350">
              <a:buAutoNum type="alphaLcParenR"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err="1" smtClean="0"/>
              <a:t>Manto</a:t>
            </a:r>
            <a:r>
              <a:rPr lang="en-US" dirty="0" smtClean="0"/>
              <a:t> – our society allow brothel but not cycle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SOCIO-CULTURAL 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 smtClean="0"/>
              <a:t>Invention – internet –dynamics of communication changes </a:t>
            </a:r>
          </a:p>
          <a:p>
            <a:pPr marL="514350" indent="-514350">
              <a:buAutoNum type="alphaLcParenR"/>
            </a:pPr>
            <a:r>
              <a:rPr lang="en-US" dirty="0" smtClean="0"/>
              <a:t>Discovery – understanding new dimensions  (Neutral </a:t>
            </a:r>
            <a:r>
              <a:rPr lang="en-US" dirty="0" err="1" smtClean="0"/>
              <a:t>vs</a:t>
            </a:r>
            <a:r>
              <a:rPr lang="en-US" dirty="0" smtClean="0"/>
              <a:t> Sex determining hormones)</a:t>
            </a:r>
          </a:p>
          <a:p>
            <a:pPr marL="514350" indent="-514350">
              <a:buAutoNum type="alphaLcParenR"/>
            </a:pPr>
            <a:r>
              <a:rPr lang="en-US" dirty="0" smtClean="0"/>
              <a:t>Diffusion – mixing of cultural traits (migration)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Conflict – races/class/women </a:t>
            </a:r>
          </a:p>
          <a:p>
            <a:pPr marL="514350" indent="-514350">
              <a:buAutoNum type="alphaLcParenR"/>
            </a:pPr>
            <a:r>
              <a:rPr lang="en-US" dirty="0" smtClean="0"/>
              <a:t>Idealism – changes in ideas of people regarding any social pattern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INHIBITIONS TO SOCIO-CULTURAL CHANGE IN PAKISTAN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lphaLcParenR"/>
            </a:pPr>
            <a:r>
              <a:rPr lang="en-US" dirty="0" smtClean="0"/>
              <a:t>Cultural inertia</a:t>
            </a:r>
          </a:p>
          <a:p>
            <a:pPr marL="514350" indent="-514350">
              <a:buAutoNum type="alphaLcParenR"/>
            </a:pPr>
            <a:r>
              <a:rPr lang="en-US" dirty="0" smtClean="0"/>
              <a:t>Isolation </a:t>
            </a:r>
          </a:p>
          <a:p>
            <a:pPr marL="514350" indent="-514350">
              <a:buAutoNum type="alphaLcParenR"/>
            </a:pPr>
            <a:r>
              <a:rPr lang="en-US" dirty="0" smtClean="0"/>
              <a:t>Traditionalism – ancestor ways replicated</a:t>
            </a:r>
          </a:p>
          <a:p>
            <a:pPr marL="514350" indent="-514350">
              <a:buAutoNum type="alphaLcParenR"/>
            </a:pPr>
            <a:r>
              <a:rPr lang="en-US" dirty="0" smtClean="0"/>
              <a:t>Education –low</a:t>
            </a:r>
          </a:p>
          <a:p>
            <a:pPr marL="514350" indent="-514350">
              <a:buAutoNum type="alphaLcParenR"/>
            </a:pPr>
            <a:r>
              <a:rPr lang="en-US" dirty="0" smtClean="0"/>
              <a:t>Rigid social structure – highly regulated society</a:t>
            </a:r>
          </a:p>
          <a:p>
            <a:pPr marL="514350" indent="-514350">
              <a:buAutoNum type="alphaLcParenR"/>
            </a:pPr>
            <a:r>
              <a:rPr lang="en-US" dirty="0" smtClean="0"/>
              <a:t>Ethnocentrism</a:t>
            </a:r>
          </a:p>
          <a:p>
            <a:pPr marL="514350" indent="-514350">
              <a:buAutoNum type="alphaLcParenR"/>
            </a:pPr>
            <a:r>
              <a:rPr lang="en-US" dirty="0" smtClean="0"/>
              <a:t>Propaganda</a:t>
            </a:r>
          </a:p>
          <a:p>
            <a:pPr marL="514350" indent="-514350">
              <a:buAutoNum type="alphaLcParenR"/>
            </a:pPr>
            <a:r>
              <a:rPr lang="en-US" dirty="0" smtClean="0"/>
              <a:t>Poverty and Culture of Poverty</a:t>
            </a:r>
          </a:p>
          <a:p>
            <a:pPr marL="514350" indent="-514350">
              <a:buAutoNum type="alphaLcParenR"/>
            </a:pPr>
            <a:r>
              <a:rPr lang="en-US" dirty="0" smtClean="0"/>
              <a:t>Endogamy and Caste</a:t>
            </a:r>
          </a:p>
          <a:p>
            <a:pPr marL="514350" indent="-514350">
              <a:buAutoNum type="alphaLcParenR"/>
            </a:pPr>
            <a:r>
              <a:rPr lang="en-US" dirty="0" smtClean="0"/>
              <a:t>Pressure Groups</a:t>
            </a:r>
          </a:p>
          <a:p>
            <a:pPr marL="514350" indent="-514350">
              <a:buAutoNum type="alphaLcParenR"/>
            </a:pPr>
            <a:r>
              <a:rPr lang="en-US" dirty="0" smtClean="0"/>
              <a:t>Compatibility of change with existing patterns (Birth control – anti-</a:t>
            </a:r>
            <a:r>
              <a:rPr lang="en-US" dirty="0" err="1" smtClean="0"/>
              <a:t>islam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 OPINION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PUBLIC OPINION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Consists of the views of the members of a public on a certain issues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FORMATION OF PUBLIC OPINION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To achieve any social and political goal by organizing the masses</a:t>
            </a:r>
          </a:p>
          <a:p>
            <a:r>
              <a:rPr lang="en-US" dirty="0" smtClean="0"/>
              <a:t>Brings participation</a:t>
            </a:r>
          </a:p>
          <a:p>
            <a:endParaRPr lang="en-US" dirty="0" smtClean="0"/>
          </a:p>
          <a:p>
            <a:r>
              <a:rPr lang="en-US" dirty="0" smtClean="0"/>
              <a:t>FACTORS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Environment – thinking an issue as lamentable –other thinks same</a:t>
            </a:r>
          </a:p>
          <a:p>
            <a:pPr marL="514350" indent="-514350">
              <a:buAutoNum type="alphaLcParenR"/>
            </a:pPr>
            <a:r>
              <a:rPr lang="en-US" dirty="0" smtClean="0"/>
              <a:t>Mass Media</a:t>
            </a:r>
          </a:p>
          <a:p>
            <a:pPr marL="514350" indent="-514350">
              <a:buAutoNum type="alphaLcParenR"/>
            </a:pPr>
            <a:r>
              <a:rPr lang="en-US" dirty="0" smtClean="0"/>
              <a:t>Opinion Leaders</a:t>
            </a:r>
          </a:p>
          <a:p>
            <a:pPr marL="514350" indent="-514350">
              <a:buAutoNum type="alphaLcParenR"/>
            </a:pPr>
            <a:r>
              <a:rPr lang="en-US" dirty="0" smtClean="0"/>
              <a:t>Education Institutions –hidden curriculum</a:t>
            </a:r>
          </a:p>
          <a:p>
            <a:pPr marL="514350" indent="-514350">
              <a:buAutoNum type="alphaLcParenR"/>
            </a:pPr>
            <a:r>
              <a:rPr lang="en-US" dirty="0" smtClean="0"/>
              <a:t>Government and State – Use propaganda tools – promote ideologies (APS Peshawar)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OPINION LEADER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Either politician, journalists, academician, religious scholar, star, sportsman, social worker</a:t>
            </a:r>
          </a:p>
          <a:p>
            <a:r>
              <a:rPr lang="en-US" dirty="0" smtClean="0"/>
              <a:t>Has ability to influence and shape public opinion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CHARACTERISTICS OF OPINION LEADER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 smtClean="0"/>
              <a:t>Considered Credible </a:t>
            </a:r>
          </a:p>
          <a:p>
            <a:pPr marL="514350" indent="-514350">
              <a:buAutoNum type="alphaLcParenR"/>
            </a:pPr>
            <a:r>
              <a:rPr lang="en-US" dirty="0" smtClean="0"/>
              <a:t>Expert</a:t>
            </a:r>
          </a:p>
          <a:p>
            <a:pPr marL="514350" indent="-514350">
              <a:buAutoNum type="alphaLcParenR"/>
            </a:pPr>
            <a:r>
              <a:rPr lang="en-US" dirty="0" smtClean="0"/>
              <a:t>Sincere</a:t>
            </a:r>
          </a:p>
          <a:p>
            <a:pPr marL="514350" indent="-514350">
              <a:buAutoNum type="alphaLcParenR"/>
            </a:pPr>
            <a:r>
              <a:rPr lang="en-US" dirty="0" smtClean="0"/>
              <a:t>Innovative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Sociable</a:t>
            </a:r>
          </a:p>
          <a:p>
            <a:pPr marL="514350" indent="-514350">
              <a:buAutoNum type="alphaLcParenR"/>
            </a:pPr>
            <a:r>
              <a:rPr lang="en-US" dirty="0" smtClean="0"/>
              <a:t>Knowledgeable </a:t>
            </a:r>
          </a:p>
          <a:p>
            <a:pPr marL="514350" indent="-514350">
              <a:buAutoNum type="alphaLcParenR"/>
            </a:pPr>
            <a:r>
              <a:rPr lang="en-US" dirty="0" smtClean="0"/>
              <a:t>Communication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Compassion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SOCIAL INSTITUTIONS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INSTITUTIONS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 the major spheres of social life organized to meet human needs (</a:t>
            </a:r>
            <a:r>
              <a:rPr lang="en-US" dirty="0" err="1" smtClean="0"/>
              <a:t>Macionis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OF INSTITUTIONALIZATION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Institution – can be planned and unplanned</a:t>
            </a:r>
          </a:p>
          <a:p>
            <a:r>
              <a:rPr lang="en-US" dirty="0" smtClean="0"/>
              <a:t>Mostly unplanned – necessity of man</a:t>
            </a:r>
          </a:p>
          <a:p>
            <a:r>
              <a:rPr lang="en-US" dirty="0" smtClean="0"/>
              <a:t>Some problems – got solutions – repeated ways – created as standards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 Hunt and Gathering Societies 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 – Women who works in Pak – criticized </a:t>
            </a:r>
          </a:p>
          <a:p>
            <a:r>
              <a:rPr lang="en-US" dirty="0" smtClean="0"/>
              <a:t>Pak- Live in partners – no social acceptance </a:t>
            </a:r>
          </a:p>
          <a:p>
            <a:endParaRPr lang="en-US" dirty="0" smtClean="0"/>
          </a:p>
          <a:p>
            <a:r>
              <a:rPr lang="en-US" dirty="0" smtClean="0"/>
              <a:t>CONFLICT THEORY – laws are institutionalized – serve interests of elite/powerful.</a:t>
            </a:r>
          </a:p>
          <a:p>
            <a:r>
              <a:rPr lang="en-US" dirty="0" smtClean="0"/>
              <a:t>Roles institutionalized – limit one choice 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 Judge –limit interaction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FAMILY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set of people related to blood, marriage, or adoption who share primary responsibility for reproduction and caring of members of society.</a:t>
            </a:r>
          </a:p>
          <a:p>
            <a:endParaRPr lang="en-US" dirty="0" smtClean="0"/>
          </a:p>
          <a:p>
            <a:r>
              <a:rPr lang="en-US" dirty="0" smtClean="0"/>
              <a:t>FUNCTIONS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Socialization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Sexual Activity </a:t>
            </a:r>
          </a:p>
          <a:p>
            <a:pPr marL="514350" indent="-514350">
              <a:buAutoNum type="alphaLcParenR"/>
            </a:pPr>
            <a:r>
              <a:rPr lang="en-US" dirty="0" smtClean="0"/>
              <a:t>Protection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Providing Support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Control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placement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Involving beliefs and practices based upon conception of sacred.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Types of Religions </a:t>
            </a:r>
          </a:p>
          <a:p>
            <a:pPr marL="514350" indent="-514350">
              <a:buAutoNum type="alphaLcParenR"/>
            </a:pPr>
            <a:r>
              <a:rPr lang="en-US" dirty="0" smtClean="0"/>
              <a:t>Monotheists</a:t>
            </a:r>
          </a:p>
          <a:p>
            <a:pPr marL="514350" indent="-514350">
              <a:buAutoNum type="alphaLcParenR"/>
            </a:pPr>
            <a:r>
              <a:rPr lang="en-US" dirty="0" smtClean="0"/>
              <a:t>Polytheists </a:t>
            </a:r>
          </a:p>
          <a:p>
            <a:pPr marL="514350" indent="-514350">
              <a:buAutoNum type="alphaLcParenR"/>
            </a:pPr>
            <a:r>
              <a:rPr lang="en-US" dirty="0" smtClean="0"/>
              <a:t>Primitive (believe in the spirits and elements of nature)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OF 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Gives meaning and purpose</a:t>
            </a:r>
          </a:p>
          <a:p>
            <a:r>
              <a:rPr lang="en-US" dirty="0" smtClean="0"/>
              <a:t>Social control</a:t>
            </a:r>
          </a:p>
          <a:p>
            <a:r>
              <a:rPr lang="en-US" dirty="0" smtClean="0"/>
              <a:t>Social Solidarity</a:t>
            </a:r>
          </a:p>
          <a:p>
            <a:pPr marL="514350" indent="-514350">
              <a:buAutoNum type="alphaLcParenR"/>
            </a:pPr>
            <a:r>
              <a:rPr lang="en-US" dirty="0" smtClean="0"/>
              <a:t>Strengthen relationship</a:t>
            </a:r>
          </a:p>
          <a:p>
            <a:pPr marL="514350" indent="-514350">
              <a:buAutoNum type="alphaLcParenR"/>
            </a:pPr>
            <a:r>
              <a:rPr lang="en-US" dirty="0" smtClean="0"/>
              <a:t>Comfort</a:t>
            </a:r>
          </a:p>
          <a:p>
            <a:pPr marL="514350" indent="-514350">
              <a:buAutoNum type="alphaLcParenR"/>
            </a:pPr>
            <a:r>
              <a:rPr lang="en-US" dirty="0" smtClean="0"/>
              <a:t>Removes frustration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Compassionate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Formal transfer of knowledge, skills and values from one person or group to another.</a:t>
            </a:r>
          </a:p>
          <a:p>
            <a:endParaRPr lang="en-US" dirty="0" smtClean="0"/>
          </a:p>
          <a:p>
            <a:r>
              <a:rPr lang="en-US" dirty="0" smtClean="0"/>
              <a:t>FUNCATIONS 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Socialization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Cultural innovation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Integration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placement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capital</a:t>
            </a:r>
          </a:p>
          <a:p>
            <a:pPr marL="514350" indent="-514350">
              <a:buAutoNum type="alphaLcParenR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Institute that distributes power, set a society’s goal and makes decision.</a:t>
            </a:r>
          </a:p>
          <a:p>
            <a:endParaRPr lang="en-US" dirty="0" smtClean="0"/>
          </a:p>
          <a:p>
            <a:r>
              <a:rPr lang="en-US" dirty="0" smtClean="0"/>
              <a:t>FUNCTIONS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 order</a:t>
            </a:r>
          </a:p>
          <a:p>
            <a:pPr marL="514350" indent="-514350">
              <a:buAutoNum type="alphaLcParenR"/>
            </a:pPr>
            <a:r>
              <a:rPr lang="en-US" dirty="0" smtClean="0"/>
              <a:t>Integration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Institutionalization – through laws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ECONOMY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Institute through which goods and services are produced, distributed and consumed.</a:t>
            </a:r>
          </a:p>
          <a:p>
            <a:endParaRPr lang="en-US" dirty="0" smtClean="0"/>
          </a:p>
          <a:p>
            <a:r>
              <a:rPr lang="en-US" dirty="0" smtClean="0"/>
              <a:t>CONCEPTS</a:t>
            </a:r>
          </a:p>
          <a:p>
            <a:pPr marL="514350" indent="-514350">
              <a:buAutoNum type="alphaLcParenR"/>
            </a:pPr>
            <a:r>
              <a:rPr lang="en-US" dirty="0" smtClean="0"/>
              <a:t>Primary Sector – draws raw material</a:t>
            </a:r>
          </a:p>
          <a:p>
            <a:pPr marL="514350" indent="-514350">
              <a:buAutoNum type="alphaLcParenR"/>
            </a:pPr>
            <a:r>
              <a:rPr lang="en-US" dirty="0" smtClean="0"/>
              <a:t>Secondary Sector – transforms</a:t>
            </a:r>
          </a:p>
          <a:p>
            <a:pPr marL="514350" indent="-514350">
              <a:buAutoNum type="alphaLcParenR"/>
            </a:pPr>
            <a:r>
              <a:rPr lang="en-US" dirty="0" smtClean="0"/>
              <a:t>Tertiary Sector – services</a:t>
            </a:r>
          </a:p>
          <a:p>
            <a:pPr marL="514350" indent="-514350">
              <a:buAutoNum type="alphaLcParenR"/>
            </a:pPr>
            <a:r>
              <a:rPr lang="en-US" dirty="0" smtClean="0"/>
              <a:t>Global Economy – cross national borders </a:t>
            </a:r>
          </a:p>
          <a:p>
            <a:pPr marL="514350" indent="-514350">
              <a:buAutoNum type="alphaLcParenR"/>
            </a:pPr>
            <a:r>
              <a:rPr lang="en-US" dirty="0" smtClean="0"/>
              <a:t>Capitalism </a:t>
            </a:r>
          </a:p>
          <a:p>
            <a:pPr marL="514350" indent="-514350">
              <a:buAutoNum type="alphaLcParenR"/>
            </a:pPr>
            <a:r>
              <a:rPr lang="en-US" dirty="0" smtClean="0"/>
              <a:t>Socialism </a:t>
            </a:r>
          </a:p>
          <a:p>
            <a:pPr marL="514350" indent="-514350">
              <a:buAutoNum type="alphaLcParenR"/>
            </a:pPr>
            <a:r>
              <a:rPr lang="en-US" dirty="0" smtClean="0"/>
              <a:t>Monopoly</a:t>
            </a:r>
          </a:p>
          <a:p>
            <a:pPr marL="514350" indent="-514350">
              <a:buAutoNum type="alphaLcParenR"/>
            </a:pPr>
            <a:r>
              <a:rPr lang="en-US" dirty="0" smtClean="0"/>
              <a:t>Oligopoly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METHODS IN SOCIOLOGICAL RESEARCH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Sociological investigations</a:t>
            </a:r>
          </a:p>
          <a:p>
            <a:r>
              <a:rPr lang="en-US" dirty="0" smtClean="0"/>
              <a:t>Study issues and problems</a:t>
            </a:r>
          </a:p>
          <a:p>
            <a:r>
              <a:rPr lang="en-US" dirty="0" smtClean="0"/>
              <a:t>Using observations, experimentations, data collection and analysis</a:t>
            </a:r>
          </a:p>
          <a:p>
            <a:r>
              <a:rPr lang="en-US" dirty="0" smtClean="0"/>
              <a:t>“A method of inquiry which provides knowledge and information that is based on direct </a:t>
            </a:r>
            <a:r>
              <a:rPr lang="en-US" dirty="0" err="1" smtClean="0"/>
              <a:t>methodoical</a:t>
            </a:r>
            <a:r>
              <a:rPr lang="en-US" dirty="0" smtClean="0"/>
              <a:t> observation and is verifiable”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CHARACTERISTICS OF SOCIOLOGICAL 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Theoretical – generating , testify, retest </a:t>
            </a:r>
          </a:p>
          <a:p>
            <a:r>
              <a:rPr lang="en-US" dirty="0" smtClean="0"/>
              <a:t>Empirical – measurable observation</a:t>
            </a:r>
          </a:p>
          <a:p>
            <a:r>
              <a:rPr lang="en-US" dirty="0" err="1" smtClean="0"/>
              <a:t>Nomothetic</a:t>
            </a:r>
            <a:r>
              <a:rPr lang="en-US" dirty="0" smtClean="0"/>
              <a:t> – finding general principle </a:t>
            </a:r>
          </a:p>
          <a:p>
            <a:r>
              <a:rPr lang="en-US" dirty="0" smtClean="0"/>
              <a:t>Idiographic – understanding individual cases</a:t>
            </a:r>
          </a:p>
          <a:p>
            <a:r>
              <a:rPr lang="en-US" dirty="0" smtClean="0"/>
              <a:t>Probabilistic - expectations</a:t>
            </a:r>
          </a:p>
          <a:p>
            <a:r>
              <a:rPr lang="en-US" dirty="0" smtClean="0"/>
              <a:t>Causal – cause and effect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SOCIOLOGICAL 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u="sng" dirty="0" smtClean="0"/>
              <a:t>DESCRIPTIVE RESEARCH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Answer – What is happening</a:t>
            </a:r>
            <a:br>
              <a:rPr lang="en-US" dirty="0" smtClean="0"/>
            </a:br>
            <a:r>
              <a:rPr lang="en-US" dirty="0" smtClean="0"/>
              <a:t>Describes the reality (not explain)</a:t>
            </a:r>
            <a:br>
              <a:rPr lang="en-US" dirty="0" smtClean="0"/>
            </a:br>
            <a:r>
              <a:rPr lang="en-US" dirty="0" smtClean="0"/>
              <a:t>% people voting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u="sng" dirty="0" smtClean="0"/>
              <a:t>EXPLORATORY RESEARCH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Theory development </a:t>
            </a:r>
            <a:br>
              <a:rPr lang="en-US" dirty="0" smtClean="0"/>
            </a:br>
            <a:r>
              <a:rPr lang="en-US" dirty="0" smtClean="0"/>
              <a:t>Explain some new social phenomenon</a:t>
            </a:r>
            <a:br>
              <a:rPr lang="en-US" dirty="0" smtClean="0"/>
            </a:br>
            <a:r>
              <a:rPr lang="en-US" dirty="0" smtClean="0"/>
              <a:t>Intra-parties elections study – study dynamics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u="sng" dirty="0" smtClean="0"/>
              <a:t>RELATIONAL RESEARCH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Study relationship btw 2 or more variables – change together </a:t>
            </a:r>
            <a:br>
              <a:rPr lang="en-US" dirty="0" smtClean="0"/>
            </a:br>
            <a:r>
              <a:rPr lang="en-US" dirty="0" smtClean="0"/>
              <a:t>Relationship btw caste and voting</a:t>
            </a:r>
            <a:br>
              <a:rPr lang="en-US" dirty="0" smtClean="0"/>
            </a:br>
            <a:r>
              <a:rPr lang="en-US" dirty="0" smtClean="0"/>
              <a:t>Limitations – World is not laboratory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u="sng" dirty="0" smtClean="0"/>
              <a:t>CAUSAL RESEARCH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Cause and Effect relations – Dependent –independent Variables</a:t>
            </a:r>
            <a:br>
              <a:rPr lang="en-US" dirty="0" smtClean="0"/>
            </a:br>
            <a:r>
              <a:rPr lang="en-US" dirty="0" smtClean="0"/>
              <a:t>Cause precede Effect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IN SOCIOLOGICAL INVESTIGATION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CROSS SECTIONAL </a:t>
            </a:r>
            <a:br>
              <a:rPr lang="en-US" dirty="0" smtClean="0"/>
            </a:br>
            <a:r>
              <a:rPr lang="en-US" dirty="0" smtClean="0"/>
              <a:t>Single point in time </a:t>
            </a:r>
          </a:p>
          <a:p>
            <a:endParaRPr lang="en-US" dirty="0" smtClean="0"/>
          </a:p>
          <a:p>
            <a:r>
              <a:rPr lang="en-US" dirty="0" smtClean="0"/>
              <a:t>LONGITUDINAL </a:t>
            </a:r>
            <a:br>
              <a:rPr lang="en-US" dirty="0" smtClean="0"/>
            </a:br>
            <a:r>
              <a:rPr lang="en-US" dirty="0" smtClean="0"/>
              <a:t>Various points in time (min 2)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/>
              <a:t>REPEATED MEASURES (twice or few)</a:t>
            </a:r>
          </a:p>
          <a:p>
            <a:pPr>
              <a:buFont typeface="Wingdings" pitchFamily="2" charset="2"/>
              <a:buChar char="v"/>
            </a:pPr>
            <a:r>
              <a:rPr lang="en-US" sz="2800" dirty="0" smtClean="0"/>
              <a:t>TIME SERIES STUDY (at least 20 waves of measurement)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IN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DEDUCTIVE REASONING</a:t>
            </a:r>
          </a:p>
          <a:p>
            <a:pPr marL="514350" indent="-514350"/>
            <a:r>
              <a:rPr lang="en-US" dirty="0" smtClean="0"/>
              <a:t>Start from General theory and reducing it to specific hypothesis</a:t>
            </a:r>
          </a:p>
          <a:p>
            <a:pPr marL="514350" indent="-514350"/>
            <a:r>
              <a:rPr lang="en-US" dirty="0" smtClean="0"/>
              <a:t>Can be empirically tested</a:t>
            </a:r>
          </a:p>
          <a:p>
            <a:pPr marL="514350" indent="-514350"/>
            <a:r>
              <a:rPr lang="en-US" dirty="0" smtClean="0"/>
              <a:t>E.G. Studying  Cyber Criminals in Pakistan</a:t>
            </a:r>
            <a:br>
              <a:rPr lang="en-US" dirty="0" smtClean="0"/>
            </a:br>
            <a:r>
              <a:rPr lang="en-US" dirty="0" err="1" smtClean="0"/>
              <a:t>Hirshi</a:t>
            </a:r>
            <a:r>
              <a:rPr lang="en-US" dirty="0" smtClean="0"/>
              <a:t> Control Theory ( less opportunities)</a:t>
            </a:r>
          </a:p>
          <a:p>
            <a:pPr marL="514350" indent="-514350"/>
            <a:endParaRPr lang="en-US" dirty="0" smtClean="0"/>
          </a:p>
          <a:p>
            <a:pPr marL="514350" indent="-514350">
              <a:buAutoNum type="arabicPeriod" startAt="2"/>
            </a:pPr>
            <a:r>
              <a:rPr lang="en-US" dirty="0" smtClean="0"/>
              <a:t>INDUCTIVE REASONING</a:t>
            </a:r>
          </a:p>
          <a:p>
            <a:pPr marL="514350" indent="-514350"/>
            <a:r>
              <a:rPr lang="en-US" dirty="0" smtClean="0"/>
              <a:t>Starting from specific observation and moving to a general theory</a:t>
            </a:r>
          </a:p>
          <a:p>
            <a:pPr marL="514350" indent="-514350"/>
            <a:r>
              <a:rPr lang="en-US" dirty="0" smtClean="0"/>
              <a:t>E.g. Visiting few universities – students abusing substances</a:t>
            </a:r>
          </a:p>
          <a:p>
            <a:pPr marL="514350" indent="-514350"/>
            <a:r>
              <a:rPr lang="en-US" dirty="0" smtClean="0"/>
              <a:t>Decided to study this phenomenon</a:t>
            </a:r>
          </a:p>
          <a:p>
            <a:pPr marL="514350" indent="-514350"/>
            <a:r>
              <a:rPr lang="en-US" dirty="0" smtClean="0"/>
              <a:t>- Female less likely to abuse</a:t>
            </a:r>
            <a:br>
              <a:rPr lang="en-US" dirty="0" smtClean="0"/>
            </a:br>
            <a:r>
              <a:rPr lang="en-US" dirty="0" smtClean="0"/>
              <a:t>- Rural areas – less likely</a:t>
            </a:r>
            <a:br>
              <a:rPr lang="en-US" dirty="0" smtClean="0"/>
            </a:br>
            <a:r>
              <a:rPr lang="en-US" dirty="0" smtClean="0"/>
              <a:t>- Scholars – less likely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QUANTITATIVE VS QUALITATIVE RESEARCH DESIGN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600" y="1935163"/>
          <a:ext cx="10972800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QUANTITATIVE</a:t>
                      </a:r>
                      <a:r>
                        <a:rPr lang="en-US" baseline="0" dirty="0" smtClean="0"/>
                        <a:t> RESEARCH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QUALITATIVE RESEARCH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Concerned</a:t>
                      </a:r>
                      <a:r>
                        <a:rPr lang="en-US" baseline="0" dirty="0" smtClean="0"/>
                        <a:t> with hypothesis testing, descriptive and prediction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Concerned with theory building, exploration, discovery, explanation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Deductive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Inductive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Views reality as objective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Views reality as subjective,</a:t>
                      </a:r>
                      <a:r>
                        <a:rPr lang="en-US" baseline="0" dirty="0" smtClean="0"/>
                        <a:t> socially constructed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is collected</a:t>
                      </a:r>
                      <a:r>
                        <a:rPr lang="en-US" baseline="0" dirty="0" smtClean="0"/>
                        <a:t> through precise instruments such as close ended questions, scales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 is collected through observations, in-depth interviews, and</a:t>
                      </a:r>
                      <a:r>
                        <a:rPr lang="en-US" baseline="0" dirty="0" smtClean="0"/>
                        <a:t> open-ended questionnaire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Views human behavior as predictable, attempts to study such behavior in controlled conditions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Views human behavior as dynamic,</a:t>
                      </a:r>
                      <a:r>
                        <a:rPr lang="en-US" baseline="0" dirty="0" smtClean="0"/>
                        <a:t> and thus interested in studying the context in which such behavior is </a:t>
                      </a:r>
                      <a:r>
                        <a:rPr lang="en-US" baseline="0" dirty="0" err="1" smtClean="0"/>
                        <a:t>occuring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 SOCIOLOGICAL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DEFINE YOUR TOPIC – hardest part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CONDUCTING LITERATURE REVIEW – summarize previous work</a:t>
            </a:r>
            <a:br>
              <a:rPr lang="en-US" dirty="0" smtClean="0"/>
            </a:br>
            <a:r>
              <a:rPr lang="en-US" dirty="0" smtClean="0"/>
              <a:t>- helps researcher to refine his topic, formulate hypotheses, research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FORMULATING HYPOTHESIS</a:t>
            </a:r>
            <a:br>
              <a:rPr lang="en-US" dirty="0" smtClean="0"/>
            </a:br>
            <a:r>
              <a:rPr lang="en-US" dirty="0" smtClean="0"/>
              <a:t>- testable empirical statement that suggests a relationship between 2 or more variables </a:t>
            </a:r>
            <a:br>
              <a:rPr lang="en-US" dirty="0" smtClean="0"/>
            </a:br>
            <a:r>
              <a:rPr lang="en-US" dirty="0" smtClean="0"/>
              <a:t>NULL  -  ALTERNATE hypothesis</a:t>
            </a:r>
            <a:br>
              <a:rPr lang="en-US" dirty="0" smtClean="0"/>
            </a:br>
            <a:r>
              <a:rPr lang="en-US" dirty="0" smtClean="0"/>
              <a:t>VARIABLE – measureable trait </a:t>
            </a:r>
            <a:br>
              <a:rPr lang="en-US" dirty="0" smtClean="0"/>
            </a:br>
            <a:r>
              <a:rPr lang="en-US" dirty="0" smtClean="0"/>
              <a:t>Dependent – Outcome variable – effect is observed</a:t>
            </a:r>
            <a:br>
              <a:rPr lang="en-US" dirty="0" smtClean="0"/>
            </a:br>
            <a:r>
              <a:rPr lang="en-US" dirty="0" smtClean="0"/>
              <a:t>Independent Variable –can be manipulated to test effect</a:t>
            </a:r>
            <a:br>
              <a:rPr lang="en-US" dirty="0" smtClean="0"/>
            </a:b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68740"/>
            <a:ext cx="10972800" cy="56558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4. CHOOSING A RESEARCH DESIGN</a:t>
            </a:r>
            <a:br>
              <a:rPr lang="en-US" dirty="0" smtClean="0"/>
            </a:br>
            <a:r>
              <a:rPr lang="en-US" dirty="0" smtClean="0"/>
              <a:t>- Methodical plan for conducting research</a:t>
            </a:r>
            <a:br>
              <a:rPr lang="en-US" dirty="0" smtClean="0"/>
            </a:br>
            <a:r>
              <a:rPr lang="en-US" dirty="0" smtClean="0"/>
              <a:t>- Research Methods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 err="1" smtClean="0"/>
              <a:t>Operationalization</a:t>
            </a:r>
            <a:r>
              <a:rPr lang="en-US" dirty="0" smtClean="0"/>
              <a:t> (how you are going to research)</a:t>
            </a:r>
            <a:br>
              <a:rPr lang="en-US" dirty="0" smtClean="0"/>
            </a:br>
            <a:r>
              <a:rPr lang="en-US" dirty="0" smtClean="0"/>
              <a:t>- Population and Sampling</a:t>
            </a:r>
          </a:p>
          <a:p>
            <a:pPr>
              <a:buNone/>
            </a:pPr>
            <a:r>
              <a:rPr lang="en-US" dirty="0" smtClean="0"/>
              <a:t>5. DATA COLLECTION</a:t>
            </a:r>
          </a:p>
          <a:p>
            <a:pPr>
              <a:buNone/>
            </a:pPr>
            <a:r>
              <a:rPr lang="en-US" dirty="0" smtClean="0"/>
              <a:t>6. DATA ANALYSIS </a:t>
            </a:r>
            <a:br>
              <a:rPr lang="en-US" dirty="0" smtClean="0"/>
            </a:br>
            <a:r>
              <a:rPr lang="en-US" dirty="0" smtClean="0"/>
              <a:t>- compare stated hypothesis with what the collected data says</a:t>
            </a:r>
            <a:br>
              <a:rPr lang="en-US" dirty="0" smtClean="0"/>
            </a:br>
            <a:r>
              <a:rPr lang="en-US" dirty="0" smtClean="0"/>
              <a:t>- Use various statistical tests</a:t>
            </a:r>
            <a:br>
              <a:rPr lang="en-US" dirty="0" smtClean="0"/>
            </a:br>
            <a:r>
              <a:rPr lang="en-US" dirty="0" smtClean="0"/>
              <a:t>- Ensure Reliability (Consistent) and Validity (Measures what you are interested)</a:t>
            </a:r>
          </a:p>
          <a:p>
            <a:pPr>
              <a:buNone/>
            </a:pPr>
            <a:r>
              <a:rPr lang="en-US" dirty="0" smtClean="0"/>
              <a:t>7. CONCLUSION</a:t>
            </a:r>
          </a:p>
          <a:p>
            <a:pPr>
              <a:buNone/>
            </a:pPr>
            <a:r>
              <a:rPr lang="en-US" dirty="0" smtClean="0"/>
              <a:t>8. SHARING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EXPERIMENTS</a:t>
            </a:r>
          </a:p>
          <a:p>
            <a:r>
              <a:rPr lang="en-US" dirty="0" smtClean="0"/>
              <a:t>SURVEYS </a:t>
            </a:r>
          </a:p>
          <a:p>
            <a:r>
              <a:rPr lang="en-US" dirty="0" smtClean="0"/>
              <a:t>PARTICIPANT OBSERVATION</a:t>
            </a:r>
          </a:p>
          <a:p>
            <a:r>
              <a:rPr lang="en-US" dirty="0" smtClean="0"/>
              <a:t>CASE STUDIES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 EXPERIMENTS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Artificially created situation that allows the researcher to manipulate variables</a:t>
            </a:r>
          </a:p>
          <a:p>
            <a:r>
              <a:rPr lang="en-US" dirty="0" smtClean="0"/>
              <a:t>Establish cause and effect under highly controlled conditions</a:t>
            </a:r>
          </a:p>
          <a:p>
            <a:r>
              <a:rPr lang="en-US" dirty="0" smtClean="0"/>
              <a:t>By holding all other variables constant (Gold Standard)</a:t>
            </a:r>
          </a:p>
          <a:p>
            <a:r>
              <a:rPr lang="en-US" dirty="0" smtClean="0"/>
              <a:t>2 Groups</a:t>
            </a:r>
          </a:p>
          <a:p>
            <a:r>
              <a:rPr lang="en-US" dirty="0" smtClean="0"/>
              <a:t>A) Experimental – gets exposed to independent variables</a:t>
            </a:r>
          </a:p>
          <a:p>
            <a:r>
              <a:rPr lang="en-US" dirty="0" smtClean="0"/>
              <a:t>B) Control – receives a fake treatment</a:t>
            </a:r>
          </a:p>
          <a:p>
            <a:endParaRPr lang="en-US" dirty="0" smtClean="0"/>
          </a:p>
          <a:p>
            <a:r>
              <a:rPr lang="en-US" dirty="0" err="1" smtClean="0"/>
              <a:t>E.g</a:t>
            </a:r>
            <a:r>
              <a:rPr lang="en-US" dirty="0" smtClean="0"/>
              <a:t> – interested in see how workplace environment can effect employee satisfaction</a:t>
            </a:r>
          </a:p>
          <a:p>
            <a:r>
              <a:rPr lang="en-US" dirty="0" smtClean="0"/>
              <a:t>Hypothesis: If workplace environment is less flexible, employees will be less satisfied </a:t>
            </a:r>
          </a:p>
          <a:p>
            <a:r>
              <a:rPr lang="en-US" dirty="0" smtClean="0"/>
              <a:t>Experiment G – Security cameras in room</a:t>
            </a:r>
          </a:p>
          <a:p>
            <a:r>
              <a:rPr lang="en-US" dirty="0" smtClean="0"/>
              <a:t>Control G – without cameras  </a:t>
            </a:r>
          </a:p>
          <a:p>
            <a:endParaRPr lang="en-US" dirty="0" smtClean="0"/>
          </a:p>
          <a:p>
            <a:r>
              <a:rPr lang="en-US" dirty="0" smtClean="0"/>
              <a:t>Study can be distorted because of Hawthorne Effect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SURVEYS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Systematic questioning of people about their opinions, attitudes, or behavior </a:t>
            </a:r>
          </a:p>
          <a:p>
            <a:r>
              <a:rPr lang="en-US" dirty="0" smtClean="0"/>
              <a:t>Population (not easy) – select a sample (subpart)</a:t>
            </a:r>
          </a:p>
          <a:p>
            <a:endParaRPr lang="en-US" dirty="0" smtClean="0"/>
          </a:p>
          <a:p>
            <a:r>
              <a:rPr lang="en-US" dirty="0" smtClean="0"/>
              <a:t>Probability Sampling – Random</a:t>
            </a:r>
          </a:p>
          <a:p>
            <a:r>
              <a:rPr lang="en-US" dirty="0" smtClean="0"/>
              <a:t>Non-Probability Sampling – Based on convenience</a:t>
            </a:r>
          </a:p>
          <a:p>
            <a:endParaRPr lang="en-US" dirty="0" smtClean="0"/>
          </a:p>
          <a:p>
            <a:r>
              <a:rPr lang="en-US" dirty="0" smtClean="0"/>
              <a:t>Survey Types – Interviews, Questionnaires</a:t>
            </a:r>
          </a:p>
          <a:p>
            <a:r>
              <a:rPr lang="en-US" dirty="0" smtClean="0"/>
              <a:t>Open / Close ended questions </a:t>
            </a:r>
          </a:p>
          <a:p>
            <a:endParaRPr lang="en-US" dirty="0" smtClean="0"/>
          </a:p>
          <a:p>
            <a:r>
              <a:rPr lang="en-US" dirty="0" smtClean="0"/>
              <a:t>A- study large population, rich data source, Data on many aspects</a:t>
            </a:r>
          </a:p>
          <a:p>
            <a:r>
              <a:rPr lang="en-US" dirty="0" smtClean="0"/>
              <a:t>D- expense , return rate , time consuming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3) OBSERVATION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Investigators collect data through direct participation and/or closely watching </a:t>
            </a:r>
          </a:p>
          <a:p>
            <a:r>
              <a:rPr lang="en-US" dirty="0" smtClean="0"/>
              <a:t>Either in laboratory or in fields</a:t>
            </a:r>
          </a:p>
          <a:p>
            <a:r>
              <a:rPr lang="en-US" dirty="0" smtClean="0"/>
              <a:t>Participant Observation</a:t>
            </a:r>
          </a:p>
          <a:p>
            <a:r>
              <a:rPr lang="en-US" dirty="0" smtClean="0"/>
              <a:t>Use to construct reality in their setting</a:t>
            </a:r>
          </a:p>
          <a:p>
            <a:endParaRPr lang="en-US" dirty="0" smtClean="0"/>
          </a:p>
          <a:p>
            <a:r>
              <a:rPr lang="en-US" dirty="0" smtClean="0"/>
              <a:t>Limitation – Balance btw his observer &amp; participation role</a:t>
            </a:r>
          </a:p>
          <a:p>
            <a:r>
              <a:rPr lang="en-US" dirty="0" smtClean="0"/>
              <a:t>People do not open up immediately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4) CASE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detailed record of a single event, person or social grouping </a:t>
            </a:r>
          </a:p>
          <a:p>
            <a:r>
              <a:rPr lang="en-US" dirty="0" smtClean="0"/>
              <a:t>Used when in-depth analysis of a real-life event or phenomenon is required </a:t>
            </a:r>
          </a:p>
          <a:p>
            <a:r>
              <a:rPr lang="en-US" dirty="0" smtClean="0"/>
              <a:t>Rich source of qualitative data on an event or phenomenon </a:t>
            </a:r>
          </a:p>
          <a:p>
            <a:endParaRPr lang="en-US" dirty="0" smtClean="0"/>
          </a:p>
          <a:p>
            <a:r>
              <a:rPr lang="en-US" dirty="0" smtClean="0"/>
              <a:t>A- most explorative, provide future dimensions, challenge accepted theories</a:t>
            </a:r>
          </a:p>
          <a:p>
            <a:r>
              <a:rPr lang="en-US" dirty="0" smtClean="0"/>
              <a:t>D- cannot be generalized, difficult to replicate, element of researcher bias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IBN –E- KHULDUN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(1332- 1406)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IBN-E-KHULDUN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Driving force behind his Major script “The Prolegomenon” </a:t>
            </a:r>
          </a:p>
          <a:p>
            <a:r>
              <a:rPr lang="en-US" dirty="0" smtClean="0"/>
              <a:t>Book of lessons and Instructions – </a:t>
            </a:r>
            <a:r>
              <a:rPr lang="en-US" dirty="0" err="1" smtClean="0"/>
              <a:t>Kitab</a:t>
            </a:r>
            <a:r>
              <a:rPr lang="en-US" dirty="0" smtClean="0"/>
              <a:t> </a:t>
            </a:r>
            <a:r>
              <a:rPr lang="en-US" dirty="0" err="1" smtClean="0"/>
              <a:t>ul</a:t>
            </a:r>
            <a:r>
              <a:rPr lang="en-US" dirty="0" smtClean="0"/>
              <a:t> </a:t>
            </a:r>
            <a:r>
              <a:rPr lang="en-US" dirty="0" err="1" smtClean="0"/>
              <a:t>Ibrar</a:t>
            </a:r>
            <a:endParaRPr lang="en-US" dirty="0" smtClean="0"/>
          </a:p>
          <a:p>
            <a:r>
              <a:rPr lang="en-US" dirty="0" smtClean="0"/>
              <a:t>Tells decline of human civilization and rise of western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FOUNDER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Favored systematic approach towards studying any discipline</a:t>
            </a:r>
          </a:p>
          <a:p>
            <a:r>
              <a:rPr lang="en-US" dirty="0" smtClean="0"/>
              <a:t>Systematically – situation of world among all regions, races, customs, sectarian belief – give way to future historians</a:t>
            </a:r>
          </a:p>
          <a:p>
            <a:r>
              <a:rPr lang="en-US" dirty="0" smtClean="0"/>
              <a:t>Coined term “ILM-UL-UMRAN” for his science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DISTINCTION BETWEEN RURAL AND URBAN COMMUNITIES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sociologist – clearly differentiated communities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Rural – </a:t>
            </a:r>
            <a:r>
              <a:rPr lang="en-US" dirty="0" err="1" smtClean="0"/>
              <a:t>Badawa</a:t>
            </a:r>
            <a:r>
              <a:rPr lang="en-US" dirty="0" smtClean="0"/>
              <a:t> } prefer in term material and moral conditions</a:t>
            </a:r>
          </a:p>
          <a:p>
            <a:r>
              <a:rPr lang="en-US" dirty="0" smtClean="0"/>
              <a:t>Urban - </a:t>
            </a:r>
            <a:r>
              <a:rPr lang="en-US" dirty="0" err="1" smtClean="0"/>
              <a:t>Hadara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1)AL UMRAN AL BADAWI (rural social org)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Exist outside centre </a:t>
            </a:r>
          </a:p>
          <a:p>
            <a:r>
              <a:rPr lang="en-US" dirty="0" smtClean="0"/>
              <a:t>Simple structure</a:t>
            </a:r>
          </a:p>
          <a:p>
            <a:r>
              <a:rPr lang="en-US" dirty="0" smtClean="0"/>
              <a:t>High level of </a:t>
            </a:r>
            <a:r>
              <a:rPr lang="en-US" dirty="0" err="1" smtClean="0"/>
              <a:t>Asabiyah</a:t>
            </a:r>
            <a:endParaRPr lang="en-US" dirty="0" smtClean="0"/>
          </a:p>
          <a:p>
            <a:r>
              <a:rPr lang="en-US" dirty="0" smtClean="0"/>
              <a:t>Do no accumulate beyond – no surplus</a:t>
            </a:r>
          </a:p>
          <a:p>
            <a:r>
              <a:rPr lang="en-US" dirty="0" smtClean="0"/>
              <a:t>Divided </a:t>
            </a:r>
            <a:r>
              <a:rPr lang="en-US" dirty="0" err="1" smtClean="0"/>
              <a:t>Badawa</a:t>
            </a:r>
            <a:r>
              <a:rPr lang="en-US" dirty="0" smtClean="0"/>
              <a:t> into 3 types </a:t>
            </a:r>
            <a:br>
              <a:rPr lang="en-US" dirty="0" smtClean="0"/>
            </a:br>
            <a:r>
              <a:rPr lang="en-US" dirty="0" smtClean="0"/>
              <a:t>Agricultural</a:t>
            </a:r>
            <a:br>
              <a:rPr lang="en-US" dirty="0" smtClean="0"/>
            </a:br>
            <a:r>
              <a:rPr lang="en-US" dirty="0" smtClean="0"/>
              <a:t>Cattle Breeders</a:t>
            </a:r>
            <a:br>
              <a:rPr lang="en-US" dirty="0" smtClean="0"/>
            </a:br>
            <a:r>
              <a:rPr lang="en-US" dirty="0" smtClean="0"/>
              <a:t>Camel Breeders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Al-</a:t>
            </a:r>
            <a:r>
              <a:rPr lang="en-US" dirty="0" err="1" smtClean="0"/>
              <a:t>Umran</a:t>
            </a:r>
            <a:r>
              <a:rPr lang="en-US" dirty="0" smtClean="0"/>
              <a:t> Al-</a:t>
            </a:r>
            <a:r>
              <a:rPr lang="en-US" dirty="0" err="1" smtClean="0"/>
              <a:t>Hadri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Town , cities </a:t>
            </a:r>
          </a:p>
          <a:p>
            <a:r>
              <a:rPr lang="en-US" dirty="0" smtClean="0"/>
              <a:t>Well developed </a:t>
            </a:r>
          </a:p>
          <a:p>
            <a:r>
              <a:rPr lang="en-US" dirty="0" err="1" smtClean="0"/>
              <a:t>Develeopment</a:t>
            </a:r>
            <a:r>
              <a:rPr lang="en-US" dirty="0" smtClean="0"/>
              <a:t> continues till Al-</a:t>
            </a:r>
            <a:r>
              <a:rPr lang="en-US" dirty="0" err="1" smtClean="0"/>
              <a:t>Taraf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TRANSITION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IKHTILAF-UL-AIYAL of </a:t>
            </a:r>
            <a:r>
              <a:rPr lang="en-US" dirty="0" err="1" smtClean="0"/>
              <a:t>Badawa</a:t>
            </a:r>
            <a:r>
              <a:rPr lang="en-US" dirty="0" smtClean="0"/>
              <a:t> and </a:t>
            </a:r>
            <a:r>
              <a:rPr lang="en-US" dirty="0" err="1" smtClean="0"/>
              <a:t>Hadara</a:t>
            </a:r>
            <a:endParaRPr lang="en-US" dirty="0" smtClean="0"/>
          </a:p>
          <a:p>
            <a:r>
              <a:rPr lang="en-US" dirty="0" err="1" smtClean="0"/>
              <a:t>Badawa</a:t>
            </a:r>
            <a:r>
              <a:rPr lang="en-US" dirty="0" smtClean="0"/>
              <a:t> has potential to get transformed  - economic well-being</a:t>
            </a:r>
          </a:p>
          <a:p>
            <a:endParaRPr lang="en-US" dirty="0" smtClean="0"/>
          </a:p>
          <a:p>
            <a:r>
              <a:rPr lang="en-US" dirty="0" smtClean="0"/>
              <a:t>2 phases of development </a:t>
            </a:r>
          </a:p>
          <a:p>
            <a:pPr marL="514350" indent="-514350">
              <a:buAutoNum type="arabicParenR"/>
            </a:pPr>
            <a:r>
              <a:rPr lang="en-US" dirty="0" smtClean="0"/>
              <a:t>Satisfaction of necessities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Beyound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CYCLIC THEORY OF SOCIO-POLITICAL 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Organism theory</a:t>
            </a:r>
          </a:p>
          <a:p>
            <a:r>
              <a:rPr lang="en-US" dirty="0" smtClean="0"/>
              <a:t>No dynasty lasts more than 3 generations </a:t>
            </a:r>
          </a:p>
          <a:p>
            <a:r>
              <a:rPr lang="en-US" dirty="0" smtClean="0"/>
              <a:t>Cycle of change complete</a:t>
            </a:r>
          </a:p>
          <a:p>
            <a:r>
              <a:rPr lang="en-US" dirty="0" smtClean="0"/>
              <a:t>Growth, development and decay </a:t>
            </a:r>
          </a:p>
          <a:p>
            <a:r>
              <a:rPr lang="en-US" dirty="0" smtClean="0"/>
              <a:t>Every stage has particular socio-economic and demographic </a:t>
            </a:r>
            <a:r>
              <a:rPr lang="en-US" dirty="0" err="1" smtClean="0"/>
              <a:t>charac</a:t>
            </a:r>
            <a:r>
              <a:rPr lang="en-US" dirty="0" smtClean="0"/>
              <a:t>.</a:t>
            </a:r>
          </a:p>
          <a:p>
            <a:r>
              <a:rPr lang="en-US" dirty="0" smtClean="0"/>
              <a:t>Within 3 generations , state goes through 5 stages of </a:t>
            </a:r>
            <a:r>
              <a:rPr lang="en-US" dirty="0" err="1" smtClean="0"/>
              <a:t>mulk</a:t>
            </a:r>
            <a:r>
              <a:rPr lang="en-US" dirty="0" smtClean="0"/>
              <a:t>(Political power)</a:t>
            </a:r>
          </a:p>
          <a:p>
            <a:pPr marL="514350" indent="-514350">
              <a:buAutoNum type="arabicParenR"/>
            </a:pPr>
            <a:r>
              <a:rPr lang="en-US" dirty="0" err="1" smtClean="0"/>
              <a:t>Az-Zafar</a:t>
            </a:r>
            <a:r>
              <a:rPr lang="en-US" dirty="0" smtClean="0"/>
              <a:t> - success</a:t>
            </a:r>
          </a:p>
          <a:p>
            <a:pPr marL="514350" indent="-514350">
              <a:buAutoNum type="arabicParenR"/>
            </a:pPr>
            <a:r>
              <a:rPr lang="en-US" dirty="0" smtClean="0"/>
              <a:t>Al-</a:t>
            </a:r>
            <a:r>
              <a:rPr lang="en-US" dirty="0" err="1" smtClean="0"/>
              <a:t>Istibdad</a:t>
            </a:r>
            <a:r>
              <a:rPr lang="en-US" dirty="0" smtClean="0"/>
              <a:t> – control</a:t>
            </a:r>
          </a:p>
          <a:p>
            <a:pPr marL="514350" indent="-514350">
              <a:buAutoNum type="arabicParenR"/>
            </a:pPr>
            <a:r>
              <a:rPr lang="en-US" dirty="0" smtClean="0"/>
              <a:t>Al-</a:t>
            </a:r>
            <a:r>
              <a:rPr lang="en-US" dirty="0" err="1" smtClean="0"/>
              <a:t>firaj</a:t>
            </a:r>
            <a:r>
              <a:rPr lang="en-US" dirty="0" smtClean="0"/>
              <a:t> </a:t>
            </a:r>
            <a:r>
              <a:rPr lang="en-US" dirty="0" err="1" smtClean="0"/>
              <a:t>wa</a:t>
            </a:r>
            <a:r>
              <a:rPr lang="en-US" dirty="0" smtClean="0"/>
              <a:t> </a:t>
            </a:r>
            <a:r>
              <a:rPr lang="en-US" dirty="0" err="1" smtClean="0"/>
              <a:t>diah</a:t>
            </a:r>
            <a:r>
              <a:rPr lang="en-US" dirty="0" smtClean="0"/>
              <a:t> - leisure</a:t>
            </a:r>
          </a:p>
          <a:p>
            <a:pPr marL="514350" indent="-514350">
              <a:buAutoNum type="arabicParenR"/>
            </a:pPr>
            <a:r>
              <a:rPr lang="en-US" dirty="0" smtClean="0"/>
              <a:t>Al </a:t>
            </a:r>
            <a:r>
              <a:rPr lang="en-US" dirty="0" err="1" smtClean="0"/>
              <a:t>qunu</a:t>
            </a:r>
            <a:r>
              <a:rPr lang="en-US" dirty="0" smtClean="0"/>
              <a:t> </a:t>
            </a:r>
            <a:r>
              <a:rPr lang="en-US" dirty="0" err="1" smtClean="0"/>
              <a:t>wa</a:t>
            </a:r>
            <a:r>
              <a:rPr lang="en-US" dirty="0" smtClean="0"/>
              <a:t> </a:t>
            </a:r>
            <a:r>
              <a:rPr lang="en-US" dirty="0" err="1" smtClean="0"/>
              <a:t>mulalmah</a:t>
            </a:r>
            <a:r>
              <a:rPr lang="en-US" dirty="0" smtClean="0"/>
              <a:t> – peace / contentment</a:t>
            </a:r>
          </a:p>
          <a:p>
            <a:pPr marL="514350" indent="-514350">
              <a:buAutoNum type="arabicParenR"/>
            </a:pPr>
            <a:r>
              <a:rPr lang="en-US" dirty="0" smtClean="0"/>
              <a:t>Al-</a:t>
            </a:r>
            <a:r>
              <a:rPr lang="en-US" dirty="0" err="1" smtClean="0"/>
              <a:t>Israf</a:t>
            </a:r>
            <a:r>
              <a:rPr lang="en-US" dirty="0" smtClean="0"/>
              <a:t> </a:t>
            </a:r>
            <a:r>
              <a:rPr lang="en-US" dirty="0" err="1" smtClean="0"/>
              <a:t>wa</a:t>
            </a:r>
            <a:r>
              <a:rPr lang="en-US" dirty="0" smtClean="0"/>
              <a:t> </a:t>
            </a:r>
            <a:r>
              <a:rPr lang="en-US" dirty="0" err="1" smtClean="0"/>
              <a:t>Tabdhir</a:t>
            </a:r>
            <a:r>
              <a:rPr lang="en-US" dirty="0" smtClean="0"/>
              <a:t> – wasting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CONCEPT OF ASABIYAH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solidarity, social cohesion</a:t>
            </a:r>
          </a:p>
          <a:p>
            <a:endParaRPr lang="en-US" dirty="0" smtClean="0"/>
          </a:p>
          <a:p>
            <a:r>
              <a:rPr lang="en-US" dirty="0" err="1" smtClean="0"/>
              <a:t>Hadara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</a:t>
            </a:r>
            <a:r>
              <a:rPr lang="en-US" dirty="0" err="1" smtClean="0"/>
              <a:t>Badawa</a:t>
            </a:r>
            <a:r>
              <a:rPr lang="en-US" dirty="0" smtClean="0"/>
              <a:t> community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CONSUMPTION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Consumption patterns</a:t>
            </a:r>
          </a:p>
          <a:p>
            <a:r>
              <a:rPr lang="en-US" dirty="0" smtClean="0"/>
              <a:t>His theory of transition – explained phenomenon</a:t>
            </a:r>
          </a:p>
          <a:p>
            <a:r>
              <a:rPr lang="en-US" dirty="0" err="1" smtClean="0"/>
              <a:t>Ahlul</a:t>
            </a:r>
            <a:r>
              <a:rPr lang="en-US" dirty="0" smtClean="0"/>
              <a:t> </a:t>
            </a:r>
            <a:r>
              <a:rPr lang="en-US" dirty="0" err="1" smtClean="0"/>
              <a:t>Hadarah</a:t>
            </a:r>
            <a:r>
              <a:rPr lang="en-US" dirty="0" smtClean="0"/>
              <a:t> (Dwellers of Urban Communities) – comfort/</a:t>
            </a:r>
            <a:r>
              <a:rPr lang="en-US" dirty="0" err="1" smtClean="0"/>
              <a:t>lux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Ahwal</a:t>
            </a:r>
            <a:r>
              <a:rPr lang="en-US" dirty="0" smtClean="0"/>
              <a:t> get transformed into </a:t>
            </a:r>
            <a:r>
              <a:rPr lang="en-US" dirty="0" err="1" smtClean="0"/>
              <a:t>Awaid</a:t>
            </a:r>
            <a:r>
              <a:rPr lang="en-US" dirty="0" smtClean="0"/>
              <a:t> – affluence poverty and social classes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SURPLUS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Labor source of all values</a:t>
            </a:r>
          </a:p>
          <a:p>
            <a:r>
              <a:rPr lang="en-US" dirty="0" smtClean="0"/>
              <a:t>2 types</a:t>
            </a:r>
          </a:p>
          <a:p>
            <a:r>
              <a:rPr lang="en-US" dirty="0" smtClean="0"/>
              <a:t>PRIMARY LABOR</a:t>
            </a:r>
          </a:p>
          <a:p>
            <a:r>
              <a:rPr lang="en-US" dirty="0" smtClean="0"/>
              <a:t>ADDITIONAL LABOR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AUGUST COMTE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(1798-1857)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AUGUST COMTE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FATHER OF SOCIOLOGY</a:t>
            </a:r>
          </a:p>
          <a:p>
            <a:r>
              <a:rPr lang="en-US" dirty="0" smtClean="0"/>
              <a:t>During French revolution and civil wars</a:t>
            </a:r>
          </a:p>
          <a:p>
            <a:endParaRPr lang="en-US" dirty="0" smtClean="0"/>
          </a:p>
          <a:p>
            <a:r>
              <a:rPr lang="en-US" dirty="0" smtClean="0"/>
              <a:t>MAJOR WORKS</a:t>
            </a:r>
          </a:p>
          <a:p>
            <a:r>
              <a:rPr lang="en-US" dirty="0" smtClean="0"/>
              <a:t>A general view of Positivism</a:t>
            </a:r>
          </a:p>
          <a:p>
            <a:r>
              <a:rPr lang="en-US" dirty="0" smtClean="0"/>
              <a:t>The Positive Philosophy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FATHER OF SOCIOLOGY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Coined term sociology 1838</a:t>
            </a:r>
          </a:p>
          <a:p>
            <a:r>
              <a:rPr lang="en-US" dirty="0" smtClean="0"/>
              <a:t>Believed – scientific study like natural sciences </a:t>
            </a:r>
          </a:p>
          <a:p>
            <a:r>
              <a:rPr lang="en-US" dirty="0" smtClean="0"/>
              <a:t>Use empirical data to discover laws</a:t>
            </a:r>
          </a:p>
          <a:p>
            <a:r>
              <a:rPr lang="en-US" dirty="0" smtClean="0"/>
              <a:t>Term ALTRUISM – theoretical foundation</a:t>
            </a:r>
          </a:p>
          <a:p>
            <a:r>
              <a:rPr lang="en-US" dirty="0" smtClean="0"/>
              <a:t>Defined sociology “the science of social phenomenon subjected to natural and invariable laws”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FOLLOWING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abstract science</a:t>
            </a:r>
          </a:p>
          <a:p>
            <a:r>
              <a:rPr lang="en-US" dirty="0" smtClean="0"/>
              <a:t>Concerned with objective analysis</a:t>
            </a:r>
          </a:p>
          <a:p>
            <a:r>
              <a:rPr lang="en-US" dirty="0" smtClean="0"/>
              <a:t>Synthetic approach – knowledge of all fields</a:t>
            </a:r>
          </a:p>
          <a:p>
            <a:r>
              <a:rPr lang="en-US" dirty="0" smtClean="0"/>
              <a:t>Predictive in nature – based on past and present events</a:t>
            </a:r>
          </a:p>
          <a:p>
            <a:r>
              <a:rPr lang="en-US" dirty="0" smtClean="0"/>
              <a:t>Maintaining Social Order- Social Reconstruction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POSITIVISM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Notion of applying scientific method of natural sciences to study society</a:t>
            </a:r>
          </a:p>
          <a:p>
            <a:r>
              <a:rPr lang="en-US" dirty="0" smtClean="0"/>
              <a:t>The Scientific Explanation of Social Phenomenon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EVOLUTIONARY VIEW OF SOCIETY (Law of Human Progress)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Each of our leading conceptions, each branch of knowledge, all human intellectual development passes successfully through 3 different theoretical conditions:</a:t>
            </a:r>
          </a:p>
          <a:p>
            <a:r>
              <a:rPr lang="en-US" dirty="0" smtClean="0"/>
              <a:t>1) theological</a:t>
            </a:r>
          </a:p>
          <a:p>
            <a:r>
              <a:rPr lang="en-US" dirty="0" smtClean="0"/>
              <a:t>2) Metaphysical</a:t>
            </a:r>
          </a:p>
          <a:p>
            <a:r>
              <a:rPr lang="en-US" dirty="0" smtClean="0"/>
              <a:t>3) Positive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1) Theological Stage (Fictitious stage)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Understanding every phenomenon through supernatural </a:t>
            </a:r>
          </a:p>
          <a:p>
            <a:r>
              <a:rPr lang="en-US" dirty="0" smtClean="0"/>
              <a:t>Everything – because of involvement of super-natural entities  - Fetishism</a:t>
            </a:r>
          </a:p>
          <a:p>
            <a:r>
              <a:rPr lang="en-US" dirty="0" smtClean="0"/>
              <a:t>Fetishism gave way to Polytheism </a:t>
            </a:r>
          </a:p>
          <a:p>
            <a:r>
              <a:rPr lang="en-US" dirty="0" smtClean="0"/>
              <a:t>Polytheism – created confusion in primitive people</a:t>
            </a:r>
          </a:p>
          <a:p>
            <a:r>
              <a:rPr lang="en-US" dirty="0" smtClean="0"/>
              <a:t>Leads to Monotheism (advent of logical thinking)</a:t>
            </a:r>
          </a:p>
          <a:p>
            <a:endParaRPr lang="en-US" dirty="0" smtClean="0"/>
          </a:p>
          <a:p>
            <a:r>
              <a:rPr lang="en-US" dirty="0" smtClean="0"/>
              <a:t>Such thinking supported military society </a:t>
            </a:r>
          </a:p>
          <a:p>
            <a:r>
              <a:rPr lang="en-US" dirty="0" smtClean="0"/>
              <a:t>Dominated by priests, monarchs and military men</a:t>
            </a:r>
          </a:p>
          <a:p>
            <a:r>
              <a:rPr lang="en-US" dirty="0" smtClean="0"/>
              <a:t>God was considered as head of hierarchy – rulers as </a:t>
            </a:r>
            <a:r>
              <a:rPr lang="en-US" dirty="0" err="1" smtClean="0"/>
              <a:t>vicegerants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2) Metaphysical Stage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Imagination is replaced by rationalism </a:t>
            </a:r>
          </a:p>
          <a:p>
            <a:r>
              <a:rPr lang="en-US" dirty="0" smtClean="0"/>
              <a:t>Shapes human thinking to search for order</a:t>
            </a:r>
          </a:p>
          <a:p>
            <a:r>
              <a:rPr lang="en-US" dirty="0" smtClean="0"/>
              <a:t>Some Standards</a:t>
            </a:r>
          </a:p>
          <a:p>
            <a:r>
              <a:rPr lang="en-US" dirty="0" smtClean="0"/>
              <a:t>Political Organization – led by state and lawyers </a:t>
            </a:r>
          </a:p>
          <a:p>
            <a:r>
              <a:rPr lang="en-US" dirty="0" smtClean="0"/>
              <a:t>Replaced concept of divine rights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3) Positive Stage (Scientific)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Laws of universe are explored &amp; discovered </a:t>
            </a:r>
          </a:p>
          <a:p>
            <a:r>
              <a:rPr lang="en-US" dirty="0" smtClean="0"/>
              <a:t>Metaphysical thinking was replaced by scientific way of thinking </a:t>
            </a:r>
          </a:p>
          <a:p>
            <a:r>
              <a:rPr lang="en-US" dirty="0" smtClean="0"/>
              <a:t>Look for scientific explanation</a:t>
            </a:r>
          </a:p>
          <a:p>
            <a:r>
              <a:rPr lang="en-US" dirty="0" smtClean="0"/>
              <a:t>State is replaced by whole human race</a:t>
            </a:r>
          </a:p>
          <a:p>
            <a:r>
              <a:rPr lang="en-US" dirty="0" smtClean="0"/>
              <a:t>Political organization – held by scientific moral guides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SCIENTIFIC METHODS TO STUDY SOCIETY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Observation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Experimentation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Comparison – past and present – change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Historical analysis – law of human progress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 OF SOCIETY (Organism)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Organized around concept of social static and Social Dynamic</a:t>
            </a:r>
          </a:p>
          <a:p>
            <a:endParaRPr lang="en-US" dirty="0" smtClean="0"/>
          </a:p>
          <a:p>
            <a:r>
              <a:rPr lang="en-US" dirty="0" smtClean="0"/>
              <a:t>1) SOCIAL STATICS</a:t>
            </a:r>
          </a:p>
          <a:p>
            <a:r>
              <a:rPr lang="en-US" dirty="0" smtClean="0"/>
              <a:t>Study of social order and stability  - social structure, parts, functions and relations</a:t>
            </a:r>
          </a:p>
          <a:p>
            <a:endParaRPr lang="en-US" dirty="0" smtClean="0"/>
          </a:p>
          <a:p>
            <a:r>
              <a:rPr lang="en-US" dirty="0" smtClean="0"/>
              <a:t>2) SOCIAL DYNAMICS</a:t>
            </a:r>
          </a:p>
          <a:p>
            <a:r>
              <a:rPr lang="en-US" dirty="0" smtClean="0"/>
              <a:t>Study of progress and change</a:t>
            </a:r>
          </a:p>
          <a:p>
            <a:r>
              <a:rPr lang="en-US" dirty="0" smtClean="0"/>
              <a:t>Changes in social structure over time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 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Something irrational</a:t>
            </a:r>
          </a:p>
          <a:p>
            <a:r>
              <a:rPr lang="en-US" dirty="0" smtClean="0"/>
              <a:t>Not able to pass through scientific verification</a:t>
            </a:r>
          </a:p>
          <a:p>
            <a:r>
              <a:rPr lang="en-US" dirty="0" smtClean="0"/>
              <a:t>Secular – replace – sacred</a:t>
            </a:r>
          </a:p>
          <a:p>
            <a:r>
              <a:rPr lang="en-US" dirty="0" smtClean="0"/>
              <a:t>Religious beliefs will be replaced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EMILE DURKHEIM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</a:t>
            </a:r>
            <a:r>
              <a:rPr lang="en-US" dirty="0" smtClean="0"/>
              <a:t>1858-1917)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424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France</a:t>
            </a:r>
          </a:p>
          <a:p>
            <a:r>
              <a:rPr lang="en-US" dirty="0" smtClean="0"/>
              <a:t>Sociology as separate academic discipline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FAMOUS WORKS</a:t>
            </a:r>
          </a:p>
          <a:p>
            <a:r>
              <a:rPr lang="en-US" dirty="0" smtClean="0"/>
              <a:t>The division of labor in society</a:t>
            </a:r>
          </a:p>
          <a:p>
            <a:r>
              <a:rPr lang="en-US" dirty="0" smtClean="0"/>
              <a:t>Suicide </a:t>
            </a:r>
          </a:p>
          <a:p>
            <a:r>
              <a:rPr lang="en-US" dirty="0" smtClean="0"/>
              <a:t>The Elementary form of Religious Life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FACTS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Facts – patterned behavior that characterize and make up social groups </a:t>
            </a:r>
          </a:p>
          <a:p>
            <a:r>
              <a:rPr lang="en-US" dirty="0" smtClean="0"/>
              <a:t>Subject of sociology – Study of social facts</a:t>
            </a:r>
          </a:p>
          <a:p>
            <a:endParaRPr lang="en-US" dirty="0" smtClean="0"/>
          </a:p>
          <a:p>
            <a:r>
              <a:rPr lang="en-US" dirty="0" smtClean="0"/>
              <a:t>Social facts –studied by 2 methods</a:t>
            </a:r>
          </a:p>
          <a:p>
            <a:r>
              <a:rPr lang="en-US" dirty="0" smtClean="0"/>
              <a:t>1) Determine cause of social fact</a:t>
            </a:r>
          </a:p>
          <a:p>
            <a:r>
              <a:rPr lang="en-US" dirty="0" smtClean="0"/>
              <a:t>2) Method involved explaining its function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HOMO DUPLEX MODEL OF HUMAN NATURE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Order – important function for survival of society</a:t>
            </a:r>
          </a:p>
          <a:p>
            <a:r>
              <a:rPr lang="en-US" dirty="0" smtClean="0"/>
              <a:t>Consider human nature to be barbaric, selfish, egoistic &amp; destructive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SOLIDARITY AND DIVISION OF LABOR IN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A) MECHANICAL SOLIDARITY</a:t>
            </a:r>
          </a:p>
          <a:p>
            <a:r>
              <a:rPr lang="en-US" dirty="0" smtClean="0"/>
              <a:t>Primitive societies  based upon collective conscience and sameness</a:t>
            </a:r>
          </a:p>
          <a:p>
            <a:r>
              <a:rPr lang="en-US" dirty="0" smtClean="0"/>
              <a:t>Social cohesion was key</a:t>
            </a:r>
          </a:p>
          <a:p>
            <a:r>
              <a:rPr lang="en-US" dirty="0" smtClean="0"/>
              <a:t>Shared values and bonds</a:t>
            </a:r>
          </a:p>
          <a:p>
            <a:r>
              <a:rPr lang="en-US" dirty="0" smtClean="0"/>
              <a:t>Division of labor – low</a:t>
            </a:r>
          </a:p>
          <a:p>
            <a:endParaRPr lang="en-US" dirty="0" smtClean="0"/>
          </a:p>
          <a:p>
            <a:r>
              <a:rPr lang="en-US" dirty="0" smtClean="0"/>
              <a:t>B) ORGANIC SOLIDARITY </a:t>
            </a:r>
          </a:p>
          <a:p>
            <a:r>
              <a:rPr lang="en-US" dirty="0" smtClean="0"/>
              <a:t>Division of labor – high – destroyed mechanical solidarity</a:t>
            </a:r>
          </a:p>
          <a:p>
            <a:r>
              <a:rPr lang="en-US" dirty="0" smtClean="0"/>
              <a:t>Modern economy – differentiation and specialization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in 1857</a:t>
            </a:r>
          </a:p>
          <a:p>
            <a:r>
              <a:rPr lang="en-US" dirty="0" smtClean="0"/>
              <a:t>State of </a:t>
            </a:r>
            <a:r>
              <a:rPr lang="en-US" dirty="0" err="1" smtClean="0"/>
              <a:t>normlessness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Key to tackle – by presenting concept of small groups – acts as mediator btw individual and external structures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SUICIDE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1897</a:t>
            </a:r>
          </a:p>
          <a:p>
            <a:r>
              <a:rPr lang="en-US" dirty="0" smtClean="0"/>
              <a:t>Rather than studying suicide as individualized behavior  - Deep in sources of order and disorder that were responsible for it</a:t>
            </a:r>
          </a:p>
          <a:p>
            <a:r>
              <a:rPr lang="en-US" dirty="0" smtClean="0"/>
              <a:t>Theory of Suicide – based on sociological account</a:t>
            </a:r>
          </a:p>
          <a:p>
            <a:r>
              <a:rPr lang="en-US" dirty="0" smtClean="0"/>
              <a:t>Suicide – socially patterned – consider suicide rates as social fact</a:t>
            </a:r>
          </a:p>
          <a:p>
            <a:endParaRPr lang="en-US" dirty="0" smtClean="0"/>
          </a:p>
          <a:p>
            <a:r>
              <a:rPr lang="en-US" dirty="0" smtClean="0"/>
              <a:t>MAIN VARIATIONS </a:t>
            </a:r>
          </a:p>
          <a:p>
            <a:r>
              <a:rPr lang="en-US" dirty="0" smtClean="0"/>
              <a:t>Religion</a:t>
            </a:r>
          </a:p>
          <a:p>
            <a:r>
              <a:rPr lang="en-US" dirty="0" smtClean="0"/>
              <a:t>Family Association  -  single </a:t>
            </a:r>
            <a:r>
              <a:rPr lang="en-US" dirty="0" err="1" smtClean="0"/>
              <a:t>vs</a:t>
            </a:r>
            <a:r>
              <a:rPr lang="en-US" dirty="0" smtClean="0"/>
              <a:t> married – child </a:t>
            </a:r>
            <a:r>
              <a:rPr lang="en-US" dirty="0" err="1" smtClean="0"/>
              <a:t>vs</a:t>
            </a:r>
            <a:r>
              <a:rPr lang="en-US" dirty="0" smtClean="0"/>
              <a:t> childless</a:t>
            </a:r>
          </a:p>
          <a:p>
            <a:r>
              <a:rPr lang="en-US" dirty="0" smtClean="0"/>
              <a:t>War – rate declines</a:t>
            </a:r>
          </a:p>
          <a:p>
            <a:r>
              <a:rPr lang="en-US" dirty="0" smtClean="0"/>
              <a:t>Economic Recession and Boom – rate rose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2 types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smtClean="0"/>
              <a:t>Social Integration – association and attachment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/>
            </a:pPr>
            <a:r>
              <a:rPr lang="en-US" dirty="0" smtClean="0"/>
              <a:t>Social Regulation – Degree of control and Regulation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Suicide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EGOISTIC SUICIDE</a:t>
            </a:r>
            <a:endParaRPr lang="en-US" dirty="0" smtClean="0"/>
          </a:p>
          <a:p>
            <a:pPr marL="514350" indent="-514350"/>
            <a:r>
              <a:rPr lang="en-US" dirty="0" smtClean="0"/>
              <a:t>Low integration</a:t>
            </a:r>
          </a:p>
          <a:p>
            <a:pPr marL="514350" indent="-514350"/>
            <a:r>
              <a:rPr lang="en-US" dirty="0" smtClean="0"/>
              <a:t>Disengaged </a:t>
            </a:r>
          </a:p>
          <a:p>
            <a:pPr marL="514350" indent="-514350"/>
            <a:endParaRPr lang="en-US" dirty="0" smtClean="0"/>
          </a:p>
          <a:p>
            <a:pPr marL="514350" indent="-514350">
              <a:buAutoNum type="arabicParenR" startAt="2"/>
            </a:pPr>
            <a:r>
              <a:rPr lang="en-US" dirty="0" smtClean="0"/>
              <a:t>ANOMIC SUICIDE </a:t>
            </a:r>
          </a:p>
          <a:p>
            <a:pPr marL="514350" indent="-514350"/>
            <a:r>
              <a:rPr lang="en-US" dirty="0" smtClean="0"/>
              <a:t>Low Regulation</a:t>
            </a:r>
          </a:p>
          <a:p>
            <a:pPr marL="514350" indent="-514350"/>
            <a:r>
              <a:rPr lang="en-US" dirty="0" smtClean="0"/>
              <a:t>Behavior should be regulated for stability and order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AutoNum type="arabicParenR" startAt="3"/>
            </a:pPr>
            <a:r>
              <a:rPr lang="en-US" dirty="0" smtClean="0"/>
              <a:t>ALTRUISTIC SUICDE </a:t>
            </a:r>
          </a:p>
          <a:p>
            <a:pPr marL="514350" indent="-514350"/>
            <a:r>
              <a:rPr lang="en-US" dirty="0" smtClean="0"/>
              <a:t>High Integration with one’s group and society</a:t>
            </a:r>
          </a:p>
          <a:p>
            <a:pPr marL="514350" indent="-514350"/>
            <a:r>
              <a:rPr lang="en-US" dirty="0" smtClean="0"/>
              <a:t>Group interest supersedes </a:t>
            </a:r>
          </a:p>
          <a:p>
            <a:pPr marL="514350" indent="-514350">
              <a:buAutoNum type="arabicParenR"/>
            </a:pPr>
            <a:endParaRPr lang="en-US" dirty="0" smtClean="0"/>
          </a:p>
          <a:p>
            <a:pPr marL="514350" indent="-514350">
              <a:buAutoNum type="arabicParenR" startAt="4"/>
            </a:pPr>
            <a:r>
              <a:rPr lang="en-US" dirty="0" smtClean="0"/>
              <a:t>FATALISTIC SUICDE</a:t>
            </a:r>
          </a:p>
          <a:p>
            <a:pPr marL="514350" indent="-514350"/>
            <a:r>
              <a:rPr lang="en-US" dirty="0" smtClean="0"/>
              <a:t>High Regulation </a:t>
            </a:r>
          </a:p>
          <a:p>
            <a:pPr marL="514350" indent="-514350"/>
            <a:r>
              <a:rPr lang="en-US" dirty="0" smtClean="0"/>
              <a:t>Oppress rights 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DEVIANCE AND CRIME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Crime and deviance – functional </a:t>
            </a:r>
          </a:p>
          <a:p>
            <a:r>
              <a:rPr lang="en-US" dirty="0" smtClean="0"/>
              <a:t>Contribute to the strengthening of norms</a:t>
            </a:r>
          </a:p>
          <a:p>
            <a:endParaRPr lang="en-US" dirty="0" smtClean="0"/>
          </a:p>
          <a:p>
            <a:r>
              <a:rPr lang="en-US" dirty="0" smtClean="0"/>
              <a:t>Functions </a:t>
            </a:r>
          </a:p>
          <a:p>
            <a:r>
              <a:rPr lang="en-US" dirty="0" smtClean="0"/>
              <a:t>Helps re-establish ethical borders</a:t>
            </a:r>
          </a:p>
          <a:p>
            <a:r>
              <a:rPr lang="en-US" dirty="0" smtClean="0"/>
              <a:t>Social integration</a:t>
            </a:r>
          </a:p>
          <a:p>
            <a:r>
              <a:rPr lang="en-US" dirty="0" smtClean="0"/>
              <a:t>Bring Social change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Religion – Cohesive system of beliefs and rituals </a:t>
            </a:r>
          </a:p>
          <a:p>
            <a:r>
              <a:rPr lang="en-US" dirty="0" smtClean="0"/>
              <a:t>Anything can become sacred 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 Black Stone </a:t>
            </a:r>
          </a:p>
          <a:p>
            <a:endParaRPr lang="en-US" dirty="0" smtClean="0"/>
          </a:p>
          <a:p>
            <a:r>
              <a:rPr lang="en-US" dirty="0" smtClean="0"/>
              <a:t>Things set apart as sacred called Totem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KARL MARX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(1818-1883)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German</a:t>
            </a:r>
          </a:p>
          <a:p>
            <a:r>
              <a:rPr lang="en-US" dirty="0" err="1" smtClean="0"/>
              <a:t>Allama</a:t>
            </a:r>
            <a:r>
              <a:rPr lang="en-US" dirty="0" smtClean="0"/>
              <a:t> </a:t>
            </a:r>
            <a:r>
              <a:rPr lang="en-US" dirty="0" err="1" smtClean="0"/>
              <a:t>Iqbal</a:t>
            </a:r>
            <a:r>
              <a:rPr lang="en-US" dirty="0" smtClean="0"/>
              <a:t> – “Man with a book but not a Prophet”</a:t>
            </a:r>
          </a:p>
          <a:p>
            <a:endParaRPr lang="en-US" dirty="0" smtClean="0"/>
          </a:p>
          <a:p>
            <a:r>
              <a:rPr lang="en-US" dirty="0" smtClean="0"/>
              <a:t>Major Works</a:t>
            </a:r>
          </a:p>
          <a:p>
            <a:r>
              <a:rPr lang="en-US" dirty="0" smtClean="0"/>
              <a:t>The Holy Family</a:t>
            </a:r>
          </a:p>
          <a:p>
            <a:r>
              <a:rPr lang="en-US" dirty="0" smtClean="0"/>
              <a:t>The Communist Manifesto</a:t>
            </a:r>
          </a:p>
          <a:p>
            <a:r>
              <a:rPr lang="en-US" dirty="0" smtClean="0"/>
              <a:t>Das </a:t>
            </a:r>
            <a:r>
              <a:rPr lang="en-US" dirty="0" err="1" smtClean="0"/>
              <a:t>Kapita</a:t>
            </a:r>
            <a:r>
              <a:rPr lang="en-US" dirty="0" smtClean="0"/>
              <a:t> (The Capital)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DIAELECTICAL MATERIALISM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Changes due to material life</a:t>
            </a:r>
          </a:p>
          <a:p>
            <a:r>
              <a:rPr lang="en-US" dirty="0" smtClean="0"/>
              <a:t>History is a process of conflict between incompatible forces</a:t>
            </a:r>
          </a:p>
          <a:p>
            <a:r>
              <a:rPr lang="en-US" dirty="0" smtClean="0"/>
              <a:t>Conflict result in new stage of development</a:t>
            </a:r>
          </a:p>
          <a:p>
            <a:r>
              <a:rPr lang="en-US" dirty="0" smtClean="0"/>
              <a:t>Changes due to economic system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MATERIALISTIC INTERPRETATION OF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History began when human started producing their means of </a:t>
            </a:r>
            <a:r>
              <a:rPr lang="en-US" dirty="0" err="1" smtClean="0"/>
              <a:t>sibsistence</a:t>
            </a:r>
            <a:endParaRPr lang="en-US" dirty="0" smtClean="0"/>
          </a:p>
          <a:p>
            <a:r>
              <a:rPr lang="en-US" dirty="0" smtClean="0"/>
              <a:t>Production – not isolated phenomenon</a:t>
            </a:r>
          </a:p>
          <a:p>
            <a:r>
              <a:rPr lang="en-US" dirty="0" smtClean="0"/>
              <a:t>To study history – study development of material</a:t>
            </a:r>
          </a:p>
          <a:p>
            <a:r>
              <a:rPr lang="en-US" dirty="0" smtClean="0"/>
              <a:t>Economy – Foundation of society – rest is substructure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HISTORICAL PROGRESSION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67003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PRIMITIVE COMMUNISM</a:t>
            </a:r>
            <a:br>
              <a:rPr lang="en-US" dirty="0" smtClean="0"/>
            </a:br>
            <a:r>
              <a:rPr lang="en-US" dirty="0" smtClean="0"/>
              <a:t>- No contradictions found – communally owned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SLAVERY</a:t>
            </a:r>
            <a:br>
              <a:rPr lang="en-US" dirty="0" smtClean="0"/>
            </a:br>
            <a:r>
              <a:rPr lang="en-US" dirty="0" smtClean="0"/>
              <a:t>-contradictions started </a:t>
            </a:r>
            <a:br>
              <a:rPr lang="en-US" dirty="0" smtClean="0"/>
            </a:br>
            <a:r>
              <a:rPr lang="en-US" dirty="0" smtClean="0"/>
              <a:t>-slaves-privately owned – becomes mode of production (minimum revenue to stay alive)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FEUDALISM</a:t>
            </a:r>
            <a:br>
              <a:rPr lang="en-US" dirty="0" smtClean="0"/>
            </a:br>
            <a:r>
              <a:rPr lang="en-US" dirty="0" smtClean="0"/>
              <a:t>-with agriculture (mode of production)</a:t>
            </a:r>
            <a:br>
              <a:rPr lang="en-US" dirty="0" smtClean="0"/>
            </a:br>
            <a:r>
              <a:rPr lang="en-US" dirty="0" smtClean="0"/>
              <a:t>-land (Mean of production)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CAPITALISM</a:t>
            </a:r>
            <a:br>
              <a:rPr lang="en-US" dirty="0" smtClean="0"/>
            </a:br>
            <a:r>
              <a:rPr lang="en-US" dirty="0" smtClean="0"/>
              <a:t>-Labor became main commodity – inequality at peak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SOCIALISM</a:t>
            </a:r>
            <a:br>
              <a:rPr lang="en-US" dirty="0" smtClean="0"/>
            </a:br>
            <a:r>
              <a:rPr lang="en-US" dirty="0" smtClean="0"/>
              <a:t>- classless society</a:t>
            </a:r>
            <a:br>
              <a:rPr lang="en-US" dirty="0" smtClean="0"/>
            </a:br>
            <a:r>
              <a:rPr lang="en-US" dirty="0" smtClean="0"/>
              <a:t>-no private property </a:t>
            </a:r>
            <a:br>
              <a:rPr lang="en-US" dirty="0" smtClean="0"/>
            </a:br>
            <a:r>
              <a:rPr lang="en-US" dirty="0" smtClean="0"/>
              <a:t>-redistribute means among masses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COMMUNISM</a:t>
            </a:r>
            <a:br>
              <a:rPr lang="en-US" dirty="0" smtClean="0"/>
            </a:br>
            <a:r>
              <a:rPr lang="en-US" dirty="0" smtClean="0"/>
              <a:t>- ideal </a:t>
            </a:r>
            <a:br>
              <a:rPr lang="en-US" dirty="0" smtClean="0"/>
            </a:br>
            <a:r>
              <a:rPr lang="en-US" dirty="0" smtClean="0"/>
              <a:t>- no concept of state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ALIENATION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Sense of powerlessness, isolation and meaninglessness </a:t>
            </a:r>
          </a:p>
          <a:p>
            <a:r>
              <a:rPr lang="en-US" dirty="0" smtClean="0"/>
              <a:t>Alienation starts in Capitalism </a:t>
            </a:r>
          </a:p>
          <a:p>
            <a:r>
              <a:rPr lang="en-US" dirty="0" smtClean="0"/>
              <a:t>Product of labor is appropriated by someone who has not actually produced it – CAPITALIST</a:t>
            </a:r>
          </a:p>
          <a:p>
            <a:r>
              <a:rPr lang="en-US" dirty="0" smtClean="0"/>
              <a:t>FOUR MANIFESTATION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Alienation from Product</a:t>
            </a:r>
          </a:p>
          <a:p>
            <a:pPr marL="514350" indent="-514350">
              <a:buAutoNum type="alphaLcParenR"/>
            </a:pPr>
            <a:r>
              <a:rPr lang="en-US" dirty="0" smtClean="0"/>
              <a:t>Alienation from act of production</a:t>
            </a:r>
          </a:p>
          <a:p>
            <a:pPr marL="514350" indent="-514350">
              <a:buAutoNum type="alphaLcParenR"/>
            </a:pPr>
            <a:r>
              <a:rPr lang="en-US" dirty="0" smtClean="0"/>
              <a:t>Alienation from human nature (not using)</a:t>
            </a:r>
          </a:p>
          <a:p>
            <a:pPr marL="514350" indent="-514350">
              <a:buAutoNum type="alphaLcParenR"/>
            </a:pPr>
            <a:r>
              <a:rPr lang="en-US" dirty="0" smtClean="0"/>
              <a:t>Alienation from other workers (market enterprise)</a:t>
            </a:r>
          </a:p>
          <a:p>
            <a:pPr marL="514350" indent="-514350">
              <a:buAutoNum type="alphaLcParenR"/>
            </a:pPr>
            <a:endParaRPr lang="en-US" dirty="0" smtClean="0"/>
          </a:p>
          <a:p>
            <a:pPr marL="514350" indent="-514350">
              <a:buFontTx/>
              <a:buChar char="-"/>
            </a:pPr>
            <a:r>
              <a:rPr lang="en-US" dirty="0" smtClean="0"/>
              <a:t>Alienation leads to dehumanization and depreciation of human being</a:t>
            </a:r>
          </a:p>
          <a:p>
            <a:pPr marL="514350" indent="-514350">
              <a:buFontTx/>
              <a:buChar char="-"/>
            </a:pPr>
            <a:endParaRPr lang="en-US" dirty="0" smtClean="0"/>
          </a:p>
          <a:p>
            <a:pPr marL="514350" indent="-514350">
              <a:buFontTx/>
              <a:buChar char="-"/>
            </a:pPr>
            <a:r>
              <a:rPr lang="en-US" dirty="0" smtClean="0"/>
              <a:t>Solution – Socialism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OF SOCIAL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 is determined by social position that a person holds in economic organization</a:t>
            </a:r>
          </a:p>
          <a:p>
            <a:r>
              <a:rPr lang="en-US" dirty="0" smtClean="0"/>
              <a:t>2 classes – domination and subordination</a:t>
            </a:r>
          </a:p>
          <a:p>
            <a:r>
              <a:rPr lang="en-US" dirty="0" smtClean="0"/>
              <a:t>TWO-CLASS MODEL – explain exploitative relations in capitalist society</a:t>
            </a:r>
          </a:p>
          <a:p>
            <a:endParaRPr lang="en-US" dirty="0" smtClean="0"/>
          </a:p>
          <a:p>
            <a:r>
              <a:rPr lang="en-US" dirty="0" smtClean="0"/>
              <a:t>Bourgeoisie and Proletariat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THEORY OF LABOUR AND SURPLUS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Marx believed – Labor is value </a:t>
            </a:r>
          </a:p>
          <a:p>
            <a:r>
              <a:rPr lang="en-US" dirty="0" smtClean="0"/>
              <a:t>All commodities – labor time invested- determine its market value </a:t>
            </a:r>
          </a:p>
          <a:p>
            <a:endParaRPr lang="en-US" dirty="0" smtClean="0"/>
          </a:p>
          <a:p>
            <a:r>
              <a:rPr lang="en-US" dirty="0" smtClean="0"/>
              <a:t>Raw material =50/=</a:t>
            </a:r>
          </a:p>
          <a:p>
            <a:r>
              <a:rPr lang="en-US" dirty="0" smtClean="0"/>
              <a:t>4 hours invested = 2500/=</a:t>
            </a:r>
          </a:p>
          <a:p>
            <a:r>
              <a:rPr lang="en-US" dirty="0" smtClean="0"/>
              <a:t>Marx – workers should be given 2000 (500/hr)</a:t>
            </a:r>
          </a:p>
          <a:p>
            <a:r>
              <a:rPr lang="en-US" dirty="0" smtClean="0"/>
              <a:t>Reality ???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 ON 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Tool of exploitation – impedes social change</a:t>
            </a:r>
          </a:p>
          <a:p>
            <a:endParaRPr lang="en-US" dirty="0" smtClean="0"/>
          </a:p>
          <a:p>
            <a:r>
              <a:rPr lang="en-US" dirty="0" smtClean="0"/>
              <a:t>Relieved the pain caused by exploitation and oppression thus making people habitual of such system</a:t>
            </a:r>
          </a:p>
          <a:p>
            <a:endParaRPr lang="en-US" dirty="0" smtClean="0"/>
          </a:p>
          <a:p>
            <a:r>
              <a:rPr lang="en-US" dirty="0" smtClean="0"/>
              <a:t>Religious does little to solve the problems rather it makes them bearable by justifying the social order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Marx Famous Slogan “ Workers of the world unite, you have nothing to lose but your chains” </a:t>
            </a:r>
          </a:p>
          <a:p>
            <a:r>
              <a:rPr lang="en-US" dirty="0" smtClean="0"/>
              <a:t>Guiding force for many communist organization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HERBERT SPENCER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(1820-1903)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ENGLAND </a:t>
            </a:r>
          </a:p>
          <a:p>
            <a:r>
              <a:rPr lang="en-US" dirty="0" smtClean="0"/>
              <a:t>English philosopher, biologist, anthropologist, and sociologist </a:t>
            </a:r>
          </a:p>
          <a:p>
            <a:r>
              <a:rPr lang="en-US" dirty="0" smtClean="0"/>
              <a:t>originated the expression "survival of the fittest", which he coined in Principles of Biology - Influenced national policies</a:t>
            </a:r>
          </a:p>
          <a:p>
            <a:endParaRPr lang="en-US" dirty="0" smtClean="0"/>
          </a:p>
          <a:p>
            <a:r>
              <a:rPr lang="en-US" dirty="0" smtClean="0"/>
              <a:t>FAMOUS WORKS</a:t>
            </a:r>
          </a:p>
          <a:p>
            <a:r>
              <a:rPr lang="en-US" dirty="0" smtClean="0"/>
              <a:t>The study of Sociology</a:t>
            </a:r>
          </a:p>
          <a:p>
            <a:r>
              <a:rPr lang="en-US" dirty="0" smtClean="0"/>
              <a:t>Principles of Ethics</a:t>
            </a:r>
          </a:p>
          <a:p>
            <a:r>
              <a:rPr lang="en-US" dirty="0" smtClean="0"/>
              <a:t>The Man vs. The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ORGANICISM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Outlined various similarities and differences between organisms and society</a:t>
            </a:r>
          </a:p>
          <a:p>
            <a:endParaRPr lang="en-US" dirty="0" smtClean="0"/>
          </a:p>
          <a:p>
            <a:r>
              <a:rPr lang="en-US" dirty="0" smtClean="0"/>
              <a:t>Similarities – visible growth, disease, smaller units, structure &amp; Function, change, interdependence</a:t>
            </a:r>
          </a:p>
          <a:p>
            <a:endParaRPr lang="en-US" dirty="0" smtClean="0"/>
          </a:p>
          <a:p>
            <a:r>
              <a:rPr lang="en-US" dirty="0" smtClean="0"/>
              <a:t>Differences – no physical structure, systems are independent, consciousness diffused in society (not concentrated)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EVOLUTION AND SOCIAL DRAWINISM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670036"/>
          </a:xfrm>
        </p:spPr>
        <p:txBody>
          <a:bodyPr>
            <a:normAutofit/>
          </a:bodyPr>
          <a:lstStyle/>
          <a:p>
            <a:r>
              <a:rPr lang="en-US" dirty="0" smtClean="0"/>
              <a:t>Concept of evolution </a:t>
            </a:r>
          </a:p>
          <a:p>
            <a:r>
              <a:rPr lang="en-US" u="sng" dirty="0" smtClean="0"/>
              <a:t>The Evolutionary Theory by Darwin</a:t>
            </a:r>
            <a:r>
              <a:rPr lang="en-US" dirty="0" smtClean="0"/>
              <a:t> Species who best adapted to change – survive</a:t>
            </a:r>
          </a:p>
          <a:p>
            <a:r>
              <a:rPr lang="en-US" dirty="0" smtClean="0"/>
              <a:t>Spencer applied this to society – called SOCIAL DRAWINISM </a:t>
            </a:r>
          </a:p>
          <a:p>
            <a:r>
              <a:rPr lang="en-US" dirty="0" smtClean="0"/>
              <a:t>Societies from simple to complex , from homogeneous to heterogeneous </a:t>
            </a:r>
          </a:p>
          <a:p>
            <a:endParaRPr lang="en-US" dirty="0" smtClean="0"/>
          </a:p>
          <a:p>
            <a:r>
              <a:rPr lang="en-US" dirty="0" smtClean="0"/>
              <a:t>Speculated – successful evolution required autonomy in all aspects </a:t>
            </a:r>
          </a:p>
          <a:p>
            <a:r>
              <a:rPr lang="en-US" dirty="0" smtClean="0"/>
              <a:t>Strengthened by thought of Adam Smith – success of market was subjected to autonomy </a:t>
            </a:r>
            <a:endParaRPr lang="en-US" dirty="0"/>
          </a:p>
        </p:txBody>
      </p:sp>
      <p:sp>
        <p:nvSpPr>
          <p:cNvPr id="2050" name="AutoShape 2" descr="Society Like Animals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Spencer believed that it was natural for the strong to survive at the cost of the weak</a:t>
            </a:r>
            <a:endParaRPr lang="en-US" dirty="0"/>
          </a:p>
        </p:txBody>
      </p:sp>
      <p:sp>
        <p:nvSpPr>
          <p:cNvPr id="1026" name="AutoShape 2" descr="Society Like Animals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survival-of-the-fit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2994552"/>
            <a:ext cx="7620000" cy="3238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MILITANT VS INDUSTRIAL SOCIETIES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 types of societies</a:t>
            </a:r>
          </a:p>
          <a:p>
            <a:r>
              <a:rPr lang="en-US" dirty="0" smtClean="0"/>
              <a:t>One simpler (militant) and one more complex and evolved (Industrial)</a:t>
            </a:r>
          </a:p>
          <a:p>
            <a:r>
              <a:rPr lang="en-US" dirty="0" smtClean="0"/>
              <a:t>Militant societies supposedly evolved into industrial ones over times and social evolution </a:t>
            </a:r>
          </a:p>
          <a:p>
            <a:endParaRPr lang="en-US" dirty="0" smtClean="0"/>
          </a:p>
          <a:p>
            <a:r>
              <a:rPr lang="en-US" dirty="0" smtClean="0"/>
              <a:t>MILITANT SOCIETIES – structured around a social relationship of hierarchy and obedience </a:t>
            </a:r>
          </a:p>
          <a:p>
            <a:r>
              <a:rPr lang="en-US" dirty="0" smtClean="0"/>
              <a:t>INDUSTRIAL SOCIETIES – based on voluntary, contractually assumed obligations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MILITANT VS INDUSTRIAL SOCIETIES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Militant societies tend to be dominated by regulated system whereas industrial societies are characterized more highly developed sustaining systems</a:t>
            </a:r>
          </a:p>
          <a:p>
            <a:endParaRPr lang="en-US" dirty="0" smtClean="0"/>
          </a:p>
          <a:p>
            <a:r>
              <a:rPr lang="en-US" dirty="0" smtClean="0"/>
              <a:t>Militant – offensive and defensive warfare </a:t>
            </a:r>
          </a:p>
          <a:p>
            <a:r>
              <a:rPr lang="en-US" dirty="0" smtClean="0"/>
              <a:t>Industrial – concerned with production and wellbeing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MAX WEBER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(1864-1920)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German sociologist, historian, jurist, and political economist who is regarded as among the most important theorists of the development of modern Western society</a:t>
            </a:r>
          </a:p>
          <a:p>
            <a:endParaRPr lang="en-US" dirty="0" smtClean="0"/>
          </a:p>
          <a:p>
            <a:r>
              <a:rPr lang="en-US" dirty="0" smtClean="0"/>
              <a:t>FAMOUS WRITINGS</a:t>
            </a:r>
          </a:p>
          <a:p>
            <a:r>
              <a:rPr lang="en-US" dirty="0" smtClean="0"/>
              <a:t>Economy and society</a:t>
            </a:r>
          </a:p>
          <a:p>
            <a:r>
              <a:rPr lang="en-US" dirty="0" smtClean="0"/>
              <a:t>Sociology of Religion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 SOCIOLOGY AND SOCIAL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SOCIOLOGY “ A science which attempt the interpretive understanding of social action, in order to arrive at an explanation of its causes and effects”</a:t>
            </a:r>
          </a:p>
          <a:p>
            <a:r>
              <a:rPr lang="en-US" dirty="0" smtClean="0"/>
              <a:t>Emphasize Subjective meaning that individual attach to their interaction 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VERSTEHEN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Concept of VERSTEHEN – German- means Understanding </a:t>
            </a:r>
          </a:p>
          <a:p>
            <a:r>
              <a:rPr lang="en-US" dirty="0" smtClean="0"/>
              <a:t>Understanding human action by studying the subjective meaning that individual attach to their behavior and interaction </a:t>
            </a:r>
          </a:p>
          <a:p>
            <a:r>
              <a:rPr lang="en-US" dirty="0" smtClean="0"/>
              <a:t>Divided </a:t>
            </a:r>
            <a:r>
              <a:rPr lang="en-US" dirty="0" err="1" smtClean="0"/>
              <a:t>Verstehen</a:t>
            </a:r>
            <a:r>
              <a:rPr lang="en-US" dirty="0" smtClean="0"/>
              <a:t> into 2 types</a:t>
            </a:r>
          </a:p>
          <a:p>
            <a:r>
              <a:rPr lang="en-US" dirty="0" smtClean="0"/>
              <a:t>1) AKTULLES VERSTEHEN – understanding – Direct Observation</a:t>
            </a:r>
          </a:p>
          <a:p>
            <a:r>
              <a:rPr lang="en-US" dirty="0" smtClean="0"/>
              <a:t>2) ERKLARENDES VERSTEHEN – understanding inherent meaning by looking at motives that directed action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social 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Instrumental Rational Action – efficient method to achieve goal (Max Profit)</a:t>
            </a:r>
          </a:p>
          <a:p>
            <a:pPr marL="514350" indent="-514350">
              <a:buAutoNum type="arabicParenR"/>
            </a:pPr>
            <a:r>
              <a:rPr lang="en-US" dirty="0" smtClean="0"/>
              <a:t>Value Rational Action – choose rational way in relation to some irrational value (</a:t>
            </a:r>
            <a:r>
              <a:rPr lang="en-US" dirty="0" err="1" smtClean="0"/>
              <a:t>Zakat</a:t>
            </a:r>
            <a:r>
              <a:rPr lang="en-US" dirty="0" smtClean="0"/>
              <a:t> Value, cannot be observed)</a:t>
            </a:r>
          </a:p>
          <a:p>
            <a:pPr marL="514350" indent="-514350">
              <a:buAutoNum type="arabicParenR"/>
            </a:pPr>
            <a:r>
              <a:rPr lang="en-US" dirty="0" smtClean="0"/>
              <a:t>Traditional Action – customary action, irrational (People accept son of prince is prince)</a:t>
            </a:r>
          </a:p>
          <a:p>
            <a:pPr marL="514350" indent="-514350">
              <a:buAutoNum type="arabicParenR"/>
            </a:pPr>
            <a:r>
              <a:rPr lang="en-US" dirty="0" smtClean="0"/>
              <a:t>Effectual Action – involves emotional aspects and lacks connection to any specific goal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 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Unlike others</a:t>
            </a:r>
          </a:p>
          <a:p>
            <a:r>
              <a:rPr lang="en-US" dirty="0" smtClean="0"/>
              <a:t>Religion in many instances become agent of Social Change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BUREAUCRACY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best manifestation of rational organization</a:t>
            </a:r>
          </a:p>
          <a:p>
            <a:r>
              <a:rPr lang="en-US" dirty="0" smtClean="0"/>
              <a:t>Bureaucracy “ Hierarchical organizational designed rationally to coordinate the work of many individuals in the pursuit of large scale administrative tasks and organizational tasks”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Bureaucracy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Official Duties – clearly defined tasks </a:t>
            </a:r>
            <a:br>
              <a:rPr lang="en-US" dirty="0" smtClean="0"/>
            </a:br>
            <a:r>
              <a:rPr lang="en-US" dirty="0" smtClean="0"/>
              <a:t>-complex tasks are broken down into specialized parts</a:t>
            </a:r>
          </a:p>
          <a:p>
            <a:pPr marL="514350" indent="-514350">
              <a:buAutoNum type="arabicParenR"/>
            </a:pPr>
            <a:r>
              <a:rPr lang="en-US" dirty="0" smtClean="0"/>
              <a:t>Hierarchy</a:t>
            </a:r>
          </a:p>
          <a:p>
            <a:pPr marL="514350" indent="-514350">
              <a:buAutoNum type="arabicParenR"/>
            </a:pPr>
            <a:r>
              <a:rPr lang="en-US" dirty="0" smtClean="0"/>
              <a:t>Rules and Regulations</a:t>
            </a:r>
          </a:p>
          <a:p>
            <a:pPr marL="514350" indent="-514350">
              <a:buAutoNum type="arabicParenR"/>
            </a:pPr>
            <a:r>
              <a:rPr lang="en-US" dirty="0" smtClean="0"/>
              <a:t>Impersonality – no place for emotions and sentiments  - guided by formal Rules</a:t>
            </a:r>
          </a:p>
          <a:p>
            <a:pPr marL="514350" indent="-514350">
              <a:buAutoNum type="arabicParenR"/>
            </a:pPr>
            <a:r>
              <a:rPr lang="en-US" dirty="0" smtClean="0"/>
              <a:t>Technical Expertise</a:t>
            </a:r>
          </a:p>
          <a:p>
            <a:pPr marL="514350" indent="-514350">
              <a:buAutoNum type="arabicParenR"/>
            </a:pPr>
            <a:r>
              <a:rPr lang="en-US" dirty="0" smtClean="0"/>
              <a:t>Separation of Private &amp; Personal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Weber’s Criticism on Bureaucracy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IRON CAGE </a:t>
            </a:r>
          </a:p>
          <a:p>
            <a:r>
              <a:rPr lang="en-US" dirty="0" smtClean="0"/>
              <a:t>Limitation on Human Freedom, creativity, innovation, and naturalness </a:t>
            </a:r>
          </a:p>
          <a:p>
            <a:r>
              <a:rPr lang="en-US" dirty="0" smtClean="0"/>
              <a:t>Impersonality – making humans as professionals with no soul</a:t>
            </a:r>
          </a:p>
          <a:p>
            <a:r>
              <a:rPr lang="en-US" dirty="0" smtClean="0"/>
              <a:t>Machines </a:t>
            </a:r>
          </a:p>
          <a:p>
            <a:r>
              <a:rPr lang="en-US" dirty="0" smtClean="0"/>
              <a:t>Potential to create alienation and dehumanization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AND AUTHORITY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5480"/>
            <a:ext cx="10972800" cy="492252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POWER – involves achievement of desired goal despite opposition</a:t>
            </a:r>
          </a:p>
          <a:p>
            <a:r>
              <a:rPr lang="en-US" dirty="0" smtClean="0"/>
              <a:t>Short-lived</a:t>
            </a:r>
          </a:p>
          <a:p>
            <a:r>
              <a:rPr lang="en-US" dirty="0" smtClean="0"/>
              <a:t>Should be converted into authority</a:t>
            </a:r>
          </a:p>
          <a:p>
            <a:endParaRPr lang="en-US" dirty="0" smtClean="0"/>
          </a:p>
          <a:p>
            <a:r>
              <a:rPr lang="en-US" dirty="0" smtClean="0"/>
              <a:t>Types of Authorities </a:t>
            </a:r>
          </a:p>
          <a:p>
            <a:pPr marL="514350" indent="-514350">
              <a:buAutoNum type="arabicParenR"/>
            </a:pPr>
            <a:r>
              <a:rPr lang="en-US" dirty="0" smtClean="0"/>
              <a:t>Traditional Authority </a:t>
            </a:r>
            <a:br>
              <a:rPr lang="en-US" dirty="0" smtClean="0"/>
            </a:br>
            <a:r>
              <a:rPr lang="en-US" dirty="0" smtClean="0"/>
              <a:t>- Pre-industrial – power on basis of established traditions and cultural patterns </a:t>
            </a:r>
            <a:br>
              <a:rPr lang="en-US" dirty="0" smtClean="0"/>
            </a:br>
            <a:r>
              <a:rPr lang="en-US" dirty="0" smtClean="0"/>
              <a:t>- Pakistan –few families (caste sys)</a:t>
            </a:r>
            <a:br>
              <a:rPr lang="en-US" dirty="0" smtClean="0"/>
            </a:br>
            <a:r>
              <a:rPr lang="en-US" dirty="0" smtClean="0"/>
              <a:t>- Patriarchy </a:t>
            </a:r>
          </a:p>
          <a:p>
            <a:pPr marL="514350" indent="-514350">
              <a:buAutoNum type="arabicParenR"/>
            </a:pPr>
            <a:r>
              <a:rPr lang="en-US" dirty="0" smtClean="0"/>
              <a:t>Rational – Legal Authority </a:t>
            </a:r>
            <a:br>
              <a:rPr lang="en-US" dirty="0" smtClean="0"/>
            </a:br>
            <a:r>
              <a:rPr lang="en-US" dirty="0" smtClean="0"/>
              <a:t>- Modern Rational Authority</a:t>
            </a:r>
            <a:br>
              <a:rPr lang="en-US" dirty="0" smtClean="0"/>
            </a:br>
            <a:r>
              <a:rPr lang="en-US" dirty="0" smtClean="0"/>
              <a:t>- Power on basis of impersonal rules &amp; regulations </a:t>
            </a:r>
            <a:br>
              <a:rPr lang="en-US" dirty="0" smtClean="0"/>
            </a:br>
            <a:r>
              <a:rPr lang="en-US" dirty="0" smtClean="0"/>
              <a:t>- Authority issues order and other follows</a:t>
            </a:r>
          </a:p>
          <a:p>
            <a:pPr marL="514350" indent="-514350">
              <a:buAutoNum type="arabicParenR"/>
            </a:pPr>
            <a:r>
              <a:rPr lang="en-US" dirty="0" smtClean="0"/>
              <a:t>Charismatic Authority </a:t>
            </a:r>
            <a:br>
              <a:rPr lang="en-US" dirty="0" smtClean="0"/>
            </a:br>
            <a:r>
              <a:rPr lang="en-US" dirty="0" smtClean="0"/>
              <a:t>-individualistic in nature </a:t>
            </a:r>
            <a:br>
              <a:rPr lang="en-US" dirty="0" smtClean="0"/>
            </a:br>
            <a:r>
              <a:rPr lang="en-US" dirty="0" smtClean="0"/>
              <a:t>Hitler, </a:t>
            </a:r>
            <a:r>
              <a:rPr lang="en-US" dirty="0" err="1" smtClean="0"/>
              <a:t>Quaid</a:t>
            </a:r>
            <a:r>
              <a:rPr lang="en-US" dirty="0" smtClean="0"/>
              <a:t>-e-</a:t>
            </a:r>
            <a:r>
              <a:rPr lang="en-US" dirty="0" err="1" smtClean="0"/>
              <a:t>Azam</a:t>
            </a:r>
            <a:r>
              <a:rPr lang="en-US" dirty="0" smtClean="0"/>
              <a:t>, Martin Luther King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RELIGION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Distinction between Prophet and Priest</a:t>
            </a:r>
          </a:p>
          <a:p>
            <a:endParaRPr lang="en-US" dirty="0" smtClean="0"/>
          </a:p>
          <a:p>
            <a:r>
              <a:rPr lang="en-US" dirty="0" smtClean="0"/>
              <a:t>Priest – part of elite justifying status quo</a:t>
            </a:r>
          </a:p>
          <a:p>
            <a:endParaRPr lang="en-US" dirty="0" smtClean="0"/>
          </a:p>
          <a:p>
            <a:r>
              <a:rPr lang="en-US" dirty="0" smtClean="0"/>
              <a:t>Prophet – Lower or middle class , confronts the status quo </a:t>
            </a:r>
            <a:br>
              <a:rPr lang="en-US" dirty="0" smtClean="0"/>
            </a:br>
            <a:r>
              <a:rPr lang="en-US" dirty="0" smtClean="0"/>
              <a:t>- Reformation </a:t>
            </a:r>
          </a:p>
          <a:p>
            <a:endParaRPr lang="en-US" dirty="0" smtClean="0"/>
          </a:p>
          <a:p>
            <a:r>
              <a:rPr lang="en-US" dirty="0" smtClean="0"/>
              <a:t>When Priesthood becomes oppressive, a Prophet emerges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TALCOTT PARSONS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(1902-1979)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American</a:t>
            </a:r>
          </a:p>
          <a:p>
            <a:r>
              <a:rPr lang="en-US" dirty="0" smtClean="0"/>
              <a:t>Influenced by work of Durkheim, Max Weber</a:t>
            </a:r>
          </a:p>
          <a:p>
            <a:r>
              <a:rPr lang="en-US" dirty="0" smtClean="0"/>
              <a:t>Sociological theory should revolve around external institutional structure rather than internal personality motivations</a:t>
            </a:r>
          </a:p>
          <a:p>
            <a:endParaRPr lang="en-US" dirty="0" smtClean="0"/>
          </a:p>
          <a:p>
            <a:r>
              <a:rPr lang="en-US" dirty="0" smtClean="0"/>
              <a:t>Famous Writing</a:t>
            </a:r>
          </a:p>
          <a:p>
            <a:r>
              <a:rPr lang="en-US" dirty="0" smtClean="0"/>
              <a:t>The Structure of Social Action</a:t>
            </a:r>
          </a:p>
          <a:p>
            <a:r>
              <a:rPr lang="en-US" dirty="0" smtClean="0"/>
              <a:t>Economy and Society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SOCIAL ORDER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Searching for factors that maintained social order</a:t>
            </a:r>
          </a:p>
          <a:p>
            <a:r>
              <a:rPr lang="en-US" dirty="0" smtClean="0"/>
              <a:t>Only a shared and voluntary commitment to values could provide foundation for social order</a:t>
            </a:r>
          </a:p>
          <a:p>
            <a:r>
              <a:rPr lang="en-US" dirty="0" smtClean="0"/>
              <a:t>Shared Identity </a:t>
            </a:r>
            <a:r>
              <a:rPr lang="en-US" dirty="0" smtClean="0"/>
              <a:t>– Commitment –provide foundation for social order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FUNCTIONAL PREREQUISITES (AGIL SCHEME)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Any social system must achieve 4 Functional prerequisites </a:t>
            </a:r>
          </a:p>
          <a:p>
            <a:r>
              <a:rPr lang="en-US" dirty="0" smtClean="0"/>
              <a:t>Problems to which a society must find a solution for its stability</a:t>
            </a:r>
          </a:p>
          <a:p>
            <a:r>
              <a:rPr lang="en-US" dirty="0" smtClean="0"/>
              <a:t>Possible through  development of specific institutions (stable &amp; Ordered)</a:t>
            </a:r>
          </a:p>
          <a:p>
            <a:endParaRPr lang="en-US" dirty="0" smtClean="0"/>
          </a:p>
          <a:p>
            <a:r>
              <a:rPr lang="en-US" b="1" dirty="0" smtClean="0"/>
              <a:t>Adaption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- system maintain some level of control – fulfill needs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 smtClean="0">
                <a:solidFill>
                  <a:srgbClr val="FF0000"/>
                </a:solidFill>
              </a:rPr>
              <a:t>ECONOMY</a:t>
            </a:r>
            <a:r>
              <a:rPr lang="en-US" dirty="0" smtClean="0"/>
              <a:t> to fulfill food and shelter</a:t>
            </a:r>
          </a:p>
          <a:p>
            <a:r>
              <a:rPr lang="en-US" b="1" dirty="0" smtClean="0"/>
              <a:t>Goal Attainment</a:t>
            </a:r>
            <a:r>
              <a:rPr lang="en-US" dirty="0" smtClean="0"/>
              <a:t> – society has a need to set few goals</a:t>
            </a:r>
            <a:br>
              <a:rPr lang="en-US" dirty="0" smtClean="0"/>
            </a:br>
            <a:r>
              <a:rPr lang="en-US" dirty="0" smtClean="0"/>
              <a:t>- devise means to achieve them</a:t>
            </a:r>
            <a:br>
              <a:rPr lang="en-US" dirty="0" smtClean="0"/>
            </a:br>
            <a:r>
              <a:rPr lang="en-US" dirty="0" smtClean="0"/>
              <a:t>- Institution </a:t>
            </a:r>
            <a:r>
              <a:rPr lang="en-US" dirty="0" smtClean="0">
                <a:solidFill>
                  <a:srgbClr val="FF0000"/>
                </a:solidFill>
              </a:rPr>
              <a:t>POLITICS</a:t>
            </a:r>
          </a:p>
          <a:p>
            <a:r>
              <a:rPr lang="en-US" b="1" dirty="0" smtClean="0"/>
              <a:t>Integration</a:t>
            </a:r>
            <a:r>
              <a:rPr lang="en-US" dirty="0" smtClean="0"/>
              <a:t> – Way to adjust conflict for survival </a:t>
            </a:r>
            <a:br>
              <a:rPr lang="en-US" dirty="0" smtClean="0"/>
            </a:br>
            <a:r>
              <a:rPr lang="en-US" dirty="0" smtClean="0"/>
              <a:t>-btw individuals or institutes</a:t>
            </a:r>
            <a:br>
              <a:rPr lang="en-US" dirty="0" smtClean="0"/>
            </a:br>
            <a:r>
              <a:rPr lang="en-US" dirty="0" smtClean="0"/>
              <a:t>- Institution </a:t>
            </a:r>
            <a:r>
              <a:rPr lang="en-US" dirty="0" smtClean="0">
                <a:solidFill>
                  <a:srgbClr val="FF0000"/>
                </a:solidFill>
              </a:rPr>
              <a:t>LAW/JUDICIARY</a:t>
            </a:r>
          </a:p>
          <a:p>
            <a:r>
              <a:rPr lang="en-US" b="1" dirty="0" smtClean="0"/>
              <a:t>Latency</a:t>
            </a:r>
            <a:r>
              <a:rPr lang="en-US" dirty="0" smtClean="0"/>
              <a:t> (Pattern Maintenance)</a:t>
            </a:r>
            <a:br>
              <a:rPr lang="en-US" dirty="0" smtClean="0"/>
            </a:br>
            <a:r>
              <a:rPr lang="en-US" dirty="0" smtClean="0"/>
              <a:t>-for smooth functioning </a:t>
            </a:r>
            <a:br>
              <a:rPr lang="en-US" dirty="0" smtClean="0"/>
            </a:br>
            <a:r>
              <a:rPr lang="en-US" dirty="0" smtClean="0"/>
              <a:t>-necessary Basic Pattern of values is maintained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Institution </a:t>
            </a:r>
            <a:r>
              <a:rPr lang="en-US" dirty="0" smtClean="0">
                <a:solidFill>
                  <a:srgbClr val="FF0000"/>
                </a:solidFill>
              </a:rPr>
              <a:t>FAMILY, EDUCATION, RELIGION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 VARIABLES AND EVOLUTION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Evolutionary Doctrine</a:t>
            </a:r>
          </a:p>
          <a:p>
            <a:r>
              <a:rPr lang="en-US" dirty="0" smtClean="0"/>
              <a:t>From Simple form to Complex one</a:t>
            </a:r>
          </a:p>
          <a:p>
            <a:endParaRPr lang="en-US" dirty="0" smtClean="0"/>
          </a:p>
          <a:p>
            <a:r>
              <a:rPr lang="en-US" dirty="0" smtClean="0"/>
              <a:t>Started from Economic Determinism  - Economic ∝ change</a:t>
            </a:r>
          </a:p>
          <a:p>
            <a:r>
              <a:rPr lang="en-US" dirty="0" smtClean="0"/>
              <a:t>Switched to Cultural Determinism – changes in values </a:t>
            </a:r>
          </a:p>
          <a:p>
            <a:r>
              <a:rPr lang="en-US" dirty="0" smtClean="0"/>
              <a:t>Evolve to complex form – modern values</a:t>
            </a:r>
          </a:p>
          <a:p>
            <a:endParaRPr lang="en-US" dirty="0" smtClean="0"/>
          </a:p>
          <a:p>
            <a:r>
              <a:rPr lang="en-US" dirty="0" smtClean="0"/>
              <a:t>Identified 2 categories of Pattern Variables A &amp; B</a:t>
            </a:r>
          </a:p>
          <a:p>
            <a:r>
              <a:rPr lang="en-US" dirty="0" smtClean="0"/>
              <a:t>A – values of simple societies</a:t>
            </a:r>
          </a:p>
          <a:p>
            <a:r>
              <a:rPr lang="en-US" dirty="0" smtClean="0"/>
              <a:t>B - values of complex societies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PATTERNVARIABLES-768x576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63" r="1863" b="8489"/>
          <a:stretch>
            <a:fillRect/>
          </a:stretch>
        </p:blipFill>
        <p:spPr>
          <a:xfrm>
            <a:off x="1678675" y="286604"/>
            <a:ext cx="8461612" cy="603231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  <p:sp>
        <p:nvSpPr>
          <p:cNvPr id="1026" name="AutoShape 2" descr="PATTERN VARIABLES - TALCOTT PARSONS - Achievers IAS Class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SOCIAL PROBLEMS IN PAKISTAN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social situation that affects or is thought to be affecting a significant number of people.</a:t>
            </a:r>
          </a:p>
          <a:p>
            <a:endParaRPr lang="en-US" dirty="0" smtClean="0"/>
          </a:p>
          <a:p>
            <a:r>
              <a:rPr lang="en-US" dirty="0" smtClean="0"/>
              <a:t>What society considers as problem can differ from one place to another</a:t>
            </a:r>
          </a:p>
          <a:p>
            <a:endParaRPr lang="en-US" dirty="0" smtClean="0"/>
          </a:p>
          <a:p>
            <a:r>
              <a:rPr lang="en-US" dirty="0" err="1" smtClean="0"/>
              <a:t>E.g</a:t>
            </a:r>
            <a:r>
              <a:rPr lang="en-US" dirty="0" smtClean="0"/>
              <a:t>: Child Labor – Problem or Economic Resource</a:t>
            </a:r>
          </a:p>
          <a:p>
            <a:endParaRPr lang="en-US" dirty="0" smtClean="0"/>
          </a:p>
          <a:p>
            <a:r>
              <a:rPr lang="en-US" dirty="0" smtClean="0"/>
              <a:t>Social Problem can cause another</a:t>
            </a:r>
          </a:p>
          <a:p>
            <a:r>
              <a:rPr lang="en-US" dirty="0" smtClean="0"/>
              <a:t>Lack of Political Stability – violence, economic distress, inflation, corruption and inequality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 POPULATION GROWTH RATE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systematic study of human population related to its size, composition, growth and mobility – </a:t>
            </a:r>
            <a:r>
              <a:rPr lang="en-US" b="1" dirty="0" smtClean="0"/>
              <a:t>Demography</a:t>
            </a:r>
          </a:p>
          <a:p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MALTHUSIAN THEORY</a:t>
            </a:r>
            <a:br>
              <a:rPr lang="en-US" dirty="0" smtClean="0"/>
            </a:br>
            <a:r>
              <a:rPr lang="en-US" dirty="0" smtClean="0"/>
              <a:t>- Increasing Pop </a:t>
            </a:r>
            <a:r>
              <a:rPr lang="en-US" b="1" dirty="0" smtClean="0"/>
              <a:t>∝</a:t>
            </a:r>
            <a:r>
              <a:rPr lang="en-US" dirty="0" smtClean="0"/>
              <a:t> Social disorganization and food shortage</a:t>
            </a:r>
            <a:br>
              <a:rPr lang="en-US" dirty="0" smtClean="0"/>
            </a:br>
            <a:r>
              <a:rPr lang="en-US" dirty="0" smtClean="0"/>
              <a:t>- Population Increasing geometrically (constant rate) whereas food production following arithmetic method (constant amount)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DEMOGRAPHIC TRANSITION THEORY</a:t>
            </a:r>
            <a:br>
              <a:rPr lang="en-US" dirty="0" smtClean="0"/>
            </a:br>
            <a:r>
              <a:rPr lang="en-US" dirty="0" smtClean="0"/>
              <a:t>- Population </a:t>
            </a:r>
            <a:r>
              <a:rPr lang="en-US" dirty="0" smtClean="0"/>
              <a:t>growth depends on Technological Development</a:t>
            </a:r>
            <a:br>
              <a:rPr lang="en-US" dirty="0" smtClean="0"/>
            </a:br>
            <a:r>
              <a:rPr lang="en-US" dirty="0" smtClean="0"/>
              <a:t>- increase during industrialization –more food, better tech</a:t>
            </a:r>
            <a:br>
              <a:rPr lang="en-US" dirty="0" smtClean="0"/>
            </a:br>
            <a:r>
              <a:rPr lang="en-US" dirty="0" smtClean="0"/>
              <a:t>- However – increase in dual working families  - soon decline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BOSERUP THEORY</a:t>
            </a:r>
            <a:br>
              <a:rPr lang="en-US" dirty="0" smtClean="0"/>
            </a:br>
            <a:r>
              <a:rPr lang="en-US" dirty="0" smtClean="0"/>
              <a:t>-Pop growth –positive </a:t>
            </a:r>
            <a:br>
              <a:rPr lang="en-US" dirty="0" smtClean="0"/>
            </a:br>
            <a:r>
              <a:rPr lang="en-US" dirty="0" smtClean="0"/>
              <a:t>-made man more innovative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DETERMINANTS OF POPULATION GROWTH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Decline in Mortality Rate </a:t>
            </a:r>
          </a:p>
          <a:p>
            <a:r>
              <a:rPr lang="en-US" dirty="0" smtClean="0"/>
              <a:t>High Fertility Rate</a:t>
            </a:r>
          </a:p>
          <a:p>
            <a:r>
              <a:rPr lang="en-US" dirty="0" smtClean="0"/>
              <a:t>Illiteracy and unawareness</a:t>
            </a:r>
          </a:p>
          <a:p>
            <a:r>
              <a:rPr lang="en-US" dirty="0" err="1" smtClean="0"/>
              <a:t>Polygyny</a:t>
            </a:r>
            <a:r>
              <a:rPr lang="en-US" dirty="0" smtClean="0"/>
              <a:t> (for male child)</a:t>
            </a:r>
          </a:p>
          <a:p>
            <a:r>
              <a:rPr lang="en-US" dirty="0" smtClean="0"/>
              <a:t>Early Marriages</a:t>
            </a:r>
          </a:p>
          <a:p>
            <a:r>
              <a:rPr lang="en-US" dirty="0" smtClean="0"/>
              <a:t>Consecutive Pregnancies (min gap 3 years)</a:t>
            </a:r>
          </a:p>
          <a:p>
            <a:r>
              <a:rPr lang="en-US" dirty="0" smtClean="0"/>
              <a:t>Cultural Beliefs </a:t>
            </a:r>
          </a:p>
          <a:p>
            <a:r>
              <a:rPr lang="en-US" dirty="0" smtClean="0"/>
              <a:t>Migration (</a:t>
            </a:r>
            <a:r>
              <a:rPr lang="en-US" dirty="0" err="1" smtClean="0"/>
              <a:t>Afg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CONSEQUENCE OF POPULATION GROWTH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Effects on Economy (consumption – imports)</a:t>
            </a:r>
          </a:p>
          <a:p>
            <a:r>
              <a:rPr lang="en-US" dirty="0" smtClean="0"/>
              <a:t>Low Standard of living  (cheap highly skilled labor)</a:t>
            </a:r>
          </a:p>
          <a:p>
            <a:r>
              <a:rPr lang="en-US" dirty="0" smtClean="0"/>
              <a:t>Strain on Natural Resources (</a:t>
            </a:r>
            <a:r>
              <a:rPr lang="en-US" dirty="0" err="1" smtClean="0"/>
              <a:t>Agr</a:t>
            </a:r>
            <a:r>
              <a:rPr lang="en-US" dirty="0" smtClean="0"/>
              <a:t> Land? Homes)</a:t>
            </a:r>
          </a:p>
          <a:p>
            <a:r>
              <a:rPr lang="en-US" dirty="0" smtClean="0"/>
              <a:t>Environmental Degradation (sewage, industrial waste)</a:t>
            </a:r>
          </a:p>
          <a:p>
            <a:r>
              <a:rPr lang="en-US" dirty="0" smtClean="0"/>
              <a:t>Low availability of services (transport, health, education)</a:t>
            </a:r>
          </a:p>
          <a:p>
            <a:r>
              <a:rPr lang="en-US" dirty="0" smtClean="0"/>
              <a:t>Social Problems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Literacy ( -</a:t>
            </a:r>
            <a:r>
              <a:rPr lang="en-US" dirty="0" err="1" smtClean="0"/>
              <a:t>Ve</a:t>
            </a:r>
            <a:r>
              <a:rPr lang="en-US" dirty="0" smtClean="0"/>
              <a:t> outcome –multiple pregnancies, early marriages)</a:t>
            </a:r>
          </a:p>
          <a:p>
            <a:r>
              <a:rPr lang="en-US" dirty="0" smtClean="0"/>
              <a:t>Women participation in Workforce</a:t>
            </a:r>
          </a:p>
          <a:p>
            <a:r>
              <a:rPr lang="en-US" dirty="0" smtClean="0"/>
              <a:t>Taking Religious Scholars on Board</a:t>
            </a:r>
          </a:p>
          <a:p>
            <a:r>
              <a:rPr lang="en-US" dirty="0" smtClean="0"/>
              <a:t>Media Campaigns </a:t>
            </a:r>
          </a:p>
          <a:p>
            <a:r>
              <a:rPr lang="en-US" dirty="0" smtClean="0"/>
              <a:t>Encouraging Contraceptives </a:t>
            </a:r>
          </a:p>
          <a:p>
            <a:r>
              <a:rPr lang="en-US" dirty="0" smtClean="0"/>
              <a:t>Efficient Training of LHWs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RURAL-URBAN MIGRATION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395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Geographic movement of people across a specific border</a:t>
            </a:r>
          </a:p>
          <a:p>
            <a:r>
              <a:rPr lang="en-US" dirty="0" smtClean="0"/>
              <a:t>Migration – either increase /decrease population</a:t>
            </a:r>
          </a:p>
          <a:p>
            <a:r>
              <a:rPr lang="en-US" dirty="0" smtClean="0"/>
              <a:t>Migration – considered as agent of cultural evolution (bring own)</a:t>
            </a:r>
          </a:p>
          <a:p>
            <a:r>
              <a:rPr lang="en-US" dirty="0" smtClean="0"/>
              <a:t>Also raise social conflict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22780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RATIONAL CHOICE THEORY</a:t>
            </a:r>
            <a:br>
              <a:rPr lang="en-US" dirty="0" smtClean="0"/>
            </a:br>
            <a:r>
              <a:rPr lang="en-US" dirty="0" smtClean="0"/>
              <a:t>- Migrants (Rational beings) calculate cost &amp; benefit </a:t>
            </a:r>
            <a:br>
              <a:rPr lang="en-US" dirty="0" smtClean="0"/>
            </a:br>
            <a:r>
              <a:rPr lang="en-US" dirty="0" smtClean="0"/>
              <a:t>- for higher net return over time horizon</a:t>
            </a:r>
          </a:p>
          <a:p>
            <a:endParaRPr lang="en-US" dirty="0"/>
          </a:p>
          <a:p>
            <a:r>
              <a:rPr lang="en-US" dirty="0" smtClean="0"/>
              <a:t>THE NEW ECONOMICS THEORY</a:t>
            </a:r>
            <a:br>
              <a:rPr lang="en-US" dirty="0" smtClean="0"/>
            </a:br>
            <a:r>
              <a:rPr lang="en-US" dirty="0" smtClean="0"/>
              <a:t>- to increase income and </a:t>
            </a:r>
            <a:r>
              <a:rPr lang="en-US" dirty="0" err="1" smtClean="0"/>
              <a:t>privilages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LEE’S PUSH AND PULL MODEL</a:t>
            </a:r>
            <a:br>
              <a:rPr lang="en-US" dirty="0" smtClean="0"/>
            </a:br>
            <a:r>
              <a:rPr lang="en-US" dirty="0" smtClean="0"/>
              <a:t>- Migration is affected by push factors at area of </a:t>
            </a:r>
            <a:r>
              <a:rPr lang="en-US" dirty="0" err="1" smtClean="0"/>
              <a:t>origion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Pull factors at area of destination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235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Employment Opportunities</a:t>
            </a:r>
          </a:p>
          <a:p>
            <a:r>
              <a:rPr lang="en-US" dirty="0" smtClean="0"/>
              <a:t>Better Services (health, sanitation, education)</a:t>
            </a:r>
          </a:p>
          <a:p>
            <a:r>
              <a:rPr lang="en-US" dirty="0" smtClean="0"/>
              <a:t>Personal Growth </a:t>
            </a:r>
          </a:p>
          <a:p>
            <a:r>
              <a:rPr lang="en-US" dirty="0" smtClean="0"/>
              <a:t>Technological Changes (Agriculture revolutionized – machines – people to move)</a:t>
            </a:r>
          </a:p>
          <a:p>
            <a:r>
              <a:rPr lang="en-US" dirty="0" smtClean="0"/>
              <a:t>Education</a:t>
            </a:r>
          </a:p>
          <a:p>
            <a:r>
              <a:rPr lang="en-US" dirty="0" smtClean="0"/>
              <a:t>High Fertility – no employment </a:t>
            </a:r>
            <a:r>
              <a:rPr lang="en-US" dirty="0" err="1" smtClean="0"/>
              <a:t>opp</a:t>
            </a:r>
            <a:r>
              <a:rPr lang="en-US" dirty="0" smtClean="0"/>
              <a:t> – young member migrate – for sharing burden</a:t>
            </a:r>
          </a:p>
        </p:txBody>
      </p:sp>
    </p:spTree>
    <p:extLst>
      <p:ext uri="{BB962C8B-B14F-4D97-AF65-F5344CB8AC3E}">
        <p14:creationId xmlns:p14="http://schemas.microsoft.com/office/powerpoint/2010/main" xmlns="" val="251880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 in Crime Rate</a:t>
            </a:r>
          </a:p>
          <a:p>
            <a:r>
              <a:rPr lang="en-US" dirty="0" smtClean="0"/>
              <a:t>Housing issues ( owners increasing price – demand)</a:t>
            </a:r>
          </a:p>
          <a:p>
            <a:r>
              <a:rPr lang="en-US" dirty="0" smtClean="0"/>
              <a:t>Congestion (chances of epidemics &amp; diseases)</a:t>
            </a:r>
          </a:p>
          <a:p>
            <a:r>
              <a:rPr lang="en-US" dirty="0" smtClean="0"/>
              <a:t>Environmental degradation</a:t>
            </a:r>
          </a:p>
          <a:p>
            <a:r>
              <a:rPr lang="en-US" dirty="0" smtClean="0"/>
              <a:t>Impersonality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2453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Increasing Employment Opportunities</a:t>
            </a:r>
          </a:p>
          <a:p>
            <a:r>
              <a:rPr lang="en-US" dirty="0" smtClean="0"/>
              <a:t>By improving services infrastructure</a:t>
            </a:r>
          </a:p>
          <a:p>
            <a:r>
              <a:rPr lang="en-US" dirty="0" smtClean="0"/>
              <a:t>Shifting Industrial Sector near Rural Areas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8495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DEVIANCE &amp; STREET CRIME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402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Maintaining social order and establishing ways to achieve social regulation  - primary goals of society</a:t>
            </a:r>
          </a:p>
          <a:p>
            <a:r>
              <a:rPr lang="en-US" dirty="0" smtClean="0"/>
              <a:t>DEVIANT – People who do not follow established patterns or challenge them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969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CLASSICAL APPLICATION</a:t>
            </a:r>
            <a:br>
              <a:rPr lang="en-US" dirty="0" smtClean="0"/>
            </a:br>
            <a:r>
              <a:rPr lang="en-US" dirty="0" smtClean="0"/>
              <a:t>- Maximize Pleasure &amp; Avoid Pain</a:t>
            </a:r>
            <a:br>
              <a:rPr lang="en-US" dirty="0" smtClean="0"/>
            </a:br>
            <a:r>
              <a:rPr lang="en-US" dirty="0" smtClean="0"/>
              <a:t>- Control ? Fear of punishment</a:t>
            </a:r>
          </a:p>
          <a:p>
            <a:endParaRPr lang="en-US" dirty="0"/>
          </a:p>
          <a:p>
            <a:r>
              <a:rPr lang="en-US" dirty="0" smtClean="0"/>
              <a:t>STRUCTURAL FUNCTIONALISM </a:t>
            </a:r>
            <a:br>
              <a:rPr lang="en-US" dirty="0" smtClean="0"/>
            </a:br>
            <a:r>
              <a:rPr lang="en-US" dirty="0" smtClean="0"/>
              <a:t>- DURKHIEM – Crime as functional </a:t>
            </a:r>
          </a:p>
          <a:p>
            <a:r>
              <a:rPr lang="en-US" dirty="0" smtClean="0"/>
              <a:t>SOCIAL CONFLICT </a:t>
            </a:r>
            <a:br>
              <a:rPr lang="en-US" dirty="0" smtClean="0"/>
            </a:br>
            <a:r>
              <a:rPr lang="en-US" dirty="0" smtClean="0"/>
              <a:t>- laws are shaped by powerful </a:t>
            </a:r>
          </a:p>
          <a:p>
            <a:r>
              <a:rPr lang="en-US" dirty="0" smtClean="0"/>
              <a:t>SYMBOLIC INTERACTIONISM </a:t>
            </a:r>
            <a:br>
              <a:rPr lang="en-US" dirty="0" smtClean="0"/>
            </a:br>
            <a:r>
              <a:rPr lang="en-US" dirty="0" smtClean="0"/>
              <a:t>- Deviance does not depend on actions, rather it depends upon reactions</a:t>
            </a:r>
            <a:br>
              <a:rPr lang="en-US" dirty="0" smtClean="0"/>
            </a:br>
            <a:r>
              <a:rPr lang="en-US" dirty="0" smtClean="0"/>
              <a:t>- how people react to particular action  </a:t>
            </a:r>
          </a:p>
        </p:txBody>
      </p:sp>
    </p:spTree>
    <p:extLst>
      <p:ext uri="{BB962C8B-B14F-4D97-AF65-F5344CB8AC3E}">
        <p14:creationId xmlns:p14="http://schemas.microsoft.com/office/powerpoint/2010/main" xmlns="" val="403014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 Education (less </a:t>
            </a:r>
            <a:r>
              <a:rPr lang="en-US" dirty="0" err="1" smtClean="0"/>
              <a:t>opp</a:t>
            </a:r>
            <a:r>
              <a:rPr lang="en-US" dirty="0" smtClean="0"/>
              <a:t>, choose illegitimate ways)</a:t>
            </a:r>
          </a:p>
          <a:p>
            <a:r>
              <a:rPr lang="en-US" dirty="0" smtClean="0"/>
              <a:t>Absence of Parental Regulation</a:t>
            </a:r>
          </a:p>
          <a:p>
            <a:r>
              <a:rPr lang="en-US" dirty="0" smtClean="0"/>
              <a:t>Poor Economic Condition</a:t>
            </a:r>
          </a:p>
          <a:p>
            <a:r>
              <a:rPr lang="en-US" dirty="0" smtClean="0"/>
              <a:t>Easy Access to sexually explicit content </a:t>
            </a:r>
          </a:p>
          <a:p>
            <a:r>
              <a:rPr lang="en-US" dirty="0" smtClean="0"/>
              <a:t>Peer influence</a:t>
            </a:r>
          </a:p>
          <a:p>
            <a:r>
              <a:rPr lang="en-US" dirty="0" smtClean="0"/>
              <a:t>Prison Environment </a:t>
            </a:r>
          </a:p>
          <a:p>
            <a:r>
              <a:rPr lang="en-US" dirty="0" smtClean="0"/>
              <a:t>Property Disputes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6234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Depoliticizing police</a:t>
            </a:r>
          </a:p>
          <a:p>
            <a:r>
              <a:rPr lang="en-US" dirty="0" smtClean="0"/>
              <a:t>Provide employment opportunities</a:t>
            </a:r>
          </a:p>
          <a:p>
            <a:r>
              <a:rPr lang="en-US" dirty="0" smtClean="0"/>
              <a:t>Efficient judicial system</a:t>
            </a:r>
          </a:p>
          <a:p>
            <a:r>
              <a:rPr lang="en-US" dirty="0" smtClean="0"/>
              <a:t>Uniform application of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2748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UNEMPLOYMENT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8781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Percentage of people who are currently not working but are available to work and are in search of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3657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MARXIST THEORY</a:t>
            </a:r>
            <a:br>
              <a:rPr lang="en-US" dirty="0" smtClean="0"/>
            </a:br>
            <a:r>
              <a:rPr lang="en-US" dirty="0" smtClean="0"/>
              <a:t>- Arising out of capitalism </a:t>
            </a:r>
            <a:br>
              <a:rPr lang="en-US" dirty="0" smtClean="0"/>
            </a:br>
            <a:r>
              <a:rPr lang="en-US" dirty="0" smtClean="0"/>
              <a:t>- Phases of extension raise employment rate</a:t>
            </a:r>
            <a:br>
              <a:rPr lang="en-US" dirty="0" smtClean="0"/>
            </a:br>
            <a:r>
              <a:rPr lang="en-US" dirty="0" smtClean="0"/>
              <a:t>- Phases of crisis  result in unemployment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SOCIAL DARWINISM </a:t>
            </a:r>
            <a:br>
              <a:rPr lang="en-US" dirty="0" smtClean="0"/>
            </a:br>
            <a:r>
              <a:rPr lang="en-US" dirty="0" smtClean="0"/>
              <a:t>- unemployed  - not actually fit to survive </a:t>
            </a:r>
            <a:br>
              <a:rPr lang="en-US" dirty="0" smtClean="0"/>
            </a:br>
            <a:r>
              <a:rPr lang="en-US" dirty="0" smtClean="0"/>
              <a:t>- arena of competition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55339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Law and Order</a:t>
            </a:r>
          </a:p>
          <a:p>
            <a:r>
              <a:rPr lang="en-US" dirty="0" smtClean="0"/>
              <a:t>Political Victimization (industrial elites shifting their business)</a:t>
            </a:r>
          </a:p>
          <a:p>
            <a:r>
              <a:rPr lang="en-US" dirty="0" smtClean="0"/>
              <a:t>Population growth</a:t>
            </a:r>
          </a:p>
          <a:p>
            <a:r>
              <a:rPr lang="en-US" dirty="0" smtClean="0"/>
              <a:t>Education ( supply of graduates)</a:t>
            </a:r>
          </a:p>
          <a:p>
            <a:r>
              <a:rPr lang="en-US" dirty="0" smtClean="0"/>
              <a:t>Inflation  (price – demand decreases)</a:t>
            </a:r>
          </a:p>
          <a:p>
            <a:r>
              <a:rPr lang="en-US" dirty="0" smtClean="0"/>
              <a:t>Energy Crisis</a:t>
            </a:r>
          </a:p>
          <a:p>
            <a:r>
              <a:rPr lang="en-US" dirty="0" smtClean="0"/>
              <a:t>Age of Retirement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8167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Providing Benefits to small enterprises</a:t>
            </a:r>
          </a:p>
          <a:p>
            <a:r>
              <a:rPr lang="en-US" dirty="0" smtClean="0"/>
              <a:t>Ending Trust deficit with industrial sector</a:t>
            </a:r>
          </a:p>
          <a:p>
            <a:r>
              <a:rPr lang="en-US" dirty="0" smtClean="0"/>
              <a:t>Investment in Agricultural sector</a:t>
            </a:r>
          </a:p>
          <a:p>
            <a:r>
              <a:rPr lang="en-US" dirty="0" smtClean="0"/>
              <a:t>Intervention in Educational System ( stop saturating market)</a:t>
            </a:r>
          </a:p>
          <a:p>
            <a:r>
              <a:rPr lang="en-US" dirty="0" smtClean="0"/>
              <a:t>Decrease Population growth 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199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PROSTITUTION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4634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Offering and selling of sexual services to someone in exchange of money</a:t>
            </a:r>
          </a:p>
          <a:p>
            <a:r>
              <a:rPr lang="en-US" dirty="0" smtClean="0"/>
              <a:t>Symbol of moral collapse </a:t>
            </a:r>
          </a:p>
          <a:p>
            <a:r>
              <a:rPr lang="en-US" dirty="0" smtClean="0"/>
              <a:t>Known as world’s oldest occupation  - strengthened during middle ages in Europe – legalized and taxes were imposed on brothels </a:t>
            </a:r>
          </a:p>
          <a:p>
            <a:r>
              <a:rPr lang="en-US" dirty="0" smtClean="0"/>
              <a:t>Red Light – emerged from USA after Civil war – reconstruction period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510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THEORETICAL UNDERSTANDING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STRUCTURAL FUNCTIONALISM </a:t>
            </a:r>
            <a:br>
              <a:rPr lang="en-US" dirty="0" smtClean="0"/>
            </a:br>
            <a:r>
              <a:rPr lang="en-US" dirty="0" smtClean="0"/>
              <a:t>- consider it as functional</a:t>
            </a:r>
            <a:r>
              <a:rPr lang="en-US" dirty="0"/>
              <a:t> </a:t>
            </a:r>
            <a:r>
              <a:rPr lang="en-US" dirty="0" smtClean="0"/>
              <a:t>– performs many latent functions</a:t>
            </a:r>
            <a:br>
              <a:rPr lang="en-US" dirty="0" smtClean="0"/>
            </a:br>
            <a:r>
              <a:rPr lang="en-US" dirty="0" smtClean="0"/>
              <a:t>- income, substitute for unsatisfied, option for unmarried </a:t>
            </a:r>
            <a:br>
              <a:rPr lang="en-US" dirty="0" smtClean="0"/>
            </a:br>
            <a:r>
              <a:rPr lang="en-US" dirty="0" smtClean="0"/>
              <a:t>- keeps divorce rate lower</a:t>
            </a:r>
          </a:p>
          <a:p>
            <a:r>
              <a:rPr lang="en-US" dirty="0" smtClean="0"/>
              <a:t>SOCIAL CONFLICT</a:t>
            </a:r>
            <a:br>
              <a:rPr lang="en-US" dirty="0" smtClean="0"/>
            </a:br>
            <a:r>
              <a:rPr lang="en-US" dirty="0" smtClean="0"/>
              <a:t>- Result of social inequality </a:t>
            </a:r>
            <a:br>
              <a:rPr lang="en-US" dirty="0" smtClean="0"/>
            </a:br>
            <a:r>
              <a:rPr lang="en-US" dirty="0" smtClean="0"/>
              <a:t>-mostly involves poor women</a:t>
            </a:r>
            <a:br>
              <a:rPr lang="en-US" dirty="0" smtClean="0"/>
            </a:br>
            <a:r>
              <a:rPr lang="en-US" dirty="0" smtClean="0"/>
              <a:t>- Feminism consider patriarchy responsible – sees as sex object</a:t>
            </a:r>
          </a:p>
          <a:p>
            <a:r>
              <a:rPr lang="en-US" dirty="0" smtClean="0"/>
              <a:t>SYMBOLIC INTERACTIONISM </a:t>
            </a:r>
            <a:br>
              <a:rPr lang="en-US" dirty="0" smtClean="0"/>
            </a:br>
            <a:r>
              <a:rPr lang="en-US" dirty="0" smtClean="0"/>
              <a:t>- focuses on meaning that society attached </a:t>
            </a:r>
            <a:br>
              <a:rPr lang="en-US" dirty="0" smtClean="0"/>
            </a:br>
            <a:r>
              <a:rPr lang="en-US" dirty="0" smtClean="0"/>
              <a:t>- society attaches stigma – recluses them from mainstream</a:t>
            </a:r>
          </a:p>
        </p:txBody>
      </p:sp>
    </p:spTree>
    <p:extLst>
      <p:ext uri="{BB962C8B-B14F-4D97-AF65-F5344CB8AC3E}">
        <p14:creationId xmlns:p14="http://schemas.microsoft.com/office/powerpoint/2010/main" xmlns="" val="389060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Monetary Issues</a:t>
            </a:r>
          </a:p>
          <a:p>
            <a:r>
              <a:rPr lang="en-US" dirty="0" smtClean="0"/>
              <a:t>Drug Addiction </a:t>
            </a:r>
          </a:p>
          <a:p>
            <a:r>
              <a:rPr lang="en-US" dirty="0" smtClean="0"/>
              <a:t>Forced Rape ( not accepted for marriage)</a:t>
            </a:r>
          </a:p>
          <a:p>
            <a:r>
              <a:rPr lang="en-US" dirty="0" smtClean="0"/>
              <a:t>Deceit by a Lover </a:t>
            </a:r>
          </a:p>
          <a:p>
            <a:r>
              <a:rPr lang="en-US" dirty="0" smtClean="0"/>
              <a:t>Kidnapping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4475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POVERTY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391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Biggest hindrance in development of societies </a:t>
            </a:r>
          </a:p>
          <a:p>
            <a:r>
              <a:rPr lang="en-US" dirty="0" smtClean="0"/>
              <a:t>Bring challenges like deprivation, crime, suicide, drug abuse, and illiteracy </a:t>
            </a:r>
          </a:p>
          <a:p>
            <a:r>
              <a:rPr lang="en-US" dirty="0" smtClean="0"/>
              <a:t>Social Phenomenon – certain groups/sections of society are incapable to acquire even basis necessities of life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0107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DARWINISM </a:t>
            </a:r>
          </a:p>
          <a:p>
            <a:endParaRPr lang="en-US" dirty="0" smtClean="0"/>
          </a:p>
          <a:p>
            <a:r>
              <a:rPr lang="en-US" dirty="0" smtClean="0"/>
              <a:t>OSCAR LEWI’S “CULTURE OF POVERTY”</a:t>
            </a:r>
          </a:p>
          <a:p>
            <a:endParaRPr lang="en-US" dirty="0" smtClean="0"/>
          </a:p>
          <a:p>
            <a:r>
              <a:rPr lang="en-US" dirty="0" smtClean="0"/>
              <a:t>DAVIS AND MOORE THESIS </a:t>
            </a:r>
            <a:br>
              <a:rPr lang="en-US" dirty="0" smtClean="0"/>
            </a:br>
            <a:r>
              <a:rPr lang="en-US" dirty="0" smtClean="0"/>
              <a:t>- Income differential between the rich and the poor is simply the ability of rich people to efficiently secure the resources through hard work and skill utilization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639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Poor Governance  (low confidence of investors)</a:t>
            </a:r>
          </a:p>
          <a:p>
            <a:r>
              <a:rPr lang="en-US" dirty="0" smtClean="0"/>
              <a:t>Political Instability (changing policies) high spending on defense</a:t>
            </a:r>
          </a:p>
          <a:p>
            <a:r>
              <a:rPr lang="en-US" dirty="0" smtClean="0"/>
              <a:t>Illiteracy (less educated – low jobs)</a:t>
            </a:r>
          </a:p>
          <a:p>
            <a:r>
              <a:rPr lang="en-US" dirty="0" smtClean="0"/>
              <a:t>Lack of Transparency </a:t>
            </a:r>
          </a:p>
          <a:p>
            <a:r>
              <a:rPr lang="en-US" dirty="0" smtClean="0"/>
              <a:t>Corruption</a:t>
            </a:r>
          </a:p>
          <a:p>
            <a:r>
              <a:rPr lang="en-US" dirty="0" smtClean="0"/>
              <a:t>Increasing Imports </a:t>
            </a:r>
          </a:p>
          <a:p>
            <a:r>
              <a:rPr lang="en-US" dirty="0" smtClean="0"/>
              <a:t>Population </a:t>
            </a:r>
            <a:br>
              <a:rPr lang="en-US" dirty="0" smtClean="0"/>
            </a:br>
            <a:r>
              <a:rPr lang="en-US" dirty="0" smtClean="0"/>
              <a:t>Growth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7474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CHILD ABUSE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923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physical, emotional, and sexual abrasive act in addition to neglectful attitude by parents, guardians or any other person</a:t>
            </a:r>
          </a:p>
          <a:p>
            <a:endParaRPr lang="en-US" dirty="0" smtClean="0"/>
          </a:p>
          <a:p>
            <a:r>
              <a:rPr lang="en-US" dirty="0" smtClean="0"/>
              <a:t>Physical Abuse</a:t>
            </a:r>
          </a:p>
          <a:p>
            <a:r>
              <a:rPr lang="en-US" dirty="0" smtClean="0"/>
              <a:t>Verbal Abuse</a:t>
            </a:r>
          </a:p>
          <a:p>
            <a:r>
              <a:rPr lang="en-US" dirty="0" smtClean="0"/>
              <a:t>Emotional Abuse (strict supervision / locking child)</a:t>
            </a:r>
          </a:p>
          <a:p>
            <a:r>
              <a:rPr lang="en-US" dirty="0" smtClean="0"/>
              <a:t>Neglect</a:t>
            </a:r>
          </a:p>
          <a:p>
            <a:r>
              <a:rPr lang="en-US" dirty="0" smtClean="0"/>
              <a:t>Discrimination (Inferiority complex)</a:t>
            </a:r>
          </a:p>
          <a:p>
            <a:r>
              <a:rPr lang="en-US" dirty="0" smtClean="0"/>
              <a:t>Sexual Abuse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SOCIAL LEARNING THEORY</a:t>
            </a:r>
            <a:br>
              <a:rPr lang="en-US" dirty="0" smtClean="0"/>
            </a:br>
            <a:r>
              <a:rPr lang="en-US" dirty="0" smtClean="0"/>
              <a:t>- children who face abuse or observe it are more likely to abuse others in future</a:t>
            </a:r>
            <a:br>
              <a:rPr lang="en-US" dirty="0" smtClean="0"/>
            </a:br>
            <a:r>
              <a:rPr lang="en-US" dirty="0" smtClean="0"/>
              <a:t>- called Learned Aggression or Cycle of Violence </a:t>
            </a:r>
          </a:p>
          <a:p>
            <a:endParaRPr lang="en-US" dirty="0" smtClean="0"/>
          </a:p>
          <a:p>
            <a:r>
              <a:rPr lang="en-US" dirty="0" smtClean="0"/>
              <a:t>ATTACHMENT THEORY</a:t>
            </a:r>
            <a:br>
              <a:rPr lang="en-US" dirty="0" smtClean="0"/>
            </a:br>
            <a:r>
              <a:rPr lang="en-US" dirty="0" smtClean="0"/>
              <a:t>- weak and insecure attachment between parents and children </a:t>
            </a:r>
            <a:br>
              <a:rPr lang="en-US" dirty="0" smtClean="0"/>
            </a:br>
            <a:r>
              <a:rPr lang="en-US" dirty="0" smtClean="0"/>
              <a:t>- feelings of incompetence, unworthiness, threat, rejection, fear</a:t>
            </a:r>
          </a:p>
          <a:p>
            <a:endParaRPr lang="en-US" dirty="0" smtClean="0"/>
          </a:p>
          <a:p>
            <a:r>
              <a:rPr lang="en-US" dirty="0" smtClean="0"/>
              <a:t>INVESTMENT THEORY</a:t>
            </a:r>
            <a:br>
              <a:rPr lang="en-US" dirty="0" smtClean="0"/>
            </a:br>
            <a:r>
              <a:rPr lang="en-US" dirty="0" smtClean="0"/>
              <a:t>- Parents –less likely to invest time and resources </a:t>
            </a:r>
            <a:br>
              <a:rPr lang="en-US" dirty="0" smtClean="0"/>
            </a:br>
            <a:r>
              <a:rPr lang="en-US" dirty="0" smtClean="0"/>
              <a:t>-belief cost outweighs benefits</a:t>
            </a:r>
            <a:br>
              <a:rPr lang="en-US" dirty="0" smtClean="0"/>
            </a:br>
            <a:r>
              <a:rPr lang="en-US" dirty="0" smtClean="0"/>
              <a:t>-most common for mentally/physical challenged children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KASUR SCANDAL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2006-2015</a:t>
            </a:r>
          </a:p>
          <a:p>
            <a:r>
              <a:rPr lang="en-US" dirty="0" err="1" smtClean="0"/>
              <a:t>Hussain</a:t>
            </a:r>
            <a:r>
              <a:rPr lang="en-US" dirty="0" smtClean="0"/>
              <a:t> </a:t>
            </a:r>
            <a:r>
              <a:rPr lang="en-US" dirty="0" err="1" smtClean="0"/>
              <a:t>Khanwala</a:t>
            </a:r>
            <a:r>
              <a:rPr lang="en-US" dirty="0" smtClean="0"/>
              <a:t> Village of District </a:t>
            </a:r>
            <a:r>
              <a:rPr lang="en-US" dirty="0" err="1" smtClean="0"/>
              <a:t>Kasur</a:t>
            </a:r>
            <a:endParaRPr lang="en-US" dirty="0" smtClean="0"/>
          </a:p>
          <a:p>
            <a:r>
              <a:rPr lang="en-US" dirty="0" smtClean="0"/>
              <a:t>300 + male and female –forced </a:t>
            </a:r>
          </a:p>
          <a:p>
            <a:r>
              <a:rPr lang="en-US" dirty="0" smtClean="0"/>
              <a:t>Clips sold – child pornographic websites</a:t>
            </a:r>
          </a:p>
          <a:p>
            <a:r>
              <a:rPr lang="en-US" dirty="0" smtClean="0"/>
              <a:t>Media reported –police, bureaucratic and political figures behind</a:t>
            </a:r>
          </a:p>
          <a:p>
            <a:r>
              <a:rPr lang="en-US" dirty="0" smtClean="0"/>
              <a:t>Formation of Joint Investigation Team – no significant outcome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WOMEN ISSUES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923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About half of the </a:t>
            </a:r>
            <a:r>
              <a:rPr lang="en-US" dirty="0" smtClean="0"/>
              <a:t>population</a:t>
            </a:r>
          </a:p>
          <a:p>
            <a:endParaRPr lang="en-US" dirty="0" smtClean="0"/>
          </a:p>
          <a:p>
            <a:r>
              <a:rPr lang="en-US" dirty="0" smtClean="0"/>
              <a:t>GGGI by WEF– 153/156 (</a:t>
            </a:r>
            <a:r>
              <a:rPr lang="en-US" dirty="0" err="1" smtClean="0"/>
              <a:t>iraq</a:t>
            </a:r>
            <a:r>
              <a:rPr lang="en-US" dirty="0" smtClean="0"/>
              <a:t>, </a:t>
            </a:r>
            <a:r>
              <a:rPr lang="en-US" dirty="0" err="1" smtClean="0"/>
              <a:t>afg</a:t>
            </a:r>
            <a:r>
              <a:rPr lang="en-US" dirty="0" smtClean="0"/>
              <a:t>, </a:t>
            </a:r>
            <a:r>
              <a:rPr lang="en-US" dirty="0" err="1" smtClean="0"/>
              <a:t>yemen</a:t>
            </a:r>
            <a:r>
              <a:rPr lang="en-US" dirty="0" smtClean="0"/>
              <a:t>)</a:t>
            </a:r>
          </a:p>
          <a:p>
            <a:r>
              <a:rPr lang="en-US" dirty="0" smtClean="0"/>
              <a:t>152 – economic part</a:t>
            </a:r>
          </a:p>
          <a:p>
            <a:r>
              <a:rPr lang="en-US" dirty="0" smtClean="0"/>
              <a:t>144 – education attainment</a:t>
            </a:r>
          </a:p>
          <a:p>
            <a:r>
              <a:rPr lang="en-US" dirty="0" smtClean="0"/>
              <a:t>153 – H &amp;S</a:t>
            </a:r>
          </a:p>
          <a:p>
            <a:r>
              <a:rPr lang="en-US" dirty="0" smtClean="0"/>
              <a:t> 98 – political empowerment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43434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STRUCTURAL FUNCTIONALISM </a:t>
            </a:r>
            <a:br>
              <a:rPr lang="en-US" dirty="0" smtClean="0"/>
            </a:br>
            <a:r>
              <a:rPr lang="en-US" dirty="0" smtClean="0"/>
              <a:t>- TALCOTT PARSONS – Gender inequality –functional </a:t>
            </a:r>
            <a:br>
              <a:rPr lang="en-US" dirty="0" smtClean="0"/>
            </a:br>
            <a:r>
              <a:rPr lang="en-US" dirty="0" smtClean="0"/>
              <a:t>- society divides role that were complementary</a:t>
            </a:r>
          </a:p>
          <a:p>
            <a:endParaRPr lang="en-US" dirty="0"/>
          </a:p>
          <a:p>
            <a:r>
              <a:rPr lang="en-US" dirty="0" smtClean="0"/>
              <a:t>SOCIAL CONFLICT </a:t>
            </a:r>
            <a:br>
              <a:rPr lang="en-US" dirty="0" smtClean="0"/>
            </a:br>
            <a:r>
              <a:rPr lang="en-US" dirty="0" smtClean="0"/>
              <a:t>-Wealth and valuable resources are held by men which further leads to subservient position of women </a:t>
            </a:r>
          </a:p>
          <a:p>
            <a:endParaRPr lang="en-US" dirty="0"/>
          </a:p>
          <a:p>
            <a:r>
              <a:rPr lang="en-US" dirty="0" smtClean="0"/>
              <a:t>FEMINISM</a:t>
            </a:r>
            <a:br>
              <a:rPr lang="en-US" dirty="0" smtClean="0"/>
            </a:br>
            <a:r>
              <a:rPr lang="en-US" dirty="0" smtClean="0"/>
              <a:t>- SOT emphasizes equal rights and opportunities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9561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TRADITIONS AFFECTING WOMEN IN PAKISTAN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Economic dependence </a:t>
            </a:r>
          </a:p>
          <a:p>
            <a:r>
              <a:rPr lang="en-US" dirty="0" smtClean="0"/>
              <a:t>Stereotypes</a:t>
            </a:r>
          </a:p>
          <a:p>
            <a:r>
              <a:rPr lang="en-US" dirty="0" err="1" smtClean="0"/>
              <a:t>Honour</a:t>
            </a:r>
            <a:r>
              <a:rPr lang="en-US" dirty="0" smtClean="0"/>
              <a:t> Killing </a:t>
            </a:r>
          </a:p>
          <a:p>
            <a:r>
              <a:rPr lang="en-US" dirty="0" smtClean="0"/>
              <a:t>Marriage to Quran</a:t>
            </a:r>
          </a:p>
          <a:p>
            <a:r>
              <a:rPr lang="en-US" dirty="0" smtClean="0"/>
              <a:t>Illiteracy </a:t>
            </a:r>
          </a:p>
          <a:p>
            <a:r>
              <a:rPr lang="en-US" dirty="0" err="1" smtClean="0"/>
              <a:t>Walwar</a:t>
            </a:r>
            <a:r>
              <a:rPr lang="en-US" dirty="0" smtClean="0"/>
              <a:t> </a:t>
            </a:r>
          </a:p>
          <a:p>
            <a:r>
              <a:rPr lang="en-US" dirty="0" smtClean="0"/>
              <a:t>Child Marriage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1606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VIOLENCE AGAINST WOMEN IN PAKISTAN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Dowry </a:t>
            </a:r>
          </a:p>
          <a:p>
            <a:r>
              <a:rPr lang="en-US" dirty="0" smtClean="0"/>
              <a:t>Acid Throwing</a:t>
            </a:r>
          </a:p>
          <a:p>
            <a:r>
              <a:rPr lang="en-US" dirty="0" smtClean="0"/>
              <a:t>Domestic Violence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2972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ILLITERACY AND SCHOOL DROPOUT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923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Education – fundamental human right and for socio-economic progress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Corporal Punishment </a:t>
            </a:r>
          </a:p>
          <a:p>
            <a:r>
              <a:rPr lang="en-US" dirty="0" smtClean="0"/>
              <a:t>Cultural Factors</a:t>
            </a:r>
          </a:p>
          <a:p>
            <a:r>
              <a:rPr lang="en-US" dirty="0" smtClean="0"/>
              <a:t>Parental Illiteracy</a:t>
            </a:r>
          </a:p>
          <a:p>
            <a:r>
              <a:rPr lang="en-US" dirty="0" smtClean="0"/>
              <a:t>Poverty</a:t>
            </a:r>
          </a:p>
          <a:p>
            <a:r>
              <a:rPr lang="en-US" dirty="0" smtClean="0"/>
              <a:t>Accessibility </a:t>
            </a:r>
          </a:p>
          <a:p>
            <a:r>
              <a:rPr lang="en-US" dirty="0" smtClean="0"/>
              <a:t>Unemployment </a:t>
            </a:r>
          </a:p>
          <a:p>
            <a:r>
              <a:rPr lang="en-US" dirty="0" smtClean="0"/>
              <a:t>Promotion to next class</a:t>
            </a:r>
          </a:p>
          <a:p>
            <a:r>
              <a:rPr lang="en-US" dirty="0" smtClean="0"/>
              <a:t>Early age marriages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REMEDIES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Increasing Scholarships</a:t>
            </a:r>
          </a:p>
          <a:p>
            <a:r>
              <a:rPr lang="en-US" dirty="0" smtClean="0"/>
              <a:t>Raising Awareness</a:t>
            </a:r>
          </a:p>
          <a:p>
            <a:r>
              <a:rPr lang="en-US" dirty="0" smtClean="0"/>
              <a:t>Strengthening Co-curriculum activities</a:t>
            </a:r>
          </a:p>
          <a:p>
            <a:r>
              <a:rPr lang="en-US" dirty="0" smtClean="0"/>
              <a:t>Ending corporal punishment </a:t>
            </a:r>
          </a:p>
          <a:p>
            <a:r>
              <a:rPr lang="en-US" dirty="0" smtClean="0"/>
              <a:t>Teacher Absenteeism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MADE BY: ZOHAIB SHOUKAT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90106</TotalTime>
  <Words>7590</Words>
  <Application>Microsoft Office PowerPoint</Application>
  <PresentationFormat>Custom</PresentationFormat>
  <Paragraphs>1629</Paragraphs>
  <Slides>241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2" baseType="lpstr">
      <vt:lpstr>Flow</vt:lpstr>
      <vt:lpstr>SOCIOLOGY</vt:lpstr>
      <vt:lpstr>Sociology</vt:lpstr>
      <vt:lpstr>Slide 3</vt:lpstr>
      <vt:lpstr>Slide 4</vt:lpstr>
      <vt:lpstr>Importance of Sociology</vt:lpstr>
      <vt:lpstr>SOCIOLOGICAL  PERSPECTIVES</vt:lpstr>
      <vt:lpstr>SOCIOLOGICAL PERSPECTIVES</vt:lpstr>
      <vt:lpstr>PETER BERGER defines 3 goals of perspectives</vt:lpstr>
      <vt:lpstr>Social location , Marginalization, Power &amp; Inequality</vt:lpstr>
      <vt:lpstr>TYPES OF SOCIOLOGICAL PERSPECTIVES</vt:lpstr>
      <vt:lpstr>SOCIOLOGICAL PERSPECTIVES</vt:lpstr>
      <vt:lpstr>1) STRUCTURAL FUNCTIONALISM</vt:lpstr>
      <vt:lpstr>2) SOCIAL CONFLICT</vt:lpstr>
      <vt:lpstr>3) SYMBOLIC INTERACTIONISM</vt:lpstr>
      <vt:lpstr>INDIVIDUAL</vt:lpstr>
      <vt:lpstr>SOCIABILITY OR SOCIALITY OF MAN</vt:lpstr>
      <vt:lpstr>THEORY OF SOCIABILITY BY GEORGE SIMMEL</vt:lpstr>
      <vt:lpstr>THEORY OF SELF DEVELOPMENT </vt:lpstr>
      <vt:lpstr>Slide 19</vt:lpstr>
      <vt:lpstr>Mead – Development of Self</vt:lpstr>
      <vt:lpstr>INTERACTION IS NECESSARY FOR HUMANS</vt:lpstr>
      <vt:lpstr>Slide 22</vt:lpstr>
      <vt:lpstr>CULTURE</vt:lpstr>
      <vt:lpstr>CULTURE</vt:lpstr>
      <vt:lpstr>CHARACTERISTICS OF CULTURE</vt:lpstr>
      <vt:lpstr>FUNCTIONS OF CULTURE</vt:lpstr>
      <vt:lpstr>TYPES OF CULTURE</vt:lpstr>
      <vt:lpstr>ELEMENTS OF CULTURE </vt:lpstr>
      <vt:lpstr>TYPES OF NORMS</vt:lpstr>
      <vt:lpstr>2) VALUES</vt:lpstr>
      <vt:lpstr>3)BELIEFS</vt:lpstr>
      <vt:lpstr>4) Sanctions</vt:lpstr>
      <vt:lpstr>5) CUSTOMS</vt:lpstr>
      <vt:lpstr>SOCIALIZATION</vt:lpstr>
      <vt:lpstr>TYPES OF SOCIALIZATION</vt:lpstr>
      <vt:lpstr>AGENTS OF SOCIALIZATION</vt:lpstr>
      <vt:lpstr>IMPORTANT CULTURAL CONCEPTS</vt:lpstr>
      <vt:lpstr>ETHNOCENTRISM</vt:lpstr>
      <vt:lpstr>XENOCENTRISM</vt:lpstr>
      <vt:lpstr>CULTURAL RELATIVISM</vt:lpstr>
      <vt:lpstr>MULTICULTURALISM </vt:lpstr>
      <vt:lpstr>CULTURAL LAG</vt:lpstr>
      <vt:lpstr>HIGH AND POPULAR CULTURE</vt:lpstr>
      <vt:lpstr>IDEAL AND REAL CULTURE</vt:lpstr>
      <vt:lpstr>ACCOMODATION</vt:lpstr>
      <vt:lpstr>ASSIMILATION</vt:lpstr>
      <vt:lpstr>ACCULTURATION</vt:lpstr>
      <vt:lpstr>Slide 48</vt:lpstr>
      <vt:lpstr>SOCIETY</vt:lpstr>
      <vt:lpstr>SOCIETY</vt:lpstr>
      <vt:lpstr>CHARACTERISTICS OF SOCIETY</vt:lpstr>
      <vt:lpstr>Theories on relationship between Men and Society</vt:lpstr>
      <vt:lpstr>Slide 53</vt:lpstr>
      <vt:lpstr>Slide 54</vt:lpstr>
      <vt:lpstr>Slide 55</vt:lpstr>
      <vt:lpstr>SOCIO-CULTURAL EVOLUTION</vt:lpstr>
      <vt:lpstr>LENSKI – TYPES OF SOCIETIES</vt:lpstr>
      <vt:lpstr>Slide 58</vt:lpstr>
      <vt:lpstr>Slide 59</vt:lpstr>
      <vt:lpstr>Slide 60</vt:lpstr>
      <vt:lpstr>Slide 61</vt:lpstr>
      <vt:lpstr>COMMUNITY</vt:lpstr>
      <vt:lpstr>COMMUNITY</vt:lpstr>
      <vt:lpstr>CHARACTERISTICS OF COMMUNITY</vt:lpstr>
      <vt:lpstr>TYPES OF COMMUNITY</vt:lpstr>
      <vt:lpstr>1) RURAL COMMUNITY</vt:lpstr>
      <vt:lpstr>CHARACTERISTICS OF RURAL</vt:lpstr>
      <vt:lpstr>2) URBAN COMMUNITY</vt:lpstr>
      <vt:lpstr>CHARACTERISTICS OF URBAN</vt:lpstr>
      <vt:lpstr>RURAL – URBAN CONVERGENCE </vt:lpstr>
      <vt:lpstr>URBANISM </vt:lpstr>
      <vt:lpstr>FUTURE OF CITIES OF PAK</vt:lpstr>
      <vt:lpstr>SOCIAL  INTERACTION</vt:lpstr>
      <vt:lpstr>SOCIAL INTERACTION</vt:lpstr>
      <vt:lpstr>STATUS</vt:lpstr>
      <vt:lpstr>SOCIAL STRATIFICATION</vt:lpstr>
      <vt:lpstr>CASTE AND CLASS SYSTEM</vt:lpstr>
      <vt:lpstr>1) CASTE SYSTEM</vt:lpstr>
      <vt:lpstr>Slide 79</vt:lpstr>
      <vt:lpstr>2) CLASS SYSTEM</vt:lpstr>
      <vt:lpstr>FEUDAL SYSTEM IN PAKISTAN</vt:lpstr>
      <vt:lpstr>Reason behind strong feudalism</vt:lpstr>
      <vt:lpstr>Effects of Feudalism</vt:lpstr>
      <vt:lpstr>SOCIAL MOBILITY</vt:lpstr>
      <vt:lpstr>TYPES OF SOCIAL MOBILITY</vt:lpstr>
      <vt:lpstr>DETERMINANTS OF SOCIAL MOBILITY</vt:lpstr>
      <vt:lpstr>SOCIAL  CONTROL</vt:lpstr>
      <vt:lpstr>SOCIAL CONTROL</vt:lpstr>
      <vt:lpstr>MECHANISM OF SOCIAL CONTROL</vt:lpstr>
      <vt:lpstr>FORMAL AND INFORMAL MEANS OF SOCIAL CONTROL</vt:lpstr>
      <vt:lpstr>AGENTS OF SOCIAL CONTROL</vt:lpstr>
      <vt:lpstr>ANOMIE </vt:lpstr>
      <vt:lpstr>ALIENATION</vt:lpstr>
      <vt:lpstr>SOCIAL INTEGRATION</vt:lpstr>
      <vt:lpstr>MEANS OF SOCIAL INTEGRATION IN PAKISTAN</vt:lpstr>
      <vt:lpstr>SOCIAL AND CULTURAL CHANGE  AND  SOCIAL POLICY</vt:lpstr>
      <vt:lpstr>SOCIAL CHANGE</vt:lpstr>
      <vt:lpstr>PROCESS OF SOCIO-CULTURAL CHANGES</vt:lpstr>
      <vt:lpstr>INHIBITIONS TO SOCIO-CULTURAL CHANGE IN PAKISTAN</vt:lpstr>
      <vt:lpstr>PUBLIC OPINION</vt:lpstr>
      <vt:lpstr>PUBLIC OPINION</vt:lpstr>
      <vt:lpstr>FORMATION OF PUBLIC OPINION</vt:lpstr>
      <vt:lpstr>OPINION LEADER</vt:lpstr>
      <vt:lpstr> CHARACTERISTICS OF OPINION LEADER </vt:lpstr>
      <vt:lpstr>SOCIAL INSTITUTIONS</vt:lpstr>
      <vt:lpstr>SOCIAL INSTITUTIONS</vt:lpstr>
      <vt:lpstr>PROCESS OF INSTITUTIONALIZATION</vt:lpstr>
      <vt:lpstr>FAMILY</vt:lpstr>
      <vt:lpstr>RELIGION</vt:lpstr>
      <vt:lpstr>FUNCTIONS OF RELIGION</vt:lpstr>
      <vt:lpstr>EDUCATION</vt:lpstr>
      <vt:lpstr>POLITICS</vt:lpstr>
      <vt:lpstr>ECONOMY</vt:lpstr>
      <vt:lpstr>METHODS IN SOCIOLOGICAL RESEARCH</vt:lpstr>
      <vt:lpstr>Slide 115</vt:lpstr>
      <vt:lpstr>CHARACTERISTICS OF SOCIOLOGICAL INVESTIGATION</vt:lpstr>
      <vt:lpstr>TYPES OF SOCIOLOGICAL INVESTIGATION</vt:lpstr>
      <vt:lpstr>TIME IN SOCIOLOGICAL INVESTIGATION</vt:lpstr>
      <vt:lpstr>REASONING IN RESEARCH</vt:lpstr>
      <vt:lpstr>QUANTITATIVE VS QUALITATIVE RESEARCH DESIGN</vt:lpstr>
      <vt:lpstr>STEPS IN SOCIOLOGICAL RESEARCH</vt:lpstr>
      <vt:lpstr>Slide 122</vt:lpstr>
      <vt:lpstr>RESEARCH METHODS</vt:lpstr>
      <vt:lpstr>1) EXPERIMENTS</vt:lpstr>
      <vt:lpstr>2) SURVEYS</vt:lpstr>
      <vt:lpstr>3) OBSERVATION</vt:lpstr>
      <vt:lpstr>4) CASE STUDY</vt:lpstr>
      <vt:lpstr>IBN –E- KHULDUN</vt:lpstr>
      <vt:lpstr>IBN-E-KHULDUN</vt:lpstr>
      <vt:lpstr>AS FOUNDER</vt:lpstr>
      <vt:lpstr>DISTINCTION BETWEEN RURAL AND URBAN COMMUNITIES</vt:lpstr>
      <vt:lpstr>1)AL UMRAN AL BADAWI (rural social org)</vt:lpstr>
      <vt:lpstr>2) Al-Umran Al-Hadri</vt:lpstr>
      <vt:lpstr>THEORY OF TRANSITION</vt:lpstr>
      <vt:lpstr>CYCLIC THEORY OF SOCIO-POLITICAL CHANGE</vt:lpstr>
      <vt:lpstr>THE CONCEPT OF ASABIYAH</vt:lpstr>
      <vt:lpstr>THEORY OF CONSUMPTION</vt:lpstr>
      <vt:lpstr>THEORY OF SURPLUS VALUE</vt:lpstr>
      <vt:lpstr>AUGUST COMTE</vt:lpstr>
      <vt:lpstr>AUGUST COMTE</vt:lpstr>
      <vt:lpstr>AS FATHER OF SOCIOLOGY</vt:lpstr>
      <vt:lpstr>FOLLOWING CHARACTERISTICS</vt:lpstr>
      <vt:lpstr>POSITIVISM</vt:lpstr>
      <vt:lpstr>EVOLUTIONARY VIEW OF SOCIETY (Law of Human Progress)</vt:lpstr>
      <vt:lpstr>1) Theological Stage (Fictitious stage)</vt:lpstr>
      <vt:lpstr>2) Metaphysical Stage </vt:lpstr>
      <vt:lpstr>3) Positive Stage (Scientific)</vt:lpstr>
      <vt:lpstr>SCIENTIFIC METHODS TO STUDY SOCIETY </vt:lpstr>
      <vt:lpstr>ORGANIZATION OF SOCIETY (Organism)</vt:lpstr>
      <vt:lpstr>ON RELIGION</vt:lpstr>
      <vt:lpstr>EMILE DURKHEIM</vt:lpstr>
      <vt:lpstr>Slide 152</vt:lpstr>
      <vt:lpstr>SOCIAL FACTS</vt:lpstr>
      <vt:lpstr>HOMO DUPLEX MODEL OF HUMAN NATURE</vt:lpstr>
      <vt:lpstr>SOLIDARITY AND DIVISION OF LABOR IN SOCIETY</vt:lpstr>
      <vt:lpstr>ORGANISM</vt:lpstr>
      <vt:lpstr>ANOMIE</vt:lpstr>
      <vt:lpstr>THEORY OF SUICIDE</vt:lpstr>
      <vt:lpstr>Social Connections</vt:lpstr>
      <vt:lpstr>Types of Suicide</vt:lpstr>
      <vt:lpstr>DEVIANCE AND CRIME </vt:lpstr>
      <vt:lpstr>THEORY OF RELIGION</vt:lpstr>
      <vt:lpstr>KARL MARX</vt:lpstr>
      <vt:lpstr>INTRODUCTION</vt:lpstr>
      <vt:lpstr>DIAELECTICAL MATERIALISM</vt:lpstr>
      <vt:lpstr>MATERIALISTIC INTERPRETATION OF HISTORY</vt:lpstr>
      <vt:lpstr>THE HISTORICAL PROGRESSION</vt:lpstr>
      <vt:lpstr>ALIENATION</vt:lpstr>
      <vt:lpstr>THEORY OF SOCIAL CLASS</vt:lpstr>
      <vt:lpstr>THEORY OF LABOUR AND SURPLUS VALUE</vt:lpstr>
      <vt:lpstr>VIEWS ON RELIGION</vt:lpstr>
      <vt:lpstr>Slide 172</vt:lpstr>
      <vt:lpstr>HERBERT SPENCER</vt:lpstr>
      <vt:lpstr>INTRODUCTION</vt:lpstr>
      <vt:lpstr>ORGANICISM</vt:lpstr>
      <vt:lpstr>EVOLUTION AND SOCIAL DRAWINISM </vt:lpstr>
      <vt:lpstr>Slide 177</vt:lpstr>
      <vt:lpstr>MILITANT VS INDUSTRIAL SOCIETIES</vt:lpstr>
      <vt:lpstr>MILITANT VS INDUSTRIAL SOCIETIES</vt:lpstr>
      <vt:lpstr>MAX WEBER </vt:lpstr>
      <vt:lpstr>Slide 181</vt:lpstr>
      <vt:lpstr>ON SOCIOLOGY AND SOCIAL ACTION</vt:lpstr>
      <vt:lpstr>Concept of VERSTEHEN</vt:lpstr>
      <vt:lpstr>Types of social action</vt:lpstr>
      <vt:lpstr>ON RELIGION</vt:lpstr>
      <vt:lpstr> BUREAUCRACY</vt:lpstr>
      <vt:lpstr>Characteristics of Bureaucracy</vt:lpstr>
      <vt:lpstr>Weber’s Criticism on Bureaucracy</vt:lpstr>
      <vt:lpstr>POWER AND AUTHORITY</vt:lpstr>
      <vt:lpstr>RELIGION</vt:lpstr>
      <vt:lpstr>TALCOTT PARSONS </vt:lpstr>
      <vt:lpstr>Slide 192</vt:lpstr>
      <vt:lpstr>SOCIAL ORDER</vt:lpstr>
      <vt:lpstr>FUNCTIONAL PREREQUISITES (AGIL SCHEME)</vt:lpstr>
      <vt:lpstr>PATTERN VARIABLES AND EVOLUTION</vt:lpstr>
      <vt:lpstr>Slide 196</vt:lpstr>
      <vt:lpstr>SOCIAL PROBLEMS IN PAKISTAN</vt:lpstr>
      <vt:lpstr>Introduction</vt:lpstr>
      <vt:lpstr>HIGH POPULATION GROWTH RATE</vt:lpstr>
      <vt:lpstr>Slide 200</vt:lpstr>
      <vt:lpstr>THEORIES</vt:lpstr>
      <vt:lpstr>DETERMINANTS OF POPULATION GROWTH</vt:lpstr>
      <vt:lpstr>CONSEQUENCE OF POPULATION GROWTH</vt:lpstr>
      <vt:lpstr>REMEDIES</vt:lpstr>
      <vt:lpstr>RURAL-URBAN MIGRATION</vt:lpstr>
      <vt:lpstr>INTRODUCTION</vt:lpstr>
      <vt:lpstr>THEORIES</vt:lpstr>
      <vt:lpstr>DETERMINANTS </vt:lpstr>
      <vt:lpstr>DISADVANTAGES</vt:lpstr>
      <vt:lpstr>REMEDIES</vt:lpstr>
      <vt:lpstr>DEVIANCE &amp; STREET CRIME</vt:lpstr>
      <vt:lpstr>INTRODUCTION</vt:lpstr>
      <vt:lpstr>THEORIES</vt:lpstr>
      <vt:lpstr>DETERMINANTS</vt:lpstr>
      <vt:lpstr>REMEDIES</vt:lpstr>
      <vt:lpstr>UNEMPLOYMENT</vt:lpstr>
      <vt:lpstr>INTRODUCTION</vt:lpstr>
      <vt:lpstr>THEORIES</vt:lpstr>
      <vt:lpstr>DETERMINANTS</vt:lpstr>
      <vt:lpstr>REMEDIES</vt:lpstr>
      <vt:lpstr>PROSTITUTION</vt:lpstr>
      <vt:lpstr>INTRODUCTION</vt:lpstr>
      <vt:lpstr>THEORETICAL UNDERSTANDING</vt:lpstr>
      <vt:lpstr>DETERMINANTS</vt:lpstr>
      <vt:lpstr>POVERTY</vt:lpstr>
      <vt:lpstr>INTRODUCTION</vt:lpstr>
      <vt:lpstr>THEORIES</vt:lpstr>
      <vt:lpstr>DETERMINANTS</vt:lpstr>
      <vt:lpstr>CHILD ABUSE</vt:lpstr>
      <vt:lpstr>INTRODUCTION</vt:lpstr>
      <vt:lpstr>THEORIES</vt:lpstr>
      <vt:lpstr>KASUR SCANDAL </vt:lpstr>
      <vt:lpstr>WOMEN ISSUES</vt:lpstr>
      <vt:lpstr>INTRODUCTION </vt:lpstr>
      <vt:lpstr>THEORIES</vt:lpstr>
      <vt:lpstr>TRADITIONS AFFECTING WOMEN IN PAKISTAN</vt:lpstr>
      <vt:lpstr>VIOLENCE AGAINST WOMEN IN PAKISTAN</vt:lpstr>
      <vt:lpstr>ILLITERACY AND SCHOOL DROPOUT</vt:lpstr>
      <vt:lpstr>INTRODUCTION</vt:lpstr>
      <vt:lpstr>DETERMINANTS</vt:lpstr>
      <vt:lpstr>REMEDIES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</dc:title>
  <dc:creator>Administrator</dc:creator>
  <cp:lastModifiedBy>zohaib shoukat</cp:lastModifiedBy>
  <cp:revision>105</cp:revision>
  <dcterms:created xsi:type="dcterms:W3CDTF">2021-11-01T03:13:17Z</dcterms:created>
  <dcterms:modified xsi:type="dcterms:W3CDTF">2022-01-09T09:30:19Z</dcterms:modified>
</cp:coreProperties>
</file>
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theme+xml" PartName="/ppt/theme/theme2.xml"/>
  <Override ContentType="application/vnd.openxmlformats-officedocument.theme+xml" PartName="/ppt/theme/theme1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viewProps+xml" PartName="/ppt/viewProps1.xml"/>
  <Override ContentType="application/vnd.openxmlformats-officedocument.presentationml.slide+xml" PartName="/ppt/slides/slide10.xml"/>
  <Override ContentType="application/vnd.openxmlformats-officedocument.presentationml.slide+xml" PartName="/ppt/slides/slide8.xml"/>
  <Override ContentType="application/vnd.openxmlformats-officedocument.presentationml.slide+xml" PartName="/ppt/slides/slide11.xml"/>
  <Override ContentType="application/vnd.openxmlformats-officedocument.presentationml.slide+xml" PartName="/ppt/slides/slide4.xml"/>
  <Override ContentType="application/vnd.openxmlformats-officedocument.presentationml.slide+xml" PartName="/ppt/slides/slide6.xml"/>
  <Override ContentType="application/vnd.openxmlformats-officedocument.presentationml.slide+xml" PartName="/ppt/slides/slide2.xml"/>
  <Override ContentType="application/vnd.openxmlformats-officedocument.presentationml.slide+xml" PartName="/ppt/slides/slide7.xml"/>
  <Override ContentType="application/vnd.openxmlformats-officedocument.presentationml.slide+xml" PartName="/ppt/slides/slide1.xml"/>
  <Override ContentType="application/vnd.openxmlformats-officedocument.presentationml.slide+xml" PartName="/ppt/slides/slide12.xml"/>
  <Override ContentType="application/vnd.openxmlformats-officedocument.presentationml.slide+xml" PartName="/ppt/slides/slide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5" Type="http://schemas.openxmlformats.org/officeDocument/2006/relationships/notesMaster" Target="notesMasters/notesMaster1.xml"/><Relationship Id="rId12" Type="http://schemas.openxmlformats.org/officeDocument/2006/relationships/slide" Target="slides/slide7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1" Type="http://schemas.openxmlformats.org/officeDocument/2006/relationships/slide" Target="slides/slide6.xml"/><Relationship Id="rId14" Type="http://schemas.openxmlformats.org/officeDocument/2006/relationships/slide" Target="slides/slide9.xml"/><Relationship Id="rId7" Type="http://schemas.openxmlformats.org/officeDocument/2006/relationships/slide" Target="slides/slide2.xml"/><Relationship Id="rId2" Type="http://schemas.openxmlformats.org/officeDocument/2006/relationships/viewProps" Target="viewProps1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8" Type="http://schemas.openxmlformats.org/officeDocument/2006/relationships/slide" Target="slides/slide3.xml"/><Relationship Id="rId17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" Type="http://schemas.openxmlformats.org/officeDocument/2006/relationships/presProps" Target="presProps1.xml"/><Relationship Id="rId6" Type="http://schemas.openxmlformats.org/officeDocument/2006/relationships/slide" Target="slides/slide1.xml"/><Relationship Id="rId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54680-DC89-472E-8661-8EDAF4977644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895903-CB31-4254-B244-281C9A45B1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86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2514601"/>
            <a:ext cx="668654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4777380"/>
            <a:ext cx="668654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308489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4529541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800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2133600"/>
            <a:ext cx="668655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73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058750"/>
            <a:ext cx="668654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530129"/>
            <a:ext cx="668654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64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2133600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2126222"/>
            <a:ext cx="3235398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833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972703"/>
            <a:ext cx="299454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2548966"/>
            <a:ext cx="3257170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969475"/>
            <a:ext cx="29992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2545738"/>
            <a:ext cx="3254006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787783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5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89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5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46088"/>
            <a:ext cx="26288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446089"/>
            <a:ext cx="38862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598613"/>
            <a:ext cx="26288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241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800600"/>
            <a:ext cx="668655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634965"/>
            <a:ext cx="668655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367338"/>
            <a:ext cx="668655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587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09600"/>
            <a:ext cx="668654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989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3505200"/>
            <a:ext cx="5652416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4354046"/>
            <a:ext cx="668654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1781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244140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47709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2438401"/>
            <a:ext cx="668655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586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609600"/>
            <a:ext cx="6295445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1850739" y="64800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90530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9927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627407"/>
            <a:ext cx="668654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4343400"/>
            <a:ext cx="668655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5181600"/>
            <a:ext cx="668655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491172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4983088"/>
            <a:ext cx="584825" cy="365125"/>
          </a:xfrm>
        </p:spPr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666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40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627406"/>
            <a:ext cx="16557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627406"/>
            <a:ext cx="485775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714376"/>
            <a:ext cx="1191395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639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138637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786"/>
            <a:ext cx="1767506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624110"/>
            <a:ext cx="6683765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2133600"/>
            <a:ext cx="668655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6130437"/>
            <a:ext cx="859712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91E0E8-BF06-4B0D-BDB8-7A293C9BF732}" type="datetimeFigureOut">
              <a:rPr lang="en-GB" smtClean="0"/>
              <a:t>21/05/2021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6135809"/>
            <a:ext cx="571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787783"/>
            <a:ext cx="5848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A7B3CFC-A4BC-4797-9016-B845251A87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735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908720"/>
            <a:ext cx="74168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POSITIVE EMOTIONS AND PHYSICAL HEALTH</a:t>
            </a:r>
          </a:p>
          <a:p>
            <a:endParaRPr lang="en-US" sz="24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  Submitted To:   Ma’am </a:t>
            </a:r>
            <a:r>
              <a:rPr lang="en-US" sz="24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Fariha</a:t>
            </a:r>
            <a:endParaRPr lang="en-US" sz="24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  Submitted By:   </a:t>
            </a:r>
            <a:r>
              <a:rPr lang="en-US" sz="24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Shameem</a:t>
            </a:r>
            <a:endParaRPr lang="en-US" sz="24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24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  Roll No:              17516</a:t>
            </a:r>
          </a:p>
          <a:p>
            <a:endParaRPr lang="en-US" sz="24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Department of Applied Psychology</a:t>
            </a:r>
          </a:p>
          <a:p>
            <a:endParaRPr lang="en-US" sz="24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        Govt. M.A.O College, Lahore</a:t>
            </a:r>
            <a:endParaRPr lang="en-GB" sz="24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396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1600" y="476672"/>
            <a:ext cx="770485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          POSITIVE EMOTIONS</a:t>
            </a:r>
          </a:p>
          <a:p>
            <a:endParaRPr lang="en-US" sz="28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v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Emotions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Definitions: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Daniel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Goleman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(1995) in defining emotions refers to the most literal meaning taken from the "Oxford English Dictionary“ which defines emotions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as any activity or upheaval of thoughts, feelings, passions; every mental state that is great and overflowing.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Chaplin (1989) in the "Dictionary of Psychology" defines emotion as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 aroused state of an organism including conscious changes, which are profound from behavioral change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 is considered as awareness of pleasurable or painful experiences and associated autonomic arousal. An emotion has a specific and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“sharpened”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quality, as it always has an object, and it is associated with progress in goal pursuit. 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3795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332656"/>
            <a:ext cx="7344816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28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POSITIVE EMOTIONS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Positive emotions include pleasant or desirable situational responses, ranging from interest and contentment to love and joy, but are distinct from pleasurable sensation and undifferentiated positive affect.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Joy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a sense of elation, happiness, and perhaps even exhilaration, often experienced as a sudden spike due to something good happening.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Gratitude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thankfulness, for something specific or simply all-encompassing, often accompanied by humility and even reverence.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Serenity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calm and peaceful feeling of acceptance of oneself.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Interest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curiosity or fascination that demands and captures your attention.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Hope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optimism and anticipation about a positive future.</a:t>
            </a:r>
          </a:p>
        </p:txBody>
      </p:sp>
    </p:spTree>
    <p:extLst>
      <p:ext uri="{BB962C8B-B14F-4D97-AF65-F5344CB8AC3E}">
        <p14:creationId xmlns:p14="http://schemas.microsoft.com/office/powerpoint/2010/main" val="838466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71600" y="548680"/>
            <a:ext cx="777686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Pride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– a sense of approval of oneself and pleasure in an achievement, skill, or personal attribute.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Amusement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lighthearted pleasure and enjoyment, often accompanied by smiles and easy laughter.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Inspiration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feeling engaged, uplifted, and motivated by something you witnessed.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Awe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emotion that is evoked when you witness something grand, spectacular, or breathtaking, sparking a sense of overwhelming appreciation.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Elevation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feeling you get when you see someone engaging in an act of kindness, generosity, or inner goodness, spurring you to aspire to similar action.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Love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perhaps the strongest of all positive emotions, love is a feeling of deep and enduring affection for someone, along with a willingness to put their needs ahead of your own; it can be directed towards an individual, a group of people, or even all humanity.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16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5616" y="332656"/>
            <a:ext cx="7632848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Satisfaction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sense of pleasure and contentment you get from accomplishing something or fulfilling a need.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Relief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feeling of happiness you experience when an uncertain situation turns out for the best, or a negative outcome is avoided.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Affection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 emotional attachment to someone or something, accompanied by a liking for them and a sense of pleasure in their company.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Cheerfulness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brightness, being upbeat and noticeably happy or chipper; feeling like everything is going your way.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Surprise (the good kind!)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sense of delight when someone brings you unexpected happiness or a situation goes even better than you had hoped.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Confidence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emotion involving a strong sense of self-esteem and belief in yourself; can be specific to a situation or activity, or more universal.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Admiration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warm approval, respect, and appreciation for someone or something.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Enthusiasm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sense of excitement, accompanied by motivation and engagement.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2986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87624" y="404664"/>
            <a:ext cx="75608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Eagerness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like a less intense form of enthusiasm; a feeling of readiness and excitement for something.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Euphoria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intense and the all-encompassing sense of joy or happiness, often experienced when something extremely positive and exciting happens.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Contentment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peaceful, comforting, and low-key sense of happiness and well-being.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Enjoyment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taking pleasure in what is going on around you, especially in situations like a leisure activity or social gathering.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Optimism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positive and hopeful emotion that encourages you to look forward to a bright future, one in which you believe that things will mostly work out.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Happiness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feeling of pleasure and contentment in the way things are going; a general sense of enjoyment of and enthusiasm for life.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Altruism –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usually referred to as an act of selflessness and generosity towards others, but can also describe the feeling you get from helping others.</a:t>
            </a:r>
          </a:p>
          <a:p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882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620688"/>
            <a:ext cx="7416824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Positive Emotions &amp; Physical Health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research by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Sheldon Cohen,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Ph.D., of Carnegie Mellon University and colleagues adds to a body of  literature that suggests that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emotional styles influence health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researchers interviewed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334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healthy volunteers by phone for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evenings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over 3 weeks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assess their emotional states.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Participants described  how they felt throughout the day in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three positive-emotion areas of vigor, well-being and calm and three negative-emotion areas of depression, anxiety and hostility by rating their emotions on a scale of 0 to 4.</a:t>
            </a:r>
          </a:p>
          <a:p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After this initial evaluation, researchers administered a shot of a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rhinovirus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the germ that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causes colds, into each participant’s nose.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885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620688"/>
            <a:ext cx="7200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Afterward, participants were observed for 5 days to see if they became sick and in what ways cold symptoms manifested. The volunteers were considered to have a clinical cold if they were both infected and met illness criteria.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“People who scored low on positive emotional style were three times more likely to get sick than those with high positive emotional styles,”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Cohen says.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researches 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then measured how emotional style affected all sick participants’ reporting of cold symptoms.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Each day of the quarantine, researchers asked them to report the severity of such cold symptoms as a runny nose, cough, and headaches on a 4-point scale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The study found that people with higher negative emotional styles reported more symptoms than expected from objective health markers,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Cohen says.</a:t>
            </a:r>
            <a:endParaRPr lang="en-GB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46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404664"/>
            <a:ext cx="748883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ealth benefit of positive emotions is that they may result in a stronger heart; </a:t>
            </a:r>
            <a:r>
              <a:rPr lang="en-US" sz="2000" b="1" dirty="0" err="1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Kok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 and colleagues (2013)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found a connection between a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healthy heart rate and the experience of positive social emotions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Similarly, a meta-analysis of several studies found that well-being was significantly related to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good cardiovascular functioning, general health, and longevity overall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(Howell, Kern, &amp;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Lyubomirsky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2007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Research has found a link between an upbeat mental state and improved health, including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lower blood pressure, reduced risk for heart disease, healthier weight, better blood sugar levels, and longer life.</a:t>
            </a:r>
            <a:endParaRPr lang="en-US" sz="2000" u="sng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88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692696"/>
            <a:ext cx="7416824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recent study that analyzed data from the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Women’s Health Initiative (WHI),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which showed that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women who are optimists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(i.e., expecting good rather than bad things to happen) had decreased mortality and were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30 percent less likely to die from coronary heart disease (CAD)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than women who were pessimists.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Women who were assessed as being more cynically hostile (i.e., less trustful of people)—a trait independent of pessimism--- compared with the other women in the WHI study, had a higher mortality rate and were </a:t>
            </a:r>
            <a:r>
              <a:rPr lang="en-US" sz="2000" b="1" dirty="0" smtClean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23 percent more likely to die from cancer-related causes.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Happiness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lowers your risk for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cardiovascular disease, lowers your blood pressure, enables better sleep, improves your diet,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allows you to maintain a normal body weight through regular exercise and reduces stress.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195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31640" y="620688"/>
            <a:ext cx="734481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Scientific evidence suggests that </a:t>
            </a:r>
            <a:r>
              <a:rPr lang="en-US" sz="2000" b="1" u="sng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being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u="sng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happy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may have major benefits for your health. </a:t>
            </a:r>
            <a:endParaRPr lang="en-US" sz="2000" b="1" dirty="0" smtClean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starters, being happy promotes a healthy lifestyle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It may also help combat stress, boost your immune system, protect your heart and reduce pain. </a:t>
            </a:r>
            <a:endParaRPr lang="en-US" sz="2000" u="sng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What's </a:t>
            </a:r>
            <a:r>
              <a:rPr lang="en-US" sz="2000" u="sng" dirty="0">
                <a:latin typeface="Times New Roman" pitchFamily="18" charset="0"/>
                <a:cs typeface="Times New Roman" pitchFamily="18" charset="0"/>
              </a:rPr>
              <a:t>more, it may even increase your life expectancy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Numerous studies have examined the relationship between </a:t>
            </a:r>
            <a:r>
              <a:rPr lang="en-US" sz="2000" b="1" u="sng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gratitude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and physical health markers such as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cardiovascular health, stress and inflammation, pain perception, and sleep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study found that keeping a gratitude journal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improved diastolic blood pressure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A greater sense of hope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was associated with: </a:t>
            </a:r>
            <a:r>
              <a:rPr lang="en-US" sz="2000" b="1" u="sng" dirty="0">
                <a:latin typeface="Times New Roman" pitchFamily="18" charset="0"/>
                <a:cs typeface="Times New Roman" pitchFamily="18" charset="0"/>
              </a:rPr>
              <a:t>better physical health and health behavior outcomes on some indicators (e.g., reduced risk of all cause-mortality, fewer number of chronic conditions, lower risk of cancer, and fewer sleep problems), higher psychological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well-being. </a:t>
            </a:r>
          </a:p>
          <a:p>
            <a:pPr marL="342900" indent="-342900">
              <a:buFont typeface="Wingdings" pitchFamily="2" charset="2"/>
              <a:buChar char="Ø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buFont typeface="Wingdings" pitchFamily="2" charset="2"/>
              <a:buChar char="Ø"/>
            </a:pP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527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63688" y="2780928"/>
            <a:ext cx="59766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solidFill>
                  <a:schemeClr val="accent1"/>
                </a:solidFill>
                <a:latin typeface="Algerian" pitchFamily="82" charset="0"/>
              </a:rPr>
              <a:t>    THANK YOU</a:t>
            </a:r>
            <a:r>
              <a:rPr lang="en-US" sz="4800" b="1" dirty="0" smtClean="0">
                <a:solidFill>
                  <a:schemeClr val="accent1"/>
                </a:solidFill>
                <a:latin typeface="Algerian" pitchFamily="82" charset="0"/>
                <a:sym typeface="Wingdings" pitchFamily="2" charset="2"/>
              </a:rPr>
              <a:t></a:t>
            </a:r>
            <a:endParaRPr lang="en-GB" sz="4800" b="1" dirty="0">
              <a:solidFill>
                <a:schemeClr val="accent1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396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0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
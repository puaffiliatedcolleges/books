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3"/>
  </p:notesMasterIdLst>
  <p:sldIdLst>
    <p:sldId id="256" r:id="rId2"/>
    <p:sldId id="257" r:id="rId3"/>
    <p:sldId id="259" r:id="rId4"/>
    <p:sldId id="260" r:id="rId5"/>
    <p:sldId id="261" r:id="rId6"/>
    <p:sldId id="262" r:id="rId7"/>
    <p:sldId id="263" r:id="rId8"/>
    <p:sldId id="265" r:id="rId9"/>
    <p:sldId id="266" r:id="rId10"/>
    <p:sldId id="269" r:id="rId11"/>
    <p:sldId id="270" r:id="rId12"/>
    <p:sldId id="274" r:id="rId13"/>
    <p:sldId id="275" r:id="rId14"/>
    <p:sldId id="276" r:id="rId15"/>
    <p:sldId id="277" r:id="rId16"/>
    <p:sldId id="278" r:id="rId17"/>
    <p:sldId id="279" r:id="rId18"/>
    <p:sldId id="280" r:id="rId19"/>
    <p:sldId id="281" r:id="rId20"/>
    <p:sldId id="282" r:id="rId21"/>
    <p:sldId id="28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3300"/>
    <a:srgbClr val="2E18D2"/>
    <a:srgbClr val="D8E901"/>
    <a:srgbClr val="8F0000"/>
    <a:srgbClr val="ABA9A2"/>
    <a:srgbClr val="FFE0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018" y="-21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44"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dirty="0"/>
          </a:p>
        </p:txBody>
      </p:sp>
      <p:sp>
        <p:nvSpPr>
          <p:cNvPr id="1048745"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dirty="0"/>
          </a:p>
        </p:txBody>
      </p:sp>
      <p:sp>
        <p:nvSpPr>
          <p:cNvPr id="104874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47"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8"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dirty="0"/>
          </a:p>
        </p:txBody>
      </p:sp>
      <p:sp>
        <p:nvSpPr>
          <p:cNvPr id="1048749"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98A56EAD-1452-4062-9D6E-8B7DAA4BD626}" type="datetimeFigureOut">
              <a:rPr lang="en-US" smtClean="0"/>
              <a:t>9/12/2024</a:t>
            </a:fld>
            <a:endParaRPr lang="en-US" dirty="0"/>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BB372D77-1222-4462-9D4C-59291B4DDA4C}" type="slidenum">
              <a:rPr lang="en-US" smtClean="0"/>
              <a:t>‹#›</a:t>
            </a:fld>
            <a:endParaRPr lang="en-US" dirty="0"/>
          </a:p>
        </p:txBody>
      </p:sp>
    </p:spTree>
    <p:extLst>
      <p:ext uri="{BB962C8B-B14F-4D97-AF65-F5344CB8AC3E}">
        <p14:creationId xmlns:p14="http://schemas.microsoft.com/office/powerpoint/2010/main" val="365217612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403126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98A56EAD-1452-4062-9D6E-8B7DAA4BD626}" type="datetimeFigureOut">
              <a:rPr lang="en-US" smtClean="0"/>
              <a:t>9/12/2024</a:t>
            </a:fld>
            <a:endParaRPr lang="en-US" dirty="0"/>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6453378" y="5211060"/>
            <a:ext cx="1584198" cy="228600"/>
          </a:xfrm>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54362118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3087965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371065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3932968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8096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BB372D77-1222-4462-9D4C-59291B4DDA4C}" type="slidenum">
              <a:rPr lang="en-US" smtClean="0"/>
              <a:t>‹#›</a:t>
            </a:fld>
            <a:endParaRPr lang="en-US" dirty="0"/>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8619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98A56EAD-1452-4062-9D6E-8B7DAA4BD626}" type="datetimeFigureOut">
              <a:rPr lang="en-US" smtClean="0"/>
              <a:t>9/12/2024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BB372D77-1222-4462-9D4C-59291B4DDA4C}" type="slidenum">
              <a:rPr lang="en-US" smtClean="0"/>
              <a:t>‹#›</a:t>
            </a:fld>
            <a:endParaRPr lang="en-US" dirty="0"/>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021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1410415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A56EAD-1452-4062-9D6E-8B7DAA4BD626}" type="datetimeFigureOut">
              <a:rPr lang="en-US" smtClean="0"/>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B372D77-1222-4462-9D4C-59291B4DDA4C}" type="slidenum">
              <a:rPr lang="en-US" smtClean="0"/>
              <a:t>‹#›</a:t>
            </a:fld>
            <a:endParaRPr lang="en-US" dirty="0"/>
          </a:p>
        </p:txBody>
      </p:sp>
    </p:spTree>
    <p:extLst>
      <p:ext uri="{BB962C8B-B14F-4D97-AF65-F5344CB8AC3E}">
        <p14:creationId xmlns:p14="http://schemas.microsoft.com/office/powerpoint/2010/main" val="2964963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98A56EAD-1452-4062-9D6E-8B7DAA4BD626}" type="datetimeFigureOut">
              <a:rPr lang="en-US" smtClean="0"/>
              <a:t>9/12/2024</a:t>
            </a:fld>
            <a:endParaRPr lang="en-US" dirty="0"/>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BB372D77-1222-4462-9D4C-59291B4DDA4C}" type="slidenum">
              <a:rPr lang="en-US" smtClean="0"/>
              <a:t>‹#›</a:t>
            </a:fld>
            <a:endParaRPr lang="en-US" dirty="0"/>
          </a:p>
        </p:txBody>
      </p:sp>
    </p:spTree>
    <p:extLst>
      <p:ext uri="{BB962C8B-B14F-4D97-AF65-F5344CB8AC3E}">
        <p14:creationId xmlns:p14="http://schemas.microsoft.com/office/powerpoint/2010/main" val="167984811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lideshare.net/maheswarijaikumar/experimental-research-design-108090082%231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lideshare.net/maheswarijaikumar/experimental-research-design-108090082%2311"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implypsychology.org/between-subjects-design.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implypsychology.org/variables.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simplypsychology.org/within-subjects-design.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simplypsychology.org/control-and-experimental-group-differences.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ctrTitle"/>
          </p:nvPr>
        </p:nvSpPr>
        <p:spPr>
          <a:xfrm>
            <a:off x="1103587" y="2404534"/>
            <a:ext cx="5853728" cy="1646302"/>
          </a:xfrm>
        </p:spPr>
        <p:txBody>
          <a:bodyPr>
            <a:normAutofit fontScale="90000"/>
          </a:bodyPr>
          <a:lstStyle/>
          <a:p>
            <a:r>
              <a:rPr lang="en-US" dirty="0">
                <a:latin typeface="Times New Roman" panose="02020603050405020304" pitchFamily="18" charset="0"/>
                <a:cs typeface="Times New Roman" panose="02020603050405020304" pitchFamily="18" charset="0"/>
              </a:rPr>
              <a:t>Experimental Research Design</a:t>
            </a:r>
          </a:p>
        </p:txBody>
      </p:sp>
      <p:sp>
        <p:nvSpPr>
          <p:cNvPr id="1048603" name="Subtitle 2"/>
          <p:cNvSpPr>
            <a:spLocks noGrp="1"/>
          </p:cNvSpPr>
          <p:nvPr>
            <p:ph type="subTitle" idx="1"/>
          </p:nvPr>
        </p:nvSpPr>
        <p:spPr>
          <a:xfrm>
            <a:off x="1130595" y="4050834"/>
            <a:ext cx="6489405" cy="1646302"/>
          </a:xfrm>
        </p:spPr>
        <p:txBody>
          <a:bodyPr>
            <a:noAutofit/>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What is Experimental Research Design</a:t>
            </a:r>
          </a:p>
        </p:txBody>
      </p:sp>
      <p:sp>
        <p:nvSpPr>
          <p:cNvPr id="1048609" name="Content Placeholder 2"/>
          <p:cNvSpPr>
            <a:spLocks noGrp="1"/>
          </p:cNvSpPr>
          <p:nvPr>
            <p:ph idx="4294967295"/>
          </p:nvPr>
        </p:nvSpPr>
        <p:spPr>
          <a:xfrm>
            <a:off x="0" y="1828800"/>
            <a:ext cx="9144000" cy="5181600"/>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Experimental research designs are concerned with examination of </a:t>
            </a:r>
            <a:r>
              <a:rPr lang="en-US" sz="2800" dirty="0">
                <a:highlight>
                  <a:srgbClr val="C0C0C0"/>
                </a:highlight>
                <a:latin typeface="Times New Roman" panose="02020603050405020304" pitchFamily="18" charset="0"/>
                <a:cs typeface="Times New Roman" panose="02020603050405020304" pitchFamily="18" charset="0"/>
              </a:rPr>
              <a:t>the effect of an independent variable on dependent variable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where the independent variable is manipulated through treatment or intervention</a:t>
            </a:r>
            <a:r>
              <a:rPr lang="en-US" sz="2800" dirty="0">
                <a:latin typeface="Times New Roman" panose="02020603050405020304" pitchFamily="18" charset="0"/>
                <a:cs typeface="Times New Roman" panose="02020603050405020304" pitchFamily="18" charset="0"/>
              </a:rPr>
              <a:t>(s).</a:t>
            </a:r>
          </a:p>
          <a:p>
            <a:pPr>
              <a:lnSpc>
                <a:spcPct val="150000"/>
              </a:lnSpc>
            </a:pPr>
            <a:r>
              <a:rPr lang="en-US" sz="2800" dirty="0">
                <a:latin typeface="Times New Roman" panose="02020603050405020304" pitchFamily="18" charset="0"/>
                <a:cs typeface="Times New Roman" panose="02020603050405020304" pitchFamily="18" charset="0"/>
              </a:rPr>
              <a:t>True experimental designs consists of three cardinal feature: RANDOMIZATION, CONTROL &amp; MANIPULATION or TRIAL.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ctrTitle"/>
          </p:nvPr>
        </p:nvSpPr>
        <p:spPr>
          <a:xfrm>
            <a:off x="914400" y="762000"/>
            <a:ext cx="7772400" cy="1470025"/>
          </a:xfrm>
        </p:spPr>
        <p:txBody>
          <a:bodyPr>
            <a:normAutofit fontScale="90000"/>
          </a:bodyPr>
          <a:lstStyle/>
          <a:p>
            <a:pPr algn="ctr"/>
            <a:r>
              <a:rPr lang="en-US" dirty="0"/>
              <a:t>Characteristics</a:t>
            </a:r>
            <a:br>
              <a:rPr lang="en-US" dirty="0"/>
            </a:br>
            <a:endParaRPr lang="en-US" dirty="0"/>
          </a:p>
        </p:txBody>
      </p:sp>
      <p:sp>
        <p:nvSpPr>
          <p:cNvPr id="1048612" name="Subtitle 3"/>
          <p:cNvSpPr>
            <a:spLocks noGrp="1"/>
          </p:cNvSpPr>
          <p:nvPr>
            <p:ph type="subTitle" idx="1"/>
          </p:nvPr>
        </p:nvSpPr>
        <p:spPr>
          <a:xfrm>
            <a:off x="1219200" y="1752600"/>
            <a:ext cx="6705600" cy="3581400"/>
          </a:xfrm>
        </p:spPr>
        <p:txBody>
          <a:bodyPr>
            <a:normAutofit/>
          </a:bodyPr>
          <a:lstStyle/>
          <a:p>
            <a:pPr algn="l"/>
            <a:r>
              <a:rPr lang="en-US" sz="5100" b="1" dirty="0">
                <a:solidFill>
                  <a:schemeClr val="tx1"/>
                </a:solidFill>
                <a:latin typeface="Times New Roman" pitchFamily="18" charset="0"/>
                <a:cs typeface="Times New Roman" pitchFamily="18" charset="0"/>
              </a:rPr>
              <a:t>•</a:t>
            </a:r>
            <a:r>
              <a:rPr lang="en-US" dirty="0"/>
              <a:t> </a:t>
            </a:r>
            <a:r>
              <a:rPr lang="en-US" sz="2800" dirty="0">
                <a:latin typeface="Times New Roman" panose="02020603050405020304" pitchFamily="18" charset="0"/>
                <a:cs typeface="Times New Roman" panose="02020603050405020304" pitchFamily="18" charset="0"/>
              </a:rPr>
              <a:t>In experimental design the </a:t>
            </a:r>
            <a:r>
              <a:rPr lang="en-US" sz="2800" dirty="0">
                <a:highlight>
                  <a:srgbClr val="C0C0C0"/>
                </a:highlight>
                <a:latin typeface="Times New Roman" panose="02020603050405020304" pitchFamily="18" charset="0"/>
                <a:cs typeface="Times New Roman" panose="02020603050405020304" pitchFamily="18" charset="0"/>
              </a:rPr>
              <a:t>researcher is active agent</a:t>
            </a:r>
            <a:r>
              <a:rPr lang="en-US" sz="2800" dirty="0">
                <a:latin typeface="Times New Roman" panose="02020603050405020304" pitchFamily="18" charset="0"/>
                <a:cs typeface="Times New Roman" panose="02020603050405020304" pitchFamily="18" charset="0"/>
              </a:rPr>
              <a:t> rather than a passive observer.</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a:xfrm>
            <a:off x="228600" y="381000"/>
            <a:ext cx="7315200" cy="5181600"/>
          </a:xfrm>
        </p:spPr>
        <p:txBody>
          <a:bodyPr>
            <a:normAutofit fontScale="90000"/>
          </a:bodyPr>
          <a:lstStyle/>
          <a:p>
            <a:pPr>
              <a:lnSpc>
                <a:spcPct val="150000"/>
              </a:lnSpc>
            </a:pPr>
            <a:r>
              <a:rPr lang="en-US" sz="3200" dirty="0">
                <a:latin typeface="Times New Roman" panose="02020603050405020304" pitchFamily="18" charset="0"/>
                <a:cs typeface="Times New Roman" panose="02020603050405020304" pitchFamily="18" charset="0"/>
              </a:rPr>
              <a:t>TRUE EXPERIMENTAL DESIGN</a:t>
            </a:r>
            <a:br>
              <a:rPr lang="en-US" sz="3200" dirty="0">
                <a:latin typeface="Times New Roman" panose="02020603050405020304" pitchFamily="18" charset="0"/>
                <a:cs typeface="Times New Roman" panose="02020603050405020304" pitchFamily="18" charset="0"/>
              </a:rPr>
            </a:br>
            <a:br>
              <a:rPr lang="en-US" dirty="0"/>
            </a:br>
            <a:r>
              <a:rPr lang="en-US" sz="2800" dirty="0">
                <a:solidFill>
                  <a:schemeClr val="tx1"/>
                </a:solidFill>
                <a:latin typeface="Times New Roman" panose="02020603050405020304" pitchFamily="18" charset="0"/>
                <a:cs typeface="Times New Roman" panose="02020603050405020304" pitchFamily="18" charset="0"/>
              </a:rPr>
              <a:t>In true experimental designs the researchers have </a:t>
            </a:r>
            <a:r>
              <a:rPr lang="en-US" sz="2800" dirty="0">
                <a:solidFill>
                  <a:schemeClr val="tx1"/>
                </a:solidFill>
                <a:highlight>
                  <a:srgbClr val="C0C0C0"/>
                </a:highlight>
                <a:latin typeface="Times New Roman" panose="02020603050405020304" pitchFamily="18" charset="0"/>
                <a:cs typeface="Times New Roman" panose="02020603050405020304" pitchFamily="18" charset="0"/>
              </a:rPr>
              <a:t>complete control over the extraneous variables </a:t>
            </a:r>
            <a:r>
              <a:rPr lang="en-US" sz="2800" dirty="0">
                <a:solidFill>
                  <a:schemeClr val="tx1"/>
                </a:solidFill>
                <a:latin typeface="Times New Roman" panose="02020603050405020304" pitchFamily="18" charset="0"/>
                <a:cs typeface="Times New Roman" panose="02020603050405020304" pitchFamily="18" charset="0"/>
              </a:rPr>
              <a:t>and </a:t>
            </a:r>
            <a:r>
              <a:rPr lang="en-US" sz="2800" dirty="0">
                <a:solidFill>
                  <a:schemeClr val="tx1"/>
                </a:solidFill>
                <a:highlight>
                  <a:srgbClr val="C0C0C0"/>
                </a:highlight>
                <a:latin typeface="Times New Roman" panose="02020603050405020304" pitchFamily="18" charset="0"/>
                <a:cs typeface="Times New Roman" panose="02020603050405020304" pitchFamily="18" charset="0"/>
              </a:rPr>
              <a:t>can predict </a:t>
            </a:r>
            <a:r>
              <a:rPr lang="en-US" sz="2800" dirty="0">
                <a:solidFill>
                  <a:schemeClr val="tx1"/>
                </a:solidFill>
                <a:latin typeface="Times New Roman" panose="02020603050405020304" pitchFamily="18" charset="0"/>
                <a:cs typeface="Times New Roman" panose="02020603050405020304" pitchFamily="18" charset="0"/>
              </a:rPr>
              <a:t>confidently </a:t>
            </a:r>
            <a:r>
              <a:rPr lang="en-US" sz="2800" dirty="0">
                <a:solidFill>
                  <a:schemeClr val="tx1"/>
                </a:solidFill>
                <a:highlight>
                  <a:srgbClr val="C0C0C0"/>
                </a:highlight>
                <a:latin typeface="Times New Roman" panose="02020603050405020304" pitchFamily="18" charset="0"/>
                <a:cs typeface="Times New Roman" panose="02020603050405020304" pitchFamily="18" charset="0"/>
              </a:rPr>
              <a:t>that</a:t>
            </a:r>
            <a:r>
              <a:rPr lang="en-US" sz="2800" dirty="0">
                <a:solidFill>
                  <a:schemeClr val="tx1"/>
                </a:solidFill>
                <a:latin typeface="Times New Roman" panose="02020603050405020304" pitchFamily="18" charset="0"/>
                <a:cs typeface="Times New Roman" panose="02020603050405020304" pitchFamily="18" charset="0"/>
              </a:rPr>
              <a:t> the observed </a:t>
            </a:r>
            <a:r>
              <a:rPr lang="en-US" sz="2800" dirty="0">
                <a:solidFill>
                  <a:schemeClr val="tx1"/>
                </a:solidFill>
                <a:highlight>
                  <a:srgbClr val="C0C0C0"/>
                </a:highlight>
                <a:latin typeface="Times New Roman" panose="02020603050405020304" pitchFamily="18" charset="0"/>
                <a:cs typeface="Times New Roman" panose="02020603050405020304" pitchFamily="18" charset="0"/>
              </a:rPr>
              <a:t>effect on the dependent variable is only due to the manipulation of independent variable.</a:t>
            </a:r>
            <a:br>
              <a:rPr lang="en-US" sz="2800" dirty="0">
                <a:solidFill>
                  <a:schemeClr val="tx1"/>
                </a:solidFill>
                <a:highlight>
                  <a:srgbClr val="C0C0C0"/>
                </a:highlight>
                <a:latin typeface="Times New Roman" panose="02020603050405020304" pitchFamily="18" charset="0"/>
                <a:cs typeface="Times New Roman" panose="02020603050405020304" pitchFamily="18" charset="0"/>
              </a:rPr>
            </a:br>
            <a:endParaRPr lang="en-US" sz="2800" dirty="0">
              <a:solidFill>
                <a:schemeClr val="tx1"/>
              </a:solidFill>
              <a:highlight>
                <a:srgbClr val="C0C0C0"/>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Essential Characteristics of true experimental design</a:t>
            </a:r>
          </a:p>
        </p:txBody>
      </p:sp>
      <p:sp>
        <p:nvSpPr>
          <p:cNvPr id="1048620"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experimental design consists of three important characteristics. </a:t>
            </a:r>
          </a:p>
          <a:p>
            <a:r>
              <a:rPr lang="en-US" sz="2800" dirty="0">
                <a:latin typeface="Times New Roman" panose="02020603050405020304" pitchFamily="18" charset="0"/>
                <a:cs typeface="Times New Roman" panose="02020603050405020304" pitchFamily="18" charset="0"/>
              </a:rPr>
              <a:t>They are as follows: </a:t>
            </a:r>
          </a:p>
          <a:p>
            <a:r>
              <a:rPr lang="en-US" sz="2800" dirty="0">
                <a:latin typeface="Times New Roman" panose="02020603050405020304" pitchFamily="18" charset="0"/>
                <a:cs typeface="Times New Roman" panose="02020603050405020304" pitchFamily="18" charset="0"/>
              </a:rPr>
              <a:t>1. </a:t>
            </a:r>
            <a:r>
              <a:rPr lang="en-US" sz="2800" dirty="0">
                <a:highlight>
                  <a:srgbClr val="C0C0C0"/>
                </a:highlight>
                <a:latin typeface="Times New Roman" panose="02020603050405020304" pitchFamily="18" charset="0"/>
                <a:cs typeface="Times New Roman" panose="02020603050405020304" pitchFamily="18" charset="0"/>
              </a:rPr>
              <a:t>MANIPULATION</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2. </a:t>
            </a:r>
            <a:r>
              <a:rPr lang="en-US" sz="2800" dirty="0">
                <a:highlight>
                  <a:srgbClr val="C0C0C0"/>
                </a:highlight>
                <a:latin typeface="Times New Roman" panose="02020603050405020304" pitchFamily="18" charset="0"/>
                <a:cs typeface="Times New Roman" panose="02020603050405020304" pitchFamily="18" charset="0"/>
              </a:rPr>
              <a:t>CONTROL</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3. </a:t>
            </a:r>
            <a:r>
              <a:rPr lang="en-US" sz="2800" dirty="0">
                <a:highlight>
                  <a:srgbClr val="C0C0C0"/>
                </a:highlight>
                <a:latin typeface="Times New Roman" panose="02020603050405020304" pitchFamily="18" charset="0"/>
                <a:cs typeface="Times New Roman" panose="02020603050405020304" pitchFamily="18" charset="0"/>
              </a:rPr>
              <a:t>RANDOMIZATION</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p:txBody>
          <a:bodyPr>
            <a:normAutofit/>
          </a:bodyPr>
          <a:lstStyle/>
          <a:p>
            <a:pPr algn="ctr"/>
            <a:r>
              <a:rPr lang="en-US" sz="3200" dirty="0">
                <a:latin typeface="Times New Roman" panose="02020603050405020304" pitchFamily="18" charset="0"/>
                <a:cs typeface="Times New Roman" panose="02020603050405020304" pitchFamily="18" charset="0"/>
              </a:rPr>
              <a:t>Manipulation</a:t>
            </a:r>
          </a:p>
        </p:txBody>
      </p:sp>
      <p:sp>
        <p:nvSpPr>
          <p:cNvPr id="1048622" name="Content Placeholder 2"/>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Manipulation refers to </a:t>
            </a:r>
            <a:r>
              <a:rPr lang="en-US" sz="2800" dirty="0">
                <a:highlight>
                  <a:srgbClr val="C0C0C0"/>
                </a:highlight>
                <a:latin typeface="Times New Roman" panose="02020603050405020304" pitchFamily="18" charset="0"/>
                <a:cs typeface="Times New Roman" panose="02020603050405020304" pitchFamily="18" charset="0"/>
              </a:rPr>
              <a:t>conscious control of the independent variable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by</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the researcher </a:t>
            </a:r>
            <a:r>
              <a:rPr lang="en-US" sz="2800" dirty="0">
                <a:latin typeface="Times New Roman" panose="02020603050405020304" pitchFamily="18" charset="0"/>
                <a:cs typeface="Times New Roman" panose="02020603050405020304" pitchFamily="18" charset="0"/>
              </a:rPr>
              <a:t>through treatment or intervention </a:t>
            </a:r>
            <a:r>
              <a:rPr lang="en-US" sz="2800" dirty="0">
                <a:highlight>
                  <a:srgbClr val="C0C0C0"/>
                </a:highlight>
                <a:latin typeface="Times New Roman" panose="02020603050405020304" pitchFamily="18" charset="0"/>
                <a:cs typeface="Times New Roman" panose="02020603050405020304" pitchFamily="18" charset="0"/>
              </a:rPr>
              <a:t>to observe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it’s effect on the dependent variable.</a:t>
            </a:r>
          </a:p>
          <a:p>
            <a:r>
              <a:rPr lang="en-US" sz="2800" dirty="0">
                <a:latin typeface="Times New Roman" panose="02020603050405020304" pitchFamily="18" charset="0"/>
                <a:cs typeface="Times New Roman" panose="02020603050405020304" pitchFamily="18" charset="0"/>
              </a:rPr>
              <a:t> INDEPENDENT VARIABLE (</a:t>
            </a:r>
            <a:r>
              <a:rPr lang="en-US" sz="2800" dirty="0">
                <a:highlight>
                  <a:srgbClr val="C0C0C0"/>
                </a:highlight>
                <a:latin typeface="Times New Roman" panose="02020603050405020304" pitchFamily="18" charset="0"/>
                <a:cs typeface="Times New Roman" panose="02020603050405020304" pitchFamily="18" charset="0"/>
              </a:rPr>
              <a:t>MEDICATION</a:t>
            </a:r>
            <a:r>
              <a:rPr lang="en-US" sz="2800" dirty="0">
                <a:latin typeface="Times New Roman" panose="02020603050405020304" pitchFamily="18" charset="0"/>
                <a:cs typeface="Times New Roman" panose="02020603050405020304" pitchFamily="18" charset="0"/>
              </a:rPr>
              <a:t>) </a:t>
            </a:r>
            <a:endParaRPr lang="en-US" sz="2800" dirty="0">
              <a:highlight>
                <a:srgbClr val="C0C0C0"/>
              </a:highlight>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DEPENDENT VARIABLE </a:t>
            </a:r>
          </a:p>
          <a:p>
            <a:r>
              <a:rPr lang="en-US" sz="2800" dirty="0">
                <a:latin typeface="Times New Roman" panose="02020603050405020304" pitchFamily="18" charset="0"/>
                <a:cs typeface="Times New Roman" panose="02020603050405020304" pitchFamily="18" charset="0"/>
              </a:rPr>
              <a:t>(</a:t>
            </a:r>
            <a:r>
              <a:rPr lang="en-US" sz="2800" dirty="0">
                <a:highlight>
                  <a:srgbClr val="C0C0C0"/>
                </a:highlight>
                <a:latin typeface="Times New Roman" panose="02020603050405020304" pitchFamily="18" charset="0"/>
                <a:cs typeface="Times New Roman" panose="02020603050405020304" pitchFamily="18" charset="0"/>
              </a:rPr>
              <a:t>PAIN LEVEL</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609599" y="609600"/>
            <a:ext cx="6347713" cy="838200"/>
          </a:xfrm>
        </p:spPr>
        <p:txBody>
          <a:bodyPr>
            <a:normAutofit/>
          </a:bodyPr>
          <a:lstStyle/>
          <a:p>
            <a:pPr algn="ctr"/>
            <a:r>
              <a:rPr lang="en-US" sz="3200" dirty="0">
                <a:latin typeface="Times New Roman" panose="02020603050405020304" pitchFamily="18" charset="0"/>
                <a:cs typeface="Times New Roman" panose="02020603050405020304" pitchFamily="18" charset="0"/>
              </a:rPr>
              <a:t>Control</a:t>
            </a:r>
          </a:p>
        </p:txBody>
      </p:sp>
      <p:sp>
        <p:nvSpPr>
          <p:cNvPr id="1048624" name="Content Placeholder 2"/>
          <p:cNvSpPr>
            <a:spLocks noGrp="1"/>
          </p:cNvSpPr>
          <p:nvPr>
            <p:ph idx="1"/>
          </p:nvPr>
        </p:nvSpPr>
        <p:spPr>
          <a:xfrm>
            <a:off x="609599" y="1474790"/>
            <a:ext cx="6781801" cy="4773610"/>
          </a:xfrm>
        </p:spPr>
        <p:txBody>
          <a:bodyPr>
            <a:noAutofit/>
          </a:bodyPr>
          <a:lstStyle/>
          <a:p>
            <a:r>
              <a:rPr lang="en-US" sz="2800" dirty="0">
                <a:latin typeface="Times New Roman" panose="02020603050405020304" pitchFamily="18" charset="0"/>
                <a:cs typeface="Times New Roman" panose="02020603050405020304" pitchFamily="18" charset="0"/>
              </a:rPr>
              <a:t>Control refers  to the </a:t>
            </a:r>
            <a:r>
              <a:rPr lang="en-US" sz="2800" dirty="0">
                <a:highlight>
                  <a:srgbClr val="C0C0C0"/>
                </a:highlight>
                <a:latin typeface="Times New Roman" panose="02020603050405020304" pitchFamily="18" charset="0"/>
                <a:cs typeface="Times New Roman" panose="02020603050405020304" pitchFamily="18" charset="0"/>
              </a:rPr>
              <a:t>use of control group </a:t>
            </a:r>
            <a:r>
              <a:rPr lang="en-US" sz="2800" dirty="0">
                <a:latin typeface="Times New Roman" panose="02020603050405020304" pitchFamily="18" charset="0"/>
                <a:cs typeface="Times New Roman" panose="02020603050405020304" pitchFamily="18" charset="0"/>
              </a:rPr>
              <a:t>and</a:t>
            </a:r>
            <a:r>
              <a:rPr lang="en-US" sz="2800" dirty="0">
                <a:highlight>
                  <a:srgbClr val="C0C0C0"/>
                </a:highlight>
                <a:latin typeface="Times New Roman" panose="02020603050405020304" pitchFamily="18" charset="0"/>
                <a:cs typeface="Times New Roman" panose="02020603050405020304" pitchFamily="18" charset="0"/>
              </a:rPr>
              <a:t> controlling the effects of extraneous variables on the dependent variable </a:t>
            </a:r>
            <a:r>
              <a:rPr lang="en-US" sz="2800" dirty="0">
                <a:latin typeface="Times New Roman" panose="02020603050405020304" pitchFamily="18" charset="0"/>
                <a:cs typeface="Times New Roman" panose="02020603050405020304" pitchFamily="18" charset="0"/>
              </a:rPr>
              <a:t>in which the researcher is interested. </a:t>
            </a:r>
          </a:p>
          <a:p>
            <a:r>
              <a:rPr lang="en-US" sz="2800" dirty="0">
                <a:latin typeface="Times New Roman" panose="02020603050405020304" pitchFamily="18" charset="0"/>
                <a:cs typeface="Times New Roman" panose="02020603050405020304" pitchFamily="18" charset="0"/>
              </a:rPr>
              <a:t>• The </a:t>
            </a:r>
            <a:r>
              <a:rPr lang="en-US" sz="2800" dirty="0">
                <a:highlight>
                  <a:srgbClr val="C0C0C0"/>
                </a:highlight>
                <a:latin typeface="Times New Roman" panose="02020603050405020304" pitchFamily="18" charset="0"/>
                <a:cs typeface="Times New Roman" panose="02020603050405020304" pitchFamily="18" charset="0"/>
              </a:rPr>
              <a:t>subjects</a:t>
            </a:r>
            <a:r>
              <a:rPr lang="en-US" sz="2800" dirty="0">
                <a:latin typeface="Times New Roman" panose="02020603050405020304" pitchFamily="18" charset="0"/>
                <a:cs typeface="Times New Roman" panose="02020603050405020304" pitchFamily="18" charset="0"/>
              </a:rPr>
              <a:t> in the control and experimental groups a</a:t>
            </a:r>
            <a:r>
              <a:rPr lang="en-US" sz="2800" dirty="0">
                <a:highlight>
                  <a:srgbClr val="C0C0C0"/>
                </a:highlight>
                <a:latin typeface="Times New Roman" panose="02020603050405020304" pitchFamily="18" charset="0"/>
                <a:cs typeface="Times New Roman" panose="02020603050405020304" pitchFamily="18" charset="0"/>
              </a:rPr>
              <a:t>re similar in number &amp; characteristics</a:t>
            </a:r>
            <a:r>
              <a:rPr lang="en-US" sz="2800" dirty="0">
                <a:latin typeface="Times New Roman" panose="02020603050405020304" pitchFamily="18" charset="0"/>
                <a:cs typeface="Times New Roman" panose="02020603050405020304" pitchFamily="18" charset="0"/>
              </a:rPr>
              <a:t>, but the </a:t>
            </a:r>
            <a:r>
              <a:rPr lang="en-US" sz="2800" dirty="0">
                <a:highlight>
                  <a:srgbClr val="C0C0C0"/>
                </a:highlight>
                <a:latin typeface="Times New Roman" panose="02020603050405020304" pitchFamily="18" charset="0"/>
                <a:cs typeface="Times New Roman" panose="02020603050405020304" pitchFamily="18" charset="0"/>
              </a:rPr>
              <a:t>subjects in the control group do not receive experimental treatment </a:t>
            </a:r>
            <a:r>
              <a:rPr lang="en-US" sz="2800" dirty="0">
                <a:latin typeface="Times New Roman" panose="02020603050405020304" pitchFamily="18" charset="0"/>
                <a:cs typeface="Times New Roman" panose="02020603050405020304" pitchFamily="18" charset="0"/>
              </a:rPr>
              <a:t>or any intervention.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a:xfrm>
            <a:off x="609599" y="609600"/>
            <a:ext cx="6347713" cy="762000"/>
          </a:xfrm>
        </p:spPr>
        <p:txBody>
          <a:bodyPr>
            <a:normAutofit/>
          </a:bodyPr>
          <a:lstStyle/>
          <a:p>
            <a:pPr algn="ctr"/>
            <a:r>
              <a:rPr lang="en-US" sz="3200" dirty="0">
                <a:latin typeface="Times New Roman" panose="02020603050405020304" pitchFamily="18" charset="0"/>
                <a:cs typeface="Times New Roman" panose="02020603050405020304" pitchFamily="18" charset="0"/>
              </a:rPr>
              <a:t>Matching</a:t>
            </a:r>
          </a:p>
        </p:txBody>
      </p:sp>
      <p:sp>
        <p:nvSpPr>
          <p:cNvPr id="1048628" name="Content Placeholder 2"/>
          <p:cNvSpPr>
            <a:spLocks noGrp="1"/>
          </p:cNvSpPr>
          <p:nvPr>
            <p:ph idx="1"/>
          </p:nvPr>
        </p:nvSpPr>
        <p:spPr>
          <a:xfrm>
            <a:off x="457200" y="1676400"/>
            <a:ext cx="6347714" cy="4087810"/>
          </a:xfrm>
        </p:spPr>
        <p:txBody>
          <a:bodyPr>
            <a:noAutofit/>
          </a:bodyPr>
          <a:lstStyle/>
          <a:p>
            <a:r>
              <a:rPr lang="en-US" sz="2800" b="1" dirty="0">
                <a:latin typeface="Times New Roman" panose="02020603050405020304" pitchFamily="18" charset="0"/>
                <a:cs typeface="Times New Roman" panose="02020603050405020304" pitchFamily="18" charset="0"/>
                <a:hlinkClick r:id="rId2"/>
              </a:rPr>
              <a:t>MATCHING • Is a</a:t>
            </a:r>
            <a:r>
              <a:rPr lang="en-US" sz="2800" dirty="0">
                <a:latin typeface="Times New Roman" panose="02020603050405020304" pitchFamily="18" charset="0"/>
                <a:cs typeface="Times New Roman" panose="02020603050405020304" pitchFamily="18" charset="0"/>
              </a:rPr>
              <a:t> conscious “</a:t>
            </a:r>
            <a:r>
              <a:rPr lang="en-US" sz="2800" dirty="0">
                <a:highlight>
                  <a:srgbClr val="C0C0C0"/>
                </a:highlight>
                <a:latin typeface="Times New Roman" panose="02020603050405020304" pitchFamily="18" charset="0"/>
                <a:cs typeface="Times New Roman" panose="02020603050405020304" pitchFamily="18" charset="0"/>
              </a:rPr>
              <a:t>matching" of the subject characteristics in both the groups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 It is a </a:t>
            </a:r>
            <a:r>
              <a:rPr lang="en-US" sz="2800" dirty="0">
                <a:highlight>
                  <a:srgbClr val="C0C0C0"/>
                </a:highlight>
                <a:latin typeface="Times New Roman" panose="02020603050405020304" pitchFamily="18" charset="0"/>
                <a:cs typeface="Times New Roman" panose="02020603050405020304" pitchFamily="18" charset="0"/>
              </a:rPr>
              <a:t>weak</a:t>
            </a:r>
            <a:r>
              <a:rPr lang="en-US" sz="2800" dirty="0">
                <a:latin typeface="Times New Roman" panose="02020603050405020304" pitchFamily="18" charset="0"/>
                <a:cs typeface="Times New Roman" panose="02020603050405020304" pitchFamily="18" charset="0"/>
              </a:rPr>
              <a:t> but a </a:t>
            </a:r>
            <a:r>
              <a:rPr lang="en-US" sz="2800" dirty="0">
                <a:highlight>
                  <a:srgbClr val="C0C0C0"/>
                </a:highlight>
                <a:latin typeface="Times New Roman" panose="02020603050405020304" pitchFamily="18" charset="0"/>
                <a:cs typeface="Times New Roman" panose="02020603050405020304" pitchFamily="18" charset="0"/>
              </a:rPr>
              <a:t>common</a:t>
            </a:r>
            <a:r>
              <a:rPr lang="en-US" sz="2800" dirty="0">
                <a:latin typeface="Times New Roman" panose="02020603050405020304" pitchFamily="18" charset="0"/>
                <a:cs typeface="Times New Roman" panose="02020603050405020304" pitchFamily="18" charset="0"/>
              </a:rPr>
              <a:t> method of control over the extraneous variables. • In matching </a:t>
            </a:r>
            <a:r>
              <a:rPr lang="en-US" sz="2800" dirty="0">
                <a:highlight>
                  <a:srgbClr val="C0C0C0"/>
                </a:highlight>
                <a:latin typeface="Times New Roman" panose="02020603050405020304" pitchFamily="18" charset="0"/>
                <a:cs typeface="Times New Roman" panose="02020603050405020304" pitchFamily="18" charset="0"/>
              </a:rPr>
              <a:t>the researcher identifies one or more extraneous variables to be controlled which are supposed to have effect on dependent variable.</a:t>
            </a:r>
          </a:p>
          <a:p>
            <a:pPr marL="0" indent="0">
              <a:buNone/>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43023C-84DE-54FC-01BB-556AC61FE791}"/>
              </a:ext>
            </a:extLst>
          </p:cNvPr>
          <p:cNvSpPr>
            <a:spLocks noGrp="1"/>
          </p:cNvSpPr>
          <p:nvPr>
            <p:ph type="title"/>
          </p:nvPr>
        </p:nvSpPr>
        <p:spPr/>
        <p:txBody>
          <a:bodyPr/>
          <a:lstStyle/>
          <a:p>
            <a:r>
              <a:rPr lang="en-US" b="1" i="0" dirty="0">
                <a:solidFill>
                  <a:schemeClr val="tx1">
                    <a:lumMod val="50000"/>
                    <a:lumOff val="50000"/>
                  </a:schemeClr>
                </a:solidFill>
                <a:effectLst/>
                <a:highlight>
                  <a:srgbClr val="F7F7F7"/>
                </a:highlight>
                <a:latin typeface="-apple-system"/>
              </a:rPr>
              <a:t>Matching Variables in Group Recruitment</a:t>
            </a:r>
            <a:endParaRPr lang="en-US" dirty="0">
              <a:solidFill>
                <a:schemeClr val="tx1">
                  <a:lumMod val="50000"/>
                  <a:lumOff val="50000"/>
                </a:schemeClr>
              </a:solidFill>
            </a:endParaRPr>
          </a:p>
        </p:txBody>
      </p:sp>
      <p:sp>
        <p:nvSpPr>
          <p:cNvPr id="1048630" name="Content Placeholder 2"/>
          <p:cNvSpPr>
            <a:spLocks noGrp="1"/>
          </p:cNvSpPr>
          <p:nvPr>
            <p:ph idx="1"/>
          </p:nvPr>
        </p:nvSpPr>
        <p:spPr/>
        <p:txBody>
          <a:bodyPr>
            <a:normAutofit fontScale="95000"/>
          </a:bodyPr>
          <a:lstStyle/>
          <a:p>
            <a:r>
              <a:rPr lang="en-US" sz="2400" b="1" dirty="0">
                <a:latin typeface="Times New Roman" panose="02020603050405020304" pitchFamily="18" charset="0"/>
                <a:cs typeface="Times New Roman" panose="02020603050405020304" pitchFamily="18" charset="0"/>
                <a:hlinkClick r:id="rId2"/>
              </a:rPr>
              <a:t>• As the</a:t>
            </a:r>
            <a:r>
              <a:rPr lang="en-US" sz="2400" dirty="0">
                <a:latin typeface="Times New Roman" panose="02020603050405020304" pitchFamily="18" charset="0"/>
                <a:cs typeface="Times New Roman" panose="02020603050405020304" pitchFamily="18" charset="0"/>
              </a:rPr>
              <a:t> </a:t>
            </a:r>
            <a:r>
              <a:rPr lang="en-US" sz="2400" dirty="0">
                <a:highlight>
                  <a:srgbClr val="C0C0C0"/>
                </a:highlight>
                <a:latin typeface="Times New Roman" panose="02020603050405020304" pitchFamily="18" charset="0"/>
                <a:cs typeface="Times New Roman" panose="02020603050405020304" pitchFamily="18" charset="0"/>
              </a:rPr>
              <a:t>subjects are recruited for one of the treatment groups, the researcher tries to find subjects for the other group </a:t>
            </a:r>
            <a:r>
              <a:rPr lang="en-US" sz="2400" dirty="0">
                <a:latin typeface="Times New Roman" panose="02020603050405020304" pitchFamily="18" charset="0"/>
                <a:cs typeface="Times New Roman" panose="02020603050405020304" pitchFamily="18" charset="0"/>
              </a:rPr>
              <a:t>(similar to the subjects of the first group based on the specific matching variable). • </a:t>
            </a:r>
            <a:r>
              <a:rPr lang="en-US" sz="2400" dirty="0">
                <a:highlight>
                  <a:srgbClr val="FF00FF"/>
                </a:highlight>
                <a:latin typeface="Times New Roman" panose="02020603050405020304" pitchFamily="18" charset="0"/>
                <a:cs typeface="Times New Roman" panose="02020603050405020304" pitchFamily="18" charset="0"/>
              </a:rPr>
              <a:t>For example </a:t>
            </a:r>
            <a:r>
              <a:rPr lang="en-US" sz="2400" dirty="0">
                <a:latin typeface="Times New Roman" panose="02020603050405020304" pitchFamily="18" charset="0"/>
                <a:cs typeface="Times New Roman" panose="02020603050405020304" pitchFamily="18" charset="0"/>
              </a:rPr>
              <a:t>if age and gender are the matching variables of interest in a two group study (</a:t>
            </a:r>
            <a:r>
              <a:rPr lang="en-US" sz="2400" dirty="0">
                <a:highlight>
                  <a:srgbClr val="C0C0C0"/>
                </a:highlight>
                <a:latin typeface="Times New Roman" panose="02020603050405020304" pitchFamily="18" charset="0"/>
                <a:cs typeface="Times New Roman" panose="02020603050405020304" pitchFamily="18" charset="0"/>
              </a:rPr>
              <a:t>if 40 yrs. old man is recruited for the first group</a:t>
            </a:r>
            <a:r>
              <a:rPr lang="en-US" sz="2400" dirty="0">
                <a:latin typeface="Times New Roman" panose="02020603050405020304" pitchFamily="18" charset="0"/>
                <a:cs typeface="Times New Roman" panose="02020603050405020304" pitchFamily="18" charset="0"/>
              </a:rPr>
              <a:t>, </a:t>
            </a:r>
            <a:r>
              <a:rPr lang="en-US" sz="2400" dirty="0">
                <a:highlight>
                  <a:srgbClr val="C0C0C0"/>
                </a:highlight>
                <a:latin typeface="Times New Roman" panose="02020603050405020304" pitchFamily="18" charset="0"/>
                <a:cs typeface="Times New Roman" panose="02020603050405020304" pitchFamily="18" charset="0"/>
              </a:rPr>
              <a:t>the researcher would try to find another man aged 40 yrs</a:t>
            </a:r>
            <a:r>
              <a:rPr lang="en-US" sz="2400" dirty="0">
                <a:latin typeface="Times New Roman" panose="02020603050405020304" pitchFamily="18" charset="0"/>
                <a:cs typeface="Times New Roman" panose="02020603050405020304" pitchFamily="18" charset="0"/>
              </a:rPr>
              <a:t>. </a:t>
            </a:r>
            <a:r>
              <a:rPr lang="en-US" sz="2400" dirty="0">
                <a:highlight>
                  <a:srgbClr val="C0C0C0"/>
                </a:highlight>
                <a:latin typeface="Times New Roman" panose="02020603050405020304" pitchFamily="18" charset="0"/>
                <a:cs typeface="Times New Roman" panose="02020603050405020304" pitchFamily="18" charset="0"/>
              </a:rPr>
              <a:t>for the second group</a:t>
            </a:r>
            <a:r>
              <a:rPr lang="en-US" sz="2400" dirty="0">
                <a:latin typeface="Times New Roman" panose="02020603050405020304" pitchFamily="18" charset="0"/>
                <a:cs typeface="Times New Roman" panose="02020603050405020304" pitchFamily="18" charset="0"/>
              </a:rPr>
              <a:t>)</a:t>
            </a:r>
          </a:p>
          <a:p>
            <a:br>
              <a:rPr lang="en-US" sz="1100" dirty="0"/>
            </a:b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a:xfrm>
            <a:off x="533400" y="289034"/>
            <a:ext cx="6347713" cy="777766"/>
          </a:xfrm>
        </p:spPr>
        <p:txBody>
          <a:bodyPr>
            <a:normAutofit/>
          </a:bodyPr>
          <a:lstStyle/>
          <a:p>
            <a:pPr algn="ctr"/>
            <a:r>
              <a:rPr lang="en-US" sz="3200" dirty="0">
                <a:latin typeface="Times New Roman" panose="02020603050405020304" pitchFamily="18" charset="0"/>
                <a:cs typeface="Times New Roman" panose="02020603050405020304" pitchFamily="18" charset="0"/>
              </a:rPr>
              <a:t>Randomization</a:t>
            </a:r>
          </a:p>
        </p:txBody>
      </p:sp>
      <p:sp>
        <p:nvSpPr>
          <p:cNvPr id="1048636" name="Content Placeholder 2"/>
          <p:cNvSpPr>
            <a:spLocks noGrp="1"/>
          </p:cNvSpPr>
          <p:nvPr>
            <p:ph idx="1"/>
          </p:nvPr>
        </p:nvSpPr>
        <p:spPr>
          <a:xfrm>
            <a:off x="0" y="1066800"/>
            <a:ext cx="7848599" cy="5791200"/>
          </a:xfrm>
        </p:spPr>
        <p:txBody>
          <a:bodyPr>
            <a:noAutofit/>
          </a:bodyPr>
          <a:lstStyle/>
          <a:p>
            <a:r>
              <a:rPr lang="en-US" sz="2800" dirty="0">
                <a:latin typeface="Times New Roman" panose="02020603050405020304" pitchFamily="18" charset="0"/>
                <a:cs typeface="Times New Roman" panose="02020603050405020304" pitchFamily="18" charset="0"/>
              </a:rPr>
              <a:t>Randomization </a:t>
            </a:r>
            <a:r>
              <a:rPr lang="en-US" sz="2800" dirty="0">
                <a:highlight>
                  <a:srgbClr val="C0C0C0"/>
                </a:highlight>
                <a:latin typeface="Times New Roman" panose="02020603050405020304" pitchFamily="18" charset="0"/>
                <a:cs typeface="Times New Roman" panose="02020603050405020304" pitchFamily="18" charset="0"/>
              </a:rPr>
              <a:t>refers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every subject has an equal chance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of being assigned to</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experimental</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or</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control group.</a:t>
            </a:r>
          </a:p>
          <a:p>
            <a:r>
              <a:rPr lang="en-US" sz="2800" dirty="0">
                <a:latin typeface="Times New Roman" panose="02020603050405020304" pitchFamily="18" charset="0"/>
                <a:cs typeface="Times New Roman" panose="02020603050405020304" pitchFamily="18" charset="0"/>
              </a:rPr>
              <a:t> • </a:t>
            </a:r>
            <a:r>
              <a:rPr lang="en-US" sz="2800" dirty="0">
                <a:highlight>
                  <a:srgbClr val="C0C0C0"/>
                </a:highlight>
                <a:latin typeface="Times New Roman" panose="02020603050405020304" pitchFamily="18" charset="0"/>
                <a:cs typeface="Times New Roman" panose="02020603050405020304" pitchFamily="18" charset="0"/>
              </a:rPr>
              <a:t>This is called</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random assignment of subjects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 </a:t>
            </a:r>
            <a:r>
              <a:rPr lang="en-US" sz="2800" dirty="0">
                <a:highlight>
                  <a:srgbClr val="C0C0C0"/>
                </a:highlight>
                <a:latin typeface="Times New Roman" panose="02020603050405020304" pitchFamily="18" charset="0"/>
                <a:cs typeface="Times New Roman" panose="02020603050405020304" pitchFamily="18" charset="0"/>
              </a:rPr>
              <a:t>The process involves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random assignment to different groups.</a:t>
            </a:r>
          </a:p>
          <a:p>
            <a:r>
              <a:rPr lang="en-US" sz="2800" dirty="0">
                <a:latin typeface="Times New Roman" panose="02020603050405020304" pitchFamily="18" charset="0"/>
                <a:cs typeface="Times New Roman" panose="02020603050405020304" pitchFamily="18" charset="0"/>
              </a:rPr>
              <a:t>Assignment chances of systemic </a:t>
            </a:r>
            <a:r>
              <a:rPr lang="en-US" sz="2800" dirty="0">
                <a:highlight>
                  <a:srgbClr val="C0C0C0"/>
                </a:highlight>
                <a:latin typeface="Times New Roman" panose="02020603050405020304" pitchFamily="18" charset="0"/>
                <a:cs typeface="Times New Roman" panose="02020603050405020304" pitchFamily="18" charset="0"/>
              </a:rPr>
              <a:t>bias is eliminated</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 Randomization is </a:t>
            </a:r>
            <a:r>
              <a:rPr lang="en-US" sz="2800" dirty="0">
                <a:highlight>
                  <a:srgbClr val="C0C0C0"/>
                </a:highlight>
                <a:latin typeface="Times New Roman" panose="02020603050405020304" pitchFamily="18" charset="0"/>
                <a:cs typeface="Times New Roman" panose="02020603050405020304" pitchFamily="18" charset="0"/>
              </a:rPr>
              <a:t>used in true experimental designs</a:t>
            </a:r>
            <a:r>
              <a:rPr lang="en-US" sz="2800" dirty="0">
                <a:latin typeface="Times New Roman" panose="02020603050405020304" pitchFamily="18" charset="0"/>
                <a:cs typeface="Times New Roman" panose="02020603050405020304" pitchFamily="18" charset="0"/>
              </a:rPr>
              <a:t> to </a:t>
            </a:r>
            <a:r>
              <a:rPr lang="en-US" sz="2800" dirty="0">
                <a:highlight>
                  <a:srgbClr val="C0C0C0"/>
                </a:highlight>
                <a:latin typeface="Times New Roman" panose="02020603050405020304" pitchFamily="18" charset="0"/>
                <a:cs typeface="Times New Roman" panose="02020603050405020304" pitchFamily="18" charset="0"/>
              </a:rPr>
              <a:t>minimize the threats of internal validity </a:t>
            </a:r>
            <a:r>
              <a:rPr lang="en-US" sz="2800" dirty="0">
                <a:latin typeface="Times New Roman" panose="02020603050405020304" pitchFamily="18" charset="0"/>
                <a:cs typeface="Times New Roman" panose="02020603050405020304" pitchFamily="18" charset="0"/>
              </a:rPr>
              <a:t>of the study and </a:t>
            </a:r>
            <a:r>
              <a:rPr lang="en-US" sz="2800" dirty="0">
                <a:highlight>
                  <a:srgbClr val="C0C0C0"/>
                </a:highlight>
                <a:latin typeface="Times New Roman" panose="02020603050405020304" pitchFamily="18" charset="0"/>
                <a:cs typeface="Times New Roman" panose="02020603050405020304" pitchFamily="18" charset="0"/>
              </a:rPr>
              <a:t>eliminates the effects of extraneous variables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on</a:t>
            </a:r>
            <a:r>
              <a:rPr lang="en-US" sz="2800" dirty="0">
                <a:latin typeface="Times New Roman" panose="02020603050405020304" pitchFamily="18" charset="0"/>
                <a:cs typeface="Times New Roman" panose="02020603050405020304" pitchFamily="18" charset="0"/>
              </a:rPr>
              <a:t> the </a:t>
            </a:r>
            <a:r>
              <a:rPr lang="en-US" sz="2800" dirty="0">
                <a:highlight>
                  <a:srgbClr val="C0C0C0"/>
                </a:highlight>
                <a:latin typeface="Times New Roman" panose="02020603050405020304" pitchFamily="18" charset="0"/>
                <a:cs typeface="Times New Roman" panose="02020603050405020304" pitchFamily="18" charset="0"/>
              </a:rPr>
              <a:t>dependent variables.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a:xfrm>
            <a:off x="533400" y="304800"/>
            <a:ext cx="6347713" cy="838200"/>
          </a:xfrm>
        </p:spPr>
        <p:txBody>
          <a:bodyPr>
            <a:normAutofit/>
          </a:bodyPr>
          <a:lstStyle/>
          <a:p>
            <a:pPr algn="ctr"/>
            <a:r>
              <a:rPr lang="en-US" sz="3200" dirty="0">
                <a:latin typeface="Times New Roman" panose="02020603050405020304" pitchFamily="18" charset="0"/>
                <a:cs typeface="Times New Roman" panose="02020603050405020304" pitchFamily="18" charset="0"/>
              </a:rPr>
              <a:t>Methods of Randomization</a:t>
            </a:r>
          </a:p>
        </p:txBody>
      </p:sp>
      <p:sp>
        <p:nvSpPr>
          <p:cNvPr id="1048638" name="Content Placeholder 2"/>
          <p:cNvSpPr>
            <a:spLocks noGrp="1"/>
          </p:cNvSpPr>
          <p:nvPr>
            <p:ph idx="1"/>
          </p:nvPr>
        </p:nvSpPr>
        <p:spPr>
          <a:xfrm>
            <a:off x="202056" y="1166149"/>
            <a:ext cx="7010400" cy="6629400"/>
          </a:xfrm>
        </p:spPr>
        <p:txBody>
          <a:bodyPr>
            <a:noAutofit/>
          </a:bodyPr>
          <a:lstStyle/>
          <a:p>
            <a:r>
              <a:rPr lang="en-US" sz="2800" dirty="0">
                <a:latin typeface="Times New Roman" panose="02020603050405020304" pitchFamily="18" charset="0"/>
                <a:cs typeface="Times New Roman" panose="02020603050405020304" pitchFamily="18" charset="0"/>
              </a:rPr>
              <a:t>assignment of study subjects may be </a:t>
            </a:r>
            <a:r>
              <a:rPr lang="en-US" sz="2800" dirty="0">
                <a:highlight>
                  <a:srgbClr val="C0C0C0"/>
                </a:highlight>
                <a:latin typeface="Times New Roman" panose="02020603050405020304" pitchFamily="18" charset="0"/>
                <a:cs typeface="Times New Roman" panose="02020603050405020304" pitchFamily="18" charset="0"/>
              </a:rPr>
              <a:t>done with</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simple flip of a coin for each subject</a:t>
            </a:r>
            <a:r>
              <a:rPr lang="en-US" sz="2800" dirty="0">
                <a:latin typeface="Times New Roman" panose="02020603050405020304" pitchFamily="18" charset="0"/>
                <a:cs typeface="Times New Roman" panose="02020603050405020304" pitchFamily="18" charset="0"/>
              </a:rPr>
              <a:t>. If coin lands on its “</a:t>
            </a:r>
            <a:r>
              <a:rPr lang="en-US" sz="2800" dirty="0">
                <a:highlight>
                  <a:srgbClr val="C0C0C0"/>
                </a:highlight>
                <a:latin typeface="Times New Roman" panose="02020603050405020304" pitchFamily="18" charset="0"/>
                <a:cs typeface="Times New Roman" panose="02020603050405020304" pitchFamily="18" charset="0"/>
              </a:rPr>
              <a:t>head</a:t>
            </a:r>
            <a:r>
              <a:rPr lang="en-US" sz="2800" dirty="0">
                <a:latin typeface="Times New Roman" panose="02020603050405020304" pitchFamily="18" charset="0"/>
                <a:cs typeface="Times New Roman" panose="02020603050405020304" pitchFamily="18" charset="0"/>
              </a:rPr>
              <a:t>”, subjects are assigned to first group &amp; with “</a:t>
            </a:r>
            <a:r>
              <a:rPr lang="en-US" sz="2800" dirty="0">
                <a:highlight>
                  <a:srgbClr val="C0C0C0"/>
                </a:highlight>
                <a:latin typeface="Times New Roman" panose="02020603050405020304" pitchFamily="18" charset="0"/>
                <a:cs typeface="Times New Roman" panose="02020603050405020304" pitchFamily="18" charset="0"/>
              </a:rPr>
              <a:t>tail</a:t>
            </a:r>
            <a:r>
              <a:rPr lang="en-US" sz="2800" dirty="0">
                <a:latin typeface="Times New Roman" panose="02020603050405020304" pitchFamily="18" charset="0"/>
                <a:cs typeface="Times New Roman" panose="02020603050405020304" pitchFamily="18" charset="0"/>
              </a:rPr>
              <a:t>” the subjects are assigned to the second group.</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is to </a:t>
            </a:r>
            <a:r>
              <a:rPr lang="en-US" sz="2800" dirty="0">
                <a:highlight>
                  <a:srgbClr val="C0C0C0"/>
                </a:highlight>
                <a:latin typeface="Times New Roman" panose="02020603050405020304" pitchFamily="18" charset="0"/>
                <a:cs typeface="Times New Roman" panose="02020603050405020304" pitchFamily="18" charset="0"/>
              </a:rPr>
              <a:t>write the names of the subjects </a:t>
            </a:r>
            <a:r>
              <a:rPr lang="en-US" sz="2800" dirty="0">
                <a:latin typeface="Times New Roman" panose="02020603050405020304" pitchFamily="18" charset="0"/>
                <a:cs typeface="Times New Roman" panose="02020603050405020304" pitchFamily="18" charset="0"/>
              </a:rPr>
              <a:t>on </a:t>
            </a:r>
            <a:r>
              <a:rPr lang="en-US" sz="2800" dirty="0">
                <a:highlight>
                  <a:srgbClr val="C0C0C0"/>
                </a:highlight>
                <a:latin typeface="Times New Roman" panose="02020603050405020304" pitchFamily="18" charset="0"/>
                <a:cs typeface="Times New Roman" panose="02020603050405020304" pitchFamily="18" charset="0"/>
              </a:rPr>
              <a:t>slips of paper</a:t>
            </a:r>
            <a:r>
              <a:rPr lang="en-US" sz="2800" dirty="0">
                <a:latin typeface="Times New Roman" panose="02020603050405020304" pitchFamily="18" charset="0"/>
                <a:cs typeface="Times New Roman" panose="02020603050405020304" pitchFamily="18" charset="0"/>
              </a:rPr>
              <a:t> and </a:t>
            </a:r>
            <a:r>
              <a:rPr lang="en-US" sz="2800" dirty="0">
                <a:highlight>
                  <a:srgbClr val="C0C0C0"/>
                </a:highlight>
                <a:latin typeface="Times New Roman" panose="02020603050405020304" pitchFamily="18" charset="0"/>
                <a:cs typeface="Times New Roman" panose="02020603050405020304" pitchFamily="18" charset="0"/>
              </a:rPr>
              <a:t>put the slips into a bowl </a:t>
            </a:r>
            <a:r>
              <a:rPr lang="en-US" sz="2800" dirty="0">
                <a:latin typeface="Times New Roman" panose="02020603050405020304" pitchFamily="18" charset="0"/>
                <a:cs typeface="Times New Roman" panose="02020603050405020304" pitchFamily="18" charset="0"/>
              </a:rPr>
              <a:t>and </a:t>
            </a:r>
            <a:r>
              <a:rPr lang="en-US" sz="2800" dirty="0">
                <a:highlight>
                  <a:srgbClr val="C0C0C0"/>
                </a:highlight>
                <a:latin typeface="Times New Roman" panose="02020603050405020304" pitchFamily="18" charset="0"/>
                <a:cs typeface="Times New Roman" panose="02020603050405020304" pitchFamily="18" charset="0"/>
              </a:rPr>
              <a:t>then drew lots</a:t>
            </a:r>
            <a:r>
              <a:rPr lang="en-US" sz="2800" dirty="0">
                <a:latin typeface="Times New Roman" panose="02020603050405020304" pitchFamily="18" charset="0"/>
                <a:cs typeface="Times New Roman" panose="02020603050405020304" pitchFamily="18" charset="0"/>
              </a:rPr>
              <a:t>. The </a:t>
            </a:r>
            <a:r>
              <a:rPr lang="en-US" sz="2800" dirty="0">
                <a:highlight>
                  <a:srgbClr val="C0C0C0"/>
                </a:highlight>
                <a:latin typeface="Times New Roman" panose="02020603050405020304" pitchFamily="18" charset="0"/>
                <a:cs typeface="Times New Roman" panose="02020603050405020304" pitchFamily="18" charset="0"/>
              </a:rPr>
              <a:t>first</a:t>
            </a:r>
            <a:r>
              <a:rPr lang="en-US" sz="2800" dirty="0">
                <a:latin typeface="Times New Roman" panose="02020603050405020304" pitchFamily="18" charset="0"/>
                <a:cs typeface="Times New Roman" panose="02020603050405020304" pitchFamily="18" charset="0"/>
              </a:rPr>
              <a:t> designated </a:t>
            </a:r>
            <a:r>
              <a:rPr lang="en-US" sz="2800" dirty="0">
                <a:highlight>
                  <a:srgbClr val="C0C0C0"/>
                </a:highlight>
                <a:latin typeface="Times New Roman" panose="02020603050405020304" pitchFamily="18" charset="0"/>
                <a:cs typeface="Times New Roman" panose="02020603050405020304" pitchFamily="18" charset="0"/>
              </a:rPr>
              <a:t>numbers</a:t>
            </a:r>
            <a:r>
              <a:rPr lang="en-US" sz="2800" dirty="0">
                <a:latin typeface="Times New Roman" panose="02020603050405020304" pitchFamily="18" charset="0"/>
                <a:cs typeface="Times New Roman" panose="02020603050405020304" pitchFamily="18" charset="0"/>
              </a:rPr>
              <a:t> of subjects are placed in </a:t>
            </a:r>
            <a:r>
              <a:rPr lang="en-US" sz="2800" dirty="0">
                <a:highlight>
                  <a:srgbClr val="C0C0C0"/>
                </a:highlight>
                <a:latin typeface="Times New Roman" panose="02020603050405020304" pitchFamily="18" charset="0"/>
                <a:cs typeface="Times New Roman" panose="02020603050405020304" pitchFamily="18" charset="0"/>
              </a:rPr>
              <a:t>one group</a:t>
            </a:r>
            <a:r>
              <a:rPr lang="en-US" sz="2800" dirty="0">
                <a:latin typeface="Times New Roman" panose="02020603050405020304" pitchFamily="18" charset="0"/>
                <a:cs typeface="Times New Roman" panose="02020603050405020304" pitchFamily="18" charset="0"/>
              </a:rPr>
              <a:t> and the </a:t>
            </a:r>
            <a:r>
              <a:rPr lang="en-US" sz="2800" dirty="0">
                <a:highlight>
                  <a:srgbClr val="C0C0C0"/>
                </a:highlight>
                <a:latin typeface="Times New Roman" panose="02020603050405020304" pitchFamily="18" charset="0"/>
                <a:cs typeface="Times New Roman" panose="02020603050405020304" pitchFamily="18" charset="0"/>
              </a:rPr>
              <a:t>rest</a:t>
            </a:r>
            <a:r>
              <a:rPr lang="en-US" sz="2800" dirty="0">
                <a:latin typeface="Times New Roman" panose="02020603050405020304" pitchFamily="18" charset="0"/>
                <a:cs typeface="Times New Roman" panose="02020603050405020304" pitchFamily="18" charset="0"/>
              </a:rPr>
              <a:t> are assigned under </a:t>
            </a:r>
            <a:r>
              <a:rPr lang="en-US" sz="2800" dirty="0">
                <a:highlight>
                  <a:srgbClr val="C0C0C0"/>
                </a:highlight>
                <a:latin typeface="Times New Roman" panose="02020603050405020304" pitchFamily="18" charset="0"/>
                <a:cs typeface="Times New Roman" panose="02020603050405020304" pitchFamily="18" charset="0"/>
              </a:rPr>
              <a:t>another group</a:t>
            </a:r>
            <a:r>
              <a:rPr lang="en-US" sz="2800" dirty="0">
                <a:latin typeface="Times New Roman" panose="02020603050405020304" pitchFamily="18" charset="0"/>
                <a:cs typeface="Times New Roman" panose="02020603050405020304" pitchFamily="18" charset="0"/>
              </a:rPr>
              <a:t>.</a:t>
            </a:r>
          </a:p>
          <a:p>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normAutofit/>
          </a:bodyPr>
          <a:lstStyle/>
          <a:p>
            <a:r>
              <a:rPr lang="en-US" sz="3200" dirty="0">
                <a:latin typeface="Times New Roman" panose="02020603050405020304" pitchFamily="18" charset="0"/>
                <a:cs typeface="Times New Roman" panose="02020603050405020304" pitchFamily="18" charset="0"/>
              </a:rPr>
              <a:t>Independent group designs</a:t>
            </a:r>
          </a:p>
        </p:txBody>
      </p:sp>
      <p:sp>
        <p:nvSpPr>
          <p:cNvPr id="1048646" name="Content Placeholder 4"/>
          <p:cNvSpPr>
            <a:spLocks noGrp="1"/>
          </p:cNvSpPr>
          <p:nvPr>
            <p:ph idx="1"/>
          </p:nvPr>
        </p:nvSpPr>
        <p:spPr/>
        <p:txBody>
          <a:bodyPr>
            <a:normAutofit fontScale="72222" lnSpcReduction="20000"/>
          </a:bodyPr>
          <a:lstStyle/>
          <a:p>
            <a:r>
              <a:rPr lang="en-US" sz="3300" dirty="0">
                <a:latin typeface="Times New Roman" panose="02020603050405020304" pitchFamily="18" charset="0"/>
                <a:cs typeface="Times New Roman" panose="02020603050405020304" pitchFamily="18" charset="0"/>
              </a:rPr>
              <a:t>Independent measures design, also known as</a:t>
            </a:r>
            <a:r>
              <a:rPr lang="en-US" sz="3300" dirty="0">
                <a:solidFill>
                  <a:srgbClr val="C00000"/>
                </a:solidFill>
                <a:latin typeface="Times New Roman" panose="02020603050405020304" pitchFamily="18" charset="0"/>
                <a:cs typeface="Times New Roman" panose="02020603050405020304" pitchFamily="18" charset="0"/>
              </a:rPr>
              <a:t> </a:t>
            </a:r>
            <a:r>
              <a:rPr lang="en-US" sz="3300" dirty="0">
                <a:solidFill>
                  <a:srgbClr val="C0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between-groups</a:t>
            </a:r>
            <a:r>
              <a:rPr lang="en-US" sz="3300" dirty="0">
                <a:latin typeface="Times New Roman" panose="02020603050405020304" pitchFamily="18" charset="0"/>
                <a:cs typeface="Times New Roman" panose="02020603050405020304" pitchFamily="18" charset="0"/>
              </a:rPr>
              <a:t>, is an experimental design where different participants are used in each condition of the independent variable.  This means that </a:t>
            </a:r>
            <a:r>
              <a:rPr lang="en-US" sz="3300" dirty="0">
                <a:highlight>
                  <a:srgbClr val="C0C0C0"/>
                </a:highlight>
                <a:latin typeface="Times New Roman" panose="02020603050405020304" pitchFamily="18" charset="0"/>
                <a:cs typeface="Times New Roman" panose="02020603050405020304" pitchFamily="18" charset="0"/>
              </a:rPr>
              <a:t>each condition of the experiment includes a different group of participants</a:t>
            </a:r>
            <a:r>
              <a:rPr lang="en-US" sz="3300" dirty="0">
                <a:latin typeface="Times New Roman" panose="02020603050405020304" pitchFamily="18" charset="0"/>
                <a:cs typeface="Times New Roman" panose="02020603050405020304" pitchFamily="18" charset="0"/>
              </a:rPr>
              <a:t>.</a:t>
            </a:r>
          </a:p>
          <a:p>
            <a:r>
              <a:rPr lang="en-US" sz="3300" dirty="0">
                <a:latin typeface="Times New Roman" panose="02020603050405020304" pitchFamily="18" charset="0"/>
                <a:cs typeface="Times New Roman" panose="02020603050405020304" pitchFamily="18" charset="0"/>
              </a:rPr>
              <a:t>This should be </a:t>
            </a:r>
            <a:r>
              <a:rPr lang="en-US" sz="3300" dirty="0">
                <a:highlight>
                  <a:srgbClr val="C0C0C0"/>
                </a:highlight>
                <a:latin typeface="Times New Roman" panose="02020603050405020304" pitchFamily="18" charset="0"/>
                <a:cs typeface="Times New Roman" panose="02020603050405020304" pitchFamily="18" charset="0"/>
              </a:rPr>
              <a:t>done by </a:t>
            </a:r>
            <a:r>
              <a:rPr lang="en-US" sz="3300" dirty="0">
                <a:highlight>
                  <a:srgbClr val="FF00FF"/>
                </a:highlight>
                <a:latin typeface="Times New Roman" panose="02020603050405020304" pitchFamily="18" charset="0"/>
                <a:cs typeface="Times New Roman" panose="02020603050405020304" pitchFamily="18" charset="0"/>
              </a:rPr>
              <a:t>random allocation</a:t>
            </a:r>
            <a:r>
              <a:rPr lang="en-US" sz="3300" dirty="0">
                <a:latin typeface="Times New Roman" panose="02020603050405020304" pitchFamily="18" charset="0"/>
                <a:cs typeface="Times New Roman" panose="02020603050405020304" pitchFamily="18" charset="0"/>
              </a:rPr>
              <a:t>, </a:t>
            </a:r>
            <a:r>
              <a:rPr lang="en-US" sz="3300" dirty="0">
                <a:highlight>
                  <a:srgbClr val="C0C0C0"/>
                </a:highlight>
                <a:latin typeface="Times New Roman" panose="02020603050405020304" pitchFamily="18" charset="0"/>
                <a:cs typeface="Times New Roman" panose="02020603050405020304" pitchFamily="18" charset="0"/>
              </a:rPr>
              <a:t>ensuring that each participant has an equal chance of being assigned to one group.</a:t>
            </a:r>
          </a:p>
          <a:p>
            <a:r>
              <a:rPr lang="en-US" sz="3300" dirty="0">
                <a:latin typeface="Times New Roman" panose="02020603050405020304" pitchFamily="18" charset="0"/>
                <a:cs typeface="Times New Roman" panose="02020603050405020304" pitchFamily="18" charset="0"/>
              </a:rPr>
              <a:t>Independent measures </a:t>
            </a:r>
            <a:r>
              <a:rPr lang="en-US" sz="3300" dirty="0">
                <a:highlight>
                  <a:srgbClr val="C0C0C0"/>
                </a:highlight>
                <a:latin typeface="Times New Roman" panose="02020603050405020304" pitchFamily="18" charset="0"/>
                <a:cs typeface="Times New Roman" panose="02020603050405020304" pitchFamily="18" charset="0"/>
              </a:rPr>
              <a:t>involve</a:t>
            </a:r>
            <a:r>
              <a:rPr lang="en-US" sz="3300" dirty="0">
                <a:latin typeface="Times New Roman" panose="02020603050405020304" pitchFamily="18" charset="0"/>
                <a:cs typeface="Times New Roman" panose="02020603050405020304" pitchFamily="18" charset="0"/>
              </a:rPr>
              <a:t> </a:t>
            </a:r>
            <a:r>
              <a:rPr lang="en-US" sz="3300" dirty="0">
                <a:highlight>
                  <a:srgbClr val="C0C0C0"/>
                </a:highlight>
                <a:latin typeface="Times New Roman" panose="02020603050405020304" pitchFamily="18" charset="0"/>
                <a:cs typeface="Times New Roman" panose="02020603050405020304" pitchFamily="18" charset="0"/>
              </a:rPr>
              <a:t>using two separate groups of participants</a:t>
            </a:r>
            <a:r>
              <a:rPr lang="en-US" sz="3300" dirty="0">
                <a:latin typeface="Times New Roman" panose="02020603050405020304" pitchFamily="18" charset="0"/>
                <a:cs typeface="Times New Roman" panose="02020603050405020304" pitchFamily="18" charset="0"/>
              </a:rPr>
              <a:t>, </a:t>
            </a:r>
            <a:r>
              <a:rPr lang="en-US" sz="3300" dirty="0">
                <a:highlight>
                  <a:srgbClr val="C0C0C0"/>
                </a:highlight>
                <a:latin typeface="Times New Roman" panose="02020603050405020304" pitchFamily="18" charset="0"/>
                <a:cs typeface="Times New Roman" panose="02020603050405020304" pitchFamily="18" charset="0"/>
              </a:rPr>
              <a:t>one in each condition</a:t>
            </a:r>
            <a:r>
              <a:rPr lang="en-US" sz="3300" dirty="0">
                <a:latin typeface="Times New Roman" panose="02020603050405020304" pitchFamily="18" charset="0"/>
                <a:cs typeface="Times New Roman" panose="02020603050405020304" pitchFamily="18" charset="0"/>
              </a:rPr>
              <a:t>. For example: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
          <p:cNvSpPr>
            <a:spLocks noGrp="1"/>
          </p:cNvSpPr>
          <p:nvPr>
            <p:ph type="title"/>
          </p:nvPr>
        </p:nvSpPr>
        <p:spPr/>
        <p:txBody>
          <a:bodyPr>
            <a:normAutofit/>
          </a:bodyPr>
          <a:lstStyle/>
          <a:p>
            <a:r>
              <a:rPr lang="en-US" sz="32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p:txBody>
      </p:sp>
      <p:sp>
        <p:nvSpPr>
          <p:cNvPr id="1048648" name="Content Placeholder 2"/>
          <p:cNvSpPr>
            <a:spLocks noGrp="1"/>
          </p:cNvSpPr>
          <p:nvPr>
            <p:ph idx="1"/>
          </p:nvPr>
        </p:nvSpPr>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For example, if we are trying </a:t>
            </a:r>
            <a:r>
              <a:rPr lang="en-US" sz="2800" dirty="0">
                <a:highlight>
                  <a:srgbClr val="FF00FF"/>
                </a:highlight>
                <a:latin typeface="Times New Roman" panose="02020603050405020304" pitchFamily="18" charset="0"/>
                <a:cs typeface="Times New Roman" panose="02020603050405020304" pitchFamily="18" charset="0"/>
              </a:rPr>
              <a:t>to discover </a:t>
            </a:r>
            <a:r>
              <a:rPr lang="en-US" sz="2800" dirty="0">
                <a:highlight>
                  <a:srgbClr val="C0C0C0"/>
                </a:highlight>
                <a:latin typeface="Times New Roman" panose="02020603050405020304" pitchFamily="18" charset="0"/>
                <a:cs typeface="Times New Roman" panose="02020603050405020304" pitchFamily="18" charset="0"/>
              </a:rPr>
              <a:t>if girls are less aggressive than boys</a:t>
            </a:r>
            <a:r>
              <a:rPr lang="en-US" sz="2800" dirty="0">
                <a:latin typeface="Times New Roman" panose="02020603050405020304" pitchFamily="18" charset="0"/>
                <a:cs typeface="Times New Roman" panose="02020603050405020304" pitchFamily="18" charset="0"/>
              </a:rPr>
              <a:t>, then we obviously </a:t>
            </a:r>
            <a:r>
              <a:rPr lang="en-US" sz="2800" dirty="0">
                <a:highlight>
                  <a:srgbClr val="C0C0C0"/>
                </a:highlight>
                <a:latin typeface="Times New Roman" panose="02020603050405020304" pitchFamily="18" charset="0"/>
                <a:cs typeface="Times New Roman" panose="02020603050405020304" pitchFamily="18" charset="0"/>
              </a:rPr>
              <a:t>need 2 separate groups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namely</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boys</a:t>
            </a:r>
            <a:r>
              <a:rPr lang="en-US" sz="2800" dirty="0">
                <a:latin typeface="Times New Roman" panose="02020603050405020304" pitchFamily="18" charset="0"/>
                <a:cs typeface="Times New Roman" panose="02020603050405020304" pitchFamily="18" charset="0"/>
              </a:rPr>
              <a:t> and </a:t>
            </a:r>
            <a:r>
              <a:rPr lang="en-US" sz="2800" dirty="0">
                <a:highlight>
                  <a:srgbClr val="C0C0C0"/>
                </a:highlight>
                <a:latin typeface="Times New Roman" panose="02020603050405020304" pitchFamily="18" charset="0"/>
                <a:cs typeface="Times New Roman" panose="02020603050405020304" pitchFamily="18" charset="0"/>
              </a:rPr>
              <a:t>girls</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Title 1"/>
          <p:cNvSpPr>
            <a:spLocks noGrp="1"/>
          </p:cNvSpPr>
          <p:nvPr>
            <p:ph type="title"/>
          </p:nvPr>
        </p:nvSpPr>
        <p:spPr>
          <a:xfrm>
            <a:off x="609599" y="283237"/>
            <a:ext cx="6347713" cy="685801"/>
          </a:xfrm>
        </p:spPr>
        <p:txBody>
          <a:bodyPr/>
          <a:lstStyle/>
          <a:p>
            <a:endParaRPr lang="en-US" dirty="0"/>
          </a:p>
        </p:txBody>
      </p:sp>
      <p:sp>
        <p:nvSpPr>
          <p:cNvPr id="1048650" name="Content Placeholder 2"/>
          <p:cNvSpPr>
            <a:spLocks noGrp="1"/>
          </p:cNvSpPr>
          <p:nvPr>
            <p:ph idx="1"/>
          </p:nvPr>
        </p:nvSpPr>
        <p:spPr>
          <a:xfrm>
            <a:off x="609599" y="1143000"/>
            <a:ext cx="6347714" cy="5431763"/>
          </a:xfrm>
        </p:spPr>
        <p:txBody>
          <a:bodyPr>
            <a:normAutofit fontScale="25000" lnSpcReduction="20000"/>
          </a:bodyPr>
          <a:lstStyle/>
          <a:p>
            <a:r>
              <a:rPr lang="en-US" sz="8600" b="1" dirty="0">
                <a:latin typeface="Times New Roman" panose="02020603050405020304" pitchFamily="18" charset="0"/>
                <a:cs typeface="Times New Roman" panose="02020603050405020304" pitchFamily="18" charset="0"/>
              </a:rPr>
              <a:t>Con</a:t>
            </a:r>
            <a:r>
              <a:rPr lang="en-US" sz="8600" dirty="0">
                <a:latin typeface="Times New Roman" panose="02020603050405020304" pitchFamily="18" charset="0"/>
                <a:cs typeface="Times New Roman" panose="02020603050405020304" pitchFamily="18" charset="0"/>
              </a:rPr>
              <a:t>: More people are needed than with the repeated measures design (i.e., </a:t>
            </a:r>
            <a:r>
              <a:rPr lang="en-US" sz="8600" dirty="0">
                <a:highlight>
                  <a:srgbClr val="C0C0C0"/>
                </a:highlight>
                <a:latin typeface="Times New Roman" panose="02020603050405020304" pitchFamily="18" charset="0"/>
                <a:cs typeface="Times New Roman" panose="02020603050405020304" pitchFamily="18" charset="0"/>
              </a:rPr>
              <a:t>more time-consuming</a:t>
            </a:r>
            <a:r>
              <a:rPr lang="en-US" sz="8600" dirty="0">
                <a:latin typeface="Times New Roman" panose="02020603050405020304" pitchFamily="18" charset="0"/>
                <a:cs typeface="Times New Roman" panose="02020603050405020304" pitchFamily="18" charset="0"/>
              </a:rPr>
              <a:t>).</a:t>
            </a:r>
          </a:p>
          <a:p>
            <a:r>
              <a:rPr lang="en-US" sz="8600" b="1" dirty="0">
                <a:latin typeface="Times New Roman" panose="02020603050405020304" pitchFamily="18" charset="0"/>
                <a:cs typeface="Times New Roman" panose="02020603050405020304" pitchFamily="18" charset="0"/>
              </a:rPr>
              <a:t>Pro</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Avoids order effects </a:t>
            </a:r>
            <a:r>
              <a:rPr lang="en-US" sz="8600" dirty="0">
                <a:latin typeface="Times New Roman" panose="02020603050405020304" pitchFamily="18" charset="0"/>
                <a:cs typeface="Times New Roman" panose="02020603050405020304" pitchFamily="18" charset="0"/>
              </a:rPr>
              <a:t>(</a:t>
            </a:r>
            <a:r>
              <a:rPr lang="en-US" sz="8600" dirty="0">
                <a:highlight>
                  <a:srgbClr val="C0C0C0"/>
                </a:highlight>
                <a:latin typeface="Times New Roman" panose="02020603050405020304" pitchFamily="18" charset="0"/>
                <a:cs typeface="Times New Roman" panose="02020603050405020304" pitchFamily="18" charset="0"/>
              </a:rPr>
              <a:t>such as practice</a:t>
            </a:r>
            <a:r>
              <a:rPr lang="en-US" sz="8600" dirty="0">
                <a:latin typeface="Times New Roman" panose="02020603050405020304" pitchFamily="18" charset="0"/>
                <a:cs typeface="Times New Roman" panose="02020603050405020304" pitchFamily="18" charset="0"/>
              </a:rPr>
              <a:t> or </a:t>
            </a:r>
            <a:r>
              <a:rPr lang="en-US" sz="8600" dirty="0">
                <a:highlight>
                  <a:srgbClr val="C0C0C0"/>
                </a:highlight>
                <a:latin typeface="Times New Roman" panose="02020603050405020304" pitchFamily="18" charset="0"/>
                <a:cs typeface="Times New Roman" panose="02020603050405020304" pitchFamily="18" charset="0"/>
              </a:rPr>
              <a:t>fatigue</a:t>
            </a:r>
            <a:r>
              <a:rPr lang="en-US" sz="8600" dirty="0">
                <a:latin typeface="Times New Roman" panose="02020603050405020304" pitchFamily="18" charset="0"/>
                <a:cs typeface="Times New Roman" panose="02020603050405020304" pitchFamily="18" charset="0"/>
              </a:rPr>
              <a:t>) as people participate in one condition only.  </a:t>
            </a:r>
            <a:r>
              <a:rPr lang="en-US" sz="8600" dirty="0">
                <a:highlight>
                  <a:srgbClr val="C0C0C0"/>
                </a:highlight>
                <a:latin typeface="Times New Roman" panose="02020603050405020304" pitchFamily="18" charset="0"/>
                <a:cs typeface="Times New Roman" panose="02020603050405020304" pitchFamily="18" charset="0"/>
              </a:rPr>
              <a:t>If a person is involved in several conditions</a:t>
            </a:r>
            <a:r>
              <a:rPr lang="en-US" sz="8600" dirty="0">
                <a:latin typeface="Times New Roman" panose="02020603050405020304" pitchFamily="18" charset="0"/>
                <a:cs typeface="Times New Roman" panose="02020603050405020304" pitchFamily="18" charset="0"/>
              </a:rPr>
              <a:t>, they </a:t>
            </a:r>
            <a:r>
              <a:rPr lang="en-US" sz="8600" dirty="0">
                <a:highlight>
                  <a:srgbClr val="C0C0C0"/>
                </a:highlight>
                <a:latin typeface="Times New Roman" panose="02020603050405020304" pitchFamily="18" charset="0"/>
                <a:cs typeface="Times New Roman" panose="02020603050405020304" pitchFamily="18" charset="0"/>
              </a:rPr>
              <a:t>may becom</a:t>
            </a:r>
            <a:r>
              <a:rPr lang="en-US" sz="8600" dirty="0">
                <a:latin typeface="Times New Roman" panose="02020603050405020304" pitchFamily="18" charset="0"/>
                <a:cs typeface="Times New Roman" panose="02020603050405020304" pitchFamily="18" charset="0"/>
              </a:rPr>
              <a:t>e </a:t>
            </a:r>
            <a:r>
              <a:rPr lang="en-US" sz="8600" dirty="0">
                <a:highlight>
                  <a:srgbClr val="C0C0C0"/>
                </a:highlight>
                <a:latin typeface="Times New Roman" panose="02020603050405020304" pitchFamily="18" charset="0"/>
                <a:cs typeface="Times New Roman" panose="02020603050405020304" pitchFamily="18" charset="0"/>
              </a:rPr>
              <a:t>bored</a:t>
            </a:r>
            <a:r>
              <a:rPr lang="en-US" sz="8600" dirty="0">
                <a:latin typeface="Times New Roman" panose="02020603050405020304" pitchFamily="18" charset="0"/>
                <a:cs typeface="Times New Roman" panose="02020603050405020304" pitchFamily="18" charset="0"/>
              </a:rPr>
              <a:t>, tired</a:t>
            </a:r>
            <a:r>
              <a:rPr lang="en-US" sz="8600" dirty="0">
                <a:highlight>
                  <a:srgbClr val="C0C0C0"/>
                </a:highlight>
                <a:latin typeface="Times New Roman" panose="02020603050405020304" pitchFamily="18" charset="0"/>
                <a:cs typeface="Times New Roman" panose="02020603050405020304" pitchFamily="18" charset="0"/>
              </a:rPr>
              <a:t>,</a:t>
            </a:r>
            <a:r>
              <a:rPr lang="en-US" sz="8600" dirty="0">
                <a:latin typeface="Times New Roman" panose="02020603050405020304" pitchFamily="18" charset="0"/>
                <a:cs typeface="Times New Roman" panose="02020603050405020304" pitchFamily="18" charset="0"/>
              </a:rPr>
              <a:t> and </a:t>
            </a:r>
            <a:r>
              <a:rPr lang="en-US" sz="8600" dirty="0">
                <a:highlight>
                  <a:srgbClr val="C0C0C0"/>
                </a:highlight>
                <a:latin typeface="Times New Roman" panose="02020603050405020304" pitchFamily="18" charset="0"/>
                <a:cs typeface="Times New Roman" panose="02020603050405020304" pitchFamily="18" charset="0"/>
              </a:rPr>
              <a:t>fed up </a:t>
            </a:r>
            <a:r>
              <a:rPr lang="en-US" sz="8600" dirty="0">
                <a:latin typeface="Times New Roman" panose="02020603050405020304" pitchFamily="18" charset="0"/>
                <a:cs typeface="Times New Roman" panose="02020603050405020304" pitchFamily="18" charset="0"/>
              </a:rPr>
              <a:t>by the time they come to the second condition </a:t>
            </a:r>
            <a:r>
              <a:rPr lang="en-US" sz="8600" dirty="0">
                <a:highlight>
                  <a:srgbClr val="C0C0C0"/>
                </a:highlight>
                <a:latin typeface="Times New Roman" panose="02020603050405020304" pitchFamily="18" charset="0"/>
                <a:cs typeface="Times New Roman" panose="02020603050405020304" pitchFamily="18" charset="0"/>
              </a:rPr>
              <a:t>or</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become</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wise to the requirements of the experiment!</a:t>
            </a:r>
          </a:p>
          <a:p>
            <a:r>
              <a:rPr lang="en-US" sz="8600" b="1" dirty="0">
                <a:latin typeface="Times New Roman" panose="02020603050405020304" pitchFamily="18" charset="0"/>
                <a:cs typeface="Times New Roman" panose="02020603050405020304" pitchFamily="18" charset="0"/>
              </a:rPr>
              <a:t>Con</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Differences between participants in the groups may affect result</a:t>
            </a:r>
            <a:r>
              <a:rPr lang="en-US" sz="8600" dirty="0">
                <a:latin typeface="Times New Roman" panose="02020603050405020304" pitchFamily="18" charset="0"/>
                <a:cs typeface="Times New Roman" panose="02020603050405020304" pitchFamily="18" charset="0"/>
              </a:rPr>
              <a:t>s, for example, </a:t>
            </a:r>
            <a:r>
              <a:rPr lang="en-US" sz="8600" dirty="0">
                <a:highlight>
                  <a:srgbClr val="C0C0C0"/>
                </a:highlight>
                <a:latin typeface="Times New Roman" panose="02020603050405020304" pitchFamily="18" charset="0"/>
                <a:cs typeface="Times New Roman" panose="02020603050405020304" pitchFamily="18" charset="0"/>
              </a:rPr>
              <a:t>variations</a:t>
            </a:r>
            <a:r>
              <a:rPr lang="en-US" sz="8600" dirty="0">
                <a:latin typeface="Times New Roman" panose="02020603050405020304" pitchFamily="18" charset="0"/>
                <a:cs typeface="Times New Roman" panose="02020603050405020304" pitchFamily="18" charset="0"/>
              </a:rPr>
              <a:t> in </a:t>
            </a:r>
            <a:r>
              <a:rPr lang="en-US" sz="8600" dirty="0">
                <a:highlight>
                  <a:srgbClr val="C0C0C0"/>
                </a:highlight>
                <a:latin typeface="Times New Roman" panose="02020603050405020304" pitchFamily="18" charset="0"/>
                <a:cs typeface="Times New Roman" panose="02020603050405020304" pitchFamily="18" charset="0"/>
              </a:rPr>
              <a:t>age</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gender</a:t>
            </a:r>
            <a:r>
              <a:rPr lang="en-US" sz="8600" dirty="0">
                <a:latin typeface="Times New Roman" panose="02020603050405020304" pitchFamily="18" charset="0"/>
                <a:cs typeface="Times New Roman" panose="02020603050405020304" pitchFamily="18" charset="0"/>
              </a:rPr>
              <a:t>, or </a:t>
            </a:r>
            <a:r>
              <a:rPr lang="en-US" sz="8600" dirty="0">
                <a:highlight>
                  <a:srgbClr val="C0C0C0"/>
                </a:highlight>
                <a:latin typeface="Times New Roman" panose="02020603050405020304" pitchFamily="18" charset="0"/>
                <a:cs typeface="Times New Roman" panose="02020603050405020304" pitchFamily="18" charset="0"/>
              </a:rPr>
              <a:t>social background</a:t>
            </a:r>
            <a:r>
              <a:rPr lang="en-US" sz="8600" dirty="0">
                <a:latin typeface="Times New Roman" panose="02020603050405020304" pitchFamily="18" charset="0"/>
                <a:cs typeface="Times New Roman" panose="02020603050405020304" pitchFamily="18" charset="0"/>
              </a:rPr>
              <a:t>.  </a:t>
            </a:r>
            <a:r>
              <a:rPr lang="en-US" sz="8600" dirty="0">
                <a:highlight>
                  <a:srgbClr val="FF00FF"/>
                </a:highlight>
                <a:latin typeface="Times New Roman" panose="02020603050405020304" pitchFamily="18" charset="0"/>
                <a:cs typeface="Times New Roman" panose="02020603050405020304" pitchFamily="18" charset="0"/>
              </a:rPr>
              <a:t>These differences are known as participant variables </a:t>
            </a:r>
            <a:r>
              <a:rPr lang="en-US" sz="8600" dirty="0">
                <a:latin typeface="Times New Roman" panose="02020603050405020304" pitchFamily="18" charset="0"/>
                <a:cs typeface="Times New Roman" panose="02020603050405020304" pitchFamily="18" charset="0"/>
              </a:rPr>
              <a:t>(i.e., a type of </a:t>
            </a:r>
            <a:r>
              <a:rPr lang="en-US" sz="8600" dirty="0">
                <a:latin typeface="Times New Roman" panose="02020603050405020304" pitchFamily="18" charset="0"/>
                <a:cs typeface="Times New Roman" panose="02020603050405020304" pitchFamily="18" charset="0"/>
                <a:hlinkClick r:id="rId2"/>
              </a:rPr>
              <a:t>extraneous variable</a:t>
            </a:r>
            <a:r>
              <a:rPr lang="en-US" sz="8600" dirty="0">
                <a:latin typeface="Times New Roman" panose="02020603050405020304" pitchFamily="18" charset="0"/>
                <a:cs typeface="Times New Roman" panose="02020603050405020304" pitchFamily="18" charset="0"/>
              </a:rPr>
              <a:t>).</a:t>
            </a:r>
          </a:p>
          <a:p>
            <a:r>
              <a:rPr lang="en-US" sz="8600" b="1" dirty="0">
                <a:latin typeface="Times New Roman" panose="02020603050405020304" pitchFamily="18" charset="0"/>
                <a:cs typeface="Times New Roman" panose="02020603050405020304" pitchFamily="18" charset="0"/>
              </a:rPr>
              <a:t>Control</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After the participants have been recruited</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they should be randomly assigned to their groups</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This should ensure</a:t>
            </a:r>
            <a:r>
              <a:rPr lang="en-US" sz="8600" dirty="0">
                <a:latin typeface="Times New Roman" panose="02020603050405020304" pitchFamily="18" charset="0"/>
                <a:cs typeface="Times New Roman" panose="02020603050405020304" pitchFamily="18" charset="0"/>
              </a:rPr>
              <a:t> the </a:t>
            </a:r>
            <a:r>
              <a:rPr lang="en-US" sz="8600" dirty="0">
                <a:highlight>
                  <a:srgbClr val="C0C0C0"/>
                </a:highlight>
                <a:latin typeface="Times New Roman" panose="02020603050405020304" pitchFamily="18" charset="0"/>
                <a:cs typeface="Times New Roman" panose="02020603050405020304" pitchFamily="18" charset="0"/>
              </a:rPr>
              <a:t>groups are</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similar</a:t>
            </a:r>
            <a:r>
              <a:rPr lang="en-US" sz="8600" dirty="0">
                <a:latin typeface="Times New Roman" panose="02020603050405020304" pitchFamily="18" charset="0"/>
                <a:cs typeface="Times New Roman" panose="02020603050405020304" pitchFamily="18" charset="0"/>
              </a:rPr>
              <a:t>, </a:t>
            </a:r>
            <a:r>
              <a:rPr lang="en-US" sz="8600" dirty="0">
                <a:highlight>
                  <a:srgbClr val="C0C0C0"/>
                </a:highlight>
                <a:latin typeface="Times New Roman" panose="02020603050405020304" pitchFamily="18" charset="0"/>
                <a:cs typeface="Times New Roman" panose="02020603050405020304" pitchFamily="18" charset="0"/>
              </a:rPr>
              <a:t>on average</a:t>
            </a:r>
            <a:r>
              <a:rPr lang="en-US" sz="8600" dirty="0">
                <a:latin typeface="Times New Roman" panose="02020603050405020304" pitchFamily="18" charset="0"/>
                <a:cs typeface="Times New Roman" panose="02020603050405020304" pitchFamily="18" charset="0"/>
              </a:rPr>
              <a:t> (reducing participant variables).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endParaRPr lang="en-US" dirty="0"/>
          </a:p>
        </p:txBody>
      </p:sp>
      <p:sp>
        <p:nvSpPr>
          <p:cNvPr id="1048652" name="Content Placeholder 2"/>
          <p:cNvSpPr>
            <a:spLocks noGrp="1"/>
          </p:cNvSpPr>
          <p:nvPr>
            <p:ph idx="1"/>
          </p:nvPr>
        </p:nvSpPr>
        <p:spPr/>
        <p:txBody>
          <a:bodyPr/>
          <a:lstStyle/>
          <a:p>
            <a:r>
              <a:rPr lang="en-US" sz="2800" b="1" dirty="0">
                <a:latin typeface="Times New Roman" panose="02020603050405020304" pitchFamily="18" charset="0"/>
                <a:cs typeface="Times New Roman" panose="02020603050405020304" pitchFamily="18" charset="0"/>
              </a:rPr>
              <a:t>Control</a:t>
            </a:r>
            <a:r>
              <a:rPr lang="en-US" sz="2800" dirty="0">
                <a:latin typeface="Times New Roman" panose="02020603050405020304" pitchFamily="18" charset="0"/>
                <a:cs typeface="Times New Roman" panose="02020603050405020304" pitchFamily="18" charset="0"/>
              </a:rPr>
              <a:t>: After the participants have been recruited, they should be randomly assigned to their groups. This should ensure the groups are similar, on average (reducing participant variables).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1"/>
          <p:cNvSpPr>
            <a:spLocks noGrp="1"/>
          </p:cNvSpPr>
          <p:nvPr>
            <p:ph type="title"/>
          </p:nvPr>
        </p:nvSpPr>
        <p:spPr>
          <a:xfrm>
            <a:off x="609599" y="593834"/>
            <a:ext cx="6347713" cy="777766"/>
          </a:xfrm>
        </p:spPr>
        <p:txBody>
          <a:bodyPr>
            <a:normAutofit fontScale="90000"/>
          </a:bodyPr>
          <a:lstStyle/>
          <a:p>
            <a:r>
              <a:rPr lang="en-US" b="1" dirty="0"/>
              <a:t>Repeated Measures Design</a:t>
            </a:r>
            <a:br>
              <a:rPr lang="en-US" b="1" dirty="0"/>
            </a:br>
            <a:endParaRPr lang="en-US" dirty="0"/>
          </a:p>
        </p:txBody>
      </p:sp>
      <p:sp>
        <p:nvSpPr>
          <p:cNvPr id="1048654" name="Content Placeholder 2"/>
          <p:cNvSpPr>
            <a:spLocks noGrp="1"/>
          </p:cNvSpPr>
          <p:nvPr>
            <p:ph idx="1"/>
          </p:nvPr>
        </p:nvSpPr>
        <p:spPr>
          <a:xfrm>
            <a:off x="609598" y="1371600"/>
            <a:ext cx="7239001" cy="4724400"/>
          </a:xfrm>
        </p:spPr>
        <p:txBody>
          <a:bodyPr>
            <a:noAutofit/>
          </a:bodyPr>
          <a:lstStyle/>
          <a:p>
            <a:r>
              <a:rPr lang="en-US" sz="2800" dirty="0">
                <a:latin typeface="Times New Roman" panose="02020603050405020304" pitchFamily="18" charset="0"/>
                <a:cs typeface="Times New Roman" panose="02020603050405020304" pitchFamily="18" charset="0"/>
              </a:rPr>
              <a:t>Repeated Measures design is an experimental design </a:t>
            </a:r>
            <a:r>
              <a:rPr lang="en-US" sz="2800" dirty="0">
                <a:highlight>
                  <a:srgbClr val="C0C0C0"/>
                </a:highlight>
                <a:latin typeface="Times New Roman" panose="02020603050405020304" pitchFamily="18" charset="0"/>
                <a:cs typeface="Times New Roman" panose="02020603050405020304" pitchFamily="18" charset="0"/>
              </a:rPr>
              <a:t>where the same participants participate in each independent variable condition</a:t>
            </a:r>
            <a:r>
              <a:rPr lang="en-US" sz="2800" dirty="0">
                <a:latin typeface="Times New Roman" panose="02020603050405020304" pitchFamily="18" charset="0"/>
                <a:cs typeface="Times New Roman" panose="02020603050405020304" pitchFamily="18" charset="0"/>
              </a:rPr>
              <a:t>.  This means that </a:t>
            </a:r>
            <a:r>
              <a:rPr lang="en-US" sz="2800" dirty="0">
                <a:highlight>
                  <a:srgbClr val="C0C0C0"/>
                </a:highlight>
                <a:latin typeface="Times New Roman" panose="02020603050405020304" pitchFamily="18" charset="0"/>
                <a:cs typeface="Times New Roman" panose="02020603050405020304" pitchFamily="18" charset="0"/>
              </a:rPr>
              <a:t>each experiment condition</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includes</a:t>
            </a:r>
            <a:r>
              <a:rPr lang="en-US" sz="2800" dirty="0">
                <a:latin typeface="Times New Roman" panose="02020603050405020304" pitchFamily="18" charset="0"/>
                <a:cs typeface="Times New Roman" panose="02020603050405020304" pitchFamily="18" charset="0"/>
              </a:rPr>
              <a:t> the </a:t>
            </a:r>
            <a:r>
              <a:rPr lang="en-US" sz="2800" dirty="0">
                <a:highlight>
                  <a:srgbClr val="C0C0C0"/>
                </a:highlight>
                <a:latin typeface="Times New Roman" panose="02020603050405020304" pitchFamily="18" charset="0"/>
                <a:cs typeface="Times New Roman" panose="02020603050405020304" pitchFamily="18" charset="0"/>
              </a:rPr>
              <a:t>same group of participants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Repeated Measures design is </a:t>
            </a:r>
            <a:r>
              <a:rPr lang="en-US" sz="2800" dirty="0">
                <a:highlight>
                  <a:srgbClr val="C0C0C0"/>
                </a:highlight>
                <a:latin typeface="Times New Roman" panose="02020603050405020304" pitchFamily="18" charset="0"/>
                <a:cs typeface="Times New Roman" panose="02020603050405020304" pitchFamily="18" charset="0"/>
              </a:rPr>
              <a:t>also known as within-groups</a:t>
            </a:r>
            <a:r>
              <a:rPr lang="en-US" sz="2800" dirty="0">
                <a:latin typeface="Times New Roman" panose="02020603050405020304" pitchFamily="18" charset="0"/>
                <a:cs typeface="Times New Roman" panose="02020603050405020304" pitchFamily="18" charset="0"/>
              </a:rPr>
              <a:t> or </a:t>
            </a:r>
            <a:r>
              <a:rPr lang="en-US" sz="2800" dirty="0">
                <a:highlight>
                  <a:srgbClr val="C0C0C0"/>
                </a:highlight>
                <a:latin typeface="Times New Roman" panose="02020603050405020304" pitchFamily="18" charset="0"/>
                <a:cs typeface="Times New Roman" panose="02020603050405020304" pitchFamily="18" charset="0"/>
                <a:hlinkClick r:id="rId2"/>
              </a:rPr>
              <a:t>within-subjects design</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Pro</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As the same participants are used </a:t>
            </a:r>
            <a:r>
              <a:rPr lang="en-US" sz="2800" dirty="0">
                <a:latin typeface="Times New Roman" panose="02020603050405020304" pitchFamily="18" charset="0"/>
                <a:cs typeface="Times New Roman" panose="02020603050405020304" pitchFamily="18" charset="0"/>
              </a:rPr>
              <a:t>in each condition, participant variables (i.e., </a:t>
            </a:r>
            <a:r>
              <a:rPr lang="en-US" sz="2800" dirty="0">
                <a:highlight>
                  <a:srgbClr val="C0C0C0"/>
                </a:highlight>
                <a:latin typeface="Times New Roman" panose="02020603050405020304" pitchFamily="18" charset="0"/>
                <a:cs typeface="Times New Roman" panose="02020603050405020304" pitchFamily="18" charset="0"/>
              </a:rPr>
              <a:t>individual differences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are reduced</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a:xfrm>
            <a:off x="609599" y="609600"/>
            <a:ext cx="6347713" cy="45719"/>
          </a:xfrm>
        </p:spPr>
        <p:txBody>
          <a:bodyPr>
            <a:normAutofit fontScale="90000"/>
          </a:bodyPr>
          <a:lstStyle/>
          <a:p>
            <a:endParaRPr lang="en-US" dirty="0"/>
          </a:p>
        </p:txBody>
      </p:sp>
      <p:sp>
        <p:nvSpPr>
          <p:cNvPr id="1048656" name="Content Placeholder 2"/>
          <p:cNvSpPr>
            <a:spLocks noGrp="1"/>
          </p:cNvSpPr>
          <p:nvPr>
            <p:ph idx="1"/>
          </p:nvPr>
        </p:nvSpPr>
        <p:spPr>
          <a:xfrm>
            <a:off x="381000" y="1295400"/>
            <a:ext cx="7391399" cy="5257800"/>
          </a:xfrm>
        </p:spPr>
        <p:txBody>
          <a:bodyPr>
            <a:normAutofit fontScale="94444"/>
          </a:bodyPr>
          <a:lstStyle/>
          <a:p>
            <a:r>
              <a:rPr lang="en-US" sz="2800" b="1" dirty="0">
                <a:latin typeface="Times New Roman" panose="02020603050405020304" pitchFamily="18" charset="0"/>
                <a:cs typeface="Times New Roman" panose="02020603050405020304" pitchFamily="18" charset="0"/>
              </a:rPr>
              <a:t>Con</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There may be order effects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Order effects refer to the order of the conditions affecting the participants’ behavior</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Performance in the second condition may be better</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because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the participants know what to do</a:t>
            </a:r>
            <a:r>
              <a:rPr lang="en-US" sz="2800" dirty="0">
                <a:latin typeface="Times New Roman" panose="02020603050405020304" pitchFamily="18" charset="0"/>
                <a:cs typeface="Times New Roman" panose="02020603050405020304" pitchFamily="18" charset="0"/>
              </a:rPr>
              <a:t> (i.e., </a:t>
            </a:r>
            <a:r>
              <a:rPr lang="en-US" sz="2800" dirty="0">
                <a:highlight>
                  <a:srgbClr val="FF00FF"/>
                </a:highlight>
                <a:latin typeface="Times New Roman" panose="02020603050405020304" pitchFamily="18" charset="0"/>
                <a:cs typeface="Times New Roman" panose="02020603050405020304" pitchFamily="18" charset="0"/>
              </a:rPr>
              <a:t>practice effect</a:t>
            </a:r>
            <a:r>
              <a:rPr lang="en-US" sz="2800" dirty="0">
                <a:latin typeface="Times New Roman" panose="02020603050405020304" pitchFamily="18" charset="0"/>
                <a:cs typeface="Times New Roman" panose="02020603050405020304" pitchFamily="18" charset="0"/>
              </a:rPr>
              <a:t>).  Or their performance </a:t>
            </a:r>
            <a:r>
              <a:rPr lang="en-US" sz="2800" dirty="0">
                <a:highlight>
                  <a:srgbClr val="C0C0C0"/>
                </a:highlight>
                <a:latin typeface="Times New Roman" panose="02020603050405020304" pitchFamily="18" charset="0"/>
                <a:cs typeface="Times New Roman" panose="02020603050405020304" pitchFamily="18" charset="0"/>
              </a:rPr>
              <a:t>might be worse </a:t>
            </a:r>
            <a:r>
              <a:rPr lang="en-US" sz="2800" dirty="0">
                <a:latin typeface="Times New Roman" panose="02020603050405020304" pitchFamily="18" charset="0"/>
                <a:cs typeface="Times New Roman" panose="02020603050405020304" pitchFamily="18" charset="0"/>
              </a:rPr>
              <a:t>in the second condition </a:t>
            </a:r>
            <a:r>
              <a:rPr lang="en-US" sz="2800" dirty="0">
                <a:highlight>
                  <a:srgbClr val="C0C0C0"/>
                </a:highlight>
                <a:latin typeface="Times New Roman" panose="02020603050405020304" pitchFamily="18" charset="0"/>
                <a:cs typeface="Times New Roman" panose="02020603050405020304" pitchFamily="18" charset="0"/>
              </a:rPr>
              <a:t>because they are tired</a:t>
            </a:r>
            <a:r>
              <a:rPr lang="en-US" sz="2800" dirty="0">
                <a:latin typeface="Times New Roman" panose="02020603050405020304" pitchFamily="18" charset="0"/>
                <a:cs typeface="Times New Roman" panose="02020603050405020304" pitchFamily="18" charset="0"/>
              </a:rPr>
              <a:t> (i.e., </a:t>
            </a:r>
            <a:r>
              <a:rPr lang="en-US" sz="2800" dirty="0">
                <a:highlight>
                  <a:srgbClr val="FF00FF"/>
                </a:highlight>
                <a:latin typeface="Times New Roman" panose="02020603050405020304" pitchFamily="18" charset="0"/>
                <a:cs typeface="Times New Roman" panose="02020603050405020304" pitchFamily="18" charset="0"/>
              </a:rPr>
              <a:t>fatigue effect</a:t>
            </a:r>
            <a:r>
              <a:rPr lang="en-US" sz="2800" dirty="0">
                <a:latin typeface="Times New Roman" panose="02020603050405020304" pitchFamily="18" charset="0"/>
                <a:cs typeface="Times New Roman" panose="02020603050405020304" pitchFamily="18" charset="0"/>
              </a:rPr>
              <a:t>). This limitation can be controlled using counterbalancing.</a:t>
            </a:r>
          </a:p>
          <a:p>
            <a:r>
              <a:rPr lang="en-US" sz="2800" b="1" dirty="0">
                <a:latin typeface="Times New Roman" panose="02020603050405020304" pitchFamily="18" charset="0"/>
                <a:cs typeface="Times New Roman" panose="02020603050405020304" pitchFamily="18" charset="0"/>
              </a:rPr>
              <a:t>Pro</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Fewer people are needed</a:t>
            </a:r>
            <a:r>
              <a:rPr lang="en-US" sz="2800" dirty="0">
                <a:latin typeface="Times New Roman" panose="02020603050405020304" pitchFamily="18" charset="0"/>
                <a:cs typeface="Times New Roman" panose="02020603050405020304" pitchFamily="18" charset="0"/>
              </a:rPr>
              <a:t> as they participate in all conditions (i.e., </a:t>
            </a:r>
            <a:r>
              <a:rPr lang="en-US" sz="2800" dirty="0">
                <a:highlight>
                  <a:srgbClr val="FF00FF"/>
                </a:highlight>
                <a:latin typeface="Times New Roman" panose="02020603050405020304" pitchFamily="18" charset="0"/>
                <a:cs typeface="Times New Roman" panose="02020603050405020304" pitchFamily="18" charset="0"/>
              </a:rPr>
              <a:t>saves time</a:t>
            </a:r>
            <a:r>
              <a:rPr lang="en-US" sz="2800" dirty="0">
                <a:latin typeface="Times New Roman" panose="02020603050405020304" pitchFamily="18" charset="0"/>
                <a:cs typeface="Times New Roman" panose="02020603050405020304" pitchFamily="18" charset="0"/>
              </a:rPr>
              <a: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Title 1"/>
          <p:cNvSpPr>
            <a:spLocks noGrp="1"/>
          </p:cNvSpPr>
          <p:nvPr>
            <p:ph type="title"/>
          </p:nvPr>
        </p:nvSpPr>
        <p:spPr/>
        <p:txBody>
          <a:bodyPr/>
          <a:lstStyle/>
          <a:p>
            <a:endParaRPr lang="en-US" dirty="0"/>
          </a:p>
        </p:txBody>
      </p:sp>
      <p:sp>
        <p:nvSpPr>
          <p:cNvPr id="1048658" name="Content Placeholder 2"/>
          <p:cNvSpPr>
            <a:spLocks noGrp="1"/>
          </p:cNvSpPr>
          <p:nvPr>
            <p:ph idx="1"/>
          </p:nvPr>
        </p:nvSpPr>
        <p:spPr/>
        <p:txBody>
          <a:bodyPr>
            <a:normAutofit/>
          </a:bodyPr>
          <a:lstStyle/>
          <a:p>
            <a:r>
              <a:rPr lang="en-US" sz="2800" b="1" dirty="0">
                <a:latin typeface="Times New Roman" panose="02020603050405020304" pitchFamily="18" charset="0"/>
                <a:cs typeface="Times New Roman" panose="02020603050405020304" pitchFamily="18" charset="0"/>
              </a:rPr>
              <a:t>Control</a:t>
            </a:r>
            <a:r>
              <a:rPr lang="en-US" sz="2800" dirty="0">
                <a:latin typeface="Times New Roman" panose="02020603050405020304" pitchFamily="18" charset="0"/>
                <a:cs typeface="Times New Roman" panose="02020603050405020304" pitchFamily="18" charset="0"/>
              </a:rPr>
              <a:t>: To combat order effects, the researcher counter-balances the order of the conditions for the participants.  </a:t>
            </a:r>
            <a:r>
              <a:rPr lang="en-US" sz="2800" dirty="0">
                <a:highlight>
                  <a:srgbClr val="C0C0C0"/>
                </a:highlight>
                <a:latin typeface="Times New Roman" panose="02020603050405020304" pitchFamily="18" charset="0"/>
                <a:cs typeface="Times New Roman" panose="02020603050405020304" pitchFamily="18" charset="0"/>
              </a:rPr>
              <a:t>Alternating the order</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in which participants perform in different conditions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of an experiment</a:t>
            </a:r>
            <a:r>
              <a:rPr lang="en-US" sz="1800" dirty="0">
                <a:highlight>
                  <a:srgbClr val="C0C0C0"/>
                </a:highlight>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Title 1"/>
          <p:cNvSpPr>
            <a:spLocks noGrp="1"/>
          </p:cNvSpPr>
          <p:nvPr>
            <p:ph type="title"/>
          </p:nvPr>
        </p:nvSpPr>
        <p:spPr/>
        <p:txBody>
          <a:bodyPr/>
          <a:lstStyle/>
          <a:p>
            <a:r>
              <a:rPr lang="en-US" dirty="0"/>
              <a:t>example</a:t>
            </a:r>
          </a:p>
        </p:txBody>
      </p:sp>
      <p:sp>
        <p:nvSpPr>
          <p:cNvPr id="1048660" name="Content Placeholder 2"/>
          <p:cNvSpPr>
            <a:spLocks noGrp="1"/>
          </p:cNvSpPr>
          <p:nvPr>
            <p:ph idx="1"/>
          </p:nvPr>
        </p:nvSpPr>
        <p:spPr>
          <a:xfrm>
            <a:off x="609599" y="1524000"/>
            <a:ext cx="6347714" cy="5105400"/>
          </a:xfrm>
        </p:spPr>
        <p:txBody>
          <a:bodyPr>
            <a:noAutofit/>
          </a:bodyPr>
          <a:lstStyle/>
          <a:p>
            <a:r>
              <a:rPr lang="en-US" sz="2800" dirty="0">
                <a:latin typeface="Times New Roman" panose="02020603050405020304" pitchFamily="18" charset="0"/>
                <a:cs typeface="Times New Roman" panose="02020603050405020304" pitchFamily="18" charset="0"/>
              </a:rPr>
              <a:t>For example, in </a:t>
            </a:r>
            <a:r>
              <a:rPr lang="en-US" sz="2800" dirty="0">
                <a:highlight>
                  <a:srgbClr val="FF00FF"/>
                </a:highlight>
                <a:latin typeface="Times New Roman" panose="02020603050405020304" pitchFamily="18" charset="0"/>
                <a:cs typeface="Times New Roman" panose="02020603050405020304" pitchFamily="18" charset="0"/>
              </a:rPr>
              <a:t>a candy taste test</a:t>
            </a:r>
            <a:r>
              <a:rPr lang="en-US" sz="2800" dirty="0">
                <a:latin typeface="Times New Roman" panose="02020603050405020304" pitchFamily="18" charset="0"/>
                <a:cs typeface="Times New Roman" panose="02020603050405020304" pitchFamily="18" charset="0"/>
              </a:rPr>
              <a:t>, the researcher would want every participant to taste and rate each type of candy.</a:t>
            </a:r>
          </a:p>
          <a:p>
            <a:r>
              <a:rPr lang="en-US" sz="2800" dirty="0">
                <a:latin typeface="Times New Roman" panose="02020603050405020304" pitchFamily="18" charset="0"/>
                <a:cs typeface="Times New Roman" panose="02020603050405020304" pitchFamily="18" charset="0"/>
              </a:rPr>
              <a:t>An example of repeated measures design </a:t>
            </a:r>
            <a:r>
              <a:rPr lang="en-US" sz="2800" dirty="0">
                <a:highlight>
                  <a:srgbClr val="FF00FF"/>
                </a:highlight>
                <a:latin typeface="Times New Roman" panose="02020603050405020304" pitchFamily="18" charset="0"/>
                <a:cs typeface="Times New Roman" panose="02020603050405020304" pitchFamily="18" charset="0"/>
              </a:rPr>
              <a:t>for medical research </a:t>
            </a:r>
            <a:r>
              <a:rPr lang="en-US" sz="2800" dirty="0">
                <a:latin typeface="Times New Roman" panose="02020603050405020304" pitchFamily="18" charset="0"/>
                <a:cs typeface="Times New Roman" panose="02020603050405020304" pitchFamily="18" charset="0"/>
              </a:rPr>
              <a:t>would involve choosing five participants and </a:t>
            </a:r>
            <a:r>
              <a:rPr lang="en-US" sz="2800" dirty="0">
                <a:highlight>
                  <a:srgbClr val="C0C0C0"/>
                </a:highlight>
                <a:latin typeface="Times New Roman" panose="02020603050405020304" pitchFamily="18" charset="0"/>
                <a:cs typeface="Times New Roman" panose="02020603050405020304" pitchFamily="18" charset="0"/>
              </a:rPr>
              <a:t>testing</a:t>
            </a:r>
            <a:r>
              <a:rPr lang="en-US" sz="2800" dirty="0">
                <a:latin typeface="Times New Roman" panose="02020603050405020304" pitchFamily="18" charset="0"/>
                <a:cs typeface="Times New Roman" panose="02020603050405020304" pitchFamily="18" charset="0"/>
              </a:rPr>
              <a:t> them </a:t>
            </a:r>
            <a:r>
              <a:rPr lang="en-US" sz="2800" dirty="0">
                <a:highlight>
                  <a:srgbClr val="C0C0C0"/>
                </a:highlight>
                <a:latin typeface="Times New Roman" panose="02020603050405020304" pitchFamily="18" charset="0"/>
                <a:cs typeface="Times New Roman" panose="02020603050405020304" pitchFamily="18" charset="0"/>
              </a:rPr>
              <a:t>for their response to</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three different cancer drugs</a:t>
            </a:r>
            <a:r>
              <a:rPr lang="en-US" sz="2800" dirty="0">
                <a:latin typeface="Times New Roman" panose="02020603050405020304" pitchFamily="18" charset="0"/>
                <a:cs typeface="Times New Roman" panose="02020603050405020304" pitchFamily="18" charset="0"/>
              </a:rPr>
              <a:t>. Each participant in the study would try all three drugs and be evaluated after each one.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Matched Pairs Design</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1048662" name="Content Placeholder 2"/>
          <p:cNvSpPr>
            <a:spLocks noGrp="1"/>
          </p:cNvSpPr>
          <p:nvPr>
            <p:ph idx="1"/>
          </p:nvPr>
        </p:nvSpPr>
        <p:spPr/>
        <p:txBody>
          <a:bodyPr>
            <a:normAutofit fontScale="94444"/>
          </a:bodyPr>
          <a:lstStyle/>
          <a:p>
            <a:r>
              <a:rPr lang="en-US" sz="2800" dirty="0">
                <a:latin typeface="Times New Roman" panose="02020603050405020304" pitchFamily="18" charset="0"/>
                <a:cs typeface="Times New Roman" panose="02020603050405020304" pitchFamily="18" charset="0"/>
              </a:rPr>
              <a:t>A matched pairs design is an experimental design </a:t>
            </a:r>
            <a:r>
              <a:rPr lang="en-US" sz="2800" dirty="0">
                <a:highlight>
                  <a:srgbClr val="C0C0C0"/>
                </a:highlight>
                <a:latin typeface="Times New Roman" panose="02020603050405020304" pitchFamily="18" charset="0"/>
                <a:cs typeface="Times New Roman" panose="02020603050405020304" pitchFamily="18" charset="0"/>
              </a:rPr>
              <a:t>where</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pairs of participants are matched</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in terms of key variables</a:t>
            </a:r>
            <a:r>
              <a:rPr lang="en-US" sz="2800" dirty="0">
                <a:latin typeface="Times New Roman" panose="02020603050405020304" pitchFamily="18" charset="0"/>
                <a:cs typeface="Times New Roman" panose="02020603050405020304" pitchFamily="18" charset="0"/>
              </a:rPr>
              <a:t>, such as </a:t>
            </a:r>
            <a:r>
              <a:rPr lang="en-US" sz="2800" dirty="0">
                <a:highlight>
                  <a:srgbClr val="FF00FF"/>
                </a:highlight>
                <a:latin typeface="Times New Roman" panose="02020603050405020304" pitchFamily="18" charset="0"/>
                <a:cs typeface="Times New Roman" panose="02020603050405020304" pitchFamily="18" charset="0"/>
              </a:rPr>
              <a:t>age</a:t>
            </a:r>
            <a:r>
              <a:rPr lang="en-US" sz="2800" dirty="0">
                <a:latin typeface="Times New Roman" panose="02020603050405020304" pitchFamily="18" charset="0"/>
                <a:cs typeface="Times New Roman" panose="02020603050405020304" pitchFamily="18" charset="0"/>
              </a:rPr>
              <a:t> or </a:t>
            </a:r>
            <a:r>
              <a:rPr lang="en-US" sz="2800" dirty="0">
                <a:highlight>
                  <a:srgbClr val="FF00FF"/>
                </a:highlight>
                <a:latin typeface="Times New Roman" panose="02020603050405020304" pitchFamily="18" charset="0"/>
                <a:cs typeface="Times New Roman" panose="02020603050405020304" pitchFamily="18" charset="0"/>
              </a:rPr>
              <a:t>socioeconomic status</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One member of each pair </a:t>
            </a:r>
            <a:r>
              <a:rPr lang="en-US" sz="2800" dirty="0">
                <a:latin typeface="Times New Roman" panose="02020603050405020304" pitchFamily="18" charset="0"/>
                <a:cs typeface="Times New Roman" panose="02020603050405020304" pitchFamily="18" charset="0"/>
              </a:rPr>
              <a:t>is then </a:t>
            </a:r>
            <a:r>
              <a:rPr lang="en-US" sz="2800" dirty="0">
                <a:highlight>
                  <a:srgbClr val="C0C0C0"/>
                </a:highlight>
                <a:latin typeface="Times New Roman" panose="02020603050405020304" pitchFamily="18" charset="0"/>
                <a:cs typeface="Times New Roman" panose="02020603050405020304" pitchFamily="18" charset="0"/>
              </a:rPr>
              <a:t>placed into the experimental group</a:t>
            </a:r>
            <a:r>
              <a:rPr lang="en-US" sz="2800" dirty="0">
                <a:latin typeface="Times New Roman" panose="02020603050405020304" pitchFamily="18" charset="0"/>
                <a:cs typeface="Times New Roman" panose="02020603050405020304" pitchFamily="18" charset="0"/>
              </a:rPr>
              <a:t> and </a:t>
            </a:r>
            <a:r>
              <a:rPr lang="en-US" sz="2800" dirty="0">
                <a:highlight>
                  <a:srgbClr val="C0C0C0"/>
                </a:highlight>
                <a:latin typeface="Times New Roman" panose="02020603050405020304" pitchFamily="18" charset="0"/>
                <a:cs typeface="Times New Roman" panose="02020603050405020304" pitchFamily="18" charset="0"/>
              </a:rPr>
              <a:t>the other </a:t>
            </a:r>
            <a:r>
              <a:rPr lang="en-US" sz="2800" dirty="0">
                <a:latin typeface="Times New Roman" panose="02020603050405020304" pitchFamily="18" charset="0"/>
                <a:cs typeface="Times New Roman" panose="02020603050405020304" pitchFamily="18" charset="0"/>
              </a:rPr>
              <a:t>member </a:t>
            </a:r>
            <a:r>
              <a:rPr lang="en-US" sz="2800" dirty="0">
                <a:highlight>
                  <a:srgbClr val="C0C0C0"/>
                </a:highlight>
                <a:latin typeface="Times New Roman" panose="02020603050405020304" pitchFamily="18" charset="0"/>
                <a:cs typeface="Times New Roman" panose="02020603050405020304" pitchFamily="18" charset="0"/>
              </a:rPr>
              <a:t>into the </a:t>
            </a:r>
            <a:r>
              <a:rPr lang="en-US" sz="2800" dirty="0">
                <a:solidFill>
                  <a:srgbClr val="FFE062"/>
                </a:solidFill>
                <a:highlight>
                  <a:srgbClr val="808080"/>
                </a:highligh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control group</a:t>
            </a:r>
            <a:r>
              <a:rPr lang="en-US" sz="2800" dirty="0">
                <a:solidFill>
                  <a:srgbClr val="FFE062"/>
                </a:solidFill>
                <a:highlight>
                  <a:srgbClr val="808080"/>
                </a:highlight>
                <a:latin typeface="Times New Roman" panose="02020603050405020304" pitchFamily="18" charset="0"/>
                <a:cs typeface="Times New Roman" panose="02020603050405020304" pitchFamily="18" charset="0"/>
              </a:rPr>
              <a:t>.</a:t>
            </a:r>
          </a:p>
          <a:p>
            <a:r>
              <a:rPr lang="en-US" sz="2800" dirty="0">
                <a:highlight>
                  <a:srgbClr val="C0C0C0"/>
                </a:highlight>
                <a:latin typeface="Times New Roman" panose="02020603050405020304" pitchFamily="18" charset="0"/>
                <a:cs typeface="Times New Roman" panose="02020603050405020304" pitchFamily="18" charset="0"/>
              </a:rPr>
              <a:t>One member of each matched pair must be randomly assigned to</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the experimental group </a:t>
            </a:r>
            <a:r>
              <a:rPr lang="en-US" sz="2800" dirty="0">
                <a:latin typeface="Times New Roman" panose="02020603050405020304" pitchFamily="18" charset="0"/>
                <a:cs typeface="Times New Roman" panose="02020603050405020304" pitchFamily="18" charset="0"/>
              </a:rPr>
              <a:t>and </a:t>
            </a:r>
            <a:r>
              <a:rPr lang="en-US" sz="2800" dirty="0">
                <a:highlight>
                  <a:srgbClr val="C0C0C0"/>
                </a:highlight>
                <a:latin typeface="Times New Roman" panose="02020603050405020304" pitchFamily="18" charset="0"/>
                <a:cs typeface="Times New Roman" panose="02020603050405020304" pitchFamily="18" charset="0"/>
              </a:rPr>
              <a:t>the other to the control group.</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Title 1"/>
          <p:cNvSpPr>
            <a:spLocks noGrp="1"/>
          </p:cNvSpPr>
          <p:nvPr>
            <p:ph type="title"/>
          </p:nvPr>
        </p:nvSpPr>
        <p:spPr>
          <a:xfrm>
            <a:off x="228600" y="7620"/>
            <a:ext cx="6347713" cy="1320800"/>
          </a:xfrm>
        </p:spPr>
        <p:txBody>
          <a:bodyPr/>
          <a:lstStyle/>
          <a:p>
            <a:r>
              <a:rPr lang="en-US" b="1" dirty="0">
                <a:solidFill>
                  <a:schemeClr val="tx1"/>
                </a:solidFill>
              </a:rPr>
              <a:t>Example</a:t>
            </a:r>
          </a:p>
        </p:txBody>
      </p:sp>
      <p:sp>
        <p:nvSpPr>
          <p:cNvPr id="1048664" name="Content Placeholder 2"/>
          <p:cNvSpPr>
            <a:spLocks noGrp="1"/>
          </p:cNvSpPr>
          <p:nvPr>
            <p:ph idx="1"/>
          </p:nvPr>
        </p:nvSpPr>
        <p:spPr>
          <a:xfrm>
            <a:off x="0" y="1084162"/>
            <a:ext cx="8077201" cy="5181600"/>
          </a:xfrm>
        </p:spPr>
        <p:txBody>
          <a:bodyPr>
            <a:noAutofit/>
          </a:bodyPr>
          <a:lstStyle/>
          <a:p>
            <a:r>
              <a:rPr lang="en-US" sz="2800" dirty="0">
                <a:latin typeface="Times New Roman" panose="02020603050405020304" pitchFamily="18" charset="0"/>
                <a:cs typeface="Times New Roman" panose="02020603050405020304" pitchFamily="18" charset="0"/>
              </a:rPr>
              <a:t>The two groups of participants are matched as closely together as possible, making equivalent groups. For example, if researchers were trying out a form of </a:t>
            </a:r>
            <a:r>
              <a:rPr lang="en-US" sz="2800" dirty="0">
                <a:highlight>
                  <a:srgbClr val="FF00FF"/>
                </a:highlight>
                <a:latin typeface="Times New Roman" panose="02020603050405020304" pitchFamily="18" charset="0"/>
                <a:cs typeface="Times New Roman" panose="02020603050405020304" pitchFamily="18" charset="0"/>
              </a:rPr>
              <a:t>weight loss drug</a:t>
            </a:r>
            <a:r>
              <a:rPr lang="en-US" sz="2800" dirty="0">
                <a:latin typeface="Times New Roman" panose="02020603050405020304" pitchFamily="18" charset="0"/>
                <a:cs typeface="Times New Roman" panose="02020603050405020304" pitchFamily="18" charset="0"/>
              </a:rPr>
              <a:t>, the participants would need to be matched to make sure they were all the </a:t>
            </a:r>
            <a:r>
              <a:rPr lang="en-US" sz="2800" dirty="0">
                <a:highlight>
                  <a:srgbClr val="C0C0C0"/>
                </a:highlight>
                <a:latin typeface="Times New Roman" panose="02020603050405020304" pitchFamily="18" charset="0"/>
                <a:cs typeface="Times New Roman" panose="02020603050405020304" pitchFamily="18" charset="0"/>
              </a:rPr>
              <a:t>same weight</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height</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build</a:t>
            </a:r>
            <a:r>
              <a:rPr lang="en-US" sz="2800" dirty="0">
                <a:latin typeface="Times New Roman" panose="02020603050405020304" pitchFamily="18" charset="0"/>
                <a:cs typeface="Times New Roman" panose="02020603050405020304" pitchFamily="18" charset="0"/>
              </a:rPr>
              <a:t> and had </a:t>
            </a:r>
            <a:r>
              <a:rPr lang="en-US" sz="2800" dirty="0">
                <a:highlight>
                  <a:srgbClr val="C0C0C0"/>
                </a:highlight>
                <a:latin typeface="Times New Roman" panose="02020603050405020304" pitchFamily="18" charset="0"/>
                <a:cs typeface="Times New Roman" panose="02020603050405020304" pitchFamily="18" charset="0"/>
              </a:rPr>
              <a:t>similar diets.</a:t>
            </a:r>
          </a:p>
          <a:p>
            <a:r>
              <a:rPr lang="en-US" sz="2800" dirty="0">
                <a:highlight>
                  <a:srgbClr val="FF00FF"/>
                </a:highlight>
                <a:latin typeface="Times New Roman" panose="02020603050405020304" pitchFamily="18" charset="0"/>
                <a:cs typeface="Times New Roman" panose="02020603050405020304" pitchFamily="18" charset="0"/>
              </a:rPr>
              <a:t>In a clinical trial</a:t>
            </a:r>
            <a:r>
              <a:rPr lang="en-US" sz="2800" dirty="0">
                <a:latin typeface="Times New Roman" panose="02020603050405020304" pitchFamily="18" charset="0"/>
                <a:cs typeface="Times New Roman" panose="02020603050405020304" pitchFamily="18" charset="0"/>
              </a:rPr>
              <a:t> for a </a:t>
            </a:r>
            <a:r>
              <a:rPr lang="en-US" sz="2800" dirty="0">
                <a:highlight>
                  <a:srgbClr val="FF00FF"/>
                </a:highlight>
                <a:latin typeface="Times New Roman" panose="02020603050405020304" pitchFamily="18" charset="0"/>
                <a:cs typeface="Times New Roman" panose="02020603050405020304" pitchFamily="18" charset="0"/>
              </a:rPr>
              <a:t>new drug</a:t>
            </a:r>
            <a:r>
              <a:rPr lang="en-US" sz="2800" dirty="0">
                <a:latin typeface="Times New Roman" panose="02020603050405020304" pitchFamily="18" charset="0"/>
                <a:cs typeface="Times New Roman" panose="02020603050405020304" pitchFamily="18" charset="0"/>
              </a:rPr>
              <a:t>, patients are </a:t>
            </a:r>
            <a:r>
              <a:rPr lang="en-US" sz="2800" dirty="0">
                <a:highlight>
                  <a:srgbClr val="C0C0C0"/>
                </a:highlight>
                <a:latin typeface="Times New Roman" panose="02020603050405020304" pitchFamily="18" charset="0"/>
                <a:cs typeface="Times New Roman" panose="02020603050405020304" pitchFamily="18" charset="0"/>
              </a:rPr>
              <a:t>tested</a:t>
            </a:r>
            <a:r>
              <a:rPr lang="en-US" sz="2800" dirty="0">
                <a:latin typeface="Times New Roman" panose="02020603050405020304" pitchFamily="18" charset="0"/>
                <a:cs typeface="Times New Roman" panose="02020603050405020304" pitchFamily="18" charset="0"/>
              </a:rPr>
              <a:t> </a:t>
            </a:r>
            <a:r>
              <a:rPr lang="en-US" sz="2800" dirty="0">
                <a:highlight>
                  <a:srgbClr val="C0C0C0"/>
                </a:highlight>
                <a:latin typeface="Times New Roman" panose="02020603050405020304" pitchFamily="18" charset="0"/>
                <a:cs typeface="Times New Roman" panose="02020603050405020304" pitchFamily="18" charset="0"/>
              </a:rPr>
              <a:t>before the drug</a:t>
            </a:r>
            <a:r>
              <a:rPr lang="en-US" sz="2800" dirty="0">
                <a:latin typeface="Times New Roman" panose="02020603050405020304" pitchFamily="18" charset="0"/>
                <a:cs typeface="Times New Roman" panose="02020603050405020304" pitchFamily="18" charset="0"/>
              </a:rPr>
              <a:t> is administered and then the same group of patients are tested </a:t>
            </a:r>
            <a:r>
              <a:rPr lang="en-US" sz="2800" dirty="0">
                <a:highlight>
                  <a:srgbClr val="C0C0C0"/>
                </a:highlight>
                <a:latin typeface="Times New Roman" panose="02020603050405020304" pitchFamily="18" charset="0"/>
                <a:cs typeface="Times New Roman" panose="02020603050405020304" pitchFamily="18" charset="0"/>
              </a:rPr>
              <a:t>after being given the drug</a:t>
            </a:r>
            <a:r>
              <a:rPr lang="en-US" sz="2800" dirty="0">
                <a:latin typeface="Times New Roman" panose="02020603050405020304" pitchFamily="18" charset="0"/>
                <a:cs typeface="Times New Roman" panose="02020603050405020304" pitchFamily="18" charset="0"/>
              </a:rPr>
              <a:t>. This is a matched sample experiment because the </a:t>
            </a:r>
            <a:r>
              <a:rPr lang="en-US" sz="2800" dirty="0">
                <a:highlight>
                  <a:srgbClr val="C0C0C0"/>
                </a:highlight>
                <a:latin typeface="Times New Roman" panose="02020603050405020304" pitchFamily="18" charset="0"/>
                <a:cs typeface="Times New Roman" panose="02020603050405020304" pitchFamily="18" charset="0"/>
              </a:rPr>
              <a:t>same group of patients is measured before and after the administration of the drug</a:t>
            </a:r>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TM03457510[[fn=Savon]]</Template>
  <TotalTime>394</TotalTime>
  <Words>1326</Words>
  <Application>Microsoft Office PowerPoint</Application>
  <PresentationFormat>On-screen Show (4:3)</PresentationFormat>
  <Paragraphs>65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-apple-system</vt:lpstr>
      <vt:lpstr>Arial</vt:lpstr>
      <vt:lpstr>Calibri</vt:lpstr>
      <vt:lpstr>Century Gothic</vt:lpstr>
      <vt:lpstr>Garamond</vt:lpstr>
      <vt:lpstr>Times New Roman</vt:lpstr>
      <vt:lpstr>Savon</vt:lpstr>
      <vt:lpstr>Experimental Research Design</vt:lpstr>
      <vt:lpstr>What is Experimental Research Design</vt:lpstr>
      <vt:lpstr>Characteristics </vt:lpstr>
      <vt:lpstr>TRUE EXPERIMENTAL DESIGN  In true experimental designs the researchers have complete control over the extraneous variables and can predict confidently that the observed effect on the dependent variable is only due to the manipulation of independent variable. </vt:lpstr>
      <vt:lpstr>Essential Characteristics of true experimental design</vt:lpstr>
      <vt:lpstr>Manipulation</vt:lpstr>
      <vt:lpstr>Control</vt:lpstr>
      <vt:lpstr>Matching</vt:lpstr>
      <vt:lpstr>Matching Variables in Group Recruitment</vt:lpstr>
      <vt:lpstr>Randomization</vt:lpstr>
      <vt:lpstr>Methods of Randomization</vt:lpstr>
      <vt:lpstr>Independent group designs</vt:lpstr>
      <vt:lpstr>Example</vt:lpstr>
      <vt:lpstr>PowerPoint Presentation</vt:lpstr>
      <vt:lpstr>PowerPoint Presentation</vt:lpstr>
      <vt:lpstr>Repeated Measures Design </vt:lpstr>
      <vt:lpstr>PowerPoint Presentation</vt:lpstr>
      <vt:lpstr>PowerPoint Presentation</vt:lpstr>
      <vt:lpstr>example</vt:lpstr>
      <vt:lpstr>Matched Pairs Design </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NIGHAT SAEED</dc:creator>
  <cp:lastModifiedBy>awais ch</cp:lastModifiedBy>
  <cp:revision>4</cp:revision>
  <dcterms:created xsi:type="dcterms:W3CDTF">2023-08-28T21:22:45Z</dcterms:created>
  <dcterms:modified xsi:type="dcterms:W3CDTF">2024-09-12T13:55:23Z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371bd43e603a46afac7f3e7d098473c4</vt:lpwstr>
  </property>
</Properties>
</file>
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2" r:id="rId7"/>
    <p:sldId id="269" r:id="rId8"/>
    <p:sldId id="270" r:id="rId9"/>
    <p:sldId id="271" r:id="rId10"/>
    <p:sldId id="272" r:id="rId11"/>
    <p:sldId id="273" r:id="rId12"/>
    <p:sldId id="274" r:id="rId13"/>
    <p:sldId id="275" r:id="rId14"/>
    <p:sldId id="276" r:id="rId15"/>
    <p:sldId id="263" r:id="rId16"/>
    <p:sldId id="265" r:id="rId17"/>
    <p:sldId id="266" r:id="rId18"/>
    <p:sldId id="26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95" d="100"/>
          <a:sy n="95" d="100"/>
        </p:scale>
        <p:origin x="-1090"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DF22360B-91CE-48CB-BD89-9164B6417349}" type="datetimeFigureOut">
              <a:rPr lang="en-US" smtClean="0"/>
              <a:pPr/>
              <a:t>5/27/2021</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9F756EE8-9BE5-44C0-89DF-E6B8175AC79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DF22360B-91CE-48CB-BD89-9164B6417349}" type="datetimeFigureOut">
              <a:rPr lang="en-US" smtClean="0"/>
              <a:pPr/>
              <a:t>5/27/2021</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9F756EE8-9BE5-44C0-89DF-E6B8175AC79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DF22360B-91CE-48CB-BD89-9164B6417349}" type="datetimeFigureOut">
              <a:rPr lang="en-US" smtClean="0"/>
              <a:pPr/>
              <a:t>5/27/2021</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F756EE8-9BE5-44C0-89DF-E6B8175AC79C}"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F22360B-91CE-48CB-BD89-9164B6417349}" type="datetimeFigureOut">
              <a:rPr lang="en-US" smtClean="0"/>
              <a:pPr/>
              <a:t>5/27/2021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F756EE8-9BE5-44C0-89DF-E6B8175AC79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DF22360B-91CE-48CB-BD89-9164B6417349}" type="datetimeFigureOut">
              <a:rPr lang="en-US" smtClean="0"/>
              <a:pPr/>
              <a:t>5/27/2021</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9F756EE8-9BE5-44C0-89DF-E6B8175AC79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DF22360B-91CE-48CB-BD89-9164B6417349}" type="datetimeFigureOut">
              <a:rPr lang="en-US" smtClean="0"/>
              <a:pPr/>
              <a:t>5/27/2021</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9F756EE8-9BE5-44C0-89DF-E6B8175AC79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ncbi.nlm.nih.gov/pmc/articles/PMC312227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cap="none" dirty="0" smtClean="0">
                <a:latin typeface="Times New Roman" pitchFamily="18" charset="0"/>
                <a:cs typeface="Times New Roman" pitchFamily="18" charset="0"/>
              </a:rPr>
              <a:t>Assignment of positive Psychology</a:t>
            </a:r>
            <a:endParaRPr lang="en-US" sz="4000" cap="none" dirty="0">
              <a:latin typeface="Times New Roman" pitchFamily="18" charset="0"/>
              <a:cs typeface="Times New Roman" pitchFamily="18" charset="0"/>
            </a:endParaRPr>
          </a:p>
        </p:txBody>
      </p:sp>
      <p:sp>
        <p:nvSpPr>
          <p:cNvPr id="3" name="Subtitle 2"/>
          <p:cNvSpPr>
            <a:spLocks noGrp="1"/>
          </p:cNvSpPr>
          <p:nvPr>
            <p:ph type="subTitle" idx="1"/>
          </p:nvPr>
        </p:nvSpPr>
        <p:spPr>
          <a:xfrm>
            <a:off x="3354442" y="3539864"/>
            <a:ext cx="5114778" cy="1675086"/>
          </a:xfrm>
        </p:spPr>
        <p:txBody>
          <a:bodyPr>
            <a:normAutofit/>
          </a:bodyPr>
          <a:lstStyle/>
          <a:p>
            <a:r>
              <a:rPr lang="en-US" dirty="0" smtClean="0"/>
              <a:t>Submitted To: </a:t>
            </a:r>
            <a:r>
              <a:rPr lang="en-US" dirty="0" err="1" smtClean="0"/>
              <a:t>Mam</a:t>
            </a:r>
            <a:r>
              <a:rPr lang="en-US" dirty="0" smtClean="0"/>
              <a:t> </a:t>
            </a:r>
            <a:r>
              <a:rPr lang="en-US" dirty="0" err="1" smtClean="0"/>
              <a:t>Fariha</a:t>
            </a:r>
            <a:endParaRPr lang="en-US" dirty="0" smtClean="0"/>
          </a:p>
          <a:p>
            <a:r>
              <a:rPr lang="en-US" dirty="0" smtClean="0"/>
              <a:t>Submitted by :Fatima </a:t>
            </a:r>
          </a:p>
          <a:p>
            <a:r>
              <a:rPr lang="en-US" dirty="0" smtClean="0"/>
              <a:t>Roll no : 17514</a:t>
            </a:r>
          </a:p>
          <a:p>
            <a:r>
              <a:rPr lang="en-US" dirty="0" smtClean="0"/>
              <a:t>Topic :Importance of Positive Emotions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cap="none" dirty="0" smtClean="0">
                <a:solidFill>
                  <a:schemeClr val="tx1"/>
                </a:solidFill>
              </a:rPr>
              <a:t>Importance of Positive Emotions</a:t>
            </a:r>
            <a:endParaRPr lang="en-US" cap="none" dirty="0">
              <a:solidFill>
                <a:schemeClr val="tx1"/>
              </a:solidFill>
            </a:endParaRPr>
          </a:p>
        </p:txBody>
      </p:sp>
      <p:sp>
        <p:nvSpPr>
          <p:cNvPr id="2" name="Content Placeholder 1"/>
          <p:cNvSpPr>
            <a:spLocks noGrp="1"/>
          </p:cNvSpPr>
          <p:nvPr>
            <p:ph idx="1"/>
          </p:nvPr>
        </p:nvSpPr>
        <p:spPr/>
        <p:txBody>
          <a:bodyPr/>
          <a:lstStyle/>
          <a:p>
            <a:r>
              <a:rPr lang="en-US" b="1" dirty="0" smtClean="0"/>
              <a:t>Positive emotions</a:t>
            </a:r>
            <a:r>
              <a:rPr lang="en-US" dirty="0" smtClean="0"/>
              <a:t> include pleasant or desirable situational responses, ranging from interest and contentment to love and joy, but are distinct from pleasurable sensation and undifferentiated </a:t>
            </a:r>
            <a:r>
              <a:rPr lang="en-US" b="1" dirty="0" smtClean="0"/>
              <a:t>positive</a:t>
            </a:r>
            <a:r>
              <a:rPr lang="en-US" dirty="0" smtClean="0"/>
              <a:t> affect.</a:t>
            </a:r>
          </a:p>
          <a:p>
            <a:r>
              <a:rPr lang="en-US" dirty="0" smtClean="0"/>
              <a:t>These emotions are markers of people's overall well-being or happiness, but they also enhance future growth and success.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7239000" cy="1143008"/>
          </a:xfrm>
        </p:spPr>
        <p:txBody>
          <a:bodyPr>
            <a:noAutofit/>
          </a:bodyPr>
          <a:lstStyle/>
          <a:p>
            <a:r>
              <a:rPr lang="en-US" sz="2800" dirty="0" smtClean="0"/>
              <a:t>The Broaden-and-Build Theory of Positive Emotions</a:t>
            </a:r>
            <a:br>
              <a:rPr lang="en-US" sz="2800" dirty="0" smtClean="0"/>
            </a:br>
            <a:endParaRPr lang="en-US" sz="2800" dirty="0"/>
          </a:p>
        </p:txBody>
      </p:sp>
      <p:sp>
        <p:nvSpPr>
          <p:cNvPr id="3" name="Content Placeholder 2"/>
          <p:cNvSpPr>
            <a:spLocks noGrp="1"/>
          </p:cNvSpPr>
          <p:nvPr>
            <p:ph idx="1"/>
          </p:nvPr>
        </p:nvSpPr>
        <p:spPr/>
        <p:txBody>
          <a:bodyPr>
            <a:normAutofit fontScale="92500"/>
          </a:bodyPr>
          <a:lstStyle/>
          <a:p>
            <a:r>
              <a:rPr lang="en-US" dirty="0" smtClean="0"/>
              <a:t>To advance understanding in this area, formulated a new theoretical model to better capture the unique effects of positive emotions. The </a:t>
            </a:r>
            <a:r>
              <a:rPr lang="en-US" i="1" dirty="0" smtClean="0"/>
              <a:t>broaden-and-</a:t>
            </a:r>
            <a:r>
              <a:rPr lang="en-US" i="1" dirty="0" err="1" smtClean="0"/>
              <a:t>buiid</a:t>
            </a:r>
            <a:r>
              <a:rPr lang="en-US" i="1" dirty="0" smtClean="0"/>
              <a:t> theory</a:t>
            </a:r>
            <a:r>
              <a:rPr lang="en-US" dirty="0" smtClean="0"/>
              <a:t> of </a:t>
            </a:r>
            <a:r>
              <a:rPr lang="en-US" dirty="0" err="1" smtClean="0"/>
              <a:t>posiiive</a:t>
            </a:r>
            <a:r>
              <a:rPr lang="en-US" dirty="0" smtClean="0"/>
              <a:t> emotions (</a:t>
            </a:r>
            <a:r>
              <a:rPr lang="en-US" dirty="0" smtClean="0">
                <a:hlinkClick r:id="rId2"/>
              </a:rPr>
              <a:t>Fredrickson, 1998</a:t>
            </a:r>
            <a:r>
              <a:rPr lang="en-US" dirty="0" smtClean="0"/>
              <a:t>). This theory states that certain discrete positive emotions—including joy, interest, contentment, pride, and love—although </a:t>
            </a:r>
            <a:r>
              <a:rPr lang="en-US" dirty="0" err="1" smtClean="0"/>
              <a:t>phenomenologically</a:t>
            </a:r>
            <a:r>
              <a:rPr lang="en-US" dirty="0" smtClean="0"/>
              <a:t> distinct, all share the ability to broaden people's momentary thought-action repertoires and build their enduring personal resources, ranging from physical and intellectual resources to social and psychological resources.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Specific action tendencies work well to describe the function of negative emotions and should be retained for models of this subset of emotions. Without loss of theoretical nuance, a specific action tendency can be redescribed as the outcome of a psychological process that narrows a person's momentary thought–action repertoire by calling to mind an urge to act in a particular way (e.g., escape, attack, expel).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endParaRPr lang="en-US" dirty="0" smtClean="0"/>
          </a:p>
          <a:p>
            <a:r>
              <a:rPr lang="en-US" dirty="0" smtClean="0"/>
              <a:t>In contrast to negative emotions, which carry direct and immediate adaptive benefits in situations that threaten survival, the broadened thought-action repertoires triggered by positive emotions are beneficial in other ways. Specifically, these broadened mindsets carry indirect and long-term adaptive benefits because broadening builds enduring personal resources, which function as reserves to be drawn on later to manage future threats.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In short, the broaden-and-build theory describes the form of positive emotions in terms of broadened thought–action repertoires and describes their function in terms of building enduring personal resources.</a:t>
            </a:r>
          </a:p>
          <a:p>
            <a:r>
              <a:rPr lang="en-US" dirty="0" smtClean="0"/>
              <a:t> In doing so, the theory provides a new perspective on the evolved adaptive significance of positive emotions. Human ancestors who succumbed to the urges sparked by positive emotions to play, explore, and so on would have by consequence accrued more personal resources. </a:t>
            </a:r>
          </a:p>
          <a:p>
            <a:r>
              <a:rPr lang="en-US" dirty="0" smtClean="0"/>
              <a:t>When these same ancestors later faced inevitable threats to life and limb, their greater personal resources would have translated into greater odds of survival, and, in turn, greater odds of living long enough to reproduce. To the extent, then, that the capacity to experience positive emotions is genetically encoded, this capacity, through the process of natural selection, would have become part of universal human nature.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Leading With Positive Emotions</a:t>
            </a:r>
            <a:br>
              <a:rPr lang="en-US" dirty="0" smtClean="0"/>
            </a:br>
            <a:endParaRPr lang="en-US" dirty="0"/>
          </a:p>
        </p:txBody>
      </p:sp>
      <p:sp>
        <p:nvSpPr>
          <p:cNvPr id="3" name="Content Placeholder 2"/>
          <p:cNvSpPr>
            <a:spLocks noGrp="1"/>
          </p:cNvSpPr>
          <p:nvPr>
            <p:ph idx="1"/>
          </p:nvPr>
        </p:nvSpPr>
        <p:spPr/>
        <p:txBody>
          <a:bodyPr/>
          <a:lstStyle/>
          <a:p>
            <a:r>
              <a:rPr lang="en-US" dirty="0" smtClean="0"/>
              <a:t>In the wake of the attacks of September 11th, Americans and others remain afraid, angry and profoundly sad. At first blush, positive emotions seem out of place - even inappropriate - during these trying times. For the moment, perhaps we should forget about feeling good altogether, and simply find ways to cope. Yet scientific research on positive emotions suggests that feeling good is far more important than many people suspect.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714356"/>
            <a:ext cx="7239000" cy="928694"/>
          </a:xfrm>
        </p:spPr>
        <p:txBody>
          <a:bodyPr>
            <a:normAutofit fontScale="90000"/>
          </a:bodyPr>
          <a:lstStyle/>
          <a:p>
            <a:r>
              <a:rPr lang="en-US" dirty="0" smtClean="0"/>
              <a:t>Positive Emotions Undo Negative Emotions</a:t>
            </a:r>
            <a:br>
              <a:rPr lang="en-US" dirty="0" smtClean="0"/>
            </a:br>
            <a:endParaRPr lang="en-US" dirty="0"/>
          </a:p>
        </p:txBody>
      </p:sp>
      <p:sp>
        <p:nvSpPr>
          <p:cNvPr id="3" name="Content Placeholder 2"/>
          <p:cNvSpPr>
            <a:spLocks noGrp="1"/>
          </p:cNvSpPr>
          <p:nvPr>
            <p:ph idx="1"/>
          </p:nvPr>
        </p:nvSpPr>
        <p:spPr>
          <a:xfrm>
            <a:off x="500034" y="1785926"/>
            <a:ext cx="7239000" cy="4846320"/>
          </a:xfrm>
        </p:spPr>
        <p:txBody>
          <a:bodyPr>
            <a:normAutofit fontScale="85000" lnSpcReduction="20000"/>
          </a:bodyPr>
          <a:lstStyle/>
          <a:p>
            <a:r>
              <a:rPr lang="en-US" dirty="0" smtClean="0"/>
              <a:t>Negative emotions have important functions. Anxiety promotes vigilance. Anger promotes seeking justice. Yet negative emotions often linger on beyond their usefulness, producing unnecessary irritability and increases in heart rate and blood pressure. Laboratory experiments have demonstrated that evoking positive emotions in these circumstances is the most efficient way to quell or "undo" the lingering aftereffects of negative emotions. </a:t>
            </a:r>
          </a:p>
          <a:p>
            <a:r>
              <a:rPr lang="en-US" dirty="0" smtClean="0"/>
              <a:t>Cultivating positive emotions speeds the return to cardiovascular normalcy. This undoing effect of positive emotions has been shown both for energized positive emotions like joy and amusement, and for tranquil positive emotions, like serenity and appreciation. The ability to cultivate positive emotions is thus an important skill for regulating negative emotions.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714356"/>
            <a:ext cx="7239000" cy="1071570"/>
          </a:xfrm>
        </p:spPr>
        <p:txBody>
          <a:bodyPr>
            <a:normAutofit fontScale="90000"/>
          </a:bodyPr>
          <a:lstStyle/>
          <a:p>
            <a:r>
              <a:rPr lang="en-US" dirty="0" smtClean="0"/>
              <a:t>Positive Emotions Fuel Resilience</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In part because positive emotions speed recovery from negative emotions they also fuel resilient coping. Resilient people, studies show, experience more positive emotions in the midst of adversity compared to those who are less resilient. </a:t>
            </a:r>
          </a:p>
          <a:p>
            <a:r>
              <a:rPr lang="en-US" dirty="0" smtClean="0"/>
              <a:t>These greater positive emotions, in turn, help resilient people bounce back to pre-crisis levels of functioning. Such findings suggest the timely cultivation of positive emotions is one way that people use emotions intelligently.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785794"/>
            <a:ext cx="7239000" cy="1000132"/>
          </a:xfrm>
        </p:spPr>
        <p:txBody>
          <a:bodyPr>
            <a:normAutofit fontScale="90000"/>
          </a:bodyPr>
          <a:lstStyle/>
          <a:p>
            <a:r>
              <a:rPr lang="en-US" dirty="0" smtClean="0"/>
              <a:t>Positive Emotions Broaden Thinking and Build Resources</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Positive emotions have important functions beyond alleviating negative emotions and fueling resilient coping, functions that have long been overlooked by scientists studying emotions. </a:t>
            </a:r>
          </a:p>
          <a:p>
            <a:r>
              <a:rPr lang="en-US" dirty="0" smtClean="0"/>
              <a:t>As individuals discover new ideas and actions, they build their physical, intellectual, social and psychological resources. Play, for instance, builds physical, socio-emotional and intellectual skills, and fuels brain development. </a:t>
            </a:r>
          </a:p>
          <a:p>
            <a:r>
              <a:rPr lang="en-US" dirty="0" smtClean="0"/>
              <a:t>Similarly, exploration increases knowledge and psychological complexity. So by broadening people's mindsets, positive emotions build durable personal resources that function as reserves to be drawn on during later trying times.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71480"/>
            <a:ext cx="7239000" cy="1071570"/>
          </a:xfrm>
        </p:spPr>
        <p:txBody>
          <a:bodyPr>
            <a:normAutofit fontScale="90000"/>
          </a:bodyPr>
          <a:lstStyle/>
          <a:p>
            <a:r>
              <a:rPr lang="en-US" sz="3100" dirty="0" smtClean="0"/>
              <a:t>Positive Emotions Trigger Upward Spirals Toward Optimal Functioning</a:t>
            </a:r>
            <a:r>
              <a:rPr lang="en-US" dirty="0" smtClean="0"/>
              <a:t/>
            </a:r>
            <a:br>
              <a:rPr lang="en-US" dirty="0" smtClean="0"/>
            </a:br>
            <a:endParaRPr lang="en-US" dirty="0"/>
          </a:p>
        </p:txBody>
      </p:sp>
      <p:sp>
        <p:nvSpPr>
          <p:cNvPr id="3" name="Content Placeholder 2"/>
          <p:cNvSpPr>
            <a:spLocks noGrp="1"/>
          </p:cNvSpPr>
          <p:nvPr>
            <p:ph idx="1"/>
          </p:nvPr>
        </p:nvSpPr>
        <p:spPr>
          <a:xfrm>
            <a:off x="457200" y="1357298"/>
            <a:ext cx="7239000" cy="5098438"/>
          </a:xfrm>
        </p:spPr>
        <p:txBody>
          <a:bodyPr>
            <a:normAutofit fontScale="92500" lnSpcReduction="20000"/>
          </a:bodyPr>
          <a:lstStyle/>
          <a:p>
            <a:r>
              <a:rPr lang="en-US" dirty="0" smtClean="0"/>
              <a:t>Because positive emotions broaden thinking and build enduring psychological resources like resilience, they also trigger upward spirals toward enhanced emotional well-being.</a:t>
            </a:r>
          </a:p>
          <a:p>
            <a:r>
              <a:rPr lang="en-US" dirty="0" smtClean="0"/>
              <a:t> Put differently, any positive emotion you experience today not only feels good now, but also increases the likelihood you will feel good in the future. Studies that track the same individuals over time have documented this phenomenon.</a:t>
            </a:r>
          </a:p>
          <a:p>
            <a:r>
              <a:rPr lang="en-US" dirty="0" smtClean="0"/>
              <a:t>In contrast, the broaden-and-build theory predicts a comparable upward spiral in which positive emotions and the broadened thinking they bring also influence one another reciprocally, leading to appreciable increases in functioning and well-being.</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42918"/>
            <a:ext cx="7239000" cy="928694"/>
          </a:xfrm>
        </p:spPr>
        <p:txBody>
          <a:bodyPr>
            <a:normAutofit fontScale="90000"/>
          </a:bodyPr>
          <a:lstStyle/>
          <a:p>
            <a:r>
              <a:rPr lang="en-US" sz="3100" b="0" dirty="0" smtClean="0"/>
              <a:t>Positive Emotions May Produce Optimal Functioning in Organizations</a:t>
            </a:r>
            <a:r>
              <a:rPr lang="en-US" b="0" dirty="0" smtClean="0"/>
              <a:t/>
            </a:r>
            <a:br>
              <a:rPr lang="en-US" b="0" dirty="0" smtClean="0"/>
            </a:br>
            <a:endParaRPr lang="en-US" dirty="0"/>
          </a:p>
        </p:txBody>
      </p:sp>
      <p:sp>
        <p:nvSpPr>
          <p:cNvPr id="3" name="Content Placeholder 2"/>
          <p:cNvSpPr>
            <a:spLocks noGrp="1"/>
          </p:cNvSpPr>
          <p:nvPr>
            <p:ph idx="1"/>
          </p:nvPr>
        </p:nvSpPr>
        <p:spPr>
          <a:xfrm>
            <a:off x="457200" y="1357298"/>
            <a:ext cx="7239000" cy="5098438"/>
          </a:xfrm>
        </p:spPr>
        <p:txBody>
          <a:bodyPr/>
          <a:lstStyle/>
          <a:p>
            <a:r>
              <a:rPr lang="en-US" dirty="0" smtClean="0"/>
              <a:t>The benefits of positive emotions do not end with changes within individuals. Because one individual's experience of positive emotion can reverberate through other organizational members and across interpersonal transactions with customers, positive emotions may fuel optimal organizational functioning, helping organizations to thrive and prosper.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571480"/>
            <a:ext cx="7239000" cy="1071570"/>
          </a:xfrm>
        </p:spPr>
        <p:txBody>
          <a:bodyPr>
            <a:normAutofit fontScale="90000"/>
          </a:bodyPr>
          <a:lstStyle/>
          <a:p>
            <a:r>
              <a:rPr lang="en-US" b="0" dirty="0" smtClean="0"/>
              <a:t>Leaders' Positive Emotions are Especially Contagious</a:t>
            </a:r>
            <a:br>
              <a:rPr lang="en-US" b="0" dirty="0" smtClean="0"/>
            </a:br>
            <a:endParaRPr lang="en-US" dirty="0"/>
          </a:p>
        </p:txBody>
      </p:sp>
      <p:sp>
        <p:nvSpPr>
          <p:cNvPr id="3" name="Content Placeholder 2"/>
          <p:cNvSpPr>
            <a:spLocks noGrp="1"/>
          </p:cNvSpPr>
          <p:nvPr>
            <p:ph idx="1"/>
          </p:nvPr>
        </p:nvSpPr>
        <p:spPr>
          <a:xfrm>
            <a:off x="457200" y="1428736"/>
            <a:ext cx="7239000" cy="5027000"/>
          </a:xfrm>
        </p:spPr>
        <p:txBody>
          <a:bodyPr>
            <a:normAutofit fontScale="92500" lnSpcReduction="20000"/>
          </a:bodyPr>
          <a:lstStyle/>
          <a:p>
            <a:r>
              <a:rPr lang="en-US" dirty="0" smtClean="0"/>
              <a:t>Positive emotions produce organizational transformation because each person's emotions reverberate through other organizational members. In part, this is because emotions are contagious.</a:t>
            </a:r>
          </a:p>
          <a:p>
            <a:r>
              <a:rPr lang="en-US" dirty="0" smtClean="0"/>
              <a:t> Experimental studies have shown that one person's expression of positive emotion, through processes of facial mimicry, can produce experiences of positive emotion in those with whom they interact. </a:t>
            </a:r>
          </a:p>
          <a:p>
            <a:r>
              <a:rPr lang="en-US" dirty="0" smtClean="0"/>
              <a:t>Perhaps because they communicate to a broad range of individuals, organizational leaders' positive emotions are especially contagious. Studies have shown, for instance, that a leader's positive emotions predict the performance of their entire group.</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00042"/>
            <a:ext cx="7239000" cy="1000132"/>
          </a:xfrm>
        </p:spPr>
        <p:txBody>
          <a:bodyPr>
            <a:normAutofit fontScale="90000"/>
          </a:bodyPr>
          <a:lstStyle/>
          <a:p>
            <a:r>
              <a:rPr lang="en-US" sz="3100" b="0" dirty="0" smtClean="0"/>
              <a:t>Leaders Can Cultivate Positive Emotions by Finding Positive Meaning</a:t>
            </a:r>
            <a:r>
              <a:rPr lang="en-US" b="0" dirty="0" smtClean="0"/>
              <a:t/>
            </a:r>
            <a:br>
              <a:rPr lang="en-US" b="0" dirty="0" smtClean="0"/>
            </a:br>
            <a:endParaRPr lang="en-US" dirty="0"/>
          </a:p>
        </p:txBody>
      </p:sp>
      <p:sp>
        <p:nvSpPr>
          <p:cNvPr id="3" name="Content Placeholder 2"/>
          <p:cNvSpPr>
            <a:spLocks noGrp="1"/>
          </p:cNvSpPr>
          <p:nvPr>
            <p:ph idx="1"/>
          </p:nvPr>
        </p:nvSpPr>
        <p:spPr>
          <a:xfrm>
            <a:off x="457200" y="1214422"/>
            <a:ext cx="7239000" cy="5241314"/>
          </a:xfrm>
        </p:spPr>
        <p:txBody>
          <a:bodyPr>
            <a:normAutofit lnSpcReduction="10000"/>
          </a:bodyPr>
          <a:lstStyle/>
          <a:p>
            <a:r>
              <a:rPr lang="en-US" dirty="0" smtClean="0"/>
              <a:t>In our fast-paced society, the pursuit of meaningful positive emotions is often neglected. </a:t>
            </a:r>
          </a:p>
          <a:p>
            <a:r>
              <a:rPr lang="en-US" dirty="0" smtClean="0"/>
              <a:t>Yet the latest research on positive emotions underscores that positive emotions are not trivial luxuries, but instead may be critical necessities for optimal functioning, especially in these trying times.</a:t>
            </a:r>
          </a:p>
          <a:p>
            <a:r>
              <a:rPr lang="en-US" dirty="0" smtClean="0"/>
              <a:t> The bottom line is that finding ways to cultivate meaningful positive emotions in your organization is an investment in your and your employees' development as well as in your organization's future.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071546"/>
            <a:ext cx="7239000" cy="642942"/>
          </a:xfrm>
        </p:spPr>
        <p:txBody>
          <a:bodyPr>
            <a:noAutofit/>
          </a:bodyPr>
          <a:lstStyle/>
          <a:p>
            <a:r>
              <a:rPr lang="en-US" sz="2800" dirty="0" smtClean="0"/>
              <a:t>The benefits of positive emotions</a:t>
            </a:r>
            <a:br>
              <a:rPr lang="en-US" sz="2800" dirty="0" smtClean="0"/>
            </a:br>
            <a:r>
              <a:rPr lang="en-US" sz="2800" b="0" dirty="0" smtClean="0"/>
              <a:t/>
            </a:r>
            <a:br>
              <a:rPr lang="en-US" sz="2800" b="0" dirty="0" smtClean="0"/>
            </a:br>
            <a:endParaRPr lang="en-US" sz="2800" dirty="0"/>
          </a:p>
        </p:txBody>
      </p:sp>
      <p:sp>
        <p:nvSpPr>
          <p:cNvPr id="3" name="Content Placeholder 2"/>
          <p:cNvSpPr>
            <a:spLocks noGrp="1"/>
          </p:cNvSpPr>
          <p:nvPr>
            <p:ph idx="1"/>
          </p:nvPr>
        </p:nvSpPr>
        <p:spPr>
          <a:xfrm>
            <a:off x="457200" y="1285860"/>
            <a:ext cx="7239000" cy="5169876"/>
          </a:xfrm>
        </p:spPr>
        <p:txBody>
          <a:bodyPr>
            <a:normAutofit fontScale="85000" lnSpcReduction="10000"/>
          </a:bodyPr>
          <a:lstStyle/>
          <a:p>
            <a:r>
              <a:rPr lang="en-US" dirty="0" smtClean="0"/>
              <a:t>Positive emotions can help you be more creative. If you’ve ever been stuck trying to solve a problem for a long time, positive emotions can help you get outside the box and think more creatively about how to come up with a solution.</a:t>
            </a:r>
          </a:p>
          <a:p>
            <a:r>
              <a:rPr lang="en-US" dirty="0" smtClean="0"/>
              <a:t> Think about the last time you felt fear. What happened? Your heart rate sped up, maybe you even sweated, and you felt flustered.</a:t>
            </a:r>
          </a:p>
          <a:p>
            <a:r>
              <a:rPr lang="en-US" dirty="0" smtClean="0"/>
              <a:t> Positive emotions can also help bring your body back down to baseline more quickly after experiencing the physical impact of negative emotions.</a:t>
            </a:r>
          </a:p>
          <a:p>
            <a:r>
              <a:rPr lang="en-US" dirty="0" smtClean="0"/>
              <a:t> Finally, positive emotions put money in your stress-coping bank. If you find ways to experience a little goodness each day, you will be able to remain more robust in the face of challenges when they do arise.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Positive Emotions: The power of emotions</a:t>
            </a:r>
            <a:endParaRPr lang="en-US" sz="3600" dirty="0"/>
          </a:p>
        </p:txBody>
      </p:sp>
      <p:sp>
        <p:nvSpPr>
          <p:cNvPr id="3" name="Content Placeholder 2"/>
          <p:cNvSpPr>
            <a:spLocks noGrp="1"/>
          </p:cNvSpPr>
          <p:nvPr>
            <p:ph idx="1"/>
          </p:nvPr>
        </p:nvSpPr>
        <p:spPr/>
        <p:txBody>
          <a:bodyPr>
            <a:normAutofit lnSpcReduction="10000"/>
          </a:bodyPr>
          <a:lstStyle/>
          <a:p>
            <a:r>
              <a:rPr lang="en-US" dirty="0" smtClean="0"/>
              <a:t>You have probably heard about the power of positive thinking — the idea that thinking positively helps people meet their goals and keeps them healthy, happy, and able to effectively cope with the negative events that occur to them. </a:t>
            </a:r>
          </a:p>
          <a:p>
            <a:r>
              <a:rPr lang="en-US" dirty="0" smtClean="0"/>
              <a:t>It turns out that positive thinking really works. People who think positively about their future, who believe that they can control their outcomes, and who are willing to open up and share with others are healthier people (Seligman, &amp; </a:t>
            </a:r>
            <a:r>
              <a:rPr lang="en-US" dirty="0" err="1" smtClean="0"/>
              <a:t>Csikszentmihalyi</a:t>
            </a:r>
            <a:r>
              <a:rPr lang="en-US" dirty="0" smtClean="0"/>
              <a:t>, 2000).</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714375"/>
            <a:ext cx="7239000" cy="5741988"/>
          </a:xfrm>
        </p:spPr>
        <p:txBody>
          <a:bodyPr>
            <a:normAutofit fontScale="92500" lnSpcReduction="20000"/>
          </a:bodyPr>
          <a:lstStyle/>
          <a:p>
            <a:r>
              <a:rPr lang="en-US" dirty="0" smtClean="0"/>
              <a:t>The power of positive thinking comes in different forms, but they are all helpful. Some researchers have focused on </a:t>
            </a:r>
            <a:r>
              <a:rPr lang="en-US" b="1" dirty="0" smtClean="0"/>
              <a:t>optimism</a:t>
            </a:r>
            <a:r>
              <a:rPr lang="en-US" dirty="0" smtClean="0"/>
              <a:t>, </a:t>
            </a:r>
            <a:r>
              <a:rPr lang="en-US" i="1" dirty="0" smtClean="0"/>
              <a:t>a general tendency to expect positive outcomes</a:t>
            </a:r>
            <a:r>
              <a:rPr lang="en-US" dirty="0" smtClean="0"/>
              <a:t>, finding that optimists are happier and have less stress (Carver &amp; </a:t>
            </a:r>
            <a:r>
              <a:rPr lang="en-US" dirty="0" err="1" smtClean="0"/>
              <a:t>Scheier</a:t>
            </a:r>
            <a:r>
              <a:rPr lang="en-US" dirty="0" smtClean="0"/>
              <a:t>, 2009).</a:t>
            </a:r>
          </a:p>
          <a:p>
            <a:r>
              <a:rPr lang="en-US" dirty="0" smtClean="0"/>
              <a:t> Others have focused on </a:t>
            </a:r>
            <a:r>
              <a:rPr lang="en-US" b="1" dirty="0" smtClean="0"/>
              <a:t>self-efficacy</a:t>
            </a:r>
            <a:r>
              <a:rPr lang="en-US" dirty="0" smtClean="0"/>
              <a:t>, </a:t>
            </a:r>
            <a:r>
              <a:rPr lang="en-US" i="1" dirty="0" smtClean="0"/>
              <a:t>the belief in our ability to carry out actions that produce desired outcomes</a:t>
            </a:r>
            <a:r>
              <a:rPr lang="en-US" dirty="0" smtClean="0"/>
              <a:t>. People with high self-efficacy respond to environmental and other threats in an active, constructive way — by getting information, talking to friends, and attempting to face and reduce the difficulties they are experiencing. </a:t>
            </a:r>
          </a:p>
          <a:p>
            <a:r>
              <a:rPr lang="en-US" dirty="0" smtClean="0"/>
              <a:t>These people too are better able to ward off their stresses in comparison to people with less self-efficacy (Thompson, 2009).</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7239000" cy="5812818"/>
          </a:xfrm>
        </p:spPr>
        <p:txBody>
          <a:bodyPr>
            <a:normAutofit lnSpcReduction="10000"/>
          </a:bodyPr>
          <a:lstStyle/>
          <a:p>
            <a:r>
              <a:rPr lang="en-US" dirty="0" smtClean="0"/>
              <a:t>Psychologists have found that people’s ability to predict their future emotional states is not very accurate (Wilson &amp; Gilbert, 2005). For one, people overestimate their emotional reactions to events.</a:t>
            </a:r>
          </a:p>
          <a:p>
            <a:r>
              <a:rPr lang="en-US" dirty="0" smtClean="0"/>
              <a:t> Although people think that positive and negative events that might occur to them will make a huge difference in their lives, and although these changes do make at least some difference in life satisfaction, they tend to be less influential than we think they are going to be.</a:t>
            </a:r>
          </a:p>
          <a:p>
            <a:r>
              <a:rPr lang="en-US" dirty="0" smtClean="0"/>
              <a:t> Positive events tend to make us feel good, but their effects wear off pretty quickly, and the same is true for negative events.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110</TotalTime>
  <Words>1245</Words>
  <Application>Microsoft Office PowerPoint</Application>
  <PresentationFormat>On-screen Show (4:3)</PresentationFormat>
  <Paragraphs>56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Opulent</vt:lpstr>
      <vt:lpstr>Assignment of positive Psychology</vt:lpstr>
      <vt:lpstr>Importance of Positive Emotions</vt:lpstr>
      <vt:lpstr>The Broaden-and-Build Theory of Positive Emotions </vt:lpstr>
      <vt:lpstr>Slide 4</vt:lpstr>
      <vt:lpstr>Slide 5</vt:lpstr>
      <vt:lpstr>Slide 6</vt:lpstr>
      <vt:lpstr>Leading With Positive Emotions </vt:lpstr>
      <vt:lpstr>Positive Emotions Undo Negative Emotions </vt:lpstr>
      <vt:lpstr>Positive Emotions Fuel Resilience </vt:lpstr>
      <vt:lpstr>Positive Emotions Broaden Thinking and Build Resources </vt:lpstr>
      <vt:lpstr>Positive Emotions Trigger Upward Spirals Toward Optimal Functioning </vt:lpstr>
      <vt:lpstr>Positive Emotions May Produce Optimal Functioning in Organizations </vt:lpstr>
      <vt:lpstr>Leaders' Positive Emotions are Especially Contagious </vt:lpstr>
      <vt:lpstr>Leaders Can Cultivate Positive Emotions by Finding Positive Meaning </vt:lpstr>
      <vt:lpstr>The benefits of positive emotions  </vt:lpstr>
      <vt:lpstr>Positive Emotions: The power of emotions</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of positive Psychology</dc:title>
  <dc:creator>ATOnine</dc:creator>
  <cp:lastModifiedBy>ATOnine</cp:lastModifiedBy>
  <cp:revision>10</cp:revision>
  <dcterms:created xsi:type="dcterms:W3CDTF">2021-05-18T16:10:07Z</dcterms:created>
  <dcterms:modified xsi:type="dcterms:W3CDTF">2021-05-27T07:00:52Z</dcterms:modified>
</cp:coreProperties>
</file>
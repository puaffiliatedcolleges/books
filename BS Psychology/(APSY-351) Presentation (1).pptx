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5EE7-6C42-B07F-AE90-72C12D98B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Sedative, hypnotic, or anxiolytic-related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9FAE5-8199-06D2-32EF-E2F5E0C75D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Sabahat khan</a:t>
            </a:r>
          </a:p>
          <a:p>
            <a:r>
              <a:rPr lang="en-US" dirty="0"/>
              <a:t>2162</a:t>
            </a:r>
          </a:p>
          <a:p>
            <a:r>
              <a:rPr lang="en-US" dirty="0"/>
              <a:t>Bs psychology (5</a:t>
            </a:r>
            <a:r>
              <a:rPr lang="en-US" baseline="30000" dirty="0"/>
              <a:t>th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57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0BF2-6AED-9ACF-3001-BF3609FE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BB4-2872-E048-F5CE-4E2DC4444E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Sedative</a:t>
            </a:r>
            <a:r>
              <a:rPr lang="en-US" dirty="0"/>
              <a:t> is a drug that produces calming or relaxing effect And reduces excitement, it may induce drowsiness.</a:t>
            </a:r>
          </a:p>
          <a:p>
            <a:r>
              <a:rPr lang="en-US" dirty="0"/>
              <a:t>Drugs that Calm the patient and reduce Anxiety Without inducing normal sleep.</a:t>
            </a:r>
          </a:p>
          <a:p>
            <a:r>
              <a:rPr lang="en-US" dirty="0"/>
              <a:t>Most sedatives In larger doses produce hypnosis (trans like state).</a:t>
            </a:r>
          </a:p>
          <a:p>
            <a:r>
              <a:rPr lang="en-US" dirty="0"/>
              <a:t>Site of action is on the limbic system which regulate thought and mental function.</a:t>
            </a:r>
          </a:p>
          <a:p>
            <a:r>
              <a:rPr lang="en-US" dirty="0">
                <a:solidFill>
                  <a:srgbClr val="FF0000"/>
                </a:solidFill>
              </a:rPr>
              <a:t>Hypnotics </a:t>
            </a:r>
            <a:r>
              <a:rPr lang="en-US" dirty="0"/>
              <a:t>is a drug That induces sleep resembling natural sleep.</a:t>
            </a:r>
          </a:p>
          <a:p>
            <a:r>
              <a:rPr lang="en-US" dirty="0"/>
              <a:t>They are used to initiate or maintain Sleep.</a:t>
            </a:r>
          </a:p>
          <a:p>
            <a:r>
              <a:rPr lang="en-US" dirty="0"/>
              <a:t>Hypnotics in higher doses Produce general anesthesia.</a:t>
            </a:r>
          </a:p>
          <a:p>
            <a:r>
              <a:rPr lang="en-US" dirty="0"/>
              <a:t>Site of action is on the midbrain which Maintain wakefulness.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2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BD6D-3132-D2CB-F2BD-B279BA99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D136-D5AD-FDFC-5AE7-40B2F0D438A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Anxiolytics </a:t>
            </a:r>
            <a:r>
              <a:rPr lang="en-US" dirty="0"/>
              <a:t>are the Medicines which are used to relief The stress, anxiety, tension Generated by complex and hectic Modern daily life.</a:t>
            </a:r>
          </a:p>
          <a:p>
            <a:r>
              <a:rPr lang="en-US" dirty="0">
                <a:solidFill>
                  <a:srgbClr val="FF0000"/>
                </a:solidFill>
              </a:rPr>
              <a:t>In general </a:t>
            </a:r>
            <a:r>
              <a:rPr lang="en-US" dirty="0"/>
              <a:t>these medicines Or drugs will induce sleep When given In high doses at night and Will provide sedation And reduce anxiety Then given in low divided doses during the day.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8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42C4-F5F0-CC96-B4FB-4E025C2C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F23D-B0CF-EF90-F04E-A1991F7325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Sedative, hypnotics and anxiolytics may be Prescribed for A number of physical and psychological medical conditions.</a:t>
            </a:r>
          </a:p>
          <a:p>
            <a:r>
              <a:rPr lang="en-US" dirty="0"/>
              <a:t> This class of substances include All prescription sleeping Medications and almost all Prescription anti anxiety medications.</a:t>
            </a:r>
          </a:p>
          <a:p>
            <a:r>
              <a:rPr lang="en-US" dirty="0"/>
              <a:t>These prescriptions are available by prescription but May be obtained illegally.</a:t>
            </a:r>
          </a:p>
          <a:p>
            <a:r>
              <a:rPr lang="en-US" dirty="0"/>
              <a:t> Prolonged use Of These medications may lead to addiction for some people.</a:t>
            </a:r>
          </a:p>
          <a:p>
            <a:r>
              <a:rPr lang="en-US" dirty="0"/>
              <a:t>Sedative-, hypnotics- and anxiolytics- (sha-) related disorders include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Sha-use disorder.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 intoxication.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 withdrawal.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4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CB08-0944-8E2E-0577-D7A24DD4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1.sha-use disorder: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D8F9-719A-7315-8F8E-61388AA1D8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5"/>
                </a:solidFill>
              </a:rPr>
              <a:t>Diagnostic criteria:</a:t>
            </a:r>
          </a:p>
          <a:p>
            <a:pPr marL="457200" indent="-457200">
              <a:buAutoNum type="alphaUcPeriod"/>
            </a:pPr>
            <a:r>
              <a:rPr lang="en-US" dirty="0"/>
              <a:t>A problematic pattern of sha-use leading to clinically significant impairment or distress, as manifested by at least </a:t>
            </a:r>
            <a:r>
              <a:rPr lang="en-US" b="1" dirty="0"/>
              <a:t>two of the following </a:t>
            </a:r>
            <a:r>
              <a:rPr lang="en-US" dirty="0"/>
              <a:t>within a </a:t>
            </a:r>
            <a:r>
              <a:rPr lang="en-US" b="1" dirty="0"/>
              <a:t>12 month period.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Often  taken in larger amounts or over a long period.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Persistent desire or unsuccessful efforts to cut down or control sha use.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Great deal of time is spent in activities necessary to obtain or use the sha; or recover from its effects.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Craving , or a strong desire or urge to use the sha.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Recurrent sha-use resulting in failure to fulfill major role obligations at work, school, or home.</a:t>
            </a:r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23082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4F99-87E7-6ED6-3389-B8FB84FF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0E84-4797-D190-2455-CEAEBDD9C8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6. continued sha- use despite having persistent or recurrent social or interpersonal problems caused by effects of sha.</a:t>
            </a:r>
          </a:p>
          <a:p>
            <a:pPr marL="0" indent="0">
              <a:buNone/>
            </a:pPr>
            <a:r>
              <a:rPr lang="en-US" dirty="0"/>
              <a:t>7. Important social, occupational, or recreational activities are given Up or reduced because of sha use.</a:t>
            </a:r>
          </a:p>
          <a:p>
            <a:pPr marL="0" indent="0">
              <a:buNone/>
            </a:pPr>
            <a:r>
              <a:rPr lang="en-US" dirty="0"/>
              <a:t>8. Recurrent sha use in situations in which it is physically hazardous.</a:t>
            </a:r>
          </a:p>
          <a:p>
            <a:pPr marL="0" indent="0">
              <a:buNone/>
            </a:pPr>
            <a:r>
              <a:rPr lang="en-US" dirty="0"/>
              <a:t>9. Is Continued despite knowledge of having a persistent physical or recurrent physical or psychological problem caused by sha use.</a:t>
            </a:r>
          </a:p>
          <a:p>
            <a:pPr marL="0" indent="0">
              <a:buNone/>
            </a:pPr>
            <a:r>
              <a:rPr lang="en-US" dirty="0"/>
              <a:t>10. Tolerance, as defined by either of the following:</a:t>
            </a:r>
          </a:p>
          <a:p>
            <a:pPr marL="457200" indent="-457200">
              <a:buAutoNum type="alphaUcPeriod"/>
            </a:pPr>
            <a:r>
              <a:rPr lang="en-US" dirty="0"/>
              <a:t>A need for markedly increased amounts of sha to achieve intoxication or desired effect.</a:t>
            </a:r>
          </a:p>
          <a:p>
            <a:pPr marL="457200" indent="-457200">
              <a:buAutoNum type="alphaUcPeriod"/>
            </a:pPr>
            <a:r>
              <a:rPr lang="en-US" dirty="0"/>
              <a:t>A markedly diminished effect with continued use of same amount of sha.</a:t>
            </a:r>
          </a:p>
        </p:txBody>
      </p:sp>
    </p:spTree>
    <p:extLst>
      <p:ext uri="{BB962C8B-B14F-4D97-AF65-F5344CB8AC3E}">
        <p14:creationId xmlns:p14="http://schemas.microsoft.com/office/powerpoint/2010/main" val="192023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2A66-C0E0-AA42-41D6-AED3E7B2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DD3A-8F6E-FB01-11E6-D02D532DF4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11. Withdrawal, as manifested by either of the following:</a:t>
            </a:r>
          </a:p>
          <a:p>
            <a:pPr marL="457200" indent="-457200">
              <a:buAutoNum type="alphaUcPeriod"/>
            </a:pPr>
            <a:r>
              <a:rPr lang="en-US" dirty="0"/>
              <a:t>The characteristics withdrawal syndrome for sha.</a:t>
            </a:r>
          </a:p>
          <a:p>
            <a:pPr marL="457200" indent="-457200">
              <a:buAutoNum type="alphaUcPeriod"/>
            </a:pPr>
            <a:r>
              <a:rPr lang="en-US" dirty="0"/>
              <a:t>Sha are taken to relieve Or avoid withdrawal symptoms.</a:t>
            </a:r>
          </a:p>
        </p:txBody>
      </p:sp>
    </p:spTree>
    <p:extLst>
      <p:ext uri="{BB962C8B-B14F-4D97-AF65-F5344CB8AC3E}">
        <p14:creationId xmlns:p14="http://schemas.microsoft.com/office/powerpoint/2010/main" val="177442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5913-E7E1-9633-C69E-C2CF8BD7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Sha intoxication: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801C3-C03D-AFC7-3C22-60BDCE4DB4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5"/>
                </a:solidFill>
              </a:rPr>
              <a:t>Diagnostic criteria: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AutoNum type="alphaUcPeriod"/>
            </a:pPr>
            <a:r>
              <a:rPr lang="en-US" dirty="0"/>
              <a:t>Recent use of a sha.</a:t>
            </a:r>
          </a:p>
          <a:p>
            <a:pPr marL="457200" indent="-457200">
              <a:buAutoNum type="alphaUcPeriod"/>
            </a:pPr>
            <a:r>
              <a:rPr lang="en-US" dirty="0"/>
              <a:t>Clinically significant maladaptive behavioral or psychological changes that developed during, or shortly after, sha- use.</a:t>
            </a:r>
          </a:p>
          <a:p>
            <a:pPr marL="457200" indent="-457200">
              <a:buAutoNum type="alphaUcPeriod"/>
            </a:pPr>
            <a:r>
              <a:rPr lang="en-US" dirty="0"/>
              <a:t>One (or more) of the following signs Developing during, or shortly after, sha use: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Slurred speech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Incoordination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Unsteady gait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Nystagmus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Impairment in cognition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Stupor or coma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4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7F20-B11C-BF8F-5BDF-D7A8B53E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Sha withdrawal: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64038-15A2-8D67-5310-A6940A7EA4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5"/>
                </a:solidFill>
              </a:rPr>
              <a:t>Diagnostic criteria:</a:t>
            </a:r>
            <a:endParaRPr lang="en-US" sz="2400" b="1" u="sng" dirty="0"/>
          </a:p>
          <a:p>
            <a:pPr marL="0" indent="0">
              <a:buNone/>
            </a:pPr>
            <a:r>
              <a:rPr lang="en-US" dirty="0"/>
              <a:t>A. Cessation of sha use that has been prolonged.</a:t>
            </a:r>
          </a:p>
          <a:p>
            <a:pPr marL="0" indent="0">
              <a:buNone/>
            </a:pPr>
            <a:r>
              <a:rPr lang="en-US" dirty="0"/>
              <a:t>b. Two (or More) of the following, developing within several hours to a few days after cessation of sha use described in criterion A: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Automatic hyperactivity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Hand tremor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Insomnia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Nausea or vomiting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Transient visual, tactile or auditory hallucinations or illusions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Psychomotor agitation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Anxiety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Grand mal seizures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4734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Droplet</vt:lpstr>
      <vt:lpstr>Sedative, hypnotic, or anxiolytic-related disorders</vt:lpstr>
      <vt:lpstr>Introduction</vt:lpstr>
      <vt:lpstr>Introduction (cont.)</vt:lpstr>
      <vt:lpstr>Introduction (cont.)</vt:lpstr>
      <vt:lpstr>1.sha-use disorder:</vt:lpstr>
      <vt:lpstr>Cont.</vt:lpstr>
      <vt:lpstr>Cont.</vt:lpstr>
      <vt:lpstr>2. Sha intoxication:</vt:lpstr>
      <vt:lpstr>3. Sha withdrawal: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Sedative, hypnotic, or anxiolytic-related disorders</dc:title>
  <dc:creator>Sabahat Hussain</dc:creator>
  <cp:lastModifiedBy>Sabahat Hussain</cp:lastModifiedBy>
  <cp:revision>3</cp:revision>
  <dcterms:created xsi:type="dcterms:W3CDTF">2024-04-21T09:39:48Z</dcterms:created>
  <dcterms:modified xsi:type="dcterms:W3CDTF">2024-04-21T11:41:09Z</dcterms:modified>
</cp:coreProperties>
</file>
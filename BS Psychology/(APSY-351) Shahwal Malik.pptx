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9"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 /><Relationship Id="rId7" Type="http://schemas.openxmlformats.org/officeDocument/2006/relationships/tableStyles" Target="tableStyle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theme" Target="theme/theme1.xml" /><Relationship Id="rId5" Type="http://schemas.openxmlformats.org/officeDocument/2006/relationships/viewProps" Target="viewProps.xml" /><Relationship Id="rId4"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4/19/2024</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502380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260219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701469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315921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4/19/2024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3538098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4/19/2024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004875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4/19/2024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689249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558126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0625779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893127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137569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64874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2336688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4/19/2024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1015388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4/19/2024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8164621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4837787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527297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2.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4/19/2024</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extLst>
      <p:ext uri="{BB962C8B-B14F-4D97-AF65-F5344CB8AC3E}">
        <p14:creationId xmlns:p14="http://schemas.microsoft.com/office/powerpoint/2010/main" val="1693185201"/>
      </p:ext>
    </p:extLst>
  </p:cSld>
  <p:clrMap bg1="dk1" tx1="lt1" bg2="dk2" tx2="lt2" accent1="accent1" accent2="accent2" accent3="accent3" accent4="accent4" accent5="accent5" accent6="accent6" hlink="hlink" folHlink="folHlink"/>
  <p:sldLayoutIdLst>
    <p:sldLayoutId id="2147483840" r:id="rId1"/>
    <p:sldLayoutId id="2147483841"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 id="2147483851" r:id="rId12"/>
    <p:sldLayoutId id="2147483852" r:id="rId13"/>
    <p:sldLayoutId id="2147483853" r:id="rId14"/>
    <p:sldLayoutId id="2147483854" r:id="rId15"/>
    <p:sldLayoutId id="2147483855" r:id="rId16"/>
    <p:sldLayoutId id="2147483856"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90C20-442C-E7D1-172C-DE1D729ADE30}"/>
              </a:ext>
            </a:extLst>
          </p:cNvPr>
          <p:cNvSpPr>
            <a:spLocks noGrp="1"/>
          </p:cNvSpPr>
          <p:nvPr>
            <p:ph type="ctrTitle"/>
          </p:nvPr>
        </p:nvSpPr>
        <p:spPr>
          <a:xfrm>
            <a:off x="1114187" y="-849468"/>
            <a:ext cx="9036742" cy="2376670"/>
          </a:xfrm>
        </p:spPr>
        <p:txBody>
          <a:bodyPr>
            <a:normAutofit/>
          </a:bodyPr>
          <a:lstStyle/>
          <a:p>
            <a:r>
              <a:rPr lang="en-US" sz="4800" dirty="0">
                <a:solidFill>
                  <a:schemeClr val="accent2">
                    <a:lumMod val="75000"/>
                  </a:schemeClr>
                </a:solidFill>
              </a:rPr>
              <a:t>           </a:t>
            </a:r>
            <a:r>
              <a:rPr lang="en-US" sz="5400" b="1" dirty="0">
                <a:solidFill>
                  <a:schemeClr val="accent2">
                    <a:lumMod val="50000"/>
                  </a:schemeClr>
                </a:solidFill>
              </a:rPr>
              <a:t>Conduct disorder</a:t>
            </a:r>
          </a:p>
        </p:txBody>
      </p:sp>
      <p:sp>
        <p:nvSpPr>
          <p:cNvPr id="3" name="Subtitle 2">
            <a:extLst>
              <a:ext uri="{FF2B5EF4-FFF2-40B4-BE49-F238E27FC236}">
                <a16:creationId xmlns:a16="http://schemas.microsoft.com/office/drawing/2014/main" id="{FFDBEB73-F319-C183-76E5-710434FEFC9E}"/>
              </a:ext>
            </a:extLst>
          </p:cNvPr>
          <p:cNvSpPr>
            <a:spLocks noGrp="1"/>
          </p:cNvSpPr>
          <p:nvPr>
            <p:ph type="subTitle" idx="1"/>
          </p:nvPr>
        </p:nvSpPr>
        <p:spPr>
          <a:xfrm>
            <a:off x="2183946" y="1527202"/>
            <a:ext cx="9729107" cy="4911553"/>
          </a:xfrm>
          <a:solidFill>
            <a:schemeClr val="accent2">
              <a:lumMod val="75000"/>
            </a:schemeClr>
          </a:solidFill>
        </p:spPr>
        <p:txBody>
          <a:bodyPr>
            <a:normAutofit/>
          </a:bodyPr>
          <a:lstStyle/>
          <a:p>
            <a:r>
              <a:rPr lang="en-US" dirty="0">
                <a:solidFill>
                  <a:schemeClr val="accent4">
                    <a:lumMod val="75000"/>
                  </a:schemeClr>
                </a:solidFill>
              </a:rPr>
              <a:t>        </a:t>
            </a:r>
            <a:r>
              <a:rPr lang="en-US" sz="1300" dirty="0">
                <a:solidFill>
                  <a:schemeClr val="accent3">
                    <a:lumMod val="50000"/>
                  </a:schemeClr>
                </a:solidFill>
              </a:rPr>
              <a:t>Conduct mean “ how we behave “ How we act”</a:t>
            </a:r>
          </a:p>
          <a:p>
            <a:r>
              <a:rPr lang="en-US" sz="1700" b="1" dirty="0">
                <a:solidFill>
                  <a:schemeClr val="accent3">
                    <a:lumMod val="50000"/>
                  </a:schemeClr>
                </a:solidFill>
              </a:rPr>
              <a:t>A. </a:t>
            </a:r>
            <a:r>
              <a:rPr lang="en-US" sz="1300" dirty="0">
                <a:solidFill>
                  <a:schemeClr val="accent3">
                    <a:lumMod val="50000"/>
                  </a:schemeClr>
                </a:solidFill>
              </a:rPr>
              <a:t>A repetitive and persistent pattern of behaviour in which the basic rights of other or major age appropriate societal norms or rules are violated. Presence of at least three of the following 15 criteria in the past 12 months/1year must be present, and at least one criterion present in the past 6 month.</a:t>
            </a:r>
          </a:p>
          <a:p>
            <a:pPr marL="342900" indent="-342900">
              <a:buFont typeface="Arial" panose="020B0604020202020204" pitchFamily="34" charset="0"/>
              <a:buChar char="•"/>
            </a:pPr>
            <a:r>
              <a:rPr lang="en-US" sz="1600" b="1" dirty="0">
                <a:solidFill>
                  <a:schemeClr val="accent3">
                    <a:lumMod val="50000"/>
                  </a:schemeClr>
                </a:solidFill>
              </a:rPr>
              <a:t>Aggression to people and animals</a:t>
            </a:r>
          </a:p>
          <a:p>
            <a:pPr marL="342900" indent="-342900">
              <a:buFont typeface="Arial" panose="020B0604020202020204" pitchFamily="34" charset="0"/>
              <a:buChar char="•"/>
            </a:pPr>
            <a:r>
              <a:rPr lang="en-US" sz="1300" dirty="0">
                <a:solidFill>
                  <a:schemeClr val="accent3">
                    <a:lumMod val="50000"/>
                  </a:schemeClr>
                </a:solidFill>
              </a:rPr>
              <a:t>Bullies or threatens others.</a:t>
            </a:r>
          </a:p>
          <a:p>
            <a:pPr marL="342900" indent="-342900">
              <a:buFont typeface="Arial" panose="020B0604020202020204" pitchFamily="34" charset="0"/>
              <a:buChar char="•"/>
            </a:pPr>
            <a:r>
              <a:rPr lang="en-US" sz="1300" dirty="0">
                <a:solidFill>
                  <a:schemeClr val="accent3">
                    <a:lumMod val="50000"/>
                  </a:schemeClr>
                </a:solidFill>
              </a:rPr>
              <a:t>Use weapons that can cause serious physical harm to others ( for example, knife, bat, gun and brick).</a:t>
            </a:r>
          </a:p>
          <a:p>
            <a:pPr marL="342900" indent="-342900">
              <a:buFont typeface="Arial" panose="020B0604020202020204" pitchFamily="34" charset="0"/>
              <a:buChar char="•"/>
            </a:pPr>
            <a:r>
              <a:rPr lang="en-US" sz="1300" dirty="0">
                <a:solidFill>
                  <a:schemeClr val="accent3">
                    <a:lumMod val="50000"/>
                  </a:schemeClr>
                </a:solidFill>
              </a:rPr>
              <a:t>Physically cruel to people. </a:t>
            </a:r>
          </a:p>
          <a:p>
            <a:pPr marL="342900" indent="-342900">
              <a:buFont typeface="Arial" panose="020B0604020202020204" pitchFamily="34" charset="0"/>
              <a:buChar char="•"/>
            </a:pPr>
            <a:r>
              <a:rPr lang="en-US" sz="1300" dirty="0">
                <a:solidFill>
                  <a:schemeClr val="accent3">
                    <a:lumMod val="50000"/>
                  </a:schemeClr>
                </a:solidFill>
              </a:rPr>
              <a:t>Physically cruel to animals. </a:t>
            </a:r>
          </a:p>
          <a:p>
            <a:pPr marL="342900" indent="-342900">
              <a:buFont typeface="Arial" panose="020B0604020202020204" pitchFamily="34" charset="0"/>
              <a:buChar char="•"/>
            </a:pPr>
            <a:r>
              <a:rPr lang="en-US" sz="1300" dirty="0">
                <a:solidFill>
                  <a:schemeClr val="accent3">
                    <a:lumMod val="50000"/>
                  </a:schemeClr>
                </a:solidFill>
              </a:rPr>
              <a:t>Stolen while confronting a victim( for example, purse snatching or armed robbery).</a:t>
            </a:r>
          </a:p>
          <a:p>
            <a:pPr marL="342900" indent="-342900">
              <a:buFont typeface="Arial" panose="020B0604020202020204" pitchFamily="34" charset="0"/>
              <a:buChar char="•"/>
            </a:pPr>
            <a:r>
              <a:rPr lang="en-US" sz="1300" dirty="0">
                <a:solidFill>
                  <a:schemeClr val="accent3">
                    <a:lumMod val="50000"/>
                  </a:schemeClr>
                </a:solidFill>
              </a:rPr>
              <a:t> First someone into sexual activity. </a:t>
            </a:r>
          </a:p>
          <a:p>
            <a:pPr marL="342900" indent="-342900">
              <a:buFont typeface="Arial" panose="020B0604020202020204" pitchFamily="34" charset="0"/>
              <a:buChar char="•"/>
            </a:pPr>
            <a:r>
              <a:rPr lang="en-US" sz="1300" dirty="0">
                <a:solidFill>
                  <a:schemeClr val="accent3">
                    <a:lumMod val="50000"/>
                  </a:schemeClr>
                </a:solidFill>
              </a:rPr>
              <a:t>Often initiate physical fights.</a:t>
            </a:r>
          </a:p>
          <a:p>
            <a:pPr marL="342900" indent="-342900">
              <a:buFont typeface="Arial" panose="020B0604020202020204" pitchFamily="34" charset="0"/>
              <a:buChar char="•"/>
            </a:pPr>
            <a:endParaRPr lang="en-US" dirty="0">
              <a:solidFill>
                <a:schemeClr val="accent3">
                  <a:lumMod val="50000"/>
                </a:schemeClr>
              </a:solidFill>
            </a:endParaRPr>
          </a:p>
          <a:p>
            <a:endParaRPr lang="en-US" dirty="0">
              <a:solidFill>
                <a:schemeClr val="accent3">
                  <a:lumMod val="50000"/>
                </a:schemeClr>
              </a:solidFill>
            </a:endParaRPr>
          </a:p>
        </p:txBody>
      </p:sp>
    </p:spTree>
    <p:extLst>
      <p:ext uri="{BB962C8B-B14F-4D97-AF65-F5344CB8AC3E}">
        <p14:creationId xmlns:p14="http://schemas.microsoft.com/office/powerpoint/2010/main" val="34628922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F79DB1-D1A6-3B7C-A9F5-7877884DA877}"/>
              </a:ext>
            </a:extLst>
          </p:cNvPr>
          <p:cNvSpPr>
            <a:spLocks noGrp="1"/>
          </p:cNvSpPr>
          <p:nvPr>
            <p:ph idx="1"/>
          </p:nvPr>
        </p:nvSpPr>
        <p:spPr>
          <a:xfrm>
            <a:off x="1335333" y="285751"/>
            <a:ext cx="9905999" cy="5929312"/>
          </a:xfrm>
        </p:spPr>
        <p:txBody>
          <a:bodyPr>
            <a:normAutofit lnSpcReduction="10000"/>
          </a:bodyPr>
          <a:lstStyle/>
          <a:p>
            <a:r>
              <a:rPr lang="en-US" b="1" dirty="0">
                <a:solidFill>
                  <a:schemeClr val="accent3">
                    <a:lumMod val="75000"/>
                  </a:schemeClr>
                </a:solidFill>
              </a:rPr>
              <a:t>DESTRUCTION OF PROPERTY </a:t>
            </a:r>
          </a:p>
          <a:p>
            <a:r>
              <a:rPr lang="en-US" sz="1200" dirty="0">
                <a:solidFill>
                  <a:schemeClr val="accent3">
                    <a:lumMod val="75000"/>
                  </a:schemeClr>
                </a:solidFill>
              </a:rPr>
              <a:t>DELIBERATELY</a:t>
            </a:r>
            <a:r>
              <a:rPr lang="en-US" sz="1200" b="1" dirty="0">
                <a:solidFill>
                  <a:schemeClr val="accent3">
                    <a:lumMod val="75000"/>
                  </a:schemeClr>
                </a:solidFill>
              </a:rPr>
              <a:t>  </a:t>
            </a:r>
            <a:r>
              <a:rPr lang="en-US" sz="1200" dirty="0">
                <a:solidFill>
                  <a:schemeClr val="accent3">
                    <a:lumMod val="75000"/>
                  </a:schemeClr>
                </a:solidFill>
              </a:rPr>
              <a:t>DESTROYED OTHERS PROPERTY.</a:t>
            </a:r>
          </a:p>
          <a:p>
            <a:r>
              <a:rPr lang="en-US" sz="1200" dirty="0">
                <a:solidFill>
                  <a:schemeClr val="accent3">
                    <a:lumMod val="75000"/>
                  </a:schemeClr>
                </a:solidFill>
              </a:rPr>
              <a:t>HAS DELIBERATING ENGAGED IN FIRE SETTING WITH THE INTENTION OF CAUSING SERIOUS DAMAGE..</a:t>
            </a:r>
          </a:p>
          <a:p>
            <a:r>
              <a:rPr lang="en-US" b="1" dirty="0">
                <a:solidFill>
                  <a:schemeClr val="accent3">
                    <a:lumMod val="75000"/>
                  </a:schemeClr>
                </a:solidFill>
              </a:rPr>
              <a:t>DECEITFULNESS OR THEFT</a:t>
            </a:r>
          </a:p>
          <a:p>
            <a:r>
              <a:rPr lang="en-US" sz="1400" dirty="0">
                <a:solidFill>
                  <a:schemeClr val="accent3">
                    <a:lumMod val="75000"/>
                  </a:schemeClr>
                </a:solidFill>
              </a:rPr>
              <a:t>BROKEN SOMEONE ELSE’S HOUSE ,BUILDING OR CAR.</a:t>
            </a:r>
          </a:p>
          <a:p>
            <a:r>
              <a:rPr lang="en-US" sz="1400" dirty="0">
                <a:solidFill>
                  <a:schemeClr val="accent3">
                    <a:lumMod val="75000"/>
                  </a:schemeClr>
                </a:solidFill>
              </a:rPr>
              <a:t>OFTEN LIES TO OBTAIN GOODS OR FAVOURS OR TO AVOID OBLIGATION (FOR EXAMPLE  “ CONS” OTHERS)</a:t>
            </a:r>
          </a:p>
          <a:p>
            <a:r>
              <a:rPr lang="en-US" sz="1400" dirty="0">
                <a:solidFill>
                  <a:schemeClr val="accent3">
                    <a:lumMod val="75000"/>
                  </a:schemeClr>
                </a:solidFill>
              </a:rPr>
              <a:t>STOLEN ITEMS OF NON TRIVIAL VALUE WITHOUT CONFRONTING A VICTIM (FOR EXAMPLE SHOPLIFTING, BUT WITHOUT BREAKIING).</a:t>
            </a:r>
          </a:p>
          <a:p>
            <a:r>
              <a:rPr lang="en-US" b="1" dirty="0">
                <a:solidFill>
                  <a:schemeClr val="accent3">
                    <a:lumMod val="75000"/>
                  </a:schemeClr>
                </a:solidFill>
              </a:rPr>
              <a:t>SERIOUS RELATIONS OF RULES </a:t>
            </a:r>
          </a:p>
          <a:p>
            <a:r>
              <a:rPr lang="en-US" sz="1400" dirty="0">
                <a:solidFill>
                  <a:schemeClr val="accent3">
                    <a:lumMod val="75000"/>
                  </a:schemeClr>
                </a:solidFill>
              </a:rPr>
              <a:t>OFTEN STAY OUT AT NIGHT DESPITE PARENTAL PROHIBITION, BEGINNING BEFORE AGE 13 YEARS.</a:t>
            </a:r>
          </a:p>
          <a:p>
            <a:r>
              <a:rPr lang="en-US" sz="1400" dirty="0">
                <a:solidFill>
                  <a:schemeClr val="accent3">
                    <a:lumMod val="75000"/>
                  </a:schemeClr>
                </a:solidFill>
              </a:rPr>
              <a:t> RUNWAY FROM HOME OVERNIGHT AT LEAST TWICE WHILE LIVING IN THE PARENTAL HOME ,OR ONCE WITHOUT RETURNING FOR A LENGTHY PERIOD.</a:t>
            </a:r>
          </a:p>
          <a:p>
            <a:r>
              <a:rPr lang="en-US" sz="1400" dirty="0">
                <a:solidFill>
                  <a:schemeClr val="accent3">
                    <a:lumMod val="75000"/>
                  </a:schemeClr>
                </a:solidFill>
              </a:rPr>
              <a:t>IS OFTEN RUN AWAY FROM SCHOOL ,BEGINNING BEFORE AGE 13 YEARS.</a:t>
            </a:r>
          </a:p>
          <a:p>
            <a:pPr marL="0" indent="0">
              <a:buNone/>
            </a:pPr>
            <a:r>
              <a:rPr lang="en-US" b="1" dirty="0">
                <a:solidFill>
                  <a:schemeClr val="accent3">
                    <a:lumMod val="75000"/>
                  </a:schemeClr>
                </a:solidFill>
              </a:rPr>
              <a:t>B. </a:t>
            </a:r>
            <a:r>
              <a:rPr lang="en-US" sz="1400" dirty="0">
                <a:solidFill>
                  <a:schemeClr val="accent3">
                    <a:lumMod val="75000"/>
                  </a:schemeClr>
                </a:solidFill>
              </a:rPr>
              <a:t>IF THE INDIVIDUAL IS AGE  18 YEARS OR OLDER, CRITERIA ARE  NOT MET FOR ANTI -SOCIAL PERSONALITY DISORDER. </a:t>
            </a:r>
          </a:p>
          <a:p>
            <a:pPr marL="0" indent="0">
              <a:buNone/>
            </a:pPr>
            <a:r>
              <a:rPr lang="en-US" sz="1400" b="1" dirty="0">
                <a:solidFill>
                  <a:schemeClr val="accent3">
                    <a:lumMod val="75000"/>
                  </a:schemeClr>
                </a:solidFill>
              </a:rPr>
              <a:t>                                                                                                                                               </a:t>
            </a:r>
            <a:r>
              <a:rPr lang="en-US" sz="2000" b="1" dirty="0">
                <a:solidFill>
                  <a:schemeClr val="accent3">
                    <a:lumMod val="75000"/>
                  </a:schemeClr>
                </a:solidFill>
              </a:rPr>
              <a:t>NAME : Shahwal Malik </a:t>
            </a:r>
          </a:p>
          <a:p>
            <a:pPr marL="0" indent="0">
              <a:buNone/>
            </a:pPr>
            <a:endParaRPr lang="en-US" sz="1400" b="1" dirty="0">
              <a:solidFill>
                <a:schemeClr val="accent3">
                  <a:lumMod val="75000"/>
                </a:schemeClr>
              </a:solidFill>
            </a:endParaRPr>
          </a:p>
          <a:p>
            <a:endParaRPr lang="en-US" b="1" dirty="0">
              <a:solidFill>
                <a:schemeClr val="accent3">
                  <a:lumMod val="75000"/>
                </a:schemeClr>
              </a:solidFill>
            </a:endParaRPr>
          </a:p>
        </p:txBody>
      </p:sp>
    </p:spTree>
    <p:extLst>
      <p:ext uri="{BB962C8B-B14F-4D97-AF65-F5344CB8AC3E}">
        <p14:creationId xmlns:p14="http://schemas.microsoft.com/office/powerpoint/2010/main" val="134840930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Slides>
  <Notes>0</Notes>
  <HiddenSlides>0</HiddenSlide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Circuit</vt:lpstr>
      <vt:lpstr>           Conduct disorder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Conduct disorder</dc:title>
  <dc:creator>shahwal2004malik@gmail.com</dc:creator>
  <cp:lastModifiedBy>shahwal2004malik@gmail.com</cp:lastModifiedBy>
  <cp:revision>3</cp:revision>
  <dcterms:created xsi:type="dcterms:W3CDTF">2024-04-19T15:26:23Z</dcterms:created>
  <dcterms:modified xsi:type="dcterms:W3CDTF">2024-04-19T16:50:19Z</dcterms:modified>
</cp:coreProperties>
</file>
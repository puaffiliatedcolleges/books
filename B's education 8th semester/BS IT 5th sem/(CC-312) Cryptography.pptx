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74" r:id="rId6"/>
    <p:sldId id="262" r:id="rId7"/>
    <p:sldId id="275" r:id="rId8"/>
    <p:sldId id="259" r:id="rId9"/>
    <p:sldId id="273" r:id="rId10"/>
    <p:sldId id="264" r:id="rId11"/>
    <p:sldId id="265" r:id="rId12"/>
    <p:sldId id="267" r:id="rId13"/>
    <p:sldId id="266" r:id="rId14"/>
    <p:sldId id="276" r:id="rId15"/>
    <p:sldId id="268" r:id="rId16"/>
    <p:sldId id="277"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9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02/28/2024</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02/28/2024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02/28/2024</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02/28/2024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02/28/2024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02/28/2024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02/28/2024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02/28/2024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02/28/2024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02/28/2024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02/28/2024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02/28/2024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02/28/2024</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02/28/2024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02/28/2024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02/28/2024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02/28/2024</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02/28/2024</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eprint.iacr.org/2010/006.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715719-5A65-4750-9D81-30FE70DD4755}"/>
              </a:ext>
            </a:extLst>
          </p:cNvPr>
          <p:cNvSpPr>
            <a:spLocks noGrp="1"/>
          </p:cNvSpPr>
          <p:nvPr>
            <p:ph type="ctrTitle"/>
          </p:nvPr>
        </p:nvSpPr>
        <p:spPr>
          <a:xfrm>
            <a:off x="1371599" y="1803404"/>
            <a:ext cx="9832019" cy="2067259"/>
          </a:xfrm>
        </p:spPr>
        <p:txBody>
          <a:bodyPr>
            <a:normAutofit/>
          </a:bodyPr>
          <a:lstStyle/>
          <a:p>
            <a:r>
              <a:rPr lang="en-US" sz="6600" b="1" dirty="0"/>
              <a:t>Information security</a:t>
            </a:r>
            <a:endParaRPr lang="x-none" sz="6600" b="1" dirty="0"/>
          </a:p>
        </p:txBody>
      </p:sp>
    </p:spTree>
    <p:extLst>
      <p:ext uri="{BB962C8B-B14F-4D97-AF65-F5344CB8AC3E}">
        <p14:creationId xmlns:p14="http://schemas.microsoft.com/office/powerpoint/2010/main" val="7303634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D610D7-3850-4BD9-9B42-B618484114E1}"/>
              </a:ext>
            </a:extLst>
          </p:cNvPr>
          <p:cNvSpPr>
            <a:spLocks noGrp="1"/>
          </p:cNvSpPr>
          <p:nvPr>
            <p:ph type="ctrTitle"/>
          </p:nvPr>
        </p:nvSpPr>
        <p:spPr>
          <a:xfrm>
            <a:off x="1127464" y="1526958"/>
            <a:ext cx="9719569" cy="1755313"/>
          </a:xfrm>
        </p:spPr>
        <p:txBody>
          <a:bodyPr>
            <a:normAutofit/>
          </a:bodyPr>
          <a:lstStyle/>
          <a:p>
            <a:r>
              <a:rPr lang="en-US" sz="6600" b="1" dirty="0"/>
              <a:t>cryptography</a:t>
            </a:r>
            <a:endParaRPr lang="x-none" sz="6600" b="1" dirty="0"/>
          </a:p>
        </p:txBody>
      </p:sp>
      <p:sp>
        <p:nvSpPr>
          <p:cNvPr id="3" name="Subtitle 2">
            <a:extLst>
              <a:ext uri="{FF2B5EF4-FFF2-40B4-BE49-F238E27FC236}">
                <a16:creationId xmlns:a16="http://schemas.microsoft.com/office/drawing/2014/main" xmlns="" id="{CA82359B-6026-4AB3-BB29-E34FAEC05601}"/>
              </a:ext>
            </a:extLst>
          </p:cNvPr>
          <p:cNvSpPr>
            <a:spLocks noGrp="1"/>
          </p:cNvSpPr>
          <p:nvPr>
            <p:ph type="subTitle" idx="1"/>
          </p:nvPr>
        </p:nvSpPr>
        <p:spPr>
          <a:xfrm>
            <a:off x="3764133" y="3575730"/>
            <a:ext cx="7155402" cy="1005147"/>
          </a:xfrm>
        </p:spPr>
        <p:txBody>
          <a:bodyPr>
            <a:normAutofit fontScale="92500" lnSpcReduction="20000"/>
          </a:bodyPr>
          <a:lstStyle/>
          <a:p>
            <a:r>
              <a:rPr lang="en-US" dirty="0">
                <a:latin typeface="Bahnschrift SemiBold" panose="020B0502040204020203" pitchFamily="34" charset="0"/>
              </a:rPr>
              <a:t>PRESENTED BY:</a:t>
            </a:r>
          </a:p>
          <a:p>
            <a:r>
              <a:rPr lang="en-US" dirty="0">
                <a:latin typeface="Bahnschrift SemiBold" panose="020B0502040204020203" pitchFamily="34" charset="0"/>
              </a:rPr>
              <a:t>                          M.UMAR &amp;  </a:t>
            </a:r>
          </a:p>
          <a:p>
            <a:r>
              <a:rPr lang="en-US" dirty="0">
                <a:latin typeface="Bahnschrift SemiBold" panose="020B0502040204020203" pitchFamily="34" charset="0"/>
              </a:rPr>
              <a:t>                                         </a:t>
            </a:r>
            <a:r>
              <a:rPr lang="en-US" dirty="0" smtClean="0">
                <a:latin typeface="Bahnschrift SemiBold" panose="020B0502040204020203" pitchFamily="34" charset="0"/>
              </a:rPr>
              <a:t>  </a:t>
            </a:r>
            <a:r>
              <a:rPr lang="en-US" dirty="0">
                <a:latin typeface="Bahnschrift SemiBold" panose="020B0502040204020203" pitchFamily="34" charset="0"/>
              </a:rPr>
              <a:t>DANIYAL AZHAR</a:t>
            </a:r>
            <a:endParaRPr lang="x-none" dirty="0">
              <a:latin typeface="Bahnschrift SemiBold" panose="020B0502040204020203" pitchFamily="34" charset="0"/>
            </a:endParaRPr>
          </a:p>
        </p:txBody>
      </p:sp>
    </p:spTree>
    <p:extLst>
      <p:ext uri="{BB962C8B-B14F-4D97-AF65-F5344CB8AC3E}">
        <p14:creationId xmlns:p14="http://schemas.microsoft.com/office/powerpoint/2010/main" val="13781323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17752D-A619-4801-94B6-4652520E38FA}"/>
              </a:ext>
            </a:extLst>
          </p:cNvPr>
          <p:cNvSpPr>
            <a:spLocks noGrp="1"/>
          </p:cNvSpPr>
          <p:nvPr>
            <p:ph type="title"/>
          </p:nvPr>
        </p:nvSpPr>
        <p:spPr>
          <a:xfrm>
            <a:off x="3027284" y="914399"/>
            <a:ext cx="8478915" cy="1143001"/>
          </a:xfrm>
        </p:spPr>
        <p:txBody>
          <a:bodyPr>
            <a:normAutofit/>
          </a:bodyPr>
          <a:lstStyle/>
          <a:p>
            <a:r>
              <a:rPr lang="en-US" sz="7200" b="1" dirty="0"/>
              <a:t>cryptography</a:t>
            </a:r>
            <a:endParaRPr lang="x-none" sz="7200" dirty="0"/>
          </a:p>
        </p:txBody>
      </p:sp>
      <p:sp>
        <p:nvSpPr>
          <p:cNvPr id="3" name="Content Placeholder 2">
            <a:extLst>
              <a:ext uri="{FF2B5EF4-FFF2-40B4-BE49-F238E27FC236}">
                <a16:creationId xmlns:a16="http://schemas.microsoft.com/office/drawing/2014/main" xmlns="" id="{EF3747D1-FB57-4CF2-8DD3-B3A9D951665B}"/>
              </a:ext>
            </a:extLst>
          </p:cNvPr>
          <p:cNvSpPr>
            <a:spLocks noGrp="1"/>
          </p:cNvSpPr>
          <p:nvPr>
            <p:ph idx="1"/>
          </p:nvPr>
        </p:nvSpPr>
        <p:spPr>
          <a:xfrm>
            <a:off x="545910" y="2729552"/>
            <a:ext cx="10960290" cy="3489133"/>
          </a:xfrm>
        </p:spPr>
        <p:txBody>
          <a:bodyPr>
            <a:normAutofit lnSpcReduction="10000"/>
          </a:bodyPr>
          <a:lstStyle/>
          <a:p>
            <a:r>
              <a:rPr lang="en-US" sz="3200" dirty="0">
                <a:latin typeface="Times New Roman" panose="02020603050405020304" pitchFamily="18" charset="0"/>
                <a:cs typeface="Times New Roman" panose="02020603050405020304" pitchFamily="18" charset="0"/>
              </a:rPr>
              <a:t>Cryptography derived its name from a </a:t>
            </a:r>
            <a:r>
              <a:rPr lang="en-US" sz="3200" b="1" dirty="0">
                <a:latin typeface="Times New Roman" panose="02020603050405020304" pitchFamily="18" charset="0"/>
                <a:cs typeface="Times New Roman" panose="02020603050405020304" pitchFamily="18" charset="0"/>
              </a:rPr>
              <a:t>Greek </a:t>
            </a:r>
            <a:r>
              <a:rPr lang="en-US" sz="3200" dirty="0">
                <a:latin typeface="Times New Roman" panose="02020603050405020304" pitchFamily="18" charset="0"/>
                <a:cs typeface="Times New Roman" panose="02020603050405020304" pitchFamily="18" charset="0"/>
              </a:rPr>
              <a:t>word called </a:t>
            </a:r>
            <a:r>
              <a:rPr lang="en-US" sz="3200" b="1" dirty="0">
                <a:latin typeface="Times New Roman" panose="02020603050405020304" pitchFamily="18" charset="0"/>
                <a:cs typeface="Times New Roman" panose="02020603050405020304" pitchFamily="18" charset="0"/>
              </a:rPr>
              <a:t>“KRYPTOS”</a:t>
            </a:r>
            <a:r>
              <a:rPr lang="en-US" sz="3200" dirty="0">
                <a:latin typeface="Times New Roman" panose="02020603050405020304" pitchFamily="18" charset="0"/>
                <a:cs typeface="Times New Roman" panose="02020603050405020304" pitchFamily="18" charset="0"/>
              </a:rPr>
              <a:t> which means </a:t>
            </a:r>
            <a:r>
              <a:rPr lang="en-US" sz="3200" b="1" dirty="0">
                <a:latin typeface="Times New Roman" panose="02020603050405020304" pitchFamily="18" charset="0"/>
                <a:cs typeface="Times New Roman" panose="02020603050405020304" pitchFamily="18" charset="0"/>
              </a:rPr>
              <a:t>“ HIDDEN SECRET”</a:t>
            </a:r>
            <a:r>
              <a:rPr lang="en-US" sz="3200" dirty="0">
                <a:latin typeface="Times New Roman" panose="02020603050405020304" pitchFamily="18" charset="0"/>
                <a:cs typeface="Times New Roman" panose="02020603050405020304" pitchFamily="18" charset="0"/>
              </a:rPr>
              <a:t>.</a:t>
            </a:r>
          </a:p>
          <a:p>
            <a:r>
              <a:rPr lang="en-US" sz="3600" dirty="0">
                <a:latin typeface="Times New Roman" panose="02020603050405020304" pitchFamily="18" charset="0"/>
                <a:cs typeface="Times New Roman" panose="02020603050405020304" pitchFamily="18" charset="0"/>
              </a:rPr>
              <a:t>Cryptography is a science of secure communication . </a:t>
            </a:r>
          </a:p>
          <a:p>
            <a:r>
              <a:rPr lang="en-US" sz="3600" dirty="0">
                <a:latin typeface="Times New Roman" panose="02020603050405020304" pitchFamily="18" charset="0"/>
                <a:cs typeface="Times New Roman" panose="02020603050405020304" pitchFamily="18" charset="0"/>
              </a:rPr>
              <a:t>Cryptography </a:t>
            </a:r>
            <a:r>
              <a:rPr lang="en-US" sz="3600" dirty="0" smtClean="0">
                <a:latin typeface="Times New Roman" panose="02020603050405020304" pitchFamily="18" charset="0"/>
                <a:cs typeface="Times New Roman" panose="02020603050405020304" pitchFamily="18" charset="0"/>
              </a:rPr>
              <a:t>is </a:t>
            </a:r>
            <a:r>
              <a:rPr lang="en-US" sz="3600" dirty="0">
                <a:latin typeface="Times New Roman" panose="02020603050405020304" pitchFamily="18" charset="0"/>
                <a:cs typeface="Times New Roman" panose="02020603050405020304" pitchFamily="18" charset="0"/>
              </a:rPr>
              <a:t>technique of securing information and communications through use of codes so that only those person for whom the information is intended can understand it and process it</a:t>
            </a:r>
            <a:endParaRPr lang="en-US" sz="3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p>
          <a:p>
            <a:endParaRPr lang="x-none" dirty="0"/>
          </a:p>
        </p:txBody>
      </p:sp>
    </p:spTree>
    <p:extLst>
      <p:ext uri="{BB962C8B-B14F-4D97-AF65-F5344CB8AC3E}">
        <p14:creationId xmlns:p14="http://schemas.microsoft.com/office/powerpoint/2010/main" val="58863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CED0922C-769F-42D9-BADE-FF55E2A6F14A}"/>
              </a:ext>
            </a:extLst>
          </p:cNvPr>
          <p:cNvSpPr>
            <a:spLocks noGrp="1"/>
          </p:cNvSpPr>
          <p:nvPr>
            <p:ph type="body" idx="1"/>
          </p:nvPr>
        </p:nvSpPr>
        <p:spPr>
          <a:xfrm>
            <a:off x="801691" y="1515223"/>
            <a:ext cx="5079991" cy="823912"/>
          </a:xfrm>
        </p:spPr>
        <p:txBody>
          <a:bodyPr>
            <a:normAutofit fontScale="85000" lnSpcReduction="20000"/>
          </a:bodyPr>
          <a:lstStyle/>
          <a:p>
            <a:endParaRPr lang="en-US" b="1" i="1" dirty="0">
              <a:solidFill>
                <a:schemeClr val="bg2">
                  <a:lumMod val="75000"/>
                </a:schemeClr>
              </a:solidFill>
            </a:endParaRPr>
          </a:p>
          <a:p>
            <a:r>
              <a:rPr lang="en-US" sz="3800" b="1" i="1" dirty="0">
                <a:solidFill>
                  <a:schemeClr val="tx1">
                    <a:lumMod val="95000"/>
                    <a:lumOff val="5000"/>
                  </a:schemeClr>
                </a:solidFill>
              </a:rPr>
              <a:t>Encryption</a:t>
            </a:r>
            <a:r>
              <a:rPr lang="en-US" b="1" i="1" dirty="0">
                <a:solidFill>
                  <a:schemeClr val="tx2">
                    <a:lumMod val="75000"/>
                  </a:schemeClr>
                </a:solidFill>
              </a:rPr>
              <a:t> :</a:t>
            </a:r>
          </a:p>
          <a:p>
            <a:endParaRPr lang="x-none" dirty="0"/>
          </a:p>
        </p:txBody>
      </p:sp>
      <p:sp>
        <p:nvSpPr>
          <p:cNvPr id="4" name="Content Placeholder 3">
            <a:extLst>
              <a:ext uri="{FF2B5EF4-FFF2-40B4-BE49-F238E27FC236}">
                <a16:creationId xmlns:a16="http://schemas.microsoft.com/office/drawing/2014/main" xmlns="" id="{3FE86159-87E6-4A6E-8816-952D686B42BF}"/>
              </a:ext>
            </a:extLst>
          </p:cNvPr>
          <p:cNvSpPr>
            <a:spLocks noGrp="1"/>
          </p:cNvSpPr>
          <p:nvPr>
            <p:ph sz="half" idx="2"/>
          </p:nvPr>
        </p:nvSpPr>
        <p:spPr/>
        <p:txBody>
          <a:bodyPr>
            <a:normAutofit/>
          </a:bodyPr>
          <a:lstStyle/>
          <a:p>
            <a:r>
              <a:rPr lang="en-US" sz="2400" b="1" dirty="0">
                <a:cs typeface="Times New Roman" panose="02020603050405020304" pitchFamily="18" charset="0"/>
              </a:rPr>
              <a:t>Encryption</a:t>
            </a:r>
            <a:r>
              <a:rPr lang="en-US" sz="2400" dirty="0">
                <a:cs typeface="Times New Roman" panose="02020603050405020304" pitchFamily="18" charset="0"/>
              </a:rPr>
              <a:t> is the process by which a readable message is converted to an unreadable form to prevent unauthorized parties from reading it</a:t>
            </a:r>
            <a:r>
              <a:rPr lang="en-US" sz="2400" dirty="0" smtClean="0">
                <a:cs typeface="Times New Roman" panose="02020603050405020304" pitchFamily="18" charset="0"/>
              </a:rPr>
              <a:t>.</a:t>
            </a:r>
          </a:p>
          <a:p>
            <a:endParaRPr lang="en-US" sz="2400" dirty="0">
              <a:cs typeface="Times New Roman" panose="02020603050405020304" pitchFamily="18" charset="0"/>
            </a:endParaRPr>
          </a:p>
          <a:p>
            <a:r>
              <a:rPr lang="en-US" sz="2400" dirty="0"/>
              <a:t>. The encrypted message is called the </a:t>
            </a:r>
            <a:r>
              <a:rPr lang="en-US" sz="2400" b="1" dirty="0" smtClean="0"/>
              <a:t>cipher text </a:t>
            </a:r>
            <a:r>
              <a:rPr lang="en-US" sz="2400" b="1" dirty="0"/>
              <a:t>message</a:t>
            </a:r>
            <a:endParaRPr lang="x-none" sz="2400" dirty="0">
              <a:cs typeface="Times New Roman" panose="02020603050405020304" pitchFamily="18" charset="0"/>
            </a:endParaRPr>
          </a:p>
        </p:txBody>
      </p:sp>
      <p:sp>
        <p:nvSpPr>
          <p:cNvPr id="5" name="Text Placeholder 4">
            <a:extLst>
              <a:ext uri="{FF2B5EF4-FFF2-40B4-BE49-F238E27FC236}">
                <a16:creationId xmlns:a16="http://schemas.microsoft.com/office/drawing/2014/main" xmlns="" id="{ED9B257B-523E-412E-AA0C-1E4A7EB96F30}"/>
              </a:ext>
            </a:extLst>
          </p:cNvPr>
          <p:cNvSpPr>
            <a:spLocks noGrp="1"/>
          </p:cNvSpPr>
          <p:nvPr>
            <p:ph type="body" sz="quarter" idx="3"/>
          </p:nvPr>
        </p:nvSpPr>
        <p:spPr>
          <a:xfrm>
            <a:off x="6197602" y="1542358"/>
            <a:ext cx="5308598" cy="823912"/>
          </a:xfrm>
        </p:spPr>
        <p:txBody>
          <a:bodyPr>
            <a:normAutofit/>
          </a:bodyPr>
          <a:lstStyle/>
          <a:p>
            <a:r>
              <a:rPr lang="en-US" b="1" i="1" dirty="0">
                <a:solidFill>
                  <a:schemeClr val="bg2">
                    <a:lumMod val="10000"/>
                  </a:schemeClr>
                </a:solidFill>
              </a:rPr>
              <a:t>Decryption </a:t>
            </a:r>
            <a:r>
              <a:rPr lang="en-US" b="1" i="1" dirty="0">
                <a:solidFill>
                  <a:schemeClr val="tx2">
                    <a:lumMod val="75000"/>
                  </a:schemeClr>
                </a:solidFill>
              </a:rPr>
              <a:t>:</a:t>
            </a:r>
          </a:p>
          <a:p>
            <a:endParaRPr lang="x-none" dirty="0"/>
          </a:p>
        </p:txBody>
      </p:sp>
      <p:sp>
        <p:nvSpPr>
          <p:cNvPr id="6" name="Content Placeholder 5">
            <a:extLst>
              <a:ext uri="{FF2B5EF4-FFF2-40B4-BE49-F238E27FC236}">
                <a16:creationId xmlns:a16="http://schemas.microsoft.com/office/drawing/2014/main" xmlns="" id="{73CABC26-D123-4B1D-8A84-9F8445FEAB43}"/>
              </a:ext>
            </a:extLst>
          </p:cNvPr>
          <p:cNvSpPr>
            <a:spLocks noGrp="1"/>
          </p:cNvSpPr>
          <p:nvPr>
            <p:ph sz="quarter" idx="4"/>
          </p:nvPr>
        </p:nvSpPr>
        <p:spPr/>
        <p:txBody>
          <a:bodyPr/>
          <a:lstStyle/>
          <a:p>
            <a:r>
              <a:rPr lang="en-US" dirty="0"/>
              <a:t> </a:t>
            </a:r>
            <a:r>
              <a:rPr lang="en-US" b="1" dirty="0"/>
              <a:t>Decryption</a:t>
            </a:r>
            <a:r>
              <a:rPr lang="en-US" dirty="0"/>
              <a:t> is the process of converting an encrypted message back to its original (readable) format. The original message is called the </a:t>
            </a:r>
            <a:r>
              <a:rPr lang="en-US" b="1" dirty="0"/>
              <a:t>plaintext message</a:t>
            </a:r>
            <a:r>
              <a:rPr lang="en-US" dirty="0"/>
              <a:t>.</a:t>
            </a:r>
            <a:endParaRPr lang="x-none" dirty="0"/>
          </a:p>
        </p:txBody>
      </p:sp>
    </p:spTree>
    <p:extLst>
      <p:ext uri="{BB962C8B-B14F-4D97-AF65-F5344CB8AC3E}">
        <p14:creationId xmlns:p14="http://schemas.microsoft.com/office/powerpoint/2010/main" val="162173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ircle(in)">
                                      <p:cBhvr>
                                        <p:cTn id="12" dur="2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randombar(horizontal)">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wipe(down)">
                                      <p:cBhvr>
                                        <p:cTn id="27" dur="580">
                                          <p:stCondLst>
                                            <p:cond delay="0"/>
                                          </p:stCondLst>
                                        </p:cTn>
                                        <p:tgtEl>
                                          <p:spTgt spid="4">
                                            <p:txEl>
                                              <p:pRg st="2" end="2"/>
                                            </p:txEl>
                                          </p:spTgt>
                                        </p:tgtEl>
                                      </p:cBhvr>
                                    </p:animEffect>
                                    <p:anim calcmode="lin" valueType="num">
                                      <p:cBhvr>
                                        <p:cTn id="28"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33" dur="26">
                                          <p:stCondLst>
                                            <p:cond delay="650"/>
                                          </p:stCondLst>
                                        </p:cTn>
                                        <p:tgtEl>
                                          <p:spTgt spid="4">
                                            <p:txEl>
                                              <p:pRg st="2" end="2"/>
                                            </p:txEl>
                                          </p:spTgt>
                                        </p:tgtEl>
                                      </p:cBhvr>
                                      <p:to x="100000" y="60000"/>
                                    </p:animScale>
                                    <p:animScale>
                                      <p:cBhvr>
                                        <p:cTn id="34" dur="166" decel="50000">
                                          <p:stCondLst>
                                            <p:cond delay="676"/>
                                          </p:stCondLst>
                                        </p:cTn>
                                        <p:tgtEl>
                                          <p:spTgt spid="4">
                                            <p:txEl>
                                              <p:pRg st="2" end="2"/>
                                            </p:txEl>
                                          </p:spTgt>
                                        </p:tgtEl>
                                      </p:cBhvr>
                                      <p:to x="100000" y="100000"/>
                                    </p:animScale>
                                    <p:animScale>
                                      <p:cBhvr>
                                        <p:cTn id="35" dur="26">
                                          <p:stCondLst>
                                            <p:cond delay="1312"/>
                                          </p:stCondLst>
                                        </p:cTn>
                                        <p:tgtEl>
                                          <p:spTgt spid="4">
                                            <p:txEl>
                                              <p:pRg st="2" end="2"/>
                                            </p:txEl>
                                          </p:spTgt>
                                        </p:tgtEl>
                                      </p:cBhvr>
                                      <p:to x="100000" y="80000"/>
                                    </p:animScale>
                                    <p:animScale>
                                      <p:cBhvr>
                                        <p:cTn id="36" dur="166" decel="50000">
                                          <p:stCondLst>
                                            <p:cond delay="1338"/>
                                          </p:stCondLst>
                                        </p:cTn>
                                        <p:tgtEl>
                                          <p:spTgt spid="4">
                                            <p:txEl>
                                              <p:pRg st="2" end="2"/>
                                            </p:txEl>
                                          </p:spTgt>
                                        </p:tgtEl>
                                      </p:cBhvr>
                                      <p:to x="100000" y="100000"/>
                                    </p:animScale>
                                    <p:animScale>
                                      <p:cBhvr>
                                        <p:cTn id="37" dur="26">
                                          <p:stCondLst>
                                            <p:cond delay="1642"/>
                                          </p:stCondLst>
                                        </p:cTn>
                                        <p:tgtEl>
                                          <p:spTgt spid="4">
                                            <p:txEl>
                                              <p:pRg st="2" end="2"/>
                                            </p:txEl>
                                          </p:spTgt>
                                        </p:tgtEl>
                                      </p:cBhvr>
                                      <p:to x="100000" y="90000"/>
                                    </p:animScale>
                                    <p:animScale>
                                      <p:cBhvr>
                                        <p:cTn id="38" dur="166" decel="50000">
                                          <p:stCondLst>
                                            <p:cond delay="1668"/>
                                          </p:stCondLst>
                                        </p:cTn>
                                        <p:tgtEl>
                                          <p:spTgt spid="4">
                                            <p:txEl>
                                              <p:pRg st="2" end="2"/>
                                            </p:txEl>
                                          </p:spTgt>
                                        </p:tgtEl>
                                      </p:cBhvr>
                                      <p:to x="100000" y="100000"/>
                                    </p:animScale>
                                    <p:animScale>
                                      <p:cBhvr>
                                        <p:cTn id="39" dur="26">
                                          <p:stCondLst>
                                            <p:cond delay="1808"/>
                                          </p:stCondLst>
                                        </p:cTn>
                                        <p:tgtEl>
                                          <p:spTgt spid="4">
                                            <p:txEl>
                                              <p:pRg st="2" end="2"/>
                                            </p:txEl>
                                          </p:spTgt>
                                        </p:tgtEl>
                                      </p:cBhvr>
                                      <p:to x="100000" y="95000"/>
                                    </p:animScale>
                                    <p:animScale>
                                      <p:cBhvr>
                                        <p:cTn id="40" dur="166" decel="50000">
                                          <p:stCondLst>
                                            <p:cond delay="1834"/>
                                          </p:stCondLst>
                                        </p:cTn>
                                        <p:tgtEl>
                                          <p:spTgt spid="4">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AC5FB9-7B45-4941-888F-247C8811E67E}"/>
              </a:ext>
            </a:extLst>
          </p:cNvPr>
          <p:cNvSpPr>
            <a:spLocks noGrp="1"/>
          </p:cNvSpPr>
          <p:nvPr>
            <p:ph type="ctrTitle"/>
          </p:nvPr>
        </p:nvSpPr>
        <p:spPr>
          <a:xfrm>
            <a:off x="976544" y="1837677"/>
            <a:ext cx="9843856" cy="1790823"/>
          </a:xfrm>
        </p:spPr>
        <p:txBody>
          <a:bodyPr>
            <a:normAutofit/>
          </a:bodyPr>
          <a:lstStyle/>
          <a:p>
            <a:r>
              <a:rPr lang="en-US" sz="4800" b="1" dirty="0" smtClean="0"/>
              <a:t>Types  of  CRYPTOGRAPHY</a:t>
            </a:r>
            <a:endParaRPr lang="x-none" sz="4800" b="1" dirty="0"/>
          </a:p>
        </p:txBody>
      </p:sp>
    </p:spTree>
    <p:extLst>
      <p:ext uri="{BB962C8B-B14F-4D97-AF65-F5344CB8AC3E}">
        <p14:creationId xmlns:p14="http://schemas.microsoft.com/office/powerpoint/2010/main" val="162116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5B3436DF-03DF-4B82-804A-B6BE93FC53DD}"/>
              </a:ext>
            </a:extLst>
          </p:cNvPr>
          <p:cNvSpPr>
            <a:spLocks noGrp="1"/>
          </p:cNvSpPr>
          <p:nvPr>
            <p:ph type="body" idx="1"/>
          </p:nvPr>
        </p:nvSpPr>
        <p:spPr>
          <a:xfrm>
            <a:off x="1450637" y="2236114"/>
            <a:ext cx="3385598" cy="701335"/>
          </a:xfrm>
        </p:spPr>
        <p:txBody>
          <a:bodyPr/>
          <a:lstStyle/>
          <a:p>
            <a:r>
              <a:rPr lang="en-US" sz="2800" b="1" dirty="0">
                <a:latin typeface="+mj-lt"/>
                <a:cs typeface="Times New Roman" panose="02020603050405020304" pitchFamily="18" charset="0"/>
              </a:rPr>
              <a:t>SYMMETRIC CRYPTOGRAPHY</a:t>
            </a:r>
            <a:endParaRPr lang="x-none" sz="2800" b="1" dirty="0">
              <a:latin typeface="+mj-lt"/>
              <a:cs typeface="Times New Roman" panose="02020603050405020304" pitchFamily="18" charset="0"/>
            </a:endParaRPr>
          </a:p>
        </p:txBody>
      </p:sp>
      <p:sp>
        <p:nvSpPr>
          <p:cNvPr id="5" name="Text Placeholder 4">
            <a:extLst>
              <a:ext uri="{FF2B5EF4-FFF2-40B4-BE49-F238E27FC236}">
                <a16:creationId xmlns:a16="http://schemas.microsoft.com/office/drawing/2014/main" xmlns="" id="{E1ACF8E4-202F-4C86-88A7-6050486DBE7A}"/>
              </a:ext>
            </a:extLst>
          </p:cNvPr>
          <p:cNvSpPr>
            <a:spLocks noGrp="1"/>
          </p:cNvSpPr>
          <p:nvPr>
            <p:ph type="body" sz="half" idx="18"/>
          </p:nvPr>
        </p:nvSpPr>
        <p:spPr>
          <a:xfrm>
            <a:off x="1524309" y="3116165"/>
            <a:ext cx="3323454" cy="3031602"/>
          </a:xfrm>
        </p:spPr>
        <p:txBody>
          <a:bodyPr>
            <a:normAutofit lnSpcReduction="10000"/>
          </a:bodyPr>
          <a:lstStyle/>
          <a:p>
            <a:r>
              <a:rPr lang="en-US" dirty="0"/>
              <a:t> </a:t>
            </a:r>
            <a:r>
              <a:rPr lang="en-US" sz="2400" dirty="0">
                <a:latin typeface="Twimes"/>
                <a:cs typeface="Times New Roman" panose="02020603050405020304" pitchFamily="18" charset="0"/>
              </a:rPr>
              <a:t>This type of cryptography involves the use of a single key to encrypt and decrypt data. Both the sender and receiver use the same key, which must be kept secret to maintain the security of the communication.</a:t>
            </a:r>
            <a:endParaRPr lang="x-none" sz="2400" dirty="0">
              <a:latin typeface="Twimes"/>
              <a:cs typeface="Times New Roman" panose="02020603050405020304" pitchFamily="18" charset="0"/>
            </a:endParaRPr>
          </a:p>
        </p:txBody>
      </p:sp>
      <p:sp>
        <p:nvSpPr>
          <p:cNvPr id="6" name="Text Placeholder 5">
            <a:extLst>
              <a:ext uri="{FF2B5EF4-FFF2-40B4-BE49-F238E27FC236}">
                <a16:creationId xmlns:a16="http://schemas.microsoft.com/office/drawing/2014/main" xmlns="" id="{26BB4114-7895-4A00-A6DD-9F416B733299}"/>
              </a:ext>
            </a:extLst>
          </p:cNvPr>
          <p:cNvSpPr>
            <a:spLocks noGrp="1"/>
          </p:cNvSpPr>
          <p:nvPr>
            <p:ph type="body" sz="quarter" idx="3"/>
          </p:nvPr>
        </p:nvSpPr>
        <p:spPr>
          <a:xfrm>
            <a:off x="6891566" y="2236115"/>
            <a:ext cx="3456468" cy="701335"/>
          </a:xfrm>
        </p:spPr>
        <p:txBody>
          <a:bodyPr/>
          <a:lstStyle/>
          <a:p>
            <a:r>
              <a:rPr lang="en-US" sz="2800" b="1" dirty="0">
                <a:latin typeface="+mj-lt"/>
                <a:cs typeface="Times New Roman" panose="02020603050405020304" pitchFamily="18" charset="0"/>
              </a:rPr>
              <a:t>A</a:t>
            </a:r>
            <a:r>
              <a:rPr lang="en-US" sz="2800" b="1" dirty="0" smtClean="0">
                <a:latin typeface="+mj-lt"/>
                <a:cs typeface="Times New Roman" panose="02020603050405020304" pitchFamily="18" charset="0"/>
              </a:rPr>
              <a:t>SYMMETRIC CRYPTOGRAPHY</a:t>
            </a:r>
            <a:endParaRPr lang="x-none" sz="2800" b="1" dirty="0">
              <a:latin typeface="+mj-lt"/>
              <a:cs typeface="Times New Roman" panose="02020603050405020304" pitchFamily="18" charset="0"/>
            </a:endParaRPr>
          </a:p>
        </p:txBody>
      </p:sp>
      <p:sp>
        <p:nvSpPr>
          <p:cNvPr id="8" name="Text Placeholder 7">
            <a:extLst>
              <a:ext uri="{FF2B5EF4-FFF2-40B4-BE49-F238E27FC236}">
                <a16:creationId xmlns:a16="http://schemas.microsoft.com/office/drawing/2014/main" xmlns="" id="{FD00EBCB-7DA1-4CEC-983E-3089803FF79A}"/>
              </a:ext>
            </a:extLst>
          </p:cNvPr>
          <p:cNvSpPr>
            <a:spLocks noGrp="1"/>
          </p:cNvSpPr>
          <p:nvPr>
            <p:ph type="body" sz="half" idx="19"/>
          </p:nvPr>
        </p:nvSpPr>
        <p:spPr>
          <a:xfrm>
            <a:off x="6891565" y="3116165"/>
            <a:ext cx="3456469" cy="3031602"/>
          </a:xfrm>
        </p:spPr>
        <p:txBody>
          <a:bodyPr>
            <a:noAutofit/>
          </a:bodyPr>
          <a:lstStyle/>
          <a:p>
            <a:r>
              <a:rPr lang="en-US" sz="2400" dirty="0" smtClean="0">
                <a:latin typeface="Twimes"/>
                <a:cs typeface="Times New Roman" panose="02020603050405020304" pitchFamily="18" charset="0"/>
              </a:rPr>
              <a:t>It </a:t>
            </a:r>
            <a:r>
              <a:rPr lang="en-US" sz="2400" dirty="0">
                <a:latin typeface="Twimes"/>
                <a:cs typeface="Times New Roman" panose="02020603050405020304" pitchFamily="18" charset="0"/>
              </a:rPr>
              <a:t>also known as public-key cryptography, uses a pair of keys – a public key and a private key – to encrypt and decrypt data. The public key is available to anyone, while the private key is kept secret by the owner.</a:t>
            </a:r>
            <a:endParaRPr lang="x-none" sz="2400" dirty="0">
              <a:latin typeface="Twimes"/>
              <a:cs typeface="Times New Roman" panose="02020603050405020304" pitchFamily="18" charset="0"/>
            </a:endParaRPr>
          </a:p>
        </p:txBody>
      </p:sp>
    </p:spTree>
    <p:extLst>
      <p:ext uri="{BB962C8B-B14F-4D97-AF65-F5344CB8AC3E}">
        <p14:creationId xmlns:p14="http://schemas.microsoft.com/office/powerpoint/2010/main" val="212318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p:cTn id="12"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14"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15" dur="10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circle(in)">
                                      <p:cBhvr>
                                        <p:cTn id="20" dur="2000"/>
                                        <p:tgtEl>
                                          <p:spTgt spid="6">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 calcmode="lin" valueType="num">
                                      <p:cBhvr>
                                        <p:cTn id="25"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5B3436DF-03DF-4B82-804A-B6BE93FC53DD}"/>
              </a:ext>
            </a:extLst>
          </p:cNvPr>
          <p:cNvSpPr>
            <a:spLocks noGrp="1"/>
          </p:cNvSpPr>
          <p:nvPr>
            <p:ph type="body" idx="1"/>
          </p:nvPr>
        </p:nvSpPr>
        <p:spPr>
          <a:xfrm>
            <a:off x="1450637" y="2236114"/>
            <a:ext cx="3385598" cy="701335"/>
          </a:xfrm>
        </p:spPr>
        <p:txBody>
          <a:bodyPr/>
          <a:lstStyle/>
          <a:p>
            <a:r>
              <a:rPr lang="en-US" sz="2800" b="1" dirty="0">
                <a:latin typeface="+mj-lt"/>
                <a:cs typeface="Times New Roman" panose="02020603050405020304" pitchFamily="18" charset="0"/>
              </a:rPr>
              <a:t>SYMMETRIC CRYPTOGRAPHY</a:t>
            </a:r>
            <a:endParaRPr lang="x-none" sz="2800" b="1" dirty="0">
              <a:latin typeface="+mj-lt"/>
              <a:cs typeface="Times New Roman" panose="02020603050405020304" pitchFamily="18" charset="0"/>
            </a:endParaRPr>
          </a:p>
        </p:txBody>
      </p:sp>
      <p:sp>
        <p:nvSpPr>
          <p:cNvPr id="5" name="Text Placeholder 4">
            <a:extLst>
              <a:ext uri="{FF2B5EF4-FFF2-40B4-BE49-F238E27FC236}">
                <a16:creationId xmlns:a16="http://schemas.microsoft.com/office/drawing/2014/main" xmlns="" id="{E1ACF8E4-202F-4C86-88A7-6050486DBE7A}"/>
              </a:ext>
            </a:extLst>
          </p:cNvPr>
          <p:cNvSpPr>
            <a:spLocks noGrp="1"/>
          </p:cNvSpPr>
          <p:nvPr>
            <p:ph type="body" sz="half" idx="18"/>
          </p:nvPr>
        </p:nvSpPr>
        <p:spPr>
          <a:xfrm>
            <a:off x="1450637" y="3443712"/>
            <a:ext cx="3323454" cy="3031602"/>
          </a:xfrm>
        </p:spPr>
        <p:txBody>
          <a:bodyPr>
            <a:normAutofit/>
          </a:bodyPr>
          <a:lstStyle/>
          <a:p>
            <a:pPr marL="285750" indent="-285750">
              <a:buFont typeface="Arial" panose="020B0604020202020204" pitchFamily="34" charset="0"/>
              <a:buChar char="•"/>
            </a:pPr>
            <a:r>
              <a:rPr lang="en-US" dirty="0" smtClean="0">
                <a:latin typeface="Arial Rounded MT Bold" panose="020F0704030504030204" pitchFamily="34" charset="0"/>
              </a:rPr>
              <a:t>Single Key</a:t>
            </a:r>
          </a:p>
          <a:p>
            <a:pPr marL="285750" indent="-285750">
              <a:buFont typeface="Arial" panose="020B0604020202020204" pitchFamily="34" charset="0"/>
              <a:buChar char="•"/>
            </a:pPr>
            <a:r>
              <a:rPr lang="en-US" dirty="0" smtClean="0">
                <a:latin typeface="Arial Rounded MT Bold" panose="020F0704030504030204" pitchFamily="34" charset="0"/>
              </a:rPr>
              <a:t>Less secure</a:t>
            </a:r>
          </a:p>
          <a:p>
            <a:pPr marL="285750" indent="-285750">
              <a:buFont typeface="Arial" panose="020B0604020202020204" pitchFamily="34" charset="0"/>
              <a:buChar char="•"/>
            </a:pPr>
            <a:r>
              <a:rPr lang="en-US" dirty="0" smtClean="0">
                <a:latin typeface="Arial Rounded MT Bold" panose="020F0704030504030204" pitchFamily="34" charset="0"/>
              </a:rPr>
              <a:t>Faster performance</a:t>
            </a:r>
          </a:p>
          <a:p>
            <a:pPr marL="285750" indent="-285750">
              <a:buFont typeface="Arial" panose="020B0604020202020204" pitchFamily="34" charset="0"/>
              <a:buChar char="•"/>
            </a:pPr>
            <a:r>
              <a:rPr lang="en-US" dirty="0" smtClean="0">
                <a:latin typeface="Arial Rounded MT Bold" panose="020F0704030504030204" pitchFamily="34" charset="0"/>
              </a:rPr>
              <a:t>Transfer large amount of data</a:t>
            </a:r>
          </a:p>
          <a:p>
            <a:pPr marL="285750" indent="-285750">
              <a:buFont typeface="Arial" panose="020B0604020202020204" pitchFamily="34" charset="0"/>
              <a:buChar char="•"/>
            </a:pPr>
            <a:r>
              <a:rPr lang="en-US" dirty="0">
                <a:latin typeface="Arial Rounded MT Bold" panose="020F0704030504030204" pitchFamily="34" charset="0"/>
              </a:rPr>
              <a:t>It only provides </a:t>
            </a:r>
            <a:r>
              <a:rPr lang="en-US" dirty="0" smtClean="0">
                <a:latin typeface="Arial Rounded MT Bold" panose="020F0704030504030204" pitchFamily="34" charset="0"/>
              </a:rPr>
              <a:t>confidentiality</a:t>
            </a:r>
            <a:endParaRPr lang="en-US" dirty="0">
              <a:latin typeface="Arial Rounded MT Bold" panose="020F0704030504030204" pitchFamily="34" charset="0"/>
            </a:endParaRPr>
          </a:p>
          <a:p>
            <a:pPr marL="285750" indent="-285750">
              <a:buFont typeface="Arial" panose="020B0604020202020204" pitchFamily="34" charset="0"/>
              <a:buChar char="•"/>
            </a:pPr>
            <a:r>
              <a:rPr lang="en-US" dirty="0">
                <a:latin typeface="Arial Rounded MT Bold" panose="020F0704030504030204" pitchFamily="34" charset="0"/>
              </a:rPr>
              <a:t>resource utilization is </a:t>
            </a:r>
            <a:r>
              <a:rPr lang="en-US" dirty="0" smtClean="0">
                <a:latin typeface="Arial Rounded MT Bold" panose="020F0704030504030204" pitchFamily="34" charset="0"/>
              </a:rPr>
              <a:t>low</a:t>
            </a:r>
          </a:p>
          <a:p>
            <a:pPr marL="285750" indent="-285750">
              <a:buFont typeface="Arial" panose="020B0604020202020204" pitchFamily="34" charset="0"/>
              <a:buChar char="•"/>
            </a:pPr>
            <a:r>
              <a:rPr lang="en-US" dirty="0">
                <a:latin typeface="Arial Rounded MT Bold" panose="020F0704030504030204" pitchFamily="34" charset="0"/>
              </a:rPr>
              <a:t>The length of key used is 128 or 256 bits</a:t>
            </a:r>
            <a:endParaRPr lang="en-US" dirty="0" smtClean="0">
              <a:latin typeface="Arial Rounded MT Bold" panose="020F0704030504030204" pitchFamily="34" charset="0"/>
            </a:endParaRP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p:txBody>
      </p:sp>
      <p:sp>
        <p:nvSpPr>
          <p:cNvPr id="6" name="Text Placeholder 5">
            <a:extLst>
              <a:ext uri="{FF2B5EF4-FFF2-40B4-BE49-F238E27FC236}">
                <a16:creationId xmlns:a16="http://schemas.microsoft.com/office/drawing/2014/main" xmlns="" id="{26BB4114-7895-4A00-A6DD-9F416B733299}"/>
              </a:ext>
            </a:extLst>
          </p:cNvPr>
          <p:cNvSpPr>
            <a:spLocks noGrp="1"/>
          </p:cNvSpPr>
          <p:nvPr>
            <p:ph type="body" sz="quarter" idx="3"/>
          </p:nvPr>
        </p:nvSpPr>
        <p:spPr>
          <a:xfrm>
            <a:off x="6891566" y="2236115"/>
            <a:ext cx="3456468" cy="701335"/>
          </a:xfrm>
        </p:spPr>
        <p:txBody>
          <a:bodyPr/>
          <a:lstStyle/>
          <a:p>
            <a:r>
              <a:rPr lang="en-US" sz="2800" b="1" dirty="0">
                <a:latin typeface="+mj-lt"/>
                <a:cs typeface="Times New Roman" panose="02020603050405020304" pitchFamily="18" charset="0"/>
              </a:rPr>
              <a:t>A</a:t>
            </a:r>
            <a:r>
              <a:rPr lang="en-US" sz="2800" b="1" dirty="0" smtClean="0">
                <a:latin typeface="+mj-lt"/>
                <a:cs typeface="Times New Roman" panose="02020603050405020304" pitchFamily="18" charset="0"/>
              </a:rPr>
              <a:t>SYMMETRIC CRYPTOGRAPHY</a:t>
            </a:r>
            <a:endParaRPr lang="x-none" sz="2800" b="1" dirty="0">
              <a:latin typeface="+mj-lt"/>
              <a:cs typeface="Times New Roman" panose="02020603050405020304" pitchFamily="18" charset="0"/>
            </a:endParaRPr>
          </a:p>
        </p:txBody>
      </p:sp>
      <p:sp>
        <p:nvSpPr>
          <p:cNvPr id="8" name="Text Placeholder 7">
            <a:extLst>
              <a:ext uri="{FF2B5EF4-FFF2-40B4-BE49-F238E27FC236}">
                <a16:creationId xmlns:a16="http://schemas.microsoft.com/office/drawing/2014/main" xmlns="" id="{FD00EBCB-7DA1-4CEC-983E-3089803FF79A}"/>
              </a:ext>
            </a:extLst>
          </p:cNvPr>
          <p:cNvSpPr>
            <a:spLocks noGrp="1"/>
          </p:cNvSpPr>
          <p:nvPr>
            <p:ph type="body" sz="half" idx="19"/>
          </p:nvPr>
        </p:nvSpPr>
        <p:spPr>
          <a:xfrm>
            <a:off x="7000747" y="3348177"/>
            <a:ext cx="3456469" cy="3031602"/>
          </a:xfrm>
        </p:spPr>
        <p:txBody>
          <a:bodyPr>
            <a:noAutofit/>
          </a:bodyPr>
          <a:lstStyle/>
          <a:p>
            <a:pPr marL="342900" indent="-342900">
              <a:buFont typeface="Arial" panose="020B0604020202020204" pitchFamily="34" charset="0"/>
              <a:buChar char="•"/>
            </a:pPr>
            <a:r>
              <a:rPr lang="en-US" dirty="0" smtClean="0">
                <a:latin typeface="Arial Rounded MT Bold" panose="020F0704030504030204" pitchFamily="34" charset="0"/>
                <a:cs typeface="Times New Roman" panose="02020603050405020304" pitchFamily="18" charset="0"/>
              </a:rPr>
              <a:t>Two keys</a:t>
            </a:r>
          </a:p>
          <a:p>
            <a:pPr marL="342900" indent="-342900">
              <a:buFont typeface="Arial" panose="020B0604020202020204" pitchFamily="34" charset="0"/>
              <a:buChar char="•"/>
            </a:pPr>
            <a:r>
              <a:rPr lang="en-US" dirty="0" smtClean="0">
                <a:latin typeface="Arial Rounded MT Bold" panose="020F0704030504030204" pitchFamily="34" charset="0"/>
                <a:cs typeface="Times New Roman" panose="02020603050405020304" pitchFamily="18" charset="0"/>
              </a:rPr>
              <a:t>More secure</a:t>
            </a:r>
          </a:p>
          <a:p>
            <a:pPr marL="342900" indent="-342900">
              <a:buFont typeface="Arial" panose="020B0604020202020204" pitchFamily="34" charset="0"/>
              <a:buChar char="•"/>
            </a:pPr>
            <a:r>
              <a:rPr lang="en-US" dirty="0" smtClean="0">
                <a:latin typeface="Arial Rounded MT Bold" panose="020F0704030504030204" pitchFamily="34" charset="0"/>
                <a:cs typeface="Times New Roman" panose="02020603050405020304" pitchFamily="18" charset="0"/>
              </a:rPr>
              <a:t>Slower performance</a:t>
            </a:r>
          </a:p>
          <a:p>
            <a:pPr marL="342900" indent="-342900">
              <a:buFont typeface="Arial" panose="020B0604020202020204" pitchFamily="34" charset="0"/>
              <a:buChar char="•"/>
            </a:pPr>
            <a:r>
              <a:rPr lang="en-US" dirty="0">
                <a:latin typeface="Arial Rounded MT Bold" panose="020F0704030504030204" pitchFamily="34" charset="0"/>
              </a:rPr>
              <a:t>Transfer </a:t>
            </a:r>
            <a:r>
              <a:rPr lang="en-US" dirty="0" smtClean="0">
                <a:latin typeface="Arial Rounded MT Bold" panose="020F0704030504030204" pitchFamily="34" charset="0"/>
              </a:rPr>
              <a:t>small </a:t>
            </a:r>
            <a:r>
              <a:rPr lang="en-US" dirty="0">
                <a:latin typeface="Arial Rounded MT Bold" panose="020F0704030504030204" pitchFamily="34" charset="0"/>
              </a:rPr>
              <a:t>amount of </a:t>
            </a:r>
            <a:r>
              <a:rPr lang="en-US" dirty="0" smtClean="0">
                <a:latin typeface="Arial Rounded MT Bold" panose="020F0704030504030204" pitchFamily="34" charset="0"/>
              </a:rPr>
              <a:t>data</a:t>
            </a:r>
          </a:p>
          <a:p>
            <a:pPr marL="342900" indent="-342900">
              <a:buFont typeface="Arial" panose="020B0604020202020204" pitchFamily="34" charset="0"/>
              <a:buChar char="•"/>
            </a:pPr>
            <a:r>
              <a:rPr lang="en-US" dirty="0">
                <a:latin typeface="Arial Rounded MT Bold" panose="020F0704030504030204" pitchFamily="34" charset="0"/>
              </a:rPr>
              <a:t>It provides confidentiality, authenticity, and </a:t>
            </a:r>
            <a:r>
              <a:rPr lang="en-US" dirty="0" smtClean="0">
                <a:latin typeface="Arial Rounded MT Bold" panose="020F0704030504030204" pitchFamily="34" charset="0"/>
              </a:rPr>
              <a:t>non-repudiation</a:t>
            </a:r>
          </a:p>
          <a:p>
            <a:pPr marL="342900" indent="-342900">
              <a:buFont typeface="Arial" panose="020B0604020202020204" pitchFamily="34" charset="0"/>
              <a:buChar char="•"/>
            </a:pPr>
            <a:r>
              <a:rPr lang="en-US" dirty="0">
                <a:latin typeface="Arial Rounded MT Bold" panose="020F0704030504030204" pitchFamily="34" charset="0"/>
              </a:rPr>
              <a:t>resource utilization is </a:t>
            </a:r>
            <a:r>
              <a:rPr lang="en-US" dirty="0" smtClean="0">
                <a:latin typeface="Arial Rounded MT Bold" panose="020F0704030504030204" pitchFamily="34" charset="0"/>
              </a:rPr>
              <a:t>high</a:t>
            </a:r>
            <a:endParaRPr lang="en-US" dirty="0">
              <a:latin typeface="Arial Rounded MT Bold" panose="020F0704030504030204" pitchFamily="34" charset="0"/>
            </a:endParaRPr>
          </a:p>
          <a:p>
            <a:pPr marL="342900" indent="-342900">
              <a:buFont typeface="Arial" panose="020B0604020202020204" pitchFamily="34" charset="0"/>
              <a:buChar char="•"/>
            </a:pPr>
            <a:r>
              <a:rPr lang="en-US" dirty="0">
                <a:latin typeface="Arial Rounded MT Bold" panose="020F0704030504030204" pitchFamily="34" charset="0"/>
              </a:rPr>
              <a:t>The  length of key used is 2048 or higher</a:t>
            </a:r>
            <a:endParaRPr lang="en-US" dirty="0" smtClean="0">
              <a:latin typeface="Arial Rounded MT Bold" panose="020F0704030504030204" pitchFamily="34" charset="0"/>
              <a:cs typeface="Times New Roman" panose="02020603050405020304" pitchFamily="18" charset="0"/>
            </a:endParaRPr>
          </a:p>
          <a:p>
            <a:pPr marL="342900" indent="-342900">
              <a:buFont typeface="Arial" panose="020B0604020202020204" pitchFamily="34" charset="0"/>
              <a:buChar char="•"/>
            </a:pPr>
            <a:endParaRPr lang="x-none" dirty="0">
              <a:latin typeface="Twimes"/>
              <a:cs typeface="Times New Roman" panose="02020603050405020304" pitchFamily="18" charset="0"/>
            </a:endParaRPr>
          </a:p>
        </p:txBody>
      </p:sp>
    </p:spTree>
    <p:extLst>
      <p:ext uri="{BB962C8B-B14F-4D97-AF65-F5344CB8AC3E}">
        <p14:creationId xmlns:p14="http://schemas.microsoft.com/office/powerpoint/2010/main" val="139821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heel(1)">
                                      <p:cBhvr>
                                        <p:cTn id="12" dur="2000"/>
                                        <p:tgtEl>
                                          <p:spTgt spid="5">
                                            <p:txEl>
                                              <p:pRg st="0" end="0"/>
                                            </p:txEl>
                                          </p:spTgt>
                                        </p:tgtEl>
                                      </p:cBhvr>
                                    </p:animEffect>
                                  </p:childTnLst>
                                </p:cTn>
                              </p:par>
                              <p:par>
                                <p:cTn id="13" presetID="21" presetClass="entr" presetSubtype="1"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heel(1)">
                                      <p:cBhvr>
                                        <p:cTn id="15" dur="2000"/>
                                        <p:tgtEl>
                                          <p:spTgt spid="5">
                                            <p:txEl>
                                              <p:pRg st="1" end="1"/>
                                            </p:txEl>
                                          </p:spTgt>
                                        </p:tgtEl>
                                      </p:cBhvr>
                                    </p:animEffect>
                                  </p:childTnLst>
                                </p:cTn>
                              </p:par>
                              <p:par>
                                <p:cTn id="16" presetID="21" presetClass="entr" presetSubtype="1"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wheel(1)">
                                      <p:cBhvr>
                                        <p:cTn id="18" dur="2000"/>
                                        <p:tgtEl>
                                          <p:spTgt spid="5">
                                            <p:txEl>
                                              <p:pRg st="2" end="2"/>
                                            </p:txEl>
                                          </p:spTgt>
                                        </p:tgtEl>
                                      </p:cBhvr>
                                    </p:animEffect>
                                  </p:childTnLst>
                                </p:cTn>
                              </p:par>
                              <p:par>
                                <p:cTn id="19" presetID="21" presetClass="entr" presetSubtype="1"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wheel(1)">
                                      <p:cBhvr>
                                        <p:cTn id="21" dur="2000"/>
                                        <p:tgtEl>
                                          <p:spTgt spid="5">
                                            <p:txEl>
                                              <p:pRg st="3" end="3"/>
                                            </p:txEl>
                                          </p:spTgt>
                                        </p:tgtEl>
                                      </p:cBhvr>
                                    </p:animEffect>
                                  </p:childTnLst>
                                </p:cTn>
                              </p:par>
                              <p:par>
                                <p:cTn id="22" presetID="21" presetClass="entr" presetSubtype="1"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wheel(1)">
                                      <p:cBhvr>
                                        <p:cTn id="24" dur="2000"/>
                                        <p:tgtEl>
                                          <p:spTgt spid="5">
                                            <p:txEl>
                                              <p:pRg st="4" end="4"/>
                                            </p:txEl>
                                          </p:spTgt>
                                        </p:tgtEl>
                                      </p:cBhvr>
                                    </p:animEffect>
                                  </p:childTnLst>
                                </p:cTn>
                              </p:par>
                              <p:par>
                                <p:cTn id="25" presetID="21" presetClass="entr" presetSubtype="1"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heel(1)">
                                      <p:cBhvr>
                                        <p:cTn id="27" dur="2000"/>
                                        <p:tgtEl>
                                          <p:spTgt spid="5">
                                            <p:txEl>
                                              <p:pRg st="5" end="5"/>
                                            </p:txEl>
                                          </p:spTgt>
                                        </p:tgtEl>
                                      </p:cBhvr>
                                    </p:animEffect>
                                  </p:childTnLst>
                                </p:cTn>
                              </p:par>
                              <p:par>
                                <p:cTn id="28" presetID="21" presetClass="entr" presetSubtype="1" fill="hold" nodeType="with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wheel(1)">
                                      <p:cBhvr>
                                        <p:cTn id="30" dur="2000"/>
                                        <p:tgtEl>
                                          <p:spTgt spid="5">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wheel(1)">
                                      <p:cBhvr>
                                        <p:cTn id="35" dur="2000"/>
                                        <p:tgtEl>
                                          <p:spTgt spid="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nodeType="clickEffect">
                                  <p:stCondLst>
                                    <p:cond delay="0"/>
                                  </p:stCondLst>
                                  <p:childTnLst>
                                    <p:set>
                                      <p:cBhvr>
                                        <p:cTn id="39" dur="1" fill="hold">
                                          <p:stCondLst>
                                            <p:cond delay="0"/>
                                          </p:stCondLst>
                                        </p:cTn>
                                        <p:tgtEl>
                                          <p:spTgt spid="8">
                                            <p:txEl>
                                              <p:pRg st="0" end="0"/>
                                            </p:txEl>
                                          </p:spTgt>
                                        </p:tgtEl>
                                        <p:attrNameLst>
                                          <p:attrName>style.visibility</p:attrName>
                                        </p:attrNameLst>
                                      </p:cBhvr>
                                      <p:to>
                                        <p:strVal val="visible"/>
                                      </p:to>
                                    </p:set>
                                    <p:animEffect transition="in" filter="wheel(1)">
                                      <p:cBhvr>
                                        <p:cTn id="40" dur="2000"/>
                                        <p:tgtEl>
                                          <p:spTgt spid="8">
                                            <p:txEl>
                                              <p:pRg st="0" end="0"/>
                                            </p:txEl>
                                          </p:spTgt>
                                        </p:tgtEl>
                                      </p:cBhvr>
                                    </p:animEffect>
                                  </p:childTnLst>
                                </p:cTn>
                              </p:par>
                              <p:par>
                                <p:cTn id="41" presetID="21" presetClass="entr" presetSubtype="1" fill="hold" nodeType="with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animEffect transition="in" filter="wheel(1)">
                                      <p:cBhvr>
                                        <p:cTn id="43" dur="2000"/>
                                        <p:tgtEl>
                                          <p:spTgt spid="8">
                                            <p:txEl>
                                              <p:pRg st="1" end="1"/>
                                            </p:txEl>
                                          </p:spTgt>
                                        </p:tgtEl>
                                      </p:cBhvr>
                                    </p:animEffect>
                                  </p:childTnLst>
                                </p:cTn>
                              </p:par>
                              <p:par>
                                <p:cTn id="44" presetID="21" presetClass="entr" presetSubtype="1" fill="hold" nodeType="withEffect">
                                  <p:stCondLst>
                                    <p:cond delay="0"/>
                                  </p:stCondLst>
                                  <p:childTnLst>
                                    <p:set>
                                      <p:cBhvr>
                                        <p:cTn id="45" dur="1" fill="hold">
                                          <p:stCondLst>
                                            <p:cond delay="0"/>
                                          </p:stCondLst>
                                        </p:cTn>
                                        <p:tgtEl>
                                          <p:spTgt spid="8">
                                            <p:txEl>
                                              <p:pRg st="2" end="2"/>
                                            </p:txEl>
                                          </p:spTgt>
                                        </p:tgtEl>
                                        <p:attrNameLst>
                                          <p:attrName>style.visibility</p:attrName>
                                        </p:attrNameLst>
                                      </p:cBhvr>
                                      <p:to>
                                        <p:strVal val="visible"/>
                                      </p:to>
                                    </p:set>
                                    <p:animEffect transition="in" filter="wheel(1)">
                                      <p:cBhvr>
                                        <p:cTn id="46" dur="2000"/>
                                        <p:tgtEl>
                                          <p:spTgt spid="8">
                                            <p:txEl>
                                              <p:pRg st="2" end="2"/>
                                            </p:txEl>
                                          </p:spTgt>
                                        </p:tgtEl>
                                      </p:cBhvr>
                                    </p:animEffect>
                                  </p:childTnLst>
                                </p:cTn>
                              </p:par>
                              <p:par>
                                <p:cTn id="47" presetID="21" presetClass="entr" presetSubtype="1" fill="hold" nodeType="withEffect">
                                  <p:stCondLst>
                                    <p:cond delay="0"/>
                                  </p:stCondLst>
                                  <p:childTnLst>
                                    <p:set>
                                      <p:cBhvr>
                                        <p:cTn id="48" dur="1" fill="hold">
                                          <p:stCondLst>
                                            <p:cond delay="0"/>
                                          </p:stCondLst>
                                        </p:cTn>
                                        <p:tgtEl>
                                          <p:spTgt spid="8">
                                            <p:txEl>
                                              <p:pRg st="3" end="3"/>
                                            </p:txEl>
                                          </p:spTgt>
                                        </p:tgtEl>
                                        <p:attrNameLst>
                                          <p:attrName>style.visibility</p:attrName>
                                        </p:attrNameLst>
                                      </p:cBhvr>
                                      <p:to>
                                        <p:strVal val="visible"/>
                                      </p:to>
                                    </p:set>
                                    <p:animEffect transition="in" filter="wheel(1)">
                                      <p:cBhvr>
                                        <p:cTn id="49" dur="2000"/>
                                        <p:tgtEl>
                                          <p:spTgt spid="8">
                                            <p:txEl>
                                              <p:pRg st="3" end="3"/>
                                            </p:txEl>
                                          </p:spTgt>
                                        </p:tgtEl>
                                      </p:cBhvr>
                                    </p:animEffect>
                                  </p:childTnLst>
                                </p:cTn>
                              </p:par>
                              <p:par>
                                <p:cTn id="50" presetID="21" presetClass="entr" presetSubtype="1" fill="hold" nodeType="withEffect">
                                  <p:stCondLst>
                                    <p:cond delay="0"/>
                                  </p:stCondLst>
                                  <p:childTnLst>
                                    <p:set>
                                      <p:cBhvr>
                                        <p:cTn id="51" dur="1" fill="hold">
                                          <p:stCondLst>
                                            <p:cond delay="0"/>
                                          </p:stCondLst>
                                        </p:cTn>
                                        <p:tgtEl>
                                          <p:spTgt spid="8">
                                            <p:txEl>
                                              <p:pRg st="4" end="4"/>
                                            </p:txEl>
                                          </p:spTgt>
                                        </p:tgtEl>
                                        <p:attrNameLst>
                                          <p:attrName>style.visibility</p:attrName>
                                        </p:attrNameLst>
                                      </p:cBhvr>
                                      <p:to>
                                        <p:strVal val="visible"/>
                                      </p:to>
                                    </p:set>
                                    <p:animEffect transition="in" filter="wheel(1)">
                                      <p:cBhvr>
                                        <p:cTn id="52" dur="2000"/>
                                        <p:tgtEl>
                                          <p:spTgt spid="8">
                                            <p:txEl>
                                              <p:pRg st="4" end="4"/>
                                            </p:txEl>
                                          </p:spTgt>
                                        </p:tgtEl>
                                      </p:cBhvr>
                                    </p:animEffect>
                                  </p:childTnLst>
                                </p:cTn>
                              </p:par>
                              <p:par>
                                <p:cTn id="53" presetID="21" presetClass="entr" presetSubtype="1" fill="hold" nodeType="withEffect">
                                  <p:stCondLst>
                                    <p:cond delay="0"/>
                                  </p:stCondLst>
                                  <p:childTnLst>
                                    <p:set>
                                      <p:cBhvr>
                                        <p:cTn id="54" dur="1" fill="hold">
                                          <p:stCondLst>
                                            <p:cond delay="0"/>
                                          </p:stCondLst>
                                        </p:cTn>
                                        <p:tgtEl>
                                          <p:spTgt spid="8">
                                            <p:txEl>
                                              <p:pRg st="5" end="5"/>
                                            </p:txEl>
                                          </p:spTgt>
                                        </p:tgtEl>
                                        <p:attrNameLst>
                                          <p:attrName>style.visibility</p:attrName>
                                        </p:attrNameLst>
                                      </p:cBhvr>
                                      <p:to>
                                        <p:strVal val="visible"/>
                                      </p:to>
                                    </p:set>
                                    <p:animEffect transition="in" filter="wheel(1)">
                                      <p:cBhvr>
                                        <p:cTn id="55" dur="2000"/>
                                        <p:tgtEl>
                                          <p:spTgt spid="8">
                                            <p:txEl>
                                              <p:pRg st="5" end="5"/>
                                            </p:txEl>
                                          </p:spTgt>
                                        </p:tgtEl>
                                      </p:cBhvr>
                                    </p:animEffect>
                                  </p:childTnLst>
                                </p:cTn>
                              </p:par>
                              <p:par>
                                <p:cTn id="56" presetID="21" presetClass="entr" presetSubtype="1" fill="hold" nodeType="withEffect">
                                  <p:stCondLst>
                                    <p:cond delay="0"/>
                                  </p:stCondLst>
                                  <p:childTnLst>
                                    <p:set>
                                      <p:cBhvr>
                                        <p:cTn id="57" dur="1" fill="hold">
                                          <p:stCondLst>
                                            <p:cond delay="0"/>
                                          </p:stCondLst>
                                        </p:cTn>
                                        <p:tgtEl>
                                          <p:spTgt spid="8">
                                            <p:txEl>
                                              <p:pRg st="6" end="6"/>
                                            </p:txEl>
                                          </p:spTgt>
                                        </p:tgtEl>
                                        <p:attrNameLst>
                                          <p:attrName>style.visibility</p:attrName>
                                        </p:attrNameLst>
                                      </p:cBhvr>
                                      <p:to>
                                        <p:strVal val="visible"/>
                                      </p:to>
                                    </p:set>
                                    <p:animEffect transition="in" filter="wheel(1)">
                                      <p:cBhvr>
                                        <p:cTn id="58" dur="20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F63C0C-117A-45B0-97C9-DE94C1CC0FDD}"/>
              </a:ext>
            </a:extLst>
          </p:cNvPr>
          <p:cNvSpPr>
            <a:spLocks noGrp="1"/>
          </p:cNvSpPr>
          <p:nvPr>
            <p:ph type="title"/>
          </p:nvPr>
        </p:nvSpPr>
        <p:spPr>
          <a:xfrm>
            <a:off x="3063099" y="898120"/>
            <a:ext cx="8610600" cy="1293028"/>
          </a:xfrm>
        </p:spPr>
        <p:txBody>
          <a:bodyPr>
            <a:noAutofit/>
          </a:bodyPr>
          <a:lstStyle/>
          <a:p>
            <a:r>
              <a:rPr lang="en-US" b="1" dirty="0">
                <a:latin typeface="Times New Roman" panose="02020603050405020304" pitchFamily="18" charset="0"/>
                <a:cs typeface="Times New Roman" panose="02020603050405020304" pitchFamily="18" charset="0"/>
              </a:rPr>
              <a:t>PRINCIPAL OF CRYPTOGRAPHY</a:t>
            </a:r>
            <a:endParaRPr lang="x-none"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C1A851E-CB9C-4F93-86F8-4BF2963E8B53}"/>
              </a:ext>
            </a:extLst>
          </p:cNvPr>
          <p:cNvSpPr>
            <a:spLocks noGrp="1"/>
          </p:cNvSpPr>
          <p:nvPr>
            <p:ph idx="1"/>
          </p:nvPr>
        </p:nvSpPr>
        <p:spPr>
          <a:xfrm>
            <a:off x="513242" y="2678002"/>
            <a:ext cx="11160457" cy="1749643"/>
          </a:xfrm>
        </p:spPr>
        <p:txBody>
          <a:bodyPr>
            <a:normAutofit/>
          </a:bodyPr>
          <a:lstStyle/>
          <a:p>
            <a:r>
              <a:rPr lang="en-US" sz="2400" b="1" dirty="0" smtClean="0"/>
              <a:t>CONFIDENTIALITY:</a:t>
            </a:r>
            <a:endParaRPr lang="en-US" dirty="0" smtClean="0"/>
          </a:p>
          <a:p>
            <a:pPr marL="0" indent="0">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It</a:t>
            </a:r>
            <a:r>
              <a:rPr lang="en-US" sz="2400" dirty="0">
                <a:latin typeface="Times New Roman" panose="02020603050405020304" pitchFamily="18" charset="0"/>
                <a:cs typeface="Times New Roman" panose="02020603050405020304" pitchFamily="18" charset="0"/>
              </a:rPr>
              <a:t> refers to certain rules and guidelines usually executed under confidentiality agreements which ensure that the information is restricted to certain people or places.</a:t>
            </a:r>
          </a:p>
          <a:p>
            <a:pPr marL="0" indent="0">
              <a:buNone/>
            </a:pPr>
            <a:endParaRPr lang="en-US" dirty="0"/>
          </a:p>
        </p:txBody>
      </p:sp>
      <p:sp>
        <p:nvSpPr>
          <p:cNvPr id="6" name="Rectangle 5"/>
          <p:cNvSpPr/>
          <p:nvPr/>
        </p:nvSpPr>
        <p:spPr>
          <a:xfrm>
            <a:off x="480574" y="4427645"/>
            <a:ext cx="10557367" cy="1477328"/>
          </a:xfrm>
          <a:prstGeom prst="rect">
            <a:avLst/>
          </a:prstGeom>
        </p:spPr>
        <p:txBody>
          <a:bodyPr wrap="square">
            <a:spAutoFit/>
          </a:bodyPr>
          <a:lstStyle/>
          <a:p>
            <a:pPr marL="285750" indent="-285750" algn="just" fontAlgn="base">
              <a:buFont typeface="Arial" panose="020B0604020202020204" pitchFamily="34" charset="0"/>
              <a:buChar char="•"/>
            </a:pPr>
            <a:r>
              <a:rPr lang="en-US" sz="2400" b="1" dirty="0" smtClean="0">
                <a:latin typeface="+mj-lt"/>
              </a:rPr>
              <a:t>DATA INTEGRITY:</a:t>
            </a:r>
            <a:r>
              <a:rPr lang="en-US" sz="2400" b="1" dirty="0" smtClean="0">
                <a:solidFill>
                  <a:srgbClr val="FFFFFF"/>
                </a:solidFill>
                <a:latin typeface="+mj-lt"/>
              </a:rPr>
              <a:t>a</a:t>
            </a:r>
          </a:p>
          <a:p>
            <a:pPr marL="285750" indent="-285750" algn="just" fontAlgn="base">
              <a:buFont typeface="Arial" panose="020B0604020202020204" pitchFamily="34" charset="0"/>
              <a:buChar char="•"/>
            </a:pPr>
            <a:r>
              <a:rPr lang="en-US" sz="2400" b="1" dirty="0">
                <a:solidFill>
                  <a:srgbClr val="FFFFFF"/>
                </a:solidFill>
                <a:latin typeface="Times New Roman" panose="02020603050405020304" pitchFamily="18" charset="0"/>
                <a:cs typeface="Times New Roman" panose="02020603050405020304" pitchFamily="18" charset="0"/>
              </a:rPr>
              <a:t> </a:t>
            </a:r>
            <a:r>
              <a:rPr lang="en-US" sz="2400" b="1" dirty="0" smtClean="0">
                <a:solidFill>
                  <a:srgbClr val="FFFFFF"/>
                </a:solidFill>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refers to maintaining and making sure that the data stays accurate and consistent over its entire life </a:t>
            </a:r>
            <a:r>
              <a:rPr lang="en-US" sz="2400" dirty="0" smtClean="0">
                <a:latin typeface="Times New Roman" panose="02020603050405020304" pitchFamily="18" charset="0"/>
                <a:cs typeface="Times New Roman" panose="02020603050405020304" pitchFamily="18" charset="0"/>
              </a:rPr>
              <a:t>cycle.</a:t>
            </a:r>
            <a:r>
              <a:rPr lang="en-US" dirty="0" smtClean="0">
                <a:solidFill>
                  <a:srgbClr val="FFFFFF"/>
                </a:solidFill>
                <a:latin typeface="Nunito"/>
              </a:rPr>
              <a:t>the </a:t>
            </a:r>
            <a:r>
              <a:rPr lang="en-US" dirty="0">
                <a:solidFill>
                  <a:srgbClr val="FFFFFF"/>
                </a:solidFill>
                <a:latin typeface="Nunito"/>
              </a:rPr>
              <a:t>data stays accurate and consistent over its entire life cycle.</a:t>
            </a:r>
            <a:endParaRPr lang="en-US" b="0" i="0" dirty="0">
              <a:solidFill>
                <a:srgbClr val="FFFFFF"/>
              </a:solidFill>
              <a:effectLst/>
              <a:latin typeface="Nunito"/>
            </a:endParaRPr>
          </a:p>
        </p:txBody>
      </p:sp>
    </p:spTree>
    <p:extLst>
      <p:ext uri="{BB962C8B-B14F-4D97-AF65-F5344CB8AC3E}">
        <p14:creationId xmlns:p14="http://schemas.microsoft.com/office/powerpoint/2010/main" val="265105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fade">
                                      <p:cBhvr>
                                        <p:cTn id="26" dur="1000"/>
                                        <p:tgtEl>
                                          <p:spTgt spid="6">
                                            <p:txEl>
                                              <p:pRg st="0" end="0"/>
                                            </p:txEl>
                                          </p:spTgt>
                                        </p:tgtEl>
                                      </p:cBhvr>
                                    </p:animEffect>
                                    <p:anim calcmode="lin" valueType="num">
                                      <p:cBhvr>
                                        <p:cTn id="27"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0" end="0"/>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Effect transition="in" filter="fade">
                                      <p:cBhvr>
                                        <p:cTn id="31" dur="1000"/>
                                        <p:tgtEl>
                                          <p:spTgt spid="6">
                                            <p:txEl>
                                              <p:pRg st="1" end="1"/>
                                            </p:txEl>
                                          </p:spTgt>
                                        </p:tgtEl>
                                      </p:cBhvr>
                                    </p:animEffect>
                                    <p:anim calcmode="lin" valueType="num">
                                      <p:cBhvr>
                                        <p:cTn id="32"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F63C0C-117A-45B0-97C9-DE94C1CC0FDD}"/>
              </a:ext>
            </a:extLst>
          </p:cNvPr>
          <p:cNvSpPr>
            <a:spLocks noGrp="1"/>
          </p:cNvSpPr>
          <p:nvPr>
            <p:ph type="title"/>
          </p:nvPr>
        </p:nvSpPr>
        <p:spPr>
          <a:xfrm>
            <a:off x="3063099" y="898120"/>
            <a:ext cx="8610600" cy="1293028"/>
          </a:xfrm>
        </p:spPr>
        <p:txBody>
          <a:bodyPr>
            <a:noAutofit/>
          </a:bodyPr>
          <a:lstStyle/>
          <a:p>
            <a:r>
              <a:rPr lang="en-US" b="1" dirty="0">
                <a:latin typeface="Times New Roman" panose="02020603050405020304" pitchFamily="18" charset="0"/>
                <a:cs typeface="Times New Roman" panose="02020603050405020304" pitchFamily="18" charset="0"/>
              </a:rPr>
              <a:t>PRINCIPAL OF CRYPTOGRAPHY</a:t>
            </a:r>
            <a:endParaRPr lang="x-none"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C1A851E-CB9C-4F93-86F8-4BF2963E8B53}"/>
              </a:ext>
            </a:extLst>
          </p:cNvPr>
          <p:cNvSpPr>
            <a:spLocks noGrp="1"/>
          </p:cNvSpPr>
          <p:nvPr>
            <p:ph idx="1"/>
          </p:nvPr>
        </p:nvSpPr>
        <p:spPr>
          <a:xfrm>
            <a:off x="513242" y="2678002"/>
            <a:ext cx="11160457" cy="1749643"/>
          </a:xfrm>
        </p:spPr>
        <p:txBody>
          <a:bodyPr>
            <a:normAutofit/>
          </a:bodyPr>
          <a:lstStyle/>
          <a:p>
            <a:r>
              <a:rPr lang="en-US" sz="2800" b="1" dirty="0" smtClean="0">
                <a:latin typeface="Times New Roman" panose="02020603050405020304" pitchFamily="18" charset="0"/>
                <a:cs typeface="Times New Roman" panose="02020603050405020304" pitchFamily="18" charset="0"/>
              </a:rPr>
              <a:t>Authentication</a:t>
            </a:r>
          </a:p>
          <a:p>
            <a:pPr marL="0" indent="0">
              <a:buNone/>
            </a:pPr>
            <a:r>
              <a:rPr lang="en-US" sz="2400" b="1"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        It</a:t>
            </a:r>
            <a:r>
              <a:rPr lang="en-US" sz="2400" dirty="0">
                <a:latin typeface="Times New Roman" panose="02020603050405020304" pitchFamily="18" charset="0"/>
                <a:cs typeface="Times New Roman" panose="02020603050405020304" pitchFamily="18" charset="0"/>
              </a:rPr>
              <a:t> is the process of making sure that the piece of data being claimed by the user belongs to it.</a:t>
            </a:r>
          </a:p>
          <a:p>
            <a:pPr marL="0" indent="0">
              <a:buNone/>
            </a:pPr>
            <a:endParaRPr lang="en-US" dirty="0"/>
          </a:p>
        </p:txBody>
      </p:sp>
      <p:sp>
        <p:nvSpPr>
          <p:cNvPr id="6" name="Rectangle 5"/>
          <p:cNvSpPr/>
          <p:nvPr/>
        </p:nvSpPr>
        <p:spPr>
          <a:xfrm>
            <a:off x="412335" y="4332111"/>
            <a:ext cx="10557367" cy="1908215"/>
          </a:xfrm>
          <a:prstGeom prst="rect">
            <a:avLst/>
          </a:prstGeom>
        </p:spPr>
        <p:txBody>
          <a:bodyPr wrap="square">
            <a:spAutoFit/>
          </a:bodyPr>
          <a:lstStyle/>
          <a:p>
            <a:pPr marL="285750" indent="-285750" algn="just" fontAlgn="base">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Non-repudiation</a:t>
            </a:r>
          </a:p>
          <a:p>
            <a:pPr algn="just" fontAlgn="base"/>
            <a:r>
              <a:rPr lang="en-US" sz="2400" b="1" dirty="0" smtClean="0">
                <a:latin typeface="Times New Roman" panose="02020603050405020304" pitchFamily="18" charset="0"/>
                <a:cs typeface="Times New Roman" panose="02020603050405020304" pitchFamily="18" charset="0"/>
              </a:rPr>
              <a:t>         It</a:t>
            </a:r>
            <a:r>
              <a:rPr lang="en-US" sz="2400" dirty="0">
                <a:latin typeface="Times New Roman" panose="02020603050405020304" pitchFamily="18" charset="0"/>
                <a:cs typeface="Times New Roman" panose="02020603050405020304" pitchFamily="18" charset="0"/>
              </a:rPr>
              <a:t> refers to the ability to make sure that a person or a party associated with a contract or a communication cannot deny the authenticity of their signature over their document or the sending of a message</a:t>
            </a:r>
            <a:r>
              <a:rPr lang="en-US" sz="2400" dirty="0" smtClean="0">
                <a:solidFill>
                  <a:srgbClr val="FFFFFF"/>
                </a:solidFill>
                <a:latin typeface="Times New Roman" panose="02020603050405020304" pitchFamily="18" charset="0"/>
                <a:cs typeface="Times New Roman" panose="02020603050405020304" pitchFamily="18" charset="0"/>
              </a:rPr>
              <a:t>data </a:t>
            </a:r>
            <a:r>
              <a:rPr lang="en-US" dirty="0">
                <a:solidFill>
                  <a:srgbClr val="FFFFFF"/>
                </a:solidFill>
                <a:latin typeface="Nunito"/>
              </a:rPr>
              <a:t>stays accurate and consistent over its entire life cycle.</a:t>
            </a:r>
            <a:endParaRPr lang="en-US" b="0" i="0" dirty="0">
              <a:solidFill>
                <a:srgbClr val="FFFFFF"/>
              </a:solidFill>
              <a:effectLst/>
              <a:latin typeface="Nunito"/>
            </a:endParaRPr>
          </a:p>
        </p:txBody>
      </p:sp>
    </p:spTree>
    <p:extLst>
      <p:ext uri="{BB962C8B-B14F-4D97-AF65-F5344CB8AC3E}">
        <p14:creationId xmlns:p14="http://schemas.microsoft.com/office/powerpoint/2010/main" val="349560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barn(inVertical)">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barn(inVertical)">
                                      <p:cBhvr>
                                        <p:cTn id="24" dur="500"/>
                                        <p:tgtEl>
                                          <p:spTgt spid="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barn(inVertical)">
                                      <p:cBhvr>
                                        <p:cTn id="29"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AC5FB9-7B45-4941-888F-247C8811E67E}"/>
              </a:ext>
            </a:extLst>
          </p:cNvPr>
          <p:cNvSpPr>
            <a:spLocks noGrp="1"/>
          </p:cNvSpPr>
          <p:nvPr>
            <p:ph type="ctrTitle"/>
          </p:nvPr>
        </p:nvSpPr>
        <p:spPr>
          <a:xfrm>
            <a:off x="976544" y="1837677"/>
            <a:ext cx="9843856" cy="1790823"/>
          </a:xfrm>
        </p:spPr>
        <p:txBody>
          <a:bodyPr>
            <a:normAutofit/>
          </a:bodyPr>
          <a:lstStyle/>
          <a:p>
            <a:r>
              <a:rPr lang="en-US" sz="4800" b="1" dirty="0"/>
              <a:t>CRYPTOGRAPHY ALGORITHAMS</a:t>
            </a:r>
            <a:endParaRPr lang="x-none" sz="4800" b="1" dirty="0"/>
          </a:p>
        </p:txBody>
      </p:sp>
    </p:spTree>
    <p:extLst>
      <p:ext uri="{BB962C8B-B14F-4D97-AF65-F5344CB8AC3E}">
        <p14:creationId xmlns:p14="http://schemas.microsoft.com/office/powerpoint/2010/main" val="172652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0B8707-E17C-4113-974E-8796F9404F19}"/>
              </a:ext>
            </a:extLst>
          </p:cNvPr>
          <p:cNvSpPr>
            <a:spLocks noGrp="1"/>
          </p:cNvSpPr>
          <p:nvPr>
            <p:ph type="title"/>
          </p:nvPr>
        </p:nvSpPr>
        <p:spPr/>
        <p:txBody>
          <a:bodyPr>
            <a:normAutofit/>
          </a:bodyPr>
          <a:lstStyle/>
          <a:p>
            <a:r>
              <a:rPr lang="en-US" sz="4800" b="1" dirty="0"/>
              <a:t>RSA ALGORITHAM </a:t>
            </a:r>
            <a:endParaRPr lang="x-none" sz="4800" b="1" dirty="0"/>
          </a:p>
        </p:txBody>
      </p:sp>
      <p:sp>
        <p:nvSpPr>
          <p:cNvPr id="3" name="Content Placeholder 2">
            <a:extLst>
              <a:ext uri="{FF2B5EF4-FFF2-40B4-BE49-F238E27FC236}">
                <a16:creationId xmlns:a16="http://schemas.microsoft.com/office/drawing/2014/main" xmlns="" id="{720D0AE1-CB8E-4BD0-9ECF-663B62F1D866}"/>
              </a:ext>
            </a:extLst>
          </p:cNvPr>
          <p:cNvSpPr>
            <a:spLocks noGrp="1"/>
          </p:cNvSpPr>
          <p:nvPr>
            <p:ph idx="1"/>
          </p:nvPr>
        </p:nvSpPr>
        <p:spPr>
          <a:xfrm>
            <a:off x="638629" y="2194560"/>
            <a:ext cx="10867571" cy="4336869"/>
          </a:xfrm>
        </p:spPr>
        <p:txBody>
          <a:bodyPr>
            <a:normAutofit/>
          </a:bodyPr>
          <a:lstStyle/>
          <a:p>
            <a:r>
              <a:rPr lang="en-US" dirty="0" smtClean="0">
                <a:latin typeface="Twimes"/>
              </a:rPr>
              <a:t>RSA Stand for Rivest Shamir Adleman</a:t>
            </a:r>
          </a:p>
          <a:p>
            <a:r>
              <a:rPr lang="en-US" dirty="0">
                <a:latin typeface="Twimes"/>
              </a:rPr>
              <a:t> RSA uses the factorization of the product of two prime numbers to deliver encryption of 1024-bits and up to 2048-bit key length. According to research conducted in 2010, you would need 1500 years of</a:t>
            </a:r>
            <a:r>
              <a:rPr lang="en-US" u="sng" dirty="0">
                <a:latin typeface="Twimes"/>
                <a:hlinkClick r:id="rId2"/>
              </a:rPr>
              <a:t> </a:t>
            </a:r>
            <a:r>
              <a:rPr lang="en-US" u="sng" dirty="0" smtClean="0">
                <a:latin typeface="Twimes"/>
              </a:rPr>
              <a:t>computational power</a:t>
            </a:r>
            <a:r>
              <a:rPr lang="en-US" dirty="0">
                <a:latin typeface="Twimes"/>
              </a:rPr>
              <a:t> to crack its smaller 768-bit version!</a:t>
            </a:r>
          </a:p>
          <a:p>
            <a:r>
              <a:rPr lang="en-US" dirty="0">
                <a:latin typeface="Twimes"/>
              </a:rPr>
              <a:t>However, this means that it is a slower encryption algorithm. Since it requires two different keys of incredible length, the encryption, and decryption process is slow, but the level of security it provides for sensitive information is incomparable.</a:t>
            </a:r>
          </a:p>
          <a:p>
            <a:r>
              <a:rPr lang="en-US" dirty="0">
                <a:latin typeface="Twimes"/>
              </a:rPr>
              <a:t>Since its speed isn’t convenient for processing large amounts of data, RSA encryption is mostly used in digital signatures, email encryption, </a:t>
            </a:r>
            <a:r>
              <a:rPr lang="en-US" dirty="0" smtClean="0">
                <a:latin typeface="Twimes"/>
              </a:rPr>
              <a:t> </a:t>
            </a:r>
            <a:r>
              <a:rPr lang="en-US" dirty="0">
                <a:latin typeface="Twimes"/>
              </a:rPr>
              <a:t>and browsers.</a:t>
            </a:r>
            <a:endParaRPr lang="x-none" dirty="0">
              <a:latin typeface="Twimes"/>
            </a:endParaRPr>
          </a:p>
        </p:txBody>
      </p:sp>
    </p:spTree>
    <p:extLst>
      <p:ext uri="{BB962C8B-B14F-4D97-AF65-F5344CB8AC3E}">
        <p14:creationId xmlns:p14="http://schemas.microsoft.com/office/powerpoint/2010/main" val="241530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additive="base">
                                        <p:cTn id="3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9304DF-CA73-4BFC-99DC-0EA2BDBB3BC4}"/>
              </a:ext>
            </a:extLst>
          </p:cNvPr>
          <p:cNvSpPr>
            <a:spLocks noGrp="1"/>
          </p:cNvSpPr>
          <p:nvPr>
            <p:ph type="title"/>
          </p:nvPr>
        </p:nvSpPr>
        <p:spPr/>
        <p:txBody>
          <a:bodyPr>
            <a:normAutofit/>
          </a:bodyPr>
          <a:lstStyle/>
          <a:p>
            <a:r>
              <a:rPr lang="en-US" sz="4800" b="1" dirty="0">
                <a:cs typeface="Times New Roman" panose="02020603050405020304" pitchFamily="18" charset="0"/>
              </a:rPr>
              <a:t>AES ALGORITHAM</a:t>
            </a:r>
            <a:endParaRPr lang="x-none" sz="4800" b="1" dirty="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514880B-D88C-4058-88C1-7EEC3FEF7693}"/>
              </a:ext>
            </a:extLst>
          </p:cNvPr>
          <p:cNvSpPr>
            <a:spLocks noGrp="1"/>
          </p:cNvSpPr>
          <p:nvPr>
            <p:ph idx="1"/>
          </p:nvPr>
        </p:nvSpPr>
        <p:spPr/>
        <p:txBody>
          <a:bodyPr/>
          <a:lstStyle/>
          <a:p>
            <a:r>
              <a:rPr lang="en-US" dirty="0">
                <a:latin typeface="Twimes"/>
              </a:rPr>
              <a:t>AES encrypts information in a single block (block cipher), and does so one block at a time in what is called ’rounds’. Data is initially converted into blocks, and then these are encrypted with the key in different rounds depending on key size: 14 rounds for 256-bits, 12 rounds for 192-bits, and 10 rounds for 128-bits. The process involves a series of data manipulation and mixing steps that are done each round: substitution, transposition, mixing, column mix, and sub-bytes</a:t>
            </a:r>
            <a:r>
              <a:rPr lang="en-US" dirty="0" smtClean="0">
                <a:latin typeface="Twimes"/>
              </a:rPr>
              <a:t>.</a:t>
            </a:r>
          </a:p>
          <a:p>
            <a:r>
              <a:rPr lang="en-US" dirty="0">
                <a:latin typeface="Twimes"/>
              </a:rPr>
              <a:t>AES is one of the most frequently used algorithms. It is fast, with a variable key length option that gives it extra security. It is ideal when handling large amounts of encrypted data.</a:t>
            </a:r>
            <a:endParaRPr lang="x-none" dirty="0">
              <a:latin typeface="Twimes"/>
            </a:endParaRPr>
          </a:p>
        </p:txBody>
      </p:sp>
    </p:spTree>
    <p:extLst>
      <p:ext uri="{BB962C8B-B14F-4D97-AF65-F5344CB8AC3E}">
        <p14:creationId xmlns:p14="http://schemas.microsoft.com/office/powerpoint/2010/main" val="2681303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7A3655-CFCE-4850-AC0F-8BAF5745EF0B}"/>
              </a:ext>
            </a:extLst>
          </p:cNvPr>
          <p:cNvSpPr>
            <a:spLocks noGrp="1"/>
          </p:cNvSpPr>
          <p:nvPr>
            <p:ph type="title"/>
          </p:nvPr>
        </p:nvSpPr>
        <p:spPr/>
        <p:txBody>
          <a:bodyPr>
            <a:normAutofit/>
          </a:bodyPr>
          <a:lstStyle/>
          <a:p>
            <a:r>
              <a:rPr lang="en-US" sz="4800" b="1" dirty="0" smtClean="0"/>
              <a:t>Ecc   ALGORITHAM</a:t>
            </a:r>
            <a:endParaRPr lang="x-none" sz="4800" b="1" dirty="0"/>
          </a:p>
        </p:txBody>
      </p:sp>
      <p:sp>
        <p:nvSpPr>
          <p:cNvPr id="3" name="Content Placeholder 2">
            <a:extLst>
              <a:ext uri="{FF2B5EF4-FFF2-40B4-BE49-F238E27FC236}">
                <a16:creationId xmlns:a16="http://schemas.microsoft.com/office/drawing/2014/main" xmlns="" id="{47952FB6-EC34-446F-90AA-37EA6D926E40}"/>
              </a:ext>
            </a:extLst>
          </p:cNvPr>
          <p:cNvSpPr>
            <a:spLocks noGrp="1"/>
          </p:cNvSpPr>
          <p:nvPr>
            <p:ph idx="1"/>
          </p:nvPr>
        </p:nvSpPr>
        <p:spPr/>
        <p:txBody>
          <a:bodyPr/>
          <a:lstStyle/>
          <a:p>
            <a:r>
              <a:rPr lang="en-US" dirty="0" smtClean="0">
                <a:latin typeface="Twimes"/>
              </a:rPr>
              <a:t>ECC stands for Elliptic Curve Cryptography</a:t>
            </a:r>
          </a:p>
          <a:p>
            <a:r>
              <a:rPr lang="en-US" dirty="0" smtClean="0">
                <a:latin typeface="Twimes"/>
              </a:rPr>
              <a:t>ECC </a:t>
            </a:r>
            <a:r>
              <a:rPr lang="en-US" dirty="0">
                <a:latin typeface="Twimes"/>
              </a:rPr>
              <a:t>uses a fairly difficult mathematical operation based on elliptic curves on a finite </a:t>
            </a:r>
            <a:r>
              <a:rPr lang="en-US" dirty="0" smtClean="0">
                <a:latin typeface="Twimes"/>
              </a:rPr>
              <a:t>field.</a:t>
            </a:r>
          </a:p>
          <a:p>
            <a:r>
              <a:rPr lang="en-US" dirty="0" smtClean="0">
                <a:latin typeface="Twimes"/>
              </a:rPr>
              <a:t>With </a:t>
            </a:r>
            <a:r>
              <a:rPr lang="en-US" dirty="0">
                <a:latin typeface="Twimes"/>
              </a:rPr>
              <a:t>ECC you have a curve, defined by a math function, a starting point (A), and an ending point (Z) in the curve. The key is that to get to Z, you have done a series of “hops”, or multiplications that resulted in Z. This amount of hops is the private key</a:t>
            </a:r>
            <a:r>
              <a:rPr lang="en-US" dirty="0" smtClean="0">
                <a:latin typeface="Twimes"/>
              </a:rPr>
              <a:t>.</a:t>
            </a:r>
          </a:p>
          <a:p>
            <a:r>
              <a:rPr lang="en-US" dirty="0">
                <a:latin typeface="Twimes"/>
              </a:rPr>
              <a:t>The low-cost, low-impact, high-security combination makes it the ideal standard for protecting sensitive mobiles and apps. It may likely be the algorithm of the future.</a:t>
            </a:r>
          </a:p>
          <a:p>
            <a:endParaRPr lang="x-none" dirty="0"/>
          </a:p>
        </p:txBody>
      </p:sp>
    </p:spTree>
    <p:extLst>
      <p:ext uri="{BB962C8B-B14F-4D97-AF65-F5344CB8AC3E}">
        <p14:creationId xmlns:p14="http://schemas.microsoft.com/office/powerpoint/2010/main" val="68170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EC69F1-656B-44E0-B7B6-685ECF1D6C15}"/>
              </a:ext>
            </a:extLst>
          </p:cNvPr>
          <p:cNvSpPr>
            <a:spLocks noGrp="1"/>
          </p:cNvSpPr>
          <p:nvPr>
            <p:ph type="ctrTitle"/>
          </p:nvPr>
        </p:nvSpPr>
        <p:spPr>
          <a:xfrm>
            <a:off x="1262418" y="1421267"/>
            <a:ext cx="9448800" cy="2697575"/>
          </a:xfrm>
        </p:spPr>
        <p:txBody>
          <a:bodyPr>
            <a:normAutofit fontScale="90000"/>
          </a:bodyPr>
          <a:lstStyle/>
          <a:p>
            <a:r>
              <a:rPr lang="en-US" dirty="0"/>
              <a:t>     </a:t>
            </a:r>
            <a:r>
              <a:rPr lang="en-US" sz="9600" b="1" dirty="0"/>
              <a:t/>
            </a:r>
            <a:br>
              <a:rPr lang="en-US" sz="9600" b="1" dirty="0"/>
            </a:br>
            <a:r>
              <a:rPr lang="en-US" sz="9600" b="1" dirty="0"/>
              <a:t/>
            </a:r>
            <a:br>
              <a:rPr lang="en-US" sz="9600" b="1" dirty="0"/>
            </a:br>
            <a:r>
              <a:rPr lang="en-US" sz="11500" dirty="0" smtClean="0"/>
              <a:t> </a:t>
            </a:r>
            <a:r>
              <a:rPr lang="en-US" b="1" dirty="0"/>
              <a:t>APPLICATION OF </a:t>
            </a:r>
            <a:br>
              <a:rPr lang="en-US" b="1" dirty="0"/>
            </a:br>
            <a:r>
              <a:rPr lang="en-US" b="1" dirty="0" smtClean="0"/>
              <a:t>                    CRYPTOGRAPHY</a:t>
            </a:r>
            <a:endParaRPr lang="x-none" dirty="0"/>
          </a:p>
        </p:txBody>
      </p:sp>
    </p:spTree>
    <p:extLst>
      <p:ext uri="{BB962C8B-B14F-4D97-AF65-F5344CB8AC3E}">
        <p14:creationId xmlns:p14="http://schemas.microsoft.com/office/powerpoint/2010/main" val="412180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1A8371FC-19D4-4403-A57F-805A42D3102D}"/>
              </a:ext>
            </a:extLst>
          </p:cNvPr>
          <p:cNvSpPr>
            <a:spLocks noGrp="1"/>
          </p:cNvSpPr>
          <p:nvPr>
            <p:ph type="body" idx="1"/>
          </p:nvPr>
        </p:nvSpPr>
        <p:spPr>
          <a:xfrm>
            <a:off x="344491" y="2052802"/>
            <a:ext cx="5079991" cy="823912"/>
          </a:xfrm>
        </p:spPr>
        <p:txBody>
          <a:bodyPr/>
          <a:lstStyle/>
          <a:p>
            <a:r>
              <a:rPr lang="en-US" b="1" dirty="0"/>
              <a:t>Secure online transactions:</a:t>
            </a:r>
            <a:endParaRPr lang="x-none" dirty="0"/>
          </a:p>
        </p:txBody>
      </p:sp>
      <p:sp>
        <p:nvSpPr>
          <p:cNvPr id="4" name="Content Placeholder 3">
            <a:extLst>
              <a:ext uri="{FF2B5EF4-FFF2-40B4-BE49-F238E27FC236}">
                <a16:creationId xmlns:a16="http://schemas.microsoft.com/office/drawing/2014/main" xmlns="" id="{382F0832-7541-44BE-9614-98CD08EA47AB}"/>
              </a:ext>
            </a:extLst>
          </p:cNvPr>
          <p:cNvSpPr>
            <a:spLocks noGrp="1"/>
          </p:cNvSpPr>
          <p:nvPr>
            <p:ph sz="half" idx="2"/>
          </p:nvPr>
        </p:nvSpPr>
        <p:spPr>
          <a:xfrm>
            <a:off x="344491" y="3128432"/>
            <a:ext cx="5311775" cy="3086019"/>
          </a:xfrm>
        </p:spPr>
        <p:txBody>
          <a:bodyPr>
            <a:normAutofit/>
          </a:bodyPr>
          <a:lstStyle/>
          <a:p>
            <a:pPr marL="0" indent="0">
              <a:buNone/>
            </a:pPr>
            <a:r>
              <a:rPr lang="en-US" sz="2400" dirty="0">
                <a:latin typeface="Twimes"/>
              </a:rPr>
              <a:t>Cryptography is used to secure online transactions, such as online banking and e-commerce, by encrypting sensitive data and protecting it from unauthorized access.</a:t>
            </a:r>
            <a:endParaRPr lang="x-none" sz="2400" dirty="0">
              <a:latin typeface="Twimes"/>
            </a:endParaRPr>
          </a:p>
        </p:txBody>
      </p:sp>
      <p:sp>
        <p:nvSpPr>
          <p:cNvPr id="5" name="Text Placeholder 4">
            <a:extLst>
              <a:ext uri="{FF2B5EF4-FFF2-40B4-BE49-F238E27FC236}">
                <a16:creationId xmlns:a16="http://schemas.microsoft.com/office/drawing/2014/main" xmlns="" id="{867DD104-3F1E-4CC9-9F38-EFE64B5D4044}"/>
              </a:ext>
            </a:extLst>
          </p:cNvPr>
          <p:cNvSpPr>
            <a:spLocks noGrp="1"/>
          </p:cNvSpPr>
          <p:nvPr>
            <p:ph type="body" sz="quarter" idx="3"/>
          </p:nvPr>
        </p:nvSpPr>
        <p:spPr>
          <a:xfrm>
            <a:off x="6858000" y="2052802"/>
            <a:ext cx="5105400" cy="823912"/>
          </a:xfrm>
        </p:spPr>
        <p:txBody>
          <a:bodyPr/>
          <a:lstStyle/>
          <a:p>
            <a:r>
              <a:rPr lang="en-US" b="1" dirty="0"/>
              <a:t>Digital Currencies: </a:t>
            </a:r>
            <a:endParaRPr lang="x-none" dirty="0"/>
          </a:p>
        </p:txBody>
      </p:sp>
      <p:sp>
        <p:nvSpPr>
          <p:cNvPr id="6" name="Content Placeholder 5">
            <a:extLst>
              <a:ext uri="{FF2B5EF4-FFF2-40B4-BE49-F238E27FC236}">
                <a16:creationId xmlns:a16="http://schemas.microsoft.com/office/drawing/2014/main" xmlns="" id="{2254C97C-00AD-4898-B9B0-5EDA8E758B83}"/>
              </a:ext>
            </a:extLst>
          </p:cNvPr>
          <p:cNvSpPr>
            <a:spLocks noGrp="1"/>
          </p:cNvSpPr>
          <p:nvPr>
            <p:ph sz="quarter" idx="4"/>
          </p:nvPr>
        </p:nvSpPr>
        <p:spPr>
          <a:xfrm>
            <a:off x="6858000" y="3128431"/>
            <a:ext cx="5334000" cy="3086019"/>
          </a:xfrm>
        </p:spPr>
        <p:txBody>
          <a:bodyPr/>
          <a:lstStyle/>
          <a:p>
            <a:pPr marL="0" indent="0">
              <a:buNone/>
            </a:pPr>
            <a:r>
              <a:rPr lang="en-US" dirty="0"/>
              <a:t> </a:t>
            </a:r>
            <a:r>
              <a:rPr lang="en-US" dirty="0">
                <a:latin typeface="Twimes"/>
              </a:rPr>
              <a:t>To safeguard transactions and prevent fraud, digital currencies like Bitcoin also use cryptography. Complex algorithms and cryptographic keys are used to safeguard transactions, making it nearly hard to tamper with or forge the transactions.</a:t>
            </a:r>
            <a:endParaRPr lang="x-none" dirty="0">
              <a:latin typeface="Twimes"/>
            </a:endParaRPr>
          </a:p>
        </p:txBody>
      </p:sp>
    </p:spTree>
    <p:extLst>
      <p:ext uri="{BB962C8B-B14F-4D97-AF65-F5344CB8AC3E}">
        <p14:creationId xmlns:p14="http://schemas.microsoft.com/office/powerpoint/2010/main" val="272990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down)">
                                      <p:cBhvr>
                                        <p:cTn id="2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1A8371FC-19D4-4403-A57F-805A42D3102D}"/>
              </a:ext>
            </a:extLst>
          </p:cNvPr>
          <p:cNvSpPr>
            <a:spLocks noGrp="1"/>
          </p:cNvSpPr>
          <p:nvPr>
            <p:ph type="body" idx="1"/>
          </p:nvPr>
        </p:nvSpPr>
        <p:spPr>
          <a:xfrm>
            <a:off x="303662" y="2047325"/>
            <a:ext cx="5079991" cy="823912"/>
          </a:xfrm>
        </p:spPr>
        <p:txBody>
          <a:bodyPr/>
          <a:lstStyle/>
          <a:p>
            <a:r>
              <a:rPr lang="en-US" b="1" dirty="0"/>
              <a:t>Password protection</a:t>
            </a:r>
            <a:endParaRPr lang="x-none" dirty="0"/>
          </a:p>
        </p:txBody>
      </p:sp>
      <p:sp>
        <p:nvSpPr>
          <p:cNvPr id="4" name="Content Placeholder 3">
            <a:extLst>
              <a:ext uri="{FF2B5EF4-FFF2-40B4-BE49-F238E27FC236}">
                <a16:creationId xmlns:a16="http://schemas.microsoft.com/office/drawing/2014/main" xmlns="" id="{382F0832-7541-44BE-9614-98CD08EA47AB}"/>
              </a:ext>
            </a:extLst>
          </p:cNvPr>
          <p:cNvSpPr>
            <a:spLocks noGrp="1"/>
          </p:cNvSpPr>
          <p:nvPr>
            <p:ph sz="half" idx="2"/>
          </p:nvPr>
        </p:nvSpPr>
        <p:spPr>
          <a:xfrm>
            <a:off x="303662" y="3007714"/>
            <a:ext cx="5311775" cy="3086019"/>
          </a:xfrm>
        </p:spPr>
        <p:txBody>
          <a:bodyPr>
            <a:normAutofit/>
          </a:bodyPr>
          <a:lstStyle/>
          <a:p>
            <a:pPr marL="0" indent="0">
              <a:buNone/>
            </a:pPr>
            <a:endParaRPr lang="en-US" sz="2400" b="1" dirty="0" smtClean="0"/>
          </a:p>
          <a:p>
            <a:pPr marL="0" indent="0">
              <a:buNone/>
            </a:pPr>
            <a:r>
              <a:rPr lang="en-US" sz="2400" b="1" dirty="0"/>
              <a:t> </a:t>
            </a:r>
            <a:r>
              <a:rPr lang="en-US" sz="2400" dirty="0">
                <a:latin typeface="Twimes"/>
              </a:rPr>
              <a:t>Passwords are often encrypted using cryptographic algorithms to protect them from being stolen or intercepted.</a:t>
            </a:r>
            <a:endParaRPr lang="x-none" sz="2400" dirty="0">
              <a:latin typeface="Twimes"/>
            </a:endParaRPr>
          </a:p>
        </p:txBody>
      </p:sp>
      <p:sp>
        <p:nvSpPr>
          <p:cNvPr id="5" name="Text Placeholder 4">
            <a:extLst>
              <a:ext uri="{FF2B5EF4-FFF2-40B4-BE49-F238E27FC236}">
                <a16:creationId xmlns:a16="http://schemas.microsoft.com/office/drawing/2014/main" xmlns="" id="{867DD104-3F1E-4CC9-9F38-EFE64B5D4044}"/>
              </a:ext>
            </a:extLst>
          </p:cNvPr>
          <p:cNvSpPr>
            <a:spLocks noGrp="1"/>
          </p:cNvSpPr>
          <p:nvPr>
            <p:ph type="body" sz="quarter" idx="3"/>
          </p:nvPr>
        </p:nvSpPr>
        <p:spPr/>
        <p:txBody>
          <a:bodyPr>
            <a:normAutofit lnSpcReduction="10000"/>
          </a:bodyPr>
          <a:lstStyle/>
          <a:p>
            <a:r>
              <a:rPr lang="en-US" b="1" dirty="0"/>
              <a:t>Military and intelligence </a:t>
            </a:r>
            <a:r>
              <a:rPr lang="en-US" b="1" dirty="0" smtClean="0"/>
              <a:t>applications</a:t>
            </a:r>
            <a:endParaRPr lang="x-none" b="1" dirty="0"/>
          </a:p>
        </p:txBody>
      </p:sp>
      <p:sp>
        <p:nvSpPr>
          <p:cNvPr id="6" name="Content Placeholder 5">
            <a:extLst>
              <a:ext uri="{FF2B5EF4-FFF2-40B4-BE49-F238E27FC236}">
                <a16:creationId xmlns:a16="http://schemas.microsoft.com/office/drawing/2014/main" xmlns="" id="{2254C97C-00AD-4898-B9B0-5EDA8E758B83}"/>
              </a:ext>
            </a:extLst>
          </p:cNvPr>
          <p:cNvSpPr>
            <a:spLocks noGrp="1"/>
          </p:cNvSpPr>
          <p:nvPr>
            <p:ph sz="quarter" idx="4"/>
          </p:nvPr>
        </p:nvSpPr>
        <p:spPr>
          <a:xfrm>
            <a:off x="6400800" y="3007714"/>
            <a:ext cx="5334000" cy="3086019"/>
          </a:xfrm>
        </p:spPr>
        <p:txBody>
          <a:bodyPr/>
          <a:lstStyle/>
          <a:p>
            <a:pPr marL="0" indent="0">
              <a:buNone/>
            </a:pPr>
            <a:endParaRPr lang="en-US" dirty="0" smtClean="0">
              <a:latin typeface="Twimes"/>
            </a:endParaRPr>
          </a:p>
          <a:p>
            <a:pPr marL="0" indent="0">
              <a:buNone/>
            </a:pPr>
            <a:r>
              <a:rPr lang="en-US" dirty="0" smtClean="0">
                <a:latin typeface="Twimes"/>
              </a:rPr>
              <a:t>Cryptography </a:t>
            </a:r>
            <a:r>
              <a:rPr lang="en-US" dirty="0">
                <a:latin typeface="Twimes"/>
              </a:rPr>
              <a:t>is widely used in military and intelligence applications to protect classified information and communications.</a:t>
            </a:r>
            <a:endParaRPr lang="x-none" dirty="0">
              <a:latin typeface="Twimes"/>
            </a:endParaRPr>
          </a:p>
        </p:txBody>
      </p:sp>
    </p:spTree>
    <p:extLst>
      <p:ext uri="{BB962C8B-B14F-4D97-AF65-F5344CB8AC3E}">
        <p14:creationId xmlns:p14="http://schemas.microsoft.com/office/powerpoint/2010/main" val="132702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 calcmode="lin" valueType="num">
                                      <p:cBhvr additive="base">
                                        <p:cTn id="1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 calcmode="lin" valueType="num">
                                      <p:cBhvr>
                                        <p:cTn id="21"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22"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23"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24" dur="1000"/>
                                        <p:tgtEl>
                                          <p:spTgt spid="5">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 calcmode="lin" valueType="num">
                                      <p:cBhvr additive="base">
                                        <p:cTn id="2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EC69F1-656B-44E0-B7B6-685ECF1D6C15}"/>
              </a:ext>
            </a:extLst>
          </p:cNvPr>
          <p:cNvSpPr>
            <a:spLocks noGrp="1"/>
          </p:cNvSpPr>
          <p:nvPr>
            <p:ph type="ctrTitle"/>
          </p:nvPr>
        </p:nvSpPr>
        <p:spPr>
          <a:xfrm>
            <a:off x="1028700" y="1371604"/>
            <a:ext cx="9448800" cy="2697575"/>
          </a:xfrm>
        </p:spPr>
        <p:txBody>
          <a:bodyPr>
            <a:normAutofit/>
          </a:bodyPr>
          <a:lstStyle/>
          <a:p>
            <a:r>
              <a:rPr lang="en-US" dirty="0"/>
              <a:t>        </a:t>
            </a:r>
            <a:r>
              <a:rPr lang="en-US" sz="11500" dirty="0"/>
              <a:t>THE END </a:t>
            </a:r>
            <a:endParaRPr lang="x-none" dirty="0"/>
          </a:p>
        </p:txBody>
      </p:sp>
    </p:spTree>
    <p:extLst>
      <p:ext uri="{BB962C8B-B14F-4D97-AF65-F5344CB8AC3E}">
        <p14:creationId xmlns:p14="http://schemas.microsoft.com/office/powerpoint/2010/main" val="2793922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TM04033937[[fn=Vapor Trail]]</Template>
  <TotalTime>219</TotalTime>
  <Words>549</Words>
  <Application>Microsoft Office PowerPoint</Application>
  <PresentationFormat>Widescreen</PresentationFormat>
  <Paragraphs>73</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Rounded MT Bold</vt:lpstr>
      <vt:lpstr>Bahnschrift SemiBold</vt:lpstr>
      <vt:lpstr>Century Gothic</vt:lpstr>
      <vt:lpstr>Nunito</vt:lpstr>
      <vt:lpstr>Times New Roman</vt:lpstr>
      <vt:lpstr>Twimes</vt:lpstr>
      <vt:lpstr>Wingdings</vt:lpstr>
      <vt:lpstr>Vapor Trail</vt:lpstr>
      <vt:lpstr>Information security</vt:lpstr>
      <vt:lpstr>cryptography</vt:lpstr>
      <vt:lpstr>cryptography</vt:lpstr>
      <vt:lpstr>PowerPoint Presentation</vt:lpstr>
      <vt:lpstr>Types  of  CRYPTOGRAPHY</vt:lpstr>
      <vt:lpstr>PowerPoint Presentation</vt:lpstr>
      <vt:lpstr>PowerPoint Presentation</vt:lpstr>
      <vt:lpstr>PRINCIPAL OF CRYPTOGRAPHY</vt:lpstr>
      <vt:lpstr>PRINCIPAL OF CRYPTOGRAPHY</vt:lpstr>
      <vt:lpstr>CRYPTOGRAPHY ALGORITHAMS</vt:lpstr>
      <vt:lpstr>RSA ALGORITHAM </vt:lpstr>
      <vt:lpstr>AES ALGORITHAM</vt:lpstr>
      <vt:lpstr>Ecc   ALGORITHAM</vt:lpstr>
      <vt:lpstr>        APPLICATION OF                      CRYPTOGRAPHY</vt:lpstr>
      <vt:lpstr>PowerPoint Presentation</vt:lpstr>
      <vt:lpstr>PowerPoint Presentation</vt:lpstr>
      <vt:lpstr>        THE END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dc:title>
  <dc:creator>Lenovo T560</dc:creator>
  <cp:lastModifiedBy>Windows User</cp:lastModifiedBy>
  <cp:revision>23</cp:revision>
  <dcterms:created xsi:type="dcterms:W3CDTF">2024-02-28T07:57:29Z</dcterms:created>
  <dcterms:modified xsi:type="dcterms:W3CDTF">2024-02-28T17:25:21Z</dcterms:modified>
</cp:coreProperties>
</file>
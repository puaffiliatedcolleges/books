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1" r:id="rId5"/>
    <p:sldId id="259" r:id="rId6"/>
    <p:sldId id="260" r:id="rId7"/>
    <p:sldId id="262" r:id="rId8"/>
    <p:sldId id="263" r:id="rId9"/>
    <p:sldId id="265" r:id="rId10"/>
    <p:sldId id="264"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9" autoAdjust="0"/>
    <p:restoredTop sz="94660"/>
  </p:normalViewPr>
  <p:slideViewPr>
    <p:cSldViewPr snapToGrid="0">
      <p:cViewPr varScale="1">
        <p:scale>
          <a:sx n="61" d="100"/>
          <a:sy n="61" d="100"/>
        </p:scale>
        <p:origin x="62" y="18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4/4/2024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t>DI-322 </a:t>
            </a:r>
            <a:r>
              <a:rPr lang="en-US" b="1" dirty="0"/>
              <a:t>Web Technologies</a:t>
            </a:r>
            <a:r>
              <a:rPr lang="en-US" dirty="0"/>
              <a:t/>
            </a:r>
            <a:br>
              <a:rPr lang="en-US" dirty="0"/>
            </a:br>
            <a:r>
              <a:rPr lang="en-US" dirty="0"/>
              <a:t/>
            </a:r>
            <a:br>
              <a:rPr lang="en-US" dirty="0"/>
            </a:br>
            <a:endParaRPr lang="en-US" dirty="0"/>
          </a:p>
        </p:txBody>
      </p:sp>
      <p:sp>
        <p:nvSpPr>
          <p:cNvPr id="3" name="Subtitle 2"/>
          <p:cNvSpPr>
            <a:spLocks noGrp="1"/>
          </p:cNvSpPr>
          <p:nvPr>
            <p:ph type="subTitle" idx="1"/>
          </p:nvPr>
        </p:nvSpPr>
        <p:spPr/>
        <p:txBody>
          <a:bodyPr/>
          <a:lstStyle/>
          <a:p>
            <a:pPr fontAlgn="base"/>
            <a:r>
              <a:rPr lang="en-US" dirty="0" smtClean="0"/>
              <a:t>Web Services:</a:t>
            </a:r>
            <a:endParaRPr lang="en-US" dirty="0"/>
          </a:p>
        </p:txBody>
      </p:sp>
    </p:spTree>
    <p:extLst>
      <p:ext uri="{BB962C8B-B14F-4D97-AF65-F5344CB8AC3E}">
        <p14:creationId xmlns:p14="http://schemas.microsoft.com/office/powerpoint/2010/main" val="2977619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endParaRPr lang="en-US" dirty="0"/>
          </a:p>
        </p:txBody>
      </p:sp>
      <p:sp>
        <p:nvSpPr>
          <p:cNvPr id="3" name="Content Placeholder 2"/>
          <p:cNvSpPr>
            <a:spLocks noGrp="1"/>
          </p:cNvSpPr>
          <p:nvPr>
            <p:ph idx="1"/>
          </p:nvPr>
        </p:nvSpPr>
        <p:spPr>
          <a:xfrm>
            <a:off x="1497724" y="640445"/>
            <a:ext cx="10815145" cy="4590392"/>
          </a:xfrm>
        </p:spPr>
        <p:txBody>
          <a:bodyPr/>
          <a:lstStyle/>
          <a:p>
            <a:pPr marL="0" indent="0">
              <a:buNone/>
            </a:pPr>
            <a:r>
              <a:rPr lang="en-US" b="1" dirty="0"/>
              <a:t>Basic Operation</a:t>
            </a:r>
            <a:r>
              <a:rPr lang="en-US" dirty="0"/>
              <a:t>:</a:t>
            </a:r>
          </a:p>
          <a:p>
            <a:r>
              <a:rPr lang="en-US" dirty="0" smtClean="0"/>
              <a:t>Definition: </a:t>
            </a:r>
            <a:r>
              <a:rPr lang="en-US" dirty="0"/>
              <a:t>Web services are software systems designed to support </a:t>
            </a:r>
            <a:endParaRPr lang="en-US" dirty="0" smtClean="0"/>
          </a:p>
          <a:p>
            <a:pPr lvl="1"/>
            <a:r>
              <a:rPr lang="en-US" dirty="0" smtClean="0"/>
              <a:t>interoperable </a:t>
            </a:r>
            <a:r>
              <a:rPr lang="en-US" dirty="0"/>
              <a:t>machine-to-machine interaction over a network. </a:t>
            </a:r>
            <a:endParaRPr lang="en-US" dirty="0" smtClean="0"/>
          </a:p>
          <a:p>
            <a:pPr lvl="1"/>
            <a:r>
              <a:rPr lang="en-US" dirty="0" smtClean="0"/>
              <a:t>They </a:t>
            </a:r>
            <a:r>
              <a:rPr lang="en-US" dirty="0"/>
              <a:t>enable communication between various applications or systems regardless of the programming languages or platforms they are built on</a:t>
            </a:r>
            <a:r>
              <a:rPr lang="en-US" dirty="0" smtClean="0"/>
              <a:t>.</a:t>
            </a:r>
          </a:p>
          <a:p>
            <a:pPr lvl="1"/>
            <a:r>
              <a:rPr lang="en-US" dirty="0"/>
              <a:t>They typically use standard protocols like HTTP, XML, and JSON for communication and data representation</a:t>
            </a:r>
            <a:r>
              <a:rPr lang="en-US" dirty="0" smtClean="0"/>
              <a:t>.</a:t>
            </a:r>
          </a:p>
          <a:p>
            <a:pPr lvl="1"/>
            <a:r>
              <a:rPr lang="en-US" dirty="0" smtClean="0"/>
              <a:t>Example: </a:t>
            </a:r>
            <a:r>
              <a:rPr lang="en-US" dirty="0"/>
              <a:t>An example of a web service is a weather service that provides weather forecasts to various applications or websites.</a:t>
            </a:r>
          </a:p>
          <a:p>
            <a:pPr marL="457200" lvl="1" indent="0">
              <a:buNone/>
            </a:pPr>
            <a:endParaRPr lang="en-US" dirty="0"/>
          </a:p>
        </p:txBody>
      </p:sp>
      <p:pic>
        <p:nvPicPr>
          <p:cNvPr id="5" name="Picture 4"/>
          <p:cNvPicPr>
            <a:picLocks noChangeAspect="1"/>
          </p:cNvPicPr>
          <p:nvPr/>
        </p:nvPicPr>
        <p:blipFill>
          <a:blip r:embed="rId2"/>
          <a:stretch>
            <a:fillRect/>
          </a:stretch>
        </p:blipFill>
        <p:spPr>
          <a:xfrm>
            <a:off x="535370" y="4205764"/>
            <a:ext cx="4709793" cy="2050145"/>
          </a:xfrm>
          <a:prstGeom prst="rect">
            <a:avLst/>
          </a:prstGeom>
        </p:spPr>
      </p:pic>
      <p:pic>
        <p:nvPicPr>
          <p:cNvPr id="6" name="Picture 5"/>
          <p:cNvPicPr>
            <a:picLocks noChangeAspect="1"/>
          </p:cNvPicPr>
          <p:nvPr/>
        </p:nvPicPr>
        <p:blipFill>
          <a:blip r:embed="rId3"/>
          <a:stretch>
            <a:fillRect/>
          </a:stretch>
        </p:blipFill>
        <p:spPr>
          <a:xfrm>
            <a:off x="6087072" y="3293005"/>
            <a:ext cx="6005348" cy="3391575"/>
          </a:xfrm>
          <a:prstGeom prst="rect">
            <a:avLst/>
          </a:prstGeom>
        </p:spPr>
      </p:pic>
    </p:spTree>
    <p:extLst>
      <p:ext uri="{BB962C8B-B14F-4D97-AF65-F5344CB8AC3E}">
        <p14:creationId xmlns:p14="http://schemas.microsoft.com/office/powerpoint/2010/main" val="2453084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r>
              <a:rPr lang="en-US" dirty="0"/>
              <a:t> SOAP</a:t>
            </a:r>
          </a:p>
        </p:txBody>
      </p:sp>
      <p:sp>
        <p:nvSpPr>
          <p:cNvPr id="3" name="Content Placeholder 2"/>
          <p:cNvSpPr>
            <a:spLocks noGrp="1"/>
          </p:cNvSpPr>
          <p:nvPr>
            <p:ph idx="1"/>
          </p:nvPr>
        </p:nvSpPr>
        <p:spPr>
          <a:xfrm>
            <a:off x="1497724" y="640445"/>
            <a:ext cx="10815145" cy="5981072"/>
          </a:xfrm>
        </p:spPr>
        <p:txBody>
          <a:bodyPr/>
          <a:lstStyle/>
          <a:p>
            <a:r>
              <a:rPr lang="en-US" dirty="0" smtClean="0"/>
              <a:t>SOAP </a:t>
            </a:r>
            <a:r>
              <a:rPr lang="en-US" dirty="0"/>
              <a:t>stands for Simple Object Access Protocol. </a:t>
            </a:r>
            <a:endParaRPr lang="en-US" dirty="0" smtClean="0"/>
          </a:p>
          <a:p>
            <a:r>
              <a:rPr lang="en-US" dirty="0" smtClean="0"/>
              <a:t>It </a:t>
            </a:r>
            <a:r>
              <a:rPr lang="en-US" dirty="0"/>
              <a:t>is a XML-based protocol for accessing web services.</a:t>
            </a:r>
          </a:p>
          <a:p>
            <a:r>
              <a:rPr lang="en-US" dirty="0"/>
              <a:t>SOAP is a W3C recommendation for communication between two applications.</a:t>
            </a:r>
          </a:p>
          <a:p>
            <a:r>
              <a:rPr lang="en-US" dirty="0"/>
              <a:t>SOAP is XML based protocol. It is platform independent and language independent. By using SOAP, you will be able to interact with other programming language applications</a:t>
            </a:r>
            <a:r>
              <a:rPr lang="en-US" dirty="0" smtClean="0"/>
              <a:t>.</a:t>
            </a:r>
          </a:p>
          <a:p>
            <a:pPr marL="0" indent="0">
              <a:buNone/>
            </a:pPr>
            <a:r>
              <a:rPr lang="en-US" b="1" dirty="0"/>
              <a:t>Advantages of Soap Web Services</a:t>
            </a:r>
          </a:p>
          <a:p>
            <a:pPr lvl="1"/>
            <a:r>
              <a:rPr lang="en-US" b="1" dirty="0"/>
              <a:t>WS Security</a:t>
            </a:r>
            <a:r>
              <a:rPr lang="en-US" dirty="0"/>
              <a:t>: SOAP defines its own security known as WS Security.</a:t>
            </a:r>
          </a:p>
          <a:p>
            <a:pPr lvl="1"/>
            <a:r>
              <a:rPr lang="en-US" b="1" dirty="0"/>
              <a:t>Language and Platform independent</a:t>
            </a:r>
            <a:r>
              <a:rPr lang="en-US" dirty="0"/>
              <a:t>: SOAP web services can be written in any programming language and executed in any platform</a:t>
            </a:r>
            <a:r>
              <a:rPr lang="en-US" dirty="0" smtClean="0"/>
              <a:t>.</a:t>
            </a:r>
          </a:p>
          <a:p>
            <a:pPr marL="0" indent="0">
              <a:buNone/>
            </a:pPr>
            <a:r>
              <a:rPr lang="en-US" b="1" dirty="0"/>
              <a:t>Disadvantages of Soap Web Services</a:t>
            </a:r>
          </a:p>
          <a:p>
            <a:pPr lvl="1"/>
            <a:r>
              <a:rPr lang="en-US" b="1" dirty="0"/>
              <a:t>Slow</a:t>
            </a:r>
            <a:r>
              <a:rPr lang="en-US" dirty="0"/>
              <a:t>: SOAP uses XML format that must be parsed to be read. It defines many standards that must be followed while developing the SOAP applications. So it is slow and consumes more bandwidth and resource</a:t>
            </a:r>
            <a:r>
              <a:rPr lang="en-US" dirty="0" smtClean="0"/>
              <a:t>.</a:t>
            </a:r>
            <a:endParaRPr lang="en-US" dirty="0"/>
          </a:p>
          <a:p>
            <a:pPr marL="0" indent="0">
              <a:buNone/>
            </a:pPr>
            <a:endParaRPr lang="en-US" dirty="0"/>
          </a:p>
          <a:p>
            <a:pPr marL="457200" lvl="1" indent="0">
              <a:buNone/>
            </a:pPr>
            <a:endParaRPr lang="en-US" dirty="0"/>
          </a:p>
        </p:txBody>
      </p:sp>
      <p:pic>
        <p:nvPicPr>
          <p:cNvPr id="4" name="Picture 3"/>
          <p:cNvPicPr>
            <a:picLocks noChangeAspect="1"/>
          </p:cNvPicPr>
          <p:nvPr/>
        </p:nvPicPr>
        <p:blipFill>
          <a:blip r:embed="rId2"/>
          <a:stretch>
            <a:fillRect/>
          </a:stretch>
        </p:blipFill>
        <p:spPr>
          <a:xfrm>
            <a:off x="3958556" y="4822769"/>
            <a:ext cx="5153032" cy="2035231"/>
          </a:xfrm>
          <a:prstGeom prst="rect">
            <a:avLst/>
          </a:prstGeom>
        </p:spPr>
      </p:pic>
    </p:spTree>
    <p:extLst>
      <p:ext uri="{BB962C8B-B14F-4D97-AF65-F5344CB8AC3E}">
        <p14:creationId xmlns:p14="http://schemas.microsoft.com/office/powerpoint/2010/main" val="1694440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r>
              <a:rPr lang="en-US" dirty="0"/>
              <a:t> RESTful</a:t>
            </a:r>
          </a:p>
        </p:txBody>
      </p:sp>
      <p:sp>
        <p:nvSpPr>
          <p:cNvPr id="3" name="Content Placeholder 2"/>
          <p:cNvSpPr>
            <a:spLocks noGrp="1"/>
          </p:cNvSpPr>
          <p:nvPr>
            <p:ph idx="1"/>
          </p:nvPr>
        </p:nvSpPr>
        <p:spPr>
          <a:xfrm>
            <a:off x="1497724" y="640445"/>
            <a:ext cx="10815145" cy="5981072"/>
          </a:xfrm>
        </p:spPr>
        <p:txBody>
          <a:bodyPr/>
          <a:lstStyle/>
          <a:p>
            <a:r>
              <a:rPr lang="en-US" dirty="0"/>
              <a:t>REST stands for </a:t>
            </a:r>
            <a:r>
              <a:rPr lang="en-US" dirty="0" err="1"/>
              <a:t>REpresentational</a:t>
            </a:r>
            <a:r>
              <a:rPr lang="en-US" dirty="0"/>
              <a:t> State Transfer.</a:t>
            </a:r>
          </a:p>
          <a:p>
            <a:r>
              <a:rPr lang="en-US" dirty="0"/>
              <a:t>REST is an architectural style not a protocol</a:t>
            </a:r>
          </a:p>
          <a:p>
            <a:pPr marL="0" indent="0">
              <a:buNone/>
            </a:pPr>
            <a:r>
              <a:rPr lang="en-US" b="1" dirty="0" smtClean="0"/>
              <a:t>Advantages </a:t>
            </a:r>
            <a:r>
              <a:rPr lang="en-US" b="1" dirty="0"/>
              <a:t>of Soap Web Services</a:t>
            </a:r>
          </a:p>
          <a:p>
            <a:pPr lvl="1"/>
            <a:r>
              <a:rPr lang="en-US" b="1" dirty="0"/>
              <a:t>Fast</a:t>
            </a:r>
            <a:r>
              <a:rPr lang="en-US" dirty="0"/>
              <a:t>: RESTful Web Services are fast because there is no strict specification like SOAP. It consumes less bandwidth and resource. </a:t>
            </a:r>
            <a:endParaRPr lang="en-US" dirty="0" smtClean="0"/>
          </a:p>
          <a:p>
            <a:pPr lvl="1"/>
            <a:r>
              <a:rPr lang="en-US" b="1" dirty="0" smtClean="0"/>
              <a:t>Language </a:t>
            </a:r>
            <a:r>
              <a:rPr lang="en-US" b="1" dirty="0"/>
              <a:t>and Platform independent</a:t>
            </a:r>
            <a:r>
              <a:rPr lang="en-US" dirty="0"/>
              <a:t>: RESTful </a:t>
            </a:r>
            <a:r>
              <a:rPr lang="en-US" dirty="0" smtClean="0"/>
              <a:t> </a:t>
            </a:r>
            <a:r>
              <a:rPr lang="en-US" dirty="0"/>
              <a:t>web services can be written in any programming language and executed in any platform</a:t>
            </a:r>
            <a:r>
              <a:rPr lang="en-US" dirty="0" smtClean="0"/>
              <a:t>.</a:t>
            </a:r>
          </a:p>
          <a:p>
            <a:pPr lvl="1"/>
            <a:r>
              <a:rPr lang="en-US" b="1" dirty="0"/>
              <a:t>Permits different data format</a:t>
            </a:r>
            <a:r>
              <a:rPr lang="en-US" dirty="0"/>
              <a:t>: RESTful web service permits different data format such as Plain Text, HTML, XML and JSON</a:t>
            </a:r>
            <a:endParaRPr lang="en-US" dirty="0" smtClean="0"/>
          </a:p>
          <a:p>
            <a:pPr marL="0" indent="0">
              <a:buNone/>
            </a:pPr>
            <a:endParaRPr lang="en-US" dirty="0"/>
          </a:p>
          <a:p>
            <a:pPr marL="457200" lvl="1" indent="0">
              <a:buNone/>
            </a:pPr>
            <a:endParaRPr lang="en-US" dirty="0"/>
          </a:p>
        </p:txBody>
      </p:sp>
      <p:pic>
        <p:nvPicPr>
          <p:cNvPr id="5" name="Picture 4"/>
          <p:cNvPicPr>
            <a:picLocks noChangeAspect="1"/>
          </p:cNvPicPr>
          <p:nvPr/>
        </p:nvPicPr>
        <p:blipFill>
          <a:blip r:embed="rId2"/>
          <a:stretch>
            <a:fillRect/>
          </a:stretch>
        </p:blipFill>
        <p:spPr>
          <a:xfrm>
            <a:off x="472655" y="3812278"/>
            <a:ext cx="5614417" cy="2659460"/>
          </a:xfrm>
          <a:prstGeom prst="rect">
            <a:avLst/>
          </a:prstGeom>
        </p:spPr>
      </p:pic>
      <p:pic>
        <p:nvPicPr>
          <p:cNvPr id="7" name="Picture 6"/>
          <p:cNvPicPr>
            <a:picLocks noChangeAspect="1"/>
          </p:cNvPicPr>
          <p:nvPr/>
        </p:nvPicPr>
        <p:blipFill>
          <a:blip r:embed="rId3"/>
          <a:stretch>
            <a:fillRect/>
          </a:stretch>
        </p:blipFill>
        <p:spPr>
          <a:xfrm>
            <a:off x="6463862" y="3431121"/>
            <a:ext cx="5517931" cy="3421774"/>
          </a:xfrm>
          <a:prstGeom prst="rect">
            <a:avLst/>
          </a:prstGeom>
        </p:spPr>
      </p:pic>
    </p:spTree>
    <p:extLst>
      <p:ext uri="{BB962C8B-B14F-4D97-AF65-F5344CB8AC3E}">
        <p14:creationId xmlns:p14="http://schemas.microsoft.com/office/powerpoint/2010/main" val="335399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r>
              <a:rPr lang="en-US" dirty="0"/>
              <a:t> </a:t>
            </a:r>
            <a:r>
              <a:rPr lang="en-US" dirty="0" smtClean="0"/>
              <a:t>SOAP vs RESTful</a:t>
            </a:r>
            <a:endParaRPr lang="en-US" dirty="0"/>
          </a:p>
        </p:txBody>
      </p:sp>
      <p:sp>
        <p:nvSpPr>
          <p:cNvPr id="3" name="Content Placeholder 2"/>
          <p:cNvSpPr>
            <a:spLocks noGrp="1"/>
          </p:cNvSpPr>
          <p:nvPr>
            <p:ph idx="1"/>
          </p:nvPr>
        </p:nvSpPr>
        <p:spPr>
          <a:xfrm>
            <a:off x="1497724" y="640445"/>
            <a:ext cx="10815145" cy="5981072"/>
          </a:xfrm>
        </p:spPr>
        <p:txBody>
          <a:bodyPr/>
          <a:lstStyle/>
          <a:p>
            <a:pPr marL="0" indent="0">
              <a:buNone/>
            </a:pPr>
            <a:endParaRPr lang="en-US" dirty="0"/>
          </a:p>
          <a:p>
            <a:pPr marL="457200" lvl="1" indent="0">
              <a:buNone/>
            </a:pPr>
            <a:endParaRPr lang="en-US" dirty="0"/>
          </a:p>
        </p:txBody>
      </p:sp>
      <p:pic>
        <p:nvPicPr>
          <p:cNvPr id="8" name="Picture 7"/>
          <p:cNvPicPr>
            <a:picLocks noChangeAspect="1"/>
          </p:cNvPicPr>
          <p:nvPr/>
        </p:nvPicPr>
        <p:blipFill>
          <a:blip r:embed="rId2"/>
          <a:stretch>
            <a:fillRect/>
          </a:stretch>
        </p:blipFill>
        <p:spPr>
          <a:xfrm>
            <a:off x="1749571" y="835765"/>
            <a:ext cx="10083435" cy="5785752"/>
          </a:xfrm>
          <a:prstGeom prst="rect">
            <a:avLst/>
          </a:prstGeom>
        </p:spPr>
      </p:pic>
    </p:spTree>
    <p:extLst>
      <p:ext uri="{BB962C8B-B14F-4D97-AF65-F5344CB8AC3E}">
        <p14:creationId xmlns:p14="http://schemas.microsoft.com/office/powerpoint/2010/main" val="1291299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r>
              <a:rPr lang="en-US" dirty="0"/>
              <a:t> </a:t>
            </a:r>
            <a:r>
              <a:rPr lang="en-US" dirty="0" smtClean="0"/>
              <a:t>WML</a:t>
            </a:r>
            <a:endParaRPr lang="en-US" dirty="0"/>
          </a:p>
        </p:txBody>
      </p:sp>
      <p:sp>
        <p:nvSpPr>
          <p:cNvPr id="3" name="Content Placeholder 2"/>
          <p:cNvSpPr>
            <a:spLocks noGrp="1"/>
          </p:cNvSpPr>
          <p:nvPr>
            <p:ph idx="1"/>
          </p:nvPr>
        </p:nvSpPr>
        <p:spPr>
          <a:xfrm>
            <a:off x="1497724" y="640445"/>
            <a:ext cx="10694276" cy="5981072"/>
          </a:xfrm>
        </p:spPr>
        <p:txBody>
          <a:bodyPr/>
          <a:lstStyle/>
          <a:p>
            <a:r>
              <a:rPr lang="en-US" b="1" dirty="0"/>
              <a:t>WML (Wireless Markup Language</a:t>
            </a:r>
            <a:r>
              <a:rPr lang="en-US" b="1" dirty="0" smtClean="0"/>
              <a:t>)</a:t>
            </a:r>
          </a:p>
          <a:p>
            <a:r>
              <a:rPr lang="en-US" dirty="0"/>
              <a:t>used for designing web pages intended for wireless devices such as mobile </a:t>
            </a:r>
            <a:r>
              <a:rPr lang="en-US" dirty="0" smtClean="0"/>
              <a:t>phones</a:t>
            </a:r>
            <a:endParaRPr lang="en-US" dirty="0"/>
          </a:p>
          <a:p>
            <a:r>
              <a:rPr lang="en-US" dirty="0"/>
              <a:t>It is based on XML and is used to create lightweight and efficient web content for mobile browsers</a:t>
            </a:r>
          </a:p>
          <a:p>
            <a:pPr marL="0" indent="0">
              <a:buNone/>
            </a:pPr>
            <a:r>
              <a:rPr lang="en-US" b="1" dirty="0"/>
              <a:t>Explanation:</a:t>
            </a:r>
            <a:r>
              <a:rPr lang="en-US" dirty="0"/>
              <a:t> WML is specifically designed for devices with limited processing power, memory, and display capabilities. It allows developers to create mobile-friendly web pages by defining elements like decks, cards, and menus optimized for small screens and limited input </a:t>
            </a:r>
            <a:r>
              <a:rPr lang="en-US" dirty="0" smtClean="0"/>
              <a:t>methods.</a:t>
            </a:r>
            <a:endParaRPr lang="en-US" dirty="0"/>
          </a:p>
          <a:p>
            <a:pPr marL="457200" lvl="1" indent="0">
              <a:buNone/>
            </a:pPr>
            <a:endParaRPr lang="en-US" dirty="0"/>
          </a:p>
        </p:txBody>
      </p:sp>
      <p:pic>
        <p:nvPicPr>
          <p:cNvPr id="4" name="Picture 3"/>
          <p:cNvPicPr>
            <a:picLocks noChangeAspect="1"/>
          </p:cNvPicPr>
          <p:nvPr/>
        </p:nvPicPr>
        <p:blipFill>
          <a:blip r:embed="rId2"/>
          <a:stretch>
            <a:fillRect/>
          </a:stretch>
        </p:blipFill>
        <p:spPr>
          <a:xfrm>
            <a:off x="2270025" y="3231603"/>
            <a:ext cx="8552345" cy="3200728"/>
          </a:xfrm>
          <a:prstGeom prst="rect">
            <a:avLst/>
          </a:prstGeom>
        </p:spPr>
      </p:pic>
    </p:spTree>
    <p:extLst>
      <p:ext uri="{BB962C8B-B14F-4D97-AF65-F5344CB8AC3E}">
        <p14:creationId xmlns:p14="http://schemas.microsoft.com/office/powerpoint/2010/main" val="3003353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r>
              <a:rPr lang="en-US" dirty="0"/>
              <a:t> </a:t>
            </a:r>
            <a:r>
              <a:rPr lang="en-US" dirty="0" smtClean="0"/>
              <a:t>XSL</a:t>
            </a:r>
            <a:endParaRPr lang="en-US" dirty="0"/>
          </a:p>
        </p:txBody>
      </p:sp>
      <p:sp>
        <p:nvSpPr>
          <p:cNvPr id="3" name="Content Placeholder 2"/>
          <p:cNvSpPr>
            <a:spLocks noGrp="1"/>
          </p:cNvSpPr>
          <p:nvPr>
            <p:ph idx="1"/>
          </p:nvPr>
        </p:nvSpPr>
        <p:spPr>
          <a:xfrm>
            <a:off x="1497724" y="640445"/>
            <a:ext cx="10694276" cy="5981072"/>
          </a:xfrm>
        </p:spPr>
        <p:txBody>
          <a:bodyPr/>
          <a:lstStyle/>
          <a:p>
            <a:r>
              <a:rPr lang="en-US" b="1" dirty="0"/>
              <a:t>XSL (Extensible Stylesheet Language)</a:t>
            </a:r>
          </a:p>
          <a:p>
            <a:r>
              <a:rPr lang="en-US" dirty="0"/>
              <a:t>XSL is a family of languages used to transform and render XML documents into different formats such as HTML, PDF, or plain </a:t>
            </a:r>
            <a:r>
              <a:rPr lang="en-US" dirty="0" smtClean="0"/>
              <a:t>text.</a:t>
            </a:r>
          </a:p>
          <a:p>
            <a:r>
              <a:rPr lang="en-US" dirty="0"/>
              <a:t>It consists of three parts: </a:t>
            </a:r>
            <a:endParaRPr lang="en-US" dirty="0" smtClean="0"/>
          </a:p>
          <a:p>
            <a:pPr lvl="1"/>
            <a:r>
              <a:rPr lang="en-US" dirty="0" smtClean="0"/>
              <a:t>XSLT </a:t>
            </a:r>
            <a:r>
              <a:rPr lang="en-US" dirty="0"/>
              <a:t>for transforming XML documents, </a:t>
            </a:r>
          </a:p>
          <a:p>
            <a:pPr lvl="1"/>
            <a:r>
              <a:rPr lang="en-US" dirty="0" smtClean="0"/>
              <a:t>XPath </a:t>
            </a:r>
            <a:r>
              <a:rPr lang="en-US" dirty="0"/>
              <a:t>for navigating XML documents, and </a:t>
            </a:r>
            <a:endParaRPr lang="en-US" dirty="0" smtClean="0"/>
          </a:p>
          <a:p>
            <a:pPr lvl="1"/>
            <a:r>
              <a:rPr lang="en-US" dirty="0" smtClean="0"/>
              <a:t>XSL-FO </a:t>
            </a:r>
            <a:r>
              <a:rPr lang="en-US" dirty="0"/>
              <a:t>for formatting XML documents</a:t>
            </a:r>
            <a:r>
              <a:rPr lang="en-US" dirty="0" smtClean="0"/>
              <a:t>.</a:t>
            </a:r>
            <a:endParaRPr lang="en-US" dirty="0"/>
          </a:p>
          <a:p>
            <a:pPr marL="457200" lvl="1" indent="0">
              <a:buNone/>
            </a:pPr>
            <a:endParaRPr lang="en-US" dirty="0" smtClean="0"/>
          </a:p>
        </p:txBody>
      </p:sp>
      <p:pic>
        <p:nvPicPr>
          <p:cNvPr id="5" name="Picture 4"/>
          <p:cNvPicPr>
            <a:picLocks noChangeAspect="1"/>
          </p:cNvPicPr>
          <p:nvPr/>
        </p:nvPicPr>
        <p:blipFill>
          <a:blip r:embed="rId2"/>
          <a:stretch>
            <a:fillRect/>
          </a:stretch>
        </p:blipFill>
        <p:spPr>
          <a:xfrm>
            <a:off x="7110248" y="1313451"/>
            <a:ext cx="3641836" cy="2043320"/>
          </a:xfrm>
          <a:prstGeom prst="rect">
            <a:avLst/>
          </a:prstGeom>
        </p:spPr>
      </p:pic>
      <p:pic>
        <p:nvPicPr>
          <p:cNvPr id="6" name="Picture 5"/>
          <p:cNvPicPr>
            <a:picLocks noChangeAspect="1"/>
          </p:cNvPicPr>
          <p:nvPr/>
        </p:nvPicPr>
        <p:blipFill>
          <a:blip r:embed="rId3"/>
          <a:stretch>
            <a:fillRect/>
          </a:stretch>
        </p:blipFill>
        <p:spPr>
          <a:xfrm>
            <a:off x="2038947" y="3358172"/>
            <a:ext cx="8713137" cy="3295905"/>
          </a:xfrm>
          <a:prstGeom prst="rect">
            <a:avLst/>
          </a:prstGeom>
        </p:spPr>
      </p:pic>
    </p:spTree>
    <p:extLst>
      <p:ext uri="{BB962C8B-B14F-4D97-AF65-F5344CB8AC3E}">
        <p14:creationId xmlns:p14="http://schemas.microsoft.com/office/powerpoint/2010/main" val="71738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r>
              <a:rPr lang="en-US" dirty="0"/>
              <a:t> </a:t>
            </a:r>
            <a:r>
              <a:rPr lang="en-US" dirty="0" smtClean="0"/>
              <a:t>Operations</a:t>
            </a:r>
            <a:endParaRPr lang="en-US" dirty="0"/>
          </a:p>
        </p:txBody>
      </p:sp>
      <p:sp>
        <p:nvSpPr>
          <p:cNvPr id="3" name="Content Placeholder 2"/>
          <p:cNvSpPr>
            <a:spLocks noGrp="1"/>
          </p:cNvSpPr>
          <p:nvPr>
            <p:ph idx="1"/>
          </p:nvPr>
        </p:nvSpPr>
        <p:spPr>
          <a:xfrm>
            <a:off x="1497724" y="640445"/>
            <a:ext cx="10694276" cy="5981072"/>
          </a:xfrm>
        </p:spPr>
        <p:txBody>
          <a:bodyPr/>
          <a:lstStyle/>
          <a:p>
            <a:r>
              <a:rPr lang="en-US" b="1" dirty="0"/>
              <a:t>XSL (Extensible Stylesheet Language)</a:t>
            </a:r>
          </a:p>
          <a:p>
            <a:r>
              <a:rPr lang="en-US" dirty="0"/>
              <a:t>facilitate communication and data exchange between different applications over the internet</a:t>
            </a:r>
            <a:r>
              <a:rPr lang="en-US" dirty="0" smtClean="0"/>
              <a:t>.</a:t>
            </a:r>
          </a:p>
          <a:p>
            <a:r>
              <a:rPr lang="en-US" dirty="0"/>
              <a:t>They perform operations such as</a:t>
            </a:r>
            <a:r>
              <a:rPr lang="en-US" dirty="0" smtClean="0"/>
              <a:t>:</a:t>
            </a:r>
          </a:p>
          <a:p>
            <a:r>
              <a:rPr lang="en-US" b="1" dirty="0"/>
              <a:t>Data Retrieval (GET):</a:t>
            </a:r>
            <a:r>
              <a:rPr lang="en-US" dirty="0"/>
              <a:t> Fetching data from a server </a:t>
            </a:r>
            <a:endParaRPr lang="en-US" dirty="0" smtClean="0"/>
          </a:p>
          <a:p>
            <a:r>
              <a:rPr lang="en-US" b="1" dirty="0"/>
              <a:t>Data Submission (POST):</a:t>
            </a:r>
            <a:r>
              <a:rPr lang="en-US" dirty="0"/>
              <a:t> Sending data to a </a:t>
            </a:r>
            <a:r>
              <a:rPr lang="en-US" dirty="0" smtClean="0"/>
              <a:t>server</a:t>
            </a:r>
          </a:p>
          <a:p>
            <a:r>
              <a:rPr lang="en-US" b="1" dirty="0"/>
              <a:t>Data Modification (PUT/PATCH):</a:t>
            </a:r>
            <a:r>
              <a:rPr lang="en-US" dirty="0"/>
              <a:t> Updating existing data on the </a:t>
            </a:r>
            <a:r>
              <a:rPr lang="en-US" dirty="0" smtClean="0"/>
              <a:t>server.</a:t>
            </a:r>
          </a:p>
          <a:p>
            <a:r>
              <a:rPr lang="en-US" b="1" dirty="0"/>
              <a:t>Data Deletion (DELETE):</a:t>
            </a:r>
            <a:r>
              <a:rPr lang="en-US" dirty="0"/>
              <a:t> Removing data from the </a:t>
            </a:r>
            <a:r>
              <a:rPr lang="en-US" dirty="0" smtClean="0"/>
              <a:t>server.</a:t>
            </a:r>
          </a:p>
          <a:p>
            <a:r>
              <a:rPr lang="en-US" b="1" dirty="0"/>
              <a:t>Authentication and Authorization:</a:t>
            </a:r>
            <a:r>
              <a:rPr lang="en-US" dirty="0"/>
              <a:t> Controlling access to </a:t>
            </a:r>
            <a:r>
              <a:rPr lang="en-US" dirty="0" smtClean="0"/>
              <a:t>resources.</a:t>
            </a:r>
          </a:p>
          <a:p>
            <a:r>
              <a:rPr lang="en-US" b="1" dirty="0"/>
              <a:t>Data Filtering and Sorting:</a:t>
            </a:r>
            <a:r>
              <a:rPr lang="en-US" dirty="0"/>
              <a:t> Refining data based on specific </a:t>
            </a:r>
            <a:r>
              <a:rPr lang="en-US" dirty="0" smtClean="0"/>
              <a:t>criteria.</a:t>
            </a:r>
          </a:p>
          <a:p>
            <a:r>
              <a:rPr lang="en-US" b="1" dirty="0"/>
              <a:t>Error Handling:</a:t>
            </a:r>
            <a:r>
              <a:rPr lang="en-US" dirty="0"/>
              <a:t> Managing errors gracefully for better user experience (e.g., displaying meaningful error messages).</a:t>
            </a:r>
            <a:endParaRPr lang="en-US" dirty="0" smtClean="0"/>
          </a:p>
        </p:txBody>
      </p:sp>
    </p:spTree>
    <p:extLst>
      <p:ext uri="{BB962C8B-B14F-4D97-AF65-F5344CB8AC3E}">
        <p14:creationId xmlns:p14="http://schemas.microsoft.com/office/powerpoint/2010/main" val="357591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r>
              <a:rPr lang="en-US" dirty="0"/>
              <a:t> </a:t>
            </a:r>
            <a:r>
              <a:rPr lang="en-US" dirty="0" smtClean="0"/>
              <a:t>Cookie Coordination</a:t>
            </a:r>
            <a:endParaRPr lang="en-US" dirty="0"/>
          </a:p>
        </p:txBody>
      </p:sp>
      <p:sp>
        <p:nvSpPr>
          <p:cNvPr id="3" name="Content Placeholder 2"/>
          <p:cNvSpPr>
            <a:spLocks noGrp="1"/>
          </p:cNvSpPr>
          <p:nvPr>
            <p:ph idx="1"/>
          </p:nvPr>
        </p:nvSpPr>
        <p:spPr>
          <a:xfrm>
            <a:off x="1284781" y="1191591"/>
            <a:ext cx="10694276" cy="4733221"/>
          </a:xfrm>
        </p:spPr>
        <p:txBody>
          <a:bodyPr/>
          <a:lstStyle/>
          <a:p>
            <a:r>
              <a:rPr lang="en-US" b="1" dirty="0"/>
              <a:t>Small Data</a:t>
            </a:r>
            <a:r>
              <a:rPr lang="en-US" dirty="0"/>
              <a:t>: Cookies are tiny pieces of data stored on a user's device by websites they visit.</a:t>
            </a:r>
          </a:p>
          <a:p>
            <a:r>
              <a:rPr lang="en-US" b="1" dirty="0"/>
              <a:t>Browsing Aid</a:t>
            </a:r>
            <a:r>
              <a:rPr lang="en-US" dirty="0"/>
              <a:t>: They assist websites in remembering user preferences, login status, and other browsing-related information.</a:t>
            </a:r>
          </a:p>
          <a:p>
            <a:r>
              <a:rPr lang="en-US" b="1" dirty="0"/>
              <a:t>Session Management</a:t>
            </a:r>
            <a:r>
              <a:rPr lang="en-US" dirty="0"/>
              <a:t>: Cookies help manage user sessions, allowing users to stay logged in across multiple pages or visits.</a:t>
            </a:r>
          </a:p>
          <a:p>
            <a:r>
              <a:rPr lang="en-US" b="1" dirty="0"/>
              <a:t>Tracking</a:t>
            </a:r>
            <a:r>
              <a:rPr lang="en-US" dirty="0"/>
              <a:t>: They enable tracking of user behavior and activities on websites for analytics and advertising purposes.</a:t>
            </a:r>
          </a:p>
          <a:p>
            <a:r>
              <a:rPr lang="en-US" b="1" dirty="0"/>
              <a:t>Personalization</a:t>
            </a:r>
            <a:r>
              <a:rPr lang="en-US" dirty="0"/>
              <a:t>: Cookies are often used to personalize content and tailor the browsing experience to individual users.</a:t>
            </a:r>
          </a:p>
          <a:p>
            <a:r>
              <a:rPr lang="en-US" b="1" dirty="0"/>
              <a:t>Stored in Browser</a:t>
            </a:r>
            <a:r>
              <a:rPr lang="en-US" dirty="0"/>
              <a:t>: Cookies are stored in the user's web browser and can be accessed by the website that created them during subsequent visits.</a:t>
            </a:r>
          </a:p>
          <a:p>
            <a:r>
              <a:rPr lang="en-US" b="1" dirty="0"/>
              <a:t>Privacy Concerns</a:t>
            </a:r>
            <a:r>
              <a:rPr lang="en-US" dirty="0"/>
              <a:t>: While useful, cookies raise privacy concerns due to their ability to track user activities across different websites.</a:t>
            </a:r>
          </a:p>
          <a:p>
            <a:endParaRPr lang="en-US" dirty="0" smtClean="0"/>
          </a:p>
        </p:txBody>
      </p:sp>
    </p:spTree>
    <p:extLst>
      <p:ext uri="{BB962C8B-B14F-4D97-AF65-F5344CB8AC3E}">
        <p14:creationId xmlns:p14="http://schemas.microsoft.com/office/powerpoint/2010/main" val="3395339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r>
              <a:rPr lang="en-US" dirty="0"/>
              <a:t> </a:t>
            </a:r>
            <a:r>
              <a:rPr lang="en-US" dirty="0" smtClean="0"/>
              <a:t>Operations</a:t>
            </a:r>
            <a:endParaRPr lang="en-US" dirty="0"/>
          </a:p>
        </p:txBody>
      </p:sp>
      <p:sp>
        <p:nvSpPr>
          <p:cNvPr id="3" name="Content Placeholder 2"/>
          <p:cNvSpPr>
            <a:spLocks noGrp="1"/>
          </p:cNvSpPr>
          <p:nvPr>
            <p:ph idx="1"/>
          </p:nvPr>
        </p:nvSpPr>
        <p:spPr>
          <a:xfrm>
            <a:off x="1497724" y="640445"/>
            <a:ext cx="10694276" cy="5981072"/>
          </a:xfrm>
        </p:spPr>
        <p:txBody>
          <a:bodyPr/>
          <a:lstStyle/>
          <a:p>
            <a:r>
              <a:rPr lang="en-US" b="1" dirty="0"/>
              <a:t>XSL (Extensible Stylesheet Language)</a:t>
            </a:r>
          </a:p>
          <a:p>
            <a:r>
              <a:rPr lang="en-US" dirty="0"/>
              <a:t>facilitate communication and data exchange between different applications over the internet</a:t>
            </a:r>
            <a:r>
              <a:rPr lang="en-US" dirty="0" smtClean="0"/>
              <a:t>.</a:t>
            </a:r>
          </a:p>
          <a:p>
            <a:r>
              <a:rPr lang="en-US" dirty="0"/>
              <a:t>They perform operations such as</a:t>
            </a:r>
            <a:r>
              <a:rPr lang="en-US" dirty="0" smtClean="0"/>
              <a:t>:</a:t>
            </a:r>
          </a:p>
          <a:p>
            <a:r>
              <a:rPr lang="en-US" b="1" dirty="0"/>
              <a:t>Data Retrieval (GET):</a:t>
            </a:r>
            <a:r>
              <a:rPr lang="en-US" dirty="0"/>
              <a:t> Fetching data from a server </a:t>
            </a:r>
            <a:endParaRPr lang="en-US" dirty="0" smtClean="0"/>
          </a:p>
          <a:p>
            <a:r>
              <a:rPr lang="en-US" b="1" dirty="0"/>
              <a:t>Data Submission (POST):</a:t>
            </a:r>
            <a:r>
              <a:rPr lang="en-US" dirty="0"/>
              <a:t> Sending data to a </a:t>
            </a:r>
            <a:r>
              <a:rPr lang="en-US" dirty="0" smtClean="0"/>
              <a:t>server</a:t>
            </a:r>
          </a:p>
          <a:p>
            <a:r>
              <a:rPr lang="en-US" b="1" dirty="0"/>
              <a:t>Data Modification (PUT/PATCH):</a:t>
            </a:r>
            <a:r>
              <a:rPr lang="en-US" dirty="0"/>
              <a:t> Updating existing data on the </a:t>
            </a:r>
            <a:r>
              <a:rPr lang="en-US" dirty="0" smtClean="0"/>
              <a:t>server.</a:t>
            </a:r>
          </a:p>
          <a:p>
            <a:r>
              <a:rPr lang="en-US" b="1" dirty="0"/>
              <a:t>Data Deletion (DELETE):</a:t>
            </a:r>
            <a:r>
              <a:rPr lang="en-US" dirty="0"/>
              <a:t> Removing data from the </a:t>
            </a:r>
            <a:r>
              <a:rPr lang="en-US" dirty="0" smtClean="0"/>
              <a:t>server.</a:t>
            </a:r>
          </a:p>
          <a:p>
            <a:r>
              <a:rPr lang="en-US" b="1" dirty="0"/>
              <a:t>Authentication and Authorization:</a:t>
            </a:r>
            <a:r>
              <a:rPr lang="en-US" dirty="0"/>
              <a:t> Controlling access to </a:t>
            </a:r>
            <a:r>
              <a:rPr lang="en-US" dirty="0" smtClean="0"/>
              <a:t>resources.</a:t>
            </a:r>
          </a:p>
          <a:p>
            <a:r>
              <a:rPr lang="en-US" b="1" dirty="0"/>
              <a:t>Data Filtering and Sorting:</a:t>
            </a:r>
            <a:r>
              <a:rPr lang="en-US" dirty="0"/>
              <a:t> Refining data based on specific </a:t>
            </a:r>
            <a:r>
              <a:rPr lang="en-US" dirty="0" smtClean="0"/>
              <a:t>criteria.</a:t>
            </a:r>
          </a:p>
          <a:p>
            <a:r>
              <a:rPr lang="en-US" b="1" dirty="0"/>
              <a:t>Error Handling:</a:t>
            </a:r>
            <a:r>
              <a:rPr lang="en-US" dirty="0"/>
              <a:t> Managing errors gracefully for better user experience (e.g., displaying meaningful error messages).</a:t>
            </a:r>
            <a:endParaRPr lang="en-US" dirty="0" smtClean="0"/>
          </a:p>
        </p:txBody>
      </p:sp>
      <p:pic>
        <p:nvPicPr>
          <p:cNvPr id="4" name="Picture 3"/>
          <p:cNvPicPr>
            <a:picLocks noChangeAspect="1"/>
          </p:cNvPicPr>
          <p:nvPr/>
        </p:nvPicPr>
        <p:blipFill>
          <a:blip r:embed="rId2"/>
          <a:stretch>
            <a:fillRect/>
          </a:stretch>
        </p:blipFill>
        <p:spPr>
          <a:xfrm>
            <a:off x="-161925" y="-428625"/>
            <a:ext cx="12515850" cy="7715250"/>
          </a:xfrm>
          <a:prstGeom prst="rect">
            <a:avLst/>
          </a:prstGeom>
        </p:spPr>
      </p:pic>
    </p:spTree>
    <p:extLst>
      <p:ext uri="{BB962C8B-B14F-4D97-AF65-F5344CB8AC3E}">
        <p14:creationId xmlns:p14="http://schemas.microsoft.com/office/powerpoint/2010/main" val="2975341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10230919" cy="1280890"/>
          </a:xfrm>
        </p:spPr>
        <p:txBody>
          <a:bodyPr>
            <a:normAutofit fontScale="90000"/>
          </a:bodyPr>
          <a:lstStyle/>
          <a:p>
            <a:r>
              <a:rPr lang="en-US" b="1" dirty="0" smtClean="0"/>
              <a:t>8. Web Services :</a:t>
            </a:r>
            <a:r>
              <a:rPr lang="en-US" dirty="0"/>
              <a:t> </a:t>
            </a:r>
            <a:r>
              <a:rPr lang="en-US" dirty="0" smtClean="0"/>
              <a:t>Privacy </a:t>
            </a:r>
            <a:r>
              <a:rPr lang="en-US" dirty="0"/>
              <a:t>and P3P 	</a:t>
            </a:r>
            <a:br>
              <a:rPr lang="en-US" dirty="0"/>
            </a:br>
            <a:r>
              <a:rPr lang="en-US" b="1" dirty="0"/>
              <a:t>Privacy</a:t>
            </a:r>
            <a:r>
              <a:rPr lang="en-US" dirty="0"/>
              <a:t> and </a:t>
            </a:r>
            <a:r>
              <a:rPr lang="en-US" b="1" dirty="0"/>
              <a:t>Platform</a:t>
            </a:r>
            <a:r>
              <a:rPr lang="en-US" dirty="0"/>
              <a:t> for </a:t>
            </a:r>
            <a:r>
              <a:rPr lang="en-US" b="1" dirty="0"/>
              <a:t>Privacy</a:t>
            </a:r>
            <a:r>
              <a:rPr lang="en-US" dirty="0"/>
              <a:t> </a:t>
            </a:r>
            <a:r>
              <a:rPr lang="en-US" b="1" dirty="0"/>
              <a:t>Preferences</a:t>
            </a:r>
            <a:r>
              <a:rPr lang="en-US" dirty="0"/>
              <a:t> (P3P)</a:t>
            </a:r>
            <a:endParaRPr lang="en-US" dirty="0"/>
          </a:p>
        </p:txBody>
      </p:sp>
      <p:sp>
        <p:nvSpPr>
          <p:cNvPr id="3" name="Content Placeholder 2"/>
          <p:cNvSpPr>
            <a:spLocks noGrp="1"/>
          </p:cNvSpPr>
          <p:nvPr>
            <p:ph idx="1"/>
          </p:nvPr>
        </p:nvSpPr>
        <p:spPr>
          <a:xfrm>
            <a:off x="1284781" y="1191591"/>
            <a:ext cx="10694276" cy="4733221"/>
          </a:xfrm>
        </p:spPr>
        <p:txBody>
          <a:bodyPr/>
          <a:lstStyle/>
          <a:p>
            <a:r>
              <a:rPr lang="en-US" b="1" dirty="0"/>
              <a:t>Privacy</a:t>
            </a:r>
            <a:r>
              <a:rPr lang="en-US" dirty="0"/>
              <a:t>:</a:t>
            </a:r>
          </a:p>
          <a:p>
            <a:r>
              <a:rPr lang="en-US" b="1" dirty="0" smtClean="0"/>
              <a:t>Protection</a:t>
            </a:r>
            <a:r>
              <a:rPr lang="en-US" dirty="0" smtClean="0"/>
              <a:t> </a:t>
            </a:r>
            <a:r>
              <a:rPr lang="en-US" dirty="0"/>
              <a:t>of users' personal information and </a:t>
            </a:r>
            <a:r>
              <a:rPr lang="en-US" b="1" dirty="0"/>
              <a:t>the control </a:t>
            </a:r>
            <a:r>
              <a:rPr lang="en-US" dirty="0"/>
              <a:t>they have over how their data is collected, used, and shared by websites and online services.</a:t>
            </a:r>
          </a:p>
          <a:p>
            <a:r>
              <a:rPr lang="en-US" b="1" dirty="0"/>
              <a:t>Usage</a:t>
            </a:r>
            <a:r>
              <a:rPr lang="en-US" dirty="0"/>
              <a:t>: Websites implement privacy measures such as </a:t>
            </a:r>
            <a:r>
              <a:rPr lang="en-US" b="1" dirty="0"/>
              <a:t>data encryption, secure login systems</a:t>
            </a:r>
            <a:r>
              <a:rPr lang="en-US" dirty="0"/>
              <a:t>, and </a:t>
            </a:r>
            <a:r>
              <a:rPr lang="en-US" b="1" dirty="0"/>
              <a:t>privacy policies </a:t>
            </a:r>
            <a:r>
              <a:rPr lang="en-US" dirty="0"/>
              <a:t>to safeguard users' personal information.</a:t>
            </a:r>
          </a:p>
          <a:p>
            <a:r>
              <a:rPr lang="en-US" b="1" dirty="0"/>
              <a:t>Examples</a:t>
            </a:r>
            <a:r>
              <a:rPr lang="en-US" dirty="0"/>
              <a:t>: </a:t>
            </a:r>
            <a:r>
              <a:rPr lang="en-US" b="1" dirty="0"/>
              <a:t>User consent prompts for cookies</a:t>
            </a:r>
            <a:r>
              <a:rPr lang="en-US" dirty="0"/>
              <a:t>, opt-out mechanisms for data collection, </a:t>
            </a:r>
            <a:r>
              <a:rPr lang="en-US" b="1" dirty="0"/>
              <a:t>secure payment </a:t>
            </a:r>
            <a:r>
              <a:rPr lang="en-US" dirty="0"/>
              <a:t>gateways for financial transactions, and privacy policies outlining how user data is handled by the website.</a:t>
            </a:r>
          </a:p>
          <a:p>
            <a:endParaRPr lang="en-US" dirty="0" smtClean="0"/>
          </a:p>
        </p:txBody>
      </p:sp>
    </p:spTree>
    <p:extLst>
      <p:ext uri="{BB962C8B-B14F-4D97-AF65-F5344CB8AC3E}">
        <p14:creationId xmlns:p14="http://schemas.microsoft.com/office/powerpoint/2010/main" val="1911769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10230919" cy="1280890"/>
          </a:xfrm>
        </p:spPr>
        <p:txBody>
          <a:bodyPr>
            <a:normAutofit fontScale="90000"/>
          </a:bodyPr>
          <a:lstStyle/>
          <a:p>
            <a:r>
              <a:rPr lang="en-US" b="1" dirty="0" smtClean="0"/>
              <a:t>8. Web Services :</a:t>
            </a:r>
            <a:r>
              <a:rPr lang="en-US" dirty="0"/>
              <a:t> </a:t>
            </a:r>
            <a:r>
              <a:rPr lang="en-US" dirty="0" smtClean="0"/>
              <a:t>Privacy </a:t>
            </a:r>
            <a:r>
              <a:rPr lang="en-US" dirty="0"/>
              <a:t>and P3P 	</a:t>
            </a:r>
            <a:br>
              <a:rPr lang="en-US" dirty="0"/>
            </a:br>
            <a:r>
              <a:rPr lang="en-US" b="1" dirty="0"/>
              <a:t>Privacy</a:t>
            </a:r>
            <a:r>
              <a:rPr lang="en-US" dirty="0"/>
              <a:t> and </a:t>
            </a:r>
            <a:r>
              <a:rPr lang="en-US" b="1" dirty="0"/>
              <a:t>Platform</a:t>
            </a:r>
            <a:r>
              <a:rPr lang="en-US" dirty="0"/>
              <a:t> for </a:t>
            </a:r>
            <a:r>
              <a:rPr lang="en-US" b="1" dirty="0"/>
              <a:t>Privacy</a:t>
            </a:r>
            <a:r>
              <a:rPr lang="en-US" dirty="0"/>
              <a:t> </a:t>
            </a:r>
            <a:r>
              <a:rPr lang="en-US" b="1" dirty="0"/>
              <a:t>Preferences</a:t>
            </a:r>
            <a:r>
              <a:rPr lang="en-US" dirty="0"/>
              <a:t> (P3P)</a:t>
            </a:r>
            <a:endParaRPr lang="en-US" dirty="0"/>
          </a:p>
        </p:txBody>
      </p:sp>
      <p:sp>
        <p:nvSpPr>
          <p:cNvPr id="3" name="Content Placeholder 2"/>
          <p:cNvSpPr>
            <a:spLocks noGrp="1"/>
          </p:cNvSpPr>
          <p:nvPr>
            <p:ph idx="1"/>
          </p:nvPr>
        </p:nvSpPr>
        <p:spPr>
          <a:xfrm>
            <a:off x="1284781" y="1191591"/>
            <a:ext cx="10694276" cy="4319861"/>
          </a:xfrm>
        </p:spPr>
        <p:txBody>
          <a:bodyPr>
            <a:normAutofit/>
          </a:bodyPr>
          <a:lstStyle/>
          <a:p>
            <a:r>
              <a:rPr lang="en-US" b="1" dirty="0" smtClean="0"/>
              <a:t>Platform </a:t>
            </a:r>
            <a:r>
              <a:rPr lang="en-US" b="1" dirty="0"/>
              <a:t>for Privacy Preferences (P3P</a:t>
            </a:r>
            <a:r>
              <a:rPr lang="en-US" b="1" dirty="0" smtClean="0"/>
              <a:t>)</a:t>
            </a:r>
            <a:r>
              <a:rPr lang="en-US" dirty="0" smtClean="0"/>
              <a:t>:</a:t>
            </a:r>
            <a:endParaRPr lang="en-US" b="1" dirty="0" smtClean="0"/>
          </a:p>
          <a:p>
            <a:r>
              <a:rPr lang="en-US" dirty="0"/>
              <a:t>A</a:t>
            </a:r>
            <a:r>
              <a:rPr lang="en-US" dirty="0" smtClean="0"/>
              <a:t> </a:t>
            </a:r>
            <a:r>
              <a:rPr lang="en-US" dirty="0"/>
              <a:t>protocol developed by the World Wide Web Consortium (W3C) that allows websites to declare their privacy policies in a machine-readable format, enabling web browsers to automatically interpret and enforce those policies.</a:t>
            </a:r>
          </a:p>
          <a:p>
            <a:r>
              <a:rPr lang="en-US" b="1" dirty="0"/>
              <a:t>Usage</a:t>
            </a:r>
            <a:r>
              <a:rPr lang="en-US" dirty="0"/>
              <a:t>: Websites publish P3P policies in the form of compact privacy statements embedded in HTTP headers or linked from web pages. Web browsers then use these policies to inform users about the website's data collection and usage practices, helping users make informed decisions about sharing their personal information.</a:t>
            </a:r>
          </a:p>
          <a:p>
            <a:r>
              <a:rPr lang="en-US" b="1" dirty="0"/>
              <a:t>Examples</a:t>
            </a:r>
            <a:r>
              <a:rPr lang="en-US" dirty="0"/>
              <a:t>: A website might use P3P to declare its policy on cookies, stating whether they are used for tracking, authentication, or personalization. When a user visits the website, their browser can automatically check the site's P3P policy and notify the user if it matches their privacy preferences or if there are potential privacy risks.</a:t>
            </a:r>
          </a:p>
          <a:p>
            <a:endParaRPr lang="en-US" dirty="0" smtClean="0"/>
          </a:p>
        </p:txBody>
      </p:sp>
    </p:spTree>
    <p:extLst>
      <p:ext uri="{BB962C8B-B14F-4D97-AF65-F5344CB8AC3E}">
        <p14:creationId xmlns:p14="http://schemas.microsoft.com/office/powerpoint/2010/main" val="251451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10230919" cy="1280890"/>
          </a:xfrm>
        </p:spPr>
        <p:txBody>
          <a:bodyPr>
            <a:normAutofit fontScale="90000"/>
          </a:bodyPr>
          <a:lstStyle/>
          <a:p>
            <a:r>
              <a:rPr lang="en-US" b="1" dirty="0" smtClean="0"/>
              <a:t>8. Web Services :</a:t>
            </a:r>
            <a:r>
              <a:rPr lang="en-US" dirty="0"/>
              <a:t> </a:t>
            </a:r>
            <a:r>
              <a:rPr lang="en-US" dirty="0" smtClean="0"/>
              <a:t>Privacy </a:t>
            </a:r>
            <a:r>
              <a:rPr lang="en-US" dirty="0"/>
              <a:t>and P3P 	</a:t>
            </a:r>
            <a:br>
              <a:rPr lang="en-US" dirty="0"/>
            </a:br>
            <a:r>
              <a:rPr lang="en-US" b="1" dirty="0"/>
              <a:t>Privacy</a:t>
            </a:r>
            <a:r>
              <a:rPr lang="en-US" dirty="0"/>
              <a:t> and </a:t>
            </a:r>
            <a:r>
              <a:rPr lang="en-US" b="1" dirty="0"/>
              <a:t>Platform</a:t>
            </a:r>
            <a:r>
              <a:rPr lang="en-US" dirty="0"/>
              <a:t> for </a:t>
            </a:r>
            <a:r>
              <a:rPr lang="en-US" b="1" dirty="0"/>
              <a:t>Privacy</a:t>
            </a:r>
            <a:r>
              <a:rPr lang="en-US" dirty="0"/>
              <a:t> </a:t>
            </a:r>
            <a:r>
              <a:rPr lang="en-US" b="1" dirty="0"/>
              <a:t>Preferences</a:t>
            </a:r>
            <a:r>
              <a:rPr lang="en-US" dirty="0"/>
              <a:t> (P3P)</a:t>
            </a:r>
            <a:endParaRPr lang="en-US" dirty="0"/>
          </a:p>
        </p:txBody>
      </p:sp>
      <p:pic>
        <p:nvPicPr>
          <p:cNvPr id="4" name="Picture 3"/>
          <p:cNvPicPr>
            <a:picLocks noChangeAspect="1"/>
          </p:cNvPicPr>
          <p:nvPr/>
        </p:nvPicPr>
        <p:blipFill>
          <a:blip r:embed="rId2"/>
          <a:stretch>
            <a:fillRect/>
          </a:stretch>
        </p:blipFill>
        <p:spPr>
          <a:xfrm>
            <a:off x="2232545" y="1164528"/>
            <a:ext cx="8530705" cy="5261323"/>
          </a:xfrm>
          <a:prstGeom prst="rect">
            <a:avLst/>
          </a:prstGeom>
        </p:spPr>
      </p:pic>
    </p:spTree>
    <p:extLst>
      <p:ext uri="{BB962C8B-B14F-4D97-AF65-F5344CB8AC3E}">
        <p14:creationId xmlns:p14="http://schemas.microsoft.com/office/powerpoint/2010/main" val="657418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10230919" cy="1280890"/>
          </a:xfrm>
        </p:spPr>
        <p:txBody>
          <a:bodyPr>
            <a:normAutofit/>
          </a:bodyPr>
          <a:lstStyle/>
          <a:p>
            <a:r>
              <a:rPr lang="en-US" b="1" dirty="0" smtClean="0"/>
              <a:t>8. Web Services :</a:t>
            </a:r>
            <a:r>
              <a:rPr lang="en-US" dirty="0" smtClean="0"/>
              <a:t> </a:t>
            </a:r>
            <a:r>
              <a:rPr lang="en-US" b="1" dirty="0" smtClean="0"/>
              <a:t>Complex HTTP Interactions</a:t>
            </a:r>
            <a:endParaRPr lang="en-US" dirty="0"/>
          </a:p>
        </p:txBody>
      </p:sp>
      <p:sp>
        <p:nvSpPr>
          <p:cNvPr id="3" name="Content Placeholder 2"/>
          <p:cNvSpPr>
            <a:spLocks noGrp="1"/>
          </p:cNvSpPr>
          <p:nvPr>
            <p:ph idx="1"/>
          </p:nvPr>
        </p:nvSpPr>
        <p:spPr>
          <a:xfrm>
            <a:off x="1284781" y="1191591"/>
            <a:ext cx="10694276" cy="5422151"/>
          </a:xfrm>
        </p:spPr>
        <p:txBody>
          <a:bodyPr>
            <a:normAutofit/>
          </a:bodyPr>
          <a:lstStyle/>
          <a:p>
            <a:r>
              <a:rPr lang="en-US" dirty="0"/>
              <a:t>S</a:t>
            </a:r>
            <a:r>
              <a:rPr lang="en-US" dirty="0" smtClean="0"/>
              <a:t>ophisticated </a:t>
            </a:r>
            <a:r>
              <a:rPr lang="en-US" dirty="0"/>
              <a:t>exchanges of data and requests between clients and servers using the HTTP protocol, often involving multiple steps, dependencies, and conditions</a:t>
            </a:r>
            <a:r>
              <a:rPr lang="en-US" dirty="0" smtClean="0"/>
              <a:t>.</a:t>
            </a:r>
          </a:p>
          <a:p>
            <a:r>
              <a:rPr lang="en-US" dirty="0" smtClean="0"/>
              <a:t>Scenarios:</a:t>
            </a:r>
          </a:p>
          <a:p>
            <a:pPr lvl="1"/>
            <a:r>
              <a:rPr lang="en-US" dirty="0"/>
              <a:t>Web applications requiring dynamic content, authentication, and data manipulation.</a:t>
            </a:r>
          </a:p>
          <a:p>
            <a:pPr lvl="1"/>
            <a:r>
              <a:rPr lang="en-US" dirty="0"/>
              <a:t>API integrations with third-party services </a:t>
            </a:r>
            <a:r>
              <a:rPr lang="en-US" dirty="0"/>
              <a:t> </a:t>
            </a:r>
            <a:r>
              <a:rPr lang="en-US" dirty="0" smtClean="0"/>
              <a:t>micro-services architectures</a:t>
            </a:r>
            <a:r>
              <a:rPr lang="en-US" dirty="0"/>
              <a:t>.</a:t>
            </a:r>
          </a:p>
          <a:p>
            <a:pPr lvl="1"/>
            <a:r>
              <a:rPr lang="en-US" dirty="0"/>
              <a:t>Real-time communication implementations</a:t>
            </a:r>
            <a:r>
              <a:rPr lang="en-US" dirty="0" smtClean="0"/>
              <a:t>.</a:t>
            </a:r>
            <a:endParaRPr lang="en-US" dirty="0"/>
          </a:p>
          <a:p>
            <a:r>
              <a:rPr lang="en-US" dirty="0" smtClean="0"/>
              <a:t>Example: in </a:t>
            </a:r>
            <a:r>
              <a:rPr lang="en-US" dirty="0"/>
              <a:t>an e-commerce platform</a:t>
            </a:r>
            <a:r>
              <a:rPr lang="en-US" dirty="0" smtClean="0"/>
              <a:t>:</a:t>
            </a:r>
            <a:endParaRPr lang="en-US" dirty="0"/>
          </a:p>
          <a:p>
            <a:pPr lvl="1"/>
            <a:r>
              <a:rPr lang="en-US" dirty="0"/>
              <a:t>A user adds items to their shopping cart, triggering HTTP requests to update the cart's contents.</a:t>
            </a:r>
          </a:p>
          <a:p>
            <a:pPr lvl="1"/>
            <a:r>
              <a:rPr lang="en-US" dirty="0"/>
              <a:t>Upon checkout, the platform communicates with payment gateways via HTTP to process transactions securely.</a:t>
            </a:r>
          </a:p>
          <a:p>
            <a:pPr lvl="1"/>
            <a:r>
              <a:rPr lang="en-US" dirty="0"/>
              <a:t>Additionally, HTTP interactions manage inventory updates, order tracking, and confirmation emails, often involving authentication, authorization, and error handling mechanisms.</a:t>
            </a:r>
            <a:endParaRPr lang="en-US" dirty="0" smtClean="0"/>
          </a:p>
        </p:txBody>
      </p:sp>
    </p:spTree>
    <p:extLst>
      <p:ext uri="{BB962C8B-B14F-4D97-AF65-F5344CB8AC3E}">
        <p14:creationId xmlns:p14="http://schemas.microsoft.com/office/powerpoint/2010/main" val="3087058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10230919" cy="1280890"/>
          </a:xfrm>
        </p:spPr>
        <p:txBody>
          <a:bodyPr>
            <a:normAutofit/>
          </a:bodyPr>
          <a:lstStyle/>
          <a:p>
            <a:r>
              <a:rPr lang="en-US" b="1" dirty="0" smtClean="0"/>
              <a:t>8. Web Services :</a:t>
            </a:r>
            <a:r>
              <a:rPr lang="en-US" dirty="0" smtClean="0"/>
              <a:t> </a:t>
            </a:r>
            <a:r>
              <a:rPr lang="en-US" b="1" dirty="0" smtClean="0"/>
              <a:t>Dynamic Content Delivery</a:t>
            </a:r>
            <a:endParaRPr lang="en-US" dirty="0"/>
          </a:p>
        </p:txBody>
      </p:sp>
      <p:sp>
        <p:nvSpPr>
          <p:cNvPr id="3" name="Content Placeholder 2"/>
          <p:cNvSpPr>
            <a:spLocks noGrp="1"/>
          </p:cNvSpPr>
          <p:nvPr>
            <p:ph idx="1"/>
          </p:nvPr>
        </p:nvSpPr>
        <p:spPr>
          <a:xfrm>
            <a:off x="1284781" y="1191591"/>
            <a:ext cx="10694276" cy="5422151"/>
          </a:xfrm>
        </p:spPr>
        <p:txBody>
          <a:bodyPr>
            <a:normAutofit/>
          </a:bodyPr>
          <a:lstStyle/>
          <a:p>
            <a:r>
              <a:rPr lang="en-US" dirty="0"/>
              <a:t>serving customized and interactive web content to users based on various factors such as user preferences, device type, location, and real-time data. </a:t>
            </a:r>
            <a:endParaRPr lang="en-US" dirty="0" smtClean="0"/>
          </a:p>
          <a:p>
            <a:r>
              <a:rPr lang="en-US" dirty="0" smtClean="0"/>
              <a:t>This </a:t>
            </a:r>
            <a:r>
              <a:rPr lang="en-US" dirty="0"/>
              <a:t>content is generated dynamically on the server-side or client-side in response to user requests, providing a personalized and engaging browsing </a:t>
            </a:r>
            <a:r>
              <a:rPr lang="en-US" dirty="0" smtClean="0"/>
              <a:t>experience.</a:t>
            </a:r>
          </a:p>
          <a:p>
            <a:r>
              <a:rPr lang="en-US" b="1" dirty="0" smtClean="0"/>
              <a:t>Usage Areas:</a:t>
            </a:r>
          </a:p>
          <a:p>
            <a:pPr lvl="1"/>
            <a:r>
              <a:rPr lang="en-US" b="1" dirty="0"/>
              <a:t>E-commerce websites </a:t>
            </a:r>
            <a:r>
              <a:rPr lang="en-US" dirty="0"/>
              <a:t>that display personalized product recommendations, promotions, and user-specific pricing.</a:t>
            </a:r>
          </a:p>
          <a:p>
            <a:pPr lvl="1"/>
            <a:r>
              <a:rPr lang="en-US" b="1" dirty="0"/>
              <a:t>Social media platforms </a:t>
            </a:r>
            <a:r>
              <a:rPr lang="en-US" dirty="0"/>
              <a:t>that dynamically update news feeds, notifications, and user-generated content based on interests and interactions.</a:t>
            </a:r>
          </a:p>
          <a:p>
            <a:pPr lvl="1"/>
            <a:r>
              <a:rPr lang="en-US" b="1" dirty="0"/>
              <a:t>Streaming services </a:t>
            </a:r>
            <a:r>
              <a:rPr lang="en-US" dirty="0"/>
              <a:t>that deliver personalized recommendations, playlists, and content recommendations based on viewing history and preferences.</a:t>
            </a:r>
          </a:p>
          <a:p>
            <a:pPr lvl="1"/>
            <a:r>
              <a:rPr lang="en-US" b="1" dirty="0"/>
              <a:t>Real-time</a:t>
            </a:r>
            <a:r>
              <a:rPr lang="en-US" dirty="0"/>
              <a:t> collaborative applications such as document editing tools, online gaming platforms, and messaging apps that synchronize content across multiple users in real-time.</a:t>
            </a:r>
            <a:endParaRPr lang="en-US" dirty="0" smtClean="0"/>
          </a:p>
        </p:txBody>
      </p:sp>
    </p:spTree>
    <p:extLst>
      <p:ext uri="{BB962C8B-B14F-4D97-AF65-F5344CB8AC3E}">
        <p14:creationId xmlns:p14="http://schemas.microsoft.com/office/powerpoint/2010/main" val="905412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10230919" cy="1280890"/>
          </a:xfrm>
        </p:spPr>
        <p:txBody>
          <a:bodyPr>
            <a:normAutofit/>
          </a:bodyPr>
          <a:lstStyle/>
          <a:p>
            <a:r>
              <a:rPr lang="en-US" b="1" dirty="0" smtClean="0"/>
              <a:t>8. Web Services :</a:t>
            </a:r>
            <a:r>
              <a:rPr lang="en-US" dirty="0" smtClean="0"/>
              <a:t> </a:t>
            </a:r>
            <a:r>
              <a:rPr lang="en-US" b="1" dirty="0" smtClean="0"/>
              <a:t>Dynamic Content Delivery</a:t>
            </a:r>
            <a:endParaRPr lang="en-US" dirty="0"/>
          </a:p>
        </p:txBody>
      </p:sp>
      <p:sp>
        <p:nvSpPr>
          <p:cNvPr id="3" name="Content Placeholder 2"/>
          <p:cNvSpPr>
            <a:spLocks noGrp="1"/>
          </p:cNvSpPr>
          <p:nvPr>
            <p:ph idx="1"/>
          </p:nvPr>
        </p:nvSpPr>
        <p:spPr>
          <a:xfrm>
            <a:off x="1259729" y="1415441"/>
            <a:ext cx="10694276" cy="4860099"/>
          </a:xfrm>
        </p:spPr>
        <p:txBody>
          <a:bodyPr>
            <a:normAutofit/>
          </a:bodyPr>
          <a:lstStyle/>
          <a:p>
            <a:r>
              <a:rPr lang="en-US" b="1" dirty="0"/>
              <a:t>Example</a:t>
            </a:r>
            <a:r>
              <a:rPr lang="en-US" dirty="0"/>
              <a:t>: An example of dynamic content delivery is seen in </a:t>
            </a:r>
            <a:r>
              <a:rPr lang="en-US" dirty="0" smtClean="0"/>
              <a:t>different websites:</a:t>
            </a:r>
            <a:endParaRPr lang="en-US" dirty="0"/>
          </a:p>
          <a:p>
            <a:r>
              <a:rPr lang="en-US" dirty="0"/>
              <a:t>Upon visiting the website, the server generates personalized recommendations based on the user's browsing history and preferences.</a:t>
            </a:r>
          </a:p>
          <a:p>
            <a:r>
              <a:rPr lang="en-US" dirty="0"/>
              <a:t>As the user scrolls through the page, additional content is dynamically loaded via AJAX requests, ensuring a seamless browsing experience without page refreshes.</a:t>
            </a:r>
          </a:p>
          <a:p>
            <a:r>
              <a:rPr lang="en-US" dirty="0"/>
              <a:t>Interactive elements such as polls, quizzes, and comment sections allow users to actively engage with the content and provide feedback.</a:t>
            </a:r>
          </a:p>
          <a:p>
            <a:r>
              <a:rPr lang="en-US" dirty="0"/>
              <a:t>The website may also incorporate geolocation data to deliver localized news and events relevant to the user's location.</a:t>
            </a:r>
          </a:p>
          <a:p>
            <a:endParaRPr lang="en-US" dirty="0" smtClean="0"/>
          </a:p>
        </p:txBody>
      </p:sp>
    </p:spTree>
    <p:extLst>
      <p:ext uri="{BB962C8B-B14F-4D97-AF65-F5344CB8AC3E}">
        <p14:creationId xmlns:p14="http://schemas.microsoft.com/office/powerpoint/2010/main" val="15385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10230919" cy="1280890"/>
          </a:xfrm>
        </p:spPr>
        <p:txBody>
          <a:bodyPr>
            <a:normAutofit fontScale="90000"/>
          </a:bodyPr>
          <a:lstStyle/>
          <a:p>
            <a:r>
              <a:rPr lang="en-US" b="1" dirty="0" smtClean="0"/>
              <a:t>8. Web Services :</a:t>
            </a:r>
            <a:r>
              <a:rPr lang="en-US" dirty="0" smtClean="0"/>
              <a:t> </a:t>
            </a:r>
            <a:br>
              <a:rPr lang="en-US" dirty="0" smtClean="0"/>
            </a:br>
            <a:r>
              <a:rPr lang="en-US" dirty="0" smtClean="0"/>
              <a:t>Server Configuration &amp; Server </a:t>
            </a:r>
            <a:r>
              <a:rPr lang="en-US" dirty="0"/>
              <a:t>Security 	</a:t>
            </a:r>
            <a:br>
              <a:rPr lang="en-US" dirty="0"/>
            </a:br>
            <a:endParaRPr lang="en-US" dirty="0"/>
          </a:p>
        </p:txBody>
      </p:sp>
      <p:sp>
        <p:nvSpPr>
          <p:cNvPr id="3" name="Content Placeholder 2"/>
          <p:cNvSpPr>
            <a:spLocks noGrp="1"/>
          </p:cNvSpPr>
          <p:nvPr>
            <p:ph idx="1"/>
          </p:nvPr>
        </p:nvSpPr>
        <p:spPr>
          <a:xfrm>
            <a:off x="1259729" y="1089765"/>
            <a:ext cx="10694276" cy="5624186"/>
          </a:xfrm>
        </p:spPr>
        <p:txBody>
          <a:bodyPr>
            <a:normAutofit/>
          </a:bodyPr>
          <a:lstStyle/>
          <a:p>
            <a:r>
              <a:rPr lang="en-US" b="1" dirty="0"/>
              <a:t>Server </a:t>
            </a:r>
            <a:r>
              <a:rPr lang="en-US" b="1" dirty="0" smtClean="0"/>
              <a:t>configuration: </a:t>
            </a:r>
            <a:r>
              <a:rPr lang="en-US" dirty="0"/>
              <a:t>T</a:t>
            </a:r>
            <a:r>
              <a:rPr lang="en-US" dirty="0" smtClean="0"/>
              <a:t>he </a:t>
            </a:r>
            <a:r>
              <a:rPr lang="en-US" dirty="0"/>
              <a:t>setup and optimization of server software and settings to ensure efficient performance, scalability, and reliability</a:t>
            </a:r>
            <a:r>
              <a:rPr lang="en-US" dirty="0" smtClean="0"/>
              <a:t>.</a:t>
            </a:r>
          </a:p>
          <a:p>
            <a:r>
              <a:rPr lang="en-US" b="1" dirty="0" smtClean="0"/>
              <a:t>Example</a:t>
            </a:r>
            <a:r>
              <a:rPr lang="en-US" dirty="0" smtClean="0"/>
              <a:t>: Setting </a:t>
            </a:r>
            <a:r>
              <a:rPr lang="en-US" dirty="0"/>
              <a:t>up load balancing and clustering to distribute incoming traffic across multiple servers for improved reliability and scalability.</a:t>
            </a:r>
          </a:p>
          <a:p>
            <a:r>
              <a:rPr lang="en-US" dirty="0"/>
              <a:t>Configuring caching mechanisms </a:t>
            </a:r>
            <a:r>
              <a:rPr lang="en-US" dirty="0" smtClean="0"/>
              <a:t>to </a:t>
            </a:r>
            <a:r>
              <a:rPr lang="en-US" dirty="0"/>
              <a:t>reduce server load and improve response times for frequently accessed content</a:t>
            </a:r>
            <a:r>
              <a:rPr lang="en-US" dirty="0" smtClean="0"/>
              <a:t>.</a:t>
            </a:r>
          </a:p>
          <a:p>
            <a:pPr marL="0" indent="0">
              <a:buNone/>
            </a:pPr>
            <a:endParaRPr lang="en-US" dirty="0" smtClean="0"/>
          </a:p>
          <a:p>
            <a:r>
              <a:rPr lang="en-US" b="1" dirty="0"/>
              <a:t>Server </a:t>
            </a:r>
            <a:r>
              <a:rPr lang="en-US" b="1" dirty="0" smtClean="0"/>
              <a:t>security</a:t>
            </a:r>
            <a:r>
              <a:rPr lang="en-US" dirty="0" smtClean="0"/>
              <a:t>: involves </a:t>
            </a:r>
            <a:r>
              <a:rPr lang="en-US" dirty="0"/>
              <a:t>implementing measures to protect the server, its data, and the applications hosted on it from unauthorized access, data breaches, and cyber threats</a:t>
            </a:r>
            <a:r>
              <a:rPr lang="en-US" dirty="0" smtClean="0"/>
              <a:t>.</a:t>
            </a:r>
          </a:p>
          <a:p>
            <a:r>
              <a:rPr lang="en-US" b="1" dirty="0" smtClean="0"/>
              <a:t>Example</a:t>
            </a:r>
            <a:r>
              <a:rPr lang="en-US" dirty="0" smtClean="0"/>
              <a:t>: </a:t>
            </a:r>
            <a:r>
              <a:rPr lang="en-US" dirty="0" smtClean="0"/>
              <a:t>Implementing </a:t>
            </a:r>
            <a:r>
              <a:rPr lang="en-US" dirty="0"/>
              <a:t>strong password policies and multi-factor authentication (MFA) to prevent unauthorized access to server accounts.</a:t>
            </a:r>
          </a:p>
          <a:p>
            <a:r>
              <a:rPr lang="en-US" dirty="0"/>
              <a:t>Configuring firewall rules to restrict incoming and outgoing network traffic based on predefined security policies and access controls.</a:t>
            </a:r>
          </a:p>
          <a:p>
            <a:r>
              <a:rPr lang="en-US" dirty="0"/>
              <a:t>Regularly monitoring server logs and employing intrusion detection systems to identify and mitigate potential security threats in real-time</a:t>
            </a:r>
            <a:r>
              <a:rPr lang="en-US" dirty="0" smtClean="0"/>
              <a:t>.</a:t>
            </a:r>
            <a:endParaRPr lang="en-US" dirty="0"/>
          </a:p>
        </p:txBody>
      </p:sp>
    </p:spTree>
    <p:extLst>
      <p:ext uri="{BB962C8B-B14F-4D97-AF65-F5344CB8AC3E}">
        <p14:creationId xmlns:p14="http://schemas.microsoft.com/office/powerpoint/2010/main" val="428585418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335</TotalTime>
  <Words>1624</Words>
  <Application>Microsoft Office PowerPoint</Application>
  <PresentationFormat>Widescreen</PresentationFormat>
  <Paragraphs>113</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Century Gothic</vt:lpstr>
      <vt:lpstr>Wingdings 3</vt:lpstr>
      <vt:lpstr>Wisp</vt:lpstr>
      <vt:lpstr>DI-322 Web Technologies  </vt:lpstr>
      <vt:lpstr>8. Web Services :</vt:lpstr>
      <vt:lpstr>8. Web Services : SOAP</vt:lpstr>
      <vt:lpstr>8. Web Services : RESTful</vt:lpstr>
      <vt:lpstr>8. Web Services : SOAP vs RESTful</vt:lpstr>
      <vt:lpstr>8. Web Services : WML</vt:lpstr>
      <vt:lpstr>8. Web Services : XSL</vt:lpstr>
      <vt:lpstr>8. Web Services : Operations</vt:lpstr>
      <vt:lpstr>8. Web Services : Cookie Coordination</vt:lpstr>
      <vt:lpstr>8. Web Services : Operations</vt:lpstr>
      <vt:lpstr>8. Web Services : Privacy and P3P   Privacy and Platform for Privacy Preferences (P3P)</vt:lpstr>
      <vt:lpstr>8. Web Services : Privacy and P3P   Privacy and Platform for Privacy Preferences (P3P)</vt:lpstr>
      <vt:lpstr>8. Web Services : Privacy and P3P   Privacy and Platform for Privacy Preferences (P3P)</vt:lpstr>
      <vt:lpstr>8. Web Services : Complex HTTP Interactions</vt:lpstr>
      <vt:lpstr>8. Web Services : Dynamic Content Delivery</vt:lpstr>
      <vt:lpstr>8. Web Services : Dynamic Content Delivery</vt:lpstr>
      <vt:lpstr>8. Web Services :  Server Configuration &amp; Server Security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DI-322 Web Technologies</dc:title>
  <dc:creator>Kamran</dc:creator>
  <cp:lastModifiedBy>Kamran</cp:lastModifiedBy>
  <cp:revision>23</cp:revision>
  <dcterms:created xsi:type="dcterms:W3CDTF">2024-03-18T23:56:23Z</dcterms:created>
  <dcterms:modified xsi:type="dcterms:W3CDTF">2024-04-04T00:36:34Z</dcterms:modified>
</cp:coreProperties>
</file>
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49"/>
  </p:notesMasterIdLst>
  <p:handoutMasterIdLst>
    <p:handoutMasterId r:id="rId50"/>
  </p:handoutMasterIdLst>
  <p:sldIdLst>
    <p:sldId id="318" r:id="rId2"/>
    <p:sldId id="256" r:id="rId3"/>
    <p:sldId id="353" r:id="rId4"/>
    <p:sldId id="257" r:id="rId5"/>
    <p:sldId id="278" r:id="rId6"/>
    <p:sldId id="279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6" r:id="rId15"/>
    <p:sldId id="360" r:id="rId16"/>
    <p:sldId id="269" r:id="rId17"/>
    <p:sldId id="361" r:id="rId18"/>
    <p:sldId id="270" r:id="rId19"/>
    <p:sldId id="271" r:id="rId20"/>
    <p:sldId id="272" r:id="rId21"/>
    <p:sldId id="283" r:id="rId22"/>
    <p:sldId id="273" r:id="rId23"/>
    <p:sldId id="274" r:id="rId24"/>
    <p:sldId id="292" r:id="rId25"/>
    <p:sldId id="275" r:id="rId26"/>
    <p:sldId id="356" r:id="rId27"/>
    <p:sldId id="357" r:id="rId28"/>
    <p:sldId id="358" r:id="rId29"/>
    <p:sldId id="362" r:id="rId30"/>
    <p:sldId id="329" r:id="rId31"/>
    <p:sldId id="363" r:id="rId32"/>
    <p:sldId id="348" r:id="rId33"/>
    <p:sldId id="359" r:id="rId34"/>
    <p:sldId id="364" r:id="rId35"/>
    <p:sldId id="365" r:id="rId36"/>
    <p:sldId id="366" r:id="rId37"/>
    <p:sldId id="290" r:id="rId38"/>
    <p:sldId id="301" r:id="rId39"/>
    <p:sldId id="367" r:id="rId40"/>
    <p:sldId id="349" r:id="rId41"/>
    <p:sldId id="350" r:id="rId42"/>
    <p:sldId id="326" r:id="rId43"/>
    <p:sldId id="368" r:id="rId44"/>
    <p:sldId id="369" r:id="rId45"/>
    <p:sldId id="370" r:id="rId46"/>
    <p:sldId id="351" r:id="rId47"/>
    <p:sldId id="371" r:id="rId48"/>
  </p:sldIdLst>
  <p:sldSz cx="13716000" cy="9144000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17">
          <p15:clr>
            <a:srgbClr val="A4A3A4"/>
          </p15:clr>
        </p15:guide>
        <p15:guide id="2" pos="197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311"/>
    <p:restoredTop sz="85428"/>
  </p:normalViewPr>
  <p:slideViewPr>
    <p:cSldViewPr snapToGrid="0">
      <p:cViewPr varScale="1">
        <p:scale>
          <a:sx n="56" d="100"/>
          <a:sy n="56" d="100"/>
        </p:scale>
        <p:origin x="1192" y="176"/>
      </p:cViewPr>
      <p:guideLst>
        <p:guide orient="horz" pos="1517"/>
        <p:guide pos="19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</a:defRPr>
            </a:lvl1pPr>
          </a:lstStyle>
          <a:p>
            <a:fld id="{54492EB3-0312-4C94-ACA2-C5355F3C766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0588" y="696913"/>
            <a:ext cx="521970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charset="0"/>
              </a:defRPr>
            </a:lvl1pPr>
          </a:lstStyle>
          <a:p>
            <a:fld id="{0C9E32B4-B3B1-4225-B1EE-1A9B01E99D4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534060-CEFA-42F5-8F8B-10AE1E493BE7}" type="slidenum">
              <a:rPr lang="en-US"/>
              <a:pPr/>
              <a:t>1</a:t>
            </a:fld>
            <a:endParaRPr 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DC76A4-7CFC-45C3-A87F-C66B869671CB}" type="slidenum">
              <a:rPr lang="en-US"/>
              <a:pPr/>
              <a:t>2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C4ED71-0D3F-4B0F-92B2-0A838296B595}" type="slidenum">
              <a:rPr lang="en-US"/>
              <a:pPr/>
              <a:t>4</a:t>
            </a:fld>
            <a:endParaRPr 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D04C15-BB92-480D-A600-A12CC9213F13}" type="slidenum">
              <a:rPr lang="en-US"/>
              <a:pPr/>
              <a:t>5</a:t>
            </a:fld>
            <a:endParaRPr 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82DDEE-1DC8-47FE-ABBC-659D5EAEFE8B}" type="slidenum">
              <a:rPr lang="en-US"/>
              <a:pPr/>
              <a:t>6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20190-F904-4007-A11B-C0603F036466}" type="slidenum">
              <a:rPr lang="en-US"/>
              <a:pPr/>
              <a:t>7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55762D-50E3-4B49-AC35-AB41CC4A133C}" type="slidenum">
              <a:rPr lang="en-US"/>
              <a:pPr/>
              <a:t>8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60FD50-1798-4884-8B81-CDFE853188F9}" type="slidenum">
              <a:rPr lang="en-US"/>
              <a:pPr/>
              <a:t>9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D7B7A3-AC53-43E5-B643-2C51BEB2A4FF}" type="slidenum">
              <a:rPr lang="en-US"/>
              <a:pPr/>
              <a:t>10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7CDA14-3197-4095-A0D3-F47D3DA01A1E}" type="slidenum">
              <a:rPr lang="en-US"/>
              <a:pPr/>
              <a:t>11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TAT = FT – AT</a:t>
            </a:r>
          </a:p>
          <a:p>
            <a:r>
              <a:rPr lang="en-US" dirty="0"/>
              <a:t>WT = TAT – BT</a:t>
            </a:r>
          </a:p>
          <a:p>
            <a:r>
              <a:rPr lang="en-US" dirty="0"/>
              <a:t>RT = Process Start Time in </a:t>
            </a:r>
            <a:r>
              <a:rPr lang="en-US" dirty="0" err="1"/>
              <a:t>Ghantt</a:t>
            </a:r>
            <a:r>
              <a:rPr lang="en-US" dirty="0"/>
              <a:t> Chart - AT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D689BC-F572-4BA9-AB89-A03A584F0857}" type="slidenum">
              <a:rPr lang="en-US"/>
              <a:pPr/>
              <a:t>12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TAT = FT – AT</a:t>
            </a:r>
          </a:p>
          <a:p>
            <a:r>
              <a:rPr lang="en-US" dirty="0"/>
              <a:t>WT = TAT – BT</a:t>
            </a:r>
          </a:p>
          <a:p>
            <a:r>
              <a:rPr lang="en-US" dirty="0"/>
              <a:t>RT = Process Start Time in </a:t>
            </a:r>
            <a:r>
              <a:rPr lang="en-US" dirty="0" err="1"/>
              <a:t>Ghantt</a:t>
            </a:r>
            <a:r>
              <a:rPr lang="en-US" dirty="0"/>
              <a:t> Chart - AT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385B22-6B66-48BC-8AE6-1E478A3CAB3A}" type="slidenum">
              <a:rPr lang="en-US"/>
              <a:pPr/>
              <a:t>13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TAT = FT – AT</a:t>
            </a:r>
          </a:p>
          <a:p>
            <a:r>
              <a:rPr lang="en-US" dirty="0"/>
              <a:t>WT = TAT – BT</a:t>
            </a:r>
          </a:p>
          <a:p>
            <a:r>
              <a:rPr lang="en-US" dirty="0"/>
              <a:t>RT = Process Start Time in </a:t>
            </a:r>
            <a:r>
              <a:rPr lang="en-US" dirty="0" err="1"/>
              <a:t>Ghantt</a:t>
            </a:r>
            <a:r>
              <a:rPr lang="en-US" dirty="0"/>
              <a:t> Chart - AT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08355F-3906-4B8A-A13C-4D51DD85A2A4}" type="slidenum">
              <a:rPr lang="en-US"/>
              <a:pPr/>
              <a:t>14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TAT = FT – AT</a:t>
            </a:r>
          </a:p>
          <a:p>
            <a:r>
              <a:rPr lang="en-US" dirty="0"/>
              <a:t>WT = TAT – BT</a:t>
            </a:r>
          </a:p>
          <a:p>
            <a:r>
              <a:rPr lang="en-US" dirty="0"/>
              <a:t>RT = Process Start Time in </a:t>
            </a:r>
            <a:r>
              <a:rPr lang="en-US" dirty="0" err="1"/>
              <a:t>Ghantt</a:t>
            </a:r>
            <a:r>
              <a:rPr lang="en-US" dirty="0"/>
              <a:t> Chart - AT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5B593B-0AEB-430F-A40A-ABB32B8A3B3A}" type="slidenum">
              <a:rPr lang="en-US"/>
              <a:pPr/>
              <a:t>15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TAT = FT – AT</a:t>
            </a:r>
          </a:p>
          <a:p>
            <a:r>
              <a:rPr lang="en-US" dirty="0"/>
              <a:t>WT = TAT – BT</a:t>
            </a:r>
          </a:p>
          <a:p>
            <a:r>
              <a:rPr lang="en-US" dirty="0"/>
              <a:t>RT = Process Start Time in </a:t>
            </a:r>
            <a:r>
              <a:rPr lang="en-US" dirty="0" err="1"/>
              <a:t>Ghantt</a:t>
            </a:r>
            <a:r>
              <a:rPr lang="en-US" dirty="0"/>
              <a:t> Chart - AT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C8AC77-05AD-4B47-9659-126DABED6D46}" type="slidenum">
              <a:rPr lang="en-US"/>
              <a:pPr/>
              <a:t>16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TAT = FT – AT</a:t>
            </a:r>
          </a:p>
          <a:p>
            <a:r>
              <a:rPr lang="en-US" dirty="0"/>
              <a:t>WT = TAT – BT</a:t>
            </a:r>
          </a:p>
          <a:p>
            <a:r>
              <a:rPr lang="en-US" dirty="0"/>
              <a:t>RT = Process Start Time in </a:t>
            </a:r>
            <a:r>
              <a:rPr lang="en-US" dirty="0" err="1"/>
              <a:t>Ghantt</a:t>
            </a:r>
            <a:r>
              <a:rPr lang="en-US" dirty="0"/>
              <a:t> Chart - AT</a:t>
            </a:r>
          </a:p>
          <a:p>
            <a:endParaRPr lang="en-US" b="1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64175B-759C-440D-948D-A19806604024}" type="slidenum">
              <a:rPr lang="en-US"/>
              <a:pPr/>
              <a:t>17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TAT = FT – AT</a:t>
            </a:r>
          </a:p>
          <a:p>
            <a:r>
              <a:rPr lang="en-US" dirty="0"/>
              <a:t>WT = TAT – BT</a:t>
            </a:r>
          </a:p>
          <a:p>
            <a:r>
              <a:rPr lang="en-US" dirty="0"/>
              <a:t>RT = Process Start Time in </a:t>
            </a:r>
            <a:r>
              <a:rPr lang="en-US" dirty="0" err="1"/>
              <a:t>Ghantt</a:t>
            </a:r>
            <a:r>
              <a:rPr lang="en-US"/>
              <a:t> Chart - AT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852C7D-DD15-4840-8F87-F3C9189612C6}" type="slidenum">
              <a:rPr lang="en-US"/>
              <a:pPr/>
              <a:t>18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151B8F-42BC-4F70-BBB4-B75117B82E89}" type="slidenum">
              <a:rPr lang="en-US"/>
              <a:pPr/>
              <a:t>19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9D6252-9D79-45B3-A133-502007AED4E7}" type="slidenum">
              <a:rPr lang="en-US"/>
              <a:pPr/>
              <a:t>20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9285CF-9147-4C86-BFB0-5537E5985403}" type="slidenum">
              <a:rPr lang="en-US"/>
              <a:pPr/>
              <a:t>21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955D52-9982-4A86-A44F-222362204651}" type="slidenum">
              <a:rPr lang="en-US"/>
              <a:pPr/>
              <a:t>22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79A738-9A4B-4B70-A2E4-85751BE973DF}" type="slidenum">
              <a:rPr lang="en-US"/>
              <a:pPr/>
              <a:t>23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318887-75B5-408A-B8AC-5EA0ABF8D853}" type="slidenum">
              <a:rPr lang="en-US"/>
              <a:pPr/>
              <a:t>24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CA0314-E5D9-4509-9AF9-A7EA88DFAD0A}" type="slidenum">
              <a:rPr lang="en-US"/>
              <a:pPr/>
              <a:t>25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AE5287-434B-4E28-B04B-E31B51CD754A}" type="slidenum">
              <a:rPr lang="en-US"/>
              <a:pPr/>
              <a:t>30</a:t>
            </a:fld>
            <a:endParaRPr 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D8BEFD-DE3A-422F-AFAA-E26CE7473F29}" type="slidenum">
              <a:rPr lang="en-US"/>
              <a:pPr/>
              <a:t>32</a:t>
            </a:fld>
            <a:endParaRPr lang="en-US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B320BB-398A-4A04-8BB1-17855C21961F}" type="slidenum">
              <a:rPr lang="en-US"/>
              <a:pPr/>
              <a:t>37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738B46-12BD-4446-A6F7-9C9FE987E152}" type="slidenum">
              <a:rPr lang="en-US"/>
              <a:pPr/>
              <a:t>38</a:t>
            </a:fld>
            <a:endParaRPr lang="en-US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A283A2-B722-46C9-A49B-A21ACB7FC6DB}" type="slidenum">
              <a:rPr lang="en-US"/>
              <a:pPr/>
              <a:t>40</a:t>
            </a:fld>
            <a:endParaRPr lang="en-US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C75CE7-7258-47DB-AB98-A3B39CE9A9AA}" type="slidenum">
              <a:rPr lang="en-US"/>
              <a:pPr/>
              <a:t>41</a:t>
            </a:fld>
            <a:endParaRPr lang="en-US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649ADA-BE74-41D7-BC32-3D75266ED622}" type="slidenum">
              <a:rPr lang="en-US"/>
              <a:pPr/>
              <a:t>42</a:t>
            </a:fld>
            <a:endParaRPr lang="en-US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F9320E-0BA8-494B-A821-35288194FE29}" type="slidenum">
              <a:rPr lang="en-US"/>
              <a:pPr/>
              <a:t>46</a:t>
            </a:fld>
            <a:endParaRPr lang="en-US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298450" y="3948113"/>
            <a:ext cx="12915900" cy="268287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734550" y="8783638"/>
            <a:ext cx="40703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rgbClr val="33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1275" y="8818563"/>
            <a:ext cx="3735388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>
                <a:solidFill>
                  <a:srgbClr val="336699"/>
                </a:solidFill>
                <a:latin typeface="Helvetica" charset="0"/>
              </a:rPr>
              <a:t>Operating System Concepts  – 8</a:t>
            </a:r>
            <a:r>
              <a:rPr lang="en-US" sz="1400" b="1" baseline="3000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sz="1400" b="1">
                <a:solidFill>
                  <a:srgbClr val="33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1900" y="5543550"/>
            <a:ext cx="3092450" cy="2125663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837113" y="5354638"/>
            <a:ext cx="3505200" cy="2517775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>
              <a:defRPr/>
            </a:pPr>
            <a:endParaRPr lang="en-US">
              <a:cs typeface="ＭＳ Ｐゴシック" charset="-128"/>
            </a:endParaRPr>
          </a:p>
        </p:txBody>
      </p:sp>
      <p:sp>
        <p:nvSpPr>
          <p:cNvPr id="2140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5875867"/>
            <a:ext cx="11658600" cy="181610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875618"/>
            <a:ext cx="11658600" cy="2000249"/>
          </a:xfrm>
        </p:spPr>
        <p:txBody>
          <a:bodyPr anchor="b"/>
          <a:lstStyle>
            <a:lvl1pPr marL="0" indent="0">
              <a:buNone/>
              <a:defRPr sz="2900"/>
            </a:lvl1pPr>
            <a:lvl2pPr marL="653110" indent="0">
              <a:buNone/>
              <a:defRPr sz="2600"/>
            </a:lvl2pPr>
            <a:lvl3pPr marL="1306220" indent="0">
              <a:buNone/>
              <a:defRPr sz="2300"/>
            </a:lvl3pPr>
            <a:lvl4pPr marL="1959331" indent="0">
              <a:buNone/>
              <a:defRPr sz="2000"/>
            </a:lvl4pPr>
            <a:lvl5pPr marL="2612441" indent="0">
              <a:buNone/>
              <a:defRPr sz="2000"/>
            </a:lvl5pPr>
            <a:lvl6pPr marL="3265551" indent="0">
              <a:buNone/>
              <a:defRPr sz="2000"/>
            </a:lvl6pPr>
            <a:lvl7pPr marL="3918661" indent="0">
              <a:buNone/>
              <a:defRPr sz="2000"/>
            </a:lvl7pPr>
            <a:lvl8pPr marL="4571771" indent="0">
              <a:buNone/>
              <a:defRPr sz="2000"/>
            </a:lvl8pPr>
            <a:lvl9pPr marL="5224882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6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61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6184"/>
            <a:ext cx="123444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6817"/>
            <a:ext cx="6060282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99833"/>
            <a:ext cx="6060282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38" y="2046817"/>
            <a:ext cx="6062663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38" y="2899833"/>
            <a:ext cx="6062663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64067"/>
            <a:ext cx="4512470" cy="1549400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364067"/>
            <a:ext cx="7667625" cy="7804151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913467"/>
            <a:ext cx="4512470" cy="6254751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6400800"/>
            <a:ext cx="8229600" cy="755651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817033"/>
            <a:ext cx="8229600" cy="548640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7156451"/>
            <a:ext cx="8229600" cy="1073149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007" y="370417"/>
            <a:ext cx="3217068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70417"/>
            <a:ext cx="9422607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428625" y="0"/>
            <a:ext cx="1793875" cy="121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69888"/>
            <a:ext cx="12344400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2997" name="Rectangle 5"/>
          <p:cNvSpPr>
            <a:spLocks noChangeArrowheads="1"/>
          </p:cNvSpPr>
          <p:nvPr/>
        </p:nvSpPr>
        <p:spPr bwMode="auto">
          <a:xfrm>
            <a:off x="0" y="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212998" name="Line 6"/>
          <p:cNvSpPr>
            <a:spLocks noChangeShapeType="1"/>
          </p:cNvSpPr>
          <p:nvPr/>
        </p:nvSpPr>
        <p:spPr bwMode="auto">
          <a:xfrm>
            <a:off x="685800" y="1147763"/>
            <a:ext cx="121158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ffectLst/>
        </p:spPr>
        <p:txBody>
          <a:bodyPr lIns="130622" tIns="65311" rIns="130622" bIns="65311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212999" name="Rectangle 7"/>
          <p:cNvSpPr>
            <a:spLocks noChangeArrowheads="1"/>
          </p:cNvSpPr>
          <p:nvPr/>
        </p:nvSpPr>
        <p:spPr bwMode="auto">
          <a:xfrm>
            <a:off x="0" y="3048000"/>
            <a:ext cx="342900" cy="3048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213000" name="Rectangle 8"/>
          <p:cNvSpPr>
            <a:spLocks noChangeArrowheads="1"/>
          </p:cNvSpPr>
          <p:nvPr/>
        </p:nvSpPr>
        <p:spPr bwMode="auto">
          <a:xfrm>
            <a:off x="0" y="609600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213001" name="Text Box 9"/>
          <p:cNvSpPr txBox="1">
            <a:spLocks noChangeArrowheads="1"/>
          </p:cNvSpPr>
          <p:nvPr/>
        </p:nvSpPr>
        <p:spPr bwMode="auto">
          <a:xfrm>
            <a:off x="6397625" y="8818563"/>
            <a:ext cx="644525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5.</a:t>
            </a:r>
            <a:fld id="{2A4C16DD-49BF-48F5-8211-DA6BB90C5110}" type="slidenum">
              <a:rPr lang="en-US" sz="1400" b="1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sz="14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213002" name="Text Box 10"/>
          <p:cNvSpPr txBox="1">
            <a:spLocks noChangeArrowheads="1"/>
          </p:cNvSpPr>
          <p:nvPr/>
        </p:nvSpPr>
        <p:spPr bwMode="auto">
          <a:xfrm>
            <a:off x="9734550" y="8783638"/>
            <a:ext cx="40703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213003" name="Text Box 11"/>
          <p:cNvSpPr txBox="1">
            <a:spLocks noChangeArrowheads="1"/>
          </p:cNvSpPr>
          <p:nvPr/>
        </p:nvSpPr>
        <p:spPr bwMode="auto">
          <a:xfrm>
            <a:off x="279400" y="8828088"/>
            <a:ext cx="36861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Operating System Concepts – 8</a:t>
            </a:r>
            <a:r>
              <a:rPr lang="en-US" sz="1400" b="1" baseline="3000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sz="1400" b="1">
                <a:solidFill>
                  <a:srgbClr val="00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1661775" y="7799388"/>
            <a:ext cx="1925638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5pPr>
      <a:lvl6pPr marL="65311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6pPr>
      <a:lvl7pPr marL="130622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7pPr>
      <a:lvl8pPr marL="195933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8pPr>
      <a:lvl9pPr marL="261244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9pPr>
    </p:titleStyle>
    <p:bodyStyle>
      <a:lvl1pPr marL="488950" indent="-4889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1060450" indent="-407988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550988" indent="-325438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2039938" indent="-325438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2530475" indent="-325438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318391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383702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449013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514324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eaLnBrk="1" hangingPunct="1"/>
            <a:r>
              <a:rPr lang="en-US"/>
              <a:t>Chapter 5:  CPU Scheduling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69888"/>
            <a:ext cx="11658600" cy="768350"/>
          </a:xfrm>
        </p:spPr>
        <p:txBody>
          <a:bodyPr/>
          <a:lstStyle/>
          <a:p>
            <a:pPr eaLnBrk="1" hangingPunct="1"/>
            <a:r>
              <a:rPr lang="en-US"/>
              <a:t>Chapter 5:  CPU Scheduling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28725" y="1662113"/>
            <a:ext cx="11004550" cy="5030787"/>
          </a:xfrm>
        </p:spPr>
        <p:txBody>
          <a:bodyPr/>
          <a:lstStyle/>
          <a:p>
            <a:r>
              <a:rPr lang="en-US"/>
              <a:t>Basic Concepts</a:t>
            </a:r>
          </a:p>
          <a:p>
            <a:r>
              <a:rPr lang="en-US"/>
              <a:t>Scheduling Criteria </a:t>
            </a:r>
          </a:p>
          <a:p>
            <a:r>
              <a:rPr lang="en-US"/>
              <a:t>Scheduling Algorithms</a:t>
            </a:r>
          </a:p>
          <a:p>
            <a:r>
              <a:rPr lang="en-US"/>
              <a:t>Thread Scheduling</a:t>
            </a:r>
          </a:p>
          <a:p>
            <a:r>
              <a:rPr lang="en-US"/>
              <a:t>Multiple-Processor Scheduling</a:t>
            </a:r>
          </a:p>
          <a:p>
            <a:r>
              <a:rPr lang="en-US"/>
              <a:t>Operating Systems Examples</a:t>
            </a:r>
          </a:p>
          <a:p>
            <a:r>
              <a:rPr lang="en-US"/>
              <a:t>Algorithm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Objectives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11591925" cy="6040438"/>
          </a:xfrm>
        </p:spPr>
        <p:txBody>
          <a:bodyPr/>
          <a:lstStyle/>
          <a:p>
            <a:r>
              <a:rPr lang="en-US"/>
              <a:t>To introduce CPU scheduling, which is the basis for multiprogrammed operating systems</a:t>
            </a:r>
          </a:p>
          <a:p>
            <a:endParaRPr lang="en-US"/>
          </a:p>
          <a:p>
            <a:r>
              <a:rPr lang="en-US"/>
              <a:t>To describe various CPU-scheduling algorithms</a:t>
            </a:r>
          </a:p>
          <a:p>
            <a:endParaRPr lang="en-US"/>
          </a:p>
          <a:p>
            <a:r>
              <a:rPr lang="en-US"/>
              <a:t>To discuss evaluation criteria for selecting a CPU-scheduling algorithm for a particular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Basic Concepts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2063" y="1700213"/>
            <a:ext cx="11028362" cy="4572000"/>
          </a:xfrm>
        </p:spPr>
        <p:txBody>
          <a:bodyPr/>
          <a:lstStyle/>
          <a:p>
            <a:r>
              <a:rPr lang="en-US"/>
              <a:t>Maximum CPU utilization obtained with multiprogramming</a:t>
            </a:r>
          </a:p>
          <a:p>
            <a:endParaRPr lang="en-US"/>
          </a:p>
          <a:p>
            <a:r>
              <a:rPr lang="en-US"/>
              <a:t>CPU–I/O Burst Cycle – Process execution consists of a </a:t>
            </a:r>
            <a:r>
              <a:rPr lang="en-US" i="1"/>
              <a:t>cycle</a:t>
            </a:r>
            <a:r>
              <a:rPr lang="en-US"/>
              <a:t> of CPU execution and I/O wait</a:t>
            </a:r>
          </a:p>
          <a:p>
            <a:endParaRPr lang="en-US"/>
          </a:p>
          <a:p>
            <a:r>
              <a:rPr lang="en-US" b="1"/>
              <a:t>CPU burst </a:t>
            </a:r>
            <a:r>
              <a:rPr lang="en-US"/>
              <a:t>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85863" y="628650"/>
            <a:ext cx="11887200" cy="609600"/>
          </a:xfrm>
        </p:spPr>
        <p:txBody>
          <a:bodyPr/>
          <a:lstStyle/>
          <a:p>
            <a:pPr eaLnBrk="1" hangingPunct="1"/>
            <a:r>
              <a:rPr lang="en-US" sz="4000"/>
              <a:t>Alternating Sequence of CPU and </a:t>
            </a:r>
            <a:br>
              <a:rPr lang="en-US" sz="4000"/>
            </a:br>
            <a:r>
              <a:rPr lang="en-US" sz="4000"/>
              <a:t>I/O Bursts</a:t>
            </a:r>
          </a:p>
        </p:txBody>
      </p:sp>
      <p:pic>
        <p:nvPicPr>
          <p:cNvPr id="23555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60863" y="1649413"/>
            <a:ext cx="4116387" cy="671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369888"/>
            <a:ext cx="11430000" cy="768350"/>
          </a:xfrm>
        </p:spPr>
        <p:txBody>
          <a:bodyPr/>
          <a:lstStyle/>
          <a:p>
            <a:pPr eaLnBrk="1" hangingPunct="1"/>
            <a:r>
              <a:rPr lang="en-US"/>
              <a:t>Histogram of CPU-burst Times</a:t>
            </a:r>
          </a:p>
        </p:txBody>
      </p:sp>
      <p:pic>
        <p:nvPicPr>
          <p:cNvPr id="25603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2525" y="2033588"/>
            <a:ext cx="8582025" cy="507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7300" y="369888"/>
            <a:ext cx="11772900" cy="768350"/>
          </a:xfrm>
        </p:spPr>
        <p:txBody>
          <a:bodyPr/>
          <a:lstStyle/>
          <a:p>
            <a:pPr eaLnBrk="1" hangingPunct="1"/>
            <a:r>
              <a:rPr lang="en-US"/>
              <a:t>CPU Scheduler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14138" cy="6040438"/>
          </a:xfrm>
        </p:spPr>
        <p:txBody>
          <a:bodyPr/>
          <a:lstStyle/>
          <a:p>
            <a:pPr marL="489833" indent="-489833">
              <a:defRPr/>
            </a:pPr>
            <a:r>
              <a:rPr lang="en-US" dirty="0"/>
              <a:t>Selects from among the processes in ready queue, and allocates the CPU to one of them</a:t>
            </a:r>
          </a:p>
          <a:p>
            <a:pPr marL="1061304" lvl="1" indent="-408194">
              <a:defRPr/>
            </a:pPr>
            <a:r>
              <a:rPr lang="en-US" dirty="0"/>
              <a:t>Queue may be ordered in various ways</a:t>
            </a:r>
          </a:p>
          <a:p>
            <a:pPr marL="489833" indent="-489833">
              <a:defRPr/>
            </a:pPr>
            <a:r>
              <a:rPr lang="en-US" dirty="0"/>
              <a:t>CPU scheduling decisions may take place when a process:</a:t>
            </a:r>
          </a:p>
          <a:p>
            <a:pPr marL="1142943" lvl="1" indent="-489833">
              <a:buFont typeface="Monotype Sorts" charset="2"/>
              <a:buNone/>
              <a:defRPr/>
            </a:pPr>
            <a:r>
              <a:rPr lang="en-US" dirty="0">
                <a:solidFill>
                  <a:srgbClr val="CC6600"/>
                </a:solidFill>
              </a:rPr>
              <a:t>1.	</a:t>
            </a:r>
            <a:r>
              <a:rPr lang="en-US" dirty="0"/>
              <a:t>Switches from running to waiting state</a:t>
            </a:r>
          </a:p>
          <a:p>
            <a:pPr marL="1142943" lvl="1" indent="-489833">
              <a:buFont typeface="Monotype Sorts" charset="2"/>
              <a:buNone/>
              <a:defRPr/>
            </a:pPr>
            <a:r>
              <a:rPr lang="en-US" dirty="0">
                <a:solidFill>
                  <a:srgbClr val="CC6600"/>
                </a:solidFill>
              </a:rPr>
              <a:t>2.</a:t>
            </a:r>
            <a:r>
              <a:rPr lang="en-US" dirty="0"/>
              <a:t>	Switches from running to ready state</a:t>
            </a:r>
          </a:p>
          <a:p>
            <a:pPr marL="1142943" lvl="1" indent="-489833">
              <a:buFont typeface="Monotype Sorts" charset="2"/>
              <a:buNone/>
              <a:defRPr/>
            </a:pPr>
            <a:r>
              <a:rPr lang="en-US" dirty="0">
                <a:solidFill>
                  <a:srgbClr val="CC6600"/>
                </a:solidFill>
              </a:rPr>
              <a:t>3.</a:t>
            </a:r>
            <a:r>
              <a:rPr lang="en-US" dirty="0"/>
              <a:t>	Switches from waiting to ready</a:t>
            </a:r>
          </a:p>
          <a:p>
            <a:pPr marL="1142943" lvl="1" indent="-489833">
              <a:buFont typeface="Monotype Sorts" charset="2"/>
              <a:buAutoNum type="arabicPeriod" startAt="4"/>
              <a:defRPr/>
            </a:pPr>
            <a:r>
              <a:rPr lang="en-US" dirty="0"/>
              <a:t>Terminates</a:t>
            </a:r>
          </a:p>
          <a:p>
            <a:pPr marL="489833" indent="-489833">
              <a:defRPr/>
            </a:pPr>
            <a:r>
              <a:rPr lang="en-US" dirty="0"/>
              <a:t>Scheduling under 1 and 4 is </a:t>
            </a:r>
            <a:r>
              <a:rPr lang="en-US" b="1" dirty="0" err="1"/>
              <a:t>nonpreemptive</a:t>
            </a:r>
            <a:endParaRPr lang="en-US" b="1" dirty="0"/>
          </a:p>
          <a:p>
            <a:pPr marL="489833" indent="-489833">
              <a:defRPr/>
            </a:pPr>
            <a:r>
              <a:rPr lang="en-US" dirty="0"/>
              <a:t>All other scheduling is </a:t>
            </a:r>
            <a:r>
              <a:rPr lang="en-US" b="1" dirty="0"/>
              <a:t>preemptive</a:t>
            </a:r>
          </a:p>
          <a:p>
            <a:pPr marL="1061304" lvl="1" indent="-408194">
              <a:defRPr/>
            </a:pPr>
            <a:r>
              <a:rPr lang="en-US" dirty="0"/>
              <a:t>Consider access to shared data</a:t>
            </a:r>
          </a:p>
          <a:p>
            <a:pPr marL="1061304" lvl="1" indent="-408194">
              <a:defRPr/>
            </a:pPr>
            <a:r>
              <a:rPr lang="en-US" dirty="0"/>
              <a:t>Consider preemption while in kernel mode</a:t>
            </a:r>
          </a:p>
          <a:p>
            <a:pPr marL="1061304" lvl="1" indent="-408194">
              <a:defRPr/>
            </a:pPr>
            <a:r>
              <a:rPr lang="en-US" dirty="0"/>
              <a:t>Consider interrupts occurring during crucial OS activities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Dispatcher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843088"/>
            <a:ext cx="11596688" cy="5978525"/>
          </a:xfrm>
        </p:spPr>
        <p:txBody>
          <a:bodyPr/>
          <a:lstStyle/>
          <a:p>
            <a:r>
              <a:rPr lang="en-US"/>
              <a:t>Dispatcher module gives control of the CPU to the process selected by the short-term scheduler; this involves:</a:t>
            </a:r>
          </a:p>
          <a:p>
            <a:pPr lvl="1"/>
            <a:r>
              <a:rPr lang="en-US"/>
              <a:t>switching context</a:t>
            </a:r>
          </a:p>
          <a:p>
            <a:pPr lvl="1"/>
            <a:r>
              <a:rPr lang="en-US"/>
              <a:t>switching to user mode</a:t>
            </a:r>
          </a:p>
          <a:p>
            <a:pPr lvl="1"/>
            <a:r>
              <a:rPr lang="en-US"/>
              <a:t>jumping to the proper location in the user program to restart that program</a:t>
            </a:r>
          </a:p>
          <a:p>
            <a:pPr lvl="1"/>
            <a:endParaRPr lang="en-US"/>
          </a:p>
          <a:p>
            <a:r>
              <a:rPr lang="en-US" b="1"/>
              <a:t>Dispatch latency </a:t>
            </a:r>
            <a:r>
              <a:rPr lang="en-US"/>
              <a:t>– time it takes for the dispatcher to stop one process and start another running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369888"/>
            <a:ext cx="11544300" cy="768350"/>
          </a:xfrm>
        </p:spPr>
        <p:txBody>
          <a:bodyPr/>
          <a:lstStyle/>
          <a:p>
            <a:pPr eaLnBrk="1" hangingPunct="1"/>
            <a:r>
              <a:rPr lang="en-US"/>
              <a:t>Scheduling Criteria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28725" y="1662113"/>
            <a:ext cx="11456988" cy="6611937"/>
          </a:xfrm>
        </p:spPr>
        <p:txBody>
          <a:bodyPr/>
          <a:lstStyle/>
          <a:p>
            <a:r>
              <a:rPr lang="en-US" b="1"/>
              <a:t>CPU utilization </a:t>
            </a:r>
            <a:r>
              <a:rPr lang="en-US"/>
              <a:t>– keep the CPU as busy as possible</a:t>
            </a:r>
          </a:p>
          <a:p>
            <a:endParaRPr lang="en-US"/>
          </a:p>
          <a:p>
            <a:r>
              <a:rPr lang="en-US" b="1"/>
              <a:t>Throughput</a:t>
            </a:r>
            <a:r>
              <a:rPr lang="en-US"/>
              <a:t> – # of processes that complete their execution per time unit</a:t>
            </a:r>
          </a:p>
          <a:p>
            <a:endParaRPr lang="en-US"/>
          </a:p>
          <a:p>
            <a:r>
              <a:rPr lang="en-US" b="1"/>
              <a:t>Turnaround time </a:t>
            </a:r>
            <a:r>
              <a:rPr lang="en-US"/>
              <a:t>– amount of time to execute a particular process</a:t>
            </a:r>
          </a:p>
          <a:p>
            <a:endParaRPr lang="en-US"/>
          </a:p>
          <a:p>
            <a:r>
              <a:rPr lang="en-US" b="1"/>
              <a:t>Waiting time </a:t>
            </a:r>
            <a:r>
              <a:rPr lang="en-US"/>
              <a:t>– amount of time a process has been waiting in the ready queue</a:t>
            </a:r>
          </a:p>
          <a:p>
            <a:endParaRPr lang="en-US"/>
          </a:p>
          <a:p>
            <a:r>
              <a:rPr lang="en-US" b="1"/>
              <a:t>Response time </a:t>
            </a:r>
            <a:r>
              <a:rPr lang="en-US"/>
              <a:t>– amount of time it takes from when a request was submitted until the first response is produced, not output  (for time-sharing environment)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369888"/>
            <a:ext cx="11544300" cy="768350"/>
          </a:xfrm>
        </p:spPr>
        <p:txBody>
          <a:bodyPr/>
          <a:lstStyle/>
          <a:p>
            <a:pPr eaLnBrk="1" hangingPunct="1"/>
            <a:r>
              <a:rPr lang="en-US" sz="4000"/>
              <a:t>Scheduling Algorithm Optimization Criteria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919288"/>
            <a:ext cx="11026775" cy="5978525"/>
          </a:xfrm>
        </p:spPr>
        <p:txBody>
          <a:bodyPr/>
          <a:lstStyle/>
          <a:p>
            <a:r>
              <a:rPr lang="en-US"/>
              <a:t>Max CPU utilization</a:t>
            </a:r>
          </a:p>
          <a:p>
            <a:r>
              <a:rPr lang="en-US"/>
              <a:t>Max throughput</a:t>
            </a:r>
          </a:p>
          <a:p>
            <a:r>
              <a:rPr lang="en-US"/>
              <a:t>Min turnaround time </a:t>
            </a:r>
          </a:p>
          <a:p>
            <a:r>
              <a:rPr lang="en-US"/>
              <a:t>Min waiting time </a:t>
            </a:r>
          </a:p>
          <a:p>
            <a:r>
              <a:rPr lang="en-US"/>
              <a:t>Min response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533400"/>
            <a:ext cx="12006263" cy="609600"/>
          </a:xfrm>
        </p:spPr>
        <p:txBody>
          <a:bodyPr/>
          <a:lstStyle/>
          <a:p>
            <a:pPr eaLnBrk="1" hangingPunct="1"/>
            <a:r>
              <a:rPr lang="en-US" sz="4000"/>
              <a:t>First-Come, First-Served (FCFS) Scheduling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6650" y="1854200"/>
            <a:ext cx="11349038" cy="54864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2"/>
              <a:buNone/>
              <a:tabLst>
                <a:tab pos="4330700" algn="ctr"/>
                <a:tab pos="6621463" algn="ctr"/>
              </a:tabLst>
            </a:pPr>
            <a:r>
              <a:rPr lang="en-US" sz="2300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	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4330700" algn="ctr"/>
                <a:tab pos="6621463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	24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4330700" algn="ctr"/>
                <a:tab pos="6621463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2</a:t>
            </a:r>
            <a:r>
              <a:rPr lang="en-US"/>
              <a:t> 	3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4330700" algn="ctr"/>
                <a:tab pos="6621463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3	 </a:t>
            </a:r>
            <a:r>
              <a:rPr lang="en-US"/>
              <a:t>3</a:t>
            </a:r>
            <a:r>
              <a:rPr lang="en-US" i="1" baseline="-25000"/>
              <a:t> </a:t>
            </a:r>
          </a:p>
          <a:p>
            <a:pPr>
              <a:lnSpc>
                <a:spcPct val="90000"/>
              </a:lnSpc>
              <a:tabLst>
                <a:tab pos="4330700" algn="ctr"/>
                <a:tab pos="6621463" algn="ctr"/>
              </a:tabLst>
            </a:pPr>
            <a:r>
              <a:rPr lang="en-US"/>
              <a:t>Suppose that the processes arrive in the order: </a:t>
            </a:r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 , </a:t>
            </a:r>
            <a:r>
              <a:rPr lang="en-US" i="1"/>
              <a:t>P</a:t>
            </a:r>
            <a:r>
              <a:rPr lang="en-US" i="1" baseline="-25000"/>
              <a:t>2</a:t>
            </a:r>
            <a:r>
              <a:rPr lang="en-US"/>
              <a:t> , </a:t>
            </a:r>
            <a:r>
              <a:rPr lang="en-US" i="1"/>
              <a:t>P</a:t>
            </a:r>
            <a:r>
              <a:rPr lang="en-US" i="1" baseline="-25000"/>
              <a:t>3  </a:t>
            </a:r>
            <a:br>
              <a:rPr lang="en-US" i="1" baseline="-25000"/>
            </a:br>
            <a:r>
              <a:rPr lang="en-US"/>
              <a:t>The Gantt Chart for the schedule is:</a:t>
            </a:r>
            <a:br>
              <a:rPr lang="en-US"/>
            </a:br>
            <a:br>
              <a:rPr lang="en-US" sz="2300"/>
            </a:br>
            <a:br>
              <a:rPr lang="en-US" sz="2300"/>
            </a:br>
            <a:br>
              <a:rPr lang="en-US" sz="2300"/>
            </a:br>
            <a:br>
              <a:rPr lang="en-US" sz="2300"/>
            </a:br>
            <a:endParaRPr lang="en-US" sz="2300"/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4330700" algn="ctr"/>
                <a:tab pos="6621463" algn="ctr"/>
              </a:tabLst>
            </a:pPr>
            <a:endParaRPr lang="en-US" sz="2300"/>
          </a:p>
          <a:p>
            <a:pPr>
              <a:lnSpc>
                <a:spcPct val="90000"/>
              </a:lnSpc>
              <a:tabLst>
                <a:tab pos="4330700" algn="ctr"/>
                <a:tab pos="6621463" algn="ctr"/>
              </a:tabLst>
            </a:pPr>
            <a:r>
              <a:rPr lang="en-US"/>
              <a:t>Waiting time for </a:t>
            </a:r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  = 0; </a:t>
            </a:r>
            <a:r>
              <a:rPr lang="en-US" i="1"/>
              <a:t>P</a:t>
            </a:r>
            <a:r>
              <a:rPr lang="en-US" i="1" baseline="-25000"/>
              <a:t>2</a:t>
            </a:r>
            <a:r>
              <a:rPr lang="en-US"/>
              <a:t>  = 24; </a:t>
            </a:r>
            <a:r>
              <a:rPr lang="en-US" i="1"/>
              <a:t>P</a:t>
            </a:r>
            <a:r>
              <a:rPr lang="en-US" i="1" baseline="-25000"/>
              <a:t>3 </a:t>
            </a:r>
            <a:r>
              <a:rPr lang="en-US"/>
              <a:t>= 27</a:t>
            </a:r>
          </a:p>
          <a:p>
            <a:pPr>
              <a:lnSpc>
                <a:spcPct val="90000"/>
              </a:lnSpc>
              <a:tabLst>
                <a:tab pos="4330700" algn="ctr"/>
                <a:tab pos="6621463" algn="ctr"/>
              </a:tabLst>
            </a:pPr>
            <a:r>
              <a:rPr lang="en-US"/>
              <a:t>Average waiting time:  (0 + 24 + 27)/3 = 17</a:t>
            </a:r>
          </a:p>
        </p:txBody>
      </p:sp>
      <p:grpSp>
        <p:nvGrpSpPr>
          <p:cNvPr id="35844" name="Group 18"/>
          <p:cNvGrpSpPr>
            <a:grpSpLocks/>
          </p:cNvGrpSpPr>
          <p:nvPr/>
        </p:nvGrpSpPr>
        <p:grpSpPr bwMode="auto">
          <a:xfrm>
            <a:off x="1722438" y="4276725"/>
            <a:ext cx="8148637" cy="1444625"/>
            <a:chOff x="888" y="2688"/>
            <a:chExt cx="3422" cy="682"/>
          </a:xfrm>
        </p:grpSpPr>
        <p:sp>
          <p:nvSpPr>
            <p:cNvPr id="35845" name="Rectangle 4"/>
            <p:cNvSpPr>
              <a:spLocks noChangeArrowheads="1"/>
            </p:cNvSpPr>
            <p:nvPr/>
          </p:nvSpPr>
          <p:spPr bwMode="auto">
            <a:xfrm>
              <a:off x="960" y="2688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6" name="Text Box 5"/>
            <p:cNvSpPr txBox="1">
              <a:spLocks noChangeArrowheads="1"/>
            </p:cNvSpPr>
            <p:nvPr/>
          </p:nvSpPr>
          <p:spPr bwMode="auto">
            <a:xfrm>
              <a:off x="1819" y="2764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1</a:t>
              </a:r>
              <a:endParaRPr lang="en-US">
                <a:latin typeface="Helvetica" charset="0"/>
              </a:endParaRPr>
            </a:p>
          </p:txBody>
        </p:sp>
        <p:sp>
          <p:nvSpPr>
            <p:cNvPr id="35847" name="Text Box 6"/>
            <p:cNvSpPr txBox="1">
              <a:spLocks noChangeArrowheads="1"/>
            </p:cNvSpPr>
            <p:nvPr/>
          </p:nvSpPr>
          <p:spPr bwMode="auto">
            <a:xfrm>
              <a:off x="3307" y="2764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2</a:t>
              </a:r>
              <a:endParaRPr lang="en-US">
                <a:latin typeface="Helvetica" charset="0"/>
              </a:endParaRPr>
            </a:p>
          </p:txBody>
        </p:sp>
        <p:sp>
          <p:nvSpPr>
            <p:cNvPr id="35848" name="Text Box 7"/>
            <p:cNvSpPr txBox="1">
              <a:spLocks noChangeArrowheads="1"/>
            </p:cNvSpPr>
            <p:nvPr/>
          </p:nvSpPr>
          <p:spPr bwMode="auto">
            <a:xfrm>
              <a:off x="3883" y="2764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3</a:t>
              </a:r>
              <a:endParaRPr lang="en-US">
                <a:latin typeface="Helvetica" charset="0"/>
              </a:endParaRPr>
            </a:p>
          </p:txBody>
        </p:sp>
        <p:sp>
          <p:nvSpPr>
            <p:cNvPr id="35849" name="Line 8"/>
            <p:cNvSpPr>
              <a:spLocks noChangeShapeType="1"/>
            </p:cNvSpPr>
            <p:nvPr/>
          </p:nvSpPr>
          <p:spPr bwMode="auto">
            <a:xfrm>
              <a:off x="960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0" name="Line 9"/>
            <p:cNvSpPr>
              <a:spLocks noChangeShapeType="1"/>
            </p:cNvSpPr>
            <p:nvPr/>
          </p:nvSpPr>
          <p:spPr bwMode="auto">
            <a:xfrm>
              <a:off x="42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1" name="Line 10"/>
            <p:cNvSpPr>
              <a:spLocks noChangeShapeType="1"/>
            </p:cNvSpPr>
            <p:nvPr/>
          </p:nvSpPr>
          <p:spPr bwMode="auto">
            <a:xfrm>
              <a:off x="3072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2" name="Line 11"/>
            <p:cNvSpPr>
              <a:spLocks noChangeShapeType="1"/>
            </p:cNvSpPr>
            <p:nvPr/>
          </p:nvSpPr>
          <p:spPr bwMode="auto">
            <a:xfrm>
              <a:off x="3648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3" name="Line 12"/>
            <p:cNvSpPr>
              <a:spLocks noChangeShapeType="1"/>
            </p:cNvSpPr>
            <p:nvPr/>
          </p:nvSpPr>
          <p:spPr bwMode="auto">
            <a:xfrm>
              <a:off x="30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4" name="Line 13"/>
            <p:cNvSpPr>
              <a:spLocks noChangeShapeType="1"/>
            </p:cNvSpPr>
            <p:nvPr/>
          </p:nvSpPr>
          <p:spPr bwMode="auto">
            <a:xfrm>
              <a:off x="3648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5" name="Text Box 14"/>
            <p:cNvSpPr txBox="1">
              <a:spLocks noChangeArrowheads="1"/>
            </p:cNvSpPr>
            <p:nvPr/>
          </p:nvSpPr>
          <p:spPr bwMode="auto">
            <a:xfrm>
              <a:off x="2973" y="3196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24</a:t>
              </a:r>
            </a:p>
          </p:txBody>
        </p:sp>
        <p:sp>
          <p:nvSpPr>
            <p:cNvPr id="35856" name="Text Box 15"/>
            <p:cNvSpPr txBox="1">
              <a:spLocks noChangeArrowheads="1"/>
            </p:cNvSpPr>
            <p:nvPr/>
          </p:nvSpPr>
          <p:spPr bwMode="auto">
            <a:xfrm>
              <a:off x="3549" y="3196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27</a:t>
              </a:r>
            </a:p>
          </p:txBody>
        </p:sp>
        <p:sp>
          <p:nvSpPr>
            <p:cNvPr id="35857" name="Text Box 16"/>
            <p:cNvSpPr txBox="1">
              <a:spLocks noChangeArrowheads="1"/>
            </p:cNvSpPr>
            <p:nvPr/>
          </p:nvSpPr>
          <p:spPr bwMode="auto">
            <a:xfrm>
              <a:off x="4125" y="3196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30</a:t>
              </a:r>
            </a:p>
          </p:txBody>
        </p:sp>
        <p:sp>
          <p:nvSpPr>
            <p:cNvPr id="35858" name="Text Box 17"/>
            <p:cNvSpPr txBox="1">
              <a:spLocks noChangeArrowheads="1"/>
            </p:cNvSpPr>
            <p:nvPr/>
          </p:nvSpPr>
          <p:spPr bwMode="auto">
            <a:xfrm>
              <a:off x="888" y="3196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474788" y="369888"/>
            <a:ext cx="11555412" cy="768350"/>
          </a:xfrm>
        </p:spPr>
        <p:txBody>
          <a:bodyPr/>
          <a:lstStyle/>
          <a:p>
            <a:pPr eaLnBrk="1" hangingPunct="1"/>
            <a:r>
              <a:rPr lang="en-US"/>
              <a:t>FCFS Scheduling (Cont.)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2"/>
              <a:buNone/>
              <a:tabLst>
                <a:tab pos="5214938" algn="ctr"/>
              </a:tabLst>
            </a:pPr>
            <a:r>
              <a:rPr lang="en-US"/>
              <a:t>Suppose that the processes arrive in the order:</a:t>
            </a:r>
          </a:p>
          <a:p>
            <a:pPr>
              <a:buFont typeface="Monotype Sorts" charset="2"/>
              <a:buNone/>
              <a:tabLst>
                <a:tab pos="5214938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2</a:t>
            </a:r>
            <a:r>
              <a:rPr lang="en-US"/>
              <a:t> , </a:t>
            </a:r>
            <a:r>
              <a:rPr lang="en-US" i="1"/>
              <a:t>P</a:t>
            </a:r>
            <a:r>
              <a:rPr lang="en-US" i="1" baseline="-25000"/>
              <a:t>3</a:t>
            </a:r>
            <a:r>
              <a:rPr lang="en-US"/>
              <a:t> , </a:t>
            </a:r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 </a:t>
            </a:r>
          </a:p>
          <a:p>
            <a:pPr>
              <a:tabLst>
                <a:tab pos="5214938" algn="ctr"/>
              </a:tabLst>
            </a:pPr>
            <a:r>
              <a:rPr lang="en-US"/>
              <a:t>The Gantt chart for the schedule is:</a:t>
            </a:r>
            <a:br>
              <a:rPr lang="en-US"/>
            </a:br>
            <a:endParaRPr lang="en-US"/>
          </a:p>
          <a:p>
            <a:pPr>
              <a:tabLst>
                <a:tab pos="5214938" algn="ctr"/>
              </a:tabLst>
            </a:pPr>
            <a:endParaRPr lang="en-US"/>
          </a:p>
          <a:p>
            <a:pPr>
              <a:tabLst>
                <a:tab pos="5214938" algn="ctr"/>
              </a:tabLst>
            </a:pPr>
            <a:endParaRPr lang="en-US"/>
          </a:p>
          <a:p>
            <a:pPr>
              <a:tabLst>
                <a:tab pos="5214938" algn="ctr"/>
              </a:tabLst>
            </a:pPr>
            <a:endParaRPr lang="en-US"/>
          </a:p>
          <a:p>
            <a:pPr>
              <a:tabLst>
                <a:tab pos="5214938" algn="ctr"/>
              </a:tabLst>
            </a:pPr>
            <a:endParaRPr lang="en-US"/>
          </a:p>
          <a:p>
            <a:pPr>
              <a:tabLst>
                <a:tab pos="5214938" algn="ctr"/>
              </a:tabLst>
            </a:pPr>
            <a:endParaRPr lang="en-US"/>
          </a:p>
          <a:p>
            <a:pPr>
              <a:tabLst>
                <a:tab pos="5214938" algn="ctr"/>
              </a:tabLst>
            </a:pPr>
            <a:endParaRPr lang="en-US"/>
          </a:p>
          <a:p>
            <a:pPr>
              <a:tabLst>
                <a:tab pos="5214938" algn="ctr"/>
              </a:tabLst>
            </a:pPr>
            <a:r>
              <a:rPr lang="en-US"/>
              <a:t>Waiting time for </a:t>
            </a:r>
            <a:r>
              <a:rPr lang="en-US" i="1"/>
              <a:t>P</a:t>
            </a:r>
            <a:r>
              <a:rPr lang="en-US" i="1" baseline="-25000"/>
              <a:t>1 </a:t>
            </a:r>
            <a:r>
              <a:rPr lang="en-US" i="1"/>
              <a:t>=</a:t>
            </a:r>
            <a:r>
              <a:rPr lang="en-US"/>
              <a:t> 6</a:t>
            </a:r>
            <a:r>
              <a:rPr lang="en-US" i="1"/>
              <a:t>;</a:t>
            </a:r>
            <a:r>
              <a:rPr lang="en-US" i="1" baseline="-25000"/>
              <a:t> </a:t>
            </a:r>
            <a:r>
              <a:rPr lang="en-US" i="1"/>
              <a:t>P</a:t>
            </a:r>
            <a:r>
              <a:rPr lang="en-US" i="1" baseline="-25000"/>
              <a:t>2</a:t>
            </a:r>
            <a:r>
              <a:rPr lang="en-US"/>
              <a:t> = 0</a:t>
            </a:r>
            <a:r>
              <a:rPr lang="en-US" i="1" baseline="-25000"/>
              <a:t>; </a:t>
            </a:r>
            <a:r>
              <a:rPr lang="en-US" i="1"/>
              <a:t>P</a:t>
            </a:r>
            <a:r>
              <a:rPr lang="en-US" i="1" baseline="-25000"/>
              <a:t>3 </a:t>
            </a:r>
            <a:r>
              <a:rPr lang="en-US" i="1"/>
              <a:t>= </a:t>
            </a:r>
            <a:r>
              <a:rPr lang="en-US"/>
              <a:t>3</a:t>
            </a:r>
            <a:endParaRPr lang="en-US" i="1"/>
          </a:p>
          <a:p>
            <a:pPr>
              <a:tabLst>
                <a:tab pos="5214938" algn="ctr"/>
              </a:tabLst>
            </a:pPr>
            <a:r>
              <a:rPr lang="en-US"/>
              <a:t>Average waiting time:   (6 + 0 + 3)/3 = 3</a:t>
            </a:r>
          </a:p>
          <a:p>
            <a:pPr>
              <a:tabLst>
                <a:tab pos="5214938" algn="ctr"/>
              </a:tabLst>
            </a:pPr>
            <a:r>
              <a:rPr lang="en-US"/>
              <a:t>Much better than previous case</a:t>
            </a:r>
          </a:p>
          <a:p>
            <a:pPr>
              <a:tabLst>
                <a:tab pos="5214938" algn="ctr"/>
              </a:tabLst>
            </a:pPr>
            <a:r>
              <a:rPr lang="en-US" b="1"/>
              <a:t>Convoy effect </a:t>
            </a:r>
            <a:r>
              <a:rPr lang="en-US"/>
              <a:t>- short process behind long process</a:t>
            </a:r>
          </a:p>
          <a:p>
            <a:pPr lvl="1">
              <a:tabLst>
                <a:tab pos="5214938" algn="ctr"/>
              </a:tabLst>
            </a:pPr>
            <a:r>
              <a:rPr lang="en-US"/>
              <a:t>Consider one CPU-bound and many I/O-bound processes</a:t>
            </a:r>
          </a:p>
        </p:txBody>
      </p:sp>
      <p:grpSp>
        <p:nvGrpSpPr>
          <p:cNvPr id="37892" name="Group 20"/>
          <p:cNvGrpSpPr>
            <a:grpSpLocks/>
          </p:cNvGrpSpPr>
          <p:nvPr/>
        </p:nvGrpSpPr>
        <p:grpSpPr bwMode="auto">
          <a:xfrm>
            <a:off x="2909888" y="3473450"/>
            <a:ext cx="8177212" cy="1443038"/>
            <a:chOff x="884" y="1650"/>
            <a:chExt cx="3434" cy="682"/>
          </a:xfrm>
        </p:grpSpPr>
        <p:sp>
          <p:nvSpPr>
            <p:cNvPr id="37893" name="Rectangle 6"/>
            <p:cNvSpPr>
              <a:spLocks noChangeArrowheads="1"/>
            </p:cNvSpPr>
            <p:nvPr/>
          </p:nvSpPr>
          <p:spPr bwMode="auto">
            <a:xfrm flipH="1">
              <a:off x="948" y="1650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4" name="Text Box 7"/>
            <p:cNvSpPr txBox="1">
              <a:spLocks noChangeArrowheads="1"/>
            </p:cNvSpPr>
            <p:nvPr/>
          </p:nvSpPr>
          <p:spPr bwMode="auto">
            <a:xfrm flipH="1">
              <a:off x="3222" y="1726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1</a:t>
              </a:r>
              <a:endParaRPr lang="en-US">
                <a:latin typeface="Helvetica" charset="0"/>
              </a:endParaRPr>
            </a:p>
          </p:txBody>
        </p:sp>
        <p:sp>
          <p:nvSpPr>
            <p:cNvPr id="37895" name="Text Box 8"/>
            <p:cNvSpPr txBox="1">
              <a:spLocks noChangeArrowheads="1"/>
            </p:cNvSpPr>
            <p:nvPr/>
          </p:nvSpPr>
          <p:spPr bwMode="auto">
            <a:xfrm flipH="1">
              <a:off x="1734" y="1726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3</a:t>
              </a:r>
              <a:endParaRPr lang="en-US">
                <a:latin typeface="Helvetica" charset="0"/>
              </a:endParaRPr>
            </a:p>
          </p:txBody>
        </p:sp>
        <p:sp>
          <p:nvSpPr>
            <p:cNvPr id="37896" name="Text Box 9"/>
            <p:cNvSpPr txBox="1">
              <a:spLocks noChangeArrowheads="1"/>
            </p:cNvSpPr>
            <p:nvPr/>
          </p:nvSpPr>
          <p:spPr bwMode="auto">
            <a:xfrm flipH="1">
              <a:off x="1158" y="1726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2</a:t>
              </a:r>
              <a:endParaRPr lang="en-US">
                <a:latin typeface="Helvetica" charset="0"/>
              </a:endParaRPr>
            </a:p>
          </p:txBody>
        </p:sp>
        <p:sp>
          <p:nvSpPr>
            <p:cNvPr id="37897" name="Line 10"/>
            <p:cNvSpPr>
              <a:spLocks noChangeShapeType="1"/>
            </p:cNvSpPr>
            <p:nvPr/>
          </p:nvSpPr>
          <p:spPr bwMode="auto">
            <a:xfrm flipH="1">
              <a:off x="4260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8" name="Line 11"/>
            <p:cNvSpPr>
              <a:spLocks noChangeShapeType="1"/>
            </p:cNvSpPr>
            <p:nvPr/>
          </p:nvSpPr>
          <p:spPr bwMode="auto">
            <a:xfrm flipH="1">
              <a:off x="948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9" name="Line 12"/>
            <p:cNvSpPr>
              <a:spLocks noChangeShapeType="1"/>
            </p:cNvSpPr>
            <p:nvPr/>
          </p:nvSpPr>
          <p:spPr bwMode="auto">
            <a:xfrm flipH="1">
              <a:off x="2148" y="165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0" name="Line 13"/>
            <p:cNvSpPr>
              <a:spLocks noChangeShapeType="1"/>
            </p:cNvSpPr>
            <p:nvPr/>
          </p:nvSpPr>
          <p:spPr bwMode="auto">
            <a:xfrm flipH="1">
              <a:off x="1572" y="165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1" name="Line 14"/>
            <p:cNvSpPr>
              <a:spLocks noChangeShapeType="1"/>
            </p:cNvSpPr>
            <p:nvPr/>
          </p:nvSpPr>
          <p:spPr bwMode="auto">
            <a:xfrm flipH="1">
              <a:off x="2148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2" name="Line 15"/>
            <p:cNvSpPr>
              <a:spLocks noChangeShapeType="1"/>
            </p:cNvSpPr>
            <p:nvPr/>
          </p:nvSpPr>
          <p:spPr bwMode="auto">
            <a:xfrm flipH="1">
              <a:off x="1572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3" name="Text Box 16"/>
            <p:cNvSpPr txBox="1">
              <a:spLocks noChangeArrowheads="1"/>
            </p:cNvSpPr>
            <p:nvPr/>
          </p:nvSpPr>
          <p:spPr bwMode="auto">
            <a:xfrm flipH="1">
              <a:off x="2088" y="2158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6</a:t>
              </a:r>
            </a:p>
          </p:txBody>
        </p:sp>
        <p:sp>
          <p:nvSpPr>
            <p:cNvPr id="37904" name="Text Box 17"/>
            <p:cNvSpPr txBox="1">
              <a:spLocks noChangeArrowheads="1"/>
            </p:cNvSpPr>
            <p:nvPr/>
          </p:nvSpPr>
          <p:spPr bwMode="auto">
            <a:xfrm flipH="1">
              <a:off x="1512" y="2158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3</a:t>
              </a:r>
            </a:p>
          </p:txBody>
        </p:sp>
        <p:sp>
          <p:nvSpPr>
            <p:cNvPr id="37905" name="Text Box 18"/>
            <p:cNvSpPr txBox="1">
              <a:spLocks noChangeArrowheads="1"/>
            </p:cNvSpPr>
            <p:nvPr/>
          </p:nvSpPr>
          <p:spPr bwMode="auto">
            <a:xfrm flipH="1">
              <a:off x="4133" y="2158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30</a:t>
              </a:r>
            </a:p>
          </p:txBody>
        </p:sp>
        <p:sp>
          <p:nvSpPr>
            <p:cNvPr id="37906" name="Text Box 19"/>
            <p:cNvSpPr txBox="1">
              <a:spLocks noChangeArrowheads="1"/>
            </p:cNvSpPr>
            <p:nvPr/>
          </p:nvSpPr>
          <p:spPr bwMode="auto">
            <a:xfrm flipH="1">
              <a:off x="884" y="2158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0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288" y="369888"/>
            <a:ext cx="11745912" cy="768350"/>
          </a:xfrm>
        </p:spPr>
        <p:txBody>
          <a:bodyPr/>
          <a:lstStyle/>
          <a:p>
            <a:pPr eaLnBrk="1" hangingPunct="1"/>
            <a:r>
              <a:rPr lang="en-US"/>
              <a:t>Shortest-Job-First (SJF) Scheduling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352213" cy="6040438"/>
          </a:xfrm>
        </p:spPr>
        <p:txBody>
          <a:bodyPr/>
          <a:lstStyle/>
          <a:p>
            <a:r>
              <a:rPr lang="en-US"/>
              <a:t>Associate with each process the length of its next CPU burst</a:t>
            </a:r>
          </a:p>
          <a:p>
            <a:pPr lvl="1"/>
            <a:r>
              <a:rPr lang="en-US"/>
              <a:t> Use these lengths to schedule the process with the shortest time</a:t>
            </a:r>
          </a:p>
          <a:p>
            <a:endParaRPr lang="en-US"/>
          </a:p>
          <a:p>
            <a:r>
              <a:rPr lang="en-US"/>
              <a:t>SJF is optimal – gives minimum average waiting time for a given set of processes</a:t>
            </a:r>
          </a:p>
          <a:p>
            <a:pPr lvl="1"/>
            <a:r>
              <a:rPr lang="en-US"/>
              <a:t>The difficulty is knowing the length of the next CPU request</a:t>
            </a:r>
          </a:p>
          <a:p>
            <a:pPr lvl="1"/>
            <a:r>
              <a:rPr lang="en-US"/>
              <a:t>Could ask the user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of SJF</a:t>
            </a:r>
          </a:p>
        </p:txBody>
      </p:sp>
      <p:sp>
        <p:nvSpPr>
          <p:cNvPr id="41987" name="Rectangle 36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      	                </a:t>
            </a:r>
            <a:r>
              <a:rPr lang="en-US" u="sng"/>
              <a:t>Process</a:t>
            </a:r>
            <a:r>
              <a:rPr lang="en-US" u="sng">
                <a:solidFill>
                  <a:schemeClr val="bg1"/>
                </a:solidFill>
              </a:rPr>
              <a:t>Arriva	l Time</a:t>
            </a:r>
            <a:r>
              <a:rPr lang="en-US"/>
              <a:t>	</a:t>
            </a:r>
            <a:r>
              <a:rPr lang="en-US" u="sng"/>
              <a:t>Burst Time</a:t>
            </a:r>
            <a:endParaRPr lang="en-US"/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	</a:t>
            </a:r>
            <a:r>
              <a:rPr lang="en-US">
                <a:solidFill>
                  <a:schemeClr val="bg1"/>
                </a:solidFill>
              </a:rPr>
              <a:t>0.0</a:t>
            </a:r>
            <a:r>
              <a:rPr lang="en-US"/>
              <a:t>	6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2 	</a:t>
            </a:r>
            <a:r>
              <a:rPr lang="en-US">
                <a:solidFill>
                  <a:schemeClr val="bg1"/>
                </a:solidFill>
              </a:rPr>
              <a:t>2.0</a:t>
            </a:r>
            <a:r>
              <a:rPr lang="en-US"/>
              <a:t>	8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3</a:t>
            </a:r>
            <a:r>
              <a:rPr lang="en-US"/>
              <a:t>	</a:t>
            </a:r>
            <a:r>
              <a:rPr lang="en-US">
                <a:solidFill>
                  <a:schemeClr val="bg1"/>
                </a:solidFill>
              </a:rPr>
              <a:t>4.0</a:t>
            </a:r>
            <a:r>
              <a:rPr lang="en-US"/>
              <a:t>	7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4</a:t>
            </a:r>
            <a:r>
              <a:rPr lang="en-US"/>
              <a:t>	</a:t>
            </a:r>
            <a:r>
              <a:rPr lang="en-US">
                <a:solidFill>
                  <a:schemeClr val="bg1"/>
                </a:solidFill>
              </a:rPr>
              <a:t>5.0</a:t>
            </a:r>
            <a:r>
              <a:rPr lang="en-US"/>
              <a:t>	3</a:t>
            </a:r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SJF scheduling chart</a:t>
            </a:r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Average waiting time = (3 + 16 + 9 + 0) / 4 = 7</a:t>
            </a:r>
            <a:endParaRPr lang="en-US" i="1" baseline="-25000"/>
          </a:p>
        </p:txBody>
      </p:sp>
      <p:grpSp>
        <p:nvGrpSpPr>
          <p:cNvPr id="41988" name="Group 74"/>
          <p:cNvGrpSpPr>
            <a:grpSpLocks/>
          </p:cNvGrpSpPr>
          <p:nvPr/>
        </p:nvGrpSpPr>
        <p:grpSpPr bwMode="auto">
          <a:xfrm>
            <a:off x="1774825" y="3992563"/>
            <a:ext cx="8704263" cy="1487487"/>
            <a:chOff x="896" y="2352"/>
            <a:chExt cx="3655" cy="703"/>
          </a:xfrm>
        </p:grpSpPr>
        <p:sp>
          <p:nvSpPr>
            <p:cNvPr id="41989" name="Rectangle 37"/>
            <p:cNvSpPr>
              <a:spLocks noChangeArrowheads="1"/>
            </p:cNvSpPr>
            <p:nvPr/>
          </p:nvSpPr>
          <p:spPr bwMode="auto">
            <a:xfrm flipH="1">
              <a:off x="960" y="2373"/>
              <a:ext cx="3504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0" name="Text Box 38"/>
            <p:cNvSpPr txBox="1">
              <a:spLocks noChangeArrowheads="1"/>
            </p:cNvSpPr>
            <p:nvPr/>
          </p:nvSpPr>
          <p:spPr bwMode="auto">
            <a:xfrm flipH="1">
              <a:off x="1052" y="2441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4</a:t>
              </a:r>
              <a:endParaRPr lang="en-US">
                <a:latin typeface="Helvetica" charset="0"/>
              </a:endParaRPr>
            </a:p>
          </p:txBody>
        </p:sp>
        <p:sp>
          <p:nvSpPr>
            <p:cNvPr id="41991" name="Text Box 39"/>
            <p:cNvSpPr txBox="1">
              <a:spLocks noChangeArrowheads="1"/>
            </p:cNvSpPr>
            <p:nvPr/>
          </p:nvSpPr>
          <p:spPr bwMode="auto">
            <a:xfrm flipH="1">
              <a:off x="3019" y="2428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3</a:t>
              </a:r>
              <a:endParaRPr lang="en-US">
                <a:latin typeface="Helvetica" charset="0"/>
              </a:endParaRPr>
            </a:p>
          </p:txBody>
        </p:sp>
        <p:sp>
          <p:nvSpPr>
            <p:cNvPr id="41992" name="Text Box 40"/>
            <p:cNvSpPr txBox="1">
              <a:spLocks noChangeArrowheads="1"/>
            </p:cNvSpPr>
            <p:nvPr/>
          </p:nvSpPr>
          <p:spPr bwMode="auto">
            <a:xfrm flipH="1">
              <a:off x="2012" y="2477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1</a:t>
              </a:r>
              <a:endParaRPr lang="en-US">
                <a:latin typeface="Helvetica" charset="0"/>
              </a:endParaRPr>
            </a:p>
          </p:txBody>
        </p:sp>
        <p:sp>
          <p:nvSpPr>
            <p:cNvPr id="41993" name="Line 41"/>
            <p:cNvSpPr>
              <a:spLocks noChangeShapeType="1"/>
            </p:cNvSpPr>
            <p:nvPr/>
          </p:nvSpPr>
          <p:spPr bwMode="auto">
            <a:xfrm flipH="1">
              <a:off x="4452" y="27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4" name="Line 42"/>
            <p:cNvSpPr>
              <a:spLocks noChangeShapeType="1"/>
            </p:cNvSpPr>
            <p:nvPr/>
          </p:nvSpPr>
          <p:spPr bwMode="auto">
            <a:xfrm flipH="1">
              <a:off x="960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5" name="Line 43"/>
            <p:cNvSpPr>
              <a:spLocks noChangeShapeType="1"/>
            </p:cNvSpPr>
            <p:nvPr/>
          </p:nvSpPr>
          <p:spPr bwMode="auto">
            <a:xfrm flipH="1">
              <a:off x="2688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6" name="Text Box 48"/>
            <p:cNvSpPr txBox="1">
              <a:spLocks noChangeArrowheads="1"/>
            </p:cNvSpPr>
            <p:nvPr/>
          </p:nvSpPr>
          <p:spPr bwMode="auto">
            <a:xfrm flipH="1">
              <a:off x="1569" y="2861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3</a:t>
              </a:r>
            </a:p>
          </p:txBody>
        </p:sp>
        <p:sp>
          <p:nvSpPr>
            <p:cNvPr id="41997" name="Text Box 49"/>
            <p:cNvSpPr txBox="1">
              <a:spLocks noChangeArrowheads="1"/>
            </p:cNvSpPr>
            <p:nvPr/>
          </p:nvSpPr>
          <p:spPr bwMode="auto">
            <a:xfrm flipH="1">
              <a:off x="3358" y="2873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16</a:t>
              </a:r>
            </a:p>
          </p:txBody>
        </p:sp>
        <p:sp>
          <p:nvSpPr>
            <p:cNvPr id="41998" name="Text Box 50"/>
            <p:cNvSpPr txBox="1">
              <a:spLocks noChangeArrowheads="1"/>
            </p:cNvSpPr>
            <p:nvPr/>
          </p:nvSpPr>
          <p:spPr bwMode="auto">
            <a:xfrm flipH="1">
              <a:off x="896" y="2881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0</a:t>
              </a:r>
            </a:p>
          </p:txBody>
        </p:sp>
        <p:sp>
          <p:nvSpPr>
            <p:cNvPr id="41999" name="Line 52"/>
            <p:cNvSpPr>
              <a:spLocks noChangeShapeType="1"/>
            </p:cNvSpPr>
            <p:nvPr/>
          </p:nvSpPr>
          <p:spPr bwMode="auto">
            <a:xfrm flipH="1">
              <a:off x="3456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0" name="Line 54"/>
            <p:cNvSpPr>
              <a:spLocks noChangeShapeType="1"/>
            </p:cNvSpPr>
            <p:nvPr/>
          </p:nvSpPr>
          <p:spPr bwMode="auto">
            <a:xfrm flipH="1">
              <a:off x="1632" y="268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1" name="Line 58"/>
            <p:cNvSpPr>
              <a:spLocks noChangeShapeType="1"/>
            </p:cNvSpPr>
            <p:nvPr/>
          </p:nvSpPr>
          <p:spPr bwMode="auto">
            <a:xfrm flipH="1">
              <a:off x="2688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2" name="Line 63"/>
            <p:cNvSpPr>
              <a:spLocks noChangeShapeType="1"/>
            </p:cNvSpPr>
            <p:nvPr/>
          </p:nvSpPr>
          <p:spPr bwMode="auto">
            <a:xfrm flipH="1">
              <a:off x="3456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3" name="Text Box 64"/>
            <p:cNvSpPr txBox="1">
              <a:spLocks noChangeArrowheads="1"/>
            </p:cNvSpPr>
            <p:nvPr/>
          </p:nvSpPr>
          <p:spPr bwMode="auto">
            <a:xfrm flipH="1">
              <a:off x="2625" y="2861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9</a:t>
              </a:r>
            </a:p>
          </p:txBody>
        </p:sp>
        <p:sp>
          <p:nvSpPr>
            <p:cNvPr id="42004" name="Line 69"/>
            <p:cNvSpPr>
              <a:spLocks noChangeShapeType="1"/>
            </p:cNvSpPr>
            <p:nvPr/>
          </p:nvSpPr>
          <p:spPr bwMode="auto">
            <a:xfrm flipH="1">
              <a:off x="1632" y="235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5" name="Text Box 70"/>
            <p:cNvSpPr txBox="1">
              <a:spLocks noChangeArrowheads="1"/>
            </p:cNvSpPr>
            <p:nvPr/>
          </p:nvSpPr>
          <p:spPr bwMode="auto">
            <a:xfrm flipH="1">
              <a:off x="3787" y="2428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2</a:t>
              </a:r>
              <a:endParaRPr lang="en-US">
                <a:latin typeface="Helvetica" charset="0"/>
              </a:endParaRPr>
            </a:p>
          </p:txBody>
        </p:sp>
        <p:sp>
          <p:nvSpPr>
            <p:cNvPr id="42006" name="Text Box 73"/>
            <p:cNvSpPr txBox="1">
              <a:spLocks noChangeArrowheads="1"/>
            </p:cNvSpPr>
            <p:nvPr/>
          </p:nvSpPr>
          <p:spPr bwMode="auto">
            <a:xfrm flipH="1">
              <a:off x="4366" y="2873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24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109788" y="369888"/>
            <a:ext cx="10920412" cy="768350"/>
          </a:xfrm>
        </p:spPr>
        <p:txBody>
          <a:bodyPr/>
          <a:lstStyle/>
          <a:p>
            <a:pPr eaLnBrk="1" hangingPunct="1"/>
            <a:r>
              <a:rPr lang="en-US" sz="4000"/>
              <a:t>Example of Shortest-remaining-time-first</a:t>
            </a:r>
          </a:p>
        </p:txBody>
      </p:sp>
      <p:sp>
        <p:nvSpPr>
          <p:cNvPr id="50179" name="Rectangle 36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Now we add the concepts of varying arrival times and preemption to the analysis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        </a:t>
            </a:r>
            <a:r>
              <a:rPr lang="en-US" u="sng"/>
              <a:t>Process</a:t>
            </a:r>
            <a:r>
              <a:rPr lang="en-US" u="sng">
                <a:solidFill>
                  <a:schemeClr val="bg1"/>
                </a:solidFill>
              </a:rPr>
              <a:t>A	arri </a:t>
            </a:r>
            <a:r>
              <a:rPr lang="en-US" i="1" u="sng"/>
              <a:t>Arrival </a:t>
            </a:r>
            <a:r>
              <a:rPr lang="en-US" u="sng"/>
              <a:t>Time</a:t>
            </a:r>
            <a:r>
              <a:rPr lang="en-US" u="sng">
                <a:solidFill>
                  <a:schemeClr val="bg1"/>
                </a:solidFill>
              </a:rPr>
              <a:t>T</a:t>
            </a:r>
            <a:r>
              <a:rPr lang="en-US"/>
              <a:t>	</a:t>
            </a:r>
            <a:r>
              <a:rPr lang="en-US" u="sng"/>
              <a:t>Burst Time</a:t>
            </a:r>
            <a:endParaRPr lang="en-US"/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0</a:t>
            </a:r>
            <a:r>
              <a:rPr lang="en-US"/>
              <a:t>	8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2 	</a:t>
            </a:r>
            <a:r>
              <a:rPr lang="en-US">
                <a:solidFill>
                  <a:srgbClr val="000000"/>
                </a:solidFill>
              </a:rPr>
              <a:t>1</a:t>
            </a:r>
            <a:r>
              <a:rPr lang="en-US"/>
              <a:t>	4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3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2</a:t>
            </a:r>
            <a:r>
              <a:rPr lang="en-US"/>
              <a:t>	9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4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3</a:t>
            </a:r>
            <a:r>
              <a:rPr lang="en-US"/>
              <a:t>	5</a:t>
            </a:r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r>
              <a:rPr lang="en-US" i="1"/>
              <a:t>Preemptive </a:t>
            </a:r>
            <a:r>
              <a:rPr lang="en-US"/>
              <a:t>SJF Gantt Chart</a:t>
            </a:r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Average waiting time = [(10-1)+(1-1)+(17-2)+5-3)]/4 = 26/4 = 6.5 msec</a:t>
            </a:r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 i="1" baseline="-25000"/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endParaRPr lang="en-US" i="1" baseline="-25000"/>
          </a:p>
        </p:txBody>
      </p:sp>
      <p:grpSp>
        <p:nvGrpSpPr>
          <p:cNvPr id="50180" name="Group 74"/>
          <p:cNvGrpSpPr>
            <a:grpSpLocks/>
          </p:cNvGrpSpPr>
          <p:nvPr/>
        </p:nvGrpSpPr>
        <p:grpSpPr bwMode="auto">
          <a:xfrm>
            <a:off x="1414463" y="4964113"/>
            <a:ext cx="8702675" cy="1384300"/>
            <a:chOff x="901" y="2366"/>
            <a:chExt cx="3655" cy="654"/>
          </a:xfrm>
        </p:grpSpPr>
        <p:sp>
          <p:nvSpPr>
            <p:cNvPr id="50181" name="Rectangle 37"/>
            <p:cNvSpPr>
              <a:spLocks noChangeArrowheads="1"/>
            </p:cNvSpPr>
            <p:nvPr/>
          </p:nvSpPr>
          <p:spPr bwMode="auto">
            <a:xfrm flipH="1">
              <a:off x="960" y="2373"/>
              <a:ext cx="3504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2" name="Text Box 38"/>
            <p:cNvSpPr txBox="1">
              <a:spLocks noChangeArrowheads="1"/>
            </p:cNvSpPr>
            <p:nvPr/>
          </p:nvSpPr>
          <p:spPr bwMode="auto">
            <a:xfrm flipH="1">
              <a:off x="1052" y="2441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1</a:t>
              </a:r>
              <a:endParaRPr lang="en-US">
                <a:latin typeface="Helvetica" charset="0"/>
              </a:endParaRPr>
            </a:p>
          </p:txBody>
        </p:sp>
        <p:sp>
          <p:nvSpPr>
            <p:cNvPr id="50183" name="Text Box 39"/>
            <p:cNvSpPr txBox="1">
              <a:spLocks noChangeArrowheads="1"/>
            </p:cNvSpPr>
            <p:nvPr/>
          </p:nvSpPr>
          <p:spPr bwMode="auto">
            <a:xfrm flipH="1">
              <a:off x="3019" y="2428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1</a:t>
              </a:r>
              <a:endParaRPr lang="en-US">
                <a:latin typeface="Helvetica" charset="0"/>
              </a:endParaRPr>
            </a:p>
          </p:txBody>
        </p:sp>
        <p:sp>
          <p:nvSpPr>
            <p:cNvPr id="50184" name="Text Box 40"/>
            <p:cNvSpPr txBox="1">
              <a:spLocks noChangeArrowheads="1"/>
            </p:cNvSpPr>
            <p:nvPr/>
          </p:nvSpPr>
          <p:spPr bwMode="auto">
            <a:xfrm flipH="1">
              <a:off x="1498" y="2439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2</a:t>
              </a:r>
              <a:endParaRPr lang="en-US">
                <a:latin typeface="Helvetica" charset="0"/>
              </a:endParaRPr>
            </a:p>
          </p:txBody>
        </p:sp>
        <p:sp>
          <p:nvSpPr>
            <p:cNvPr id="50185" name="Line 43"/>
            <p:cNvSpPr>
              <a:spLocks noChangeShapeType="1"/>
            </p:cNvSpPr>
            <p:nvPr/>
          </p:nvSpPr>
          <p:spPr bwMode="auto">
            <a:xfrm flipH="1">
              <a:off x="2688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6" name="Text Box 48"/>
            <p:cNvSpPr txBox="1">
              <a:spLocks noChangeArrowheads="1"/>
            </p:cNvSpPr>
            <p:nvPr/>
          </p:nvSpPr>
          <p:spPr bwMode="auto">
            <a:xfrm flipH="1">
              <a:off x="1244" y="2845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</a:t>
              </a:r>
            </a:p>
          </p:txBody>
        </p:sp>
        <p:sp>
          <p:nvSpPr>
            <p:cNvPr id="50187" name="Text Box 49"/>
            <p:cNvSpPr txBox="1">
              <a:spLocks noChangeArrowheads="1"/>
            </p:cNvSpPr>
            <p:nvPr/>
          </p:nvSpPr>
          <p:spPr bwMode="auto">
            <a:xfrm flipH="1">
              <a:off x="3353" y="2846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17</a:t>
              </a:r>
            </a:p>
          </p:txBody>
        </p:sp>
        <p:sp>
          <p:nvSpPr>
            <p:cNvPr id="50188" name="Text Box 50"/>
            <p:cNvSpPr txBox="1">
              <a:spLocks noChangeArrowheads="1"/>
            </p:cNvSpPr>
            <p:nvPr/>
          </p:nvSpPr>
          <p:spPr bwMode="auto">
            <a:xfrm flipH="1">
              <a:off x="901" y="2843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0</a:t>
              </a:r>
            </a:p>
          </p:txBody>
        </p:sp>
        <p:sp>
          <p:nvSpPr>
            <p:cNvPr id="50189" name="Line 52"/>
            <p:cNvSpPr>
              <a:spLocks noChangeShapeType="1"/>
            </p:cNvSpPr>
            <p:nvPr/>
          </p:nvSpPr>
          <p:spPr bwMode="auto">
            <a:xfrm flipH="1">
              <a:off x="3456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0" name="Text Box 64"/>
            <p:cNvSpPr txBox="1">
              <a:spLocks noChangeArrowheads="1"/>
            </p:cNvSpPr>
            <p:nvPr/>
          </p:nvSpPr>
          <p:spPr bwMode="auto">
            <a:xfrm flipH="1">
              <a:off x="2597" y="2845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10</a:t>
              </a:r>
            </a:p>
          </p:txBody>
        </p:sp>
        <p:sp>
          <p:nvSpPr>
            <p:cNvPr id="50191" name="Line 69"/>
            <p:cNvSpPr>
              <a:spLocks noChangeShapeType="1"/>
            </p:cNvSpPr>
            <p:nvPr/>
          </p:nvSpPr>
          <p:spPr bwMode="auto">
            <a:xfrm flipH="1">
              <a:off x="1313" y="2374"/>
              <a:ext cx="5" cy="3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2" name="Text Box 70"/>
            <p:cNvSpPr txBox="1">
              <a:spLocks noChangeArrowheads="1"/>
            </p:cNvSpPr>
            <p:nvPr/>
          </p:nvSpPr>
          <p:spPr bwMode="auto">
            <a:xfrm flipH="1">
              <a:off x="3787" y="2428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3</a:t>
              </a:r>
              <a:endParaRPr lang="en-US">
                <a:latin typeface="Helvetica" charset="0"/>
              </a:endParaRPr>
            </a:p>
          </p:txBody>
        </p:sp>
        <p:sp>
          <p:nvSpPr>
            <p:cNvPr id="50193" name="Text Box 73"/>
            <p:cNvSpPr txBox="1">
              <a:spLocks noChangeArrowheads="1"/>
            </p:cNvSpPr>
            <p:nvPr/>
          </p:nvSpPr>
          <p:spPr bwMode="auto">
            <a:xfrm flipH="1">
              <a:off x="4371" y="2846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26</a:t>
              </a:r>
            </a:p>
          </p:txBody>
        </p:sp>
        <p:sp>
          <p:nvSpPr>
            <p:cNvPr id="50194" name="Line 43"/>
            <p:cNvSpPr>
              <a:spLocks noChangeShapeType="1"/>
            </p:cNvSpPr>
            <p:nvPr/>
          </p:nvSpPr>
          <p:spPr bwMode="auto">
            <a:xfrm flipH="1">
              <a:off x="1925" y="236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5" name="Text Box 64"/>
            <p:cNvSpPr txBox="1">
              <a:spLocks noChangeArrowheads="1"/>
            </p:cNvSpPr>
            <p:nvPr/>
          </p:nvSpPr>
          <p:spPr bwMode="auto">
            <a:xfrm flipH="1">
              <a:off x="1861" y="2843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5</a:t>
              </a:r>
            </a:p>
          </p:txBody>
        </p:sp>
        <p:sp>
          <p:nvSpPr>
            <p:cNvPr id="50196" name="Text Box 39"/>
            <p:cNvSpPr txBox="1">
              <a:spLocks noChangeArrowheads="1"/>
            </p:cNvSpPr>
            <p:nvPr/>
          </p:nvSpPr>
          <p:spPr bwMode="auto">
            <a:xfrm flipH="1">
              <a:off x="2185" y="2438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4</a:t>
              </a:r>
              <a:endParaRPr lang="en-US">
                <a:latin typeface="Helvetica" charset="0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446213" y="369888"/>
            <a:ext cx="11583987" cy="768350"/>
          </a:xfrm>
        </p:spPr>
        <p:txBody>
          <a:bodyPr/>
          <a:lstStyle/>
          <a:p>
            <a:pPr eaLnBrk="1" hangingPunct="1"/>
            <a:r>
              <a:rPr lang="en-US"/>
              <a:t>Priority Scheduling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71288" cy="6040438"/>
          </a:xfrm>
        </p:spPr>
        <p:txBody>
          <a:bodyPr/>
          <a:lstStyle/>
          <a:p>
            <a:r>
              <a:rPr lang="en-US"/>
              <a:t>A priority number (integer) is associated with each process</a:t>
            </a:r>
          </a:p>
          <a:p>
            <a:endParaRPr lang="en-US" sz="1100"/>
          </a:p>
          <a:p>
            <a:r>
              <a:rPr lang="en-US"/>
              <a:t>The CPU is allocated to the process with the highest priority (smallest integer </a:t>
            </a:r>
            <a:r>
              <a:rPr lang="en-US">
                <a:sym typeface="Symbol" charset="2"/>
              </a:rPr>
              <a:t> highest priority)</a:t>
            </a:r>
          </a:p>
          <a:p>
            <a:pPr lvl="1"/>
            <a:r>
              <a:rPr lang="en-US"/>
              <a:t>Preemptive</a:t>
            </a:r>
          </a:p>
          <a:p>
            <a:pPr lvl="1"/>
            <a:r>
              <a:rPr lang="en-US"/>
              <a:t>Nonpreemptive</a:t>
            </a:r>
          </a:p>
          <a:p>
            <a:pPr lvl="1"/>
            <a:endParaRPr lang="en-US" sz="1100"/>
          </a:p>
          <a:p>
            <a:r>
              <a:rPr lang="en-US"/>
              <a:t>SJF is priority scheduling where priority is the inverse of predicted next CPU burst time</a:t>
            </a:r>
          </a:p>
          <a:p>
            <a:endParaRPr lang="en-US" sz="1100"/>
          </a:p>
          <a:p>
            <a:r>
              <a:rPr lang="en-US"/>
              <a:t>Problem </a:t>
            </a:r>
            <a:r>
              <a:rPr lang="en-US">
                <a:sym typeface="Symbol" charset="2"/>
              </a:rPr>
              <a:t> </a:t>
            </a:r>
            <a:r>
              <a:rPr lang="en-US" b="1">
                <a:sym typeface="Symbol" charset="2"/>
              </a:rPr>
              <a:t>Starvation </a:t>
            </a:r>
            <a:r>
              <a:rPr lang="en-US">
                <a:sym typeface="Symbol" charset="2"/>
              </a:rPr>
              <a:t>– low priority processes may never execute</a:t>
            </a:r>
          </a:p>
          <a:p>
            <a:endParaRPr lang="en-US" sz="1100">
              <a:sym typeface="Symbol" charset="2"/>
            </a:endParaRPr>
          </a:p>
          <a:p>
            <a:r>
              <a:rPr lang="en-US">
                <a:sym typeface="Symbol" charset="2"/>
              </a:rPr>
              <a:t>Solution  </a:t>
            </a:r>
            <a:r>
              <a:rPr lang="en-US" b="1">
                <a:sym typeface="Symbol" charset="2"/>
              </a:rPr>
              <a:t>Aging </a:t>
            </a:r>
            <a:r>
              <a:rPr lang="en-US">
                <a:sym typeface="Symbol" charset="2"/>
              </a:rPr>
              <a:t>– as time progresses increase the priority of the process</a:t>
            </a:r>
          </a:p>
          <a:p>
            <a:pPr>
              <a:buFont typeface="Monotype Sorts" charset="2"/>
              <a:buNone/>
            </a:pPr>
            <a:endParaRPr lang="en-US">
              <a:sym typeface="Symbol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109788" y="369888"/>
            <a:ext cx="10920412" cy="768350"/>
          </a:xfrm>
        </p:spPr>
        <p:txBody>
          <a:bodyPr/>
          <a:lstStyle/>
          <a:p>
            <a:pPr eaLnBrk="1" hangingPunct="1"/>
            <a:r>
              <a:rPr lang="en-US" sz="4000"/>
              <a:t>Example of Priority Scheduling</a:t>
            </a:r>
          </a:p>
        </p:txBody>
      </p:sp>
      <p:sp>
        <p:nvSpPr>
          <p:cNvPr id="54275" name="Rectangle 36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        </a:t>
            </a:r>
            <a:r>
              <a:rPr lang="en-US" u="sng"/>
              <a:t>Process</a:t>
            </a:r>
            <a:r>
              <a:rPr lang="en-US" u="sng">
                <a:solidFill>
                  <a:schemeClr val="bg1"/>
                </a:solidFill>
              </a:rPr>
              <a:t>A	arri </a:t>
            </a:r>
            <a:r>
              <a:rPr lang="en-US" u="sng"/>
              <a:t>Burst Time</a:t>
            </a:r>
            <a:r>
              <a:rPr lang="en-US" u="sng">
                <a:solidFill>
                  <a:schemeClr val="bg1"/>
                </a:solidFill>
              </a:rPr>
              <a:t>T</a:t>
            </a:r>
            <a:r>
              <a:rPr lang="en-US"/>
              <a:t>	</a:t>
            </a:r>
            <a:r>
              <a:rPr lang="en-US" u="sng"/>
              <a:t>Priority</a:t>
            </a:r>
            <a:endParaRPr lang="en-US"/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	1</a:t>
            </a:r>
            <a:r>
              <a:rPr lang="en-US">
                <a:solidFill>
                  <a:srgbClr val="000000"/>
                </a:solidFill>
              </a:rPr>
              <a:t>0</a:t>
            </a:r>
            <a:r>
              <a:rPr lang="en-US"/>
              <a:t>	3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2 	</a:t>
            </a:r>
            <a:r>
              <a:rPr lang="en-US">
                <a:solidFill>
                  <a:srgbClr val="000000"/>
                </a:solidFill>
              </a:rPr>
              <a:t>1</a:t>
            </a:r>
            <a:r>
              <a:rPr lang="en-US"/>
              <a:t>	1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3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2</a:t>
            </a:r>
            <a:r>
              <a:rPr lang="en-US"/>
              <a:t>	4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4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1</a:t>
            </a:r>
            <a:r>
              <a:rPr lang="en-US"/>
              <a:t>	5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</a:t>
            </a:r>
            <a:r>
              <a:rPr lang="en-US" i="1"/>
              <a:t>P</a:t>
            </a:r>
            <a:r>
              <a:rPr lang="en-US" i="1" baseline="-25000"/>
              <a:t>5	</a:t>
            </a:r>
            <a:r>
              <a:rPr lang="en-US"/>
              <a:t>5	2</a:t>
            </a:r>
            <a:endParaRPr lang="en-US" baseline="-25000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Priority scheduling Gantt Chart</a:t>
            </a:r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Average waiting time = 8.2 msec</a:t>
            </a:r>
            <a:endParaRPr lang="en-US" i="1" baseline="-25000"/>
          </a:p>
        </p:txBody>
      </p:sp>
      <p:grpSp>
        <p:nvGrpSpPr>
          <p:cNvPr id="54276" name="Group 74"/>
          <p:cNvGrpSpPr>
            <a:grpSpLocks/>
          </p:cNvGrpSpPr>
          <p:nvPr/>
        </p:nvGrpSpPr>
        <p:grpSpPr bwMode="auto">
          <a:xfrm>
            <a:off x="1966913" y="4392613"/>
            <a:ext cx="7558087" cy="1384300"/>
            <a:chOff x="901" y="2366"/>
            <a:chExt cx="3174" cy="654"/>
          </a:xfrm>
        </p:grpSpPr>
        <p:sp>
          <p:nvSpPr>
            <p:cNvPr id="54277" name="Rectangle 37"/>
            <p:cNvSpPr>
              <a:spLocks noChangeArrowheads="1"/>
            </p:cNvSpPr>
            <p:nvPr/>
          </p:nvSpPr>
          <p:spPr bwMode="auto">
            <a:xfrm flipH="1">
              <a:off x="960" y="2373"/>
              <a:ext cx="3024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78" name="Text Box 38"/>
            <p:cNvSpPr txBox="1">
              <a:spLocks noChangeArrowheads="1"/>
            </p:cNvSpPr>
            <p:nvPr/>
          </p:nvSpPr>
          <p:spPr bwMode="auto">
            <a:xfrm flipH="1">
              <a:off x="1052" y="2441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2</a:t>
              </a:r>
              <a:endParaRPr lang="en-US">
                <a:latin typeface="Helvetica" charset="0"/>
              </a:endParaRPr>
            </a:p>
          </p:txBody>
        </p:sp>
        <p:sp>
          <p:nvSpPr>
            <p:cNvPr id="54279" name="Text Box 39"/>
            <p:cNvSpPr txBox="1">
              <a:spLocks noChangeArrowheads="1"/>
            </p:cNvSpPr>
            <p:nvPr/>
          </p:nvSpPr>
          <p:spPr bwMode="auto">
            <a:xfrm flipH="1">
              <a:off x="3235" y="2439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3</a:t>
              </a:r>
              <a:endParaRPr lang="en-US">
                <a:latin typeface="Helvetica" charset="0"/>
              </a:endParaRPr>
            </a:p>
          </p:txBody>
        </p:sp>
        <p:sp>
          <p:nvSpPr>
            <p:cNvPr id="54280" name="Text Box 40"/>
            <p:cNvSpPr txBox="1">
              <a:spLocks noChangeArrowheads="1"/>
            </p:cNvSpPr>
            <p:nvPr/>
          </p:nvSpPr>
          <p:spPr bwMode="auto">
            <a:xfrm flipH="1">
              <a:off x="1498" y="2439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5</a:t>
              </a:r>
              <a:endParaRPr lang="en-US">
                <a:latin typeface="Helvetica" charset="0"/>
              </a:endParaRPr>
            </a:p>
          </p:txBody>
        </p:sp>
        <p:sp>
          <p:nvSpPr>
            <p:cNvPr id="54281" name="Line 43"/>
            <p:cNvSpPr>
              <a:spLocks noChangeShapeType="1"/>
            </p:cNvSpPr>
            <p:nvPr/>
          </p:nvSpPr>
          <p:spPr bwMode="auto">
            <a:xfrm flipH="1">
              <a:off x="3174" y="237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2" name="Text Box 48"/>
            <p:cNvSpPr txBox="1">
              <a:spLocks noChangeArrowheads="1"/>
            </p:cNvSpPr>
            <p:nvPr/>
          </p:nvSpPr>
          <p:spPr bwMode="auto">
            <a:xfrm flipH="1">
              <a:off x="1244" y="2845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</a:t>
              </a:r>
            </a:p>
          </p:txBody>
        </p:sp>
        <p:sp>
          <p:nvSpPr>
            <p:cNvPr id="54283" name="Text Box 49"/>
            <p:cNvSpPr txBox="1">
              <a:spLocks noChangeArrowheads="1"/>
            </p:cNvSpPr>
            <p:nvPr/>
          </p:nvSpPr>
          <p:spPr bwMode="auto">
            <a:xfrm flipH="1">
              <a:off x="3580" y="2846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18</a:t>
              </a:r>
            </a:p>
          </p:txBody>
        </p:sp>
        <p:sp>
          <p:nvSpPr>
            <p:cNvPr id="54284" name="Text Box 50"/>
            <p:cNvSpPr txBox="1">
              <a:spLocks noChangeArrowheads="1"/>
            </p:cNvSpPr>
            <p:nvPr/>
          </p:nvSpPr>
          <p:spPr bwMode="auto">
            <a:xfrm flipH="1">
              <a:off x="901" y="2843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0</a:t>
              </a:r>
            </a:p>
          </p:txBody>
        </p:sp>
        <p:sp>
          <p:nvSpPr>
            <p:cNvPr id="54285" name="Line 52"/>
            <p:cNvSpPr>
              <a:spLocks noChangeShapeType="1"/>
            </p:cNvSpPr>
            <p:nvPr/>
          </p:nvSpPr>
          <p:spPr bwMode="auto">
            <a:xfrm flipH="1">
              <a:off x="3683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6" name="Text Box 64"/>
            <p:cNvSpPr txBox="1">
              <a:spLocks noChangeArrowheads="1"/>
            </p:cNvSpPr>
            <p:nvPr/>
          </p:nvSpPr>
          <p:spPr bwMode="auto">
            <a:xfrm flipH="1">
              <a:off x="3089" y="2845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16</a:t>
              </a:r>
            </a:p>
          </p:txBody>
        </p:sp>
        <p:sp>
          <p:nvSpPr>
            <p:cNvPr id="54287" name="Line 69"/>
            <p:cNvSpPr>
              <a:spLocks noChangeShapeType="1"/>
            </p:cNvSpPr>
            <p:nvPr/>
          </p:nvSpPr>
          <p:spPr bwMode="auto">
            <a:xfrm flipH="1">
              <a:off x="1313" y="2374"/>
              <a:ext cx="5" cy="3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8" name="Text Box 70"/>
            <p:cNvSpPr txBox="1">
              <a:spLocks noChangeArrowheads="1"/>
            </p:cNvSpPr>
            <p:nvPr/>
          </p:nvSpPr>
          <p:spPr bwMode="auto">
            <a:xfrm flipH="1">
              <a:off x="3722" y="2439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4</a:t>
              </a:r>
              <a:endParaRPr lang="en-US">
                <a:latin typeface="Helvetica" charset="0"/>
              </a:endParaRPr>
            </a:p>
          </p:txBody>
        </p:sp>
        <p:sp>
          <p:nvSpPr>
            <p:cNvPr id="54289" name="Text Box 73"/>
            <p:cNvSpPr txBox="1">
              <a:spLocks noChangeArrowheads="1"/>
            </p:cNvSpPr>
            <p:nvPr/>
          </p:nvSpPr>
          <p:spPr bwMode="auto">
            <a:xfrm flipH="1">
              <a:off x="3890" y="2846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19</a:t>
              </a:r>
            </a:p>
          </p:txBody>
        </p:sp>
        <p:sp>
          <p:nvSpPr>
            <p:cNvPr id="54290" name="Line 43"/>
            <p:cNvSpPr>
              <a:spLocks noChangeShapeType="1"/>
            </p:cNvSpPr>
            <p:nvPr/>
          </p:nvSpPr>
          <p:spPr bwMode="auto">
            <a:xfrm flipH="1">
              <a:off x="1925" y="236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1" name="Text Box 64"/>
            <p:cNvSpPr txBox="1">
              <a:spLocks noChangeArrowheads="1"/>
            </p:cNvSpPr>
            <p:nvPr/>
          </p:nvSpPr>
          <p:spPr bwMode="auto">
            <a:xfrm flipH="1">
              <a:off x="1861" y="2843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6</a:t>
              </a:r>
            </a:p>
          </p:txBody>
        </p:sp>
        <p:sp>
          <p:nvSpPr>
            <p:cNvPr id="54292" name="Text Box 39"/>
            <p:cNvSpPr txBox="1">
              <a:spLocks noChangeArrowheads="1"/>
            </p:cNvSpPr>
            <p:nvPr/>
          </p:nvSpPr>
          <p:spPr bwMode="auto">
            <a:xfrm flipH="1">
              <a:off x="2569" y="2438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1</a:t>
              </a:r>
              <a:endParaRPr lang="en-US">
                <a:latin typeface="Helvetica" charset="0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Round Robin (RR)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862138"/>
            <a:ext cx="11553825" cy="5978525"/>
          </a:xfrm>
        </p:spPr>
        <p:txBody>
          <a:bodyPr/>
          <a:lstStyle/>
          <a:p>
            <a:r>
              <a:rPr lang="en-US"/>
              <a:t>Each process gets a small unit of CPU time (</a:t>
            </a:r>
            <a:r>
              <a:rPr lang="en-US" b="1"/>
              <a:t>time quantum </a:t>
            </a:r>
            <a:r>
              <a:rPr lang="en-US"/>
              <a:t>q), usually 10-100 milliseconds.  After this time has elapsed, the process is preempted and added to the end of the ready queue.</a:t>
            </a:r>
          </a:p>
          <a:p>
            <a:r>
              <a:rPr lang="en-US"/>
              <a:t>If there are </a:t>
            </a:r>
            <a:r>
              <a:rPr lang="en-US" i="1"/>
              <a:t>n</a:t>
            </a:r>
            <a:r>
              <a:rPr lang="en-US"/>
              <a:t> processes in the ready queue and the time quantum is </a:t>
            </a:r>
            <a:r>
              <a:rPr lang="en-US" i="1"/>
              <a:t>q</a:t>
            </a:r>
            <a:r>
              <a:rPr lang="en-US"/>
              <a:t>, then each process gets 1/</a:t>
            </a:r>
            <a:r>
              <a:rPr lang="en-US" i="1"/>
              <a:t>n</a:t>
            </a:r>
            <a:r>
              <a:rPr lang="en-US"/>
              <a:t> of the CPU time in chunks of at most </a:t>
            </a:r>
            <a:r>
              <a:rPr lang="en-US" i="1"/>
              <a:t>q</a:t>
            </a:r>
            <a:r>
              <a:rPr lang="en-US"/>
              <a:t> time units at once.  No process waits more than (</a:t>
            </a:r>
            <a:r>
              <a:rPr lang="en-US" i="1"/>
              <a:t>n</a:t>
            </a:r>
            <a:r>
              <a:rPr lang="en-US"/>
              <a:t>-1)</a:t>
            </a:r>
            <a:r>
              <a:rPr lang="en-US" i="1"/>
              <a:t>q </a:t>
            </a:r>
            <a:r>
              <a:rPr lang="en-US"/>
              <a:t>time units.</a:t>
            </a:r>
          </a:p>
          <a:p>
            <a:r>
              <a:rPr lang="en-US"/>
              <a:t>Timer interrupts every quantum to schedule next process</a:t>
            </a:r>
          </a:p>
          <a:p>
            <a:r>
              <a:rPr lang="en-US"/>
              <a:t>Performance</a:t>
            </a:r>
          </a:p>
          <a:p>
            <a:pPr lvl="1"/>
            <a:r>
              <a:rPr lang="en-US" i="1"/>
              <a:t>q</a:t>
            </a:r>
            <a:r>
              <a:rPr lang="en-US"/>
              <a:t> large </a:t>
            </a:r>
            <a:r>
              <a:rPr lang="en-US">
                <a:sym typeface="Symbol" charset="2"/>
              </a:rPr>
              <a:t> FIFO</a:t>
            </a:r>
          </a:p>
          <a:p>
            <a:pPr lvl="1"/>
            <a:r>
              <a:rPr lang="en-US" i="1">
                <a:sym typeface="Symbol" charset="2"/>
              </a:rPr>
              <a:t>q </a:t>
            </a:r>
            <a:r>
              <a:rPr lang="en-US">
                <a:sym typeface="Symbol" charset="2"/>
              </a:rPr>
              <a:t>small  </a:t>
            </a:r>
            <a:r>
              <a:rPr lang="en-US" i="1">
                <a:sym typeface="Symbol" charset="2"/>
              </a:rPr>
              <a:t>q </a:t>
            </a:r>
            <a:r>
              <a:rPr lang="en-US">
                <a:sym typeface="Symbol" charset="2"/>
              </a:rPr>
              <a:t>must be large with respect to context switch, otherwise overhead is too high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5400"/>
            <a:ext cx="12082463" cy="1125538"/>
          </a:xfrm>
        </p:spPr>
        <p:txBody>
          <a:bodyPr/>
          <a:lstStyle/>
          <a:p>
            <a:pPr eaLnBrk="1" hangingPunct="1"/>
            <a:r>
              <a:rPr lang="en-US"/>
              <a:t>Example of RR with Time Quantum = 4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2014538"/>
            <a:ext cx="11026775" cy="5978525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2"/>
              <a:buNone/>
              <a:tabLst>
                <a:tab pos="3173413" algn="ctr"/>
                <a:tab pos="5708650" algn="ctr"/>
              </a:tabLst>
            </a:pPr>
            <a:r>
              <a:rPr lang="en-US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3173413" algn="ctr"/>
                <a:tab pos="5708650" algn="ctr"/>
              </a:tabLst>
            </a:pPr>
            <a:r>
              <a:rPr lang="en-US" i="1"/>
              <a:t>		P</a:t>
            </a:r>
            <a:r>
              <a:rPr lang="en-US" i="1" baseline="-25000"/>
              <a:t>1	</a:t>
            </a:r>
            <a:r>
              <a:rPr lang="en-US"/>
              <a:t>24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3173413" algn="ctr"/>
                <a:tab pos="57086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2	 </a:t>
            </a:r>
            <a:r>
              <a:rPr lang="en-US"/>
              <a:t>3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3173413" algn="ctr"/>
                <a:tab pos="57086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3	</a:t>
            </a:r>
            <a:r>
              <a:rPr lang="en-US"/>
              <a:t>3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3173413" algn="ctr"/>
                <a:tab pos="5708650" algn="ctr"/>
              </a:tabLst>
            </a:pPr>
            <a:r>
              <a:rPr lang="en-US"/>
              <a:t>		</a:t>
            </a:r>
          </a:p>
          <a:p>
            <a:pPr>
              <a:lnSpc>
                <a:spcPct val="90000"/>
              </a:lnSpc>
              <a:tabLst>
                <a:tab pos="3173413" algn="ctr"/>
                <a:tab pos="5708650" algn="ctr"/>
              </a:tabLst>
            </a:pPr>
            <a:r>
              <a:rPr lang="en-US"/>
              <a:t>The Gantt chart is: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>
              <a:lnSpc>
                <a:spcPct val="90000"/>
              </a:lnSpc>
              <a:tabLst>
                <a:tab pos="3173413" algn="ctr"/>
                <a:tab pos="5708650" algn="ctr"/>
              </a:tabLst>
            </a:pPr>
            <a:r>
              <a:rPr lang="en-US"/>
              <a:t>Typically, higher average turnaround than SJF, but better </a:t>
            </a:r>
            <a:r>
              <a:rPr lang="en-US" i="1"/>
              <a:t>response</a:t>
            </a:r>
          </a:p>
          <a:p>
            <a:pPr>
              <a:lnSpc>
                <a:spcPct val="90000"/>
              </a:lnSpc>
              <a:tabLst>
                <a:tab pos="3173413" algn="ctr"/>
                <a:tab pos="5708650" algn="ctr"/>
              </a:tabLst>
            </a:pPr>
            <a:r>
              <a:rPr lang="en-US"/>
              <a:t>q should be large compared to context switch time</a:t>
            </a:r>
          </a:p>
          <a:p>
            <a:pPr>
              <a:lnSpc>
                <a:spcPct val="90000"/>
              </a:lnSpc>
              <a:tabLst>
                <a:tab pos="3173413" algn="ctr"/>
                <a:tab pos="5708650" algn="ctr"/>
              </a:tabLst>
            </a:pPr>
            <a:r>
              <a:rPr lang="en-US"/>
              <a:t>q usually 10ms to 100ms, context switch &lt; 10 usec</a:t>
            </a:r>
          </a:p>
        </p:txBody>
      </p:sp>
      <p:grpSp>
        <p:nvGrpSpPr>
          <p:cNvPr id="58372" name="Group 27"/>
          <p:cNvGrpSpPr>
            <a:grpSpLocks/>
          </p:cNvGrpSpPr>
          <p:nvPr/>
        </p:nvGrpSpPr>
        <p:grpSpPr bwMode="auto">
          <a:xfrm>
            <a:off x="2266950" y="4298950"/>
            <a:ext cx="7027863" cy="1255713"/>
            <a:chOff x="1088" y="2640"/>
            <a:chExt cx="2951" cy="593"/>
          </a:xfrm>
        </p:grpSpPr>
        <p:grpSp>
          <p:nvGrpSpPr>
            <p:cNvPr id="58373" name="Group 14"/>
            <p:cNvGrpSpPr>
              <a:grpSpLocks/>
            </p:cNvGrpSpPr>
            <p:nvPr/>
          </p:nvGrpSpPr>
          <p:grpSpPr bwMode="auto">
            <a:xfrm>
              <a:off x="1152" y="2640"/>
              <a:ext cx="2842" cy="384"/>
              <a:chOff x="1152" y="2736"/>
              <a:chExt cx="2304" cy="288"/>
            </a:xfrm>
          </p:grpSpPr>
          <p:sp>
            <p:nvSpPr>
              <p:cNvPr id="58383" name="Rectangle 4"/>
              <p:cNvSpPr>
                <a:spLocks noChangeArrowheads="1"/>
              </p:cNvSpPr>
              <p:nvPr/>
            </p:nvSpPr>
            <p:spPr bwMode="auto">
              <a:xfrm>
                <a:off x="1152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>
                    <a:latin typeface="Helvetica" charset="0"/>
                  </a:rPr>
                  <a:t>P</a:t>
                </a:r>
                <a:r>
                  <a:rPr lang="en-US" baseline="-25000">
                    <a:latin typeface="Helvetica" charset="0"/>
                  </a:rPr>
                  <a:t>1</a:t>
                </a:r>
                <a:endParaRPr lang="en-US">
                  <a:latin typeface="Helvetica" charset="0"/>
                </a:endParaRPr>
              </a:p>
            </p:txBody>
          </p:sp>
          <p:sp>
            <p:nvSpPr>
              <p:cNvPr id="58384" name="Rectangle 5"/>
              <p:cNvSpPr>
                <a:spLocks noChangeArrowheads="1"/>
              </p:cNvSpPr>
              <p:nvPr/>
            </p:nvSpPr>
            <p:spPr bwMode="auto">
              <a:xfrm>
                <a:off x="1440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>
                    <a:latin typeface="Helvetica" charset="0"/>
                  </a:rPr>
                  <a:t>P</a:t>
                </a:r>
                <a:r>
                  <a:rPr lang="en-US" baseline="-25000">
                    <a:latin typeface="Helvetica" charset="0"/>
                  </a:rPr>
                  <a:t>2</a:t>
                </a:r>
              </a:p>
            </p:txBody>
          </p:sp>
          <p:sp>
            <p:nvSpPr>
              <p:cNvPr id="58385" name="Rectangle 6"/>
              <p:cNvSpPr>
                <a:spLocks noChangeArrowheads="1"/>
              </p:cNvSpPr>
              <p:nvPr/>
            </p:nvSpPr>
            <p:spPr bwMode="auto">
              <a:xfrm>
                <a:off x="1728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>
                    <a:latin typeface="Helvetica" charset="0"/>
                  </a:rPr>
                  <a:t>P</a:t>
                </a:r>
                <a:r>
                  <a:rPr lang="en-US" baseline="-25000">
                    <a:latin typeface="Helvetica" charset="0"/>
                  </a:rPr>
                  <a:t>3</a:t>
                </a:r>
              </a:p>
            </p:txBody>
          </p:sp>
          <p:sp>
            <p:nvSpPr>
              <p:cNvPr id="58386" name="Rectangle 7"/>
              <p:cNvSpPr>
                <a:spLocks noChangeArrowheads="1"/>
              </p:cNvSpPr>
              <p:nvPr/>
            </p:nvSpPr>
            <p:spPr bwMode="auto">
              <a:xfrm>
                <a:off x="2016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>
                    <a:latin typeface="Helvetica" charset="0"/>
                  </a:rPr>
                  <a:t>P</a:t>
                </a:r>
                <a:r>
                  <a:rPr lang="en-US" baseline="-25000">
                    <a:latin typeface="Helvetica" charset="0"/>
                  </a:rPr>
                  <a:t>1</a:t>
                </a:r>
              </a:p>
            </p:txBody>
          </p:sp>
          <p:sp>
            <p:nvSpPr>
              <p:cNvPr id="58387" name="Rectangle 8"/>
              <p:cNvSpPr>
                <a:spLocks noChangeArrowheads="1"/>
              </p:cNvSpPr>
              <p:nvPr/>
            </p:nvSpPr>
            <p:spPr bwMode="auto">
              <a:xfrm>
                <a:off x="2304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>
                    <a:latin typeface="Helvetica" charset="0"/>
                  </a:rPr>
                  <a:t>P</a:t>
                </a:r>
                <a:r>
                  <a:rPr lang="en-US" baseline="-25000">
                    <a:latin typeface="Helvetica" charset="0"/>
                  </a:rPr>
                  <a:t>1</a:t>
                </a:r>
              </a:p>
            </p:txBody>
          </p:sp>
          <p:sp>
            <p:nvSpPr>
              <p:cNvPr id="58388" name="Rectangle 9"/>
              <p:cNvSpPr>
                <a:spLocks noChangeArrowheads="1"/>
              </p:cNvSpPr>
              <p:nvPr/>
            </p:nvSpPr>
            <p:spPr bwMode="auto">
              <a:xfrm>
                <a:off x="2592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>
                    <a:latin typeface="Helvetica" charset="0"/>
                  </a:rPr>
                  <a:t>P</a:t>
                </a:r>
                <a:r>
                  <a:rPr lang="en-US" baseline="-25000">
                    <a:latin typeface="Helvetica" charset="0"/>
                  </a:rPr>
                  <a:t>1</a:t>
                </a:r>
              </a:p>
            </p:txBody>
          </p:sp>
          <p:sp>
            <p:nvSpPr>
              <p:cNvPr id="58389" name="Rectangle 10"/>
              <p:cNvSpPr>
                <a:spLocks noChangeArrowheads="1"/>
              </p:cNvSpPr>
              <p:nvPr/>
            </p:nvSpPr>
            <p:spPr bwMode="auto">
              <a:xfrm>
                <a:off x="2880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>
                    <a:latin typeface="Helvetica" charset="0"/>
                  </a:rPr>
                  <a:t>P</a:t>
                </a:r>
                <a:r>
                  <a:rPr lang="en-US" baseline="-25000">
                    <a:latin typeface="Helvetica" charset="0"/>
                  </a:rPr>
                  <a:t>1</a:t>
                </a:r>
              </a:p>
            </p:txBody>
          </p:sp>
          <p:sp>
            <p:nvSpPr>
              <p:cNvPr id="58390" name="Rectangle 11"/>
              <p:cNvSpPr>
                <a:spLocks noChangeArrowheads="1"/>
              </p:cNvSpPr>
              <p:nvPr/>
            </p:nvSpPr>
            <p:spPr bwMode="auto">
              <a:xfrm>
                <a:off x="3168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>
                    <a:latin typeface="Helvetica" charset="0"/>
                  </a:rPr>
                  <a:t>P</a:t>
                </a:r>
                <a:r>
                  <a:rPr lang="en-US" baseline="-25000">
                    <a:latin typeface="Helvetica" charset="0"/>
                  </a:rPr>
                  <a:t>1</a:t>
                </a:r>
              </a:p>
            </p:txBody>
          </p:sp>
        </p:grpSp>
        <p:sp>
          <p:nvSpPr>
            <p:cNvPr id="58374" name="Text Box 15"/>
            <p:cNvSpPr txBox="1">
              <a:spLocks noChangeArrowheads="1"/>
            </p:cNvSpPr>
            <p:nvPr/>
          </p:nvSpPr>
          <p:spPr bwMode="auto">
            <a:xfrm>
              <a:off x="1088" y="3052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0</a:t>
              </a:r>
            </a:p>
          </p:txBody>
        </p:sp>
        <p:sp>
          <p:nvSpPr>
            <p:cNvPr id="58375" name="Text Box 16"/>
            <p:cNvSpPr txBox="1">
              <a:spLocks noChangeArrowheads="1"/>
            </p:cNvSpPr>
            <p:nvPr/>
          </p:nvSpPr>
          <p:spPr bwMode="auto">
            <a:xfrm>
              <a:off x="1386" y="3059"/>
              <a:ext cx="197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4</a:t>
              </a:r>
            </a:p>
          </p:txBody>
        </p:sp>
        <p:sp>
          <p:nvSpPr>
            <p:cNvPr id="58376" name="Text Box 17"/>
            <p:cNvSpPr txBox="1">
              <a:spLocks noChangeArrowheads="1"/>
            </p:cNvSpPr>
            <p:nvPr/>
          </p:nvSpPr>
          <p:spPr bwMode="auto">
            <a:xfrm>
              <a:off x="1803" y="3059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7</a:t>
              </a:r>
            </a:p>
          </p:txBody>
        </p:sp>
        <p:sp>
          <p:nvSpPr>
            <p:cNvPr id="58377" name="Text Box 18"/>
            <p:cNvSpPr txBox="1">
              <a:spLocks noChangeArrowheads="1"/>
            </p:cNvSpPr>
            <p:nvPr/>
          </p:nvSpPr>
          <p:spPr bwMode="auto">
            <a:xfrm>
              <a:off x="2114" y="3053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10</a:t>
              </a:r>
            </a:p>
          </p:txBody>
        </p:sp>
        <p:sp>
          <p:nvSpPr>
            <p:cNvPr id="58378" name="Text Box 19"/>
            <p:cNvSpPr txBox="1">
              <a:spLocks noChangeArrowheads="1"/>
            </p:cNvSpPr>
            <p:nvPr/>
          </p:nvSpPr>
          <p:spPr bwMode="auto">
            <a:xfrm>
              <a:off x="2502" y="3053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14</a:t>
              </a:r>
            </a:p>
          </p:txBody>
        </p:sp>
        <p:sp>
          <p:nvSpPr>
            <p:cNvPr id="58379" name="Text Box 20"/>
            <p:cNvSpPr txBox="1">
              <a:spLocks noChangeArrowheads="1"/>
            </p:cNvSpPr>
            <p:nvPr/>
          </p:nvSpPr>
          <p:spPr bwMode="auto">
            <a:xfrm>
              <a:off x="2838" y="3053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18</a:t>
              </a:r>
            </a:p>
          </p:txBody>
        </p:sp>
        <p:sp>
          <p:nvSpPr>
            <p:cNvPr id="58380" name="Text Box 21"/>
            <p:cNvSpPr txBox="1">
              <a:spLocks noChangeArrowheads="1"/>
            </p:cNvSpPr>
            <p:nvPr/>
          </p:nvSpPr>
          <p:spPr bwMode="auto">
            <a:xfrm>
              <a:off x="3134" y="3053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22</a:t>
              </a:r>
            </a:p>
          </p:txBody>
        </p:sp>
        <p:sp>
          <p:nvSpPr>
            <p:cNvPr id="58381" name="Text Box 22"/>
            <p:cNvSpPr txBox="1">
              <a:spLocks noChangeArrowheads="1"/>
            </p:cNvSpPr>
            <p:nvPr/>
          </p:nvSpPr>
          <p:spPr bwMode="auto">
            <a:xfrm>
              <a:off x="3518" y="3053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26</a:t>
              </a:r>
            </a:p>
          </p:txBody>
        </p:sp>
        <p:sp>
          <p:nvSpPr>
            <p:cNvPr id="58382" name="Text Box 24"/>
            <p:cNvSpPr txBox="1">
              <a:spLocks noChangeArrowheads="1"/>
            </p:cNvSpPr>
            <p:nvPr/>
          </p:nvSpPr>
          <p:spPr bwMode="auto">
            <a:xfrm>
              <a:off x="3854" y="3053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30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460500" y="407988"/>
            <a:ext cx="11569700" cy="768350"/>
          </a:xfrm>
        </p:spPr>
        <p:txBody>
          <a:bodyPr/>
          <a:lstStyle/>
          <a:p>
            <a:pPr eaLnBrk="1" hangingPunct="1"/>
            <a:r>
              <a:rPr lang="en-US"/>
              <a:t>Multilevel Queue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615738" cy="6961188"/>
          </a:xfrm>
        </p:spPr>
        <p:txBody>
          <a:bodyPr/>
          <a:lstStyle/>
          <a:p>
            <a:r>
              <a:rPr lang="en-US"/>
              <a:t>Ready queue is partitioned into separate queues, eg:</a:t>
            </a:r>
          </a:p>
          <a:p>
            <a:pPr lvl="1"/>
            <a:r>
              <a:rPr lang="en-US"/>
              <a:t>foreground (interactive)</a:t>
            </a:r>
          </a:p>
          <a:p>
            <a:pPr lvl="1"/>
            <a:r>
              <a:rPr lang="en-US"/>
              <a:t>background (batch)</a:t>
            </a:r>
          </a:p>
          <a:p>
            <a:r>
              <a:rPr lang="en-US"/>
              <a:t>Process permanently in a given queue</a:t>
            </a:r>
          </a:p>
          <a:p>
            <a:pPr lvl="1"/>
            <a:endParaRPr lang="en-US" sz="1100"/>
          </a:p>
          <a:p>
            <a:r>
              <a:rPr lang="en-US"/>
              <a:t>Each queue has its own scheduling algorithm:</a:t>
            </a:r>
          </a:p>
          <a:p>
            <a:pPr lvl="1"/>
            <a:r>
              <a:rPr lang="en-US"/>
              <a:t>foreground – RR</a:t>
            </a:r>
          </a:p>
          <a:p>
            <a:pPr lvl="1"/>
            <a:r>
              <a:rPr lang="en-US"/>
              <a:t>background – FCFS</a:t>
            </a:r>
          </a:p>
          <a:p>
            <a:pPr lvl="1"/>
            <a:endParaRPr lang="en-US" sz="1100"/>
          </a:p>
          <a:p>
            <a:r>
              <a:rPr lang="en-US"/>
              <a:t>Scheduling must be done between the queues:</a:t>
            </a:r>
          </a:p>
          <a:p>
            <a:pPr lvl="1"/>
            <a:r>
              <a:rPr lang="en-US"/>
              <a:t>Fixed priority scheduling; (i.e., serve all from foreground then from background).  Possibility of starvation.</a:t>
            </a:r>
          </a:p>
          <a:p>
            <a:pPr lvl="1"/>
            <a:r>
              <a:rPr lang="en-US"/>
              <a:t>Time slice – each queue gets a certain amount of CPU time which it can schedule amongst its processes; i.e., 80% to foreground in RR</a:t>
            </a:r>
          </a:p>
          <a:p>
            <a:pPr lvl="1"/>
            <a:r>
              <a:rPr lang="en-US"/>
              <a:t>20% to background in FCFS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636713" y="369888"/>
            <a:ext cx="11393487" cy="768350"/>
          </a:xfrm>
        </p:spPr>
        <p:txBody>
          <a:bodyPr/>
          <a:lstStyle/>
          <a:p>
            <a:pPr eaLnBrk="1" hangingPunct="1"/>
            <a:r>
              <a:rPr lang="en-US"/>
              <a:t>Multilevel Queue Scheduling</a:t>
            </a:r>
          </a:p>
        </p:txBody>
      </p:sp>
      <p:pic>
        <p:nvPicPr>
          <p:cNvPr id="66563" name="Picture 4" descr="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43013" y="1566863"/>
            <a:ext cx="10691812" cy="628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69888"/>
            <a:ext cx="12039600" cy="768350"/>
          </a:xfrm>
        </p:spPr>
        <p:txBody>
          <a:bodyPr/>
          <a:lstStyle/>
          <a:p>
            <a:pPr eaLnBrk="1" hangingPunct="1"/>
            <a:r>
              <a:rPr lang="en-US"/>
              <a:t>Multilevel Feedback Queue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957388"/>
            <a:ext cx="11026775" cy="5978525"/>
          </a:xfrm>
        </p:spPr>
        <p:txBody>
          <a:bodyPr/>
          <a:lstStyle/>
          <a:p>
            <a:r>
              <a:rPr lang="en-US"/>
              <a:t>A process can move between the various queues; aging can be implemented this way</a:t>
            </a:r>
          </a:p>
          <a:p>
            <a:endParaRPr lang="en-US"/>
          </a:p>
          <a:p>
            <a:r>
              <a:rPr lang="en-US"/>
              <a:t>Multilevel-feedback-queue scheduler defined by the following parameters:</a:t>
            </a:r>
          </a:p>
          <a:p>
            <a:pPr lvl="1"/>
            <a:r>
              <a:rPr lang="en-US"/>
              <a:t>number of queues</a:t>
            </a:r>
          </a:p>
          <a:p>
            <a:pPr lvl="1"/>
            <a:r>
              <a:rPr lang="en-US"/>
              <a:t>scheduling algorithms for each queue</a:t>
            </a:r>
          </a:p>
          <a:p>
            <a:pPr lvl="1"/>
            <a:r>
              <a:rPr lang="en-US"/>
              <a:t>method used to determine when to upgrade a process</a:t>
            </a:r>
          </a:p>
          <a:p>
            <a:pPr lvl="1"/>
            <a:r>
              <a:rPr lang="en-US"/>
              <a:t>method used to determine when to demote a process</a:t>
            </a:r>
          </a:p>
          <a:p>
            <a:pPr lvl="1"/>
            <a:r>
              <a:rPr lang="en-US"/>
              <a:t>method used to determine which queue a process will enter when that process needs service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698625" y="0"/>
            <a:ext cx="11658600" cy="1125538"/>
          </a:xfrm>
        </p:spPr>
        <p:txBody>
          <a:bodyPr/>
          <a:lstStyle/>
          <a:p>
            <a:pPr eaLnBrk="1" hangingPunct="1"/>
            <a:r>
              <a:rPr lang="en-US"/>
              <a:t>Example of Multilevel Feedback Queue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10950" cy="6040438"/>
          </a:xfrm>
        </p:spPr>
        <p:txBody>
          <a:bodyPr/>
          <a:lstStyle/>
          <a:p>
            <a:r>
              <a:rPr lang="en-US"/>
              <a:t>Three queues: </a:t>
            </a:r>
          </a:p>
          <a:p>
            <a:pPr lvl="1"/>
            <a:r>
              <a:rPr lang="en-US" i="1"/>
              <a:t>Q</a:t>
            </a:r>
            <a:r>
              <a:rPr lang="en-US" baseline="-25000"/>
              <a:t>0</a:t>
            </a:r>
            <a:r>
              <a:rPr lang="en-US"/>
              <a:t> – RR with time quantum 8 milliseconds</a:t>
            </a:r>
          </a:p>
          <a:p>
            <a:pPr lvl="1"/>
            <a:r>
              <a:rPr lang="en-US" i="1"/>
              <a:t>Q</a:t>
            </a:r>
            <a:r>
              <a:rPr lang="en-US" baseline="-25000"/>
              <a:t>1</a:t>
            </a:r>
            <a:r>
              <a:rPr lang="en-US"/>
              <a:t> – RR time quantum 16 milliseconds</a:t>
            </a:r>
          </a:p>
          <a:p>
            <a:pPr lvl="1"/>
            <a:r>
              <a:rPr lang="en-US" i="1"/>
              <a:t>Q</a:t>
            </a:r>
            <a:r>
              <a:rPr lang="en-US" baseline="-25000"/>
              <a:t>2</a:t>
            </a:r>
            <a:r>
              <a:rPr lang="en-US"/>
              <a:t> – FCFS</a:t>
            </a:r>
          </a:p>
          <a:p>
            <a:pPr lvl="1"/>
            <a:endParaRPr lang="en-US"/>
          </a:p>
          <a:p>
            <a:r>
              <a:rPr lang="en-US"/>
              <a:t>Scheduling</a:t>
            </a:r>
          </a:p>
          <a:p>
            <a:pPr lvl="1"/>
            <a:r>
              <a:rPr lang="en-US"/>
              <a:t>A new job enters queue </a:t>
            </a:r>
            <a:r>
              <a:rPr lang="en-US" i="1"/>
              <a:t>Q</a:t>
            </a:r>
            <a:r>
              <a:rPr lang="en-US" i="1" baseline="-25000"/>
              <a:t>0</a:t>
            </a:r>
            <a:r>
              <a:rPr lang="en-US" i="1"/>
              <a:t> </a:t>
            </a:r>
            <a:r>
              <a:rPr lang="en-US"/>
              <a:t>which is served</a:t>
            </a:r>
            <a:r>
              <a:rPr lang="en-US" i="1"/>
              <a:t> </a:t>
            </a:r>
            <a:r>
              <a:rPr lang="en-US"/>
              <a:t>FCFS</a:t>
            </a:r>
          </a:p>
          <a:p>
            <a:pPr lvl="2"/>
            <a:r>
              <a:rPr lang="en-US"/>
              <a:t>When it gains CPU, job receives 8 milliseconds</a:t>
            </a:r>
          </a:p>
          <a:p>
            <a:pPr lvl="2"/>
            <a:r>
              <a:rPr lang="en-US"/>
              <a:t>If it does not finish in 8 milliseconds, job is moved to queue </a:t>
            </a:r>
            <a:r>
              <a:rPr lang="en-US" i="1"/>
              <a:t>Q</a:t>
            </a:r>
            <a:r>
              <a:rPr lang="en-US" baseline="-25000"/>
              <a:t>1</a:t>
            </a:r>
            <a:endParaRPr lang="en-US"/>
          </a:p>
          <a:p>
            <a:pPr lvl="1"/>
            <a:r>
              <a:rPr lang="en-US"/>
              <a:t>At </a:t>
            </a:r>
            <a:r>
              <a:rPr lang="en-US" i="1"/>
              <a:t>Q</a:t>
            </a:r>
            <a:r>
              <a:rPr lang="en-US" baseline="-25000"/>
              <a:t>1</a:t>
            </a:r>
            <a:r>
              <a:rPr lang="en-US"/>
              <a:t> job is again served FCFS and receives 16 additional milliseconds</a:t>
            </a:r>
          </a:p>
          <a:p>
            <a:pPr lvl="2"/>
            <a:r>
              <a:rPr lang="en-US"/>
              <a:t>If it still does not complete, it is preempted and moved to queue </a:t>
            </a:r>
            <a:r>
              <a:rPr lang="en-US" i="1"/>
              <a:t>Q</a:t>
            </a:r>
            <a:r>
              <a:rPr lang="en-US" baseline="-25000"/>
              <a:t>2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03363" y="369888"/>
            <a:ext cx="11526837" cy="768350"/>
          </a:xfrm>
        </p:spPr>
        <p:txBody>
          <a:bodyPr/>
          <a:lstStyle/>
          <a:p>
            <a:pPr eaLnBrk="1" hangingPunct="1"/>
            <a:r>
              <a:rPr lang="en-US"/>
              <a:t>Multilevel Feedback Queues</a:t>
            </a:r>
          </a:p>
        </p:txBody>
      </p:sp>
      <p:pic>
        <p:nvPicPr>
          <p:cNvPr id="72707" name="Picture 4" descr="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57325" y="1947863"/>
            <a:ext cx="10275888" cy="555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1446213" y="369888"/>
            <a:ext cx="11583987" cy="768350"/>
          </a:xfrm>
        </p:spPr>
        <p:txBody>
          <a:bodyPr/>
          <a:lstStyle/>
          <a:p>
            <a:pPr eaLnBrk="1" hangingPunct="1"/>
            <a:r>
              <a:rPr lang="en-US"/>
              <a:t>Multiple-Processor Scheduling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881188"/>
            <a:ext cx="11407775" cy="6411912"/>
          </a:xfrm>
        </p:spPr>
        <p:txBody>
          <a:bodyPr/>
          <a:lstStyle/>
          <a:p>
            <a:r>
              <a:rPr lang="en-US"/>
              <a:t>CPU scheduling more complex when multiple CPUs are available</a:t>
            </a:r>
          </a:p>
          <a:p>
            <a:endParaRPr lang="en-US" sz="1100"/>
          </a:p>
          <a:p>
            <a:r>
              <a:rPr lang="en-US" b="1"/>
              <a:t>Homogeneous processors </a:t>
            </a:r>
            <a:r>
              <a:rPr lang="en-US"/>
              <a:t>within a multiprocessor</a:t>
            </a:r>
          </a:p>
          <a:p>
            <a:endParaRPr lang="en-US" sz="1100"/>
          </a:p>
          <a:p>
            <a:r>
              <a:rPr lang="en-US" b="1"/>
              <a:t>Asymmetric multiprocessing </a:t>
            </a:r>
            <a:r>
              <a:rPr lang="en-US"/>
              <a:t>– only one processor accesses the system data structures, alleviating the need for data sharing</a:t>
            </a:r>
          </a:p>
          <a:p>
            <a:endParaRPr lang="en-US" sz="1100"/>
          </a:p>
          <a:p>
            <a:r>
              <a:rPr lang="en-US" b="1"/>
              <a:t>Symmetric multiprocessing (SMP) </a:t>
            </a:r>
            <a:r>
              <a:rPr lang="en-US"/>
              <a:t>– each processor is self-scheduling, all processes in common ready queue, or each has its own private queue of ready processes</a:t>
            </a:r>
          </a:p>
          <a:p>
            <a:pPr lvl="1"/>
            <a:r>
              <a:rPr lang="en-US"/>
              <a:t>Currently, most common</a:t>
            </a:r>
          </a:p>
          <a:p>
            <a:endParaRPr lang="en-US" sz="1100"/>
          </a:p>
          <a:p>
            <a:r>
              <a:rPr lang="en-US" b="1"/>
              <a:t>Processor affinity </a:t>
            </a:r>
            <a:r>
              <a:rPr lang="en-US"/>
              <a:t>– process has affinity for processor on which it is currently running</a:t>
            </a:r>
          </a:p>
          <a:p>
            <a:pPr lvl="1"/>
            <a:r>
              <a:rPr lang="en-US" b="1"/>
              <a:t>soft affinity</a:t>
            </a:r>
          </a:p>
          <a:p>
            <a:pPr lvl="1"/>
            <a:r>
              <a:rPr lang="en-US" b="1"/>
              <a:t>hard affinity</a:t>
            </a:r>
          </a:p>
          <a:p>
            <a:pPr lvl="1"/>
            <a:r>
              <a:rPr lang="en-US"/>
              <a:t>Variations including </a:t>
            </a:r>
            <a:r>
              <a:rPr lang="en-US" b="1"/>
              <a:t>processor sets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>
          <a:xfrm>
            <a:off x="1679575" y="369888"/>
            <a:ext cx="11350625" cy="768350"/>
          </a:xfrm>
        </p:spPr>
        <p:txBody>
          <a:bodyPr/>
          <a:lstStyle/>
          <a:p>
            <a:pPr eaLnBrk="1" hangingPunct="1"/>
            <a:r>
              <a:rPr lang="en-US"/>
              <a:t>NUMA and CPU Scheduling</a:t>
            </a:r>
          </a:p>
        </p:txBody>
      </p:sp>
      <p:pic>
        <p:nvPicPr>
          <p:cNvPr id="84995" name="Picture 4" descr="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3200" y="2641600"/>
            <a:ext cx="8747125" cy="415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4996" name="TextBox 3"/>
          <p:cNvSpPr txBox="1">
            <a:spLocks noChangeArrowheads="1"/>
          </p:cNvSpPr>
          <p:nvPr/>
        </p:nvSpPr>
        <p:spPr bwMode="auto">
          <a:xfrm>
            <a:off x="3062288" y="7265988"/>
            <a:ext cx="711517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0622" tIns="65311" rIns="130622" bIns="65311">
            <a:spAutoFit/>
          </a:bodyPr>
          <a:lstStyle/>
          <a:p>
            <a:r>
              <a:rPr lang="en-US"/>
              <a:t>Note that memory-placement algorithms can also consider affinity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>
          <a:xfrm>
            <a:off x="1298575" y="369888"/>
            <a:ext cx="11731625" cy="768350"/>
          </a:xfrm>
        </p:spPr>
        <p:txBody>
          <a:bodyPr/>
          <a:lstStyle/>
          <a:p>
            <a:pPr eaLnBrk="1" hangingPunct="1"/>
            <a:r>
              <a:rPr lang="en-US"/>
              <a:t>Multicore Processors</a:t>
            </a:r>
          </a:p>
        </p:txBody>
      </p:sp>
      <p:sp>
        <p:nvSpPr>
          <p:cNvPr id="87043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11599863" cy="6040438"/>
          </a:xfrm>
        </p:spPr>
        <p:txBody>
          <a:bodyPr/>
          <a:lstStyle/>
          <a:p>
            <a:r>
              <a:rPr lang="en-US"/>
              <a:t>Recent trend to place multiple processor cores on same physical chip</a:t>
            </a:r>
          </a:p>
          <a:p>
            <a:endParaRPr lang="en-US"/>
          </a:p>
          <a:p>
            <a:r>
              <a:rPr lang="en-US"/>
              <a:t>Faster and consumes less power</a:t>
            </a:r>
          </a:p>
          <a:p>
            <a:endParaRPr lang="en-US"/>
          </a:p>
          <a:p>
            <a:r>
              <a:rPr lang="en-US"/>
              <a:t>Multiple threads per core also growing</a:t>
            </a:r>
          </a:p>
          <a:p>
            <a:pPr lvl="1"/>
            <a:r>
              <a:rPr lang="en-US"/>
              <a:t>Takes advantage of memory stall to make progress on another thread while memory retrieve happens</a:t>
            </a:r>
          </a:p>
          <a:p>
            <a:pPr lvl="1">
              <a:buFont typeface="Monotype Sorts" charset="2"/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 noGrp="1"/>
          </p:cNvSpPr>
          <p:nvPr>
            <p:ph type="title"/>
          </p:nvPr>
        </p:nvSpPr>
        <p:spPr>
          <a:xfrm>
            <a:off x="1795463" y="369888"/>
            <a:ext cx="11234737" cy="768350"/>
          </a:xfrm>
        </p:spPr>
        <p:txBody>
          <a:bodyPr/>
          <a:lstStyle/>
          <a:p>
            <a:pPr eaLnBrk="1" hangingPunct="1"/>
            <a:r>
              <a:rPr lang="en-US"/>
              <a:t>Multithreaded Multicore System</a:t>
            </a:r>
          </a:p>
        </p:txBody>
      </p:sp>
      <p:pic>
        <p:nvPicPr>
          <p:cNvPr id="89091" name="Picture 4" descr="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33538" y="1868488"/>
            <a:ext cx="10172700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9092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71638" y="4964113"/>
            <a:ext cx="10309225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Virtualization and Scheduling</a:t>
            </a:r>
          </a:p>
        </p:txBody>
      </p:sp>
      <p:sp>
        <p:nvSpPr>
          <p:cNvPr id="911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Virtualization software schedules multiple guests onto CPU(s)</a:t>
            </a:r>
          </a:p>
          <a:p>
            <a:endParaRPr lang="en-US"/>
          </a:p>
          <a:p>
            <a:r>
              <a:rPr lang="en-US"/>
              <a:t>Each guest doing its own scheduling</a:t>
            </a:r>
          </a:p>
          <a:p>
            <a:pPr lvl="1"/>
            <a:r>
              <a:rPr lang="en-US"/>
              <a:t>Not knowing it doesn’t own the CPUs</a:t>
            </a:r>
          </a:p>
          <a:p>
            <a:pPr lvl="1"/>
            <a:r>
              <a:rPr lang="en-US"/>
              <a:t>Can result in poor response time</a:t>
            </a:r>
          </a:p>
          <a:p>
            <a:pPr lvl="1"/>
            <a:r>
              <a:rPr lang="en-US"/>
              <a:t>Can effect time-of-day clocks in guests</a:t>
            </a:r>
          </a:p>
          <a:p>
            <a:pPr lvl="1"/>
            <a:endParaRPr lang="en-US"/>
          </a:p>
          <a:p>
            <a:r>
              <a:rPr lang="en-US"/>
              <a:t>Can undo good scheduling algorithm efforts of guests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708150" y="369888"/>
            <a:ext cx="11322050" cy="768350"/>
          </a:xfrm>
        </p:spPr>
        <p:txBody>
          <a:bodyPr/>
          <a:lstStyle/>
          <a:p>
            <a:pPr eaLnBrk="1" hangingPunct="1"/>
            <a:r>
              <a:rPr lang="en-US"/>
              <a:t>Operating System Examples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3475" y="1479550"/>
            <a:ext cx="10266363" cy="4678363"/>
          </a:xfrm>
        </p:spPr>
        <p:txBody>
          <a:bodyPr/>
          <a:lstStyle/>
          <a:p>
            <a:endParaRPr lang="en-US"/>
          </a:p>
          <a:p>
            <a:r>
              <a:rPr lang="en-US"/>
              <a:t>Solaris scheduling</a:t>
            </a:r>
          </a:p>
          <a:p>
            <a:r>
              <a:rPr lang="en-US"/>
              <a:t>Windows XP scheduling</a:t>
            </a:r>
          </a:p>
          <a:p>
            <a:r>
              <a:rPr lang="en-US"/>
              <a:t>Linux scheduling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Solaris</a:t>
            </a:r>
          </a:p>
        </p:txBody>
      </p:sp>
      <p:sp>
        <p:nvSpPr>
          <p:cNvPr id="942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Priority-based scheduling</a:t>
            </a:r>
          </a:p>
          <a:p>
            <a:r>
              <a:rPr lang="en-US"/>
              <a:t>Six classes available</a:t>
            </a:r>
          </a:p>
          <a:p>
            <a:pPr lvl="1"/>
            <a:r>
              <a:rPr lang="en-US"/>
              <a:t>Time sharing (default)</a:t>
            </a:r>
          </a:p>
          <a:p>
            <a:pPr lvl="1"/>
            <a:r>
              <a:rPr lang="en-US"/>
              <a:t>Interactive</a:t>
            </a:r>
          </a:p>
          <a:p>
            <a:pPr lvl="1"/>
            <a:r>
              <a:rPr lang="en-US"/>
              <a:t>Real time</a:t>
            </a:r>
          </a:p>
          <a:p>
            <a:pPr lvl="1"/>
            <a:r>
              <a:rPr lang="en-US"/>
              <a:t>System</a:t>
            </a:r>
          </a:p>
          <a:p>
            <a:pPr lvl="1"/>
            <a:r>
              <a:rPr lang="en-US"/>
              <a:t>Fair Share</a:t>
            </a:r>
          </a:p>
          <a:p>
            <a:pPr lvl="1"/>
            <a:r>
              <a:rPr lang="en-US"/>
              <a:t>Fixed priority</a:t>
            </a:r>
          </a:p>
          <a:p>
            <a:r>
              <a:rPr lang="en-US"/>
              <a:t>Given thread can be in one class at a time</a:t>
            </a:r>
          </a:p>
          <a:p>
            <a:r>
              <a:rPr lang="en-US"/>
              <a:t>Each class has its own scheduling algorithm</a:t>
            </a:r>
          </a:p>
          <a:p>
            <a:r>
              <a:rPr lang="en-US"/>
              <a:t>Time sharing is multi-level feedback queue</a:t>
            </a:r>
          </a:p>
          <a:p>
            <a:pPr lvl="1"/>
            <a:r>
              <a:rPr lang="en-US"/>
              <a:t>Loadable table configurable by sysadmin</a:t>
            </a:r>
          </a:p>
          <a:p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41425" y="369888"/>
            <a:ext cx="11788775" cy="768350"/>
          </a:xfrm>
        </p:spPr>
        <p:txBody>
          <a:bodyPr/>
          <a:lstStyle/>
          <a:p>
            <a:pPr eaLnBrk="1" hangingPunct="1"/>
            <a:r>
              <a:rPr lang="en-US"/>
              <a:t>Solaris Dispatch Table </a:t>
            </a:r>
          </a:p>
        </p:txBody>
      </p:sp>
      <p:pic>
        <p:nvPicPr>
          <p:cNvPr id="9523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70250" y="2103438"/>
            <a:ext cx="7462838" cy="599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Solaris Scheduling</a:t>
            </a:r>
          </a:p>
        </p:txBody>
      </p:sp>
      <p:pic>
        <p:nvPicPr>
          <p:cNvPr id="97283" name="Picture 4" descr="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89388" y="1655763"/>
            <a:ext cx="4981575" cy="687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Solaris Scheduling (Cont.)</a:t>
            </a:r>
          </a:p>
        </p:txBody>
      </p:sp>
      <p:sp>
        <p:nvSpPr>
          <p:cNvPr id="993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Scheduler converts class-specific priorities into a per-thread global priority</a:t>
            </a:r>
          </a:p>
          <a:p>
            <a:pPr lvl="1"/>
            <a:r>
              <a:rPr lang="en-US"/>
              <a:t>Thread with highest priority runs next</a:t>
            </a:r>
          </a:p>
          <a:p>
            <a:pPr lvl="1"/>
            <a:r>
              <a:rPr lang="en-US"/>
              <a:t>Runs until (1) blocks, (2) uses time slice, (3) preempted by higher-priority thread</a:t>
            </a:r>
          </a:p>
          <a:p>
            <a:pPr lvl="1"/>
            <a:r>
              <a:rPr lang="en-US"/>
              <a:t>Multiple threads at same priority selected via RR</a:t>
            </a:r>
          </a:p>
          <a:p>
            <a:pPr lvl="1">
              <a:buFont typeface="Monotype Sorts" charset="2"/>
              <a:buNone/>
            </a:pPr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Windows Scheduling</a:t>
            </a:r>
          </a:p>
        </p:txBody>
      </p:sp>
      <p:sp>
        <p:nvSpPr>
          <p:cNvPr id="1003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Windows uses priority-based preemptive scheduling</a:t>
            </a:r>
          </a:p>
          <a:p>
            <a:r>
              <a:rPr lang="en-US"/>
              <a:t>Highest-priority thread runs next</a:t>
            </a:r>
          </a:p>
          <a:p>
            <a:r>
              <a:rPr lang="en-US" i="1"/>
              <a:t>Dispatcher </a:t>
            </a:r>
            <a:r>
              <a:rPr lang="en-US"/>
              <a:t>is scheduler</a:t>
            </a:r>
          </a:p>
          <a:p>
            <a:r>
              <a:rPr lang="en-US"/>
              <a:t>Thread runs until (1) blocks, (2) uses time slice, (3) preempted by higher-priority thread</a:t>
            </a:r>
          </a:p>
          <a:p>
            <a:r>
              <a:rPr lang="en-US"/>
              <a:t>Real-time threads can preempt non-real-time</a:t>
            </a:r>
          </a:p>
          <a:p>
            <a:r>
              <a:rPr lang="en-US"/>
              <a:t>32-level priority scheme</a:t>
            </a:r>
          </a:p>
          <a:p>
            <a:r>
              <a:rPr lang="en-US" b="1">
                <a:solidFill>
                  <a:srgbClr val="3366FF"/>
                </a:solidFill>
              </a:rPr>
              <a:t>Variable class </a:t>
            </a:r>
            <a:r>
              <a:rPr lang="en-US"/>
              <a:t>is 1-15, </a:t>
            </a:r>
            <a:r>
              <a:rPr lang="en-US" b="1">
                <a:solidFill>
                  <a:srgbClr val="3366FF"/>
                </a:solidFill>
              </a:rPr>
              <a:t>real-time class </a:t>
            </a:r>
            <a:r>
              <a:rPr lang="en-US"/>
              <a:t>is</a:t>
            </a:r>
            <a:r>
              <a:rPr lang="en-US" b="1">
                <a:solidFill>
                  <a:srgbClr val="3366FF"/>
                </a:solidFill>
              </a:rPr>
              <a:t> </a:t>
            </a:r>
            <a:r>
              <a:rPr lang="en-US"/>
              <a:t>16-31</a:t>
            </a:r>
          </a:p>
          <a:p>
            <a:r>
              <a:rPr lang="en-US"/>
              <a:t>Priority 0 is memory-management thread</a:t>
            </a:r>
          </a:p>
          <a:p>
            <a:r>
              <a:rPr lang="en-US"/>
              <a:t>Queue for each priority</a:t>
            </a:r>
          </a:p>
          <a:p>
            <a:r>
              <a:rPr lang="en-US"/>
              <a:t>If no run-able thread, runs </a:t>
            </a:r>
            <a:r>
              <a:rPr lang="en-US" b="1">
                <a:solidFill>
                  <a:srgbClr val="3366FF"/>
                </a:solidFill>
              </a:rPr>
              <a:t>idle thread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Windows Priority Classes</a:t>
            </a:r>
          </a:p>
        </p:txBody>
      </p:sp>
      <p:sp>
        <p:nvSpPr>
          <p:cNvPr id="1013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Win32 API identifies several priority classes to which a process can belong</a:t>
            </a:r>
          </a:p>
          <a:p>
            <a:pPr lvl="1"/>
            <a:r>
              <a:rPr lang="en-US"/>
              <a:t>REALTIME_PRIORITY_CLASS, HIGH_PRIORITY_CLASS, ABOVE_NORMAL_PRIORITY_CLASS,NORMAL_PRIORITY_CLASS, BELOW_NORMAL_PRIORITY_CLASS, IDLE_PRIORITY_CLASS</a:t>
            </a:r>
            <a:endParaRPr lang="en-US" b="1">
              <a:solidFill>
                <a:srgbClr val="3366FF"/>
              </a:solidFill>
            </a:endParaRPr>
          </a:p>
          <a:p>
            <a:pPr lvl="1"/>
            <a:r>
              <a:rPr lang="en-US"/>
              <a:t>All are variable except REALTIME</a:t>
            </a:r>
          </a:p>
          <a:p>
            <a:r>
              <a:rPr lang="en-US"/>
              <a:t>A thread within a given priority class has a relative priority</a:t>
            </a:r>
          </a:p>
          <a:p>
            <a:pPr lvl="1"/>
            <a:r>
              <a:rPr lang="en-US"/>
              <a:t>TIME_CRITICAL, HIGHEST, ABOVE_NORMAL, NORMAL, BELOW_NORMAL, LOWEST, IDLE</a:t>
            </a:r>
          </a:p>
          <a:p>
            <a:r>
              <a:rPr lang="en-US"/>
              <a:t>Priority class and relative priority combine to give numeric priority</a:t>
            </a:r>
          </a:p>
          <a:p>
            <a:r>
              <a:rPr lang="en-US"/>
              <a:t>Base priority is NORMAL within the class</a:t>
            </a:r>
          </a:p>
          <a:p>
            <a:r>
              <a:rPr lang="en-US"/>
              <a:t>If quantum expires, priority lowered, but never below base</a:t>
            </a:r>
          </a:p>
          <a:p>
            <a:r>
              <a:rPr lang="en-US"/>
              <a:t>If wait occurs, priority boosted depending on what was waited for</a:t>
            </a:r>
          </a:p>
          <a:p>
            <a:r>
              <a:rPr lang="en-US"/>
              <a:t>Foreground window given 3x priority boost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28738" y="369888"/>
            <a:ext cx="11701462" cy="768350"/>
          </a:xfrm>
        </p:spPr>
        <p:txBody>
          <a:bodyPr/>
          <a:lstStyle/>
          <a:p>
            <a:pPr eaLnBrk="1" hangingPunct="1"/>
            <a:r>
              <a:rPr lang="en-US"/>
              <a:t>Windows XP Priorities</a:t>
            </a:r>
          </a:p>
        </p:txBody>
      </p:sp>
      <p:pic>
        <p:nvPicPr>
          <p:cNvPr id="102403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0963" y="2401888"/>
            <a:ext cx="11082337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41425" y="369888"/>
            <a:ext cx="11788775" cy="768350"/>
          </a:xfrm>
        </p:spPr>
        <p:txBody>
          <a:bodyPr/>
          <a:lstStyle/>
          <a:p>
            <a:pPr eaLnBrk="1" hangingPunct="1"/>
            <a:r>
              <a:rPr lang="en-US"/>
              <a:t>Linux Scheduling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881188"/>
            <a:ext cx="11026775" cy="59785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Constant order </a:t>
            </a:r>
            <a:r>
              <a:rPr lang="en-US" i="1"/>
              <a:t>O</a:t>
            </a:r>
            <a:r>
              <a:rPr lang="en-US"/>
              <a:t>(1) scheduling time</a:t>
            </a:r>
          </a:p>
          <a:p>
            <a:pPr>
              <a:lnSpc>
                <a:spcPct val="90000"/>
              </a:lnSpc>
            </a:pPr>
            <a:r>
              <a:rPr lang="en-US"/>
              <a:t>Preemptive, priority based</a:t>
            </a:r>
          </a:p>
          <a:p>
            <a:pPr>
              <a:lnSpc>
                <a:spcPct val="90000"/>
              </a:lnSpc>
            </a:pPr>
            <a:r>
              <a:rPr lang="en-US"/>
              <a:t>Two priority ranges: time-sharing and real-time</a:t>
            </a:r>
          </a:p>
          <a:p>
            <a:pPr>
              <a:lnSpc>
                <a:spcPct val="90000"/>
              </a:lnSpc>
            </a:pPr>
            <a:r>
              <a:rPr lang="en-US" b="1"/>
              <a:t>Real-time </a:t>
            </a:r>
            <a:r>
              <a:rPr lang="en-US"/>
              <a:t>range from 0 to 99 and </a:t>
            </a:r>
            <a:r>
              <a:rPr lang="en-US" b="1"/>
              <a:t>nice </a:t>
            </a:r>
            <a:r>
              <a:rPr lang="en-US"/>
              <a:t>value from 100 to 140</a:t>
            </a:r>
          </a:p>
          <a:p>
            <a:pPr>
              <a:lnSpc>
                <a:spcPct val="90000"/>
              </a:lnSpc>
            </a:pPr>
            <a:r>
              <a:rPr lang="en-US"/>
              <a:t>Map into  global priority with numerically lower values indicating higher priority</a:t>
            </a:r>
          </a:p>
          <a:p>
            <a:pPr>
              <a:lnSpc>
                <a:spcPct val="90000"/>
              </a:lnSpc>
            </a:pPr>
            <a:r>
              <a:rPr lang="en-US"/>
              <a:t>Higher priority gets larger q</a:t>
            </a:r>
          </a:p>
          <a:p>
            <a:pPr>
              <a:lnSpc>
                <a:spcPct val="90000"/>
              </a:lnSpc>
            </a:pPr>
            <a:r>
              <a:rPr lang="en-US"/>
              <a:t>Task run-able as long as time left in time slice (</a:t>
            </a:r>
            <a:r>
              <a:rPr lang="en-US" b="1">
                <a:solidFill>
                  <a:srgbClr val="3366FF"/>
                </a:solidFill>
              </a:rPr>
              <a:t>active</a:t>
            </a:r>
            <a:r>
              <a:rPr lang="en-US"/>
              <a:t>)</a:t>
            </a:r>
          </a:p>
          <a:p>
            <a:pPr>
              <a:lnSpc>
                <a:spcPct val="90000"/>
              </a:lnSpc>
            </a:pPr>
            <a:r>
              <a:rPr lang="en-US"/>
              <a:t>If no time left (</a:t>
            </a:r>
            <a:r>
              <a:rPr lang="en-US" b="1">
                <a:solidFill>
                  <a:srgbClr val="3366FF"/>
                </a:solidFill>
              </a:rPr>
              <a:t>expired</a:t>
            </a:r>
            <a:r>
              <a:rPr lang="en-US"/>
              <a:t>), not run-able until all other tasks use their slices</a:t>
            </a:r>
          </a:p>
          <a:p>
            <a:pPr>
              <a:lnSpc>
                <a:spcPct val="90000"/>
              </a:lnSpc>
            </a:pPr>
            <a:r>
              <a:rPr lang="en-US"/>
              <a:t>All run-able tasks tracked in per-CPU </a:t>
            </a:r>
            <a:r>
              <a:rPr lang="en-US" b="1">
                <a:solidFill>
                  <a:srgbClr val="3366FF"/>
                </a:solidFill>
              </a:rPr>
              <a:t>runqueue </a:t>
            </a:r>
            <a:r>
              <a:rPr lang="en-US"/>
              <a:t>data structure</a:t>
            </a:r>
          </a:p>
          <a:p>
            <a:pPr lvl="1">
              <a:lnSpc>
                <a:spcPct val="90000"/>
              </a:lnSpc>
            </a:pPr>
            <a:r>
              <a:rPr lang="en-US"/>
              <a:t>Two priority arrays (active, expired)</a:t>
            </a:r>
          </a:p>
          <a:p>
            <a:pPr lvl="1">
              <a:lnSpc>
                <a:spcPct val="90000"/>
              </a:lnSpc>
            </a:pPr>
            <a:r>
              <a:rPr lang="en-US"/>
              <a:t>Tasks indexed by priority</a:t>
            </a:r>
          </a:p>
          <a:p>
            <a:pPr lvl="1">
              <a:lnSpc>
                <a:spcPct val="90000"/>
              </a:lnSpc>
            </a:pPr>
            <a:r>
              <a:rPr lang="en-US"/>
              <a:t>When no more active, arrays are exchanged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Linux Scheduling (Cont.)</a:t>
            </a:r>
          </a:p>
        </p:txBody>
      </p:sp>
      <p:sp>
        <p:nvSpPr>
          <p:cNvPr id="1064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Real-time scheduling according to POSIX.1b</a:t>
            </a:r>
          </a:p>
          <a:p>
            <a:pPr lvl="1"/>
            <a:r>
              <a:rPr lang="en-US"/>
              <a:t>Real-time tasks have static priorities</a:t>
            </a:r>
          </a:p>
          <a:p>
            <a:r>
              <a:rPr lang="en-US"/>
              <a:t>All other tasks dynamic based on </a:t>
            </a:r>
            <a:r>
              <a:rPr lang="en-US" i="1"/>
              <a:t>nice </a:t>
            </a:r>
            <a:r>
              <a:rPr lang="en-US"/>
              <a:t>value plus or minus 5</a:t>
            </a:r>
          </a:p>
          <a:p>
            <a:pPr lvl="1"/>
            <a:r>
              <a:rPr lang="en-US"/>
              <a:t>Interactivity of task determines plus or minus</a:t>
            </a:r>
          </a:p>
          <a:p>
            <a:pPr lvl="2"/>
            <a:r>
              <a:rPr lang="en-US"/>
              <a:t>More interactive -&gt; more minus</a:t>
            </a:r>
          </a:p>
          <a:p>
            <a:pPr lvl="1"/>
            <a:r>
              <a:rPr lang="en-US"/>
              <a:t>Priority recalculated when task expired</a:t>
            </a:r>
          </a:p>
          <a:p>
            <a:pPr lvl="1"/>
            <a:r>
              <a:rPr lang="en-US"/>
              <a:t>This exchanging arrays implements adjusted priorities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722313" y="373063"/>
            <a:ext cx="13187362" cy="771525"/>
          </a:xfrm>
        </p:spPr>
        <p:txBody>
          <a:bodyPr/>
          <a:lstStyle/>
          <a:p>
            <a:pPr eaLnBrk="1" hangingPunct="1"/>
            <a:r>
              <a:rPr lang="en-US"/>
              <a:t>Priorities and Time-slice length</a:t>
            </a:r>
          </a:p>
        </p:txBody>
      </p:sp>
      <p:pic>
        <p:nvPicPr>
          <p:cNvPr id="107523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0475" y="1839913"/>
            <a:ext cx="11155363" cy="561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0" y="407988"/>
            <a:ext cx="12344400" cy="768350"/>
          </a:xfrm>
        </p:spPr>
        <p:txBody>
          <a:bodyPr/>
          <a:lstStyle/>
          <a:p>
            <a:pPr eaLnBrk="1" hangingPunct="1"/>
            <a:r>
              <a:rPr lang="en-US" sz="4000"/>
              <a:t>List of Tasks Indexed </a:t>
            </a:r>
            <a:br>
              <a:rPr lang="en-US" sz="4000"/>
            </a:br>
            <a:r>
              <a:rPr lang="en-US" sz="4000"/>
              <a:t>According to Priorities</a:t>
            </a:r>
          </a:p>
        </p:txBody>
      </p:sp>
      <p:pic>
        <p:nvPicPr>
          <p:cNvPr id="109571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60563" y="2582863"/>
            <a:ext cx="10102850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1604963" y="369888"/>
            <a:ext cx="11425237" cy="768350"/>
          </a:xfrm>
        </p:spPr>
        <p:txBody>
          <a:bodyPr/>
          <a:lstStyle/>
          <a:p>
            <a:pPr eaLnBrk="1" hangingPunct="1"/>
            <a:r>
              <a:rPr lang="en-US"/>
              <a:t>Algorithm Evaluation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843088"/>
            <a:ext cx="11349038" cy="6191250"/>
          </a:xfrm>
        </p:spPr>
        <p:txBody>
          <a:bodyPr/>
          <a:lstStyle/>
          <a:p>
            <a:r>
              <a:rPr lang="en-US"/>
              <a:t>How to select CPU-scheduling algorithm for an OS?</a:t>
            </a:r>
          </a:p>
          <a:p>
            <a:endParaRPr lang="en-US"/>
          </a:p>
          <a:p>
            <a:r>
              <a:rPr lang="en-US"/>
              <a:t>Determine criteria, then evaluate algorithms</a:t>
            </a:r>
          </a:p>
          <a:p>
            <a:endParaRPr lang="en-US"/>
          </a:p>
          <a:p>
            <a:r>
              <a:rPr lang="en-US"/>
              <a:t>Deterministic modeling</a:t>
            </a:r>
          </a:p>
          <a:p>
            <a:pPr lvl="1"/>
            <a:r>
              <a:rPr lang="en-US"/>
              <a:t>Type of </a:t>
            </a:r>
            <a:r>
              <a:rPr lang="en-US" b="1"/>
              <a:t>analytic evaluation</a:t>
            </a:r>
          </a:p>
          <a:p>
            <a:pPr lvl="1"/>
            <a:r>
              <a:rPr lang="en-US"/>
              <a:t>Takes a particular predetermined workload and defines the performance of each algorithm  for that workload</a:t>
            </a:r>
          </a:p>
          <a:p>
            <a:pPr>
              <a:buFont typeface="Monotype Sorts" charset="2"/>
              <a:buNone/>
            </a:pPr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Queueing Models</a:t>
            </a:r>
          </a:p>
        </p:txBody>
      </p:sp>
      <p:sp>
        <p:nvSpPr>
          <p:cNvPr id="1136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Describes the arrival of processes, and CPU and I/O bursts probabilistically</a:t>
            </a:r>
          </a:p>
          <a:p>
            <a:pPr lvl="1"/>
            <a:r>
              <a:rPr lang="en-US"/>
              <a:t>Commonly exponential, and described by mean</a:t>
            </a:r>
          </a:p>
          <a:p>
            <a:pPr lvl="1"/>
            <a:r>
              <a:rPr lang="en-US"/>
              <a:t>Computes average throughput, utilization, waiting time, etc</a:t>
            </a:r>
          </a:p>
          <a:p>
            <a:r>
              <a:rPr lang="en-US"/>
              <a:t>Computer system described as network of servers, each with queue of waiting processes</a:t>
            </a:r>
          </a:p>
          <a:p>
            <a:pPr lvl="1"/>
            <a:r>
              <a:rPr lang="en-US"/>
              <a:t>Knowing arrival rates and service rates</a:t>
            </a:r>
          </a:p>
          <a:p>
            <a:pPr lvl="1"/>
            <a:r>
              <a:rPr lang="en-US"/>
              <a:t>Computes utilization, average queue length, average wait time, etc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Little’s Formula</a:t>
            </a:r>
          </a:p>
        </p:txBody>
      </p:sp>
      <p:sp>
        <p:nvSpPr>
          <p:cNvPr id="1146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/>
              <a:t>n</a:t>
            </a:r>
            <a:r>
              <a:rPr lang="en-US"/>
              <a:t> = average queue length</a:t>
            </a:r>
          </a:p>
          <a:p>
            <a:r>
              <a:rPr lang="en-US" i="1"/>
              <a:t>W</a:t>
            </a:r>
            <a:r>
              <a:rPr lang="en-US"/>
              <a:t> = average waiting time in queue</a:t>
            </a:r>
          </a:p>
          <a:p>
            <a:r>
              <a:rPr lang="en-US" i="1"/>
              <a:t>λ</a:t>
            </a:r>
            <a:r>
              <a:rPr lang="en-US"/>
              <a:t> = average arrival rate into queue</a:t>
            </a:r>
          </a:p>
          <a:p>
            <a:r>
              <a:rPr lang="en-US"/>
              <a:t>Little’s law – in steady state, processes leaving queue must equal processes arriving, thus</a:t>
            </a:r>
            <a:br>
              <a:rPr lang="en-US"/>
            </a:br>
            <a:r>
              <a:rPr lang="en-US" i="1"/>
              <a:t>n </a:t>
            </a:r>
            <a:r>
              <a:rPr lang="en-US"/>
              <a:t>= </a:t>
            </a:r>
            <a:r>
              <a:rPr lang="en-US" i="1"/>
              <a:t>λ </a:t>
            </a:r>
            <a:r>
              <a:rPr lang="en-US"/>
              <a:t>x</a:t>
            </a:r>
            <a:r>
              <a:rPr lang="en-US" i="1"/>
              <a:t> W</a:t>
            </a:r>
          </a:p>
          <a:p>
            <a:pPr lvl="1"/>
            <a:r>
              <a:rPr lang="en-US"/>
              <a:t>Valid for any scheduling algorithm and arrival distribution</a:t>
            </a:r>
          </a:p>
          <a:p>
            <a:endParaRPr lang="en-US"/>
          </a:p>
          <a:p>
            <a:r>
              <a:rPr lang="en-US"/>
              <a:t>For example, if on average 7 processes arrive per second, and normally 14 processes in queue, then average wait time per process = 2 seconds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Simulations</a:t>
            </a:r>
          </a:p>
        </p:txBody>
      </p:sp>
      <p:sp>
        <p:nvSpPr>
          <p:cNvPr id="1157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Queueing models limited</a:t>
            </a:r>
          </a:p>
          <a:p>
            <a:r>
              <a:rPr lang="en-US" b="1"/>
              <a:t>Simulations </a:t>
            </a:r>
            <a:r>
              <a:rPr lang="en-US"/>
              <a:t>more accurate</a:t>
            </a:r>
          </a:p>
          <a:p>
            <a:pPr lvl="1"/>
            <a:r>
              <a:rPr lang="en-US"/>
              <a:t>Programmed model of computer system</a:t>
            </a:r>
          </a:p>
          <a:p>
            <a:pPr lvl="1"/>
            <a:r>
              <a:rPr lang="en-US"/>
              <a:t>Clock is a variable</a:t>
            </a:r>
          </a:p>
          <a:p>
            <a:pPr lvl="1"/>
            <a:r>
              <a:rPr lang="en-US"/>
              <a:t>Gather statistics  indicating algorithm performance</a:t>
            </a:r>
          </a:p>
          <a:p>
            <a:pPr lvl="1"/>
            <a:r>
              <a:rPr lang="en-US"/>
              <a:t>Data to drive simulation gathered via</a:t>
            </a:r>
          </a:p>
          <a:p>
            <a:pPr lvl="2"/>
            <a:r>
              <a:rPr lang="en-US"/>
              <a:t>Random number generator according to probabilities</a:t>
            </a:r>
          </a:p>
          <a:p>
            <a:pPr lvl="2"/>
            <a:r>
              <a:rPr lang="en-US"/>
              <a:t>Distributions defined mathematically or empirically</a:t>
            </a:r>
          </a:p>
          <a:p>
            <a:pPr lvl="2"/>
            <a:r>
              <a:rPr lang="en-US"/>
              <a:t>Trace tapes record sequences of real events in real systems</a:t>
            </a:r>
          </a:p>
          <a:p>
            <a:pPr lvl="2"/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0" y="407988"/>
            <a:ext cx="12344400" cy="768350"/>
          </a:xfrm>
        </p:spPr>
        <p:txBody>
          <a:bodyPr/>
          <a:lstStyle/>
          <a:p>
            <a:pPr eaLnBrk="1" hangingPunct="1"/>
            <a:r>
              <a:rPr lang="en-US" sz="4000"/>
              <a:t>Evaluation of CPU Schedulers </a:t>
            </a:r>
            <a:br>
              <a:rPr lang="en-US" sz="4000"/>
            </a:br>
            <a:r>
              <a:rPr lang="en-US" sz="4000"/>
              <a:t>by Simulation</a:t>
            </a:r>
          </a:p>
        </p:txBody>
      </p:sp>
      <p:pic>
        <p:nvPicPr>
          <p:cNvPr id="116739" name="Picture 4" descr="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0913" y="1535113"/>
            <a:ext cx="11498262" cy="6370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itle 1"/>
          <p:cNvSpPr>
            <a:spLocks noGrp="1"/>
          </p:cNvSpPr>
          <p:nvPr>
            <p:ph type="title" idx="4294967295"/>
          </p:nvPr>
        </p:nvSpPr>
        <p:spPr>
          <a:xfrm>
            <a:off x="0" y="369888"/>
            <a:ext cx="12344400" cy="768350"/>
          </a:xfrm>
        </p:spPr>
        <p:txBody>
          <a:bodyPr/>
          <a:lstStyle/>
          <a:p>
            <a:r>
              <a:rPr lang="en-US"/>
              <a:t>Implementation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0622" tIns="65311" rIns="130622" bIns="65311"/>
          <a:lstStyle/>
          <a:p>
            <a:pPr marL="488950" indent="-488950" defTabSz="1304925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 sz="2600">
                <a:latin typeface="Helvetica" charset="0"/>
              </a:rPr>
              <a:t>Even simulations have limited accuracy</a:t>
            </a:r>
          </a:p>
          <a:p>
            <a:pPr marL="488950" indent="-488950" defTabSz="1304925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Helvetica" charset="0"/>
              </a:rPr>
              <a:t>Just implement new scheduler and test in real systems</a:t>
            </a:r>
          </a:p>
          <a:p>
            <a:pPr marL="1141413" lvl="1" indent="-488950" defTabSz="1304925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Helvetica" charset="0"/>
              </a:rPr>
              <a:t>High cost, high risk</a:t>
            </a:r>
          </a:p>
          <a:p>
            <a:pPr marL="1141413" lvl="1" indent="-488950" defTabSz="1304925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Helvetica" charset="0"/>
              </a:rPr>
              <a:t>Environments vary</a:t>
            </a:r>
          </a:p>
          <a:p>
            <a:pPr marL="488950" indent="-488950" defTabSz="1304925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Helvetica" charset="0"/>
              </a:rPr>
              <a:t>Most flexible schedulers can be modified per-site or per-system</a:t>
            </a:r>
          </a:p>
          <a:p>
            <a:pPr marL="488950" indent="-488950" defTabSz="1304925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Helvetica" charset="0"/>
              </a:rPr>
              <a:t>Or APIs to modify priorities</a:t>
            </a:r>
          </a:p>
          <a:p>
            <a:pPr marL="488950" indent="-488950" defTabSz="1304925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Helvetica" charset="0"/>
              </a:rPr>
              <a:t>But again environments vary</a:t>
            </a:r>
          </a:p>
          <a:p>
            <a:pPr marL="488950" indent="-488950" defTabSz="1304925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endParaRPr kumimoji="1" lang="en-US" sz="2600">
              <a:latin typeface="Helvetica" charset="0"/>
            </a:endParaRPr>
          </a:p>
          <a:p>
            <a:pPr marL="1550988" lvl="2" indent="-325438" defTabSz="1304925">
              <a:spcBef>
                <a:spcPct val="35000"/>
              </a:spcBef>
              <a:buClr>
                <a:srgbClr val="009900"/>
              </a:buClr>
              <a:buSzPct val="75000"/>
              <a:buFont typeface="Webdings" charset="2"/>
              <a:buChar char="4"/>
            </a:pPr>
            <a:endParaRPr kumimoji="1" lang="en-US" sz="2600">
              <a:latin typeface="Helvetica" charset="0"/>
            </a:endParaRPr>
          </a:p>
          <a:p>
            <a:pPr marL="1141413" lvl="1" indent="-488950" defTabSz="1304925">
              <a:spcBef>
                <a:spcPct val="35000"/>
              </a:spcBef>
              <a:buClr>
                <a:srgbClr val="CC6600"/>
              </a:buClr>
              <a:buSzPct val="80000"/>
              <a:buFont typeface="Monotype Sorts" charset="2"/>
              <a:buChar char="l"/>
            </a:pPr>
            <a:endParaRPr kumimoji="1" lang="en-US" sz="2600">
              <a:latin typeface="Helvetica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9729</TotalTime>
  <Words>2517</Words>
  <Application>Microsoft Macintosh PowerPoint</Application>
  <PresentationFormat>Custom</PresentationFormat>
  <Paragraphs>461</Paragraphs>
  <Slides>47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Helvetica</vt:lpstr>
      <vt:lpstr>Monotype Sorts</vt:lpstr>
      <vt:lpstr>Times New Roman</vt:lpstr>
      <vt:lpstr>Verdana</vt:lpstr>
      <vt:lpstr>Webdings</vt:lpstr>
      <vt:lpstr>os-8</vt:lpstr>
      <vt:lpstr>Chapter 5:  CPU Scheduling</vt:lpstr>
      <vt:lpstr>Chapter 5:  CPU Scheduling</vt:lpstr>
      <vt:lpstr>Objectives</vt:lpstr>
      <vt:lpstr>Basic Concepts</vt:lpstr>
      <vt:lpstr>Alternating Sequence of CPU and  I/O Bursts</vt:lpstr>
      <vt:lpstr>Histogram of CPU-burst Times</vt:lpstr>
      <vt:lpstr>CPU Scheduler</vt:lpstr>
      <vt:lpstr>Dispatcher</vt:lpstr>
      <vt:lpstr>Scheduling Criteria</vt:lpstr>
      <vt:lpstr>Scheduling Algorithm Optimization Criteria</vt:lpstr>
      <vt:lpstr>First-Come, First-Served (FCFS) Scheduling</vt:lpstr>
      <vt:lpstr>FCFS Scheduling (Cont.)</vt:lpstr>
      <vt:lpstr>Shortest-Job-First (SJF) Scheduling</vt:lpstr>
      <vt:lpstr>Example of SJF</vt:lpstr>
      <vt:lpstr>Example of Shortest-remaining-time-first</vt:lpstr>
      <vt:lpstr>Priority Scheduling</vt:lpstr>
      <vt:lpstr>Example of Priority Scheduling</vt:lpstr>
      <vt:lpstr>Round Robin (RR)</vt:lpstr>
      <vt:lpstr>Example of RR with Time Quantum = 4</vt:lpstr>
      <vt:lpstr>Multilevel Queue</vt:lpstr>
      <vt:lpstr>Multilevel Queue Scheduling</vt:lpstr>
      <vt:lpstr>Multilevel Feedback Queue</vt:lpstr>
      <vt:lpstr>Example of Multilevel Feedback Queue</vt:lpstr>
      <vt:lpstr>Multilevel Feedback Queues</vt:lpstr>
      <vt:lpstr>Multiple-Processor Scheduling</vt:lpstr>
      <vt:lpstr>NUMA and CPU Scheduling</vt:lpstr>
      <vt:lpstr>Multicore Processors</vt:lpstr>
      <vt:lpstr>Multithreaded Multicore System</vt:lpstr>
      <vt:lpstr>Virtualization and Scheduling</vt:lpstr>
      <vt:lpstr>Operating System Examples</vt:lpstr>
      <vt:lpstr>Solaris</vt:lpstr>
      <vt:lpstr>Solaris Dispatch Table </vt:lpstr>
      <vt:lpstr>Solaris Scheduling</vt:lpstr>
      <vt:lpstr>Solaris Scheduling (Cont.)</vt:lpstr>
      <vt:lpstr>Windows Scheduling</vt:lpstr>
      <vt:lpstr>Windows Priority Classes</vt:lpstr>
      <vt:lpstr>Windows XP Priorities</vt:lpstr>
      <vt:lpstr>Linux Scheduling</vt:lpstr>
      <vt:lpstr>Linux Scheduling (Cont.)</vt:lpstr>
      <vt:lpstr>Priorities and Time-slice length</vt:lpstr>
      <vt:lpstr>List of Tasks Indexed  According to Priorities</vt:lpstr>
      <vt:lpstr>Algorithm Evaluation</vt:lpstr>
      <vt:lpstr>Queueing Models</vt:lpstr>
      <vt:lpstr>Little’s Formula</vt:lpstr>
      <vt:lpstr>Simulations</vt:lpstr>
      <vt:lpstr>Evaluation of CPU Schedulers  by Simulation</vt:lpstr>
      <vt:lpstr>Implementation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 CPU Scheduling</dc:title>
  <dc:creator>Marilyn Turnamian</dc:creator>
  <cp:lastModifiedBy>Microsoft Office User</cp:lastModifiedBy>
  <cp:revision>166</cp:revision>
  <cp:lastPrinted>2011-02-07T04:52:44Z</cp:lastPrinted>
  <dcterms:created xsi:type="dcterms:W3CDTF">2011-02-10T17:10:04Z</dcterms:created>
  <dcterms:modified xsi:type="dcterms:W3CDTF">2023-06-04T09:46:25Z</dcterms:modified>
</cp:coreProperties>
</file>
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84" autoAdjust="0"/>
  </p:normalViewPr>
  <p:slideViewPr>
    <p:cSldViewPr>
      <p:cViewPr varScale="1">
        <p:scale>
          <a:sx n="65" d="100"/>
          <a:sy n="65" d="100"/>
        </p:scale>
        <p:origin x="15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37821-F908-45C2-B367-57158848FE55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9995F-0F6D-4110-A9FA-DC20E688F55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9995F-0F6D-4110-A9FA-DC20E688F55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intranet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 private network that allows employees and staff in an enterprise to securely share knowledge and information easily within the company or organization.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extranet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often considered part of a company's intranet that is extended to authorized users outside of the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9995F-0F6D-4110-A9FA-DC20E688F5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7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Beholder: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 who sees or observes someone or something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9995F-0F6D-4110-A9FA-DC20E688F5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0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ED708A6-F351-42B9-9424-6EC437676B0B}" type="datetimeFigureOut">
              <a:rPr lang="en-US" smtClean="0"/>
              <a:t>1/28/2020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A4787E7-BBBE-4A57-A061-EB144FA55E7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/>
              <a:t>Web Application Architecture</a:t>
            </a:r>
          </a:p>
          <a:p>
            <a:r>
              <a:rPr lang="en-US" sz="3200" b="1" dirty="0"/>
              <a:t>Principles, protocols and practices</a:t>
            </a:r>
          </a:p>
          <a:p>
            <a:r>
              <a:rPr lang="en-US" b="1" dirty="0"/>
              <a:t>By Leon Shklar, Richard Rosen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 SYSTEMS AND TECHNOLOGIES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7772400" cy="1143000"/>
          </a:xfrm>
        </p:spPr>
        <p:txBody>
          <a:bodyPr>
            <a:normAutofit/>
          </a:bodyPr>
          <a:lstStyle/>
          <a:p>
            <a:r>
              <a:rPr lang="en-US" sz="5400" dirty="0"/>
              <a:t>PRE-REQUISITES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>
            <a:normAutofit/>
          </a:bodyPr>
          <a:lstStyle/>
          <a:p>
            <a:r>
              <a:rPr lang="en-US" sz="3600" dirty="0"/>
              <a:t>Programming Fundamentals</a:t>
            </a:r>
          </a:p>
          <a:p>
            <a:r>
              <a:rPr lang="en-US" sz="3600" dirty="0"/>
              <a:t>What is Communication</a:t>
            </a:r>
          </a:p>
          <a:p>
            <a:r>
              <a:rPr lang="en-US" sz="3600" dirty="0"/>
              <a:t>Communication Components</a:t>
            </a:r>
          </a:p>
          <a:p>
            <a:r>
              <a:rPr lang="en-US" sz="3600" dirty="0"/>
              <a:t>Communication Devices</a:t>
            </a:r>
          </a:p>
          <a:p>
            <a:r>
              <a:rPr lang="en-US" sz="3600" dirty="0"/>
              <a:t>What is Network</a:t>
            </a:r>
          </a:p>
          <a:p>
            <a:r>
              <a:rPr lang="en-US" sz="3600" dirty="0"/>
              <a:t>What is WWW (Web)</a:t>
            </a:r>
          </a:p>
          <a:p>
            <a:r>
              <a:rPr lang="en-US" sz="3600" dirty="0"/>
              <a:t>What is Protocols	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Programming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b="1" dirty="0"/>
              <a:t>A Sequence of statements to accomplish a specific task is called program.</a:t>
            </a:r>
          </a:p>
          <a:p>
            <a:pPr lvl="1"/>
            <a:r>
              <a:rPr lang="en-US" dirty="0"/>
              <a:t>Program to sort a list of values</a:t>
            </a:r>
          </a:p>
          <a:p>
            <a:pPr lvl="1"/>
            <a:r>
              <a:rPr lang="en-US" dirty="0"/>
              <a:t>Program to manipulate area and volume of given dimensions.</a:t>
            </a:r>
          </a:p>
          <a:p>
            <a:pPr lvl="1"/>
            <a:r>
              <a:rPr lang="en-US" dirty="0"/>
              <a:t>Program to generate 50 random numbers</a:t>
            </a:r>
          </a:p>
          <a:p>
            <a:r>
              <a:rPr lang="en-US" sz="3200" b="1" dirty="0"/>
              <a:t>Programming Methodologies:</a:t>
            </a:r>
          </a:p>
          <a:p>
            <a:pPr lvl="1"/>
            <a:r>
              <a:rPr lang="en-US" dirty="0"/>
              <a:t>Sequential Programming </a:t>
            </a:r>
          </a:p>
          <a:p>
            <a:pPr lvl="1"/>
            <a:r>
              <a:rPr lang="en-US" dirty="0"/>
              <a:t>Procedural Programming</a:t>
            </a:r>
          </a:p>
          <a:p>
            <a:pPr lvl="1"/>
            <a:r>
              <a:rPr lang="en-US" dirty="0"/>
              <a:t>Object oriented Programming</a:t>
            </a:r>
          </a:p>
          <a:p>
            <a:pPr lvl="1"/>
            <a:r>
              <a:rPr lang="en-US" dirty="0"/>
              <a:t>Event-Driven Programming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77724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8200"/>
            <a:ext cx="8458200" cy="5638800"/>
          </a:xfrm>
        </p:spPr>
        <p:txBody>
          <a:bodyPr>
            <a:normAutofit/>
          </a:bodyPr>
          <a:lstStyle/>
          <a:p>
            <a:r>
              <a:rPr lang="en-US" dirty="0"/>
              <a:t>Exchange of Information between two parties.</a:t>
            </a:r>
          </a:p>
          <a:p>
            <a:r>
              <a:rPr lang="en-US" dirty="0"/>
              <a:t>The Process to communicate data, messages, files, and software through some means.</a:t>
            </a:r>
          </a:p>
          <a:p>
            <a:r>
              <a:rPr lang="en-US" dirty="0"/>
              <a:t> </a:t>
            </a:r>
            <a:r>
              <a:rPr lang="en-US" sz="3200" b="1" dirty="0"/>
              <a:t>Communication Components:</a:t>
            </a:r>
          </a:p>
          <a:p>
            <a:pPr lvl="1"/>
            <a:r>
              <a:rPr lang="en-US" sz="2800" dirty="0"/>
              <a:t>Source</a:t>
            </a:r>
          </a:p>
          <a:p>
            <a:pPr lvl="1"/>
            <a:r>
              <a:rPr lang="en-US" sz="2800" dirty="0"/>
              <a:t>Transmitter</a:t>
            </a:r>
          </a:p>
          <a:p>
            <a:pPr lvl="1"/>
            <a:r>
              <a:rPr lang="en-US" sz="2800" dirty="0"/>
              <a:t>Transmission medium</a:t>
            </a:r>
          </a:p>
          <a:p>
            <a:pPr lvl="1"/>
            <a:r>
              <a:rPr lang="en-US" sz="2800" dirty="0"/>
              <a:t>Receiver</a:t>
            </a:r>
          </a:p>
          <a:p>
            <a:pPr lvl="1"/>
            <a:r>
              <a:rPr lang="en-US" sz="2800" dirty="0"/>
              <a:t>Destination</a:t>
            </a:r>
          </a:p>
          <a:p>
            <a:r>
              <a:rPr lang="en-US" sz="2800" b="1" dirty="0"/>
              <a:t>Communication Devices:</a:t>
            </a:r>
          </a:p>
          <a:p>
            <a:r>
              <a:rPr lang="en-US" dirty="0"/>
              <a:t>LAN Card, </a:t>
            </a:r>
            <a:r>
              <a:rPr lang="en-US" dirty="0" err="1"/>
              <a:t>Wi</a:t>
            </a:r>
            <a:r>
              <a:rPr lang="en-US" dirty="0"/>
              <a:t> </a:t>
            </a:r>
            <a:r>
              <a:rPr lang="en-US" dirty="0" err="1"/>
              <a:t>Fi</a:t>
            </a:r>
            <a:r>
              <a:rPr lang="en-US" dirty="0"/>
              <a:t> Card, DSL, WAP, Switch, Router, Repeater etc.</a:t>
            </a:r>
          </a:p>
          <a:p>
            <a:pPr lvl="1"/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Network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219200"/>
            <a:ext cx="7924800" cy="5105400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Inter-connection of two or more nodes for communication</a:t>
            </a:r>
          </a:p>
          <a:p>
            <a:pPr lvl="1"/>
            <a:r>
              <a:rPr lang="en-US" sz="2800" dirty="0"/>
              <a:t>Nodes mean Computer or Communication Device</a:t>
            </a:r>
          </a:p>
          <a:p>
            <a:r>
              <a:rPr lang="en-US" sz="2800" dirty="0"/>
              <a:t>Why we use Network?</a:t>
            </a:r>
          </a:p>
          <a:p>
            <a:pPr lvl="1"/>
            <a:r>
              <a:rPr lang="en-US" sz="2800" dirty="0"/>
              <a:t>To Share</a:t>
            </a:r>
          </a:p>
          <a:p>
            <a:pPr lvl="2"/>
            <a:r>
              <a:rPr lang="en-US" sz="2800" dirty="0"/>
              <a:t>Data and Information</a:t>
            </a:r>
          </a:p>
          <a:p>
            <a:pPr lvl="2"/>
            <a:r>
              <a:rPr lang="en-US" sz="2800" dirty="0"/>
              <a:t>Software</a:t>
            </a:r>
          </a:p>
          <a:p>
            <a:pPr lvl="2"/>
            <a:r>
              <a:rPr lang="en-US" sz="2800" dirty="0"/>
              <a:t>Hardware Resources</a:t>
            </a:r>
          </a:p>
          <a:p>
            <a:pPr lvl="1"/>
            <a:r>
              <a:rPr lang="en-US" sz="2800" dirty="0"/>
              <a:t>To Reduce Cost</a:t>
            </a:r>
          </a:p>
          <a:p>
            <a:pPr lvl="1"/>
            <a:r>
              <a:rPr lang="en-US" sz="2800" dirty="0"/>
              <a:t>To minimize time period of communication</a:t>
            </a:r>
          </a:p>
          <a:p>
            <a:pPr lvl="1"/>
            <a:r>
              <a:rPr lang="en-US" sz="2800" dirty="0"/>
              <a:t>To implement Security Policies</a:t>
            </a:r>
          </a:p>
          <a:p>
            <a:pPr lvl="1"/>
            <a:r>
              <a:rPr lang="en-US" sz="2800" dirty="0"/>
              <a:t>To ensure user’s privacy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 dirty="0"/>
              <a:t>Network Types</a:t>
            </a:r>
            <a:r>
              <a:rPr lang="en-US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LAN (Local Area Network)</a:t>
            </a:r>
          </a:p>
          <a:p>
            <a:r>
              <a:rPr lang="en-US" sz="3200" dirty="0"/>
              <a:t>MAN (Metropolitan Area Network)</a:t>
            </a:r>
          </a:p>
          <a:p>
            <a:r>
              <a:rPr lang="en-US" sz="3200" dirty="0"/>
              <a:t>WAN (Wide Area Network)</a:t>
            </a:r>
          </a:p>
          <a:p>
            <a:r>
              <a:rPr lang="en-US" sz="3200" dirty="0"/>
              <a:t>PAN (Personal Area Network)</a:t>
            </a:r>
          </a:p>
          <a:p>
            <a:r>
              <a:rPr lang="en-US" sz="3200" dirty="0"/>
              <a:t>CAN (Campus Area Network)</a:t>
            </a:r>
          </a:p>
          <a:p>
            <a:r>
              <a:rPr lang="en-US" sz="3200" dirty="0"/>
              <a:t>Intranet</a:t>
            </a:r>
          </a:p>
          <a:p>
            <a:r>
              <a:rPr lang="en-US" sz="3200" dirty="0"/>
              <a:t>Extranet</a:t>
            </a:r>
          </a:p>
          <a:p>
            <a:r>
              <a:rPr lang="en-US" sz="3200" dirty="0"/>
              <a:t>Internet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7772400" cy="1143000"/>
          </a:xfrm>
        </p:spPr>
        <p:txBody>
          <a:bodyPr/>
          <a:lstStyle/>
          <a:p>
            <a:r>
              <a:rPr lang="en-US" dirty="0"/>
              <a:t>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400"/>
            <a:ext cx="8686800" cy="57150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A most widely used Internet Service.</a:t>
            </a:r>
          </a:p>
          <a:p>
            <a:pPr algn="just"/>
            <a:r>
              <a:rPr lang="en-US" sz="2800" dirty="0"/>
              <a:t>“World Wide Web” or simply Web is a virtual library or a document control system.  </a:t>
            </a:r>
            <a:r>
              <a:rPr lang="en-US" sz="2800" b="1" dirty="0"/>
              <a:t>OR</a:t>
            </a:r>
          </a:p>
          <a:p>
            <a:pPr algn="just"/>
            <a:r>
              <a:rPr lang="en-US" sz="2800" dirty="0"/>
              <a:t>“The Web is a global information sharing architecture that integrates  multiple online contents and information services in a fast, cost effective and easy to use manner.” 		</a:t>
            </a:r>
            <a:r>
              <a:rPr lang="en-US" sz="2800" b="1" dirty="0"/>
              <a:t>OR</a:t>
            </a:r>
            <a:endParaRPr lang="en-US" sz="2800" dirty="0"/>
          </a:p>
          <a:p>
            <a:pPr algn="just"/>
            <a:r>
              <a:rPr lang="en-US" sz="2800" dirty="0"/>
              <a:t>“The Web is a collection of distributed documents referred to as pages located on computers all over the world”.				</a:t>
            </a:r>
            <a:r>
              <a:rPr lang="en-US" sz="2800" b="1" dirty="0"/>
              <a:t>OR</a:t>
            </a:r>
            <a:endParaRPr lang="en-US" sz="2800" dirty="0"/>
          </a:p>
          <a:p>
            <a:pPr algn="just"/>
            <a:r>
              <a:rPr lang="en-US" sz="2800" dirty="0"/>
              <a:t>“The aggregate of information available at different servers in the whole world is called web”.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The WEB in Perspective: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685800"/>
            <a:ext cx="8763000" cy="6172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Internet was developed in late 1960s to share information like messages, or e-mails, but the WWW emerged in the early 1990s to share files, software, and business activities.</a:t>
            </a:r>
          </a:p>
          <a:p>
            <a:pPr algn="just"/>
            <a:r>
              <a:rPr lang="en-US" dirty="0"/>
              <a:t>Tim Berners Lee Presented a proposal for an information management system at CERN (European Council for Nuclear Research) Laboratory near Geneva  and he called it, ”World Wide Web”.</a:t>
            </a:r>
          </a:p>
          <a:p>
            <a:pPr algn="just"/>
            <a:r>
              <a:rPr lang="en-US" dirty="0"/>
              <a:t>Educational Institutions and research laboratories were the very first users of web.</a:t>
            </a:r>
          </a:p>
          <a:p>
            <a:pPr algn="just"/>
            <a:r>
              <a:rPr lang="en-US" dirty="0"/>
              <a:t>WWW fulfilled wide variety of purposes like:</a:t>
            </a:r>
          </a:p>
          <a:p>
            <a:pPr lvl="1" algn="just"/>
            <a:r>
              <a:rPr lang="en-US" sz="2600" dirty="0"/>
              <a:t> International Postal Services, </a:t>
            </a:r>
          </a:p>
          <a:p>
            <a:pPr lvl="1" algn="just"/>
            <a:r>
              <a:rPr lang="en-US" sz="2600" dirty="0"/>
              <a:t>Bulletin board for posting virtual photo albums. </a:t>
            </a:r>
          </a:p>
          <a:p>
            <a:pPr lvl="1" algn="just"/>
            <a:r>
              <a:rPr lang="en-US" sz="2600" dirty="0"/>
              <a:t>Businesses engaged in E-Commerce.</a:t>
            </a:r>
          </a:p>
          <a:p>
            <a:pPr algn="just"/>
            <a:r>
              <a:rPr lang="en-US" dirty="0"/>
              <a:t>Later on, Tim Provided the concept of URLs and hypertext links.</a:t>
            </a:r>
          </a:p>
          <a:p>
            <a:pPr algn="just"/>
            <a:r>
              <a:rPr lang="en-US" dirty="0"/>
              <a:t>Ted Nelson’s Xanadu project aspired to make the dream of people into reality that use the Internet as universal medium for exchanging information over computer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304800"/>
            <a:ext cx="7772400" cy="1143000"/>
          </a:xfrm>
        </p:spPr>
        <p:txBody>
          <a:bodyPr/>
          <a:lstStyle/>
          <a:p>
            <a:r>
              <a:rPr lang="en-US" dirty="0"/>
              <a:t>The WEB: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762000"/>
            <a:ext cx="8610600" cy="3276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fundamental technology behind the Web is relatively simple. </a:t>
            </a:r>
          </a:p>
          <a:p>
            <a:r>
              <a:rPr lang="en-US" dirty="0"/>
              <a:t>A computer connected to the Internet, </a:t>
            </a:r>
          </a:p>
          <a:p>
            <a:pPr lvl="1"/>
            <a:r>
              <a:rPr lang="en-US" dirty="0"/>
              <a:t>Running a </a:t>
            </a:r>
            <a:r>
              <a:rPr lang="en-US" i="1" dirty="0"/>
              <a:t>Web server t</a:t>
            </a:r>
            <a:r>
              <a:rPr lang="en-US" dirty="0"/>
              <a:t>o serve documents. </a:t>
            </a:r>
          </a:p>
          <a:p>
            <a:pPr lvl="1"/>
            <a:r>
              <a:rPr lang="en-US" dirty="0"/>
              <a:t>Freely available Web server software. </a:t>
            </a:r>
          </a:p>
          <a:p>
            <a:pPr lvl="1"/>
            <a:r>
              <a:rPr lang="en-US" dirty="0"/>
              <a:t>A small amount of </a:t>
            </a:r>
            <a:r>
              <a:rPr lang="en-US" i="1" dirty="0"/>
              <a:t>HTML </a:t>
            </a:r>
            <a:r>
              <a:rPr lang="en-US" dirty="0"/>
              <a:t>knowledge and the proper computing resources.</a:t>
            </a:r>
          </a:p>
          <a:p>
            <a:pPr lvl="1"/>
            <a:r>
              <a:rPr lang="en-US" dirty="0"/>
              <a:t>A terminal (at user side) that let you to Log-in to a large Server over direct connection or dial-up  phone line.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3733800"/>
            <a:ext cx="8153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 rot="5400000">
            <a:off x="7702034" y="5187434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Backend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76200"/>
            <a:ext cx="7772400" cy="914400"/>
          </a:xfrm>
        </p:spPr>
        <p:txBody>
          <a:bodyPr/>
          <a:lstStyle/>
          <a:p>
            <a:r>
              <a:rPr lang="en-US" dirty="0"/>
              <a:t>WEBPAGE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762000"/>
            <a:ext cx="8382000" cy="5867400"/>
          </a:xfrm>
        </p:spPr>
        <p:txBody>
          <a:bodyPr>
            <a:normAutofit/>
          </a:bodyPr>
          <a:lstStyle/>
          <a:p>
            <a:r>
              <a:rPr lang="en-US" dirty="0"/>
              <a:t>An electronic document on the web is called webpage.</a:t>
            </a:r>
          </a:p>
          <a:p>
            <a:r>
              <a:rPr lang="en-US" dirty="0"/>
              <a:t>A web page may contains text, graphics, animation, audio and video.</a:t>
            </a:r>
          </a:p>
          <a:p>
            <a:r>
              <a:rPr lang="en-US" dirty="0"/>
              <a:t>Web pages usually have built-in connections to other documents.</a:t>
            </a:r>
          </a:p>
          <a:p>
            <a:r>
              <a:rPr lang="en-US" dirty="0"/>
              <a:t>Web pages may be Static or Dynamic</a:t>
            </a:r>
          </a:p>
          <a:p>
            <a:r>
              <a:rPr lang="en-US" dirty="0"/>
              <a:t>Visitors to a static webpage  all see the same contents.</a:t>
            </a:r>
          </a:p>
          <a:p>
            <a:r>
              <a:rPr lang="en-US" dirty="0"/>
              <a:t>Visitors  to a dynamic webpage can view customized contents such as:</a:t>
            </a:r>
          </a:p>
          <a:p>
            <a:pPr lvl="1"/>
            <a:r>
              <a:rPr lang="en-US" dirty="0"/>
              <a:t>Desired stock quotes</a:t>
            </a:r>
          </a:p>
          <a:p>
            <a:pPr lvl="1"/>
            <a:r>
              <a:rPr lang="en-US" dirty="0"/>
              <a:t>Weather for a region</a:t>
            </a:r>
          </a:p>
          <a:p>
            <a:pPr lvl="1"/>
            <a:r>
              <a:rPr lang="en-US" dirty="0"/>
              <a:t>Ticket availability for flights.</a:t>
            </a:r>
          </a:p>
          <a:p>
            <a:r>
              <a:rPr lang="en-US" dirty="0"/>
              <a:t>The Contents of dynamic WebPages from backend system are generated by page-generation technologies like ASP, JSP and PHP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7772400" cy="944562"/>
          </a:xfrm>
        </p:spPr>
        <p:txBody>
          <a:bodyPr/>
          <a:lstStyle/>
          <a:p>
            <a:r>
              <a:rPr lang="en-US" dirty="0"/>
              <a:t>WEBSITE: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" y="914400"/>
            <a:ext cx="9067800" cy="56388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A website is a collection of related WebPages and associated items ( documents and pictures) stored on a web server. </a:t>
            </a:r>
          </a:p>
          <a:p>
            <a:pPr algn="just"/>
            <a:r>
              <a:rPr lang="en-US" dirty="0"/>
              <a:t>The same web server can store multiple websites.</a:t>
            </a:r>
          </a:p>
          <a:p>
            <a:pPr algn="just"/>
            <a:r>
              <a:rPr lang="en-US" dirty="0"/>
              <a:t>Website provides a mean for users to share personal information (such as social networking websites)</a:t>
            </a:r>
          </a:p>
          <a:p>
            <a:pPr algn="just"/>
            <a:r>
              <a:rPr lang="en-US" dirty="0"/>
              <a:t>Website allows user to modify website contents (such as wikis)</a:t>
            </a:r>
          </a:p>
          <a:p>
            <a:pPr algn="just"/>
            <a:r>
              <a:rPr lang="en-US" dirty="0"/>
              <a:t>Websites have application software built into the site for visitor to use (such as e-mail and word processing programs).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Web Browser </a:t>
            </a:r>
            <a:r>
              <a:rPr lang="en-US" dirty="0"/>
              <a:t>is application software that allows users to access and view WebPages from the website.</a:t>
            </a:r>
          </a:p>
          <a:p>
            <a:pPr algn="just"/>
            <a:r>
              <a:rPr lang="en-US" dirty="0"/>
              <a:t>A web browser retrieves a webpage  using its unique web address, URL (Uniform Resource Locator). E.g. http://www.uos.edu.pk/result  </a:t>
            </a:r>
          </a:p>
          <a:p>
            <a:pPr algn="just"/>
            <a:r>
              <a:rPr lang="en-US" dirty="0"/>
              <a:t>The first page that a website displays is called home page.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792162"/>
          </a:xfrm>
        </p:spPr>
        <p:txBody>
          <a:bodyPr/>
          <a:lstStyle/>
          <a:p>
            <a:r>
              <a:rPr lang="en-US" b="1" dirty="0"/>
              <a:t>Website Characteristics: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838200"/>
            <a:ext cx="8763000" cy="579120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sz="3200" b="1" i="1" dirty="0"/>
              <a:t>Content-related concerns</a:t>
            </a:r>
            <a:r>
              <a:rPr lang="en-US" sz="3200" dirty="0"/>
              <a:t>. </a:t>
            </a:r>
          </a:p>
          <a:p>
            <a:pPr lvl="1" algn="just"/>
            <a:r>
              <a:rPr lang="en-US" sz="2800" dirty="0"/>
              <a:t>Maintaining thematic consistency of content is important in giving a site some degree of identity.</a:t>
            </a:r>
          </a:p>
          <a:p>
            <a:pPr lvl="0"/>
            <a:r>
              <a:rPr lang="en-US" sz="3200" b="1" dirty="0"/>
              <a:t>Aesthetic concerns:</a:t>
            </a:r>
          </a:p>
          <a:p>
            <a:pPr lvl="1" algn="just"/>
            <a:r>
              <a:rPr lang="en-US" sz="2800" dirty="0"/>
              <a:t>A Web site should also have a common look and feel across all of its pages, this means utilizing a common style across the site; page layout, graphic design, and typographical elements should reflect that style.</a:t>
            </a:r>
          </a:p>
          <a:p>
            <a:pPr lvl="0"/>
            <a:r>
              <a:rPr lang="en-US" sz="3200" b="1" dirty="0"/>
              <a:t>Architectural concerns:</a:t>
            </a:r>
            <a:r>
              <a:rPr lang="en-US" sz="3200" dirty="0"/>
              <a:t> </a:t>
            </a:r>
          </a:p>
          <a:p>
            <a:pPr lvl="1" algn="just"/>
            <a:r>
              <a:rPr lang="en-US" sz="2800" dirty="0"/>
              <a:t>As a site grows in size and becomes more complex, it becomes critically important to organize its content properly. This includes: 1. layout of content on individual pages</a:t>
            </a:r>
          </a:p>
          <a:p>
            <a:pPr lvl="1" algn="just">
              <a:buNone/>
            </a:pPr>
            <a:r>
              <a:rPr lang="en-US" sz="2800" dirty="0"/>
              <a:t>	2. Interconnections between the pages</a:t>
            </a:r>
          </a:p>
          <a:p>
            <a:pPr lvl="1" algn="just">
              <a:buNone/>
            </a:pPr>
            <a:r>
              <a:rPr lang="en-US" sz="2800" dirty="0"/>
              <a:t>	3. Use framing approach</a:t>
            </a:r>
          </a:p>
          <a:p>
            <a:pPr lvl="1" algn="just">
              <a:buNone/>
            </a:pPr>
            <a:r>
              <a:rPr lang="en-US" sz="2800" dirty="0"/>
              <a:t>	4. In short information can be accessed quickly and easily.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772400" cy="792162"/>
          </a:xfrm>
        </p:spPr>
        <p:txBody>
          <a:bodyPr/>
          <a:lstStyle/>
          <a:p>
            <a:r>
              <a:rPr lang="en-US" dirty="0"/>
              <a:t>Guidelines to develop a Website: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143000"/>
            <a:ext cx="8915400" cy="5562600"/>
          </a:xfrm>
        </p:spPr>
        <p:txBody>
          <a:bodyPr/>
          <a:lstStyle/>
          <a:p>
            <a:r>
              <a:rPr lang="en-US" dirty="0"/>
              <a:t>“Beauty  lies in the eyes of the beholder”, it means that every individual has his/her own opinion on the beauty.</a:t>
            </a:r>
          </a:p>
          <a:p>
            <a:r>
              <a:rPr lang="en-US" dirty="0"/>
              <a:t>So website will be well laid out and practical.</a:t>
            </a:r>
          </a:p>
          <a:p>
            <a:r>
              <a:rPr lang="en-US" dirty="0"/>
              <a:t>As a developer, you have three roles to play: </a:t>
            </a:r>
          </a:p>
          <a:p>
            <a:pPr lvl="1"/>
            <a:r>
              <a:rPr lang="en-US" sz="2800" b="1" dirty="0"/>
              <a:t>Visualizer</a:t>
            </a:r>
            <a:r>
              <a:rPr lang="en-US" dirty="0"/>
              <a:t>,  web page is attractive enough for user to come on the page.</a:t>
            </a:r>
          </a:p>
          <a:p>
            <a:pPr lvl="1"/>
            <a:r>
              <a:rPr lang="en-US" sz="2800" b="1" dirty="0"/>
              <a:t>Architect,</a:t>
            </a:r>
            <a:r>
              <a:rPr lang="en-US" dirty="0"/>
              <a:t> Website is well structured and has logical path</a:t>
            </a:r>
          </a:p>
          <a:p>
            <a:pPr lvl="1"/>
            <a:r>
              <a:rPr lang="en-US" sz="2800" b="1" dirty="0"/>
              <a:t>Librarian,</a:t>
            </a:r>
            <a:r>
              <a:rPr lang="en-US" dirty="0"/>
              <a:t> the contents are catalogued and ease to locate.</a:t>
            </a:r>
          </a:p>
          <a:p>
            <a:r>
              <a:rPr lang="en-US" dirty="0"/>
              <a:t>Developing a web site can span various phases:</a:t>
            </a:r>
          </a:p>
          <a:p>
            <a:pPr lvl="1"/>
            <a:r>
              <a:rPr lang="en-US" sz="2800" dirty="0"/>
              <a:t>Design Phase</a:t>
            </a:r>
          </a:p>
          <a:p>
            <a:pPr lvl="1"/>
            <a:r>
              <a:rPr lang="en-US" sz="2800" dirty="0"/>
              <a:t>Development Phase.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4038600" cy="655638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 Phase: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990600"/>
            <a:ext cx="8610600" cy="54864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Goals and Objectives:</a:t>
            </a:r>
          </a:p>
          <a:p>
            <a:pPr lvl="1"/>
            <a:r>
              <a:rPr lang="en-US" dirty="0"/>
              <a:t>Identify and set the goals and objectives of your website as per the nature of your organization.</a:t>
            </a:r>
          </a:p>
          <a:p>
            <a:r>
              <a:rPr lang="en-US" b="1" dirty="0"/>
              <a:t>Target Audience:</a:t>
            </a:r>
          </a:p>
          <a:p>
            <a:pPr lvl="1"/>
            <a:r>
              <a:rPr lang="en-US" dirty="0"/>
              <a:t>Type of user, who will be visiting your site, their interest, their taste and priorities. </a:t>
            </a:r>
          </a:p>
          <a:p>
            <a:r>
              <a:rPr lang="en-US" b="1" dirty="0"/>
              <a:t>Storyboarding:</a:t>
            </a:r>
          </a:p>
          <a:p>
            <a:pPr lvl="1"/>
            <a:r>
              <a:rPr lang="en-US" dirty="0"/>
              <a:t>Prepare storyboard ( description of the layouts, contents, sequences, operation) to define conceptual model of the website.</a:t>
            </a:r>
          </a:p>
          <a:p>
            <a:r>
              <a:rPr lang="en-US" b="1" dirty="0"/>
              <a:t>Organize your information:</a:t>
            </a:r>
          </a:p>
          <a:p>
            <a:pPr lvl="1"/>
            <a:r>
              <a:rPr lang="en-US" dirty="0"/>
              <a:t>Identify and define the navigation scheme,</a:t>
            </a:r>
          </a:p>
          <a:p>
            <a:pPr lvl="1"/>
            <a:r>
              <a:rPr lang="en-US" dirty="0"/>
              <a:t>Divide it into logical units.</a:t>
            </a:r>
          </a:p>
          <a:p>
            <a:pPr lvl="1"/>
            <a:r>
              <a:rPr lang="en-US" dirty="0"/>
              <a:t>Create hierarchy of important and general topics.</a:t>
            </a:r>
          </a:p>
          <a:p>
            <a:pPr lvl="1"/>
            <a:r>
              <a:rPr lang="en-US" dirty="0"/>
              <a:t>Define relationship structure among units of information.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12</TotalTime>
  <Words>1190</Words>
  <Application>Microsoft Office PowerPoint</Application>
  <PresentationFormat>On-screen Show (4:3)</PresentationFormat>
  <Paragraphs>136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Franklin Gothic Book</vt:lpstr>
      <vt:lpstr>Perpetua</vt:lpstr>
      <vt:lpstr>Wingdings 2</vt:lpstr>
      <vt:lpstr>Equity</vt:lpstr>
      <vt:lpstr>WEB SYSTEMS AND TECHNOLOGIES</vt:lpstr>
      <vt:lpstr>PRE-REQUISITES</vt:lpstr>
      <vt:lpstr>Programming Fundamentals</vt:lpstr>
      <vt:lpstr>Communication</vt:lpstr>
      <vt:lpstr>Network </vt:lpstr>
      <vt:lpstr>Network Types </vt:lpstr>
      <vt:lpstr>WEB</vt:lpstr>
      <vt:lpstr>The WEB in Perspective:</vt:lpstr>
      <vt:lpstr>The WEB:</vt:lpstr>
      <vt:lpstr>WEBPAGE</vt:lpstr>
      <vt:lpstr>WEBSITE:</vt:lpstr>
      <vt:lpstr>Website Characteristics:</vt:lpstr>
      <vt:lpstr>Guidelines to develop a Website:</vt:lpstr>
      <vt:lpstr>Design Phase: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SYSTEMS AND TECHNOLOGIES</dc:title>
  <dc:creator>Administrator</dc:creator>
  <cp:lastModifiedBy>Saif ur Rehman</cp:lastModifiedBy>
  <cp:revision>64</cp:revision>
  <dcterms:created xsi:type="dcterms:W3CDTF">2007-05-20T19:00:00Z</dcterms:created>
  <dcterms:modified xsi:type="dcterms:W3CDTF">2020-01-28T03:38:32Z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1033-10.2.0.5965</vt:lpwstr>
  </property>
</Properties>
</file>
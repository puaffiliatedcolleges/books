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8"/>
  </p:notesMasterIdLst>
  <p:handoutMasterIdLst>
    <p:handoutMasterId r:id="rId9"/>
  </p:handout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p:cViewPr varScale="1">
        <p:scale>
          <a:sx n="74" d="100"/>
          <a:sy n="74" d="100"/>
        </p:scale>
        <p:origin x="12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EB7A14-7268-47EF-9052-67BD6A927415}" type="datetimeFigureOut">
              <a:rPr lang="en-US" smtClean="0"/>
              <a:t>3/30/2021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0C6CB6-E447-45E2-BE95-6B00B74D0975}" type="slidenum">
              <a:rPr lang="en-US" smtClean="0"/>
              <a:t>‹#›</a:t>
            </a:fld>
            <a:endParaRPr lang="en-US"/>
          </a:p>
        </p:txBody>
      </p:sp>
    </p:spTree>
    <p:extLst>
      <p:ext uri="{BB962C8B-B14F-4D97-AF65-F5344CB8AC3E}">
        <p14:creationId xmlns:p14="http://schemas.microsoft.com/office/powerpoint/2010/main" val="4715024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1D0862-DB0F-4372-8528-24998E5A59C8}" type="datetimeFigureOut">
              <a:rPr lang="en-US" smtClean="0"/>
              <a:pPr/>
              <a:t>3/30/2021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16B686-C851-4349-9B5D-C8F7891401F7}" type="slidenum">
              <a:rPr lang="en-US" smtClean="0"/>
              <a:pPr/>
              <a:t>‹#›</a:t>
            </a:fld>
            <a:endParaRPr lang="en-US"/>
          </a:p>
        </p:txBody>
      </p:sp>
    </p:spTree>
    <p:extLst>
      <p:ext uri="{BB962C8B-B14F-4D97-AF65-F5344CB8AC3E}">
        <p14:creationId xmlns:p14="http://schemas.microsoft.com/office/powerpoint/2010/main" val="32046389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16B686-C851-4349-9B5D-C8F7891401F7}" type="slidenum">
              <a:rPr lang="en-US" smtClean="0"/>
              <a:pPr/>
              <a:t>1</a:t>
            </a:fld>
            <a:endParaRPr lang="en-US"/>
          </a:p>
        </p:txBody>
      </p:sp>
    </p:spTree>
    <p:extLst>
      <p:ext uri="{BB962C8B-B14F-4D97-AF65-F5344CB8AC3E}">
        <p14:creationId xmlns:p14="http://schemas.microsoft.com/office/powerpoint/2010/main" val="242267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16B686-C851-4349-9B5D-C8F7891401F7}" type="slidenum">
              <a:rPr lang="en-US" smtClean="0"/>
              <a:pPr/>
              <a:t>2</a:t>
            </a:fld>
            <a:endParaRPr lang="en-US"/>
          </a:p>
        </p:txBody>
      </p:sp>
    </p:spTree>
    <p:extLst>
      <p:ext uri="{BB962C8B-B14F-4D97-AF65-F5344CB8AC3E}">
        <p14:creationId xmlns:p14="http://schemas.microsoft.com/office/powerpoint/2010/main" val="1261999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Proposals for new protocols (or updated versions of existing protocols) are provided in the form of </a:t>
            </a:r>
            <a:r>
              <a:rPr lang="en-US" sz="1200" i="1" kern="1200" dirty="0">
                <a:solidFill>
                  <a:schemeClr val="tx1"/>
                </a:solidFill>
                <a:latin typeface="+mn-lt"/>
                <a:ea typeface="+mn-ea"/>
                <a:cs typeface="+mn-cs"/>
              </a:rPr>
              <a:t>Requests for Comments</a:t>
            </a:r>
            <a:r>
              <a:rPr lang="en-US" sz="1200" kern="1200" dirty="0">
                <a:solidFill>
                  <a:schemeClr val="tx1"/>
                </a:solidFill>
                <a:latin typeface="+mn-lt"/>
                <a:ea typeface="+mn-ea"/>
                <a:cs typeface="+mn-cs"/>
              </a:rPr>
              <a:t>, also known as RFCs. Once approved, the RFCs are treated as the standard documentation for the new or updated protocol.</a:t>
            </a:r>
            <a:endParaRPr lang="en-US" dirty="0"/>
          </a:p>
        </p:txBody>
      </p:sp>
      <p:sp>
        <p:nvSpPr>
          <p:cNvPr id="4" name="Slide Number Placeholder 3"/>
          <p:cNvSpPr>
            <a:spLocks noGrp="1"/>
          </p:cNvSpPr>
          <p:nvPr>
            <p:ph type="sldNum" sz="quarter" idx="10"/>
          </p:nvPr>
        </p:nvSpPr>
        <p:spPr/>
        <p:txBody>
          <a:bodyPr/>
          <a:lstStyle/>
          <a:p>
            <a:fld id="{6016B686-C851-4349-9B5D-C8F7891401F7}" type="slidenum">
              <a:rPr lang="en-US" smtClean="0"/>
              <a:pPr/>
              <a:t>3</a:t>
            </a:fld>
            <a:endParaRPr lang="en-US"/>
          </a:p>
        </p:txBody>
      </p:sp>
    </p:spTree>
    <p:extLst>
      <p:ext uri="{BB962C8B-B14F-4D97-AF65-F5344CB8AC3E}">
        <p14:creationId xmlns:p14="http://schemas.microsoft.com/office/powerpoint/2010/main" val="2043478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Proposals for new protocols (or updated versions of existing protocols) are provided in the form of </a:t>
            </a:r>
            <a:r>
              <a:rPr lang="en-US" sz="1200" i="1" kern="1200" dirty="0">
                <a:solidFill>
                  <a:schemeClr val="tx1"/>
                </a:solidFill>
                <a:latin typeface="+mn-lt"/>
                <a:ea typeface="+mn-ea"/>
                <a:cs typeface="+mn-cs"/>
              </a:rPr>
              <a:t>Requests for Comments</a:t>
            </a:r>
            <a:r>
              <a:rPr lang="en-US" sz="1200" kern="1200" dirty="0">
                <a:solidFill>
                  <a:schemeClr val="tx1"/>
                </a:solidFill>
                <a:latin typeface="+mn-lt"/>
                <a:ea typeface="+mn-ea"/>
                <a:cs typeface="+mn-cs"/>
              </a:rPr>
              <a:t>, also known as RFCs. Once approved, the RFCs are treated as the standard documentation for the new or updated protocol.</a:t>
            </a:r>
            <a:endParaRPr lang="en-US" dirty="0"/>
          </a:p>
        </p:txBody>
      </p:sp>
      <p:sp>
        <p:nvSpPr>
          <p:cNvPr id="4" name="Slide Number Placeholder 3"/>
          <p:cNvSpPr>
            <a:spLocks noGrp="1"/>
          </p:cNvSpPr>
          <p:nvPr>
            <p:ph type="sldNum" sz="quarter" idx="10"/>
          </p:nvPr>
        </p:nvSpPr>
        <p:spPr/>
        <p:txBody>
          <a:bodyPr/>
          <a:lstStyle/>
          <a:p>
            <a:fld id="{6016B686-C851-4349-9B5D-C8F7891401F7}" type="slidenum">
              <a:rPr lang="en-US" smtClean="0"/>
              <a:pPr/>
              <a:t>4</a:t>
            </a:fld>
            <a:endParaRPr lang="en-US"/>
          </a:p>
        </p:txBody>
      </p:sp>
    </p:spTree>
    <p:extLst>
      <p:ext uri="{BB962C8B-B14F-4D97-AF65-F5344CB8AC3E}">
        <p14:creationId xmlns:p14="http://schemas.microsoft.com/office/powerpoint/2010/main" val="59629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Proposals for new protocols (or updated versions of existing protocols) are provided in the form of </a:t>
            </a:r>
            <a:r>
              <a:rPr lang="en-US" sz="1200" i="1" kern="1200" dirty="0">
                <a:solidFill>
                  <a:schemeClr val="tx1"/>
                </a:solidFill>
                <a:latin typeface="+mn-lt"/>
                <a:ea typeface="+mn-ea"/>
                <a:cs typeface="+mn-cs"/>
              </a:rPr>
              <a:t>Requests for Comments</a:t>
            </a:r>
            <a:r>
              <a:rPr lang="en-US" sz="1200" kern="1200" dirty="0">
                <a:solidFill>
                  <a:schemeClr val="tx1"/>
                </a:solidFill>
                <a:latin typeface="+mn-lt"/>
                <a:ea typeface="+mn-ea"/>
                <a:cs typeface="+mn-cs"/>
              </a:rPr>
              <a:t>, also known as RFCs. Once approved, the RFCs are treated as the standard documentation for the new or updated protocol.</a:t>
            </a:r>
            <a:endParaRPr lang="en-US" dirty="0"/>
          </a:p>
        </p:txBody>
      </p:sp>
      <p:sp>
        <p:nvSpPr>
          <p:cNvPr id="4" name="Slide Number Placeholder 3"/>
          <p:cNvSpPr>
            <a:spLocks noGrp="1"/>
          </p:cNvSpPr>
          <p:nvPr>
            <p:ph type="sldNum" sz="quarter" idx="10"/>
          </p:nvPr>
        </p:nvSpPr>
        <p:spPr/>
        <p:txBody>
          <a:bodyPr/>
          <a:lstStyle/>
          <a:p>
            <a:fld id="{6016B686-C851-4349-9B5D-C8F7891401F7}" type="slidenum">
              <a:rPr lang="en-US" smtClean="0"/>
              <a:pPr/>
              <a:t>5</a:t>
            </a:fld>
            <a:endParaRPr lang="en-US"/>
          </a:p>
        </p:txBody>
      </p:sp>
    </p:spTree>
    <p:extLst>
      <p:ext uri="{BB962C8B-B14F-4D97-AF65-F5344CB8AC3E}">
        <p14:creationId xmlns:p14="http://schemas.microsoft.com/office/powerpoint/2010/main" val="702718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Proposals for new protocols (or updated versions of existing protocols) are provided in the form of </a:t>
            </a:r>
            <a:r>
              <a:rPr lang="en-US" sz="1200" i="1" kern="1200" dirty="0">
                <a:solidFill>
                  <a:schemeClr val="tx1"/>
                </a:solidFill>
                <a:latin typeface="+mn-lt"/>
                <a:ea typeface="+mn-ea"/>
                <a:cs typeface="+mn-cs"/>
              </a:rPr>
              <a:t>Requests for Comments</a:t>
            </a:r>
            <a:r>
              <a:rPr lang="en-US" sz="1200" kern="1200" dirty="0">
                <a:solidFill>
                  <a:schemeClr val="tx1"/>
                </a:solidFill>
                <a:latin typeface="+mn-lt"/>
                <a:ea typeface="+mn-ea"/>
                <a:cs typeface="+mn-cs"/>
              </a:rPr>
              <a:t>, also known as RFCs. Once approved, the RFCs are treated as the standard documentation for the new or updated protocol.</a:t>
            </a:r>
            <a:endParaRPr lang="en-US" dirty="0"/>
          </a:p>
        </p:txBody>
      </p:sp>
      <p:sp>
        <p:nvSpPr>
          <p:cNvPr id="4" name="Slide Number Placeholder 3"/>
          <p:cNvSpPr>
            <a:spLocks noGrp="1"/>
          </p:cNvSpPr>
          <p:nvPr>
            <p:ph type="sldNum" sz="quarter" idx="10"/>
          </p:nvPr>
        </p:nvSpPr>
        <p:spPr/>
        <p:txBody>
          <a:bodyPr/>
          <a:lstStyle/>
          <a:p>
            <a:fld id="{6016B686-C851-4349-9B5D-C8F7891401F7}" type="slidenum">
              <a:rPr lang="en-US" smtClean="0"/>
              <a:pPr/>
              <a:t>6</a:t>
            </a:fld>
            <a:endParaRPr lang="en-US"/>
          </a:p>
        </p:txBody>
      </p:sp>
    </p:spTree>
    <p:extLst>
      <p:ext uri="{BB962C8B-B14F-4D97-AF65-F5344CB8AC3E}">
        <p14:creationId xmlns:p14="http://schemas.microsoft.com/office/powerpoint/2010/main" val="2906572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558A014F-DA2E-467F-AE7F-E99C35EE3E05}" type="datetime1">
              <a:rPr lang="en-US" smtClean="0"/>
              <a:t>3/30/2021</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1643A8C-B1BA-4D36-A6C2-2A7B4BAF6FA0}"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1D6EA76-718A-4301-A2D6-4966519171A6}" type="datetime1">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6B935EB-85D6-4C6C-909D-E998F9B3DE00}" type="datetime1">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43A8C-B1BA-4D36-A6C2-2A7B4BAF6FA0}"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BB4A725-FF73-498D-9D60-BBC4E0A89F2B}" type="datetime1">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878851F-F14D-4BEE-B4C1-E13002D19CC5}" type="datetime1">
              <a:rPr lang="en-US" smtClean="0"/>
              <a:t>3/30/2021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422DFF98-B8E8-4A17-9CCC-B1BFC433F7C6}" type="datetime1">
              <a:rPr lang="en-US" smtClean="0"/>
              <a:t>3/30/2021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F3C934E-8698-49CF-AF23-C1CE6E2678C1}" type="datetime1">
              <a:rPr lang="en-US" smtClean="0"/>
              <a:t>3/30/2021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643A8C-B1BA-4D36-A6C2-2A7B4BAF6FA0}"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63CF6A9-BD3A-4D50-A579-C915DFA5E680}" type="datetime1">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97C9FFF-1E43-427B-8B81-CE2AB5552FBF}" type="datetime1">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43A8C-B1BA-4D36-A6C2-2A7B4BAF6FA0}"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7F30FBF-7471-4745-9942-787806C67886}" type="datetime1">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729DB2E-A299-4DC1-8B9F-FB2D7492BCC6}" type="datetime1">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43A8C-B1BA-4D36-A6C2-2A7B4BAF6FA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65570A9-BA46-46C1-96BF-7CB0EEC56D93}" type="datetime1">
              <a:rPr lang="en-US" smtClean="0"/>
              <a:t>3/30/2021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A1643A8C-B1BA-4D36-A6C2-2A7B4BAF6FA0}"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297643"/>
            <a:ext cx="7881921" cy="1150157"/>
          </a:xfrm>
        </p:spPr>
        <p:txBody>
          <a:bodyPr/>
          <a:lstStyle/>
          <a:p>
            <a:r>
              <a:rPr lang="en-US" dirty="0"/>
              <a:t>TCP/IP APPLICATION SERVICES</a:t>
            </a:r>
          </a:p>
        </p:txBody>
      </p:sp>
      <p:sp>
        <p:nvSpPr>
          <p:cNvPr id="3" name="Subtitle 2"/>
          <p:cNvSpPr>
            <a:spLocks noGrp="1"/>
          </p:cNvSpPr>
          <p:nvPr>
            <p:ph type="subTitle" idx="1"/>
          </p:nvPr>
        </p:nvSpPr>
        <p:spPr>
          <a:xfrm>
            <a:off x="1991791" y="1955969"/>
            <a:ext cx="6161609" cy="3682831"/>
          </a:xfrm>
        </p:spPr>
        <p:txBody>
          <a:bodyPr>
            <a:noAutofit/>
          </a:bodyPr>
          <a:lstStyle/>
          <a:p>
            <a:pPr marL="541782" indent="-514350">
              <a:buFont typeface="+mj-lt"/>
              <a:buAutoNum type="arabicPeriod"/>
            </a:pPr>
            <a:r>
              <a:rPr lang="en-US" sz="3600" dirty="0"/>
              <a:t>Telnet</a:t>
            </a:r>
          </a:p>
          <a:p>
            <a:pPr marL="541782" indent="-514350">
              <a:buFont typeface="+mj-lt"/>
              <a:buAutoNum type="arabicPeriod"/>
            </a:pPr>
            <a:r>
              <a:rPr lang="en-US" sz="3600" dirty="0"/>
              <a:t>electronic mail</a:t>
            </a:r>
          </a:p>
          <a:p>
            <a:pPr marL="541782" indent="-514350">
              <a:buFont typeface="+mj-lt"/>
              <a:buAutoNum type="arabicPeriod"/>
            </a:pPr>
            <a:r>
              <a:rPr lang="en-US" sz="3600" dirty="0"/>
              <a:t>message forums</a:t>
            </a:r>
          </a:p>
          <a:p>
            <a:pPr marL="541782" indent="-514350">
              <a:buFont typeface="+mj-lt"/>
              <a:buAutoNum type="arabicPeriod"/>
            </a:pPr>
            <a:r>
              <a:rPr lang="en-US" sz="3600" dirty="0"/>
              <a:t>live messaging</a:t>
            </a:r>
          </a:p>
          <a:p>
            <a:pPr marL="541782" indent="-514350">
              <a:buFont typeface="+mj-lt"/>
              <a:buAutoNum type="arabicPeriod"/>
            </a:pPr>
            <a:r>
              <a:rPr lang="en-US" sz="3600" dirty="0"/>
              <a:t>file servers</a:t>
            </a:r>
          </a:p>
        </p:txBody>
      </p:sp>
      <p:sp>
        <p:nvSpPr>
          <p:cNvPr id="4" name="Slide Number Placeholder 3"/>
          <p:cNvSpPr>
            <a:spLocks noGrp="1"/>
          </p:cNvSpPr>
          <p:nvPr>
            <p:ph type="sldNum" sz="quarter" idx="12"/>
          </p:nvPr>
        </p:nvSpPr>
        <p:spPr/>
        <p:txBody>
          <a:bodyPr/>
          <a:lstStyle/>
          <a:p>
            <a:fld id="{A1643A8C-B1BA-4D36-A6C2-2A7B4BAF6FA0}"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76200"/>
            <a:ext cx="7498080" cy="742627"/>
          </a:xfrm>
        </p:spPr>
        <p:txBody>
          <a:bodyPr>
            <a:normAutofit/>
          </a:bodyPr>
          <a:lstStyle/>
          <a:p>
            <a:r>
              <a:rPr lang="en-US" sz="4000" dirty="0"/>
              <a:t>TELNET</a:t>
            </a:r>
          </a:p>
        </p:txBody>
      </p:sp>
      <p:sp>
        <p:nvSpPr>
          <p:cNvPr id="3" name="Content Placeholder 2"/>
          <p:cNvSpPr>
            <a:spLocks noGrp="1"/>
          </p:cNvSpPr>
          <p:nvPr>
            <p:ph idx="1"/>
          </p:nvPr>
        </p:nvSpPr>
        <p:spPr>
          <a:xfrm>
            <a:off x="838200" y="762000"/>
            <a:ext cx="8043620" cy="5764078"/>
          </a:xfrm>
        </p:spPr>
        <p:txBody>
          <a:bodyPr>
            <a:normAutofit/>
          </a:bodyPr>
          <a:lstStyle/>
          <a:p>
            <a:pPr algn="just"/>
            <a:r>
              <a:rPr lang="en-US" dirty="0"/>
              <a:t>Telnet protocol to log-in remotely to other systems that were accessible over the Internet. </a:t>
            </a:r>
          </a:p>
          <a:p>
            <a:pPr algn="just"/>
            <a:r>
              <a:rPr lang="en-US" dirty="0"/>
              <a:t>Telnet clients are configured by default to connect to port 23 on the server machine, but the target port number can be over-ridden in most client programs.</a:t>
            </a:r>
          </a:p>
          <a:p>
            <a:pPr algn="just"/>
            <a:r>
              <a:rPr lang="en-US" dirty="0"/>
              <a:t>This means you can use a Telnet client program to connect and ‘talk’ to </a:t>
            </a:r>
            <a:r>
              <a:rPr lang="en-US" i="1" dirty="0"/>
              <a:t>any TCP </a:t>
            </a:r>
            <a:r>
              <a:rPr lang="en-US" dirty="0"/>
              <a:t>server by knowing its address and its port number.</a:t>
            </a:r>
          </a:p>
        </p:txBody>
      </p:sp>
      <p:sp>
        <p:nvSpPr>
          <p:cNvPr id="4" name="Slide Number Placeholder 3"/>
          <p:cNvSpPr>
            <a:spLocks noGrp="1"/>
          </p:cNvSpPr>
          <p:nvPr>
            <p:ph type="sldNum" sz="quarter" idx="12"/>
          </p:nvPr>
        </p:nvSpPr>
        <p:spPr/>
        <p:txBody>
          <a:bodyPr/>
          <a:lstStyle/>
          <a:p>
            <a:fld id="{A1643A8C-B1BA-4D36-A6C2-2A7B4BAF6FA0}"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0"/>
            <a:ext cx="7498080" cy="742627"/>
          </a:xfrm>
        </p:spPr>
        <p:txBody>
          <a:bodyPr>
            <a:normAutofit/>
          </a:bodyPr>
          <a:lstStyle/>
          <a:p>
            <a:r>
              <a:rPr lang="en-US" sz="4000" dirty="0"/>
              <a:t>Electronic Mail</a:t>
            </a:r>
          </a:p>
        </p:txBody>
      </p:sp>
      <p:sp>
        <p:nvSpPr>
          <p:cNvPr id="3" name="Content Placeholder 2"/>
          <p:cNvSpPr>
            <a:spLocks noGrp="1"/>
          </p:cNvSpPr>
          <p:nvPr>
            <p:ph idx="1"/>
          </p:nvPr>
        </p:nvSpPr>
        <p:spPr>
          <a:xfrm>
            <a:off x="838200" y="685800"/>
            <a:ext cx="8043620" cy="5764078"/>
          </a:xfrm>
        </p:spPr>
        <p:txBody>
          <a:bodyPr>
            <a:noAutofit/>
          </a:bodyPr>
          <a:lstStyle/>
          <a:p>
            <a:pPr algn="just"/>
            <a:r>
              <a:rPr lang="en-US" sz="2400" dirty="0"/>
              <a:t>Electronic </a:t>
            </a:r>
            <a:r>
              <a:rPr lang="en-US" sz="2400" i="1" dirty="0"/>
              <a:t>mail </a:t>
            </a:r>
            <a:r>
              <a:rPr lang="en-US" sz="2400" dirty="0"/>
              <a:t>provided communities where people with like interests could exchange messages. </a:t>
            </a:r>
          </a:p>
          <a:p>
            <a:pPr algn="just"/>
            <a:r>
              <a:rPr lang="en-US" sz="2400" dirty="0"/>
              <a:t>Only subscribers could post messages, or view messages posted by other subscribers.</a:t>
            </a:r>
          </a:p>
          <a:p>
            <a:pPr algn="just"/>
            <a:r>
              <a:rPr lang="en-US" sz="2400" dirty="0"/>
              <a:t>The transmission of electronic mail is performed through the </a:t>
            </a:r>
            <a:r>
              <a:rPr lang="en-US" sz="2400" b="1" dirty="0"/>
              <a:t>SMTP protocol</a:t>
            </a:r>
            <a:r>
              <a:rPr lang="en-US" sz="2400" dirty="0"/>
              <a:t>. </a:t>
            </a:r>
          </a:p>
          <a:p>
            <a:pPr algn="just"/>
            <a:r>
              <a:rPr lang="en-US" sz="2400" dirty="0"/>
              <a:t>The applications responsible for transmitting e-mail messages, are known as MTAs (Mail Transfer Agents). </a:t>
            </a:r>
          </a:p>
          <a:p>
            <a:pPr algn="just"/>
            <a:r>
              <a:rPr lang="en-US" sz="2400" dirty="0"/>
              <a:t>The applications responsible for retrieving messages from a mailbox, are known as MRAs (Mail Retrieval Agents).</a:t>
            </a:r>
          </a:p>
          <a:p>
            <a:pPr algn="just"/>
            <a:r>
              <a:rPr lang="en-US" sz="2400" dirty="0"/>
              <a:t>E-mail client programs MUAs (Mail User Agents) allow users to both read mail and send mail. MUAs talk to MRAs to read mail, and to MTAs to send mail.</a:t>
            </a:r>
          </a:p>
          <a:p>
            <a:pPr algn="just"/>
            <a:r>
              <a:rPr lang="en-US" sz="2400" dirty="0"/>
              <a:t>In a typical e-mail client, this is the process by which a message is sent. </a:t>
            </a:r>
          </a:p>
        </p:txBody>
      </p:sp>
      <p:sp>
        <p:nvSpPr>
          <p:cNvPr id="4" name="Slide Number Placeholder 3"/>
          <p:cNvSpPr>
            <a:spLocks noGrp="1"/>
          </p:cNvSpPr>
          <p:nvPr>
            <p:ph type="sldNum" sz="quarter" idx="12"/>
          </p:nvPr>
        </p:nvSpPr>
        <p:spPr/>
        <p:txBody>
          <a:bodyPr/>
          <a:lstStyle/>
          <a:p>
            <a:fld id="{A1643A8C-B1BA-4D36-A6C2-2A7B4BAF6FA0}"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0"/>
            <a:ext cx="7498080" cy="742627"/>
          </a:xfrm>
        </p:spPr>
        <p:txBody>
          <a:bodyPr>
            <a:normAutofit/>
          </a:bodyPr>
          <a:lstStyle/>
          <a:p>
            <a:r>
              <a:rPr lang="en-US" sz="4000" b="1" dirty="0"/>
              <a:t>Message forums:</a:t>
            </a:r>
          </a:p>
        </p:txBody>
      </p:sp>
      <p:sp>
        <p:nvSpPr>
          <p:cNvPr id="3" name="Content Placeholder 2"/>
          <p:cNvSpPr>
            <a:spLocks noGrp="1"/>
          </p:cNvSpPr>
          <p:nvPr>
            <p:ph idx="1"/>
          </p:nvPr>
        </p:nvSpPr>
        <p:spPr>
          <a:xfrm>
            <a:off x="838200" y="685800"/>
            <a:ext cx="8043620" cy="5764078"/>
          </a:xfrm>
        </p:spPr>
        <p:txBody>
          <a:bodyPr>
            <a:noAutofit/>
          </a:bodyPr>
          <a:lstStyle/>
          <a:p>
            <a:pPr algn="just"/>
            <a:r>
              <a:rPr lang="en-US" sz="2400" i="1" dirty="0"/>
              <a:t>Message forums are online services that allow users to read and write messages to be posted </a:t>
            </a:r>
            <a:r>
              <a:rPr lang="en-US" sz="2400" dirty="0"/>
              <a:t>on the equivalent of an electronic bulletin board.</a:t>
            </a:r>
          </a:p>
          <a:p>
            <a:pPr algn="just"/>
            <a:r>
              <a:rPr lang="en-US" sz="2400" dirty="0"/>
              <a:t>These messages are usually organized into categories so that people can find the kinds of messages they are looking for.</a:t>
            </a:r>
          </a:p>
          <a:p>
            <a:pPr algn="just"/>
            <a:r>
              <a:rPr lang="en-US" sz="2400" dirty="0"/>
              <a:t>The Internet version of message forums is </a:t>
            </a:r>
            <a:r>
              <a:rPr lang="en-US" sz="2400" i="1" dirty="0"/>
              <a:t>Netnews. </a:t>
            </a:r>
          </a:p>
          <a:p>
            <a:pPr algn="just"/>
            <a:r>
              <a:rPr lang="en-US" sz="2400" i="1" dirty="0"/>
              <a:t>Netnews organizes messages </a:t>
            </a:r>
            <a:r>
              <a:rPr lang="en-US" sz="2400" dirty="0"/>
              <a:t>into </a:t>
            </a:r>
            <a:r>
              <a:rPr lang="en-US" sz="2400" i="1" dirty="0"/>
              <a:t>newsgroups, which form a large hierarchy of topics and categories. </a:t>
            </a:r>
          </a:p>
          <a:p>
            <a:pPr algn="just"/>
            <a:r>
              <a:rPr lang="en-US" sz="2400" dirty="0"/>
              <a:t>Today, Netnews is transmitted using an Internet protocol called </a:t>
            </a:r>
            <a:r>
              <a:rPr lang="en-US" sz="2400" i="1" dirty="0"/>
              <a:t>NNTP (Network News Transfer Protocol ). </a:t>
            </a:r>
          </a:p>
          <a:p>
            <a:pPr algn="just"/>
            <a:r>
              <a:rPr lang="en-US" sz="2400" i="1" dirty="0"/>
              <a:t>NNTP clients allow users to read and post messages in </a:t>
            </a:r>
            <a:r>
              <a:rPr lang="en-US" sz="2400" dirty="0"/>
              <a:t>newsgroups by connecting to NNTP servers.</a:t>
            </a:r>
          </a:p>
          <a:p>
            <a:pPr algn="just"/>
            <a:r>
              <a:rPr lang="en-US" sz="2400" dirty="0"/>
              <a:t>These servers propagate the newsgroup messages  throughout the world by regularly forwarding them to ‘neighboring’ servers. </a:t>
            </a:r>
          </a:p>
        </p:txBody>
      </p:sp>
      <p:sp>
        <p:nvSpPr>
          <p:cNvPr id="4" name="Slide Number Placeholder 3"/>
          <p:cNvSpPr>
            <a:spLocks noGrp="1"/>
          </p:cNvSpPr>
          <p:nvPr>
            <p:ph type="sldNum" sz="quarter" idx="12"/>
          </p:nvPr>
        </p:nvSpPr>
        <p:spPr/>
        <p:txBody>
          <a:bodyPr/>
          <a:lstStyle/>
          <a:p>
            <a:fld id="{A1643A8C-B1BA-4D36-A6C2-2A7B4BAF6FA0}"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0"/>
            <a:ext cx="7498080" cy="742627"/>
          </a:xfrm>
        </p:spPr>
        <p:txBody>
          <a:bodyPr>
            <a:normAutofit/>
          </a:bodyPr>
          <a:lstStyle/>
          <a:p>
            <a:r>
              <a:rPr lang="en-US" sz="4000" b="1" dirty="0"/>
              <a:t>Live messaging:</a:t>
            </a:r>
          </a:p>
        </p:txBody>
      </p:sp>
      <p:sp>
        <p:nvSpPr>
          <p:cNvPr id="3" name="Content Placeholder 2"/>
          <p:cNvSpPr>
            <a:spLocks noGrp="1"/>
          </p:cNvSpPr>
          <p:nvPr>
            <p:ph idx="1"/>
          </p:nvPr>
        </p:nvSpPr>
        <p:spPr>
          <a:xfrm>
            <a:off x="838200" y="685800"/>
            <a:ext cx="8043620" cy="5764078"/>
          </a:xfrm>
        </p:spPr>
        <p:txBody>
          <a:bodyPr>
            <a:noAutofit/>
          </a:bodyPr>
          <a:lstStyle/>
          <a:p>
            <a:r>
              <a:rPr lang="en-US" sz="2400" dirty="0"/>
              <a:t>America </a:t>
            </a:r>
            <a:r>
              <a:rPr lang="en-US" sz="2400" dirty="0" err="1"/>
              <a:t>Online’s</a:t>
            </a:r>
            <a:r>
              <a:rPr lang="en-US" sz="2400" dirty="0"/>
              <a:t> </a:t>
            </a:r>
            <a:r>
              <a:rPr lang="en-US" sz="2400" i="1" dirty="0"/>
              <a:t>Instant Messaging service may be responsible for making the live messaging.</a:t>
            </a:r>
          </a:p>
          <a:p>
            <a:r>
              <a:rPr lang="en-US" sz="2400" dirty="0"/>
              <a:t>There was a </a:t>
            </a:r>
            <a:r>
              <a:rPr lang="en-US" sz="2400" i="1" dirty="0"/>
              <a:t>talk protocol that enabled users who were logged in </a:t>
            </a:r>
            <a:r>
              <a:rPr lang="en-US" sz="2400" dirty="0"/>
              <a:t>to network-connected UNIX systems to talk to each other.</a:t>
            </a:r>
          </a:p>
          <a:p>
            <a:r>
              <a:rPr lang="en-US" sz="2400" i="1" dirty="0"/>
              <a:t>Talk was a bi-directional service, servers had to run on the machines </a:t>
            </a:r>
            <a:r>
              <a:rPr lang="en-US" sz="2400" dirty="0"/>
              <a:t>at both ends of a conversation.</a:t>
            </a:r>
          </a:p>
          <a:p>
            <a:r>
              <a:rPr lang="en-US" sz="2400" dirty="0"/>
              <a:t>A protocol like </a:t>
            </a:r>
            <a:r>
              <a:rPr lang="en-US" sz="2400" i="1" dirty="0"/>
              <a:t>talk would not work in its original form in today’s </a:t>
            </a:r>
            <a:r>
              <a:rPr lang="en-US" sz="2400" dirty="0"/>
              <a:t>diverse Internet world. </a:t>
            </a:r>
          </a:p>
          <a:p>
            <a:r>
              <a:rPr lang="en-US" sz="2400" dirty="0"/>
              <a:t>Proprietary ‘instant messaging’ systems (such as AOL’s) exist, but they are exclusionary, and the intense competition and lack of cooperation between instant messaging providers further limits the degree of interoperability we can expect from them.</a:t>
            </a:r>
          </a:p>
        </p:txBody>
      </p:sp>
      <p:sp>
        <p:nvSpPr>
          <p:cNvPr id="4" name="Slide Number Placeholder 3"/>
          <p:cNvSpPr>
            <a:spLocks noGrp="1"/>
          </p:cNvSpPr>
          <p:nvPr>
            <p:ph type="sldNum" sz="quarter" idx="12"/>
          </p:nvPr>
        </p:nvSpPr>
        <p:spPr/>
        <p:txBody>
          <a:bodyPr/>
          <a:lstStyle/>
          <a:p>
            <a:fld id="{A1643A8C-B1BA-4D36-A6C2-2A7B4BAF6FA0}"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0"/>
            <a:ext cx="7498080" cy="742627"/>
          </a:xfrm>
        </p:spPr>
        <p:txBody>
          <a:bodyPr>
            <a:normAutofit/>
          </a:bodyPr>
          <a:lstStyle/>
          <a:p>
            <a:r>
              <a:rPr lang="en-US" sz="4000" b="1" dirty="0"/>
              <a:t>File servers:</a:t>
            </a:r>
          </a:p>
        </p:txBody>
      </p:sp>
      <p:sp>
        <p:nvSpPr>
          <p:cNvPr id="3" name="Content Placeholder 2"/>
          <p:cNvSpPr>
            <a:spLocks noGrp="1"/>
          </p:cNvSpPr>
          <p:nvPr>
            <p:ph idx="1"/>
          </p:nvPr>
        </p:nvSpPr>
        <p:spPr>
          <a:xfrm>
            <a:off x="838200" y="685800"/>
            <a:ext cx="8043620" cy="5764078"/>
          </a:xfrm>
        </p:spPr>
        <p:txBody>
          <a:bodyPr>
            <a:noAutofit/>
          </a:bodyPr>
          <a:lstStyle/>
          <a:p>
            <a:r>
              <a:rPr lang="en-US" sz="2400" dirty="0"/>
              <a:t>America </a:t>
            </a:r>
            <a:r>
              <a:rPr lang="en-US" sz="2400" dirty="0" err="1"/>
              <a:t>Online’s</a:t>
            </a:r>
            <a:r>
              <a:rPr lang="en-US" sz="2400" dirty="0"/>
              <a:t> </a:t>
            </a:r>
            <a:r>
              <a:rPr lang="en-US" sz="2400" i="1" dirty="0"/>
              <a:t>Instant Messaging service may be responsible for making the live messaging.</a:t>
            </a:r>
          </a:p>
          <a:p>
            <a:r>
              <a:rPr lang="en-US" sz="2400" dirty="0"/>
              <a:t>There was a </a:t>
            </a:r>
            <a:r>
              <a:rPr lang="en-US" sz="2400" i="1" dirty="0"/>
              <a:t>talk protocol that enabled users who were logged in </a:t>
            </a:r>
            <a:r>
              <a:rPr lang="en-US" sz="2400" dirty="0"/>
              <a:t>to network-connected UNIX systems to talk to each other.</a:t>
            </a:r>
          </a:p>
          <a:p>
            <a:r>
              <a:rPr lang="en-US" sz="2400" i="1" dirty="0"/>
              <a:t>Talk was a bi-directional service, servers had to run on the machines </a:t>
            </a:r>
            <a:r>
              <a:rPr lang="en-US" sz="2400" dirty="0"/>
              <a:t>at both ends of a conversation.</a:t>
            </a:r>
          </a:p>
          <a:p>
            <a:r>
              <a:rPr lang="en-US" sz="2400" dirty="0"/>
              <a:t>A protocol like </a:t>
            </a:r>
            <a:r>
              <a:rPr lang="en-US" sz="2400" i="1" dirty="0"/>
              <a:t>talk would not work in its original form in today’s </a:t>
            </a:r>
            <a:r>
              <a:rPr lang="en-US" sz="2400" dirty="0"/>
              <a:t>diverse Internet world. </a:t>
            </a:r>
          </a:p>
          <a:p>
            <a:r>
              <a:rPr lang="en-US" sz="2400" dirty="0"/>
              <a:t>Proprietary ‘instant messaging’ systems (such as AOL’s) exist, but they are exclusionary, and the intense competition and lack of cooperation between instant messaging providers further limits the degree of interoperability we can expect from them.</a:t>
            </a:r>
          </a:p>
        </p:txBody>
      </p:sp>
      <p:sp>
        <p:nvSpPr>
          <p:cNvPr id="4" name="Slide Number Placeholder 3"/>
          <p:cNvSpPr>
            <a:spLocks noGrp="1"/>
          </p:cNvSpPr>
          <p:nvPr>
            <p:ph type="sldNum" sz="quarter" idx="12"/>
          </p:nvPr>
        </p:nvSpPr>
        <p:spPr/>
        <p:txBody>
          <a:bodyPr/>
          <a:lstStyle/>
          <a:p>
            <a:fld id="{A1643A8C-B1BA-4D36-A6C2-2A7B4BAF6FA0}" type="slidenum">
              <a:rPr lang="en-US" smtClean="0"/>
              <a:pPr/>
              <a:t>6</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141</TotalTime>
  <Words>768</Words>
  <Application>Microsoft Office PowerPoint</Application>
  <PresentationFormat>On-screen Show (4:3)</PresentationFormat>
  <Paragraphs>54</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Gill Sans MT</vt:lpstr>
      <vt:lpstr>Verdana</vt:lpstr>
      <vt:lpstr>Wingdings 2</vt:lpstr>
      <vt:lpstr>Solstice</vt:lpstr>
      <vt:lpstr>TCP/IP APPLICATION SERVICES</vt:lpstr>
      <vt:lpstr>TELNET</vt:lpstr>
      <vt:lpstr>Electronic Mail</vt:lpstr>
      <vt:lpstr>Message forums:</vt:lpstr>
      <vt:lpstr>Live messaging:</vt:lpstr>
      <vt:lpstr>File servers: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TCP/IP APPLICATION SERVICES</dc:title>
  <dc:creator>Administrator</dc:creator>
  <cp:lastModifiedBy>Microsoft account</cp:lastModifiedBy>
  <cp:revision>17</cp:revision>
  <dcterms:created xsi:type="dcterms:W3CDTF">2007-05-20T19:12:37Z</dcterms:created>
  <dcterms:modified xsi:type="dcterms:W3CDTF">2021-03-30T07:26:15Z</dcterms:modified>
</cp:coreProperties>
</file>
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5" r:id="rId2"/>
    <p:sldId id="269" r:id="rId3"/>
    <p:sldId id="270" r:id="rId4"/>
    <p:sldId id="271" r:id="rId5"/>
    <p:sldId id="272" r:id="rId6"/>
    <p:sldId id="277" r:id="rId7"/>
    <p:sldId id="280" r:id="rId8"/>
    <p:sldId id="278" r:id="rId9"/>
    <p:sldId id="279" r:id="rId10"/>
    <p:sldId id="281" r:id="rId11"/>
    <p:sldId id="282" r:id="rId12"/>
    <p:sldId id="283" r:id="rId13"/>
    <p:sldId id="284" r:id="rId14"/>
    <p:sldId id="285" r:id="rId15"/>
    <p:sldId id="286"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B6FB86-4161-4BE0-9E6D-F35589FB377D}" type="datetimeFigureOut">
              <a:rPr lang="en-US" smtClean="0"/>
              <a:pPr/>
              <a:t>9/29/2020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C6E8EB-86F8-4EFB-AFDA-1464963DE926}" type="slidenum">
              <a:rPr lang="en-US" smtClean="0"/>
              <a:pPr/>
              <a:t>‹#›</a:t>
            </a:fld>
            <a:endParaRPr lang="en-US"/>
          </a:p>
        </p:txBody>
      </p:sp>
    </p:spTree>
    <p:extLst>
      <p:ext uri="{BB962C8B-B14F-4D97-AF65-F5344CB8AC3E}">
        <p14:creationId xmlns:p14="http://schemas.microsoft.com/office/powerpoint/2010/main" val="3243621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25E895-D5FC-45FB-8B3D-3B9CF2F51B78}" type="slidenum">
              <a:rPr lang="en-US" smtClean="0"/>
              <a:pPr/>
              <a:t>1</a:t>
            </a:fld>
            <a:endParaRPr lang="en-US"/>
          </a:p>
        </p:txBody>
      </p:sp>
    </p:spTree>
    <p:extLst>
      <p:ext uri="{BB962C8B-B14F-4D97-AF65-F5344CB8AC3E}">
        <p14:creationId xmlns:p14="http://schemas.microsoft.com/office/powerpoint/2010/main" val="2704276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F2026E6-3706-47A9-BFAD-AD132253C04C}" type="datetimeFigureOut">
              <a:rPr lang="en-US" smtClean="0"/>
              <a:pPr/>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2026E6-3706-47A9-BFAD-AD132253C04C}" type="datetimeFigureOut">
              <a:rPr lang="en-US" smtClean="0"/>
              <a:pPr/>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2026E6-3706-47A9-BFAD-AD132253C04C}" type="datetimeFigureOut">
              <a:rPr lang="en-US" smtClean="0"/>
              <a:pPr/>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F2026E6-3706-47A9-BFAD-AD132253C04C}" type="datetimeFigureOut">
              <a:rPr lang="en-US" smtClean="0"/>
              <a:pPr/>
              <a:t>9/29/2020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F2026E6-3706-47A9-BFAD-AD132253C04C}" type="datetimeFigureOut">
              <a:rPr lang="en-US" smtClean="0"/>
              <a:pPr/>
              <a:t>9/29/2020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F2026E6-3706-47A9-BFAD-AD132253C04C}" type="datetimeFigureOut">
              <a:rPr lang="en-US" smtClean="0"/>
              <a:pPr/>
              <a:t>9/29/2020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2026E6-3706-47A9-BFAD-AD132253C04C}" type="datetimeFigureOut">
              <a:rPr lang="en-US" smtClean="0"/>
              <a:pPr/>
              <a:t>9/29/2020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2026E6-3706-47A9-BFAD-AD132253C04C}" type="datetimeFigureOut">
              <a:rPr lang="en-US" smtClean="0"/>
              <a:pPr/>
              <a:t>9/29/2020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2026E6-3706-47A9-BFAD-AD132253C04C}" type="datetimeFigureOut">
              <a:rPr lang="en-US" smtClean="0"/>
              <a:pPr/>
              <a:t>9/29/2020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2026E6-3706-47A9-BFAD-AD132253C04C}" type="datetimeFigureOut">
              <a:rPr lang="en-US" smtClean="0"/>
              <a:pPr/>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2026E6-3706-47A9-BFAD-AD132253C04C}" type="datetimeFigureOut">
              <a:rPr lang="en-US" smtClean="0"/>
              <a:pPr/>
              <a:t>9/29/2020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026E6-3706-47A9-BFAD-AD132253C04C}" type="datetimeFigureOut">
              <a:rPr lang="en-US" smtClean="0"/>
              <a:pPr/>
              <a:t>9/29/2020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D3F3FA-3B45-41E5-B54F-99D416A468E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0848" y="-76200"/>
            <a:ext cx="8205952" cy="1470025"/>
          </a:xfrm>
        </p:spPr>
        <p:txBody>
          <a:bodyPr>
            <a:noAutofit/>
          </a:bodyPr>
          <a:lstStyle/>
          <a:p>
            <a:r>
              <a:rPr lang="en-US" sz="5400" b="1" dirty="0" smtClean="0"/>
              <a:t>Web Server Operations </a:t>
            </a:r>
            <a:endParaRPr lang="en-US" sz="3600" b="1" dirty="0"/>
          </a:p>
        </p:txBody>
      </p:sp>
      <p:sp>
        <p:nvSpPr>
          <p:cNvPr id="3" name="Subtitle 2"/>
          <p:cNvSpPr>
            <a:spLocks noGrp="1"/>
          </p:cNvSpPr>
          <p:nvPr>
            <p:ph type="subTitle" idx="1"/>
          </p:nvPr>
        </p:nvSpPr>
        <p:spPr>
          <a:xfrm>
            <a:off x="215461" y="1108129"/>
            <a:ext cx="8773555" cy="5749871"/>
          </a:xfrm>
        </p:spPr>
        <p:txBody>
          <a:bodyPr>
            <a:normAutofit fontScale="32500" lnSpcReduction="20000"/>
          </a:bodyPr>
          <a:lstStyle/>
          <a:p>
            <a:pPr marL="2057400" lvl="2" indent="-1143000" algn="l">
              <a:buFont typeface="+mj-lt"/>
              <a:buAutoNum type="alphaUcPeriod"/>
            </a:pPr>
            <a:r>
              <a:rPr lang="en-US" sz="6200" b="1" dirty="0" smtClean="0">
                <a:solidFill>
                  <a:srgbClr val="C00000"/>
                </a:solidFill>
              </a:rPr>
              <a:t>Processing HTTP Requests</a:t>
            </a:r>
          </a:p>
          <a:p>
            <a:pPr marL="2057400" lvl="2" indent="-1143000" algn="l">
              <a:buFont typeface="+mj-lt"/>
              <a:buAutoNum type="alphaUcPeriod"/>
            </a:pPr>
            <a:r>
              <a:rPr lang="en-US" sz="6200" b="1" dirty="0" smtClean="0">
                <a:solidFill>
                  <a:srgbClr val="C00000"/>
                </a:solidFill>
              </a:rPr>
              <a:t>Processing HTTP Responses</a:t>
            </a:r>
          </a:p>
          <a:p>
            <a:pPr marL="2057400" lvl="2" indent="-1143000" algn="l">
              <a:buFont typeface="+mj-lt"/>
              <a:buAutoNum type="alphaUcPeriod"/>
            </a:pPr>
            <a:r>
              <a:rPr lang="en-US" sz="6200" b="1" dirty="0" smtClean="0">
                <a:solidFill>
                  <a:srgbClr val="C00000"/>
                </a:solidFill>
              </a:rPr>
              <a:t>Cookie Coordination</a:t>
            </a:r>
          </a:p>
          <a:p>
            <a:pPr marL="2057400" lvl="2" indent="-1143000" algn="l">
              <a:buFont typeface="+mj-lt"/>
              <a:buAutoNum type="alphaUcPeriod"/>
            </a:pPr>
            <a:r>
              <a:rPr lang="en-US" sz="6200" b="1" dirty="0" smtClean="0">
                <a:solidFill>
                  <a:srgbClr val="C00000"/>
                </a:solidFill>
              </a:rPr>
              <a:t>Privacy and P3P</a:t>
            </a:r>
          </a:p>
          <a:p>
            <a:pPr marL="2057400" lvl="2" indent="-1143000" algn="l">
              <a:buFont typeface="+mj-lt"/>
              <a:buAutoNum type="alphaUcPeriod"/>
            </a:pPr>
            <a:r>
              <a:rPr lang="en-US" sz="12300" b="1" i="1" dirty="0" smtClean="0">
                <a:solidFill>
                  <a:srgbClr val="0000FF"/>
                </a:solidFill>
              </a:rPr>
              <a:t>Server Configuration</a:t>
            </a:r>
          </a:p>
          <a:p>
            <a:pPr marL="2057400" lvl="2" indent="-1143000" algn="l">
              <a:buFont typeface="+mj-lt"/>
              <a:buAutoNum type="alphaUcPeriod"/>
            </a:pPr>
            <a:r>
              <a:rPr lang="en-US" sz="12300" b="1" i="1" dirty="0" smtClean="0">
                <a:solidFill>
                  <a:srgbClr val="0000FF"/>
                </a:solidFill>
              </a:rPr>
              <a:t>Server Security </a:t>
            </a:r>
          </a:p>
          <a:p>
            <a:pPr marL="1143000" indent="-1143000" algn="l"/>
            <a:endParaRPr lang="en-US" sz="6600" b="1" i="1" dirty="0" smtClean="0">
              <a:solidFill>
                <a:srgbClr val="00B050"/>
              </a:solidFill>
            </a:endParaRPr>
          </a:p>
          <a:p>
            <a:pPr marL="1143000" indent="-1143000" algn="l"/>
            <a:r>
              <a:rPr lang="en-US" sz="8600" b="1" i="1" dirty="0" smtClean="0">
                <a:solidFill>
                  <a:srgbClr val="00B050"/>
                </a:solidFill>
              </a:rPr>
              <a:t>Recall Previous Knowledge:</a:t>
            </a:r>
          </a:p>
          <a:p>
            <a:pPr algn="l">
              <a:buFont typeface="Wingdings" pitchFamily="2" charset="2"/>
              <a:buChar char="q"/>
            </a:pPr>
            <a:r>
              <a:rPr lang="en-US" sz="7400" dirty="0" smtClean="0">
                <a:solidFill>
                  <a:srgbClr val="C00000"/>
                </a:solidFill>
              </a:rPr>
              <a:t>        Web servers, browsers, and proxies communicate  by </a:t>
            </a:r>
          </a:p>
          <a:p>
            <a:pPr algn="l"/>
            <a:r>
              <a:rPr lang="en-US" sz="7400" dirty="0" smtClean="0">
                <a:solidFill>
                  <a:srgbClr val="C00000"/>
                </a:solidFill>
              </a:rPr>
              <a:t>	exchanging  HTTP messages.</a:t>
            </a:r>
          </a:p>
          <a:p>
            <a:pPr algn="l">
              <a:buFont typeface="Wingdings" pitchFamily="2" charset="2"/>
              <a:buChar char="q"/>
            </a:pPr>
            <a:r>
              <a:rPr lang="en-US" sz="7400" dirty="0" smtClean="0">
                <a:solidFill>
                  <a:srgbClr val="C00000"/>
                </a:solidFill>
              </a:rPr>
              <a:t>        The server </a:t>
            </a:r>
            <a:r>
              <a:rPr lang="en-US" sz="7400" b="1" dirty="0" smtClean="0">
                <a:solidFill>
                  <a:srgbClr val="0000CC"/>
                </a:solidFill>
              </a:rPr>
              <a:t>receives</a:t>
            </a:r>
            <a:r>
              <a:rPr lang="en-US" sz="7400" dirty="0" smtClean="0">
                <a:solidFill>
                  <a:srgbClr val="C00000"/>
                </a:solidFill>
              </a:rPr>
              <a:t> and interprets HTTP requests, </a:t>
            </a:r>
            <a:r>
              <a:rPr lang="en-US" sz="7400" b="1" dirty="0" smtClean="0">
                <a:solidFill>
                  <a:srgbClr val="0000CC"/>
                </a:solidFill>
              </a:rPr>
              <a:t>Locates</a:t>
            </a:r>
            <a:r>
              <a:rPr lang="en-US" sz="7400" dirty="0" smtClean="0">
                <a:solidFill>
                  <a:srgbClr val="C00000"/>
                </a:solidFill>
              </a:rPr>
              <a:t> and </a:t>
            </a:r>
          </a:p>
          <a:p>
            <a:pPr algn="l"/>
            <a:r>
              <a:rPr lang="en-US" sz="7400" dirty="0" smtClean="0">
                <a:solidFill>
                  <a:srgbClr val="C00000"/>
                </a:solidFill>
              </a:rPr>
              <a:t>	accesses requested resources, and  </a:t>
            </a:r>
            <a:r>
              <a:rPr lang="en-US" sz="7400" b="1" dirty="0" smtClean="0">
                <a:solidFill>
                  <a:srgbClr val="0000CC"/>
                </a:solidFill>
              </a:rPr>
              <a:t>Generates</a:t>
            </a:r>
            <a:r>
              <a:rPr lang="en-US" sz="7400" dirty="0" smtClean="0">
                <a:solidFill>
                  <a:srgbClr val="C00000"/>
                </a:solidFill>
              </a:rPr>
              <a:t> responses, 	which it sends back to the originators of the requests. </a:t>
            </a:r>
            <a:endParaRPr lang="en-US" sz="7400" b="1" dirty="0" smtClean="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Server Configuration: </a:t>
            </a:r>
            <a:endParaRPr lang="en-US" u="sng" dirty="0">
              <a:solidFill>
                <a:srgbClr val="C00000"/>
              </a:solidFill>
            </a:endParaRPr>
          </a:p>
        </p:txBody>
      </p:sp>
      <p:sp>
        <p:nvSpPr>
          <p:cNvPr id="3" name="Content Placeholder 2"/>
          <p:cNvSpPr>
            <a:spLocks noGrp="1"/>
          </p:cNvSpPr>
          <p:nvPr>
            <p:ph idx="1"/>
          </p:nvPr>
        </p:nvSpPr>
        <p:spPr>
          <a:xfrm>
            <a:off x="152400" y="914400"/>
            <a:ext cx="8991600" cy="5943600"/>
          </a:xfrm>
        </p:spPr>
        <p:txBody>
          <a:bodyPr>
            <a:noAutofit/>
          </a:bodyPr>
          <a:lstStyle/>
          <a:p>
            <a:pPr algn="just"/>
            <a:r>
              <a:rPr lang="en-US" sz="2400" dirty="0" smtClean="0"/>
              <a:t>Web server behavior is controlled by its configuration. </a:t>
            </a:r>
          </a:p>
          <a:p>
            <a:pPr algn="just"/>
            <a:r>
              <a:rPr lang="en-US" sz="2400" dirty="0" smtClean="0"/>
              <a:t>While details of configuring a Web server differ greatly between different implementations</a:t>
            </a:r>
          </a:p>
          <a:p>
            <a:pPr algn="just"/>
            <a:r>
              <a:rPr lang="en-US" sz="2400" dirty="0" smtClean="0"/>
              <a:t>For example, any HTTP server has to be configured to map file extensions to MIME types, </a:t>
            </a:r>
          </a:p>
          <a:p>
            <a:pPr algn="just"/>
            <a:r>
              <a:rPr lang="en-US" sz="2400" dirty="0" smtClean="0"/>
              <a:t>and any server has to be configured to resolve URLs to addresses in the local file system.</a:t>
            </a:r>
          </a:p>
          <a:p>
            <a:pPr algn="just">
              <a:buNone/>
            </a:pPr>
            <a:r>
              <a:rPr lang="en-US" sz="2800" b="1" u="sng" dirty="0" smtClean="0">
                <a:solidFill>
                  <a:srgbClr val="C00000"/>
                </a:solidFill>
              </a:rPr>
              <a:t>Server Configuration Components:</a:t>
            </a:r>
          </a:p>
          <a:p>
            <a:pPr marL="457200" indent="-457200" algn="just">
              <a:buFont typeface="+mj-lt"/>
              <a:buAutoNum type="arabicPeriod"/>
            </a:pPr>
            <a:r>
              <a:rPr lang="en-US" sz="2400" b="1" dirty="0" smtClean="0">
                <a:solidFill>
                  <a:srgbClr val="0000FF"/>
                </a:solidFill>
              </a:rPr>
              <a:t>Directory Structure</a:t>
            </a:r>
          </a:p>
          <a:p>
            <a:pPr marL="457200" indent="-457200" algn="just">
              <a:buFont typeface="+mj-lt"/>
              <a:buAutoNum type="arabicPeriod"/>
            </a:pPr>
            <a:r>
              <a:rPr lang="en-US" sz="2400" b="1" dirty="0" smtClean="0">
                <a:solidFill>
                  <a:srgbClr val="0000FF"/>
                </a:solidFill>
              </a:rPr>
              <a:t>Execution</a:t>
            </a:r>
          </a:p>
          <a:p>
            <a:pPr marL="457200" indent="-457200" algn="just">
              <a:buFont typeface="+mj-lt"/>
              <a:buAutoNum type="arabicPeriod"/>
            </a:pPr>
            <a:r>
              <a:rPr lang="en-US" sz="2400" b="1" dirty="0" smtClean="0">
                <a:solidFill>
                  <a:srgbClr val="0000FF"/>
                </a:solidFill>
              </a:rPr>
              <a:t>Address Resolution</a:t>
            </a:r>
          </a:p>
          <a:p>
            <a:pPr marL="457200" indent="-457200" algn="just">
              <a:buFont typeface="+mj-lt"/>
              <a:buAutoNum type="arabicPeriod"/>
            </a:pPr>
            <a:r>
              <a:rPr lang="en-US" sz="2400" b="1" dirty="0" smtClean="0">
                <a:solidFill>
                  <a:srgbClr val="0000FF"/>
                </a:solidFill>
              </a:rPr>
              <a:t>MIME Support</a:t>
            </a:r>
          </a:p>
          <a:p>
            <a:pPr marL="457200" indent="-457200" algn="just">
              <a:buFont typeface="+mj-lt"/>
              <a:buAutoNum type="arabicPeriod"/>
            </a:pPr>
            <a:r>
              <a:rPr lang="en-US" sz="2400" b="1" dirty="0" smtClean="0">
                <a:solidFill>
                  <a:srgbClr val="0000FF"/>
                </a:solidFill>
              </a:rPr>
              <a:t>Server Extension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(A) Directory Structure: </a:t>
            </a:r>
            <a:endParaRPr lang="en-US" u="sng" dirty="0">
              <a:solidFill>
                <a:srgbClr val="C00000"/>
              </a:solidFill>
            </a:endParaRPr>
          </a:p>
        </p:txBody>
      </p:sp>
      <p:sp>
        <p:nvSpPr>
          <p:cNvPr id="3" name="Content Placeholder 2"/>
          <p:cNvSpPr>
            <a:spLocks noGrp="1"/>
          </p:cNvSpPr>
          <p:nvPr>
            <p:ph idx="1"/>
          </p:nvPr>
        </p:nvSpPr>
        <p:spPr>
          <a:xfrm>
            <a:off x="152400" y="914400"/>
            <a:ext cx="8991600" cy="5943600"/>
          </a:xfrm>
        </p:spPr>
        <p:txBody>
          <a:bodyPr>
            <a:noAutofit/>
          </a:bodyPr>
          <a:lstStyle/>
          <a:p>
            <a:pPr algn="just"/>
            <a:r>
              <a:rPr lang="en-US" sz="2600" dirty="0" smtClean="0"/>
              <a:t>An HTTP server installation directory is commonly referred to as the </a:t>
            </a:r>
            <a:r>
              <a:rPr lang="en-US" sz="2600" b="1" i="1" dirty="0" smtClean="0">
                <a:solidFill>
                  <a:srgbClr val="0000FF"/>
                </a:solidFill>
              </a:rPr>
              <a:t>server root.</a:t>
            </a:r>
          </a:p>
          <a:p>
            <a:pPr algn="just"/>
            <a:r>
              <a:rPr lang="en-US" sz="2600" dirty="0" smtClean="0"/>
              <a:t>Most often, other directories (document root, configuration directory, log directory, CGI and servlet root directories, etc.) are defined as subdirectories of the server root.</a:t>
            </a:r>
          </a:p>
          <a:p>
            <a:pPr algn="just"/>
            <a:r>
              <a:rPr lang="en-US" sz="2600" dirty="0" smtClean="0"/>
              <a:t>Server initial configuration file that gets loaded when the server comes up, contains </a:t>
            </a:r>
            <a:r>
              <a:rPr lang="en-US" sz="2600" b="1" i="1" dirty="0" smtClean="0"/>
              <a:t>execution parameters, information about the location of other configuration files, and the location of most important directories.</a:t>
            </a:r>
            <a:r>
              <a:rPr lang="en-US" sz="2600" dirty="0" smtClean="0"/>
              <a:t> </a:t>
            </a:r>
          </a:p>
          <a:p>
            <a:pPr algn="just"/>
            <a:r>
              <a:rPr lang="en-US" sz="2600" dirty="0" smtClean="0"/>
              <a:t>It is important to be particularly careful when sharing directories between different processes—it is enough for one of the processes to be insecure and the integrity of your directory structure is in danger/risk.</a:t>
            </a:r>
            <a:endParaRPr lang="en-US" sz="2600" dirty="0" smtClean="0">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(B) Execution: </a:t>
            </a:r>
            <a:endParaRPr lang="en-US" u="sng" dirty="0">
              <a:solidFill>
                <a:srgbClr val="C00000"/>
              </a:solidFill>
            </a:endParaRPr>
          </a:p>
        </p:txBody>
      </p:sp>
      <p:sp>
        <p:nvSpPr>
          <p:cNvPr id="3" name="Content Placeholder 2"/>
          <p:cNvSpPr>
            <a:spLocks noGrp="1"/>
          </p:cNvSpPr>
          <p:nvPr>
            <p:ph idx="1"/>
          </p:nvPr>
        </p:nvSpPr>
        <p:spPr>
          <a:xfrm>
            <a:off x="76200" y="762000"/>
            <a:ext cx="8991600" cy="5943600"/>
          </a:xfrm>
        </p:spPr>
        <p:txBody>
          <a:bodyPr>
            <a:noAutofit/>
          </a:bodyPr>
          <a:lstStyle/>
          <a:p>
            <a:r>
              <a:rPr lang="en-US" sz="2400" dirty="0" smtClean="0"/>
              <a:t>HTTP server is a set of processes or threads</a:t>
            </a:r>
            <a:r>
              <a:rPr lang="en-US" sz="2400" i="1" dirty="0" smtClean="0"/>
              <a:t>, some of which listen on designated ports while others are dedicated to </a:t>
            </a:r>
            <a:r>
              <a:rPr lang="en-US" sz="2400" dirty="0" smtClean="0"/>
              <a:t>processing incoming requests. </a:t>
            </a:r>
          </a:p>
          <a:p>
            <a:r>
              <a:rPr lang="en-US" sz="2400" dirty="0" smtClean="0"/>
              <a:t>Depending on the load, it may be reasonable to keep a number of threads running at all times so that they do not have to be started and initialized for every request.  </a:t>
            </a:r>
            <a:r>
              <a:rPr lang="en-US" sz="2400" b="1" dirty="0" smtClean="0">
                <a:solidFill>
                  <a:srgbClr val="0000FF"/>
                </a:solidFill>
              </a:rPr>
              <a:t>Example code:</a:t>
            </a:r>
          </a:p>
          <a:p>
            <a:pPr>
              <a:buNone/>
            </a:pPr>
            <a:r>
              <a:rPr lang="en-US" sz="2000" b="1" dirty="0" smtClean="0"/>
              <a:t>	</a:t>
            </a:r>
            <a:r>
              <a:rPr lang="en-US" sz="2400" b="1" dirty="0" err="1" smtClean="0"/>
              <a:t>ServerName</a:t>
            </a:r>
            <a:r>
              <a:rPr lang="en-US" sz="2400" b="1" dirty="0" smtClean="0"/>
              <a:t> demo</a:t>
            </a:r>
          </a:p>
          <a:p>
            <a:pPr>
              <a:buNone/>
            </a:pPr>
            <a:r>
              <a:rPr lang="en-US" sz="2400" b="1" dirty="0" smtClean="0"/>
              <a:t>	</a:t>
            </a:r>
            <a:r>
              <a:rPr lang="en-US" sz="2400" b="1" dirty="0" err="1" smtClean="0"/>
              <a:t>ServerRoot</a:t>
            </a:r>
            <a:r>
              <a:rPr lang="en-US" sz="2400" b="1" dirty="0" smtClean="0"/>
              <a:t> "C:/Program Files/Apache Group/Apache"</a:t>
            </a:r>
          </a:p>
          <a:p>
            <a:pPr>
              <a:buNone/>
            </a:pPr>
            <a:r>
              <a:rPr lang="en-US" sz="2400" b="1" dirty="0" smtClean="0"/>
              <a:t>	</a:t>
            </a:r>
            <a:r>
              <a:rPr lang="en-US" sz="2400" b="1" dirty="0" err="1" smtClean="0"/>
              <a:t>ServerType</a:t>
            </a:r>
            <a:r>
              <a:rPr lang="en-US" sz="2400" b="1" dirty="0" smtClean="0"/>
              <a:t> standalone</a:t>
            </a:r>
          </a:p>
          <a:p>
            <a:pPr>
              <a:buNone/>
            </a:pPr>
            <a:r>
              <a:rPr lang="en-US" sz="2400" b="1" dirty="0" smtClean="0"/>
              <a:t>	Port 80</a:t>
            </a:r>
          </a:p>
          <a:p>
            <a:pPr>
              <a:buNone/>
            </a:pPr>
            <a:r>
              <a:rPr lang="en-US" sz="2400" b="1" dirty="0" smtClean="0"/>
              <a:t>	</a:t>
            </a:r>
            <a:r>
              <a:rPr lang="en-US" sz="2400" b="1" dirty="0" err="1" smtClean="0"/>
              <a:t>KeepAlive</a:t>
            </a:r>
            <a:r>
              <a:rPr lang="en-US" sz="2400" b="1" dirty="0" smtClean="0"/>
              <a:t> On</a:t>
            </a:r>
          </a:p>
          <a:p>
            <a:pPr>
              <a:buNone/>
            </a:pPr>
            <a:r>
              <a:rPr lang="en-US" sz="2400" b="1" dirty="0" smtClean="0"/>
              <a:t>	</a:t>
            </a:r>
            <a:r>
              <a:rPr lang="en-US" sz="2400" b="1" dirty="0" err="1" smtClean="0"/>
              <a:t>MaxKeepAliveRequests</a:t>
            </a:r>
            <a:r>
              <a:rPr lang="en-US" sz="2400" b="1" dirty="0" smtClean="0"/>
              <a:t> 100</a:t>
            </a:r>
          </a:p>
          <a:p>
            <a:pPr>
              <a:buNone/>
            </a:pPr>
            <a:r>
              <a:rPr lang="en-US" sz="2400" b="1" dirty="0" smtClean="0"/>
              <a:t>	</a:t>
            </a:r>
            <a:r>
              <a:rPr lang="en-US" sz="2400" b="1" dirty="0" err="1" smtClean="0"/>
              <a:t>KeepAliveTimeout</a:t>
            </a:r>
            <a:r>
              <a:rPr lang="en-US" sz="2400" b="1" dirty="0" smtClean="0"/>
              <a:t> 15</a:t>
            </a:r>
          </a:p>
          <a:p>
            <a:pPr>
              <a:buNone/>
            </a:pPr>
            <a:r>
              <a:rPr lang="en-US" sz="2400" b="1" dirty="0" smtClean="0"/>
              <a:t>	</a:t>
            </a:r>
            <a:r>
              <a:rPr lang="en-US" sz="2400" b="1" dirty="0" err="1" smtClean="0"/>
              <a:t>MaxRequestsPerChild</a:t>
            </a:r>
            <a:r>
              <a:rPr lang="en-US" sz="2400" b="1" dirty="0" smtClean="0"/>
              <a:t> 200  &amp; Timeout 300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(C) Address Resolution: </a:t>
            </a:r>
            <a:endParaRPr lang="en-US" u="sng" dirty="0">
              <a:solidFill>
                <a:srgbClr val="C00000"/>
              </a:solidFill>
            </a:endParaRPr>
          </a:p>
        </p:txBody>
      </p:sp>
      <p:sp>
        <p:nvSpPr>
          <p:cNvPr id="3" name="Content Placeholder 2"/>
          <p:cNvSpPr>
            <a:spLocks noGrp="1"/>
          </p:cNvSpPr>
          <p:nvPr>
            <p:ph idx="1"/>
          </p:nvPr>
        </p:nvSpPr>
        <p:spPr>
          <a:xfrm>
            <a:off x="76200" y="914400"/>
            <a:ext cx="8991600" cy="5943600"/>
          </a:xfrm>
        </p:spPr>
        <p:txBody>
          <a:bodyPr>
            <a:noAutofit/>
          </a:bodyPr>
          <a:lstStyle/>
          <a:p>
            <a:pPr algn="just"/>
            <a:r>
              <a:rPr lang="en-US" sz="2400" dirty="0" smtClean="0"/>
              <a:t>Address Resolution of Server configuration means initial processing and routing of user(s) requests and selection of server modules to interpret these requests.</a:t>
            </a:r>
          </a:p>
          <a:p>
            <a:pPr algn="just"/>
            <a:r>
              <a:rPr lang="en-US" sz="2400" dirty="0" smtClean="0"/>
              <a:t>First and most important steps are to select the proper virtual host, analyze the URL, and choose the proper processing module. </a:t>
            </a:r>
          </a:p>
          <a:p>
            <a:pPr algn="just"/>
            <a:r>
              <a:rPr lang="en-US" sz="2400" dirty="0" smtClean="0"/>
              <a:t>Lets suppose HTTP as a language, HTTP request as a program, and the server as an interpreter for the language. </a:t>
            </a:r>
          </a:p>
          <a:p>
            <a:pPr algn="just"/>
            <a:r>
              <a:rPr lang="en-US" sz="2400" dirty="0" smtClean="0"/>
              <a:t>The </a:t>
            </a:r>
            <a:r>
              <a:rPr lang="en-US" sz="2400" b="1" dirty="0" smtClean="0">
                <a:solidFill>
                  <a:srgbClr val="0000FF"/>
                </a:solidFill>
              </a:rPr>
              <a:t>Servlet Runner</a:t>
            </a:r>
            <a:r>
              <a:rPr lang="en-US" sz="2400" dirty="0" smtClean="0"/>
              <a:t> is responsible for interpreting session IDs in Cookie headers and mapping them to server-side session information. </a:t>
            </a:r>
          </a:p>
          <a:p>
            <a:pPr algn="just"/>
            <a:r>
              <a:rPr lang="en-US" sz="2400" dirty="0" smtClean="0"/>
              <a:t>After initial processing, Application logic is normally responsible for interpreting URL parameters, request bodies, and additional header information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(D) MIME support: </a:t>
            </a:r>
            <a:endParaRPr lang="en-US" u="sng" dirty="0">
              <a:solidFill>
                <a:srgbClr val="C00000"/>
              </a:solidFill>
            </a:endParaRPr>
          </a:p>
        </p:txBody>
      </p:sp>
      <p:sp>
        <p:nvSpPr>
          <p:cNvPr id="3" name="Content Placeholder 2"/>
          <p:cNvSpPr>
            <a:spLocks noGrp="1"/>
          </p:cNvSpPr>
          <p:nvPr>
            <p:ph idx="1"/>
          </p:nvPr>
        </p:nvSpPr>
        <p:spPr>
          <a:xfrm>
            <a:off x="76200" y="1066800"/>
            <a:ext cx="8991600" cy="5943600"/>
          </a:xfrm>
        </p:spPr>
        <p:txBody>
          <a:bodyPr>
            <a:noAutofit/>
          </a:bodyPr>
          <a:lstStyle/>
          <a:p>
            <a:pPr algn="just"/>
            <a:r>
              <a:rPr lang="en-US" sz="2600" dirty="0" smtClean="0"/>
              <a:t>MIME stands for </a:t>
            </a:r>
            <a:r>
              <a:rPr lang="en-US" sz="2600" b="1" dirty="0" smtClean="0">
                <a:solidFill>
                  <a:srgbClr val="0000FF"/>
                </a:solidFill>
              </a:rPr>
              <a:t>Multi-Purpose Internet Mail Extensions</a:t>
            </a:r>
            <a:r>
              <a:rPr lang="en-US" sz="2600" dirty="0" smtClean="0"/>
              <a:t>.</a:t>
            </a:r>
          </a:p>
          <a:p>
            <a:pPr algn="just"/>
            <a:r>
              <a:rPr lang="en-US" sz="2600" dirty="0" smtClean="0"/>
              <a:t>It is an extension of the original Internet e-mail protocol that lets people use the protocol to exchange different kinds of data files on the Internet: audio, video, images, application programs, and other kinds.</a:t>
            </a:r>
          </a:p>
          <a:p>
            <a:pPr algn="just"/>
            <a:r>
              <a:rPr lang="en-US" sz="2600" dirty="0" smtClean="0"/>
              <a:t>Servers insert the MIME header at the beginning of any Web transmission. </a:t>
            </a:r>
          </a:p>
          <a:p>
            <a:pPr algn="just"/>
            <a:r>
              <a:rPr lang="en-US" sz="2600" dirty="0" smtClean="0"/>
              <a:t>Clients use this header to select an appropriate "player" application for the type of data the header indicates. </a:t>
            </a:r>
          </a:p>
          <a:p>
            <a:pPr algn="just"/>
            <a:r>
              <a:rPr lang="en-US" sz="2600" dirty="0" smtClean="0"/>
              <a:t>Some of these players are built into the Web client or browser (for example, all browsers come with GIF and JPEG image players as well as the ability to handle HTML files.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(D) MIME support: </a:t>
            </a:r>
            <a:endParaRPr lang="en-US" u="sng" dirty="0">
              <a:solidFill>
                <a:srgbClr val="C00000"/>
              </a:solidFill>
            </a:endParaRPr>
          </a:p>
        </p:txBody>
      </p:sp>
      <p:sp>
        <p:nvSpPr>
          <p:cNvPr id="3" name="Content Placeholder 2"/>
          <p:cNvSpPr>
            <a:spLocks noGrp="1"/>
          </p:cNvSpPr>
          <p:nvPr>
            <p:ph idx="1"/>
          </p:nvPr>
        </p:nvSpPr>
        <p:spPr>
          <a:xfrm>
            <a:off x="76200" y="914400"/>
            <a:ext cx="8991600" cy="5943600"/>
          </a:xfrm>
        </p:spPr>
        <p:txBody>
          <a:bodyPr>
            <a:noAutofit/>
          </a:bodyPr>
          <a:lstStyle/>
          <a:p>
            <a:r>
              <a:rPr lang="en-US" sz="2600" dirty="0" smtClean="0"/>
              <a:t>A server distribution normally contains a MIME configuration file that stores mappings between MIME types and file extensions. For example:</a:t>
            </a:r>
          </a:p>
          <a:p>
            <a:pPr lvl="1"/>
            <a:r>
              <a:rPr lang="en-US" sz="2600" dirty="0" smtClean="0"/>
              <a:t>text/html is mapped to two alternate file extensions (.html and .</a:t>
            </a:r>
            <a:r>
              <a:rPr lang="en-US" sz="2600" dirty="0" err="1" smtClean="0"/>
              <a:t>htm</a:t>
            </a:r>
            <a:r>
              <a:rPr lang="en-US" sz="2600" dirty="0" smtClean="0"/>
              <a:t>),</a:t>
            </a:r>
          </a:p>
          <a:p>
            <a:pPr lvl="1"/>
            <a:r>
              <a:rPr lang="en-US" sz="2600" dirty="0" smtClean="0"/>
              <a:t>text/xml is mapped to a single file extension (.xml), </a:t>
            </a:r>
          </a:p>
          <a:p>
            <a:pPr lvl="1"/>
            <a:r>
              <a:rPr lang="en-US" sz="2600" dirty="0" smtClean="0"/>
              <a:t>and video/mpeg is mapped to three alternate extensions (.mpeg, .mpg, and .</a:t>
            </a:r>
            <a:r>
              <a:rPr lang="en-US" sz="2600" dirty="0" err="1" smtClean="0"/>
              <a:t>mpe</a:t>
            </a:r>
            <a:r>
              <a:rPr lang="en-US" sz="2600" dirty="0" smtClean="0"/>
              <a:t>).</a:t>
            </a:r>
          </a:p>
          <a:p>
            <a:r>
              <a:rPr lang="en-US" sz="4400" b="1" u="sng" dirty="0" smtClean="0">
                <a:solidFill>
                  <a:srgbClr val="C00000"/>
                </a:solidFill>
              </a:rPr>
              <a:t>(E) Server extensions: </a:t>
            </a:r>
          </a:p>
          <a:p>
            <a:r>
              <a:rPr lang="en-US" sz="2800" dirty="0" smtClean="0"/>
              <a:t>HTTP servers are packaged to support most common processing modules—As-Is, CGI, SSI, and </a:t>
            </a:r>
            <a:r>
              <a:rPr lang="en-US" sz="2800" dirty="0" err="1" smtClean="0"/>
              <a:t>servlet</a:t>
            </a:r>
            <a:r>
              <a:rPr lang="en-US" sz="2800" dirty="0" smtClean="0"/>
              <a:t> runners.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0162"/>
            <a:ext cx="8229600" cy="792162"/>
          </a:xfrm>
        </p:spPr>
        <p:txBody>
          <a:bodyPr>
            <a:normAutofit/>
          </a:bodyPr>
          <a:lstStyle/>
          <a:p>
            <a:pPr algn="l"/>
            <a:r>
              <a:rPr lang="en-US" b="1" u="sng" dirty="0" smtClean="0">
                <a:solidFill>
                  <a:srgbClr val="C00000"/>
                </a:solidFill>
              </a:rPr>
              <a:t>(E) Server extensions: </a:t>
            </a:r>
            <a:endParaRPr lang="en-US" u="sng" dirty="0">
              <a:solidFill>
                <a:srgbClr val="C00000"/>
              </a:solidFill>
            </a:endParaRPr>
          </a:p>
        </p:txBody>
      </p:sp>
      <p:sp>
        <p:nvSpPr>
          <p:cNvPr id="3" name="Content Placeholder 2"/>
          <p:cNvSpPr>
            <a:spLocks noGrp="1"/>
          </p:cNvSpPr>
          <p:nvPr>
            <p:ph idx="1"/>
          </p:nvPr>
        </p:nvSpPr>
        <p:spPr>
          <a:xfrm>
            <a:off x="0" y="685800"/>
            <a:ext cx="8991600" cy="5943600"/>
          </a:xfrm>
        </p:spPr>
        <p:txBody>
          <a:bodyPr>
            <a:noAutofit/>
          </a:bodyPr>
          <a:lstStyle/>
          <a:p>
            <a:pPr algn="just"/>
            <a:r>
              <a:rPr lang="en-US" sz="2400" dirty="0" smtClean="0"/>
              <a:t>Apache refers to these modules as </a:t>
            </a:r>
            <a:r>
              <a:rPr lang="en-US" sz="2400" i="1" dirty="0" smtClean="0"/>
              <a:t>handlers, and </a:t>
            </a:r>
            <a:r>
              <a:rPr lang="en-US" sz="2400" dirty="0" smtClean="0"/>
              <a:t>makes it possible not only to map built-in handlers to file extensions, but to define new handlers too.  </a:t>
            </a:r>
            <a:r>
              <a:rPr lang="en-US" sz="2400" b="1" dirty="0" smtClean="0"/>
              <a:t>Following code define server extensions in Apache</a:t>
            </a:r>
            <a:endParaRPr lang="en-US" sz="2400" dirty="0" smtClean="0"/>
          </a:p>
          <a:p>
            <a:pPr lvl="1" algn="just"/>
            <a:r>
              <a:rPr lang="en-US" sz="2400" b="1" dirty="0" err="1" smtClean="0">
                <a:solidFill>
                  <a:srgbClr val="0000FF"/>
                </a:solidFill>
              </a:rPr>
              <a:t>AddHandler</a:t>
            </a:r>
            <a:r>
              <a:rPr lang="en-US" sz="2400" b="1" dirty="0" smtClean="0">
                <a:solidFill>
                  <a:srgbClr val="0000FF"/>
                </a:solidFill>
              </a:rPr>
              <a:t> send-as-is .</a:t>
            </a:r>
            <a:r>
              <a:rPr lang="en-US" sz="2400" b="1" dirty="0" err="1" smtClean="0">
                <a:solidFill>
                  <a:srgbClr val="0000FF"/>
                </a:solidFill>
              </a:rPr>
              <a:t>asis</a:t>
            </a:r>
            <a:endParaRPr lang="en-US" sz="2400" b="1" dirty="0" smtClean="0">
              <a:solidFill>
                <a:srgbClr val="0000FF"/>
              </a:solidFill>
            </a:endParaRPr>
          </a:p>
          <a:p>
            <a:pPr lvl="1" algn="just"/>
            <a:r>
              <a:rPr lang="en-US" sz="2400" b="1" dirty="0" err="1" smtClean="0">
                <a:solidFill>
                  <a:srgbClr val="0000FF"/>
                </a:solidFill>
              </a:rPr>
              <a:t>AddType</a:t>
            </a:r>
            <a:r>
              <a:rPr lang="en-US" sz="2400" b="1" dirty="0" smtClean="0">
                <a:solidFill>
                  <a:srgbClr val="0000FF"/>
                </a:solidFill>
              </a:rPr>
              <a:t> text /html .</a:t>
            </a:r>
            <a:r>
              <a:rPr lang="en-US" sz="2400" b="1" dirty="0" err="1" smtClean="0">
                <a:solidFill>
                  <a:srgbClr val="0000FF"/>
                </a:solidFill>
              </a:rPr>
              <a:t>shtml</a:t>
            </a:r>
            <a:endParaRPr lang="en-US" sz="2400" b="1" dirty="0" smtClean="0">
              <a:solidFill>
                <a:srgbClr val="0000FF"/>
              </a:solidFill>
            </a:endParaRPr>
          </a:p>
          <a:p>
            <a:pPr lvl="1" algn="just"/>
            <a:r>
              <a:rPr lang="en-US" sz="2400" b="1" dirty="0" err="1" smtClean="0">
                <a:solidFill>
                  <a:srgbClr val="0000FF"/>
                </a:solidFill>
              </a:rPr>
              <a:t>AddHandler</a:t>
            </a:r>
            <a:r>
              <a:rPr lang="en-US" sz="2400" b="1" dirty="0" smtClean="0">
                <a:solidFill>
                  <a:srgbClr val="0000FF"/>
                </a:solidFill>
              </a:rPr>
              <a:t> server-parsed .</a:t>
            </a:r>
            <a:r>
              <a:rPr lang="en-US" sz="2400" b="1" dirty="0" err="1" smtClean="0">
                <a:solidFill>
                  <a:srgbClr val="0000FF"/>
                </a:solidFill>
              </a:rPr>
              <a:t>shtml</a:t>
            </a:r>
            <a:endParaRPr lang="en-US" sz="2400" b="1" dirty="0" smtClean="0">
              <a:solidFill>
                <a:srgbClr val="0000FF"/>
              </a:solidFill>
            </a:endParaRPr>
          </a:p>
          <a:p>
            <a:pPr lvl="1" algn="just"/>
            <a:r>
              <a:rPr lang="en-US" sz="2400" b="1" dirty="0" smtClean="0">
                <a:solidFill>
                  <a:srgbClr val="0000FF"/>
                </a:solidFill>
              </a:rPr>
              <a:t>Action add-footer /</a:t>
            </a:r>
            <a:r>
              <a:rPr lang="en-US" sz="2400" b="1" dirty="0" err="1" smtClean="0">
                <a:solidFill>
                  <a:srgbClr val="0000FF"/>
                </a:solidFill>
              </a:rPr>
              <a:t>cgi</a:t>
            </a:r>
            <a:r>
              <a:rPr lang="en-US" sz="2400" b="1" dirty="0" smtClean="0">
                <a:solidFill>
                  <a:srgbClr val="0000FF"/>
                </a:solidFill>
              </a:rPr>
              <a:t>-bin/footer.pl</a:t>
            </a:r>
          </a:p>
          <a:p>
            <a:pPr lvl="1" algn="just"/>
            <a:r>
              <a:rPr lang="en-US" sz="2400" b="1" dirty="0" err="1" smtClean="0">
                <a:solidFill>
                  <a:srgbClr val="0000FF"/>
                </a:solidFill>
              </a:rPr>
              <a:t>AddHandler</a:t>
            </a:r>
            <a:r>
              <a:rPr lang="en-US" sz="2400" b="1" dirty="0" smtClean="0">
                <a:solidFill>
                  <a:srgbClr val="0000FF"/>
                </a:solidFill>
              </a:rPr>
              <a:t> add-footer .html</a:t>
            </a:r>
          </a:p>
          <a:p>
            <a:pPr lvl="1" algn="just"/>
            <a:r>
              <a:rPr lang="en-US" sz="2400" b="1" dirty="0" smtClean="0">
                <a:solidFill>
                  <a:srgbClr val="0000FF"/>
                </a:solidFill>
              </a:rPr>
              <a:t>Script PUT /</a:t>
            </a:r>
            <a:r>
              <a:rPr lang="en-US" sz="2400" b="1" dirty="0" err="1" smtClean="0">
                <a:solidFill>
                  <a:srgbClr val="0000FF"/>
                </a:solidFill>
              </a:rPr>
              <a:t>cgi</a:t>
            </a:r>
            <a:r>
              <a:rPr lang="en-US" sz="2400" b="1" dirty="0" smtClean="0">
                <a:solidFill>
                  <a:srgbClr val="0000FF"/>
                </a:solidFill>
              </a:rPr>
              <a:t>-bin/</a:t>
            </a:r>
            <a:r>
              <a:rPr lang="en-US" sz="2400" b="1" dirty="0" err="1" smtClean="0">
                <a:solidFill>
                  <a:srgbClr val="0000FF"/>
                </a:solidFill>
              </a:rPr>
              <a:t>nph</a:t>
            </a:r>
            <a:r>
              <a:rPr lang="en-US" sz="2400" b="1" dirty="0" smtClean="0">
                <a:solidFill>
                  <a:srgbClr val="0000FF"/>
                </a:solidFill>
              </a:rPr>
              <a:t>-put</a:t>
            </a:r>
          </a:p>
          <a:p>
            <a:pPr algn="just"/>
            <a:r>
              <a:rPr lang="en-US" sz="2400" dirty="0" smtClean="0"/>
              <a:t>Here in the example, the </a:t>
            </a:r>
            <a:r>
              <a:rPr lang="en-US" sz="2400" dirty="0" err="1" smtClean="0">
                <a:solidFill>
                  <a:srgbClr val="00B050"/>
                </a:solidFill>
              </a:rPr>
              <a:t>AddHandler</a:t>
            </a:r>
            <a:r>
              <a:rPr lang="en-US" sz="2400" dirty="0" smtClean="0">
                <a:solidFill>
                  <a:srgbClr val="00B050"/>
                </a:solidFill>
              </a:rPr>
              <a:t> directive</a:t>
            </a:r>
            <a:r>
              <a:rPr lang="en-US" sz="2400" dirty="0" smtClean="0"/>
              <a:t> is used to associate file instructions with handlers. The </a:t>
            </a:r>
            <a:r>
              <a:rPr lang="en-US" sz="2400" dirty="0" err="1" smtClean="0">
                <a:solidFill>
                  <a:srgbClr val="00B050"/>
                </a:solidFill>
              </a:rPr>
              <a:t>AddType</a:t>
            </a:r>
            <a:r>
              <a:rPr lang="en-US" sz="2400" dirty="0" smtClean="0">
                <a:solidFill>
                  <a:srgbClr val="00B050"/>
                </a:solidFill>
              </a:rPr>
              <a:t> directive</a:t>
            </a:r>
            <a:r>
              <a:rPr lang="en-US" sz="2400" dirty="0" smtClean="0"/>
              <a:t> is used to assign MIME types to the output of these handlers by associating both types and handlers with the same file extension. Further, the </a:t>
            </a:r>
            <a:r>
              <a:rPr lang="en-US" sz="2400" dirty="0" smtClean="0">
                <a:solidFill>
                  <a:srgbClr val="00B050"/>
                </a:solidFill>
              </a:rPr>
              <a:t>Action directive</a:t>
            </a:r>
            <a:r>
              <a:rPr lang="en-US" sz="2400" dirty="0" smtClean="0"/>
              <a:t> is designed to support introducing new handlers.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Server Security: </a:t>
            </a:r>
            <a:endParaRPr lang="en-US" u="sng" dirty="0">
              <a:solidFill>
                <a:srgbClr val="C00000"/>
              </a:solidFill>
            </a:endParaRPr>
          </a:p>
        </p:txBody>
      </p:sp>
      <p:sp>
        <p:nvSpPr>
          <p:cNvPr id="3" name="Content Placeholder 2"/>
          <p:cNvSpPr>
            <a:spLocks noGrp="1"/>
          </p:cNvSpPr>
          <p:nvPr>
            <p:ph idx="1"/>
          </p:nvPr>
        </p:nvSpPr>
        <p:spPr>
          <a:xfrm>
            <a:off x="76200" y="914400"/>
            <a:ext cx="8991600" cy="5943600"/>
          </a:xfrm>
        </p:spPr>
        <p:txBody>
          <a:bodyPr>
            <a:noAutofit/>
          </a:bodyPr>
          <a:lstStyle/>
          <a:p>
            <a:pPr algn="just"/>
            <a:r>
              <a:rPr lang="en-US" sz="2400" dirty="0" smtClean="0"/>
              <a:t>There is </a:t>
            </a:r>
            <a:r>
              <a:rPr lang="en-US" sz="2400" dirty="0" smtClean="0"/>
              <a:t>consensus </a:t>
            </a:r>
            <a:r>
              <a:rPr lang="en-US" sz="2000" dirty="0" smtClean="0"/>
              <a:t>(agreement)</a:t>
            </a:r>
            <a:r>
              <a:rPr lang="en-US" sz="2400" dirty="0" smtClean="0"/>
              <a:t> </a:t>
            </a:r>
            <a:r>
              <a:rPr lang="en-US" sz="2400" dirty="0" smtClean="0"/>
              <a:t>that the issue of computer and data security is the biggest hurdle in the growth of ecommerce. </a:t>
            </a:r>
          </a:p>
          <a:p>
            <a:pPr algn="just"/>
            <a:r>
              <a:rPr lang="en-US" sz="2400" dirty="0" smtClean="0"/>
              <a:t>Web servers also face this security threat. </a:t>
            </a:r>
          </a:p>
          <a:p>
            <a:pPr algn="just"/>
            <a:r>
              <a:rPr lang="en-US" sz="2400" dirty="0" smtClean="0"/>
              <a:t>Programs that run on a server have the potential to damage databases, abnormally terminate server software or make changes in the information placed there. </a:t>
            </a:r>
          </a:p>
          <a:p>
            <a:pPr algn="just"/>
            <a:r>
              <a:rPr lang="en-US" sz="2400" dirty="0" smtClean="0"/>
              <a:t>A number of international organizations have been formed to share information and combat security threats to computers and computer networks. </a:t>
            </a:r>
          </a:p>
          <a:p>
            <a:pPr algn="just"/>
            <a:r>
              <a:rPr lang="en-US" sz="2400" dirty="0" smtClean="0"/>
              <a:t>The names of two such organizations are worth-mentioning: </a:t>
            </a:r>
          </a:p>
          <a:p>
            <a:pPr lvl="0" algn="just"/>
            <a:r>
              <a:rPr lang="en-US" sz="2400" dirty="0" smtClean="0"/>
              <a:t>Computer Emergency Response Team (CERT) </a:t>
            </a:r>
          </a:p>
          <a:p>
            <a:pPr lvl="0" algn="just"/>
            <a:r>
              <a:rPr lang="en-US" sz="2400" dirty="0" smtClean="0"/>
              <a:t>Systems Administrator, Audit, Network and Security Institute (SAANS Institute) </a:t>
            </a:r>
          </a:p>
          <a:p>
            <a:pPr algn="just"/>
            <a:endParaRPr lang="en-US" sz="2400" b="1" dirty="0" smtClean="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Server Security: </a:t>
            </a:r>
            <a:endParaRPr lang="en-US" u="sng" dirty="0">
              <a:solidFill>
                <a:srgbClr val="C00000"/>
              </a:solidFill>
            </a:endParaRPr>
          </a:p>
        </p:txBody>
      </p:sp>
      <p:sp>
        <p:nvSpPr>
          <p:cNvPr id="3" name="Content Placeholder 2"/>
          <p:cNvSpPr>
            <a:spLocks noGrp="1"/>
          </p:cNvSpPr>
          <p:nvPr>
            <p:ph idx="1"/>
          </p:nvPr>
        </p:nvSpPr>
        <p:spPr>
          <a:xfrm>
            <a:off x="152400" y="914400"/>
            <a:ext cx="8991600" cy="5943600"/>
          </a:xfrm>
        </p:spPr>
        <p:txBody>
          <a:bodyPr>
            <a:noAutofit/>
          </a:bodyPr>
          <a:lstStyle/>
          <a:p>
            <a:r>
              <a:rPr lang="en-US" sz="2400" dirty="0" smtClean="0"/>
              <a:t>Server’s main security points or policies that a Web Administrator make sure and documented:</a:t>
            </a:r>
          </a:p>
          <a:p>
            <a:pPr lvl="1"/>
            <a:r>
              <a:rPr lang="en-US" sz="2400" b="1" i="1" dirty="0" smtClean="0">
                <a:solidFill>
                  <a:srgbClr val="0000FF"/>
                </a:solidFill>
              </a:rPr>
              <a:t>Web Server and its Software</a:t>
            </a:r>
          </a:p>
          <a:p>
            <a:pPr lvl="1"/>
            <a:r>
              <a:rPr lang="en-US" sz="2400" b="1" i="1" dirty="0" smtClean="0">
                <a:solidFill>
                  <a:srgbClr val="0000FF"/>
                </a:solidFill>
              </a:rPr>
              <a:t>Back-end program containing data i.e. Databases.</a:t>
            </a:r>
          </a:p>
          <a:p>
            <a:pPr algn="just"/>
            <a:r>
              <a:rPr lang="en-US" sz="2400" dirty="0" smtClean="0"/>
              <a:t>Server security is about 80/20 compromises— attempts to achieve eighty percent of desired security for your servers at the cost giving up twenty percent of convenience in building and maintaining applications.</a:t>
            </a:r>
          </a:p>
          <a:p>
            <a:r>
              <a:rPr lang="en-US" sz="2800" b="1" u="sng" dirty="0" smtClean="0">
                <a:solidFill>
                  <a:srgbClr val="C00000"/>
                </a:solidFill>
              </a:rPr>
              <a:t>Server Security Components:</a:t>
            </a:r>
          </a:p>
          <a:p>
            <a:pPr marL="457200" indent="-457200" algn="just">
              <a:buFont typeface="+mj-lt"/>
              <a:buAutoNum type="arabicPeriod"/>
            </a:pPr>
            <a:r>
              <a:rPr lang="en-US" sz="2400" b="1" dirty="0" smtClean="0">
                <a:solidFill>
                  <a:srgbClr val="0000FF"/>
                </a:solidFill>
              </a:rPr>
              <a:t>Securing the Installation</a:t>
            </a:r>
          </a:p>
          <a:p>
            <a:pPr marL="457200" indent="-457200" algn="just">
              <a:buFont typeface="+mj-lt"/>
              <a:buAutoNum type="arabicPeriod"/>
            </a:pPr>
            <a:r>
              <a:rPr lang="en-US" sz="2400" b="1" dirty="0" smtClean="0">
                <a:solidFill>
                  <a:srgbClr val="0000FF"/>
                </a:solidFill>
              </a:rPr>
              <a:t>Dangerous practices </a:t>
            </a:r>
          </a:p>
          <a:p>
            <a:pPr marL="457200" indent="-457200" algn="just">
              <a:buFont typeface="+mj-lt"/>
              <a:buAutoNum type="arabicPeriod"/>
            </a:pPr>
            <a:r>
              <a:rPr lang="en-US" sz="2400" b="1" dirty="0" smtClean="0">
                <a:solidFill>
                  <a:srgbClr val="0000FF"/>
                </a:solidFill>
              </a:rPr>
              <a:t>Secure HTTP </a:t>
            </a:r>
          </a:p>
          <a:p>
            <a:pPr marL="457200" indent="-457200" algn="just">
              <a:buFont typeface="+mj-lt"/>
              <a:buAutoNum type="arabicPeriod"/>
            </a:pPr>
            <a:r>
              <a:rPr lang="en-US" sz="2400" b="1" dirty="0" smtClean="0">
                <a:solidFill>
                  <a:srgbClr val="0000FF"/>
                </a:solidFill>
              </a:rPr>
              <a:t>Firewalls and proxies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 (A) Securing the Installation: </a:t>
            </a:r>
            <a:endParaRPr lang="en-US" u="sng" dirty="0">
              <a:solidFill>
                <a:srgbClr val="C00000"/>
              </a:solidFill>
            </a:endParaRPr>
          </a:p>
        </p:txBody>
      </p:sp>
      <p:sp>
        <p:nvSpPr>
          <p:cNvPr id="3" name="Content Placeholder 2"/>
          <p:cNvSpPr>
            <a:spLocks noGrp="1"/>
          </p:cNvSpPr>
          <p:nvPr>
            <p:ph idx="1"/>
          </p:nvPr>
        </p:nvSpPr>
        <p:spPr>
          <a:xfrm>
            <a:off x="76200" y="914400"/>
            <a:ext cx="8991600" cy="5943600"/>
          </a:xfrm>
        </p:spPr>
        <p:txBody>
          <a:bodyPr>
            <a:noAutofit/>
          </a:bodyPr>
          <a:lstStyle/>
          <a:p>
            <a:pPr algn="just"/>
            <a:r>
              <a:rPr lang="en-US" sz="2600" dirty="0" smtClean="0"/>
              <a:t>HTTP servers are designed to respond to external requests. </a:t>
            </a:r>
          </a:p>
          <a:p>
            <a:pPr algn="just"/>
            <a:r>
              <a:rPr lang="en-US" sz="2600" dirty="0" smtClean="0"/>
              <a:t>Some of the requests may be malicious and endanger not only the integrity of the server, but of the entire network. </a:t>
            </a:r>
          </a:p>
          <a:p>
            <a:pPr algn="just"/>
            <a:r>
              <a:rPr lang="en-US" sz="2600" dirty="0" smtClean="0"/>
              <a:t>The obvious precaution is to minimize remote login access to the server machine—up to disabling it completely.</a:t>
            </a:r>
          </a:p>
          <a:p>
            <a:pPr algn="just"/>
            <a:r>
              <a:rPr lang="en-US" sz="2600" dirty="0" smtClean="0"/>
              <a:t>If this is </a:t>
            </a:r>
            <a:r>
              <a:rPr lang="en-US" sz="2600" smtClean="0"/>
              <a:t>too </a:t>
            </a:r>
            <a:r>
              <a:rPr lang="en-US" sz="2600" smtClean="0"/>
              <a:t>drastic </a:t>
            </a:r>
            <a:r>
              <a:rPr lang="en-US" sz="2400" smtClean="0"/>
              <a:t>(</a:t>
            </a:r>
            <a:r>
              <a:rPr lang="en-US" sz="2400" dirty="0" smtClean="0"/>
              <a:t>harsh)</a:t>
            </a:r>
            <a:r>
              <a:rPr lang="en-US" sz="2600" dirty="0" smtClean="0"/>
              <a:t> </a:t>
            </a:r>
            <a:r>
              <a:rPr lang="en-US" sz="2600" dirty="0" smtClean="0"/>
              <a:t>a precaution for what you need, at least make sure that all attempts to access the system are monitored and logged, and all passwords are crack-resilient (flexible).</a:t>
            </a:r>
          </a:p>
          <a:p>
            <a:pPr algn="just"/>
            <a:r>
              <a:rPr lang="en-US" sz="2600" dirty="0" smtClean="0"/>
              <a:t>Do not neglect to check for obvious and trivial (minor) problems—like file permissions on configuration and password files.</a:t>
            </a:r>
          </a:p>
          <a:p>
            <a:endParaRPr lang="en-US" sz="24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 (B) Dangerous practices: </a:t>
            </a:r>
            <a:endParaRPr lang="en-US" u="sng" dirty="0">
              <a:solidFill>
                <a:srgbClr val="C00000"/>
              </a:solidFill>
            </a:endParaRPr>
          </a:p>
        </p:txBody>
      </p:sp>
      <p:sp>
        <p:nvSpPr>
          <p:cNvPr id="3" name="Content Placeholder 2"/>
          <p:cNvSpPr>
            <a:spLocks noGrp="1"/>
          </p:cNvSpPr>
          <p:nvPr>
            <p:ph idx="1"/>
          </p:nvPr>
        </p:nvSpPr>
        <p:spPr>
          <a:xfrm>
            <a:off x="76200" y="914400"/>
            <a:ext cx="8991600" cy="5943600"/>
          </a:xfrm>
        </p:spPr>
        <p:txBody>
          <a:bodyPr>
            <a:noAutofit/>
          </a:bodyPr>
          <a:lstStyle/>
          <a:p>
            <a:pPr algn="just"/>
            <a:r>
              <a:rPr lang="en-US" sz="2600" dirty="0" smtClean="0"/>
              <a:t>Symbolic links between files and directories in file permissions.</a:t>
            </a:r>
          </a:p>
          <a:p>
            <a:pPr algn="just"/>
            <a:r>
              <a:rPr lang="en-US" sz="2600" dirty="0" smtClean="0"/>
              <a:t>lack of care in configuring the server during  sharing the same file system between different processes.</a:t>
            </a:r>
          </a:p>
          <a:p>
            <a:pPr algn="just"/>
            <a:r>
              <a:rPr lang="en-US" sz="2600" dirty="0" smtClean="0"/>
              <a:t>HTTP Server don’t give it access to files outside of the server directory structure to any web client.</a:t>
            </a:r>
          </a:p>
          <a:p>
            <a:pPr>
              <a:buNone/>
            </a:pPr>
            <a:r>
              <a:rPr lang="en-US" sz="2400" b="1" dirty="0" smtClean="0"/>
              <a:t>  </a:t>
            </a:r>
            <a:r>
              <a:rPr lang="en-US" sz="4000" b="1" u="sng" dirty="0" smtClean="0">
                <a:solidFill>
                  <a:srgbClr val="C00000"/>
                </a:solidFill>
              </a:rPr>
              <a:t>(C) Secure HTTP: </a:t>
            </a:r>
          </a:p>
          <a:p>
            <a:r>
              <a:rPr lang="en-US" sz="2400" dirty="0" smtClean="0"/>
              <a:t>HTTP messages containing sensitive information are still vulnerable. </a:t>
            </a:r>
          </a:p>
          <a:p>
            <a:r>
              <a:rPr lang="en-US" sz="2400" dirty="0" smtClean="0"/>
              <a:t>The most obvious solution for guarding this information is, of course, encryption. </a:t>
            </a:r>
          </a:p>
          <a:p>
            <a:r>
              <a:rPr lang="en-US" sz="2400" dirty="0" smtClean="0"/>
              <a:t>HTTPS is the secure version of the HTTP protocol. </a:t>
            </a:r>
          </a:p>
          <a:p>
            <a:r>
              <a:rPr lang="en-US" sz="2400" dirty="0" smtClean="0"/>
              <a:t>All HTTPS messages are the same except that they are transmitted over a Secure Socket Layer (SSL) connection.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229600" cy="792162"/>
          </a:xfrm>
        </p:spPr>
        <p:txBody>
          <a:bodyPr>
            <a:normAutofit/>
          </a:bodyPr>
          <a:lstStyle/>
          <a:p>
            <a:pPr algn="l"/>
            <a:r>
              <a:rPr lang="en-US" b="1" u="sng" dirty="0" smtClean="0">
                <a:solidFill>
                  <a:srgbClr val="C00000"/>
                </a:solidFill>
              </a:rPr>
              <a:t> (C) Secure HTTP: </a:t>
            </a:r>
            <a:endParaRPr lang="en-US" u="sng" dirty="0">
              <a:solidFill>
                <a:srgbClr val="C00000"/>
              </a:solidFill>
            </a:endParaRPr>
          </a:p>
        </p:txBody>
      </p:sp>
      <p:sp>
        <p:nvSpPr>
          <p:cNvPr id="3" name="Content Placeholder 2"/>
          <p:cNvSpPr>
            <a:spLocks noGrp="1"/>
          </p:cNvSpPr>
          <p:nvPr>
            <p:ph idx="1"/>
          </p:nvPr>
        </p:nvSpPr>
        <p:spPr>
          <a:xfrm>
            <a:off x="76200" y="609600"/>
            <a:ext cx="8991600" cy="5943600"/>
          </a:xfrm>
        </p:spPr>
        <p:txBody>
          <a:bodyPr>
            <a:noAutofit/>
          </a:bodyPr>
          <a:lstStyle/>
          <a:p>
            <a:pPr algn="just"/>
            <a:r>
              <a:rPr lang="en-US" sz="2400" dirty="0" smtClean="0"/>
              <a:t>In SSL messages are encrypted before the transmission and decrypted after being received by the server.</a:t>
            </a:r>
          </a:p>
          <a:p>
            <a:pPr algn="just"/>
            <a:r>
              <a:rPr lang="en-US" sz="2400" dirty="0" smtClean="0"/>
              <a:t>The SSL protocol supports the use of a variety of different cryptographic algorithms to authenticate the server and the browser to each other, transmit certificates, and establish session encryption keys. </a:t>
            </a:r>
          </a:p>
          <a:p>
            <a:pPr algn="just"/>
            <a:r>
              <a:rPr lang="en-US" sz="2400" dirty="0" smtClean="0"/>
              <a:t>The SSL handshake protocol determines how the server and the browser negotiate what encryption algorithm to use.</a:t>
            </a:r>
          </a:p>
          <a:p>
            <a:pPr algn="just">
              <a:buNone/>
            </a:pPr>
            <a:r>
              <a:rPr lang="en-US" sz="2400" b="1" dirty="0" smtClean="0"/>
              <a:t>  </a:t>
            </a:r>
            <a:r>
              <a:rPr lang="en-US" sz="4400" b="1" u="sng" dirty="0" smtClean="0">
                <a:solidFill>
                  <a:srgbClr val="C00000"/>
                </a:solidFill>
              </a:rPr>
              <a:t>(D) Firewalls and proxies:</a:t>
            </a:r>
          </a:p>
          <a:p>
            <a:pPr algn="just"/>
            <a:r>
              <a:rPr lang="en-US" sz="2400" dirty="0" smtClean="0"/>
              <a:t>Today, more than a third of all Internet sites are protected by firewalls. </a:t>
            </a:r>
          </a:p>
          <a:p>
            <a:pPr algn="just"/>
            <a:r>
              <a:rPr lang="en-US" sz="2400" dirty="0" smtClean="0"/>
              <a:t>The idea is to isolate machines on a Local Area Network (LAN) and expose them to the outside world via a specialized gateway referred to as a </a:t>
            </a:r>
            <a:r>
              <a:rPr lang="en-US" sz="2400" i="1" dirty="0" smtClean="0"/>
              <a:t>firewall.</a:t>
            </a:r>
            <a:endParaRPr lang="en-US" sz="2400"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 (D) Firewalls and proxies:</a:t>
            </a:r>
            <a:endParaRPr lang="en-US" u="sng" dirty="0">
              <a:solidFill>
                <a:srgbClr val="C00000"/>
              </a:solidFill>
            </a:endParaRPr>
          </a:p>
        </p:txBody>
      </p:sp>
      <p:sp>
        <p:nvSpPr>
          <p:cNvPr id="3" name="Content Placeholder 2"/>
          <p:cNvSpPr>
            <a:spLocks noGrp="1"/>
          </p:cNvSpPr>
          <p:nvPr>
            <p:ph idx="1"/>
          </p:nvPr>
        </p:nvSpPr>
        <p:spPr>
          <a:xfrm>
            <a:off x="76200" y="914400"/>
            <a:ext cx="8991600" cy="5943600"/>
          </a:xfrm>
        </p:spPr>
        <p:txBody>
          <a:bodyPr>
            <a:noAutofit/>
          </a:bodyPr>
          <a:lstStyle/>
          <a:p>
            <a:pPr algn="just"/>
            <a:r>
              <a:rPr lang="en-US" sz="2400" dirty="0" smtClean="0"/>
              <a:t>A firewall is a combination of hardware and software that sits between the Internet and internal network of an organization to protect the network from </a:t>
            </a:r>
            <a:r>
              <a:rPr lang="en-US" sz="2400" b="1" dirty="0" smtClean="0"/>
              <a:t>outside attack</a:t>
            </a:r>
            <a:r>
              <a:rPr lang="en-US" sz="2400" dirty="0" smtClean="0"/>
              <a:t>. </a:t>
            </a:r>
          </a:p>
          <a:p>
            <a:pPr algn="just"/>
            <a:r>
              <a:rPr lang="en-US" sz="2400" dirty="0" smtClean="0"/>
              <a:t>It can examine the data entering or leaving from the network and can filter the data according to certain rules, thus, protects the network from an attack. </a:t>
            </a:r>
          </a:p>
          <a:p>
            <a:r>
              <a:rPr lang="en-US" sz="2400" dirty="0" smtClean="0"/>
              <a:t>There exist many different firewall configurations that fall into two major categories:</a:t>
            </a:r>
          </a:p>
          <a:p>
            <a:pPr lvl="1"/>
            <a:r>
              <a:rPr lang="en-US" sz="2400" b="1" i="1" dirty="0" smtClean="0">
                <a:solidFill>
                  <a:srgbClr val="0000FF"/>
                </a:solidFill>
              </a:rPr>
              <a:t>Dual-homed gateways </a:t>
            </a:r>
            <a:r>
              <a:rPr lang="en-US" sz="2400" b="1" i="1" dirty="0" smtClean="0"/>
              <a:t>and</a:t>
            </a:r>
            <a:r>
              <a:rPr lang="en-US" sz="2400" b="1" i="1" dirty="0" smtClean="0">
                <a:solidFill>
                  <a:srgbClr val="0000FF"/>
                </a:solidFill>
              </a:rPr>
              <a:t> Screened-host gateways.</a:t>
            </a:r>
            <a:endParaRPr lang="en-US" sz="2400" b="1" dirty="0" smtClean="0">
              <a:solidFill>
                <a:srgbClr val="0000FF"/>
              </a:solidFill>
            </a:endParaRPr>
          </a:p>
          <a:p>
            <a:r>
              <a:rPr lang="en-US" sz="2400" b="1" i="1" dirty="0" smtClean="0"/>
              <a:t>Dual-homed firewall</a:t>
            </a:r>
            <a:r>
              <a:rPr lang="en-US" sz="2400" dirty="0" smtClean="0"/>
              <a:t> is a computer with two different interface cards, one of which is connected to the LAN and one to outside the world. </a:t>
            </a:r>
          </a:p>
          <a:p>
            <a:r>
              <a:rPr lang="en-US" sz="2400" dirty="0" smtClean="0"/>
              <a:t>With this architecture, filtering network packets and passing them between the interface cards.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smtClean="0">
                <a:solidFill>
                  <a:srgbClr val="C00000"/>
                </a:solidFill>
              </a:rPr>
              <a:t> (D) Firewalls and proxies:</a:t>
            </a:r>
            <a:endParaRPr lang="en-US" u="sng" dirty="0">
              <a:solidFill>
                <a:srgbClr val="C00000"/>
              </a:solidFill>
            </a:endParaRPr>
          </a:p>
        </p:txBody>
      </p:sp>
      <p:sp>
        <p:nvSpPr>
          <p:cNvPr id="3" name="Content Placeholder 2"/>
          <p:cNvSpPr>
            <a:spLocks noGrp="1"/>
          </p:cNvSpPr>
          <p:nvPr>
            <p:ph idx="1"/>
          </p:nvPr>
        </p:nvSpPr>
        <p:spPr>
          <a:xfrm>
            <a:off x="76200" y="914400"/>
            <a:ext cx="8991600" cy="5943600"/>
          </a:xfrm>
        </p:spPr>
        <p:txBody>
          <a:bodyPr>
            <a:noAutofit/>
          </a:bodyPr>
          <a:lstStyle/>
          <a:p>
            <a:pPr algn="just"/>
            <a:r>
              <a:rPr lang="en-US" sz="2600" b="1" i="1" dirty="0" smtClean="0"/>
              <a:t>Screened-host gateways</a:t>
            </a:r>
            <a:r>
              <a:rPr lang="en-US" sz="2600" dirty="0" smtClean="0"/>
              <a:t> are network routers that have the responsibility of filtering traffic between the LAN and the outside world. </a:t>
            </a:r>
          </a:p>
          <a:p>
            <a:pPr algn="just"/>
            <a:r>
              <a:rPr lang="en-US" sz="2600" dirty="0" smtClean="0"/>
              <a:t>Normally, the router is configured to pass through only network packets that are bound for the firewall host and stops packets that are bound for other machines on the LAN. </a:t>
            </a:r>
          </a:p>
          <a:p>
            <a:pPr algn="just"/>
            <a:r>
              <a:rPr lang="en-US" sz="2600" dirty="0" smtClean="0"/>
              <a:t>The firewall host is responsible for running a configurable filtering proxy that selectively passes through the network traffic. </a:t>
            </a:r>
          </a:p>
          <a:p>
            <a:pPr algn="just"/>
            <a:r>
              <a:rPr lang="en-US" sz="2600" dirty="0" smtClean="0"/>
              <a:t>The screened-host configuration is very flexible—it is easy to open temporary paths to selected ports and hosts. </a:t>
            </a:r>
          </a:p>
          <a:p>
            <a:pPr algn="just"/>
            <a:r>
              <a:rPr lang="en-US" sz="2600" dirty="0" smtClean="0"/>
              <a:t>This comes in handy when you need to show a demo running on an internal machine.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453</TotalTime>
  <Words>1549</Words>
  <Application>Microsoft Office PowerPoint</Application>
  <PresentationFormat>On-screen Show (4:3)</PresentationFormat>
  <Paragraphs>122</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Office Theme</vt:lpstr>
      <vt:lpstr>Web Server Operations </vt:lpstr>
      <vt:lpstr>Server Configuration: </vt:lpstr>
      <vt:lpstr>(A) Directory Structure: </vt:lpstr>
      <vt:lpstr>(B) Execution: </vt:lpstr>
      <vt:lpstr>(C) Address Resolution: </vt:lpstr>
      <vt:lpstr>(D) MIME support: </vt:lpstr>
      <vt:lpstr>(D) MIME support: </vt:lpstr>
      <vt:lpstr>(E) Server extensions: </vt:lpstr>
      <vt:lpstr>Server Security: </vt:lpstr>
      <vt:lpstr>Server Security: </vt:lpstr>
      <vt:lpstr> (A) Securing the Installation: </vt:lpstr>
      <vt:lpstr> (B) Dangerous practices: </vt:lpstr>
      <vt:lpstr> (C) Secure HTTP: </vt:lpstr>
      <vt:lpstr> (D) Firewalls and proxies:</vt:lpstr>
      <vt:lpstr> (D) Firewalls and proxies: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Microsoft account</cp:lastModifiedBy>
  <cp:revision>114</cp:revision>
  <dcterms:created xsi:type="dcterms:W3CDTF">2007-05-20T19:49:17Z</dcterms:created>
  <dcterms:modified xsi:type="dcterms:W3CDTF">2020-09-29T04:30:46Z</dcterms:modified>
</cp:coreProperties>
</file>
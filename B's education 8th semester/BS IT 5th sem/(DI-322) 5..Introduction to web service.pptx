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6" r:id="rId3"/>
    <p:sldId id="267" r:id="rId4"/>
    <p:sldId id="257" r:id="rId5"/>
    <p:sldId id="268" r:id="rId6"/>
    <p:sldId id="269" r:id="rId7"/>
    <p:sldId id="270" r:id="rId8"/>
    <p:sldId id="271" r:id="rId9"/>
    <p:sldId id="272" r:id="rId10"/>
    <p:sldId id="273" r:id="rId11"/>
    <p:sldId id="274" r:id="rId12"/>
    <p:sldId id="258" r:id="rId13"/>
    <p:sldId id="259" r:id="rId14"/>
    <p:sldId id="261" r:id="rId15"/>
    <p:sldId id="262" r:id="rId16"/>
    <p:sldId id="263" r:id="rId17"/>
    <p:sldId id="265" r:id="rId18"/>
    <p:sldId id="275"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468A-E06A-34B1-0FE0-178F82AF0A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E6B41B-94F4-51B5-B890-154080309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16DBFC-1B4C-C6FF-ECBB-A31BEC5AC48A}"/>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F0828486-E1E6-4D6D-8B58-035F384E7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A1996-F2C3-8D26-A38B-0A09B8D06761}"/>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4278390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1B38-8269-BC91-7C4E-A29D146A03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77B8FD-E52E-51F5-E1AD-F9066150F1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89FC7-A443-5075-1110-B45D0D5CE841}"/>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3B82ADC9-07F0-D061-FF03-7F1AB99AF4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BC16BA-454A-69CE-EB83-44E166B744ED}"/>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175697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56E53-7C9C-6E60-1CD8-EA63D3FF9B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2883AF-E801-6F4F-ACDA-F62534796E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899862-CE9E-DD44-FB3D-A8C1A7657365}"/>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EE457619-2154-F626-B9F0-5CCDA1708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FC0A7-5D53-2018-1D70-02C2908FEBBC}"/>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3427700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D8A06-0D78-AFBB-1754-758DE13629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AF9B3C-43B4-9CD5-3131-45FC0F415E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ABB522-B2E6-0455-EC06-955E3DE056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33AB18-E495-A116-2D35-D4860C5711DD}"/>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6" name="Footer Placeholder 5">
            <a:extLst>
              <a:ext uri="{FF2B5EF4-FFF2-40B4-BE49-F238E27FC236}">
                <a16:creationId xmlns:a16="http://schemas.microsoft.com/office/drawing/2014/main" id="{992F04FA-3874-7DBE-829C-98C7D60EF9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474379-1870-9092-20C0-C03BD32BBFDB}"/>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3275490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023AC-0360-9582-869F-5B1D950F52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FC5E05-68A9-1A29-DFEB-CEBFE05C4B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31628D-6D04-B5E2-DAA7-46CBABAD0F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47F1B2-48A6-5D23-D8D3-A1895685F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7F8F55-B361-B3A7-A906-B10C5BD532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EAB830-FC2D-30A6-11B8-550D2A5DE0B9}"/>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8" name="Footer Placeholder 7">
            <a:extLst>
              <a:ext uri="{FF2B5EF4-FFF2-40B4-BE49-F238E27FC236}">
                <a16:creationId xmlns:a16="http://schemas.microsoft.com/office/drawing/2014/main" id="{EDC6FA59-0844-D0C8-9A86-6F8C107548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63D07F-98A7-E147-D2F2-2AC2618E8093}"/>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4121666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7CC2-41F6-3193-EAB7-C39DEB6F9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B2E11B-2B5F-B3B7-5107-B4AAA640D5DA}"/>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4" name="Footer Placeholder 3">
            <a:extLst>
              <a:ext uri="{FF2B5EF4-FFF2-40B4-BE49-F238E27FC236}">
                <a16:creationId xmlns:a16="http://schemas.microsoft.com/office/drawing/2014/main" id="{F42EE661-793F-B65B-A0CF-C282B1FFB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3731C4-6C0B-F836-AC3D-D73BA40E93A2}"/>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159973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0A44A3-0291-2F2F-4BEC-A592B99C5C11}"/>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3" name="Footer Placeholder 2">
            <a:extLst>
              <a:ext uri="{FF2B5EF4-FFF2-40B4-BE49-F238E27FC236}">
                <a16:creationId xmlns:a16="http://schemas.microsoft.com/office/drawing/2014/main" id="{CB688A38-FC1C-2840-F29D-19BBCCB837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D82ABC-9E44-F284-899C-BB0268E3BE9A}"/>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399710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34CE-6D2E-8699-FA43-376B766DD2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6BBF93-BABB-BDEF-963C-736341FAC3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B31BE3-6734-E2C4-63BF-8A4551AFD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2F1C3A-F6CD-52FF-6E42-B6D8682A9235}"/>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6" name="Footer Placeholder 5">
            <a:extLst>
              <a:ext uri="{FF2B5EF4-FFF2-40B4-BE49-F238E27FC236}">
                <a16:creationId xmlns:a16="http://schemas.microsoft.com/office/drawing/2014/main" id="{3A740938-4A7F-3324-A152-90B24B600B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C7B86E-4732-6EDA-224C-99FC1332DB92}"/>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1700750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7FCFD-501E-EA29-CC17-4F43537FB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3C48A7-9671-F7EB-D600-75C16B412E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CA679A-5435-1AB1-7086-0C2C83035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C94074-3D29-AB2B-0651-69D925FB685F}"/>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6" name="Footer Placeholder 5">
            <a:extLst>
              <a:ext uri="{FF2B5EF4-FFF2-40B4-BE49-F238E27FC236}">
                <a16:creationId xmlns:a16="http://schemas.microsoft.com/office/drawing/2014/main" id="{1165B034-E820-0498-CE64-CF9EA8EE8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5E5059-BAAF-9D52-71FD-235FF598CF0D}"/>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168606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80367-A7EC-EB0C-E2AD-695AC5A4A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2786EB-4876-A371-9D77-7EAE22A090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9148A-31B4-D02B-0AE9-69DE2215BC89}"/>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5F5E42A5-A087-3888-437C-0FDEEABA4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B08B8-3B3F-825C-2BDE-DC3E97DFF0C6}"/>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3350763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FD66D-1DA0-6D45-19D1-26358C8948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98C3C7-427D-7920-3A17-18A189DFF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761999-6B57-AAB6-8B1B-18F22E6D2B4D}"/>
              </a:ext>
            </a:extLst>
          </p:cNvPr>
          <p:cNvSpPr>
            <a:spLocks noGrp="1"/>
          </p:cNvSpPr>
          <p:nvPr>
            <p:ph type="dt" sz="half" idx="10"/>
          </p:nvPr>
        </p:nvSpPr>
        <p:spPr/>
        <p:txBody>
          <a:body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0815AD6C-3300-8913-3E11-884B7D12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BDF2C-9943-3E5A-8D54-C8B2AE6392E2}"/>
              </a:ext>
            </a:extLst>
          </p:cNvPr>
          <p:cNvSpPr>
            <a:spLocks noGrp="1"/>
          </p:cNvSpPr>
          <p:nvPr>
            <p:ph type="sldNum" sz="quarter" idx="12"/>
          </p:nvPr>
        </p:nvSpPr>
        <p:spPr/>
        <p:txBody>
          <a:bodyPr/>
          <a:lstStyle/>
          <a:p>
            <a:fld id="{C47024B4-0AD2-FA4F-B0E7-BAE128ECED8E}" type="slidenum">
              <a:rPr lang="en-US"/>
              <a:t>‹#›</a:t>
            </a:fld>
            <a:endParaRPr lang="en-US"/>
          </a:p>
        </p:txBody>
      </p:sp>
    </p:spTree>
    <p:extLst>
      <p:ext uri="{BB962C8B-B14F-4D97-AF65-F5344CB8AC3E}">
        <p14:creationId xmlns:p14="http://schemas.microsoft.com/office/powerpoint/2010/main" val="69035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E52C7-C4EF-834D-C30E-1DCB11C82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CC29B1-0AB3-A22E-9A9C-A315A16585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238DE7-54CE-4019-A983-CE54FC313A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9F889-AD17-6848-BE75-9AB7B7CB3D91}" type="datetimeFigureOut">
              <a:rPr lang="en-US"/>
              <a:t>2/28/2024</a:t>
            </a:fld>
            <a:endParaRPr lang="en-US"/>
          </a:p>
        </p:txBody>
      </p:sp>
      <p:sp>
        <p:nvSpPr>
          <p:cNvPr id="5" name="Footer Placeholder 4">
            <a:extLst>
              <a:ext uri="{FF2B5EF4-FFF2-40B4-BE49-F238E27FC236}">
                <a16:creationId xmlns:a16="http://schemas.microsoft.com/office/drawing/2014/main" id="{24FD8DDF-F7E3-C513-8E8B-1A7EF52A9B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857B48-DBD4-1AA9-4DC1-D449869A12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7024B4-0AD2-FA4F-B0E7-BAE128ECED8E}" type="slidenum">
              <a:rPr lang="en-US"/>
              <a:t>‹#›</a:t>
            </a:fld>
            <a:endParaRPr lang="en-US"/>
          </a:p>
        </p:txBody>
      </p:sp>
    </p:spTree>
    <p:extLst>
      <p:ext uri="{BB962C8B-B14F-4D97-AF65-F5344CB8AC3E}">
        <p14:creationId xmlns:p14="http://schemas.microsoft.com/office/powerpoint/2010/main" val="34458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C6305-BA6D-E6B5-2F0C-B4E04DDAAB9E}"/>
              </a:ext>
            </a:extLst>
          </p:cNvPr>
          <p:cNvSpPr>
            <a:spLocks noGrp="1"/>
          </p:cNvSpPr>
          <p:nvPr>
            <p:ph type="title"/>
          </p:nvPr>
        </p:nvSpPr>
        <p:spPr>
          <a:xfrm>
            <a:off x="1982391" y="120850"/>
            <a:ext cx="12925425" cy="1828800"/>
          </a:xfrm>
        </p:spPr>
        <p:txBody>
          <a:bodyPr/>
          <a:lstStyle/>
          <a:p>
            <a:r>
              <a:rPr lang="en-US" sz="2400"/>
              <a:t>Introduction:</a:t>
            </a:r>
            <a:r>
              <a:rPr lang="en-US" sz="6000" i="1" u="sng">
                <a:solidFill>
                  <a:schemeClr val="accent2">
                    <a:lumMod val="75000"/>
                  </a:schemeClr>
                </a:solidFill>
              </a:rPr>
              <a:t>Web Service </a:t>
            </a:r>
            <a:r>
              <a:rPr lang="en-US" sz="6000" u="sng">
                <a:solidFill>
                  <a:schemeClr val="accent2">
                    <a:lumMod val="75000"/>
                  </a:schemeClr>
                </a:solidFill>
              </a:rPr>
              <a:t>! </a:t>
            </a:r>
          </a:p>
        </p:txBody>
      </p:sp>
      <p:sp>
        <p:nvSpPr>
          <p:cNvPr id="3" name="Content Placeholder 2">
            <a:extLst>
              <a:ext uri="{FF2B5EF4-FFF2-40B4-BE49-F238E27FC236}">
                <a16:creationId xmlns:a16="http://schemas.microsoft.com/office/drawing/2014/main" id="{E0813B88-578C-13A2-18B2-5F19141CB33E}"/>
              </a:ext>
            </a:extLst>
          </p:cNvPr>
          <p:cNvSpPr>
            <a:spLocks noGrp="1"/>
          </p:cNvSpPr>
          <p:nvPr>
            <p:ph idx="1"/>
          </p:nvPr>
        </p:nvSpPr>
        <p:spPr>
          <a:xfrm>
            <a:off x="1398389" y="1538883"/>
            <a:ext cx="8971825" cy="4247555"/>
          </a:xfrm>
        </p:spPr>
        <p:txBody>
          <a:bodyPr>
            <a:normAutofit fontScale="70000" lnSpcReduction="20000"/>
          </a:bodyPr>
          <a:lstStyle/>
          <a:p>
            <a:r>
              <a:rPr lang="en-US" sz="4400"/>
              <a:t>A Web Service is can be defined by following ways:
It is a client-server application or application component for communication.
The method of communication between two devices over the network.communication.
It is a collection of standards or protocols for exchanging information between two devices or application.</a:t>
            </a:r>
          </a:p>
        </p:txBody>
      </p:sp>
      <p:sp>
        <p:nvSpPr>
          <p:cNvPr id="4" name="TextBox 3">
            <a:extLst>
              <a:ext uri="{FF2B5EF4-FFF2-40B4-BE49-F238E27FC236}">
                <a16:creationId xmlns:a16="http://schemas.microsoft.com/office/drawing/2014/main" id="{1A2E585A-22BB-4AB9-2096-1F16A037389E}"/>
              </a:ext>
            </a:extLst>
          </p:cNvPr>
          <p:cNvSpPr txBox="1"/>
          <p:nvPr/>
        </p:nvSpPr>
        <p:spPr>
          <a:xfrm>
            <a:off x="5184576" y="2514600"/>
            <a:ext cx="1828800" cy="1828800"/>
          </a:xfrm>
          <a:prstGeom prst="rect">
            <a:avLst/>
          </a:prstGeom>
          <a:noFill/>
        </p:spPr>
        <p:txBody>
          <a:bodyPr wrap="square" rtlCol="0">
            <a:spAutoFit/>
          </a:bodyPr>
          <a:lstStyle/>
          <a:p>
            <a:pPr algn="l"/>
            <a:endParaRPr lang="en-US"/>
          </a:p>
        </p:txBody>
      </p:sp>
    </p:spTree>
    <p:extLst>
      <p:ext uri="{BB962C8B-B14F-4D97-AF65-F5344CB8AC3E}">
        <p14:creationId xmlns:p14="http://schemas.microsoft.com/office/powerpoint/2010/main" val="1647755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E23C3-F2BB-14F2-7871-CFAF46DE995B}"/>
              </a:ext>
            </a:extLst>
          </p:cNvPr>
          <p:cNvSpPr>
            <a:spLocks noGrp="1"/>
          </p:cNvSpPr>
          <p:nvPr>
            <p:ph idx="1"/>
          </p:nvPr>
        </p:nvSpPr>
        <p:spPr>
          <a:xfrm>
            <a:off x="464344" y="392906"/>
            <a:ext cx="10889456" cy="5784057"/>
          </a:xfrm>
        </p:spPr>
        <p:txBody>
          <a:bodyPr/>
          <a:lstStyle/>
          <a:p>
            <a:r>
              <a:rPr lang="en-US"/>
              <a:t>Let’s understand it by the figure given below:</a:t>
            </a:r>
          </a:p>
        </p:txBody>
      </p:sp>
      <p:pic>
        <p:nvPicPr>
          <p:cNvPr id="4" name="Picture 3">
            <a:extLst>
              <a:ext uri="{FF2B5EF4-FFF2-40B4-BE49-F238E27FC236}">
                <a16:creationId xmlns:a16="http://schemas.microsoft.com/office/drawing/2014/main" id="{D3E7EE25-D139-A4D8-F4A1-1DA9F2372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0953" y="1393031"/>
            <a:ext cx="8197453" cy="4643438"/>
          </a:xfrm>
          <a:prstGeom prst="rect">
            <a:avLst/>
          </a:prstGeom>
        </p:spPr>
      </p:pic>
    </p:spTree>
    <p:extLst>
      <p:ext uri="{BB962C8B-B14F-4D97-AF65-F5344CB8AC3E}">
        <p14:creationId xmlns:p14="http://schemas.microsoft.com/office/powerpoint/2010/main" val="2951716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6F25D9-20C7-E404-F3D2-47CCF3FCD1BA}"/>
              </a:ext>
            </a:extLst>
          </p:cNvPr>
          <p:cNvSpPr>
            <a:spLocks noGrp="1"/>
          </p:cNvSpPr>
          <p:nvPr>
            <p:ph idx="1"/>
          </p:nvPr>
        </p:nvSpPr>
        <p:spPr>
          <a:xfrm>
            <a:off x="838200" y="1670050"/>
            <a:ext cx="10515600" cy="3517900"/>
          </a:xfrm>
        </p:spPr>
        <p:txBody>
          <a:bodyPr>
            <a:normAutofit/>
          </a:bodyPr>
          <a:lstStyle/>
          <a:p>
            <a:r>
              <a:rPr lang="en-US"/>
              <a:t>As you can see in the figure, Java, .net, and PHP applications can communicate with other applications through web service over the network. For example, the Java application can interact with Java, .Net, and PHP applications. So web service is a language independent way of communication. </a:t>
            </a:r>
          </a:p>
        </p:txBody>
      </p:sp>
    </p:spTree>
    <p:extLst>
      <p:ext uri="{BB962C8B-B14F-4D97-AF65-F5344CB8AC3E}">
        <p14:creationId xmlns:p14="http://schemas.microsoft.com/office/powerpoint/2010/main" val="149939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6A679-DC24-B2F9-E743-6E868CB676CB}"/>
              </a:ext>
            </a:extLst>
          </p:cNvPr>
          <p:cNvSpPr>
            <a:spLocks noGrp="1"/>
          </p:cNvSpPr>
          <p:nvPr>
            <p:ph type="title"/>
          </p:nvPr>
        </p:nvSpPr>
        <p:spPr/>
        <p:txBody>
          <a:bodyPr/>
          <a:lstStyle/>
          <a:p>
            <a:r>
              <a:rPr lang="en-US" u="sng">
                <a:solidFill>
                  <a:srgbClr val="C00000"/>
                </a:solidFill>
              </a:rPr>
              <a:t>Types of web service:</a:t>
            </a:r>
          </a:p>
        </p:txBody>
      </p:sp>
      <p:sp>
        <p:nvSpPr>
          <p:cNvPr id="3" name="Content Placeholder 2">
            <a:extLst>
              <a:ext uri="{FF2B5EF4-FFF2-40B4-BE49-F238E27FC236}">
                <a16:creationId xmlns:a16="http://schemas.microsoft.com/office/drawing/2014/main" id="{B5F4D5A8-E940-1701-0260-3D9FE0234F3A}"/>
              </a:ext>
            </a:extLst>
          </p:cNvPr>
          <p:cNvSpPr>
            <a:spLocks noGrp="1"/>
          </p:cNvSpPr>
          <p:nvPr>
            <p:ph idx="1"/>
          </p:nvPr>
        </p:nvSpPr>
        <p:spPr/>
        <p:txBody>
          <a:bodyPr/>
          <a:lstStyle/>
          <a:p>
            <a:pPr marL="0" indent="0">
              <a:buNone/>
            </a:pPr>
            <a:r>
              <a:rPr lang="en-US"/>
              <a:t>There are several types of web services, including:</a:t>
            </a:r>
          </a:p>
          <a:p>
            <a:r>
              <a:rPr lang="en-US"/>
              <a:t>SOAP (Simple Object Access Protocol)</a:t>
            </a:r>
          </a:p>
          <a:p>
            <a:r>
              <a:rPr lang="en-US"/>
              <a:t>REST (Representational State Transfer)</a:t>
            </a:r>
          </a:p>
          <a:p>
            <a:r>
              <a:rPr lang="en-US"/>
              <a:t>GraphQL</a:t>
            </a:r>
          </a:p>
          <a:p>
            <a:r>
              <a:rPr lang="en-US"/>
              <a:t>WSDL (Web Services Description Language)</a:t>
            </a:r>
          </a:p>
        </p:txBody>
      </p:sp>
    </p:spTree>
    <p:extLst>
      <p:ext uri="{BB962C8B-B14F-4D97-AF65-F5344CB8AC3E}">
        <p14:creationId xmlns:p14="http://schemas.microsoft.com/office/powerpoint/2010/main" val="692690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7E9D27A-6AF0-ABCB-ECC4-4B114E31C8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9570" y="621109"/>
            <a:ext cx="5732859" cy="5615781"/>
          </a:xfrm>
        </p:spPr>
      </p:pic>
    </p:spTree>
    <p:extLst>
      <p:ext uri="{BB962C8B-B14F-4D97-AF65-F5344CB8AC3E}">
        <p14:creationId xmlns:p14="http://schemas.microsoft.com/office/powerpoint/2010/main" val="928712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F69C0-2DE7-80B7-668F-E7D544C5A2F4}"/>
              </a:ext>
            </a:extLst>
          </p:cNvPr>
          <p:cNvSpPr>
            <a:spLocks noGrp="1"/>
          </p:cNvSpPr>
          <p:nvPr>
            <p:ph type="title"/>
          </p:nvPr>
        </p:nvSpPr>
        <p:spPr/>
        <p:txBody>
          <a:bodyPr/>
          <a:lstStyle/>
          <a:p>
            <a:r>
              <a:rPr lang="en-US" dirty="0">
                <a:solidFill>
                  <a:srgbClr val="7030A0"/>
                </a:solidFill>
              </a:rPr>
              <a:t>Features of Web Services</a:t>
            </a:r>
          </a:p>
        </p:txBody>
      </p:sp>
      <p:sp>
        <p:nvSpPr>
          <p:cNvPr id="3" name="Content Placeholder 2">
            <a:extLst>
              <a:ext uri="{FF2B5EF4-FFF2-40B4-BE49-F238E27FC236}">
                <a16:creationId xmlns:a16="http://schemas.microsoft.com/office/drawing/2014/main" id="{471D5EF8-117D-1443-3313-F945C5F90F47}"/>
              </a:ext>
            </a:extLst>
          </p:cNvPr>
          <p:cNvSpPr>
            <a:spLocks noGrp="1"/>
          </p:cNvSpPr>
          <p:nvPr>
            <p:ph idx="1"/>
          </p:nvPr>
        </p:nvSpPr>
        <p:spPr>
          <a:xfrm>
            <a:off x="1302544" y="1855787"/>
            <a:ext cx="10515600" cy="4351338"/>
          </a:xfrm>
        </p:spPr>
        <p:txBody>
          <a:bodyPr/>
          <a:lstStyle/>
          <a:p>
            <a:pPr marL="514350" indent="-514350">
              <a:buFont typeface="+mj-lt"/>
              <a:buAutoNum type="arabicPeriod"/>
            </a:pPr>
            <a:r>
              <a:rPr lang="en-US" dirty="0"/>
              <a:t>Web services are programming language independent. A Java application can consume a PHP web service.</a:t>
            </a:r>
          </a:p>
          <a:p>
            <a:pPr marL="514350" indent="-514350">
              <a:buFont typeface="+mj-lt"/>
              <a:buAutoNum type="arabicPeriod"/>
            </a:pPr>
            <a:r>
              <a:rPr lang="en-US" dirty="0"/>
              <a:t>Web services can be published over the internet to be consumed by other web applications.</a:t>
            </a:r>
          </a:p>
          <a:p>
            <a:pPr marL="514350" indent="-514350">
              <a:buFont typeface="+mj-lt"/>
              <a:buAutoNum type="arabicPeriod"/>
            </a:pPr>
            <a:r>
              <a:rPr lang="en-US" dirty="0"/>
              <a:t>Web-service is loosely coupled with the web service. So the web services can update or change its  logic without affecting the consumer.</a:t>
            </a:r>
          </a:p>
        </p:txBody>
      </p:sp>
    </p:spTree>
    <p:extLst>
      <p:ext uri="{BB962C8B-B14F-4D97-AF65-F5344CB8AC3E}">
        <p14:creationId xmlns:p14="http://schemas.microsoft.com/office/powerpoint/2010/main" val="1203293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4B5F5-E19E-86EA-35CC-BFD80090BB78}"/>
              </a:ext>
            </a:extLst>
          </p:cNvPr>
          <p:cNvSpPr>
            <a:spLocks noGrp="1"/>
          </p:cNvSpPr>
          <p:nvPr>
            <p:ph type="title"/>
          </p:nvPr>
        </p:nvSpPr>
        <p:spPr/>
        <p:txBody>
          <a:bodyPr/>
          <a:lstStyle/>
          <a:p>
            <a:r>
              <a:rPr lang="en-US" dirty="0">
                <a:solidFill>
                  <a:srgbClr val="7030A0"/>
                </a:solidFill>
              </a:rPr>
              <a:t>Architecture of Web Services</a:t>
            </a:r>
          </a:p>
        </p:txBody>
      </p:sp>
      <p:sp>
        <p:nvSpPr>
          <p:cNvPr id="3" name="Content Placeholder 2">
            <a:extLst>
              <a:ext uri="{FF2B5EF4-FFF2-40B4-BE49-F238E27FC236}">
                <a16:creationId xmlns:a16="http://schemas.microsoft.com/office/drawing/2014/main" id="{5A846F43-AF08-6BE3-B97C-8365213B2017}"/>
              </a:ext>
            </a:extLst>
          </p:cNvPr>
          <p:cNvSpPr>
            <a:spLocks noGrp="1"/>
          </p:cNvSpPr>
          <p:nvPr>
            <p:ph idx="1"/>
          </p:nvPr>
        </p:nvSpPr>
        <p:spPr/>
        <p:txBody>
          <a:bodyPr/>
          <a:lstStyle/>
          <a:p>
            <a:r>
              <a:rPr lang="en-US" dirty="0"/>
              <a:t>The web services architecture is based on interactions between three components: a service provider, a service requester, and an optional service registry.</a:t>
            </a:r>
          </a:p>
        </p:txBody>
      </p:sp>
      <p:pic>
        <p:nvPicPr>
          <p:cNvPr id="4" name="Picture 3">
            <a:extLst>
              <a:ext uri="{FF2B5EF4-FFF2-40B4-BE49-F238E27FC236}">
                <a16:creationId xmlns:a16="http://schemas.microsoft.com/office/drawing/2014/main" id="{B5A9816A-FFEF-BA4A-7C77-AF11EC7E6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682" y="3134591"/>
            <a:ext cx="4745182" cy="3358284"/>
          </a:xfrm>
          <a:prstGeom prst="rect">
            <a:avLst/>
          </a:prstGeom>
        </p:spPr>
      </p:pic>
    </p:spTree>
    <p:extLst>
      <p:ext uri="{BB962C8B-B14F-4D97-AF65-F5344CB8AC3E}">
        <p14:creationId xmlns:p14="http://schemas.microsoft.com/office/powerpoint/2010/main" val="2298958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6407A0-AC64-2E09-1788-86686F0B9952}"/>
              </a:ext>
            </a:extLst>
          </p:cNvPr>
          <p:cNvSpPr>
            <a:spLocks noGrp="1"/>
          </p:cNvSpPr>
          <p:nvPr>
            <p:ph idx="1"/>
          </p:nvPr>
        </p:nvSpPr>
        <p:spPr>
          <a:xfrm>
            <a:off x="997744" y="1253331"/>
            <a:ext cx="10515600" cy="4351338"/>
          </a:xfrm>
        </p:spPr>
        <p:txBody>
          <a:bodyPr/>
          <a:lstStyle/>
          <a:p>
            <a:pPr marL="514350" indent="-514350">
              <a:buFont typeface="+mj-lt"/>
              <a:buAutoNum type="arabicPeriod"/>
            </a:pPr>
            <a:r>
              <a:rPr lang="en-US" sz="3200" dirty="0">
                <a:solidFill>
                  <a:schemeClr val="accent2"/>
                </a:solidFill>
              </a:rPr>
              <a:t>The service provider:</a:t>
            </a:r>
          </a:p>
          <a:p>
            <a:r>
              <a:rPr lang="en-US" dirty="0">
                <a:effectLst/>
                <a:latin typeface="inherit"/>
              </a:rPr>
              <a:t>The collection of software that provides a web service.</a:t>
            </a:r>
          </a:p>
          <a:p>
            <a:pPr marL="0" indent="0">
              <a:buNone/>
            </a:pPr>
            <a:r>
              <a:rPr lang="en-US" sz="3200" dirty="0">
                <a:solidFill>
                  <a:schemeClr val="accent2"/>
                </a:solidFill>
              </a:rPr>
              <a:t>2.The service requester:</a:t>
            </a:r>
            <a:r>
              <a:rPr lang="en-US" dirty="0"/>
              <a:t>
The collection of software that is responsible for requesting a web service from a service provider.</a:t>
            </a:r>
          </a:p>
          <a:p>
            <a:pPr marL="0" indent="0">
              <a:buNone/>
            </a:pPr>
            <a:r>
              <a:rPr lang="en-US" sz="3200" dirty="0">
                <a:solidFill>
                  <a:schemeClr val="accent2"/>
                </a:solidFill>
              </a:rPr>
              <a:t>3.The service registry:</a:t>
            </a:r>
            <a:r>
              <a:rPr lang="en-US" dirty="0"/>
              <a:t>
The service registry is a central location where service providers can publish their service descriptions and where service requesters can find those service descriptions.</a:t>
            </a:r>
          </a:p>
        </p:txBody>
      </p:sp>
    </p:spTree>
    <p:extLst>
      <p:ext uri="{BB962C8B-B14F-4D97-AF65-F5344CB8AC3E}">
        <p14:creationId xmlns:p14="http://schemas.microsoft.com/office/powerpoint/2010/main" val="373612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9E808-5F19-740C-9DC2-C007F054F6F0}"/>
              </a:ext>
            </a:extLst>
          </p:cNvPr>
          <p:cNvSpPr>
            <a:spLocks noGrp="1"/>
          </p:cNvSpPr>
          <p:nvPr>
            <p:ph type="title"/>
          </p:nvPr>
        </p:nvSpPr>
        <p:spPr/>
        <p:txBody>
          <a:bodyPr/>
          <a:lstStyle/>
          <a:p>
            <a:r>
              <a:rPr lang="en-US" dirty="0">
                <a:solidFill>
                  <a:schemeClr val="accent2">
                    <a:lumMod val="75000"/>
                  </a:schemeClr>
                </a:solidFill>
              </a:rPr>
              <a:t>Operations in a Web Service Architecture:</a:t>
            </a:r>
          </a:p>
        </p:txBody>
      </p:sp>
      <p:sp>
        <p:nvSpPr>
          <p:cNvPr id="3" name="Content Placeholder 2">
            <a:extLst>
              <a:ext uri="{FF2B5EF4-FFF2-40B4-BE49-F238E27FC236}">
                <a16:creationId xmlns:a16="http://schemas.microsoft.com/office/drawing/2014/main" id="{D8C206F6-C5E8-E4C5-9518-C87DB0DEFE50}"/>
              </a:ext>
            </a:extLst>
          </p:cNvPr>
          <p:cNvSpPr>
            <a:spLocks noGrp="1"/>
          </p:cNvSpPr>
          <p:nvPr>
            <p:ph idx="1"/>
          </p:nvPr>
        </p:nvSpPr>
        <p:spPr>
          <a:xfrm>
            <a:off x="838200" y="1726407"/>
            <a:ext cx="10515600" cy="4351338"/>
          </a:xfrm>
        </p:spPr>
        <p:txBody>
          <a:bodyPr/>
          <a:lstStyle/>
          <a:p>
            <a:r>
              <a:rPr lang="en-US" dirty="0"/>
              <a:t>(Publish): In this operation, a service description must be published so that a service requester can find the service</a:t>
            </a:r>
          </a:p>
          <a:p>
            <a:r>
              <a:rPr lang="en-US" dirty="0"/>
              <a:t>(Find): In this operation, the service requestor directly retrieves the service description..</a:t>
            </a:r>
          </a:p>
          <a:p>
            <a:r>
              <a:rPr lang="en-US" dirty="0"/>
              <a:t>(Bind): In this operation, the service requestor calls or initiates an interaction with the service at runtime only using the binding details available in the service description to locate, contact, and call the service.</a:t>
            </a:r>
          </a:p>
        </p:txBody>
      </p:sp>
    </p:spTree>
    <p:extLst>
      <p:ext uri="{BB962C8B-B14F-4D97-AF65-F5344CB8AC3E}">
        <p14:creationId xmlns:p14="http://schemas.microsoft.com/office/powerpoint/2010/main" val="3336372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EF29B-7F8F-8D2E-1CCC-D75CC58F9C32}"/>
              </a:ext>
            </a:extLst>
          </p:cNvPr>
          <p:cNvSpPr>
            <a:spLocks noGrp="1"/>
          </p:cNvSpPr>
          <p:nvPr>
            <p:ph idx="1"/>
          </p:nvPr>
        </p:nvSpPr>
        <p:spPr>
          <a:xfrm>
            <a:off x="838200" y="2141537"/>
            <a:ext cx="10515600" cy="4351338"/>
          </a:xfrm>
        </p:spPr>
        <p:txBody>
          <a:bodyPr>
            <a:normAutofit fontScale="92500" lnSpcReduction="10000"/>
          </a:bodyPr>
          <a:lstStyle/>
          <a:p>
            <a:r>
              <a:rPr lang="en-US" dirty="0">
                <a:solidFill>
                  <a:schemeClr val="accent4"/>
                </a:solidFill>
              </a:rPr>
              <a:t>Business Functions can be exposed over the Internet</a:t>
            </a:r>
          </a:p>
          <a:p>
            <a:pPr marL="0" indent="0">
              <a:buNone/>
            </a:pPr>
            <a:r>
              <a:rPr lang="en-US" dirty="0"/>
              <a:t>Web services have become increasingly valuable. That is to say, the web service can be located anywhere on the internet and provide the required functionality.</a:t>
            </a:r>
            <a:endParaRPr lang="en-US" dirty="0">
              <a:solidFill>
                <a:schemeClr val="accent4"/>
              </a:solidFill>
            </a:endParaRPr>
          </a:p>
          <a:p>
            <a:r>
              <a:rPr lang="en-US" dirty="0">
                <a:solidFill>
                  <a:schemeClr val="accent4"/>
                </a:solidFill>
              </a:rPr>
              <a:t>Reusability:</a:t>
            </a:r>
          </a:p>
          <a:p>
            <a:pPr marL="0" indent="0">
              <a:buNone/>
            </a:pPr>
            <a:r>
              <a:rPr lang="en-US" dirty="0"/>
              <a:t> A single web service can be used simultaneously by several client applications.</a:t>
            </a:r>
          </a:p>
          <a:p>
            <a:r>
              <a:rPr lang="en-US" dirty="0">
                <a:solidFill>
                  <a:schemeClr val="accent4"/>
                </a:solidFill>
              </a:rPr>
              <a:t>Platform Independence</a:t>
            </a:r>
            <a:r>
              <a:rPr lang="en-US" dirty="0"/>
              <a:t>: </a:t>
            </a:r>
          </a:p>
          <a:p>
            <a:r>
              <a:rPr lang="en-US" dirty="0"/>
              <a:t>Web services operate over standard internet protocols, enabling them to function on different platforms and devices, promoting flexibility and accessibility.</a:t>
            </a:r>
          </a:p>
          <a:p>
            <a:pPr marL="0" indent="0">
              <a:buNone/>
            </a:pPr>
            <a:endParaRPr lang="en-US" dirty="0"/>
          </a:p>
        </p:txBody>
      </p:sp>
      <p:sp>
        <p:nvSpPr>
          <p:cNvPr id="5" name="Title 4">
            <a:extLst>
              <a:ext uri="{FF2B5EF4-FFF2-40B4-BE49-F238E27FC236}">
                <a16:creationId xmlns:a16="http://schemas.microsoft.com/office/drawing/2014/main" id="{E0C3F0AA-85B9-7ACD-E7EF-370233E91488}"/>
              </a:ext>
            </a:extLst>
          </p:cNvPr>
          <p:cNvSpPr>
            <a:spLocks noGrp="1"/>
          </p:cNvSpPr>
          <p:nvPr>
            <p:ph type="title"/>
          </p:nvPr>
        </p:nvSpPr>
        <p:spPr/>
        <p:txBody>
          <a:bodyPr>
            <a:normAutofit/>
          </a:bodyPr>
          <a:lstStyle/>
          <a:p>
            <a:r>
              <a:rPr lang="en-US" dirty="0">
                <a:solidFill>
                  <a:schemeClr val="accent2">
                    <a:lumMod val="75000"/>
                  </a:schemeClr>
                </a:solidFill>
              </a:rPr>
              <a:t>Advantages Of Web Service:</a:t>
            </a:r>
          </a:p>
        </p:txBody>
      </p:sp>
    </p:spTree>
    <p:extLst>
      <p:ext uri="{BB962C8B-B14F-4D97-AF65-F5344CB8AC3E}">
        <p14:creationId xmlns:p14="http://schemas.microsoft.com/office/powerpoint/2010/main" val="1147495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47B39-CFC9-26F3-335B-314F02C0161C}"/>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solidFill>
                  <a:schemeClr val="accent4"/>
                </a:solidFill>
              </a:rPr>
              <a:t>Performance Issues:</a:t>
            </a:r>
          </a:p>
          <a:p>
            <a:r>
              <a:rPr lang="en-US" dirty="0"/>
              <a:t> Web  services perform  problems, especially when dealing with large volumes of data or complex process </a:t>
            </a:r>
          </a:p>
          <a:p>
            <a:pPr marL="0" indent="0">
              <a:buNone/>
            </a:pPr>
            <a:r>
              <a:rPr lang="en-US" dirty="0">
                <a:solidFill>
                  <a:schemeClr val="accent4"/>
                </a:solidFill>
              </a:rPr>
              <a:t>2 .Dependency on Network</a:t>
            </a:r>
            <a:r>
              <a:rPr lang="en-US" dirty="0"/>
              <a:t>:</a:t>
            </a:r>
          </a:p>
          <a:p>
            <a:r>
              <a:rPr lang="en-US" dirty="0"/>
              <a:t> Web services heavily rely on network connectivity. If the network experiences issues or downtime, it can disrupt communication between applications and services</a:t>
            </a:r>
          </a:p>
          <a:p>
            <a:pPr marL="0" indent="0">
              <a:buNone/>
            </a:pPr>
            <a:r>
              <a:rPr lang="en-US" dirty="0">
                <a:solidFill>
                  <a:schemeClr val="accent4"/>
                </a:solidFill>
              </a:rPr>
              <a:t>3.Privacy Concerns</a:t>
            </a:r>
            <a:r>
              <a:rPr lang="en-US" dirty="0"/>
              <a:t>:</a:t>
            </a:r>
          </a:p>
          <a:p>
            <a:pPr marL="0" indent="0">
              <a:buNone/>
            </a:pPr>
            <a:r>
              <a:rPr lang="en-US" dirty="0"/>
              <a:t> Transmitting sensitive data over the internet using web services raises privacy concerns, especially if proper encryption and security measures are not implemented.</a:t>
            </a:r>
          </a:p>
          <a:p>
            <a:endParaRPr lang="en-US" dirty="0"/>
          </a:p>
          <a:p>
            <a:pPr marL="3657600" lvl="8" indent="0">
              <a:buNone/>
            </a:pPr>
            <a:endParaRPr lang="en-US" dirty="0"/>
          </a:p>
        </p:txBody>
      </p:sp>
      <p:sp>
        <p:nvSpPr>
          <p:cNvPr id="5" name="Title 4">
            <a:extLst>
              <a:ext uri="{FF2B5EF4-FFF2-40B4-BE49-F238E27FC236}">
                <a16:creationId xmlns:a16="http://schemas.microsoft.com/office/drawing/2014/main" id="{A006F677-EB32-6E69-5D9E-87E0605BCF8F}"/>
              </a:ext>
            </a:extLst>
          </p:cNvPr>
          <p:cNvSpPr>
            <a:spLocks noGrp="1"/>
          </p:cNvSpPr>
          <p:nvPr>
            <p:ph type="title"/>
          </p:nvPr>
        </p:nvSpPr>
        <p:spPr/>
        <p:txBody>
          <a:bodyPr/>
          <a:lstStyle/>
          <a:p>
            <a:r>
              <a:rPr lang="en-US" dirty="0">
                <a:solidFill>
                  <a:schemeClr val="accent4"/>
                </a:solidFill>
              </a:rPr>
              <a:t>Disadvantages of Web Services</a:t>
            </a:r>
            <a:r>
              <a:rPr lang="en-US" dirty="0"/>
              <a:t>:</a:t>
            </a:r>
          </a:p>
        </p:txBody>
      </p:sp>
    </p:spTree>
    <p:extLst>
      <p:ext uri="{BB962C8B-B14F-4D97-AF65-F5344CB8AC3E}">
        <p14:creationId xmlns:p14="http://schemas.microsoft.com/office/powerpoint/2010/main" val="540519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95F9-BA33-873D-5D72-CDF0107EF976}"/>
              </a:ext>
            </a:extLst>
          </p:cNvPr>
          <p:cNvSpPr>
            <a:spLocks noGrp="1"/>
          </p:cNvSpPr>
          <p:nvPr>
            <p:ph type="title"/>
          </p:nvPr>
        </p:nvSpPr>
        <p:spPr/>
        <p:txBody>
          <a:bodyPr/>
          <a:lstStyle/>
          <a:p>
            <a:r>
              <a:rPr lang="en-US" b="1">
                <a:solidFill>
                  <a:schemeClr val="accent2"/>
                </a:solidFill>
              </a:rPr>
              <a:t>Web Service SOAP </a:t>
            </a:r>
          </a:p>
        </p:txBody>
      </p:sp>
      <p:sp>
        <p:nvSpPr>
          <p:cNvPr id="3" name="Content Placeholder 2">
            <a:extLst>
              <a:ext uri="{FF2B5EF4-FFF2-40B4-BE49-F238E27FC236}">
                <a16:creationId xmlns:a16="http://schemas.microsoft.com/office/drawing/2014/main" id="{1D40E0B8-B11D-E55F-D971-054113C206BC}"/>
              </a:ext>
            </a:extLst>
          </p:cNvPr>
          <p:cNvSpPr>
            <a:spLocks noGrp="1"/>
          </p:cNvSpPr>
          <p:nvPr>
            <p:ph idx="1"/>
          </p:nvPr>
        </p:nvSpPr>
        <p:spPr/>
        <p:txBody>
          <a:bodyPr/>
          <a:lstStyle/>
          <a:p>
            <a:r>
              <a:rPr lang="en-US"/>
              <a:t>SOAP (Simple Object Access Protocol) is a protocol for exchanging structured information in web services. It uses XML (eXtensible Markup Language) as its message format to facilitate communication between applications over a network. </a:t>
            </a:r>
          </a:p>
          <a:p>
            <a:pPr marL="0" indent="0">
              <a:buNone/>
            </a:pPr>
            <a:r>
              <a:rPr lang="en-US"/>
              <a:t> </a:t>
            </a:r>
          </a:p>
        </p:txBody>
      </p:sp>
    </p:spTree>
    <p:extLst>
      <p:ext uri="{BB962C8B-B14F-4D97-AF65-F5344CB8AC3E}">
        <p14:creationId xmlns:p14="http://schemas.microsoft.com/office/powerpoint/2010/main" val="2758646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72BE-DF07-B972-4293-A7AD215992A7}"/>
              </a:ext>
            </a:extLst>
          </p:cNvPr>
          <p:cNvSpPr>
            <a:spLocks noGrp="1"/>
          </p:cNvSpPr>
          <p:nvPr>
            <p:ph type="title"/>
          </p:nvPr>
        </p:nvSpPr>
        <p:spPr/>
        <p:txBody>
          <a:bodyPr/>
          <a:lstStyle/>
          <a:p>
            <a:r>
              <a:rPr lang="en-US">
                <a:solidFill>
                  <a:schemeClr val="accent6"/>
                </a:solidFill>
              </a:rPr>
              <a:t>Working of web service SOAP </a:t>
            </a:r>
          </a:p>
        </p:txBody>
      </p:sp>
      <p:pic>
        <p:nvPicPr>
          <p:cNvPr id="7" name="Content Placeholder 6">
            <a:extLst>
              <a:ext uri="{FF2B5EF4-FFF2-40B4-BE49-F238E27FC236}">
                <a16:creationId xmlns:a16="http://schemas.microsoft.com/office/drawing/2014/main" id="{910A1D49-3B4A-D8DC-9244-BAB6955D2F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6767" y="1690688"/>
            <a:ext cx="6838950" cy="3971925"/>
          </a:xfrm>
        </p:spPr>
      </p:pic>
    </p:spTree>
    <p:extLst>
      <p:ext uri="{BB962C8B-B14F-4D97-AF65-F5344CB8AC3E}">
        <p14:creationId xmlns:p14="http://schemas.microsoft.com/office/powerpoint/2010/main" val="4078433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643A9-A00D-4343-8203-2A77CA567877}"/>
              </a:ext>
            </a:extLst>
          </p:cNvPr>
          <p:cNvSpPr>
            <a:spLocks noGrp="1"/>
          </p:cNvSpPr>
          <p:nvPr>
            <p:ph type="title"/>
          </p:nvPr>
        </p:nvSpPr>
        <p:spPr/>
        <p:txBody>
          <a:bodyPr/>
          <a:lstStyle/>
          <a:p>
            <a:r>
              <a:rPr lang="en-US" i="1">
                <a:solidFill>
                  <a:srgbClr val="00B050"/>
                </a:solidFill>
              </a:rPr>
              <a:t>Components of SOAP</a:t>
            </a:r>
            <a:r>
              <a:rPr lang="en-US">
                <a:solidFill>
                  <a:srgbClr val="00B050"/>
                </a:solidFill>
              </a:rPr>
              <a:t> </a:t>
            </a:r>
          </a:p>
        </p:txBody>
      </p:sp>
      <p:sp>
        <p:nvSpPr>
          <p:cNvPr id="3" name="Content Placeholder 2">
            <a:extLst>
              <a:ext uri="{FF2B5EF4-FFF2-40B4-BE49-F238E27FC236}">
                <a16:creationId xmlns:a16="http://schemas.microsoft.com/office/drawing/2014/main" id="{88498E1E-5E09-C918-BD8F-B6CA2B0B5965}"/>
              </a:ext>
            </a:extLst>
          </p:cNvPr>
          <p:cNvSpPr>
            <a:spLocks noGrp="1"/>
          </p:cNvSpPr>
          <p:nvPr>
            <p:ph idx="1"/>
          </p:nvPr>
        </p:nvSpPr>
        <p:spPr/>
        <p:txBody>
          <a:bodyPr/>
          <a:lstStyle/>
          <a:p>
            <a:r>
              <a:rPr lang="en-US"/>
              <a:t>SOAP (Simple Object Access Protocol) consists of several key components:
Envelope: The envelope is the outermost element of a SOAP message. It encapsulates the entire message and contains other elements like Header and Body.
Header: The Header is an optional element within the SOAP Envelope</a:t>
            </a:r>
          </a:p>
          <a:p>
            <a:r>
              <a:rPr lang="en-US"/>
              <a:t>Body: The Body is a mandatory element within the SOAP Envelope. It contains the actual data being sent in the SOAP message.</a:t>
            </a:r>
          </a:p>
        </p:txBody>
      </p:sp>
    </p:spTree>
    <p:extLst>
      <p:ext uri="{BB962C8B-B14F-4D97-AF65-F5344CB8AC3E}">
        <p14:creationId xmlns:p14="http://schemas.microsoft.com/office/powerpoint/2010/main" val="2514153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B540-0158-8861-DC6B-BAFECEED6111}"/>
              </a:ext>
            </a:extLst>
          </p:cNvPr>
          <p:cNvSpPr>
            <a:spLocks noGrp="1"/>
          </p:cNvSpPr>
          <p:nvPr>
            <p:ph type="title"/>
          </p:nvPr>
        </p:nvSpPr>
        <p:spPr/>
        <p:txBody>
          <a:bodyPr/>
          <a:lstStyle/>
          <a:p>
            <a:r>
              <a:rPr lang="en-US" u="sng">
                <a:solidFill>
                  <a:schemeClr val="accent1"/>
                </a:solidFill>
              </a:rPr>
              <a:t>Syntax of web service SOAP</a:t>
            </a:r>
            <a:r>
              <a:rPr lang="en-US" u="sng"/>
              <a:t>:</a:t>
            </a:r>
          </a:p>
        </p:txBody>
      </p:sp>
      <p:sp>
        <p:nvSpPr>
          <p:cNvPr id="5" name="TextBox 4">
            <a:extLst>
              <a:ext uri="{FF2B5EF4-FFF2-40B4-BE49-F238E27FC236}">
                <a16:creationId xmlns:a16="http://schemas.microsoft.com/office/drawing/2014/main" id="{6371AD8A-1F99-77B4-FF3A-C0E04A4EE174}"/>
              </a:ext>
            </a:extLst>
          </p:cNvPr>
          <p:cNvSpPr txBox="1"/>
          <p:nvPr/>
        </p:nvSpPr>
        <p:spPr>
          <a:xfrm>
            <a:off x="1017984" y="1690688"/>
            <a:ext cx="9126141" cy="4113609"/>
          </a:xfrm>
          <a:prstGeom prst="rect">
            <a:avLst/>
          </a:prstGeom>
          <a:noFill/>
        </p:spPr>
        <p:txBody>
          <a:bodyPr wrap="square">
            <a:spAutoFit/>
          </a:bodyPr>
          <a:lstStyle/>
          <a:p>
            <a:endParaRPr lang="en-US"/>
          </a:p>
        </p:txBody>
      </p:sp>
      <p:pic>
        <p:nvPicPr>
          <p:cNvPr id="6" name="Picture 5">
            <a:extLst>
              <a:ext uri="{FF2B5EF4-FFF2-40B4-BE49-F238E27FC236}">
                <a16:creationId xmlns:a16="http://schemas.microsoft.com/office/drawing/2014/main" id="{F86EE5CF-895C-C679-4D5B-400B854B92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638" y="1540668"/>
            <a:ext cx="6858000" cy="5120878"/>
          </a:xfrm>
          <a:prstGeom prst="rect">
            <a:avLst/>
          </a:prstGeom>
        </p:spPr>
      </p:pic>
    </p:spTree>
    <p:extLst>
      <p:ext uri="{BB962C8B-B14F-4D97-AF65-F5344CB8AC3E}">
        <p14:creationId xmlns:p14="http://schemas.microsoft.com/office/powerpoint/2010/main" val="682878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C994-78AC-BF81-44C6-5261C51547EF}"/>
              </a:ext>
            </a:extLst>
          </p:cNvPr>
          <p:cNvSpPr>
            <a:spLocks noGrp="1"/>
          </p:cNvSpPr>
          <p:nvPr>
            <p:ph type="title"/>
          </p:nvPr>
        </p:nvSpPr>
        <p:spPr/>
        <p:txBody>
          <a:bodyPr/>
          <a:lstStyle/>
          <a:p>
            <a:r>
              <a:rPr lang="en-US">
                <a:solidFill>
                  <a:srgbClr val="FF0000"/>
                </a:solidFill>
              </a:rPr>
              <a:t>Example of Soap message:</a:t>
            </a:r>
          </a:p>
        </p:txBody>
      </p:sp>
      <p:sp>
        <p:nvSpPr>
          <p:cNvPr id="3" name="Content Placeholder 2">
            <a:extLst>
              <a:ext uri="{FF2B5EF4-FFF2-40B4-BE49-F238E27FC236}">
                <a16:creationId xmlns:a16="http://schemas.microsoft.com/office/drawing/2014/main" id="{853A907A-EBAC-7D8F-07D7-7DE9C92B019A}"/>
              </a:ext>
            </a:extLst>
          </p:cNvPr>
          <p:cNvSpPr>
            <a:spLocks noGrp="1"/>
          </p:cNvSpPr>
          <p:nvPr>
            <p:ph idx="1"/>
          </p:nvPr>
        </p:nvSpPr>
        <p:spPr/>
        <p:txBody>
          <a:bodyPr>
            <a:normAutofit fontScale="92500" lnSpcReduction="20000"/>
          </a:bodyPr>
          <a:lstStyle/>
          <a:p>
            <a:r>
              <a:rPr lang="en-US"/>
              <a:t>&lt;soap:Header/&gt;
   &lt;soap:Body&gt;
      &lt;example:GetWeather&gt;
         &lt;example:City&gt;New York&lt;/example:City&gt;
      &lt;/example:GetWeather&gt;
   &lt;/soap:Body&gt;
&lt;/soap:Envelope&gt;
In this example, a SOAP envelope contains a request to get weather information for the city of New York. The GetWeather operation is defined in the example namespace, and the specific data, in this case, the city name, is included within the SOAP body.</a:t>
            </a:r>
          </a:p>
        </p:txBody>
      </p:sp>
    </p:spTree>
    <p:extLst>
      <p:ext uri="{BB962C8B-B14F-4D97-AF65-F5344CB8AC3E}">
        <p14:creationId xmlns:p14="http://schemas.microsoft.com/office/powerpoint/2010/main" val="229424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09A-04A7-98D9-8993-DA80EF9E73FC}"/>
              </a:ext>
            </a:extLst>
          </p:cNvPr>
          <p:cNvSpPr>
            <a:spLocks noGrp="1"/>
          </p:cNvSpPr>
          <p:nvPr>
            <p:ph type="title"/>
          </p:nvPr>
        </p:nvSpPr>
        <p:spPr/>
        <p:txBody>
          <a:bodyPr/>
          <a:lstStyle/>
          <a:p>
            <a:r>
              <a:rPr lang="en-US" dirty="0">
                <a:solidFill>
                  <a:srgbClr val="FF0000"/>
                </a:solidFill>
              </a:rPr>
              <a:t>Advantages of Soap Web Services:</a:t>
            </a:r>
          </a:p>
        </p:txBody>
      </p:sp>
      <p:sp>
        <p:nvSpPr>
          <p:cNvPr id="3" name="Content Placeholder 2">
            <a:extLst>
              <a:ext uri="{FF2B5EF4-FFF2-40B4-BE49-F238E27FC236}">
                <a16:creationId xmlns:a16="http://schemas.microsoft.com/office/drawing/2014/main" id="{DA00542B-CA00-09FB-5BB2-A43334984D4B}"/>
              </a:ext>
            </a:extLst>
          </p:cNvPr>
          <p:cNvSpPr>
            <a:spLocks noGrp="1"/>
          </p:cNvSpPr>
          <p:nvPr>
            <p:ph idx="1"/>
          </p:nvPr>
        </p:nvSpPr>
        <p:spPr/>
        <p:txBody>
          <a:bodyPr/>
          <a:lstStyle/>
          <a:p>
            <a:r>
              <a:rPr lang="en-US" dirty="0">
                <a:solidFill>
                  <a:schemeClr val="accent4"/>
                </a:solidFill>
              </a:rPr>
              <a:t>WS Security</a:t>
            </a:r>
            <a:r>
              <a:rPr lang="en-US" dirty="0"/>
              <a:t>: </a:t>
            </a:r>
          </a:p>
          <a:p>
            <a:r>
              <a:rPr lang="en-US" dirty="0"/>
              <a:t>SOAP defines its own security known as WS Security.
</a:t>
            </a:r>
            <a:r>
              <a:rPr lang="en-US" dirty="0">
                <a:solidFill>
                  <a:schemeClr val="accent4"/>
                </a:solidFill>
              </a:rPr>
              <a:t>Language and Platform independent</a:t>
            </a:r>
            <a:r>
              <a:rPr lang="en-US" dirty="0"/>
              <a:t>: </a:t>
            </a:r>
          </a:p>
          <a:p>
            <a:pPr marL="0" indent="0">
              <a:buNone/>
            </a:pPr>
            <a:r>
              <a:rPr lang="en-US" dirty="0"/>
              <a:t>SOAP web services can be written in any programming language and executed in any platform.</a:t>
            </a:r>
          </a:p>
        </p:txBody>
      </p:sp>
    </p:spTree>
    <p:extLst>
      <p:ext uri="{BB962C8B-B14F-4D97-AF65-F5344CB8AC3E}">
        <p14:creationId xmlns:p14="http://schemas.microsoft.com/office/powerpoint/2010/main" val="393883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1017-EB72-3A0B-B755-DA4BF37144B7}"/>
              </a:ext>
            </a:extLst>
          </p:cNvPr>
          <p:cNvSpPr>
            <a:spLocks noGrp="1"/>
          </p:cNvSpPr>
          <p:nvPr>
            <p:ph type="title"/>
          </p:nvPr>
        </p:nvSpPr>
        <p:spPr/>
        <p:txBody>
          <a:bodyPr/>
          <a:lstStyle/>
          <a:p>
            <a:r>
              <a:rPr lang="en-US" dirty="0">
                <a:solidFill>
                  <a:srgbClr val="FF0000"/>
                </a:solidFill>
              </a:rPr>
              <a:t>Disadvantages of Soap Web Services</a:t>
            </a:r>
          </a:p>
        </p:txBody>
      </p:sp>
      <p:sp>
        <p:nvSpPr>
          <p:cNvPr id="3" name="Content Placeholder 2">
            <a:extLst>
              <a:ext uri="{FF2B5EF4-FFF2-40B4-BE49-F238E27FC236}">
                <a16:creationId xmlns:a16="http://schemas.microsoft.com/office/drawing/2014/main" id="{B5A90B58-CDEA-E2C1-1822-3FAF6E9B0976}"/>
              </a:ext>
            </a:extLst>
          </p:cNvPr>
          <p:cNvSpPr>
            <a:spLocks noGrp="1"/>
          </p:cNvSpPr>
          <p:nvPr>
            <p:ph idx="1"/>
          </p:nvPr>
        </p:nvSpPr>
        <p:spPr/>
        <p:txBody>
          <a:bodyPr/>
          <a:lstStyle/>
          <a:p>
            <a:r>
              <a:rPr lang="en-US" dirty="0">
                <a:solidFill>
                  <a:schemeClr val="accent4"/>
                </a:solidFill>
              </a:rPr>
              <a:t>Slow</a:t>
            </a:r>
            <a:r>
              <a:rPr lang="en-US" dirty="0"/>
              <a:t>: </a:t>
            </a:r>
          </a:p>
          <a:p>
            <a:r>
              <a:rPr lang="en-US" dirty="0"/>
              <a:t>SOAP messages can be  complex .So it is slow and consumes more bandwidth and resource.
</a:t>
            </a:r>
            <a:r>
              <a:rPr lang="en-US" dirty="0">
                <a:solidFill>
                  <a:schemeClr val="accent4"/>
                </a:solidFill>
              </a:rPr>
              <a:t>WSDL –Based :</a:t>
            </a:r>
            <a:r>
              <a:rPr lang="en-US" dirty="0"/>
              <a:t>
SOAP uses WSDL and doesn’t have any other mechanism to discover the service.</a:t>
            </a:r>
          </a:p>
          <a:p>
            <a:r>
              <a:rPr lang="en-US" dirty="0">
                <a:solidFill>
                  <a:schemeClr val="accent4"/>
                </a:solidFill>
              </a:rPr>
              <a:t>Human Readability</a:t>
            </a:r>
            <a:r>
              <a:rPr lang="en-US" dirty="0"/>
              <a:t>: </a:t>
            </a:r>
          </a:p>
          <a:p>
            <a:r>
              <a:rPr lang="en-US" dirty="0"/>
              <a:t>SOAP is not as human-readable as other formats like JSON</a:t>
            </a:r>
          </a:p>
        </p:txBody>
      </p:sp>
    </p:spTree>
    <p:extLst>
      <p:ext uri="{BB962C8B-B14F-4D97-AF65-F5344CB8AC3E}">
        <p14:creationId xmlns:p14="http://schemas.microsoft.com/office/powerpoint/2010/main" val="3731103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98D4FCF-EE12-784C-CFE0-CB90FFD367CD}"/>
              </a:ext>
            </a:extLst>
          </p:cNvPr>
          <p:cNvSpPr txBox="1"/>
          <p:nvPr/>
        </p:nvSpPr>
        <p:spPr>
          <a:xfrm>
            <a:off x="3250407" y="2568178"/>
            <a:ext cx="6125765" cy="1569660"/>
          </a:xfrm>
          <a:prstGeom prst="rect">
            <a:avLst/>
          </a:prstGeom>
          <a:noFill/>
        </p:spPr>
        <p:txBody>
          <a:bodyPr wrap="square" rtlCol="0">
            <a:spAutoFit/>
          </a:bodyPr>
          <a:lstStyle/>
          <a:p>
            <a:pPr algn="l"/>
            <a:r>
              <a:rPr lang="en-US" sz="9600" b="1" i="1" dirty="0"/>
              <a:t>Thank you!</a:t>
            </a:r>
          </a:p>
        </p:txBody>
      </p:sp>
    </p:spTree>
    <p:extLst>
      <p:ext uri="{BB962C8B-B14F-4D97-AF65-F5344CB8AC3E}">
        <p14:creationId xmlns:p14="http://schemas.microsoft.com/office/powerpoint/2010/main" val="2060081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Introduction:Web Service ! </vt:lpstr>
      <vt:lpstr>PowerPoint Presentation</vt:lpstr>
      <vt:lpstr>PowerPoint Presentation</vt:lpstr>
      <vt:lpstr>Types of web service:</vt:lpstr>
      <vt:lpstr>PowerPoint Presentation</vt:lpstr>
      <vt:lpstr>Features of Web Services</vt:lpstr>
      <vt:lpstr>Architecture of Web Services</vt:lpstr>
      <vt:lpstr>PowerPoint Presentation</vt:lpstr>
      <vt:lpstr>Operations in a Web Service Architecture:</vt:lpstr>
      <vt:lpstr>Advantages Of Web Service:</vt:lpstr>
      <vt:lpstr>Disadvantages of Web Services:</vt:lpstr>
      <vt:lpstr>Web Service SOAP </vt:lpstr>
      <vt:lpstr>Working of web service SOAP </vt:lpstr>
      <vt:lpstr>Components of SOAP </vt:lpstr>
      <vt:lpstr>Syntax of web service SOAP:</vt:lpstr>
      <vt:lpstr>Example of Soap message:</vt:lpstr>
      <vt:lpstr>Advantages of Soap Web Services:</vt:lpstr>
      <vt:lpstr>Disadvantages of Soap Web Services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Introduction:Web Service ! </dc:title>
  <dc:creator>chs978975@gmail.com</dc:creator>
  <cp:lastModifiedBy>chs978975@gmail.com</cp:lastModifiedBy>
  <cp:revision>8</cp:revision>
  <dcterms:created xsi:type="dcterms:W3CDTF">2024-02-28T10:05:19Z</dcterms:created>
  <dcterms:modified xsi:type="dcterms:W3CDTF">2024-02-28T14:54:30Z</dcterms:modified>
</cp:coreProperties>
</file>
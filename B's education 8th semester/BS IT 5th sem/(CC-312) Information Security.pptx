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9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60" r:id="rId6"/>
    <p:sldId id="267" r:id="rId7"/>
    <p:sldId id="261" r:id="rId8"/>
    <p:sldId id="262" r:id="rId9"/>
    <p:sldId id="263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FC89E-2F62-BC49-AC62-334BB5C920C7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AF6E-77B8-B24D-B017-218247366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5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Gbnvcvvnhfdccbjbfxzzc</a:t>
            </a:r>
            <a:r>
              <a:rPr lang="en-US" dirty="0"/>
              <a:t> </a:t>
            </a:r>
            <a:r>
              <a:rPr lang="en-US" dirty="0" err="1"/>
              <a:t>bbbn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AF6E-77B8-B24D-B017-21824736641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1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60781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42236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97927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57802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97336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69537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21210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97024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75444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79246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4583029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25441"/>
      </p:ext>
    </p:extLst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8815315"/>
      </p:ext>
    </p:extLst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15528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34388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72292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86C33-B612-4BEC-98EC-E2B4855B50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04A5645-E77A-479A-BD1C-72DDAC10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9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</p:sldLayoutIdLst>
  <p:transition spd="slow">
    <p:randomBar dir="vert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0EA9-1812-6BCD-0EE3-2E93D53CE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1"/>
            <a:ext cx="7766936" cy="1646302"/>
          </a:xfrm>
        </p:spPr>
        <p:txBody>
          <a:bodyPr/>
          <a:lstStyle/>
          <a:p>
            <a:r>
              <a:rPr lang="en-US" i="1" dirty="0">
                <a:solidFill>
                  <a:srgbClr val="0070C0"/>
                </a:solidFill>
                <a:latin typeface="Algerian" panose="04020705040A02060702" pitchFamily="82" charset="0"/>
              </a:rPr>
              <a:t>Information security Foundation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49D38-66CF-2133-4152-5C3BA50642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ROLL NO : 318  </a:t>
            </a:r>
          </a:p>
        </p:txBody>
      </p:sp>
    </p:spTree>
    <p:extLst>
      <p:ext uri="{BB962C8B-B14F-4D97-AF65-F5344CB8AC3E}">
        <p14:creationId xmlns:p14="http://schemas.microsoft.com/office/powerpoint/2010/main" val="178074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B568-9731-914F-DE4C-ACC23C73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68" y="839789"/>
            <a:ext cx="8596668" cy="1320800"/>
          </a:xfrm>
        </p:spPr>
        <p:txBody>
          <a:bodyPr/>
          <a:lstStyle/>
          <a:p>
            <a:r>
              <a:rPr lang="en-US" dirty="0"/>
              <a:t>                    </a:t>
            </a:r>
            <a:r>
              <a:rPr lang="en-US" sz="4000" dirty="0">
                <a:solidFill>
                  <a:schemeClr val="tx1"/>
                </a:solidFill>
              </a:rPr>
              <a:t>Open in design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29C19-1AC6-7DF4-2596-163F7488E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The architecture and design of a system should be openly accessible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The goal of open design is to improve the security of systems by making it easier for security experts to find and fix security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65846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E9A096-B593-1F8E-A3E1-9E2F444B8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Complete mediation ensures that resource is checked against the security policy, every time, without fail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It should be reviewed and updated on a regular basis.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D2B945D-EFA7-C66C-599E-AA0BBDF6F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60" y="816638"/>
            <a:ext cx="8596668" cy="1320800"/>
          </a:xfrm>
        </p:spPr>
        <p:txBody>
          <a:bodyPr>
            <a:normAutofit/>
          </a:bodyPr>
          <a:lstStyle/>
          <a:p>
            <a:r>
              <a:rPr lang="en-US" sz="4400" dirty="0"/>
              <a:t>  </a:t>
            </a:r>
            <a:r>
              <a:rPr lang="en-US" sz="4400" dirty="0">
                <a:solidFill>
                  <a:srgbClr val="FF0000"/>
                </a:solidFill>
              </a:rPr>
              <a:t>         </a:t>
            </a:r>
            <a:r>
              <a:rPr lang="en-US" sz="4400" dirty="0">
                <a:solidFill>
                  <a:schemeClr val="tx1"/>
                </a:solidFill>
              </a:rPr>
              <a:t>Complete mediation</a:t>
            </a:r>
            <a:r>
              <a:rPr lang="en-US" sz="4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847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62AF3F-396E-1918-4C47-11A5A2B1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              </a:t>
            </a:r>
            <a:r>
              <a:rPr lang="en-US" dirty="0">
                <a:solidFill>
                  <a:schemeClr val="tx1"/>
                </a:solidFill>
              </a:rPr>
              <a:t>Economy of mechanism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5ABF27-039C-4733-B8B3-91E89962E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This fundamental security principle defines that the security measures implemented in the software and the hardware must be simple and small.</a:t>
            </a:r>
          </a:p>
          <a:p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06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384069-C45B-19C3-C60E-A9874D3D6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4400" dirty="0">
                <a:solidFill>
                  <a:schemeClr val="tx1"/>
                </a:solidFill>
              </a:rPr>
              <a:t>Least Common design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4D7246-20A2-9CB0-F172-0129EFC5A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0062"/>
            <a:ext cx="8596668" cy="4648332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Minimize the amount of mechanism common to more than one user</a:t>
            </a:r>
          </a:p>
          <a:p>
            <a:r>
              <a:rPr lang="en-US" sz="4400" dirty="0"/>
              <a:t>Why we use least common design principle?</a:t>
            </a:r>
          </a:p>
          <a:p>
            <a:r>
              <a:rPr lang="en-US" sz="3900" b="0" i="0" dirty="0">
                <a:solidFill>
                  <a:schemeClr val="accent1">
                    <a:lumMod val="75000"/>
                  </a:schemeClr>
                </a:solidFill>
                <a:effectLst/>
                <a:latin typeface="Poppins" panose="020B0502040504020204" pitchFamily="34" charset="0"/>
              </a:rPr>
              <a:t>If Any dependence between components means that the consequences of a successful attack in one component may spread through the system</a:t>
            </a:r>
            <a:endParaRPr lang="en-US" sz="39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312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DADF-4556-C4A0-2143-C3D2F0ED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647" y="681038"/>
            <a:ext cx="8596668" cy="1320800"/>
          </a:xfrm>
        </p:spPr>
        <p:txBody>
          <a:bodyPr/>
          <a:lstStyle/>
          <a:p>
            <a:r>
              <a:rPr lang="en-US" dirty="0"/>
              <a:t>           </a:t>
            </a:r>
            <a:r>
              <a:rPr lang="en-US" sz="4400" dirty="0">
                <a:solidFill>
                  <a:schemeClr val="tx1"/>
                </a:solidFill>
              </a:rPr>
              <a:t>Psychological </a:t>
            </a:r>
            <a:r>
              <a:rPr lang="en-US" sz="4400" dirty="0" err="1">
                <a:solidFill>
                  <a:schemeClr val="tx1"/>
                </a:solidFill>
              </a:rPr>
              <a:t>Acceptibility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444F9-F3E0-96AD-E989-2F8EA646E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The user’s mental image of his protection goals matches the mechanisms he must use, mistakes will be minimized.</a:t>
            </a:r>
          </a:p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Design security systems for ease of use for humans.</a:t>
            </a:r>
          </a:p>
          <a:p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56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C085E8-90CE-CF90-8A9E-2BFEC9DA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sz="4400" dirty="0">
                <a:solidFill>
                  <a:schemeClr val="tx1"/>
                </a:solidFill>
              </a:rPr>
              <a:t>Reduce attack surface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106476-207A-0740-573D-D7C3050DA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Understanding the attack surface of your business is an important step to properly securing your organization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One essential attack surface reduction method is managing access and user permissions</a:t>
            </a:r>
          </a:p>
          <a:p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63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8D8851-3E9E-E113-DECD-DFA3E5BA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</a:t>
            </a:r>
            <a:r>
              <a:rPr lang="en-US" sz="4400" dirty="0">
                <a:solidFill>
                  <a:schemeClr val="tx1"/>
                </a:solidFill>
              </a:rPr>
              <a:t>By default secure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C94B63-F965-04C7-7D25-6744418E4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Secure-by-Default products are those that are secure to use “out of the box” with little to no configuration changes necessary and security features available without additional </a:t>
            </a:r>
            <a:r>
              <a:rPr lang="en-US" sz="3200" err="1">
                <a:solidFill>
                  <a:schemeClr val="accent1">
                    <a:lumMod val="75000"/>
                  </a:schemeClr>
                </a:solidFill>
              </a:rPr>
              <a:t>cost</a:t>
            </a:r>
            <a:r>
              <a:rPr lang="en-US" sz="320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78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9E571E-BE54-1BD1-D7D3-96076A7A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</a:t>
            </a:r>
            <a:r>
              <a:rPr lang="en-US" sz="4400" dirty="0">
                <a:solidFill>
                  <a:schemeClr val="tx1"/>
                </a:solidFill>
              </a:rPr>
              <a:t>Threats Modeling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3A29DB-FC7D-6B71-6CF6-3DA2DE64E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6949"/>
            <a:ext cx="9663244" cy="4947442"/>
          </a:xfrm>
        </p:spPr>
        <p:txBody>
          <a:bodyPr>
            <a:noAutofit/>
          </a:bodyPr>
          <a:lstStyle/>
          <a:p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Thread modeling is a foundational process used to identify, prioritize, and mitigate potential threats to a system or application.</a:t>
            </a:r>
          </a:p>
          <a:p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84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14EB27-F3E1-1D4B-174F-0754864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56302"/>
            <a:ext cx="8596668" cy="1320800"/>
          </a:xfrm>
        </p:spPr>
        <p:txBody>
          <a:bodyPr/>
          <a:lstStyle/>
          <a:p>
            <a:r>
              <a:rPr lang="en-US" dirty="0"/>
              <a:t>              </a:t>
            </a:r>
            <a:r>
              <a:rPr lang="en-US" sz="4400" dirty="0">
                <a:solidFill>
                  <a:schemeClr val="tx1"/>
                </a:solidFill>
              </a:rPr>
              <a:t>Keep security simple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371CE9-5DA9-BFBA-27BB-BEE32705C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90580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Keep security simple” means adopting straightforward and practical security measures that are easy to understand, implement, and maintain</a:t>
            </a:r>
          </a:p>
          <a:p>
            <a:pPr marL="0" indent="0">
              <a:buNone/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9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C584-AF91-6117-2BEE-3998D2F8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           </a:t>
            </a:r>
            <a:r>
              <a:rPr lang="en-US" sz="4800" dirty="0">
                <a:solidFill>
                  <a:schemeClr val="tx1"/>
                </a:solidFill>
              </a:rPr>
              <a:t>Establish the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83713-4731-2161-9665-F44FAF9AC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979" y="1716484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The first thing we need to do is establish the context of the system.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Establishing the context defines the scope for the risk management process and sets the criteria against which the risks will be assessed.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      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                            </a:t>
            </a:r>
            <a:r>
              <a:rPr lang="en-US" sz="3600" b="1" dirty="0">
                <a:solidFill>
                  <a:srgbClr val="FF0000"/>
                </a:solidFill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63231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167</TotalTime>
  <Words>1124</Words>
  <Application>Microsoft Office PowerPoint</Application>
  <PresentationFormat>Widescreen</PresentationFormat>
  <Paragraphs>76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Information security Foundation  </vt:lpstr>
      <vt:lpstr>                    Open in design </vt:lpstr>
      <vt:lpstr>           Complete mediation </vt:lpstr>
      <vt:lpstr>              Economy of mechanism</vt:lpstr>
      <vt:lpstr>            Least Common design</vt:lpstr>
      <vt:lpstr>           Psychological Acceptibility</vt:lpstr>
      <vt:lpstr>            Reduce attack surface</vt:lpstr>
      <vt:lpstr>               By default secure</vt:lpstr>
      <vt:lpstr>                  Threats Modeling</vt:lpstr>
      <vt:lpstr>              Keep security simple </vt:lpstr>
      <vt:lpstr>            Establish the context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TRANPORT LAYER                 PROTOCOL</dc:title>
  <dc:creator>DAR</dc:creator>
  <cp:lastModifiedBy>asifshahzad0850@gmail.com</cp:lastModifiedBy>
  <cp:revision>24</cp:revision>
  <dcterms:created xsi:type="dcterms:W3CDTF">2023-03-06T16:27:44Z</dcterms:created>
  <dcterms:modified xsi:type="dcterms:W3CDTF">2024-02-29T01:45:16Z</dcterms:modified>
</cp:coreProperties>
</file>
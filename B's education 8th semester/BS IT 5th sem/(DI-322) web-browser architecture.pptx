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0"/>
  </p:notesMasterIdLst>
  <p:sldIdLst>
    <p:sldId id="256" r:id="rId2"/>
    <p:sldId id="257" r:id="rId3"/>
    <p:sldId id="258" r:id="rId4"/>
    <p:sldId id="259" r:id="rId5"/>
    <p:sldId id="260" r:id="rId6"/>
    <p:sldId id="267" r:id="rId7"/>
    <p:sldId id="261" r:id="rId8"/>
    <p:sldId id="262" r:id="rId9"/>
    <p:sldId id="263" r:id="rId10"/>
    <p:sldId id="264" r:id="rId11"/>
    <p:sldId id="265" r:id="rId12"/>
    <p:sldId id="273" r:id="rId13"/>
    <p:sldId id="274" r:id="rId14"/>
    <p:sldId id="272" r:id="rId15"/>
    <p:sldId id="276" r:id="rId16"/>
    <p:sldId id="280" r:id="rId17"/>
    <p:sldId id="279" r:id="rId18"/>
    <p:sldId id="281" r:id="rId19"/>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p:cViewPr varScale="1">
        <p:scale>
          <a:sx n="80" d="100"/>
          <a:sy n="80" d="100"/>
        </p:scale>
        <p:origin x="1116" y="90"/>
      </p:cViewPr>
      <p:guideLst>
        <p:guide orient="horz" pos="216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166DD72B-EFC9-4A4E-B1E2-46B84D61FD9E}" type="datetimeFigureOut">
              <a:rPr lang="en-US" smtClean="0"/>
              <a:t>3/26/2024</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E74D0D99-230F-40B6-B476-0517A06B445A}" type="slidenum">
              <a:rPr lang="en-US" smtClean="0"/>
              <a:t>‹#›</a:t>
            </a:fld>
            <a:endParaRPr lang="en-US"/>
          </a:p>
        </p:txBody>
      </p:sp>
    </p:spTree>
    <p:extLst>
      <p:ext uri="{BB962C8B-B14F-4D97-AF65-F5344CB8AC3E}">
        <p14:creationId xmlns:p14="http://schemas.microsoft.com/office/powerpoint/2010/main" val="132595164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920CC851-1451-48E2-921A-C4021C37A233}" type="datetime1">
              <a:rPr lang="en-US" smtClean="0"/>
              <a:t>3/26/2024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A2534D-3980-4301-981F-A8F5F0EDCF21}" type="slidenum">
              <a:rPr lang="en-US" smtClean="0"/>
              <a:t>‹#›</a:t>
            </a:fld>
            <a:endParaRPr lang="en-US"/>
          </a:p>
        </p:txBody>
      </p:sp>
    </p:spTree>
    <p:extLst>
      <p:ext uri="{BB962C8B-B14F-4D97-AF65-F5344CB8AC3E}">
        <p14:creationId xmlns:p14="http://schemas.microsoft.com/office/powerpoint/2010/main" val="237258096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0"/>
            <a:ext cx="8229600" cy="1143000"/>
          </a:xfrm>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B895CC5B-562D-4E2E-AE6F-DE7F8C5C5532}" type="datetime1">
              <a:rPr lang="en-US" smtClean="0"/>
              <a:t>3/26/2024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A2534D-3980-4301-981F-A8F5F0EDCF21}" type="slidenum">
              <a:rPr lang="en-US" smtClean="0"/>
              <a:t>‹#›</a:t>
            </a:fld>
            <a:endParaRPr lang="en-US"/>
          </a:p>
        </p:txBody>
      </p:sp>
      <p:pic>
        <p:nvPicPr>
          <p:cNvPr id="7" name="Picture 6"/>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0" y="6265577"/>
            <a:ext cx="1828800" cy="567024"/>
          </a:xfrm>
          <a:prstGeom prst="rect">
            <a:avLst/>
          </a:prstGeom>
        </p:spPr>
      </p:pic>
      <p:cxnSp>
        <p:nvCxnSpPr>
          <p:cNvPr id="9" name="Straight Connector 8"/>
          <p:cNvCxnSpPr/>
          <p:nvPr userDrawn="1"/>
        </p:nvCxnSpPr>
        <p:spPr>
          <a:xfrm>
            <a:off x="0" y="1143000"/>
            <a:ext cx="8991600" cy="0"/>
          </a:xfrm>
          <a:prstGeom prst="line">
            <a:avLst/>
          </a:prstGeom>
          <a:ln w="63500"/>
        </p:spPr>
        <p:style>
          <a:lnRef idx="1">
            <a:schemeClr val="accent1"/>
          </a:lnRef>
          <a:fillRef idx="0">
            <a:schemeClr val="accent1"/>
          </a:fillRef>
          <a:effectRef idx="0">
            <a:schemeClr val="accent1"/>
          </a:effectRef>
          <a:fontRef idx="minor">
            <a:schemeClr val="tx1"/>
          </a:fontRef>
        </p:style>
      </p:cxnSp>
      <p:cxnSp>
        <p:nvCxnSpPr>
          <p:cNvPr id="10" name="Straight Connector 9"/>
          <p:cNvCxnSpPr/>
          <p:nvPr userDrawn="1"/>
        </p:nvCxnSpPr>
        <p:spPr>
          <a:xfrm>
            <a:off x="152400" y="6248400"/>
            <a:ext cx="8991600" cy="0"/>
          </a:xfrm>
          <a:prstGeom prst="line">
            <a:avLst/>
          </a:prstGeom>
          <a:ln w="25400">
            <a:solidFill>
              <a:schemeClr val="accent3"/>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88016188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A0453FC7-B8E3-4433-853B-65EE4D4AC50D}" type="datetime1">
              <a:rPr lang="en-US" smtClean="0"/>
              <a:t>3/26/2024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A2534D-3980-4301-981F-A8F5F0EDCF21}" type="slidenum">
              <a:rPr lang="en-US" smtClean="0"/>
              <a:t>‹#›</a:t>
            </a:fld>
            <a:endParaRPr lang="en-US"/>
          </a:p>
        </p:txBody>
      </p:sp>
    </p:spTree>
    <p:extLst>
      <p:ext uri="{BB962C8B-B14F-4D97-AF65-F5344CB8AC3E}">
        <p14:creationId xmlns:p14="http://schemas.microsoft.com/office/powerpoint/2010/main" val="219212203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CDDDCBC0-61F3-4489-8BEE-38F1F2A654FB}" type="datetime1">
              <a:rPr lang="en-US" smtClean="0"/>
              <a:t>3/26/2024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5A2534D-3980-4301-981F-A8F5F0EDCF21}" type="slidenum">
              <a:rPr lang="en-US" smtClean="0"/>
              <a:t>‹#›</a:t>
            </a:fld>
            <a:endParaRPr lang="en-US"/>
          </a:p>
        </p:txBody>
      </p:sp>
    </p:spTree>
    <p:extLst>
      <p:ext uri="{BB962C8B-B14F-4D97-AF65-F5344CB8AC3E}">
        <p14:creationId xmlns:p14="http://schemas.microsoft.com/office/powerpoint/2010/main" val="347475226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629261BF-28B6-43FD-9686-EC5A9E140047}" type="datetime1">
              <a:rPr lang="en-US" smtClean="0"/>
              <a:t>3/26/2024</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5A2534D-3980-4301-981F-A8F5F0EDCF21}" type="slidenum">
              <a:rPr lang="en-US" smtClean="0"/>
              <a:t>‹#›</a:t>
            </a:fld>
            <a:endParaRPr lang="en-US"/>
          </a:p>
        </p:txBody>
      </p:sp>
    </p:spTree>
    <p:extLst>
      <p:ext uri="{BB962C8B-B14F-4D97-AF65-F5344CB8AC3E}">
        <p14:creationId xmlns:p14="http://schemas.microsoft.com/office/powerpoint/2010/main" val="79932309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78C87337-4EE6-4F7E-AC1B-2D09624F7C55}" type="datetime1">
              <a:rPr lang="en-US" smtClean="0"/>
              <a:t>3/26/2024</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5A2534D-3980-4301-981F-A8F5F0EDCF21}" type="slidenum">
              <a:rPr lang="en-US" smtClean="0"/>
              <a:t>‹#›</a:t>
            </a:fld>
            <a:endParaRPr lang="en-US"/>
          </a:p>
        </p:txBody>
      </p:sp>
    </p:spTree>
    <p:extLst>
      <p:ext uri="{BB962C8B-B14F-4D97-AF65-F5344CB8AC3E}">
        <p14:creationId xmlns:p14="http://schemas.microsoft.com/office/powerpoint/2010/main" val="284704336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8B35B5E5-DF29-47F9-A3F3-8C2E3CA2C2AD}" type="datetime1">
              <a:rPr lang="en-US" smtClean="0"/>
              <a:t>3/26/2024</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5A2534D-3980-4301-981F-A8F5F0EDCF21}" type="slidenum">
              <a:rPr lang="en-US" smtClean="0"/>
              <a:t>‹#›</a:t>
            </a:fld>
            <a:endParaRPr lang="en-US"/>
          </a:p>
        </p:txBody>
      </p:sp>
    </p:spTree>
    <p:extLst>
      <p:ext uri="{BB962C8B-B14F-4D97-AF65-F5344CB8AC3E}">
        <p14:creationId xmlns:p14="http://schemas.microsoft.com/office/powerpoint/2010/main" val="125889194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5F3DD20-469A-4493-B22D-88AB6C97B146}" type="datetime1">
              <a:rPr lang="en-US" smtClean="0"/>
              <a:t>3/26/2024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5A2534D-3980-4301-981F-A8F5F0EDCF21}" type="slidenum">
              <a:rPr lang="en-US" smtClean="0"/>
              <a:t>‹#›</a:t>
            </a:fld>
            <a:endParaRPr lang="en-US"/>
          </a:p>
        </p:txBody>
      </p:sp>
    </p:spTree>
    <p:extLst>
      <p:ext uri="{BB962C8B-B14F-4D97-AF65-F5344CB8AC3E}">
        <p14:creationId xmlns:p14="http://schemas.microsoft.com/office/powerpoint/2010/main" val="161878338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B94EB54C-192E-4009-A957-CD04579CE9D0}" type="datetime1">
              <a:rPr lang="en-US" smtClean="0"/>
              <a:t>3/26/2024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5A2534D-3980-4301-981F-A8F5F0EDCF21}" type="slidenum">
              <a:rPr lang="en-US" smtClean="0"/>
              <a:t>‹#›</a:t>
            </a:fld>
            <a:endParaRPr lang="en-US"/>
          </a:p>
        </p:txBody>
      </p:sp>
    </p:spTree>
    <p:extLst>
      <p:ext uri="{BB962C8B-B14F-4D97-AF65-F5344CB8AC3E}">
        <p14:creationId xmlns:p14="http://schemas.microsoft.com/office/powerpoint/2010/main" val="78863743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3A93364F-A3FC-473A-AACC-1809702A33EA}" type="datetime1">
              <a:rPr lang="en-US" smtClean="0"/>
              <a:t>3/26/2024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A2534D-3980-4301-981F-A8F5F0EDCF21}" type="slidenum">
              <a:rPr lang="en-US" smtClean="0"/>
              <a:t>‹#›</a:t>
            </a:fld>
            <a:endParaRPr lang="en-US"/>
          </a:p>
        </p:txBody>
      </p:sp>
    </p:spTree>
    <p:extLst>
      <p:ext uri="{BB962C8B-B14F-4D97-AF65-F5344CB8AC3E}">
        <p14:creationId xmlns:p14="http://schemas.microsoft.com/office/powerpoint/2010/main" val="423229941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3D50218F-25AD-487F-BFCA-D4BD7C52C411}" type="datetime1">
              <a:rPr lang="en-US" smtClean="0"/>
              <a:t>3/26/2024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A2534D-3980-4301-981F-A8F5F0EDCF21}" type="slidenum">
              <a:rPr lang="en-US" smtClean="0"/>
              <a:t>‹#›</a:t>
            </a:fld>
            <a:endParaRPr lang="en-US"/>
          </a:p>
        </p:txBody>
      </p:sp>
    </p:spTree>
    <p:extLst>
      <p:ext uri="{BB962C8B-B14F-4D97-AF65-F5344CB8AC3E}">
        <p14:creationId xmlns:p14="http://schemas.microsoft.com/office/powerpoint/2010/main" val="195778635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3384CC88-2374-468D-AB80-68CFF9BEA49F}" type="datetime1">
              <a:rPr lang="en-US" smtClean="0"/>
              <a:t>3/26/2024</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5A2534D-3980-4301-981F-A8F5F0EDCF21}" type="slidenum">
              <a:rPr lang="en-US" smtClean="0"/>
              <a:t>‹#›</a:t>
            </a:fld>
            <a:endParaRPr lang="en-US"/>
          </a:p>
        </p:txBody>
      </p:sp>
    </p:spTree>
    <p:extLst>
      <p:ext uri="{BB962C8B-B14F-4D97-AF65-F5344CB8AC3E}">
        <p14:creationId xmlns:p14="http://schemas.microsoft.com/office/powerpoint/2010/main" val="6731284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hyperlink" Target="http://www.w3.org/TR/CSS2/grammar.html" TargetMode="External"/><Relationship Id="rId2" Type="http://schemas.openxmlformats.org/officeDocument/2006/relationships/hyperlink" Target="http://www.w3.org/DOM/DOMTR" TargetMode="Externa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263775"/>
            <a:ext cx="7772400" cy="1470025"/>
          </a:xfrm>
        </p:spPr>
        <p:txBody>
          <a:bodyPr/>
          <a:lstStyle/>
          <a:p>
            <a:r>
              <a:rPr lang="en-US" dirty="0" smtClean="0"/>
              <a:t>Web-Browser Architecture</a:t>
            </a:r>
            <a:endParaRPr lang="en-US" dirty="0"/>
          </a:p>
        </p:txBody>
      </p:sp>
      <p:sp>
        <p:nvSpPr>
          <p:cNvPr id="3" name="Subtitle 2"/>
          <p:cNvSpPr>
            <a:spLocks noGrp="1"/>
          </p:cNvSpPr>
          <p:nvPr>
            <p:ph type="subTitle" idx="1"/>
          </p:nvPr>
        </p:nvSpPr>
        <p:spPr/>
        <p:txBody>
          <a:bodyPr/>
          <a:lstStyle/>
          <a:p>
            <a:endParaRPr lang="en-US" dirty="0"/>
          </a:p>
        </p:txBody>
      </p:sp>
      <p:sp>
        <p:nvSpPr>
          <p:cNvPr id="5" name="Slide Number Placeholder 4"/>
          <p:cNvSpPr>
            <a:spLocks noGrp="1"/>
          </p:cNvSpPr>
          <p:nvPr>
            <p:ph type="sldNum" sz="quarter" idx="12"/>
          </p:nvPr>
        </p:nvSpPr>
        <p:spPr/>
        <p:txBody>
          <a:bodyPr/>
          <a:lstStyle/>
          <a:p>
            <a:fld id="{C5A2534D-3980-4301-981F-A8F5F0EDCF21}" type="slidenum">
              <a:rPr lang="en-US" smtClean="0"/>
              <a:t>1</a:t>
            </a:fld>
            <a:endParaRPr lang="en-US"/>
          </a:p>
        </p:txBody>
      </p:sp>
    </p:spTree>
    <p:extLst>
      <p:ext uri="{BB962C8B-B14F-4D97-AF65-F5344CB8AC3E}">
        <p14:creationId xmlns:p14="http://schemas.microsoft.com/office/powerpoint/2010/main" val="3175528196"/>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The browser's main components</a:t>
            </a:r>
          </a:p>
        </p:txBody>
      </p:sp>
      <p:pic>
        <p:nvPicPr>
          <p:cNvPr id="1026" name="Picture 2" descr="F:\LongTV\Documents\WebBrowser Component\layers.png"/>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1524000" y="1752600"/>
            <a:ext cx="6324600" cy="4288079"/>
          </a:xfrm>
          <a:prstGeom prst="rect">
            <a:avLst/>
          </a:prstGeom>
          <a:noFill/>
          <a:extLst>
            <a:ext uri="{909E8E84-426E-40DD-AFC4-6F175D3DCCD1}">
              <a14:hiddenFill xmlns:a14="http://schemas.microsoft.com/office/drawing/2010/main">
                <a:solidFill>
                  <a:srgbClr val="FFFFFF"/>
                </a:solidFill>
              </a14:hiddenFill>
            </a:ext>
          </a:extLst>
        </p:spPr>
      </p:pic>
      <p:sp>
        <p:nvSpPr>
          <p:cNvPr id="3" name="Slide Number Placeholder 2"/>
          <p:cNvSpPr>
            <a:spLocks noGrp="1"/>
          </p:cNvSpPr>
          <p:nvPr>
            <p:ph type="sldNum" sz="quarter" idx="12"/>
          </p:nvPr>
        </p:nvSpPr>
        <p:spPr/>
        <p:txBody>
          <a:bodyPr/>
          <a:lstStyle/>
          <a:p>
            <a:fld id="{C5A2534D-3980-4301-981F-A8F5F0EDCF21}" type="slidenum">
              <a:rPr lang="en-US" smtClean="0"/>
              <a:t>2</a:t>
            </a:fld>
            <a:endParaRPr lang="en-US"/>
          </a:p>
        </p:txBody>
      </p:sp>
    </p:spTree>
    <p:extLst>
      <p:ext uri="{BB962C8B-B14F-4D97-AF65-F5344CB8AC3E}">
        <p14:creationId xmlns:p14="http://schemas.microsoft.com/office/powerpoint/2010/main" val="4101567969"/>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The browser's main components</a:t>
            </a:r>
            <a:endParaRPr lang="en-US" dirty="0"/>
          </a:p>
        </p:txBody>
      </p:sp>
      <p:sp>
        <p:nvSpPr>
          <p:cNvPr id="3" name="Content Placeholder 2"/>
          <p:cNvSpPr>
            <a:spLocks noGrp="1"/>
          </p:cNvSpPr>
          <p:nvPr>
            <p:ph idx="1"/>
          </p:nvPr>
        </p:nvSpPr>
        <p:spPr/>
        <p:txBody>
          <a:bodyPr/>
          <a:lstStyle/>
          <a:p>
            <a:r>
              <a:rPr lang="en-US" b="1" dirty="0" smtClean="0"/>
              <a:t>The User Interface:</a:t>
            </a:r>
            <a:r>
              <a:rPr lang="en-US" dirty="0" smtClean="0"/>
              <a:t> provides the methods with which a user inter-acts with the Browser Engine. This </a:t>
            </a:r>
            <a:r>
              <a:rPr lang="en-US" dirty="0"/>
              <a:t>includes the address bar, back/forward button, bookmarking menu, etc. Every part of the browser display except the window where you see the requested page.</a:t>
            </a:r>
          </a:p>
        </p:txBody>
      </p:sp>
      <p:sp>
        <p:nvSpPr>
          <p:cNvPr id="4" name="Slide Number Placeholder 3"/>
          <p:cNvSpPr>
            <a:spLocks noGrp="1"/>
          </p:cNvSpPr>
          <p:nvPr>
            <p:ph type="sldNum" sz="quarter" idx="12"/>
          </p:nvPr>
        </p:nvSpPr>
        <p:spPr/>
        <p:txBody>
          <a:bodyPr/>
          <a:lstStyle/>
          <a:p>
            <a:fld id="{C5A2534D-3980-4301-981F-A8F5F0EDCF21}" type="slidenum">
              <a:rPr lang="en-US" smtClean="0"/>
              <a:t>3</a:t>
            </a:fld>
            <a:endParaRPr lang="en-US"/>
          </a:p>
        </p:txBody>
      </p:sp>
    </p:spTree>
    <p:extLst>
      <p:ext uri="{BB962C8B-B14F-4D97-AF65-F5344CB8AC3E}">
        <p14:creationId xmlns:p14="http://schemas.microsoft.com/office/powerpoint/2010/main" val="958669453"/>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The browser's main components</a:t>
            </a:r>
            <a:endParaRPr lang="en-US" dirty="0"/>
          </a:p>
        </p:txBody>
      </p:sp>
      <p:sp>
        <p:nvSpPr>
          <p:cNvPr id="3" name="Content Placeholder 2"/>
          <p:cNvSpPr>
            <a:spLocks noGrp="1"/>
          </p:cNvSpPr>
          <p:nvPr>
            <p:ph idx="1"/>
          </p:nvPr>
        </p:nvSpPr>
        <p:spPr/>
        <p:txBody>
          <a:bodyPr>
            <a:normAutofit lnSpcReduction="10000"/>
          </a:bodyPr>
          <a:lstStyle/>
          <a:p>
            <a:r>
              <a:rPr lang="en-US" b="1" dirty="0" smtClean="0"/>
              <a:t>The Browser Engine:</a:t>
            </a:r>
            <a:r>
              <a:rPr lang="en-US" dirty="0" smtClean="0"/>
              <a:t> </a:t>
            </a:r>
            <a:r>
              <a:rPr lang="en-US" dirty="0"/>
              <a:t>marshals actions between the UI and the rendering engine</a:t>
            </a:r>
            <a:r>
              <a:rPr lang="en-US" dirty="0" smtClean="0"/>
              <a:t>. This  provides a high-level interface to the Rendering Engine. The Browser Engine provides methods to initiate the loading of a URL and other high-level browsing actions (reload, back, forward). The Browser Engine also provides the User interface with various messages relating to error messages and loading progress.</a:t>
            </a:r>
            <a:endParaRPr lang="en-US" dirty="0"/>
          </a:p>
        </p:txBody>
      </p:sp>
      <p:sp>
        <p:nvSpPr>
          <p:cNvPr id="4" name="Slide Number Placeholder 3"/>
          <p:cNvSpPr>
            <a:spLocks noGrp="1"/>
          </p:cNvSpPr>
          <p:nvPr>
            <p:ph type="sldNum" sz="quarter" idx="12"/>
          </p:nvPr>
        </p:nvSpPr>
        <p:spPr/>
        <p:txBody>
          <a:bodyPr/>
          <a:lstStyle/>
          <a:p>
            <a:fld id="{C5A2534D-3980-4301-981F-A8F5F0EDCF21}" type="slidenum">
              <a:rPr lang="en-US" smtClean="0"/>
              <a:t>4</a:t>
            </a:fld>
            <a:endParaRPr lang="en-US"/>
          </a:p>
        </p:txBody>
      </p:sp>
    </p:spTree>
    <p:extLst>
      <p:ext uri="{BB962C8B-B14F-4D97-AF65-F5344CB8AC3E}">
        <p14:creationId xmlns:p14="http://schemas.microsoft.com/office/powerpoint/2010/main" val="141701896"/>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The browser's main components</a:t>
            </a:r>
            <a:endParaRPr lang="en-US" dirty="0"/>
          </a:p>
        </p:txBody>
      </p:sp>
      <p:sp>
        <p:nvSpPr>
          <p:cNvPr id="3" name="Content Placeholder 2"/>
          <p:cNvSpPr>
            <a:spLocks noGrp="1"/>
          </p:cNvSpPr>
          <p:nvPr>
            <p:ph idx="1"/>
          </p:nvPr>
        </p:nvSpPr>
        <p:spPr/>
        <p:txBody>
          <a:bodyPr>
            <a:normAutofit lnSpcReduction="10000"/>
          </a:bodyPr>
          <a:lstStyle/>
          <a:p>
            <a:pPr algn="just"/>
            <a:r>
              <a:rPr lang="en-US" b="1" dirty="0" smtClean="0"/>
              <a:t>The Rendering Engine: </a:t>
            </a:r>
            <a:r>
              <a:rPr lang="en-US" dirty="0" smtClean="0"/>
              <a:t>produces the visual representation of a given URL. The Rendering Engine interprets the HTML, XML, and JavaScript that comprises a given URL and generates the layout that is displayed in the User Interface. A key component of the Rendering Engine is the HTML parser, this HTML parser is quite complex because it allows the Rendering Engine to display poorly formed HTML pages</a:t>
            </a:r>
            <a:endParaRPr lang="en-US" dirty="0"/>
          </a:p>
        </p:txBody>
      </p:sp>
      <p:sp>
        <p:nvSpPr>
          <p:cNvPr id="4" name="Slide Number Placeholder 3"/>
          <p:cNvSpPr>
            <a:spLocks noGrp="1"/>
          </p:cNvSpPr>
          <p:nvPr>
            <p:ph type="sldNum" sz="quarter" idx="12"/>
          </p:nvPr>
        </p:nvSpPr>
        <p:spPr/>
        <p:txBody>
          <a:bodyPr/>
          <a:lstStyle/>
          <a:p>
            <a:fld id="{C5A2534D-3980-4301-981F-A8F5F0EDCF21}" type="slidenum">
              <a:rPr lang="en-US" smtClean="0"/>
              <a:t>5</a:t>
            </a:fld>
            <a:endParaRPr lang="en-US"/>
          </a:p>
        </p:txBody>
      </p:sp>
    </p:spTree>
    <p:extLst>
      <p:ext uri="{BB962C8B-B14F-4D97-AF65-F5344CB8AC3E}">
        <p14:creationId xmlns:p14="http://schemas.microsoft.com/office/powerpoint/2010/main" val="1149063521"/>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The browser's main components</a:t>
            </a:r>
            <a:endParaRPr lang="en-US" dirty="0"/>
          </a:p>
        </p:txBody>
      </p:sp>
      <p:sp>
        <p:nvSpPr>
          <p:cNvPr id="3" name="Content Placeholder 2"/>
          <p:cNvSpPr>
            <a:spLocks noGrp="1"/>
          </p:cNvSpPr>
          <p:nvPr>
            <p:ph idx="1"/>
          </p:nvPr>
        </p:nvSpPr>
        <p:spPr/>
        <p:txBody>
          <a:bodyPr>
            <a:normAutofit/>
          </a:bodyPr>
          <a:lstStyle/>
          <a:p>
            <a:pPr algn="just"/>
            <a:r>
              <a:rPr lang="en-US" b="1" dirty="0" smtClean="0"/>
              <a:t>The Rendering Engine: </a:t>
            </a:r>
            <a:r>
              <a:rPr lang="en-US" dirty="0"/>
              <a:t>Different browsers use different rendering engines: Internet Explorer uses Trident, Firefox uses Gecko, Safari uses </a:t>
            </a:r>
            <a:r>
              <a:rPr lang="en-US" dirty="0" err="1"/>
              <a:t>WebKit</a:t>
            </a:r>
            <a:r>
              <a:rPr lang="en-US" dirty="0"/>
              <a:t>. Chrome and Opera </a:t>
            </a:r>
            <a:r>
              <a:rPr lang="en-US" dirty="0" smtClean="0"/>
              <a:t>uses </a:t>
            </a:r>
            <a:r>
              <a:rPr lang="en-US" dirty="0" err="1" smtClean="0"/>
              <a:t>WebKit</a:t>
            </a:r>
            <a:r>
              <a:rPr lang="en-US" dirty="0" smtClean="0"/>
              <a:t> (before is Blink).</a:t>
            </a:r>
            <a:endParaRPr lang="en-US" dirty="0"/>
          </a:p>
        </p:txBody>
      </p:sp>
      <p:sp>
        <p:nvSpPr>
          <p:cNvPr id="4" name="Slide Number Placeholder 3"/>
          <p:cNvSpPr>
            <a:spLocks noGrp="1"/>
          </p:cNvSpPr>
          <p:nvPr>
            <p:ph type="sldNum" sz="quarter" idx="12"/>
          </p:nvPr>
        </p:nvSpPr>
        <p:spPr/>
        <p:txBody>
          <a:bodyPr/>
          <a:lstStyle/>
          <a:p>
            <a:fld id="{C5A2534D-3980-4301-981F-A8F5F0EDCF21}" type="slidenum">
              <a:rPr lang="en-US" smtClean="0"/>
              <a:t>6</a:t>
            </a:fld>
            <a:endParaRPr lang="en-US"/>
          </a:p>
        </p:txBody>
      </p:sp>
    </p:spTree>
    <p:extLst>
      <p:ext uri="{BB962C8B-B14F-4D97-AF65-F5344CB8AC3E}">
        <p14:creationId xmlns:p14="http://schemas.microsoft.com/office/powerpoint/2010/main" val="3608124650"/>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The browser's main components</a:t>
            </a:r>
            <a:endParaRPr lang="en-US" dirty="0"/>
          </a:p>
        </p:txBody>
      </p:sp>
      <p:sp>
        <p:nvSpPr>
          <p:cNvPr id="3" name="Content Placeholder 2"/>
          <p:cNvSpPr>
            <a:spLocks noGrp="1"/>
          </p:cNvSpPr>
          <p:nvPr>
            <p:ph idx="1"/>
          </p:nvPr>
        </p:nvSpPr>
        <p:spPr/>
        <p:txBody>
          <a:bodyPr>
            <a:normAutofit/>
          </a:bodyPr>
          <a:lstStyle/>
          <a:p>
            <a:r>
              <a:rPr lang="en-US" b="1" dirty="0" smtClean="0"/>
              <a:t>The Networking: </a:t>
            </a:r>
            <a:r>
              <a:rPr lang="en-US" dirty="0" smtClean="0"/>
              <a:t>provides functionality to handle retrieve URLs using the common Internet protocols of HTTP and FTP. The Networking components handles all aspects of Internet communication and security, character set translations and MIME type resolution. The Network component may implement a cache of retrieved documents to minimize network traffic.</a:t>
            </a:r>
            <a:endParaRPr lang="en-US" dirty="0"/>
          </a:p>
        </p:txBody>
      </p:sp>
      <p:sp>
        <p:nvSpPr>
          <p:cNvPr id="4" name="Slide Number Placeholder 3"/>
          <p:cNvSpPr>
            <a:spLocks noGrp="1"/>
          </p:cNvSpPr>
          <p:nvPr>
            <p:ph type="sldNum" sz="quarter" idx="12"/>
          </p:nvPr>
        </p:nvSpPr>
        <p:spPr/>
        <p:txBody>
          <a:bodyPr/>
          <a:lstStyle/>
          <a:p>
            <a:fld id="{C5A2534D-3980-4301-981F-A8F5F0EDCF21}" type="slidenum">
              <a:rPr lang="en-US" smtClean="0"/>
              <a:t>7</a:t>
            </a:fld>
            <a:endParaRPr lang="en-US"/>
          </a:p>
        </p:txBody>
      </p:sp>
    </p:spTree>
    <p:extLst>
      <p:ext uri="{BB962C8B-B14F-4D97-AF65-F5344CB8AC3E}">
        <p14:creationId xmlns:p14="http://schemas.microsoft.com/office/powerpoint/2010/main" val="2622607116"/>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The browser's main components</a:t>
            </a:r>
            <a:endParaRPr lang="en-US" dirty="0"/>
          </a:p>
        </p:txBody>
      </p:sp>
      <p:sp>
        <p:nvSpPr>
          <p:cNvPr id="3" name="Content Placeholder 2"/>
          <p:cNvSpPr>
            <a:spLocks noGrp="1"/>
          </p:cNvSpPr>
          <p:nvPr>
            <p:ph idx="1"/>
          </p:nvPr>
        </p:nvSpPr>
        <p:spPr/>
        <p:txBody>
          <a:bodyPr>
            <a:normAutofit/>
          </a:bodyPr>
          <a:lstStyle/>
          <a:p>
            <a:r>
              <a:rPr lang="en-US" b="1" dirty="0" smtClean="0"/>
              <a:t>The JavaScript Interpreter: </a:t>
            </a:r>
            <a:r>
              <a:rPr lang="en-US" dirty="0" smtClean="0"/>
              <a:t>component executes the JavaScript code that is embedded in a website. Results of the execution a passed to the Rendering Engine for display. The Rendering Engine may disable various actions based on user defined properties. </a:t>
            </a:r>
            <a:endParaRPr lang="en-US" dirty="0"/>
          </a:p>
        </p:txBody>
      </p:sp>
      <p:sp>
        <p:nvSpPr>
          <p:cNvPr id="4" name="Slide Number Placeholder 3"/>
          <p:cNvSpPr>
            <a:spLocks noGrp="1"/>
          </p:cNvSpPr>
          <p:nvPr>
            <p:ph type="sldNum" sz="quarter" idx="12"/>
          </p:nvPr>
        </p:nvSpPr>
        <p:spPr/>
        <p:txBody>
          <a:bodyPr/>
          <a:lstStyle/>
          <a:p>
            <a:fld id="{C5A2534D-3980-4301-981F-A8F5F0EDCF21}" type="slidenum">
              <a:rPr lang="en-US" smtClean="0"/>
              <a:t>8</a:t>
            </a:fld>
            <a:endParaRPr lang="en-US"/>
          </a:p>
        </p:txBody>
      </p:sp>
    </p:spTree>
    <p:extLst>
      <p:ext uri="{BB962C8B-B14F-4D97-AF65-F5344CB8AC3E}">
        <p14:creationId xmlns:p14="http://schemas.microsoft.com/office/powerpoint/2010/main" val="1419566582"/>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The browser's main components</a:t>
            </a:r>
            <a:endParaRPr lang="en-US" dirty="0"/>
          </a:p>
        </p:txBody>
      </p:sp>
      <p:sp>
        <p:nvSpPr>
          <p:cNvPr id="3" name="Content Placeholder 2"/>
          <p:cNvSpPr>
            <a:spLocks noGrp="1"/>
          </p:cNvSpPr>
          <p:nvPr>
            <p:ph idx="1"/>
          </p:nvPr>
        </p:nvSpPr>
        <p:spPr/>
        <p:txBody>
          <a:bodyPr>
            <a:normAutofit/>
          </a:bodyPr>
          <a:lstStyle/>
          <a:p>
            <a:pPr algn="just"/>
            <a:r>
              <a:rPr lang="en-US" b="1" dirty="0" smtClean="0"/>
              <a:t>The UI Backend:</a:t>
            </a:r>
          </a:p>
          <a:p>
            <a:pPr lvl="1"/>
            <a:r>
              <a:rPr lang="en-US" dirty="0" smtClean="0"/>
              <a:t>Used </a:t>
            </a:r>
            <a:r>
              <a:rPr lang="en-US" dirty="0"/>
              <a:t>for drawing basic widgets like combo boxes and </a:t>
            </a:r>
            <a:r>
              <a:rPr lang="en-US" dirty="0" smtClean="0"/>
              <a:t>windows</a:t>
            </a:r>
          </a:p>
          <a:p>
            <a:pPr lvl="1"/>
            <a:r>
              <a:rPr lang="en-US" dirty="0"/>
              <a:t>Underneath it uses operating system user interface methods.</a:t>
            </a:r>
          </a:p>
        </p:txBody>
      </p:sp>
      <p:sp>
        <p:nvSpPr>
          <p:cNvPr id="4" name="Slide Number Placeholder 3"/>
          <p:cNvSpPr>
            <a:spLocks noGrp="1"/>
          </p:cNvSpPr>
          <p:nvPr>
            <p:ph type="sldNum" sz="quarter" idx="12"/>
          </p:nvPr>
        </p:nvSpPr>
        <p:spPr/>
        <p:txBody>
          <a:bodyPr/>
          <a:lstStyle/>
          <a:p>
            <a:fld id="{C5A2534D-3980-4301-981F-A8F5F0EDCF21}" type="slidenum">
              <a:rPr lang="en-US" smtClean="0"/>
              <a:t>9</a:t>
            </a:fld>
            <a:endParaRPr lang="en-US"/>
          </a:p>
        </p:txBody>
      </p:sp>
    </p:spTree>
    <p:extLst>
      <p:ext uri="{BB962C8B-B14F-4D97-AF65-F5344CB8AC3E}">
        <p14:creationId xmlns:p14="http://schemas.microsoft.com/office/powerpoint/2010/main" val="3217016049"/>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The browser's main components</a:t>
            </a:r>
            <a:endParaRPr lang="en-US" dirty="0"/>
          </a:p>
        </p:txBody>
      </p:sp>
      <p:sp>
        <p:nvSpPr>
          <p:cNvPr id="3" name="Content Placeholder 2"/>
          <p:cNvSpPr>
            <a:spLocks noGrp="1"/>
          </p:cNvSpPr>
          <p:nvPr>
            <p:ph idx="1"/>
          </p:nvPr>
        </p:nvSpPr>
        <p:spPr/>
        <p:txBody>
          <a:bodyPr>
            <a:normAutofit/>
          </a:bodyPr>
          <a:lstStyle/>
          <a:p>
            <a:pPr algn="just"/>
            <a:r>
              <a:rPr lang="en-US" b="1" dirty="0" smtClean="0"/>
              <a:t>The Data Storage: </a:t>
            </a:r>
            <a:r>
              <a:rPr lang="en-US" dirty="0" smtClean="0"/>
              <a:t>manages user data such as bookmarks, cookies and preferences. </a:t>
            </a:r>
            <a:r>
              <a:rPr lang="en-US" dirty="0"/>
              <a:t>The new HTML specification (HTML5) defines 'web database' which is a complete (although light) database in the browser.</a:t>
            </a:r>
          </a:p>
        </p:txBody>
      </p:sp>
      <p:sp>
        <p:nvSpPr>
          <p:cNvPr id="4" name="Slide Number Placeholder 3"/>
          <p:cNvSpPr>
            <a:spLocks noGrp="1"/>
          </p:cNvSpPr>
          <p:nvPr>
            <p:ph type="sldNum" sz="quarter" idx="12"/>
          </p:nvPr>
        </p:nvSpPr>
        <p:spPr/>
        <p:txBody>
          <a:bodyPr/>
          <a:lstStyle/>
          <a:p>
            <a:fld id="{C5A2534D-3980-4301-981F-A8F5F0EDCF21}" type="slidenum">
              <a:rPr lang="en-US" smtClean="0"/>
              <a:t>10</a:t>
            </a:fld>
            <a:endParaRPr lang="en-US"/>
          </a:p>
        </p:txBody>
      </p:sp>
    </p:spTree>
    <p:extLst>
      <p:ext uri="{BB962C8B-B14F-4D97-AF65-F5344CB8AC3E}">
        <p14:creationId xmlns:p14="http://schemas.microsoft.com/office/powerpoint/2010/main" val="1300756705"/>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The browser's main components</a:t>
            </a:r>
            <a:endParaRPr lang="en-US" dirty="0"/>
          </a:p>
        </p:txBody>
      </p:sp>
      <p:sp>
        <p:nvSpPr>
          <p:cNvPr id="3" name="Content Placeholder 2"/>
          <p:cNvSpPr>
            <a:spLocks noGrp="1"/>
          </p:cNvSpPr>
          <p:nvPr>
            <p:ph idx="1"/>
          </p:nvPr>
        </p:nvSpPr>
        <p:spPr/>
        <p:txBody>
          <a:bodyPr>
            <a:normAutofit/>
          </a:bodyPr>
          <a:lstStyle/>
          <a:p>
            <a:pPr marL="0" indent="0" algn="just">
              <a:buNone/>
            </a:pPr>
            <a:r>
              <a:rPr lang="en-US" i="1" dirty="0">
                <a:solidFill>
                  <a:schemeClr val="accent6">
                    <a:lumMod val="75000"/>
                  </a:schemeClr>
                </a:solidFill>
              </a:rPr>
              <a:t>It is important to note that browsers such as Chrome run multiple instances of the rendering engine: one for each tab. Each tab runs in a separate process.</a:t>
            </a:r>
          </a:p>
        </p:txBody>
      </p:sp>
      <p:sp>
        <p:nvSpPr>
          <p:cNvPr id="4" name="Slide Number Placeholder 3"/>
          <p:cNvSpPr>
            <a:spLocks noGrp="1"/>
          </p:cNvSpPr>
          <p:nvPr>
            <p:ph type="sldNum" sz="quarter" idx="12"/>
          </p:nvPr>
        </p:nvSpPr>
        <p:spPr/>
        <p:txBody>
          <a:bodyPr/>
          <a:lstStyle/>
          <a:p>
            <a:fld id="{C5A2534D-3980-4301-981F-A8F5F0EDCF21}" type="slidenum">
              <a:rPr lang="en-US" smtClean="0"/>
              <a:t>11</a:t>
            </a:fld>
            <a:endParaRPr lang="en-US"/>
          </a:p>
        </p:txBody>
      </p:sp>
    </p:spTree>
    <p:extLst>
      <p:ext uri="{BB962C8B-B14F-4D97-AF65-F5344CB8AC3E}">
        <p14:creationId xmlns:p14="http://schemas.microsoft.com/office/powerpoint/2010/main" val="3181230124"/>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Rendering Engine – Basic flow</a:t>
            </a:r>
            <a:endParaRPr lang="en-US" dirty="0"/>
          </a:p>
        </p:txBody>
      </p:sp>
      <p:sp>
        <p:nvSpPr>
          <p:cNvPr id="3" name="Content Placeholder 2"/>
          <p:cNvSpPr>
            <a:spLocks noGrp="1"/>
          </p:cNvSpPr>
          <p:nvPr>
            <p:ph idx="1"/>
          </p:nvPr>
        </p:nvSpPr>
        <p:spPr/>
        <p:txBody>
          <a:bodyPr/>
          <a:lstStyle/>
          <a:p>
            <a:r>
              <a:rPr lang="en-US" b="1" dirty="0" smtClean="0"/>
              <a:t>Step 1:</a:t>
            </a:r>
            <a:r>
              <a:rPr lang="en-US" dirty="0" smtClean="0"/>
              <a:t> Parsing the HTML document and convert elements to DOM nodes in a tree called the “</a:t>
            </a:r>
            <a:r>
              <a:rPr lang="en-US" b="1" dirty="0" smtClean="0"/>
              <a:t>content tree</a:t>
            </a:r>
            <a:r>
              <a:rPr lang="en-US" dirty="0" smtClean="0"/>
              <a:t>” – </a:t>
            </a:r>
            <a:r>
              <a:rPr lang="en-US" b="1" i="1" dirty="0" smtClean="0">
                <a:solidFill>
                  <a:schemeClr val="accent6">
                    <a:lumMod val="75000"/>
                  </a:schemeClr>
                </a:solidFill>
              </a:rPr>
              <a:t>HTML Parser</a:t>
            </a:r>
          </a:p>
          <a:p>
            <a:r>
              <a:rPr lang="en-US" b="1" dirty="0" smtClean="0"/>
              <a:t>Step 2:</a:t>
            </a:r>
            <a:r>
              <a:rPr lang="en-US" dirty="0" smtClean="0"/>
              <a:t> Parse the style data, both in external CSS files and in style element together with visual instructions in HTML will be used to create another tree, call “</a:t>
            </a:r>
            <a:r>
              <a:rPr lang="en-US" b="1" dirty="0" smtClean="0"/>
              <a:t>render tree</a:t>
            </a:r>
            <a:r>
              <a:rPr lang="en-US" dirty="0" smtClean="0"/>
              <a:t>” – </a:t>
            </a:r>
            <a:r>
              <a:rPr lang="en-US" b="1" i="1" dirty="0" smtClean="0">
                <a:solidFill>
                  <a:schemeClr val="accent6">
                    <a:lumMod val="75000"/>
                  </a:schemeClr>
                </a:solidFill>
              </a:rPr>
              <a:t>CSS Parser</a:t>
            </a:r>
            <a:endParaRPr lang="en-US" b="1" i="1" dirty="0">
              <a:solidFill>
                <a:schemeClr val="accent6">
                  <a:lumMod val="75000"/>
                </a:schemeClr>
              </a:solidFill>
            </a:endParaRPr>
          </a:p>
        </p:txBody>
      </p:sp>
      <p:sp>
        <p:nvSpPr>
          <p:cNvPr id="4" name="Slide Number Placeholder 3"/>
          <p:cNvSpPr>
            <a:spLocks noGrp="1"/>
          </p:cNvSpPr>
          <p:nvPr>
            <p:ph type="sldNum" sz="quarter" idx="12"/>
          </p:nvPr>
        </p:nvSpPr>
        <p:spPr/>
        <p:txBody>
          <a:bodyPr/>
          <a:lstStyle/>
          <a:p>
            <a:fld id="{C5A2534D-3980-4301-981F-A8F5F0EDCF21}" type="slidenum">
              <a:rPr lang="en-US" smtClean="0"/>
              <a:t>12</a:t>
            </a:fld>
            <a:endParaRPr lang="en-US"/>
          </a:p>
        </p:txBody>
      </p:sp>
    </p:spTree>
    <p:extLst>
      <p:ext uri="{BB962C8B-B14F-4D97-AF65-F5344CB8AC3E}">
        <p14:creationId xmlns:p14="http://schemas.microsoft.com/office/powerpoint/2010/main" val="3324160895"/>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Rendering Engine – Basic flow</a:t>
            </a:r>
            <a:endParaRPr lang="en-US" dirty="0"/>
          </a:p>
        </p:txBody>
      </p:sp>
      <p:sp>
        <p:nvSpPr>
          <p:cNvPr id="3" name="Content Placeholder 2"/>
          <p:cNvSpPr>
            <a:spLocks noGrp="1"/>
          </p:cNvSpPr>
          <p:nvPr>
            <p:ph idx="1"/>
          </p:nvPr>
        </p:nvSpPr>
        <p:spPr/>
        <p:txBody>
          <a:bodyPr/>
          <a:lstStyle/>
          <a:p>
            <a:r>
              <a:rPr lang="en-US" b="1" dirty="0" smtClean="0"/>
              <a:t>Step 3:</a:t>
            </a:r>
            <a:r>
              <a:rPr lang="en-US" dirty="0" smtClean="0"/>
              <a:t> </a:t>
            </a:r>
            <a:r>
              <a:rPr lang="en-US" dirty="0"/>
              <a:t>After the construction of the render tree it goes through a </a:t>
            </a:r>
            <a:r>
              <a:rPr lang="en-US" dirty="0" smtClean="0"/>
              <a:t>“layout" </a:t>
            </a:r>
            <a:r>
              <a:rPr lang="en-US" dirty="0"/>
              <a:t>process. This means giving each node the exact coordinates where it should appear on the </a:t>
            </a:r>
            <a:r>
              <a:rPr lang="en-US" dirty="0" smtClean="0"/>
              <a:t>screen</a:t>
            </a:r>
          </a:p>
          <a:p>
            <a:r>
              <a:rPr lang="en-US" b="1" dirty="0" smtClean="0"/>
              <a:t>Step 4:</a:t>
            </a:r>
            <a:r>
              <a:rPr lang="en-US" dirty="0" smtClean="0"/>
              <a:t> </a:t>
            </a:r>
            <a:r>
              <a:rPr lang="en-US" dirty="0"/>
              <a:t>The next stage </a:t>
            </a:r>
            <a:r>
              <a:rPr lang="en-US" dirty="0" smtClean="0"/>
              <a:t>is painting–the </a:t>
            </a:r>
            <a:r>
              <a:rPr lang="en-US" dirty="0"/>
              <a:t>render tree will be traversed and each node will be painted using the UI backend </a:t>
            </a:r>
            <a:r>
              <a:rPr lang="en-US" dirty="0" smtClean="0"/>
              <a:t>layer - </a:t>
            </a:r>
            <a:r>
              <a:rPr lang="en-US" b="1" i="1" dirty="0" smtClean="0">
                <a:solidFill>
                  <a:schemeClr val="accent6">
                    <a:lumMod val="75000"/>
                  </a:schemeClr>
                </a:solidFill>
              </a:rPr>
              <a:t>Painting</a:t>
            </a:r>
            <a:r>
              <a:rPr lang="en-US" dirty="0" smtClean="0"/>
              <a:t>.</a:t>
            </a:r>
            <a:endParaRPr lang="en-US" dirty="0"/>
          </a:p>
        </p:txBody>
      </p:sp>
      <p:sp>
        <p:nvSpPr>
          <p:cNvPr id="4" name="Slide Number Placeholder 3"/>
          <p:cNvSpPr>
            <a:spLocks noGrp="1"/>
          </p:cNvSpPr>
          <p:nvPr>
            <p:ph type="sldNum" sz="quarter" idx="12"/>
          </p:nvPr>
        </p:nvSpPr>
        <p:spPr/>
        <p:txBody>
          <a:bodyPr/>
          <a:lstStyle/>
          <a:p>
            <a:fld id="{C5A2534D-3980-4301-981F-A8F5F0EDCF21}" type="slidenum">
              <a:rPr lang="en-US" smtClean="0"/>
              <a:t>13</a:t>
            </a:fld>
            <a:endParaRPr lang="en-US"/>
          </a:p>
        </p:txBody>
      </p:sp>
    </p:spTree>
    <p:extLst>
      <p:ext uri="{BB962C8B-B14F-4D97-AF65-F5344CB8AC3E}">
        <p14:creationId xmlns:p14="http://schemas.microsoft.com/office/powerpoint/2010/main" val="3403278227"/>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Rendering Engine</a:t>
            </a:r>
            <a:endParaRPr lang="en-US" dirty="0"/>
          </a:p>
        </p:txBody>
      </p:sp>
      <p:sp>
        <p:nvSpPr>
          <p:cNvPr id="3" name="Content Placeholder 2"/>
          <p:cNvSpPr>
            <a:spLocks noGrp="1"/>
          </p:cNvSpPr>
          <p:nvPr>
            <p:ph idx="1"/>
          </p:nvPr>
        </p:nvSpPr>
        <p:spPr>
          <a:xfrm>
            <a:off x="457200" y="5638800"/>
            <a:ext cx="8229600" cy="487363"/>
          </a:xfrm>
        </p:spPr>
        <p:txBody>
          <a:bodyPr>
            <a:noAutofit/>
          </a:bodyPr>
          <a:lstStyle/>
          <a:p>
            <a:pPr marL="0" indent="0" algn="ctr">
              <a:buNone/>
            </a:pPr>
            <a:r>
              <a:rPr lang="en-US" sz="1800" b="1" i="1" dirty="0" err="1" smtClean="0"/>
              <a:t>WebKit</a:t>
            </a:r>
            <a:r>
              <a:rPr lang="en-US" sz="1800" b="1" i="1" dirty="0" smtClean="0"/>
              <a:t> main flow</a:t>
            </a:r>
            <a:endParaRPr lang="en-US" sz="1800" b="1" i="1" dirty="0"/>
          </a:p>
        </p:txBody>
      </p:sp>
      <p:pic>
        <p:nvPicPr>
          <p:cNvPr id="5122" name="Picture 2" descr="http://www.html5rocks.com/en/tutorials/internals/howbrowserswork/webkitflow.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85800" y="1600200"/>
            <a:ext cx="8061907" cy="3733800"/>
          </a:xfrm>
          <a:prstGeom prst="rect">
            <a:avLst/>
          </a:prstGeom>
          <a:noFill/>
          <a:extLst>
            <a:ext uri="{909E8E84-426E-40DD-AFC4-6F175D3DCCD1}">
              <a14:hiddenFill xmlns:a14="http://schemas.microsoft.com/office/drawing/2010/main">
                <a:solidFill>
                  <a:srgbClr val="FFFFFF"/>
                </a:solidFill>
              </a14:hiddenFill>
            </a:ext>
          </a:extLst>
        </p:spPr>
      </p:pic>
      <p:sp>
        <p:nvSpPr>
          <p:cNvPr id="4" name="Slide Number Placeholder 3"/>
          <p:cNvSpPr>
            <a:spLocks noGrp="1"/>
          </p:cNvSpPr>
          <p:nvPr>
            <p:ph type="sldNum" sz="quarter" idx="12"/>
          </p:nvPr>
        </p:nvSpPr>
        <p:spPr/>
        <p:txBody>
          <a:bodyPr/>
          <a:lstStyle/>
          <a:p>
            <a:fld id="{C5A2534D-3980-4301-981F-A8F5F0EDCF21}" type="slidenum">
              <a:rPr lang="en-US" smtClean="0"/>
              <a:t>14</a:t>
            </a:fld>
            <a:endParaRPr lang="en-US"/>
          </a:p>
        </p:txBody>
      </p:sp>
    </p:spTree>
    <p:extLst>
      <p:ext uri="{BB962C8B-B14F-4D97-AF65-F5344CB8AC3E}">
        <p14:creationId xmlns:p14="http://schemas.microsoft.com/office/powerpoint/2010/main" val="1164855879"/>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Rendering Engine Keys</a:t>
            </a:r>
            <a:endParaRPr lang="en-US" dirty="0"/>
          </a:p>
        </p:txBody>
      </p:sp>
      <p:sp>
        <p:nvSpPr>
          <p:cNvPr id="3" name="Content Placeholder 2"/>
          <p:cNvSpPr>
            <a:spLocks noGrp="1"/>
          </p:cNvSpPr>
          <p:nvPr>
            <p:ph idx="1"/>
          </p:nvPr>
        </p:nvSpPr>
        <p:spPr/>
        <p:txBody>
          <a:bodyPr>
            <a:normAutofit lnSpcReduction="10000"/>
          </a:bodyPr>
          <a:lstStyle/>
          <a:p>
            <a:r>
              <a:rPr lang="en-US" b="1" dirty="0" smtClean="0"/>
              <a:t>HTML Parser:</a:t>
            </a:r>
            <a:r>
              <a:rPr lang="en-US" dirty="0" smtClean="0"/>
              <a:t> </a:t>
            </a:r>
            <a:r>
              <a:rPr lang="en-US" dirty="0"/>
              <a:t>The job of the HTML parser is to parse the </a:t>
            </a:r>
            <a:r>
              <a:rPr lang="en-US" dirty="0" smtClean="0"/>
              <a:t>HTML </a:t>
            </a:r>
            <a:r>
              <a:rPr lang="en-US" dirty="0"/>
              <a:t>markup into a parse tree</a:t>
            </a:r>
            <a:r>
              <a:rPr lang="en-US" dirty="0" smtClean="0"/>
              <a:t>.</a:t>
            </a:r>
          </a:p>
          <a:p>
            <a:r>
              <a:rPr lang="en-US" b="1" dirty="0" smtClean="0">
                <a:hlinkClick r:id="rId2"/>
              </a:rPr>
              <a:t>DOM</a:t>
            </a:r>
            <a:r>
              <a:rPr lang="en-US" b="1" dirty="0" smtClean="0"/>
              <a:t>: </a:t>
            </a:r>
            <a:r>
              <a:rPr lang="en-US" dirty="0"/>
              <a:t>The output tree (the "parse tree") is a tree of DOM element and attribute nodes. </a:t>
            </a:r>
            <a:endParaRPr lang="en-US" dirty="0" smtClean="0"/>
          </a:p>
          <a:p>
            <a:r>
              <a:rPr lang="en-US" b="1" dirty="0" smtClean="0"/>
              <a:t>CSS Parsing: </a:t>
            </a:r>
            <a:r>
              <a:rPr lang="en-US" dirty="0"/>
              <a:t>CSS is a context free grammar and can be parsed using the types of parsers described in the introduction. In fact the </a:t>
            </a:r>
            <a:r>
              <a:rPr lang="en-US" dirty="0">
                <a:hlinkClick r:id="rId3"/>
              </a:rPr>
              <a:t>CSS specification defines CSS lexical and syntax grammar</a:t>
            </a:r>
            <a:r>
              <a:rPr lang="en-US" dirty="0"/>
              <a:t>.</a:t>
            </a:r>
            <a:endParaRPr lang="en-US" b="1" dirty="0"/>
          </a:p>
        </p:txBody>
      </p:sp>
      <p:sp>
        <p:nvSpPr>
          <p:cNvPr id="4" name="Slide Number Placeholder 3"/>
          <p:cNvSpPr>
            <a:spLocks noGrp="1"/>
          </p:cNvSpPr>
          <p:nvPr>
            <p:ph type="sldNum" sz="quarter" idx="12"/>
          </p:nvPr>
        </p:nvSpPr>
        <p:spPr/>
        <p:txBody>
          <a:bodyPr/>
          <a:lstStyle/>
          <a:p>
            <a:fld id="{C5A2534D-3980-4301-981F-A8F5F0EDCF21}" type="slidenum">
              <a:rPr lang="en-US" smtClean="0"/>
              <a:t>15</a:t>
            </a:fld>
            <a:endParaRPr lang="en-US"/>
          </a:p>
        </p:txBody>
      </p:sp>
    </p:spTree>
    <p:extLst>
      <p:ext uri="{BB962C8B-B14F-4D97-AF65-F5344CB8AC3E}">
        <p14:creationId xmlns:p14="http://schemas.microsoft.com/office/powerpoint/2010/main" val="1582095468"/>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Primary Rendering Engine</a:t>
            </a:r>
            <a:endParaRPr lang="en-US" dirty="0"/>
          </a:p>
        </p:txBody>
      </p:sp>
      <p:sp>
        <p:nvSpPr>
          <p:cNvPr id="4" name="Content Placeholder 3"/>
          <p:cNvSpPr>
            <a:spLocks noGrp="1"/>
          </p:cNvSpPr>
          <p:nvPr>
            <p:ph idx="1"/>
          </p:nvPr>
        </p:nvSpPr>
        <p:spPr/>
        <p:txBody>
          <a:bodyPr/>
          <a:lstStyle/>
          <a:p>
            <a:endParaRPr lang="en-US" dirty="0"/>
          </a:p>
        </p:txBody>
      </p:sp>
      <p:pic>
        <p:nvPicPr>
          <p:cNvPr id="10242"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38138" y="1809750"/>
            <a:ext cx="8467725" cy="40576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3" name="Slide Number Placeholder 2"/>
          <p:cNvSpPr>
            <a:spLocks noGrp="1"/>
          </p:cNvSpPr>
          <p:nvPr>
            <p:ph type="sldNum" sz="quarter" idx="12"/>
          </p:nvPr>
        </p:nvSpPr>
        <p:spPr/>
        <p:txBody>
          <a:bodyPr/>
          <a:lstStyle/>
          <a:p>
            <a:fld id="{C5A2534D-3980-4301-981F-A8F5F0EDCF21}" type="slidenum">
              <a:rPr lang="en-US" smtClean="0"/>
              <a:t>16</a:t>
            </a:fld>
            <a:endParaRPr lang="en-US"/>
          </a:p>
        </p:txBody>
      </p:sp>
    </p:spTree>
    <p:extLst>
      <p:ext uri="{BB962C8B-B14F-4D97-AF65-F5344CB8AC3E}">
        <p14:creationId xmlns:p14="http://schemas.microsoft.com/office/powerpoint/2010/main" val="1074583230"/>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smtClean="0"/>
              <a:t>WebKit</a:t>
            </a:r>
            <a:r>
              <a:rPr lang="en-US" dirty="0" smtClean="0"/>
              <a:t> Rendering Engine</a:t>
            </a:r>
            <a:endParaRPr lang="en-US" dirty="0"/>
          </a:p>
        </p:txBody>
      </p:sp>
      <p:sp>
        <p:nvSpPr>
          <p:cNvPr id="3" name="Content Placeholder 2"/>
          <p:cNvSpPr>
            <a:spLocks noGrp="1"/>
          </p:cNvSpPr>
          <p:nvPr>
            <p:ph idx="1"/>
          </p:nvPr>
        </p:nvSpPr>
        <p:spPr>
          <a:xfrm>
            <a:off x="457200" y="1371600"/>
            <a:ext cx="8229600" cy="4525963"/>
          </a:xfrm>
        </p:spPr>
        <p:txBody>
          <a:bodyPr>
            <a:normAutofit/>
          </a:bodyPr>
          <a:lstStyle/>
          <a:p>
            <a:pPr marL="0" indent="0">
              <a:buNone/>
            </a:pPr>
            <a:r>
              <a:rPr lang="en-US" sz="2400" dirty="0" smtClean="0"/>
              <a:t>Is an open source project to layout web pages, taken from Apple.</a:t>
            </a:r>
          </a:p>
          <a:p>
            <a:pPr lvl="1"/>
            <a:endParaRPr lang="en-US" dirty="0" smtClean="0"/>
          </a:p>
          <a:p>
            <a:pPr lvl="1"/>
            <a:endParaRPr lang="en-US" dirty="0"/>
          </a:p>
        </p:txBody>
      </p:sp>
      <p:pic>
        <p:nvPicPr>
          <p:cNvPr id="4" name="Picture 3" descr="F:\LongTV\Documents\WebBrowser Component\webkit-diagram.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765388" y="1905000"/>
            <a:ext cx="5549812" cy="4724400"/>
          </a:xfrm>
          <a:prstGeom prst="rect">
            <a:avLst/>
          </a:prstGeom>
          <a:noFill/>
          <a:extLst>
            <a:ext uri="{909E8E84-426E-40DD-AFC4-6F175D3DCCD1}">
              <a14:hiddenFill xmlns:a14="http://schemas.microsoft.com/office/drawing/2010/main">
                <a:solidFill>
                  <a:srgbClr val="FFFFFF"/>
                </a:solidFill>
              </a14:hiddenFill>
            </a:ext>
          </a:extLst>
        </p:spPr>
      </p:pic>
      <p:sp>
        <p:nvSpPr>
          <p:cNvPr id="5" name="Slide Number Placeholder 4"/>
          <p:cNvSpPr>
            <a:spLocks noGrp="1"/>
          </p:cNvSpPr>
          <p:nvPr>
            <p:ph type="sldNum" sz="quarter" idx="12"/>
          </p:nvPr>
        </p:nvSpPr>
        <p:spPr/>
        <p:txBody>
          <a:bodyPr/>
          <a:lstStyle/>
          <a:p>
            <a:fld id="{C5A2534D-3980-4301-981F-A8F5F0EDCF21}" type="slidenum">
              <a:rPr lang="en-US" smtClean="0"/>
              <a:t>17</a:t>
            </a:fld>
            <a:endParaRPr lang="en-US"/>
          </a:p>
        </p:txBody>
      </p:sp>
    </p:spTree>
    <p:extLst>
      <p:ext uri="{BB962C8B-B14F-4D97-AF65-F5344CB8AC3E}">
        <p14:creationId xmlns:p14="http://schemas.microsoft.com/office/powerpoint/2010/main" val="1025118781"/>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smtClean="0"/>
              <a:t>WebKit</a:t>
            </a:r>
            <a:r>
              <a:rPr lang="en-US" dirty="0" smtClean="0"/>
              <a:t> Rendering Engine</a:t>
            </a:r>
            <a:endParaRPr lang="en-US" dirty="0"/>
          </a:p>
        </p:txBody>
      </p:sp>
      <p:sp>
        <p:nvSpPr>
          <p:cNvPr id="5" name="Content Placeholder 4"/>
          <p:cNvSpPr>
            <a:spLocks noGrp="1"/>
          </p:cNvSpPr>
          <p:nvPr>
            <p:ph idx="1"/>
          </p:nvPr>
        </p:nvSpPr>
        <p:spPr/>
        <p:txBody>
          <a:bodyPr>
            <a:normAutofit lnSpcReduction="10000"/>
          </a:bodyPr>
          <a:lstStyle/>
          <a:p>
            <a:r>
              <a:rPr lang="en-US" sz="2800" b="1" dirty="0" err="1" smtClean="0"/>
              <a:t>WebKit</a:t>
            </a:r>
            <a:r>
              <a:rPr lang="en-US" sz="2800" b="1" dirty="0" smtClean="0"/>
              <a:t> embedding API:  </a:t>
            </a:r>
            <a:r>
              <a:rPr lang="en-US" sz="2800" dirty="0" smtClean="0"/>
              <a:t>interface between rendering engine and Browser UI</a:t>
            </a:r>
            <a:endParaRPr lang="en-US" sz="2800" b="1" dirty="0" smtClean="0"/>
          </a:p>
          <a:p>
            <a:r>
              <a:rPr lang="en-US" sz="2800" b="1" dirty="0" err="1" smtClean="0"/>
              <a:t>WebCore</a:t>
            </a:r>
            <a:r>
              <a:rPr lang="en-US" sz="2800" b="1" dirty="0" smtClean="0"/>
              <a:t>:</a:t>
            </a:r>
            <a:r>
              <a:rPr lang="en-US" sz="2800" dirty="0" smtClean="0"/>
              <a:t> is application logic: loading, parsing, layout, style resolution, painting, event handling, editing, </a:t>
            </a:r>
            <a:r>
              <a:rPr lang="en-US" sz="2800" dirty="0" err="1" smtClean="0"/>
              <a:t>javascript</a:t>
            </a:r>
            <a:r>
              <a:rPr lang="en-US" sz="2800" dirty="0" smtClean="0"/>
              <a:t> bindings</a:t>
            </a:r>
          </a:p>
          <a:p>
            <a:r>
              <a:rPr lang="en-US" sz="2800" b="1" dirty="0" err="1" smtClean="0"/>
              <a:t>JSCore</a:t>
            </a:r>
            <a:r>
              <a:rPr lang="en-US" sz="2800" b="1" dirty="0" smtClean="0"/>
              <a:t> (JavaScript Engine): </a:t>
            </a:r>
            <a:r>
              <a:rPr lang="en-US" sz="2800" dirty="0" smtClean="0"/>
              <a:t>V8 or </a:t>
            </a:r>
            <a:r>
              <a:rPr lang="en-US" sz="2800" dirty="0" err="1" smtClean="0"/>
              <a:t>JavaScriptCore</a:t>
            </a:r>
            <a:r>
              <a:rPr lang="en-US" sz="2800" dirty="0" smtClean="0"/>
              <a:t>, parses and executes page logic allows DOM manipulation</a:t>
            </a:r>
          </a:p>
          <a:p>
            <a:r>
              <a:rPr lang="en-US" sz="2800" b="1" dirty="0" smtClean="0"/>
              <a:t>Platform API: </a:t>
            </a:r>
            <a:r>
              <a:rPr lang="en-US" sz="2800" dirty="0" smtClean="0"/>
              <a:t>Network stack, Graphics library, Font engine, Native widgets …</a:t>
            </a:r>
            <a:endParaRPr lang="en-US" sz="2800" b="1" dirty="0" smtClean="0"/>
          </a:p>
          <a:p>
            <a:endParaRPr lang="en-US" sz="2800" b="1" dirty="0"/>
          </a:p>
        </p:txBody>
      </p:sp>
      <p:sp>
        <p:nvSpPr>
          <p:cNvPr id="3" name="Slide Number Placeholder 2"/>
          <p:cNvSpPr>
            <a:spLocks noGrp="1"/>
          </p:cNvSpPr>
          <p:nvPr>
            <p:ph type="sldNum" sz="quarter" idx="12"/>
          </p:nvPr>
        </p:nvSpPr>
        <p:spPr/>
        <p:txBody>
          <a:bodyPr/>
          <a:lstStyle/>
          <a:p>
            <a:fld id="{C5A2534D-3980-4301-981F-A8F5F0EDCF21}" type="slidenum">
              <a:rPr lang="en-US" smtClean="0"/>
              <a:t>18</a:t>
            </a:fld>
            <a:endParaRPr lang="en-US"/>
          </a:p>
        </p:txBody>
      </p:sp>
    </p:spTree>
    <p:extLst>
      <p:ext uri="{BB962C8B-B14F-4D97-AF65-F5344CB8AC3E}">
        <p14:creationId xmlns:p14="http://schemas.microsoft.com/office/powerpoint/2010/main" val="681594168"/>
      </p:ext>
    </p:extLst>
  </p:cSld>
  <p:clrMapOvr>
    <a:masterClrMapping/>
  </p:clrMapOvr>
  <p:timing>
    <p:tnLst>
      <p:par>
        <p:cTn id="1" dur="indefinite" restart="never" nodeType="tmRoot"/>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669</TotalTime>
  <Words>742</Words>
  <Application>Microsoft Office PowerPoint</Application>
  <PresentationFormat>On-screen Show (4:3)</PresentationFormat>
  <Paragraphs>60</Paragraphs>
  <Slides>18</Slides>
  <Notes>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18</vt:i4>
      </vt:variant>
    </vt:vector>
  </HeadingPairs>
  <TitlesOfParts>
    <vt:vector size="21" baseType="lpstr">
      <vt:lpstr>Arial</vt:lpstr>
      <vt:lpstr>Calibri</vt:lpstr>
      <vt:lpstr>Office Theme</vt:lpstr>
      <vt:lpstr>Web-Browser Architecture</vt:lpstr>
      <vt:lpstr>The browser's main components</vt:lpstr>
      <vt:lpstr>The browser's main components</vt:lpstr>
      <vt:lpstr>The browser's main components</vt:lpstr>
      <vt:lpstr>The browser's main components</vt:lpstr>
      <vt:lpstr>The browser's main components</vt:lpstr>
      <vt:lpstr>The browser's main components</vt:lpstr>
      <vt:lpstr>The browser's main components</vt:lpstr>
      <vt:lpstr>The browser's main components</vt:lpstr>
      <vt:lpstr>The browser's main components</vt:lpstr>
      <vt:lpstr>The browser's main components</vt:lpstr>
      <vt:lpstr>Rendering Engine – Basic flow</vt:lpstr>
      <vt:lpstr>Rendering Engine – Basic flow</vt:lpstr>
      <vt:lpstr>Rendering Engine</vt:lpstr>
      <vt:lpstr>Rendering Engine Keys</vt:lpstr>
      <vt:lpstr>Primary Rendering Engine</vt:lpstr>
      <vt:lpstr>WebKit Rendering Engine</vt:lpstr>
      <vt:lpstr>WebKit Rendering Engine</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Component of Web-Browser</dc:title>
  <dc:creator>longtv</dc:creator>
  <cp:lastModifiedBy>Windows User</cp:lastModifiedBy>
  <cp:revision>56</cp:revision>
  <dcterms:created xsi:type="dcterms:W3CDTF">2015-05-22T02:16:31Z</dcterms:created>
  <dcterms:modified xsi:type="dcterms:W3CDTF">2024-03-26T07:07:01Z</dcterms:modified>
</cp:coreProperties>
</file>
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1" r:id="rId5"/>
    <p:sldId id="262" r:id="rId6"/>
    <p:sldId id="263" r:id="rId7"/>
    <p:sldId id="264" r:id="rId8"/>
    <p:sldId id="265" r:id="rId9"/>
    <p:sldId id="266" r:id="rId10"/>
    <p:sldId id="268"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05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D13B850-0106-45AE-9BFA-D9397631D671}" type="datetimeFigureOut">
              <a:rPr lang="en-US" smtClean="0"/>
              <a:pPr/>
              <a:t>05/22/2019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A51CF-22BF-4B3C-8A27-8858A8A111B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13B850-0106-45AE-9BFA-D9397631D671}" type="datetimeFigureOut">
              <a:rPr lang="en-US" smtClean="0"/>
              <a:pPr/>
              <a:t>05/22/2019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A51CF-22BF-4B3C-8A27-8858A8A111B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13B850-0106-45AE-9BFA-D9397631D671}" type="datetimeFigureOut">
              <a:rPr lang="en-US" smtClean="0"/>
              <a:pPr/>
              <a:t>05/22/2019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A51CF-22BF-4B3C-8A27-8858A8A111B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D13B850-0106-45AE-9BFA-D9397631D671}" type="datetimeFigureOut">
              <a:rPr lang="en-US" smtClean="0"/>
              <a:pPr/>
              <a:t>05/22/2019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1A51CF-22BF-4B3C-8A27-8858A8A111B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D13B850-0106-45AE-9BFA-D9397631D671}" type="datetimeFigureOut">
              <a:rPr lang="en-US" smtClean="0"/>
              <a:pPr/>
              <a:t>05/22/2019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1A51CF-22BF-4B3C-8A27-8858A8A111B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D13B850-0106-45AE-9BFA-D9397631D671}" type="datetimeFigureOut">
              <a:rPr lang="en-US" smtClean="0"/>
              <a:pPr/>
              <a:t>05/22/2019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1A51CF-22BF-4B3C-8A27-8858A8A111B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13B850-0106-45AE-9BFA-D9397631D671}" type="datetimeFigureOut">
              <a:rPr lang="en-US" smtClean="0"/>
              <a:pPr/>
              <a:t>05/22/2019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1A51CF-22BF-4B3C-8A27-8858A8A111B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13B850-0106-45AE-9BFA-D9397631D671}" type="datetimeFigureOut">
              <a:rPr lang="en-US" smtClean="0"/>
              <a:pPr/>
              <a:t>05/22/2019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1A51CF-22BF-4B3C-8A27-8858A8A111B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13B850-0106-45AE-9BFA-D9397631D671}" type="datetimeFigureOut">
              <a:rPr lang="en-US" smtClean="0"/>
              <a:pPr/>
              <a:t>05/22/2019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1A51CF-22BF-4B3C-8A27-8858A8A111B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13B850-0106-45AE-9BFA-D9397631D671}" type="datetimeFigureOut">
              <a:rPr lang="en-US" smtClean="0"/>
              <a:pPr/>
              <a:t>05/22/2019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A51CF-22BF-4B3C-8A27-8858A8A111B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13B850-0106-45AE-9BFA-D9397631D671}" type="datetimeFigureOut">
              <a:rPr lang="en-US" smtClean="0"/>
              <a:pPr/>
              <a:t>05/22/2019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A51CF-22BF-4B3C-8A27-8858A8A111B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13B850-0106-45AE-9BFA-D9397631D671}" type="datetimeFigureOut">
              <a:rPr lang="en-US" smtClean="0"/>
              <a:pPr/>
              <a:t>05/22/2019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1A51CF-22BF-4B3C-8A27-8858A8A111B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7772400" cy="1470025"/>
          </a:xfrm>
        </p:spPr>
        <p:txBody>
          <a:bodyPr>
            <a:normAutofit/>
          </a:bodyPr>
          <a:lstStyle/>
          <a:p>
            <a:r>
              <a:rPr lang="en-US" sz="6000" b="1" i="1" dirty="0">
                <a:solidFill>
                  <a:srgbClr val="C00000"/>
                </a:solidFill>
              </a:rPr>
              <a:t>Web Browser</a:t>
            </a:r>
          </a:p>
        </p:txBody>
      </p:sp>
      <p:sp>
        <p:nvSpPr>
          <p:cNvPr id="3" name="Subtitle 2"/>
          <p:cNvSpPr>
            <a:spLocks noGrp="1"/>
          </p:cNvSpPr>
          <p:nvPr>
            <p:ph type="subTitle" idx="1"/>
          </p:nvPr>
        </p:nvSpPr>
        <p:spPr>
          <a:xfrm>
            <a:off x="228600" y="2286000"/>
            <a:ext cx="8534400" cy="3429000"/>
          </a:xfrm>
        </p:spPr>
        <p:txBody>
          <a:bodyPr>
            <a:normAutofit/>
          </a:bodyPr>
          <a:lstStyle/>
          <a:p>
            <a:pPr algn="just">
              <a:buFont typeface="Wingdings" pitchFamily="2" charset="2"/>
              <a:buChar char="q"/>
            </a:pPr>
            <a:r>
              <a:rPr lang="en-US" i="1" dirty="0">
                <a:solidFill>
                  <a:srgbClr val="002060"/>
                </a:solidFill>
              </a:rPr>
              <a:t>    Web Client Interface.</a:t>
            </a:r>
          </a:p>
          <a:p>
            <a:pPr algn="just">
              <a:buFont typeface="Wingdings" pitchFamily="2" charset="2"/>
              <a:buChar char="q"/>
            </a:pPr>
            <a:r>
              <a:rPr lang="en-US" i="1" dirty="0">
                <a:solidFill>
                  <a:srgbClr val="002060"/>
                </a:solidFill>
              </a:rPr>
              <a:t>    Provides Interaction with Web Server through</a:t>
            </a:r>
          </a:p>
          <a:p>
            <a:pPr algn="just"/>
            <a:r>
              <a:rPr lang="en-US" i="1" dirty="0">
                <a:solidFill>
                  <a:srgbClr val="002060"/>
                </a:solidFill>
              </a:rPr>
              <a:t>       Proxies (</a:t>
            </a:r>
            <a:r>
              <a:rPr lang="en-US" sz="2400" i="1" dirty="0">
                <a:solidFill>
                  <a:srgbClr val="002060"/>
                </a:solidFill>
              </a:rPr>
              <a:t>gateways through which requests and responses</a:t>
            </a:r>
          </a:p>
          <a:p>
            <a:pPr algn="just"/>
            <a:r>
              <a:rPr lang="en-US" sz="2400" i="1" dirty="0">
                <a:solidFill>
                  <a:srgbClr val="002060"/>
                </a:solidFill>
              </a:rPr>
              <a:t>		 pass between servers and clients to enhance </a:t>
            </a:r>
          </a:p>
          <a:p>
            <a:pPr algn="just"/>
            <a:r>
              <a:rPr lang="en-US" sz="2400" i="1" dirty="0">
                <a:solidFill>
                  <a:srgbClr val="002060"/>
                </a:solidFill>
              </a:rPr>
              <a:t>		security and performance</a:t>
            </a:r>
            <a:r>
              <a:rPr lang="en-US" i="1" dirty="0">
                <a:solidFill>
                  <a:srgbClr val="002060"/>
                </a:solidFill>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u="sng" dirty="0"/>
              <a:t>Main Responsibilities of a Browser</a:t>
            </a:r>
          </a:p>
        </p:txBody>
      </p:sp>
      <p:sp>
        <p:nvSpPr>
          <p:cNvPr id="3" name="Content Placeholder 2"/>
          <p:cNvSpPr>
            <a:spLocks noGrp="1"/>
          </p:cNvSpPr>
          <p:nvPr>
            <p:ph idx="1"/>
          </p:nvPr>
        </p:nvSpPr>
        <p:spPr>
          <a:xfrm>
            <a:off x="381000" y="1493837"/>
            <a:ext cx="8229600" cy="4525963"/>
          </a:xfrm>
        </p:spPr>
        <p:txBody>
          <a:bodyPr>
            <a:normAutofit fontScale="92500" lnSpcReduction="10000"/>
          </a:bodyPr>
          <a:lstStyle/>
          <a:p>
            <a:pPr algn="just"/>
            <a:r>
              <a:rPr lang="en-US" dirty="0"/>
              <a:t>Generate and send requests to Web servers on the user’s behalf.</a:t>
            </a:r>
          </a:p>
          <a:p>
            <a:pPr algn="just"/>
            <a:r>
              <a:rPr lang="en-US" dirty="0"/>
              <a:t>Accept responses delivered by Web servers and interpret them to produce the visual representation to be viewed by the user. </a:t>
            </a:r>
          </a:p>
          <a:p>
            <a:pPr algn="just"/>
            <a:r>
              <a:rPr lang="en-US" dirty="0"/>
              <a:t>Render the results in the browser window or through a third party tool, depending on the content type of the response.</a:t>
            </a:r>
          </a:p>
          <a:p>
            <a:pPr algn="just"/>
            <a:r>
              <a:rPr lang="en-US" b="1" i="1" dirty="0">
                <a:solidFill>
                  <a:srgbClr val="002060"/>
                </a:solidFill>
              </a:rPr>
              <a:t>Basic Tasks: Caching, Authentication,  State maintenance,  dealing with errors etc.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u="sng" dirty="0">
                <a:solidFill>
                  <a:srgbClr val="002060"/>
                </a:solidFill>
              </a:rPr>
              <a:t>ARCHITECTURAL CONSIDERATIONS:</a:t>
            </a:r>
          </a:p>
        </p:txBody>
      </p:sp>
      <p:sp>
        <p:nvSpPr>
          <p:cNvPr id="3" name="Content Placeholder 2"/>
          <p:cNvSpPr>
            <a:spLocks noGrp="1"/>
          </p:cNvSpPr>
          <p:nvPr>
            <p:ph idx="1"/>
          </p:nvPr>
        </p:nvSpPr>
        <p:spPr>
          <a:xfrm>
            <a:off x="228600" y="990600"/>
            <a:ext cx="8763000" cy="5638800"/>
          </a:xfrm>
        </p:spPr>
        <p:txBody>
          <a:bodyPr>
            <a:normAutofit fontScale="92500" lnSpcReduction="10000"/>
          </a:bodyPr>
          <a:lstStyle/>
          <a:p>
            <a:pPr algn="just"/>
            <a:r>
              <a:rPr lang="en-US" dirty="0"/>
              <a:t>Browser Architectural means:</a:t>
            </a:r>
          </a:p>
          <a:p>
            <a:pPr lvl="1" algn="just"/>
            <a:r>
              <a:rPr lang="en-US" dirty="0"/>
              <a:t>putting together requirements for the architecture of a Web browser. </a:t>
            </a:r>
          </a:p>
          <a:p>
            <a:pPr lvl="1" algn="just"/>
            <a:r>
              <a:rPr lang="en-US" dirty="0"/>
              <a:t>What are those requirements? </a:t>
            </a:r>
          </a:p>
          <a:p>
            <a:pPr lvl="1" algn="just"/>
            <a:r>
              <a:rPr lang="en-US" dirty="0"/>
              <a:t>What functions must a Web browser perform? </a:t>
            </a:r>
          </a:p>
          <a:p>
            <a:pPr lvl="1" algn="just"/>
            <a:r>
              <a:rPr lang="en-US" dirty="0"/>
              <a:t>how do different functional components interact with each other?</a:t>
            </a:r>
          </a:p>
          <a:p>
            <a:pPr algn="just"/>
            <a:r>
              <a:rPr lang="en-US" dirty="0"/>
              <a:t>The following list describes the core functions associated with a Web browser.</a:t>
            </a:r>
          </a:p>
          <a:p>
            <a:pPr algn="just"/>
            <a:r>
              <a:rPr lang="en-US" dirty="0"/>
              <a:t>Each function can be thought of as a distinct module within the browser, must communicate with each other in order to allow the browser to function.</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u="sng" dirty="0">
                <a:solidFill>
                  <a:srgbClr val="002060"/>
                </a:solidFill>
              </a:rPr>
              <a:t>ARCHITECTURAL CONSIDERATIONS:</a:t>
            </a:r>
          </a:p>
        </p:txBody>
      </p:sp>
      <p:sp>
        <p:nvSpPr>
          <p:cNvPr id="3" name="Content Placeholder 2"/>
          <p:cNvSpPr>
            <a:spLocks noGrp="1"/>
          </p:cNvSpPr>
          <p:nvPr>
            <p:ph idx="1"/>
          </p:nvPr>
        </p:nvSpPr>
        <p:spPr>
          <a:xfrm>
            <a:off x="228600" y="990600"/>
            <a:ext cx="8763000" cy="5638800"/>
          </a:xfrm>
        </p:spPr>
        <p:txBody>
          <a:bodyPr>
            <a:normAutofit lnSpcReduction="10000"/>
          </a:bodyPr>
          <a:lstStyle/>
          <a:p>
            <a:pPr marL="514350" indent="-514350" algn="just">
              <a:buFont typeface="+mj-lt"/>
              <a:buAutoNum type="arabicPeriod"/>
            </a:pPr>
            <a:r>
              <a:rPr lang="en-US" b="1" u="sng" dirty="0">
                <a:solidFill>
                  <a:srgbClr val="C00000"/>
                </a:solidFill>
              </a:rPr>
              <a:t>User Interface:</a:t>
            </a:r>
            <a:r>
              <a:rPr lang="en-US" b="1" dirty="0">
                <a:solidFill>
                  <a:srgbClr val="C00000"/>
                </a:solidFill>
              </a:rPr>
              <a:t> </a:t>
            </a:r>
            <a:r>
              <a:rPr lang="en-US" b="1" dirty="0"/>
              <a:t>T</a:t>
            </a:r>
            <a:r>
              <a:rPr lang="en-US" dirty="0"/>
              <a:t>his module provides a working area through which users interact with the application. This includes </a:t>
            </a:r>
            <a:r>
              <a:rPr lang="en-US" dirty="0">
                <a:solidFill>
                  <a:srgbClr val="002060"/>
                </a:solidFill>
              </a:rPr>
              <a:t>presenting, displaying,</a:t>
            </a:r>
            <a:r>
              <a:rPr lang="en-US" dirty="0"/>
              <a:t> and </a:t>
            </a:r>
            <a:r>
              <a:rPr lang="en-US" dirty="0">
                <a:solidFill>
                  <a:srgbClr val="002060"/>
                </a:solidFill>
              </a:rPr>
              <a:t>rendering</a:t>
            </a:r>
            <a:r>
              <a:rPr lang="en-US" dirty="0"/>
              <a:t> the end result of the browser’s processing of the response transmitted by the server. </a:t>
            </a:r>
          </a:p>
          <a:p>
            <a:pPr marL="514350" indent="-514350" algn="just">
              <a:buFont typeface="+mj-lt"/>
              <a:buAutoNum type="arabicPeriod"/>
            </a:pPr>
            <a:r>
              <a:rPr lang="en-US" b="1" u="sng" dirty="0">
                <a:solidFill>
                  <a:srgbClr val="C00000"/>
                </a:solidFill>
              </a:rPr>
              <a:t>Request Generation:</a:t>
            </a:r>
            <a:r>
              <a:rPr lang="en-US" dirty="0"/>
              <a:t> This module bears responsibility for the task of building HTTP requests to be submitted to HTTP servers. </a:t>
            </a:r>
          </a:p>
          <a:p>
            <a:pPr marL="514350" indent="-514350" algn="just">
              <a:buFont typeface="+mj-lt"/>
              <a:buAutoNum type="arabicPeriod"/>
            </a:pPr>
            <a:r>
              <a:rPr lang="en-US" b="1" u="sng" dirty="0">
                <a:solidFill>
                  <a:srgbClr val="C00000"/>
                </a:solidFill>
              </a:rPr>
              <a:t>Response Processing:</a:t>
            </a:r>
            <a:r>
              <a:rPr lang="en-US" b="1" dirty="0">
                <a:solidFill>
                  <a:srgbClr val="C00000"/>
                </a:solidFill>
              </a:rPr>
              <a:t> </a:t>
            </a:r>
            <a:r>
              <a:rPr lang="en-US" dirty="0"/>
              <a:t>this module must parse the response, interpret it, and pass the result to the User Interface  module.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u="sng" dirty="0">
                <a:solidFill>
                  <a:srgbClr val="002060"/>
                </a:solidFill>
              </a:rPr>
              <a:t>ARCHITECTURAL CONSIDERATIONS:</a:t>
            </a:r>
          </a:p>
        </p:txBody>
      </p:sp>
      <p:sp>
        <p:nvSpPr>
          <p:cNvPr id="3" name="Content Placeholder 2"/>
          <p:cNvSpPr>
            <a:spLocks noGrp="1"/>
          </p:cNvSpPr>
          <p:nvPr>
            <p:ph idx="1"/>
          </p:nvPr>
        </p:nvSpPr>
        <p:spPr>
          <a:xfrm>
            <a:off x="228600" y="990600"/>
            <a:ext cx="8763000" cy="5638800"/>
          </a:xfrm>
        </p:spPr>
        <p:txBody>
          <a:bodyPr>
            <a:normAutofit lnSpcReduction="10000"/>
          </a:bodyPr>
          <a:lstStyle/>
          <a:p>
            <a:pPr algn="just">
              <a:buNone/>
            </a:pPr>
            <a:r>
              <a:rPr lang="en-US" b="1" dirty="0">
                <a:solidFill>
                  <a:srgbClr val="C00000"/>
                </a:solidFill>
              </a:rPr>
              <a:t>4. </a:t>
            </a:r>
            <a:r>
              <a:rPr lang="en-US" b="1" u="sng" dirty="0">
                <a:solidFill>
                  <a:srgbClr val="C00000"/>
                </a:solidFill>
              </a:rPr>
              <a:t>Networking:</a:t>
            </a:r>
            <a:r>
              <a:rPr lang="en-US" dirty="0"/>
              <a:t> this module is responsible for network communications. It takes requests passed to it by the </a:t>
            </a:r>
            <a:r>
              <a:rPr lang="en-US" dirty="0">
                <a:solidFill>
                  <a:srgbClr val="0070C0"/>
                </a:solidFill>
              </a:rPr>
              <a:t>Request Generation module</a:t>
            </a:r>
            <a:r>
              <a:rPr lang="en-US" dirty="0"/>
              <a:t> and transmits them over the network to the appropriate Web server or proxy. It also accepts responses that arrive over the network and passes them to the </a:t>
            </a:r>
            <a:r>
              <a:rPr lang="en-US" dirty="0">
                <a:solidFill>
                  <a:srgbClr val="0070C0"/>
                </a:solidFill>
              </a:rPr>
              <a:t>Response Processing module.</a:t>
            </a:r>
          </a:p>
          <a:p>
            <a:pPr algn="just">
              <a:buNone/>
            </a:pPr>
            <a:r>
              <a:rPr lang="en-US" b="1" dirty="0">
                <a:solidFill>
                  <a:srgbClr val="C00000"/>
                </a:solidFill>
              </a:rPr>
              <a:t>5. </a:t>
            </a:r>
            <a:r>
              <a:rPr lang="en-US" b="1" u="sng" dirty="0">
                <a:solidFill>
                  <a:srgbClr val="C00000"/>
                </a:solidFill>
              </a:rPr>
              <a:t>Content Interpretation</a:t>
            </a:r>
            <a:r>
              <a:rPr lang="en-US" dirty="0"/>
              <a:t>: After receiving the response, the Response Processing module needs help in parsing and </a:t>
            </a:r>
            <a:r>
              <a:rPr lang="en-US" dirty="0">
                <a:solidFill>
                  <a:srgbClr val="0070C0"/>
                </a:solidFill>
              </a:rPr>
              <a:t>deciphering</a:t>
            </a:r>
            <a:r>
              <a:rPr lang="en-US" sz="2000" dirty="0">
                <a:solidFill>
                  <a:srgbClr val="0070C0"/>
                </a:solidFill>
              </a:rPr>
              <a:t>(decoding)</a:t>
            </a:r>
            <a:r>
              <a:rPr lang="en-US" dirty="0"/>
              <a:t> the content. The content may be encoded, and this module is responding to decode 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u="sng" dirty="0">
                <a:solidFill>
                  <a:srgbClr val="002060"/>
                </a:solidFill>
              </a:rPr>
              <a:t>ARCHITECTURAL CONSIDERATIONS:</a:t>
            </a:r>
          </a:p>
        </p:txBody>
      </p:sp>
      <p:sp>
        <p:nvSpPr>
          <p:cNvPr id="3" name="Content Placeholder 2"/>
          <p:cNvSpPr>
            <a:spLocks noGrp="1"/>
          </p:cNvSpPr>
          <p:nvPr>
            <p:ph idx="1"/>
          </p:nvPr>
        </p:nvSpPr>
        <p:spPr>
          <a:xfrm>
            <a:off x="228600" y="990600"/>
            <a:ext cx="8763000" cy="5638800"/>
          </a:xfrm>
        </p:spPr>
        <p:txBody>
          <a:bodyPr>
            <a:normAutofit lnSpcReduction="10000"/>
          </a:bodyPr>
          <a:lstStyle/>
          <a:p>
            <a:pPr algn="just">
              <a:buNone/>
            </a:pPr>
            <a:r>
              <a:rPr lang="en-US" b="1" dirty="0">
                <a:solidFill>
                  <a:srgbClr val="C00000"/>
                </a:solidFill>
              </a:rPr>
              <a:t>6. </a:t>
            </a:r>
            <a:r>
              <a:rPr lang="en-US" b="1" u="sng" dirty="0">
                <a:solidFill>
                  <a:srgbClr val="C00000"/>
                </a:solidFill>
              </a:rPr>
              <a:t>Caching:</a:t>
            </a:r>
            <a:r>
              <a:rPr lang="en-US" dirty="0"/>
              <a:t> Avoiding the unnecessary retrieval of resources that the browser already has a usable copy of, ‘cached’ away in local storage. Browsers can ask Web servers whether a desired resource has been modified since the time that the browser initially retrieved it and stored it in the cache. </a:t>
            </a:r>
          </a:p>
          <a:p>
            <a:pPr algn="just">
              <a:buNone/>
            </a:pPr>
            <a:r>
              <a:rPr lang="en-US" b="1" dirty="0">
                <a:solidFill>
                  <a:srgbClr val="C00000"/>
                </a:solidFill>
              </a:rPr>
              <a:t>7. </a:t>
            </a:r>
            <a:r>
              <a:rPr lang="en-US" b="1" u="sng" dirty="0">
                <a:solidFill>
                  <a:srgbClr val="C00000"/>
                </a:solidFill>
              </a:rPr>
              <a:t>State Maintenance</a:t>
            </a:r>
            <a:r>
              <a:rPr lang="en-US" dirty="0"/>
              <a:t>: since HTTP is a stateless protocol, some mechanism must be in place to maintain the browser state between related requests and responses. Cookies are the mechanism of choice for performing this task.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u="sng" dirty="0">
                <a:solidFill>
                  <a:srgbClr val="002060"/>
                </a:solidFill>
              </a:rPr>
              <a:t>ARCHITECTURAL CONSIDERATIONS:</a:t>
            </a:r>
          </a:p>
        </p:txBody>
      </p:sp>
      <p:sp>
        <p:nvSpPr>
          <p:cNvPr id="3" name="Content Placeholder 2"/>
          <p:cNvSpPr>
            <a:spLocks noGrp="1"/>
          </p:cNvSpPr>
          <p:nvPr>
            <p:ph idx="1"/>
          </p:nvPr>
        </p:nvSpPr>
        <p:spPr>
          <a:xfrm>
            <a:off x="228600" y="990600"/>
            <a:ext cx="8763000" cy="5638800"/>
          </a:xfrm>
        </p:spPr>
        <p:txBody>
          <a:bodyPr>
            <a:normAutofit fontScale="92500" lnSpcReduction="10000"/>
          </a:bodyPr>
          <a:lstStyle/>
          <a:p>
            <a:pPr marL="514350" indent="-514350" algn="just">
              <a:buAutoNum type="arabicPeriod" startAt="8"/>
            </a:pPr>
            <a:r>
              <a:rPr lang="en-US" b="1" u="sng" dirty="0">
                <a:solidFill>
                  <a:srgbClr val="C00000"/>
                </a:solidFill>
              </a:rPr>
              <a:t>Authentication:</a:t>
            </a:r>
            <a:r>
              <a:rPr lang="en-US" i="1" dirty="0"/>
              <a:t> </a:t>
            </a:r>
            <a:r>
              <a:rPr lang="en-US" dirty="0"/>
              <a:t>this module takes care of composing authorization credentials (certificates) when requested by the server. </a:t>
            </a:r>
          </a:p>
          <a:p>
            <a:pPr marL="514350" indent="-514350" algn="just"/>
            <a:r>
              <a:rPr lang="en-US" dirty="0"/>
              <a:t>It must interpret response headers demanding credentials by prompting the user to enter them (usually via a dialog). </a:t>
            </a:r>
          </a:p>
          <a:p>
            <a:pPr marL="514350" indent="-514350" algn="just"/>
            <a:r>
              <a:rPr lang="en-US" dirty="0"/>
              <a:t>It must also store those credentials, but only for the duration of the current browser session.</a:t>
            </a:r>
          </a:p>
          <a:p>
            <a:pPr algn="just">
              <a:buNone/>
            </a:pPr>
            <a:r>
              <a:rPr lang="en-US" b="1" dirty="0">
                <a:solidFill>
                  <a:srgbClr val="C00000"/>
                </a:solidFill>
              </a:rPr>
              <a:t>9. </a:t>
            </a:r>
            <a:r>
              <a:rPr lang="en-US" b="1" u="sng" dirty="0">
                <a:solidFill>
                  <a:srgbClr val="C00000"/>
                </a:solidFill>
              </a:rPr>
              <a:t>Configuration:</a:t>
            </a:r>
            <a:r>
              <a:rPr lang="en-US" b="1" dirty="0">
                <a:solidFill>
                  <a:srgbClr val="C00000"/>
                </a:solidFill>
              </a:rPr>
              <a:t>  </a:t>
            </a:r>
            <a:r>
              <a:rPr lang="en-US" i="1" dirty="0"/>
              <a:t>finally, there are a number of configuration options that a browser </a:t>
            </a:r>
            <a:r>
              <a:rPr lang="en-US" dirty="0"/>
              <a:t>application needs to support. Some of these are fixed, while others are user definable.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u="sng" dirty="0">
                <a:solidFill>
                  <a:srgbClr val="002060"/>
                </a:solidFill>
              </a:rPr>
              <a:t>PROCESSING FLOW</a:t>
            </a:r>
          </a:p>
        </p:txBody>
      </p:sp>
      <p:sp>
        <p:nvSpPr>
          <p:cNvPr id="3" name="Content Placeholder 2"/>
          <p:cNvSpPr>
            <a:spLocks noGrp="1"/>
          </p:cNvSpPr>
          <p:nvPr>
            <p:ph idx="1"/>
          </p:nvPr>
        </p:nvSpPr>
        <p:spPr>
          <a:xfrm>
            <a:off x="152400" y="685800"/>
            <a:ext cx="8763000" cy="5638800"/>
          </a:xfrm>
        </p:spPr>
        <p:txBody>
          <a:bodyPr>
            <a:normAutofit/>
          </a:bodyPr>
          <a:lstStyle/>
          <a:p>
            <a:r>
              <a:rPr lang="en-US" sz="2800" dirty="0"/>
              <a:t>Figure shows the processing flow for the creation and transmission of a request in a typical browser.</a:t>
            </a:r>
          </a:p>
        </p:txBody>
      </p:sp>
      <p:pic>
        <p:nvPicPr>
          <p:cNvPr id="1026" name="Picture 2"/>
          <p:cNvPicPr>
            <a:picLocks noChangeAspect="1" noChangeArrowheads="1"/>
          </p:cNvPicPr>
          <p:nvPr/>
        </p:nvPicPr>
        <p:blipFill>
          <a:blip r:embed="rId2"/>
          <a:srcRect/>
          <a:stretch>
            <a:fillRect/>
          </a:stretch>
        </p:blipFill>
        <p:spPr bwMode="auto">
          <a:xfrm>
            <a:off x="304800" y="1676400"/>
            <a:ext cx="8592225" cy="48768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04800" y="-304800"/>
            <a:ext cx="8229600" cy="1143000"/>
          </a:xfrm>
        </p:spPr>
        <p:txBody>
          <a:bodyPr>
            <a:normAutofit/>
          </a:bodyPr>
          <a:lstStyle/>
          <a:p>
            <a:r>
              <a:rPr lang="en-US" sz="3200" b="1" u="sng" dirty="0"/>
              <a:t>Browser Response Processing</a:t>
            </a:r>
          </a:p>
        </p:txBody>
      </p:sp>
      <p:pic>
        <p:nvPicPr>
          <p:cNvPr id="2050" name="Picture 2"/>
          <p:cNvPicPr>
            <a:picLocks noChangeAspect="1" noChangeArrowheads="1"/>
          </p:cNvPicPr>
          <p:nvPr/>
        </p:nvPicPr>
        <p:blipFill>
          <a:blip r:embed="rId2"/>
          <a:srcRect/>
          <a:stretch>
            <a:fillRect/>
          </a:stretch>
        </p:blipFill>
        <p:spPr bwMode="auto">
          <a:xfrm>
            <a:off x="152400" y="685800"/>
            <a:ext cx="8806668" cy="590098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b="1" u="sng" dirty="0">
                <a:solidFill>
                  <a:srgbClr val="FF0000"/>
                </a:solidFill>
              </a:rPr>
              <a:t>COMPLEX HTTP INTERACTIONS</a:t>
            </a:r>
            <a:endParaRPr lang="en-US" u="sng" dirty="0">
              <a:solidFill>
                <a:srgbClr val="FF0000"/>
              </a:solidFill>
            </a:endParaRPr>
          </a:p>
        </p:txBody>
      </p:sp>
      <p:sp>
        <p:nvSpPr>
          <p:cNvPr id="3" name="Content Placeholder 2"/>
          <p:cNvSpPr>
            <a:spLocks noGrp="1"/>
          </p:cNvSpPr>
          <p:nvPr>
            <p:ph idx="1"/>
          </p:nvPr>
        </p:nvSpPr>
        <p:spPr>
          <a:xfrm>
            <a:off x="228600" y="1219200"/>
            <a:ext cx="8763000" cy="5638800"/>
          </a:xfrm>
        </p:spPr>
        <p:txBody>
          <a:bodyPr>
            <a:normAutofit/>
          </a:bodyPr>
          <a:lstStyle/>
          <a:p>
            <a:r>
              <a:rPr lang="en-US" dirty="0"/>
              <a:t>Now that we covered the basics of request and response processing, let us move on to situations where the interplay of requests and responses yields more sophisticated functionality. The areas we mentioned earlier were</a:t>
            </a:r>
          </a:p>
          <a:p>
            <a:pPr lvl="1"/>
            <a:r>
              <a:rPr lang="en-US" dirty="0"/>
              <a:t> caching, authorization, cookies, the request of supporting data items, and the processing of other complex response headers</a:t>
            </a:r>
          </a:p>
          <a:p>
            <a:pPr>
              <a:buNone/>
            </a:pPr>
            <a:r>
              <a:rPr lang="en-US" dirty="0"/>
              <a:t>(01</a:t>
            </a:r>
            <a:r>
              <a:rPr lang="en-US"/>
              <a:t>) Caching: </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151</TotalTime>
  <Words>648</Words>
  <Application>Microsoft Office PowerPoint</Application>
  <PresentationFormat>On-screen Show (4:3)</PresentationFormat>
  <Paragraphs>41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Wingdings</vt:lpstr>
      <vt:lpstr>Office Theme</vt:lpstr>
      <vt:lpstr>Web Browser</vt:lpstr>
      <vt:lpstr>Main Responsibilities of a Browser</vt:lpstr>
      <vt:lpstr>ARCHITECTURAL CONSIDERATIONS:</vt:lpstr>
      <vt:lpstr>ARCHITECTURAL CONSIDERATIONS:</vt:lpstr>
      <vt:lpstr>ARCHITECTURAL CONSIDERATIONS:</vt:lpstr>
      <vt:lpstr>ARCHITECTURAL CONSIDERATIONS:</vt:lpstr>
      <vt:lpstr>ARCHITECTURAL CONSIDERATIONS:</vt:lpstr>
      <vt:lpstr>PROCESSING FLOW</vt:lpstr>
      <vt:lpstr>Browser Response Processing</vt:lpstr>
      <vt:lpstr>COMPLEX HTTP INTERACTIONS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Browser</dc:title>
  <dc:creator>Power By Gmc</dc:creator>
  <cp:lastModifiedBy>Saif ur Rehman</cp:lastModifiedBy>
  <cp:revision>47</cp:revision>
  <dcterms:created xsi:type="dcterms:W3CDTF">2015-02-23T05:21:44Z</dcterms:created>
  <dcterms:modified xsi:type="dcterms:W3CDTF">2019-05-21T19:05:08Z</dcterms:modified>
</cp:coreProperties>
</file>
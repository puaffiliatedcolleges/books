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78" r:id="rId1"/>
  </p:sldMasterIdLst>
  <p:sldIdLst>
    <p:sldId id="256" r:id="rId2"/>
    <p:sldId id="279" r:id="rId3"/>
    <p:sldId id="257" r:id="rId4"/>
    <p:sldId id="260" r:id="rId5"/>
    <p:sldId id="262" r:id="rId6"/>
    <p:sldId id="263" r:id="rId7"/>
    <p:sldId id="264" r:id="rId8"/>
    <p:sldId id="280" r:id="rId9"/>
    <p:sldId id="268" r:id="rId10"/>
    <p:sldId id="269" r:id="rId11"/>
    <p:sldId id="270" r:id="rId12"/>
    <p:sldId id="266" r:id="rId13"/>
    <p:sldId id="281" r:id="rId14"/>
    <p:sldId id="273" r:id="rId15"/>
    <p:sldId id="282" r:id="rId16"/>
    <p:sldId id="274" r:id="rId17"/>
    <p:sldId id="275" r:id="rId18"/>
    <p:sldId id="276" r:id="rId19"/>
    <p:sldId id="28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660"/>
  </p:normalViewPr>
  <p:slideViewPr>
    <p:cSldViewPr snapToGrid="0">
      <p:cViewPr varScale="1">
        <p:scale>
          <a:sx n="64" d="100"/>
          <a:sy n="64" d="100"/>
        </p:scale>
        <p:origin x="7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246811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063616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130899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319690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586930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90181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076830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558050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779040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659146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28FB93-0A08-4E7D-8E63-9EFA29F1E093}"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772455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1359385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28FB93-0A08-4E7D-8E63-9EFA29F1E093}"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641440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910789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880137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099303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E36636D-D922-432D-A958-524484B5923D}" type="datetimeFigureOut">
              <a:rPr lang="en-US" smtClean="0"/>
              <a:pPr/>
              <a:t>3/25/2024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475799813"/>
      </p:ext>
    </p:extLst>
  </p:cSld>
  <p:clrMap bg1="dk1" tx1="lt1" bg2="dk2" tx2="lt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 id="2147483993" r:id="rId15"/>
    <p:sldLayoutId id="21474839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1296" y="1357416"/>
            <a:ext cx="9440034" cy="1828801"/>
          </a:xfrm>
        </p:spPr>
        <p:txBody>
          <a:bodyPr/>
          <a:lstStyle/>
          <a:p>
            <a:r>
              <a:rPr lang="en-US" dirty="0">
                <a:latin typeface="Bahnschrift" panose="020B0502040204020203" pitchFamily="34" charset="0"/>
              </a:rPr>
              <a:t>INTER-PROCESS COMMUNICATION</a:t>
            </a:r>
          </a:p>
        </p:txBody>
      </p:sp>
      <p:sp>
        <p:nvSpPr>
          <p:cNvPr id="3" name="Subtitle 2"/>
          <p:cNvSpPr>
            <a:spLocks noGrp="1"/>
          </p:cNvSpPr>
          <p:nvPr>
            <p:ph type="subTitle" idx="1"/>
          </p:nvPr>
        </p:nvSpPr>
        <p:spPr>
          <a:xfrm>
            <a:off x="1370693" y="4087737"/>
            <a:ext cx="9440034" cy="1049867"/>
          </a:xfrm>
        </p:spPr>
        <p:txBody>
          <a:bodyPr/>
          <a:lstStyle/>
          <a:p>
            <a:r>
              <a:rPr lang="en-US" dirty="0">
                <a:latin typeface="Bahnschrift" panose="020B0502040204020203" pitchFamily="34" charset="0"/>
              </a:rPr>
              <a:t>	</a:t>
            </a:r>
            <a:r>
              <a:rPr lang="en-US">
                <a:latin typeface="Bahnschrift" panose="020B0502040204020203" pitchFamily="34" charset="0"/>
              </a:rPr>
              <a:t>	</a:t>
            </a:r>
            <a:endParaRPr lang="en-US" dirty="0">
              <a:latin typeface="Bahnschrift" panose="020B0502040204020203" pitchFamily="34" charset="0"/>
            </a:endParaRPr>
          </a:p>
        </p:txBody>
      </p:sp>
    </p:spTree>
    <p:extLst>
      <p:ext uri="{BB962C8B-B14F-4D97-AF65-F5344CB8AC3E}">
        <p14:creationId xmlns:p14="http://schemas.microsoft.com/office/powerpoint/2010/main" val="409948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Bahnschrift" panose="020B0502040204020203" pitchFamily="34" charset="0"/>
              </a:rPr>
              <a:t>TABLE OF CONTENT</a:t>
            </a:r>
          </a:p>
        </p:txBody>
      </p:sp>
      <p:sp>
        <p:nvSpPr>
          <p:cNvPr id="3" name="Content Placeholder 2"/>
          <p:cNvSpPr>
            <a:spLocks noGrp="1"/>
          </p:cNvSpPr>
          <p:nvPr>
            <p:ph idx="1"/>
          </p:nvPr>
        </p:nvSpPr>
        <p:spPr/>
        <p:txBody>
          <a:bodyPr/>
          <a:lstStyle/>
          <a:p>
            <a:r>
              <a:rPr lang="en-US" dirty="0"/>
              <a:t>What is Inter process communication</a:t>
            </a:r>
          </a:p>
          <a:p>
            <a:r>
              <a:rPr lang="en-US" dirty="0"/>
              <a:t>Types of Processes</a:t>
            </a:r>
          </a:p>
          <a:p>
            <a:r>
              <a:rPr lang="en-US" dirty="0"/>
              <a:t>Model of IPC</a:t>
            </a:r>
          </a:p>
          <a:p>
            <a:endParaRPr lang="en-US" dirty="0"/>
          </a:p>
          <a:p>
            <a:endParaRPr lang="en-US" dirty="0"/>
          </a:p>
        </p:txBody>
      </p:sp>
    </p:spTree>
    <p:extLst>
      <p:ext uri="{BB962C8B-B14F-4D97-AF65-F5344CB8AC3E}">
        <p14:creationId xmlns:p14="http://schemas.microsoft.com/office/powerpoint/2010/main" val="275493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ritannic Bold" panose="020B0903060703020204" pitchFamily="34" charset="0"/>
              </a:rPr>
              <a:t>INTER-PROCESS COMMUNICATION</a:t>
            </a:r>
          </a:p>
        </p:txBody>
      </p:sp>
      <p:sp>
        <p:nvSpPr>
          <p:cNvPr id="3" name="Content Placeholder 2"/>
          <p:cNvSpPr>
            <a:spLocks noGrp="1"/>
          </p:cNvSpPr>
          <p:nvPr>
            <p:ph idx="1"/>
          </p:nvPr>
        </p:nvSpPr>
        <p:spPr/>
        <p:txBody>
          <a:bodyPr>
            <a:normAutofit lnSpcReduction="10000"/>
          </a:bodyPr>
          <a:lstStyle/>
          <a:p>
            <a:r>
              <a:rPr lang="en-US" sz="2000" dirty="0">
                <a:latin typeface="Britannic Bold" panose="020B0903060703020204" pitchFamily="34" charset="0"/>
              </a:rPr>
              <a:t>Interprocess communication (IPC) </a:t>
            </a:r>
            <a:r>
              <a:rPr lang="en-US" dirty="0">
                <a:latin typeface="Bahnschrift SemiBold" panose="020B0502040204020203" pitchFamily="34" charset="0"/>
              </a:rPr>
              <a:t> is a capability supported by operating system that allows one process to communicate with another process.</a:t>
            </a:r>
          </a:p>
          <a:p>
            <a:endParaRPr lang="en-US" dirty="0">
              <a:latin typeface="Bahnschrift SemiBold" panose="020B0502040204020203" pitchFamily="34" charset="0"/>
            </a:endParaRPr>
          </a:p>
          <a:p>
            <a:r>
              <a:rPr lang="en-US" dirty="0">
                <a:latin typeface="Bahnschrift SemiBold" panose="020B0502040204020203" pitchFamily="34" charset="0"/>
              </a:rPr>
              <a:t>Process can be running on the same computer or on different computers connected through a network.</a:t>
            </a:r>
          </a:p>
          <a:p>
            <a:endParaRPr lang="en-US" dirty="0">
              <a:latin typeface="Bahnschrift SemiBold" panose="020B0502040204020203" pitchFamily="34" charset="0"/>
            </a:endParaRPr>
          </a:p>
          <a:p>
            <a:r>
              <a:rPr lang="en-US" dirty="0">
                <a:latin typeface="Bahnschrift SemiBold" panose="020B0502040204020203" pitchFamily="34" charset="0"/>
              </a:rPr>
              <a:t>IPC enables one application to control another  application and for several application to share same data without interfering with one another.</a:t>
            </a:r>
          </a:p>
          <a:p>
            <a:endParaRPr lang="en-US" dirty="0">
              <a:latin typeface="Bahnschrift SemiBold" panose="020B0502040204020203" pitchFamily="34" charset="0"/>
            </a:endParaRPr>
          </a:p>
          <a:p>
            <a:r>
              <a:rPr lang="en-US" dirty="0">
                <a:latin typeface="Bahnschrift SemiBold" panose="020B0502040204020203" pitchFamily="34" charset="0"/>
              </a:rPr>
              <a:t>IPC is required all multiprogramming systems but it is not generally supported by single-process operating system such as DOS. </a:t>
            </a:r>
          </a:p>
        </p:txBody>
      </p:sp>
    </p:spTree>
    <p:extLst>
      <p:ext uri="{BB962C8B-B14F-4D97-AF65-F5344CB8AC3E}">
        <p14:creationId xmlns:p14="http://schemas.microsoft.com/office/powerpoint/2010/main" val="234647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ritannic Bold" panose="020B0903060703020204" pitchFamily="34" charset="0"/>
              </a:rPr>
              <a:t>INTER-PROCESS COMMUNICATION</a:t>
            </a:r>
            <a:endParaRPr lang="en-US" dirty="0"/>
          </a:p>
        </p:txBody>
      </p:sp>
      <p:sp>
        <p:nvSpPr>
          <p:cNvPr id="3" name="Text Placeholder 2"/>
          <p:cNvSpPr>
            <a:spLocks noGrp="1"/>
          </p:cNvSpPr>
          <p:nvPr>
            <p:ph type="body" idx="1"/>
          </p:nvPr>
        </p:nvSpPr>
        <p:spPr>
          <a:xfrm>
            <a:off x="2274895" y="1904007"/>
            <a:ext cx="3992732" cy="576262"/>
          </a:xfrm>
        </p:spPr>
        <p:txBody>
          <a:bodyPr/>
          <a:lstStyle/>
          <a:p>
            <a:r>
              <a:rPr lang="en-US" dirty="0">
                <a:latin typeface="Yu Gothic UI Semibold" panose="020B0700000000000000" pitchFamily="34" charset="-128"/>
                <a:ea typeface="Yu Gothic UI Semibold" panose="020B0700000000000000" pitchFamily="34" charset="-128"/>
              </a:rPr>
              <a:t>INDEPENDENT PROCESSES</a:t>
            </a:r>
          </a:p>
        </p:txBody>
      </p:sp>
      <p:sp>
        <p:nvSpPr>
          <p:cNvPr id="4" name="Content Placeholder 3"/>
          <p:cNvSpPr>
            <a:spLocks noGrp="1"/>
          </p:cNvSpPr>
          <p:nvPr>
            <p:ph sz="half" idx="2"/>
          </p:nvPr>
        </p:nvSpPr>
        <p:spPr>
          <a:xfrm>
            <a:off x="2099815" y="2545738"/>
            <a:ext cx="4342893" cy="3354060"/>
          </a:xfrm>
        </p:spPr>
        <p:txBody>
          <a:bodyPr/>
          <a:lstStyle/>
          <a:p>
            <a:r>
              <a:rPr lang="en-US" dirty="0"/>
              <a:t>A </a:t>
            </a:r>
            <a:r>
              <a:rPr lang="en-US" dirty="0">
                <a:latin typeface="Yu Gothic UI Semibold" panose="020B0700000000000000" pitchFamily="34" charset="-128"/>
                <a:ea typeface="Yu Gothic UI Semibold" panose="020B0700000000000000" pitchFamily="34" charset="-128"/>
              </a:rPr>
              <a:t>process that cannot affect or be affected by another process executing in the system.</a:t>
            </a:r>
          </a:p>
          <a:p>
            <a:r>
              <a:rPr lang="en-US" dirty="0">
                <a:latin typeface="Yu Gothic UI Semibold" panose="020B0700000000000000" pitchFamily="34" charset="-128"/>
                <a:ea typeface="Yu Gothic UI Semibold" panose="020B0700000000000000" pitchFamily="34" charset="-128"/>
              </a:rPr>
              <a:t>An independent processes does not share data with any other process.</a:t>
            </a:r>
          </a:p>
        </p:txBody>
      </p:sp>
      <p:sp>
        <p:nvSpPr>
          <p:cNvPr id="5" name="Text Placeholder 4"/>
          <p:cNvSpPr>
            <a:spLocks noGrp="1"/>
          </p:cNvSpPr>
          <p:nvPr>
            <p:ph type="body" sz="quarter" idx="3"/>
          </p:nvPr>
        </p:nvSpPr>
        <p:spPr>
          <a:xfrm>
            <a:off x="7336793" y="1904007"/>
            <a:ext cx="3999001" cy="576262"/>
          </a:xfrm>
        </p:spPr>
        <p:txBody>
          <a:bodyPr/>
          <a:lstStyle/>
          <a:p>
            <a:r>
              <a:rPr lang="en-US" dirty="0">
                <a:latin typeface="Yu Gothic UI Semibold" panose="020B0700000000000000" pitchFamily="34" charset="-128"/>
                <a:ea typeface="Yu Gothic UI Semibold" panose="020B0700000000000000" pitchFamily="34" charset="-128"/>
              </a:rPr>
              <a:t>COOPERATING PROCESSES</a:t>
            </a:r>
            <a:endParaRPr lang="en-US" dirty="0"/>
          </a:p>
        </p:txBody>
      </p:sp>
      <p:sp>
        <p:nvSpPr>
          <p:cNvPr id="6" name="Content Placeholder 5"/>
          <p:cNvSpPr>
            <a:spLocks noGrp="1"/>
          </p:cNvSpPr>
          <p:nvPr>
            <p:ph sz="quarter" idx="4"/>
          </p:nvPr>
        </p:nvSpPr>
        <p:spPr/>
        <p:txBody>
          <a:bodyPr/>
          <a:lstStyle/>
          <a:p>
            <a:r>
              <a:rPr lang="en-US" dirty="0">
                <a:latin typeface="Yu Gothic UI Semibold" panose="020B0700000000000000" pitchFamily="34" charset="-128"/>
                <a:ea typeface="Yu Gothic UI Semibold" panose="020B0700000000000000" pitchFamily="34" charset="-128"/>
              </a:rPr>
              <a:t>A process that can affect or be affected by another process executing in the system.</a:t>
            </a:r>
          </a:p>
          <a:p>
            <a:r>
              <a:rPr lang="en-US" dirty="0">
                <a:latin typeface="Yu Gothic UI Semibold" panose="020B0700000000000000" pitchFamily="34" charset="-128"/>
                <a:ea typeface="Yu Gothic UI Semibold" panose="020B0700000000000000" pitchFamily="34" charset="-128"/>
              </a:rPr>
              <a:t>A cooperating process shares data with other process.</a:t>
            </a:r>
          </a:p>
        </p:txBody>
      </p:sp>
    </p:spTree>
    <p:extLst>
      <p:ext uri="{BB962C8B-B14F-4D97-AF65-F5344CB8AC3E}">
        <p14:creationId xmlns:p14="http://schemas.microsoft.com/office/powerpoint/2010/main" val="349622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down)">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circle(in)">
                                      <p:cBhvr>
                                        <p:cTn id="22" dur="20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circle(in)">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circle(in)">
                                      <p:cBhvr>
                                        <p:cTn id="32"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ritannic Bold" panose="020B0903060703020204" pitchFamily="34" charset="0"/>
              </a:rPr>
              <a:t>INTER-PROCESS COMMUNICATION</a:t>
            </a:r>
            <a:endParaRPr lang="en-US" dirty="0"/>
          </a:p>
        </p:txBody>
      </p:sp>
      <p:sp>
        <p:nvSpPr>
          <p:cNvPr id="3" name="Content Placeholder 2"/>
          <p:cNvSpPr>
            <a:spLocks noGrp="1"/>
          </p:cNvSpPr>
          <p:nvPr>
            <p:ph idx="1"/>
          </p:nvPr>
        </p:nvSpPr>
        <p:spPr/>
        <p:txBody>
          <a:bodyPr/>
          <a:lstStyle/>
          <a:p>
            <a:r>
              <a:rPr lang="en-US" sz="2800" dirty="0">
                <a:latin typeface="Berlin Sans FB Demi" panose="020E0802020502020306" pitchFamily="34" charset="0"/>
              </a:rPr>
              <a:t>Advantage of Cooperating process </a:t>
            </a:r>
          </a:p>
          <a:p>
            <a:endParaRPr lang="en-US" dirty="0"/>
          </a:p>
          <a:p>
            <a:pPr lvl="1"/>
            <a:r>
              <a:rPr lang="en-US" sz="2400" dirty="0">
                <a:latin typeface="Bahnschrift" panose="020B0502040204020203" pitchFamily="34" charset="0"/>
              </a:rPr>
              <a:t>Information sharing</a:t>
            </a:r>
          </a:p>
          <a:p>
            <a:pPr lvl="1"/>
            <a:r>
              <a:rPr lang="en-US" sz="2400" dirty="0">
                <a:latin typeface="Bahnschrift" panose="020B0502040204020203" pitchFamily="34" charset="0"/>
              </a:rPr>
              <a:t>Computation speedup</a:t>
            </a:r>
          </a:p>
          <a:p>
            <a:pPr lvl="1"/>
            <a:r>
              <a:rPr lang="en-US" sz="2400" dirty="0">
                <a:latin typeface="Bahnschrift" panose="020B0502040204020203" pitchFamily="34" charset="0"/>
              </a:rPr>
              <a:t>Modularity</a:t>
            </a:r>
          </a:p>
          <a:p>
            <a:pPr lvl="1"/>
            <a:r>
              <a:rPr lang="en-US" sz="2400" dirty="0">
                <a:latin typeface="Bahnschrift" panose="020B0502040204020203" pitchFamily="34" charset="0"/>
              </a:rPr>
              <a:t>Convenience	</a:t>
            </a:r>
          </a:p>
          <a:p>
            <a:endParaRPr lang="en-US" dirty="0"/>
          </a:p>
        </p:txBody>
      </p:sp>
    </p:spTree>
    <p:extLst>
      <p:ext uri="{BB962C8B-B14F-4D97-AF65-F5344CB8AC3E}">
        <p14:creationId xmlns:p14="http://schemas.microsoft.com/office/powerpoint/2010/main" val="141379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heel(1)">
                                      <p:cBhvr>
                                        <p:cTn id="10" dur="2000"/>
                                        <p:tgtEl>
                                          <p:spTgt spid="3">
                                            <p:txEl>
                                              <p:pRg st="2" end="2"/>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heel(1)">
                                      <p:cBhvr>
                                        <p:cTn id="13" dur="2000"/>
                                        <p:tgtEl>
                                          <p:spTgt spid="3">
                                            <p:txEl>
                                              <p:pRg st="3" end="3"/>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heel(1)">
                                      <p:cBhvr>
                                        <p:cTn id="16" dur="2000"/>
                                        <p:tgtEl>
                                          <p:spTgt spid="3">
                                            <p:txEl>
                                              <p:pRg st="4" end="4"/>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heel(1)">
                                      <p:cBhvr>
                                        <p:cTn id="19"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5123" y="1407017"/>
            <a:ext cx="8915399" cy="2262781"/>
          </a:xfrm>
        </p:spPr>
        <p:txBody>
          <a:bodyPr>
            <a:normAutofit/>
          </a:bodyPr>
          <a:lstStyle/>
          <a:p>
            <a:r>
              <a:rPr lang="en-US" sz="4800" dirty="0">
                <a:latin typeface="Britannic Bold" panose="020B0903060703020204" pitchFamily="34" charset="0"/>
              </a:rPr>
              <a:t>MODEL OF INTER-PROCESS COMMUNICATION</a:t>
            </a:r>
          </a:p>
        </p:txBody>
      </p:sp>
    </p:spTree>
    <p:extLst>
      <p:ext uri="{BB962C8B-B14F-4D97-AF65-F5344CB8AC3E}">
        <p14:creationId xmlns:p14="http://schemas.microsoft.com/office/powerpoint/2010/main" val="1879376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ritannic Bold" panose="020B0903060703020204" pitchFamily="34" charset="0"/>
              </a:rPr>
              <a:t>INTER-PROCESS COMMUNICATION</a:t>
            </a:r>
            <a:endParaRPr lang="en-US" dirty="0"/>
          </a:p>
        </p:txBody>
      </p:sp>
      <p:sp>
        <p:nvSpPr>
          <p:cNvPr id="3" name="Content Placeholder 2"/>
          <p:cNvSpPr>
            <a:spLocks noGrp="1"/>
          </p:cNvSpPr>
          <p:nvPr>
            <p:ph idx="1"/>
          </p:nvPr>
        </p:nvSpPr>
        <p:spPr/>
        <p:txBody>
          <a:bodyPr>
            <a:normAutofit/>
          </a:bodyPr>
          <a:lstStyle/>
          <a:p>
            <a:r>
              <a:rPr lang="en-US" sz="2800" dirty="0">
                <a:latin typeface="Britannic Bold" panose="020B0903060703020204" pitchFamily="34" charset="0"/>
              </a:rPr>
              <a:t>SHARED MEMORY MODEL</a:t>
            </a:r>
          </a:p>
          <a:p>
            <a:r>
              <a:rPr lang="en-US" sz="2000" dirty="0">
                <a:latin typeface="Bahnschrift" panose="020B0502040204020203" pitchFamily="34" charset="0"/>
              </a:rPr>
              <a:t>It establishes a region of memory that shared by cooperating process.</a:t>
            </a:r>
          </a:p>
          <a:p>
            <a:r>
              <a:rPr lang="en-US" dirty="0">
                <a:latin typeface="Bahnschrift" panose="020B0502040204020203" pitchFamily="34" charset="0"/>
              </a:rPr>
              <a:t>The process exchange information by reading and writing data to shared memory region.</a:t>
            </a:r>
          </a:p>
          <a:p>
            <a:r>
              <a:rPr lang="en-US" dirty="0">
                <a:latin typeface="Bahnschrift" panose="020B0502040204020203" pitchFamily="34" charset="0"/>
              </a:rPr>
              <a:t>This model is faster than message passing model and provide maximum speed and convenience.</a:t>
            </a:r>
          </a:p>
          <a:p>
            <a:r>
              <a:rPr lang="en-US" dirty="0">
                <a:latin typeface="Bahnschrift" panose="020B0502040204020203" pitchFamily="34" charset="0"/>
              </a:rPr>
              <a:t>Example- </a:t>
            </a:r>
          </a:p>
          <a:p>
            <a:r>
              <a:rPr lang="en-US" b="1" dirty="0">
                <a:latin typeface="Bahnschrift" panose="020B0502040204020203" pitchFamily="34" charset="0"/>
              </a:rPr>
              <a:t>A multi-threaded application that uses shared memory to communicate between different threads</a:t>
            </a:r>
            <a:endParaRPr lang="en-US" dirty="0">
              <a:latin typeface="Bahnschrift" panose="020B0502040204020203" pitchFamily="34" charset="0"/>
            </a:endParaRPr>
          </a:p>
          <a:p>
            <a:endParaRPr lang="en-US" dirty="0">
              <a:latin typeface="Bahnschrift" panose="020B0502040204020203" pitchFamily="34" charset="0"/>
            </a:endParaRPr>
          </a:p>
        </p:txBody>
      </p:sp>
    </p:spTree>
    <p:extLst>
      <p:ext uri="{BB962C8B-B14F-4D97-AF65-F5344CB8AC3E}">
        <p14:creationId xmlns:p14="http://schemas.microsoft.com/office/powerpoint/2010/main" val="178107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1" end="1"/>
                                            </p:txEl>
                                          </p:spTgt>
                                        </p:tgtEl>
                                      </p:cBhvr>
                                    </p:animEffect>
                                  </p:childTnLst>
                                </p:cTn>
                              </p:par>
                              <p:par>
                                <p:cTn id="17" presetID="3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3">
                                            <p:txEl>
                                              <p:pRg st="2" end="2"/>
                                            </p:txEl>
                                          </p:spTgt>
                                        </p:tgtEl>
                                      </p:cBhvr>
                                    </p:animEffect>
                                  </p:childTnLst>
                                </p:cTn>
                              </p:par>
                              <p:par>
                                <p:cTn id="23" presetID="31"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28" dur="1000"/>
                                        <p:tgtEl>
                                          <p:spTgt spid="3">
                                            <p:txEl>
                                              <p:pRg st="3" end="3"/>
                                            </p:txEl>
                                          </p:spTgt>
                                        </p:tgtEl>
                                      </p:cBhvr>
                                    </p:animEffect>
                                  </p:childTnLst>
                                </p:cTn>
                              </p:par>
                              <p:par>
                                <p:cTn id="29" presetID="31"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4" end="4"/>
                                            </p:txEl>
                                          </p:spTgt>
                                        </p:tgtEl>
                                      </p:cBhvr>
                                    </p:animEffect>
                                  </p:childTnLst>
                                </p:cTn>
                              </p:par>
                              <p:par>
                                <p:cTn id="35" presetID="31"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9"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0"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00023" y="745006"/>
            <a:ext cx="5718219" cy="5692804"/>
          </a:xfrm>
          <a:prstGeom prst="rect">
            <a:avLst/>
          </a:prstGeom>
        </p:spPr>
      </p:pic>
    </p:spTree>
    <p:extLst>
      <p:ext uri="{BB962C8B-B14F-4D97-AF65-F5344CB8AC3E}">
        <p14:creationId xmlns:p14="http://schemas.microsoft.com/office/powerpoint/2010/main" val="78436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Producer-Consumer Problem</a:t>
            </a:r>
          </a:p>
        </p:txBody>
      </p:sp>
      <p:sp>
        <p:nvSpPr>
          <p:cNvPr id="3" name="Content Placeholder 2"/>
          <p:cNvSpPr>
            <a:spLocks noGrp="1"/>
          </p:cNvSpPr>
          <p:nvPr>
            <p:ph idx="1"/>
          </p:nvPr>
        </p:nvSpPr>
        <p:spPr/>
        <p:txBody>
          <a:bodyPr>
            <a:normAutofit/>
          </a:bodyPr>
          <a:lstStyle/>
          <a:p>
            <a:r>
              <a:rPr lang="en-US" i="1" dirty="0">
                <a:latin typeface="Bahnschrift" panose="020B0502040204020203" pitchFamily="34" charset="0"/>
              </a:rPr>
              <a:t>Producer</a:t>
            </a:r>
            <a:r>
              <a:rPr lang="en-US" dirty="0">
                <a:latin typeface="Bahnschrift" panose="020B0502040204020203" pitchFamily="34" charset="0"/>
              </a:rPr>
              <a:t> process: It produces information that is consumed by a </a:t>
            </a:r>
            <a:r>
              <a:rPr lang="en-US" i="1" dirty="0">
                <a:latin typeface="Bahnschrift" panose="020B0502040204020203" pitchFamily="34" charset="0"/>
              </a:rPr>
              <a:t>consumer</a:t>
            </a:r>
            <a:r>
              <a:rPr lang="en-US" dirty="0">
                <a:latin typeface="Bahnschrift" panose="020B0502040204020203" pitchFamily="34" charset="0"/>
              </a:rPr>
              <a:t> .</a:t>
            </a:r>
          </a:p>
          <a:p>
            <a:r>
              <a:rPr lang="en-US" dirty="0">
                <a:latin typeface="Bahnschrift" panose="020B0502040204020203" pitchFamily="34" charset="0"/>
              </a:rPr>
              <a:t>For Example : A complier may produce assembly code which is consumed by an assembler.</a:t>
            </a:r>
          </a:p>
          <a:p>
            <a:endParaRPr lang="en-US" dirty="0">
              <a:latin typeface="Bahnschrift" panose="020B0502040204020203" pitchFamily="34" charset="0"/>
            </a:endParaRPr>
          </a:p>
          <a:p>
            <a:r>
              <a:rPr lang="en-US" dirty="0">
                <a:latin typeface="Bahnschrift" panose="020B0502040204020203" pitchFamily="34" charset="0"/>
              </a:rPr>
              <a:t>Solution of producer and consumer problem uses shared memory.</a:t>
            </a:r>
          </a:p>
          <a:p>
            <a:r>
              <a:rPr lang="en-US" dirty="0">
                <a:latin typeface="Bahnschrift" panose="020B0502040204020203" pitchFamily="34" charset="0"/>
              </a:rPr>
              <a:t>To allow producer and consumer process to run concurrently, we must have available a </a:t>
            </a:r>
            <a:r>
              <a:rPr lang="en-US" sz="2000" b="1" i="1" dirty="0">
                <a:latin typeface="Bahnschrift" panose="020B0502040204020203" pitchFamily="34" charset="0"/>
              </a:rPr>
              <a:t>buffer of items  </a:t>
            </a:r>
            <a:r>
              <a:rPr lang="en-US" dirty="0">
                <a:latin typeface="Bahnschrift" panose="020B0502040204020203" pitchFamily="34" charset="0"/>
              </a:rPr>
              <a:t>that can be filled by the producer and emptied by the consumer.</a:t>
            </a:r>
          </a:p>
        </p:txBody>
      </p:sp>
    </p:spTree>
    <p:extLst>
      <p:ext uri="{BB962C8B-B14F-4D97-AF65-F5344CB8AC3E}">
        <p14:creationId xmlns:p14="http://schemas.microsoft.com/office/powerpoint/2010/main" val="188026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 Consumer Problem</a:t>
            </a:r>
          </a:p>
        </p:txBody>
      </p:sp>
      <p:sp>
        <p:nvSpPr>
          <p:cNvPr id="3" name="Content Placeholder 2"/>
          <p:cNvSpPr>
            <a:spLocks noGrp="1"/>
          </p:cNvSpPr>
          <p:nvPr>
            <p:ph idx="1"/>
          </p:nvPr>
        </p:nvSpPr>
        <p:spPr>
          <a:xfrm>
            <a:off x="2035421" y="1566930"/>
            <a:ext cx="8915400" cy="3777622"/>
          </a:xfrm>
        </p:spPr>
        <p:txBody>
          <a:bodyPr>
            <a:normAutofit/>
          </a:bodyPr>
          <a:lstStyle/>
          <a:p>
            <a:pPr marL="2055813" lvl="3" indent="0">
              <a:buNone/>
            </a:pPr>
            <a:endParaRPr lang="en-US" sz="1800" dirty="0">
              <a:latin typeface="Bahnschrift" panose="020B0502040204020203" pitchFamily="34" charset="0"/>
            </a:endParaRPr>
          </a:p>
          <a:p>
            <a:r>
              <a:rPr lang="en-US" dirty="0"/>
              <a:t>This buffer will reside in a region of memory that is  shared by producer and consumer processes.</a:t>
            </a:r>
          </a:p>
          <a:p>
            <a:r>
              <a:rPr lang="en-US" dirty="0"/>
              <a:t>A producer can produce one item while the consumer is consuming another item.</a:t>
            </a:r>
          </a:p>
          <a:p>
            <a:r>
              <a:rPr lang="en-US" dirty="0"/>
              <a:t>The producer and consumer must be synchronized, so that the consumer does not try to consume an item that has not yet been produced.</a:t>
            </a:r>
          </a:p>
        </p:txBody>
      </p:sp>
      <p:pic>
        <p:nvPicPr>
          <p:cNvPr id="4" name="Picture 3"/>
          <p:cNvPicPr>
            <a:picLocks noChangeAspect="1"/>
          </p:cNvPicPr>
          <p:nvPr/>
        </p:nvPicPr>
        <p:blipFill>
          <a:blip r:embed="rId2"/>
          <a:stretch>
            <a:fillRect/>
          </a:stretch>
        </p:blipFill>
        <p:spPr>
          <a:xfrm>
            <a:off x="4262907" y="4063270"/>
            <a:ext cx="3515931" cy="2623425"/>
          </a:xfrm>
          <a:prstGeom prst="rect">
            <a:avLst/>
          </a:prstGeom>
        </p:spPr>
      </p:pic>
    </p:spTree>
    <p:extLst>
      <p:ext uri="{BB962C8B-B14F-4D97-AF65-F5344CB8AC3E}">
        <p14:creationId xmlns:p14="http://schemas.microsoft.com/office/powerpoint/2010/main" val="164635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wipe(down)">
                                      <p:cBhvr>
                                        <p:cTn id="31" dur="500"/>
                                        <p:tgtEl>
                                          <p:spTgt spid="3">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500"/>
                                        <p:tgtEl>
                                          <p:spTgt spid="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randombar(horizontal)">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Producer Consumer Problem</a:t>
            </a:r>
          </a:p>
        </p:txBody>
      </p:sp>
      <p:sp>
        <p:nvSpPr>
          <p:cNvPr id="3" name="Content Placeholder 2"/>
          <p:cNvSpPr>
            <a:spLocks noGrp="1"/>
          </p:cNvSpPr>
          <p:nvPr>
            <p:ph idx="1"/>
          </p:nvPr>
        </p:nvSpPr>
        <p:spPr/>
        <p:txBody>
          <a:bodyPr/>
          <a:lstStyle/>
          <a:p>
            <a:r>
              <a:rPr lang="en-US" sz="2400" dirty="0">
                <a:latin typeface="Bahnschrift" panose="020B0502040204020203" pitchFamily="34" charset="0"/>
              </a:rPr>
              <a:t>There is two kinds of buffer:</a:t>
            </a:r>
            <a:endParaRPr lang="en-US" sz="2400" i="1" dirty="0">
              <a:latin typeface="Bahnschrift" panose="020B0502040204020203" pitchFamily="34" charset="0"/>
            </a:endParaRPr>
          </a:p>
          <a:p>
            <a:pPr marL="800100" lvl="1" indent="-342900">
              <a:buFont typeface="+mj-lt"/>
              <a:buAutoNum type="arabicPeriod"/>
            </a:pPr>
            <a:endParaRPr lang="en-US" i="1" dirty="0">
              <a:latin typeface="Bahnschrift" panose="020B0502040204020203" pitchFamily="34" charset="0"/>
            </a:endParaRPr>
          </a:p>
          <a:p>
            <a:pPr marL="800100" lvl="1" indent="-342900">
              <a:buFont typeface="+mj-lt"/>
              <a:buAutoNum type="arabicPeriod"/>
            </a:pPr>
            <a:r>
              <a:rPr lang="en-US" sz="2000" b="1" dirty="0">
                <a:latin typeface="Bahnschrift" panose="020B0502040204020203" pitchFamily="34" charset="0"/>
              </a:rPr>
              <a:t>Unbounded-Buffer</a:t>
            </a:r>
            <a:r>
              <a:rPr lang="en-US" i="1" dirty="0">
                <a:latin typeface="Bahnschrift" panose="020B0502040204020203" pitchFamily="34" charset="0"/>
              </a:rPr>
              <a:t> : </a:t>
            </a:r>
            <a:r>
              <a:rPr lang="en-US" dirty="0">
                <a:latin typeface="Bahnschrift" panose="020B0502040204020203" pitchFamily="34" charset="0"/>
              </a:rPr>
              <a:t>Place no practical limit on the size of buffer.The Producer can always new items and consumer may have to wait for new items.</a:t>
            </a:r>
          </a:p>
          <a:p>
            <a:pPr marL="800100" lvl="1" indent="-342900">
              <a:buFont typeface="+mj-lt"/>
              <a:buAutoNum type="arabicPeriod"/>
            </a:pPr>
            <a:endParaRPr lang="en-US" dirty="0">
              <a:latin typeface="Bahnschrift" panose="020B0502040204020203" pitchFamily="34" charset="0"/>
            </a:endParaRPr>
          </a:p>
          <a:p>
            <a:pPr marL="800100" lvl="1" indent="-342900">
              <a:buFont typeface="+mj-lt"/>
              <a:buAutoNum type="arabicPeriod"/>
            </a:pPr>
            <a:r>
              <a:rPr lang="en-US" sz="2000" b="1" dirty="0">
                <a:latin typeface="Bahnschrift" panose="020B0502040204020203" pitchFamily="34" charset="0"/>
              </a:rPr>
              <a:t>BOUNDED-BUFFER</a:t>
            </a:r>
            <a:r>
              <a:rPr lang="en-US" i="1" dirty="0">
                <a:latin typeface="Bahnschrift" panose="020B0502040204020203" pitchFamily="34" charset="0"/>
              </a:rPr>
              <a:t>:</a:t>
            </a:r>
            <a:r>
              <a:rPr lang="en-US" dirty="0">
                <a:latin typeface="Bahnschrift" panose="020B0502040204020203" pitchFamily="34" charset="0"/>
              </a:rPr>
              <a:t> Assumes that there is a fixed buffer size. When it is full the producer must wait until there is some space in the buffer before it can produce new item and the consumer must wait if the buffer is empty.</a:t>
            </a:r>
          </a:p>
          <a:p>
            <a:endParaRPr lang="en-US" dirty="0"/>
          </a:p>
        </p:txBody>
      </p:sp>
    </p:spTree>
    <p:extLst>
      <p:ext uri="{BB962C8B-B14F-4D97-AF65-F5344CB8AC3E}">
        <p14:creationId xmlns:p14="http://schemas.microsoft.com/office/powerpoint/2010/main" val="90520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arn(inVertical)">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ritannic Bold" panose="020B0903060703020204" pitchFamily="34" charset="0"/>
              </a:rPr>
              <a:t>INTER-PROCESS COMMUNICATION</a:t>
            </a:r>
            <a:endParaRPr lang="en-US" dirty="0"/>
          </a:p>
        </p:txBody>
      </p:sp>
      <p:sp>
        <p:nvSpPr>
          <p:cNvPr id="3" name="Content Placeholder 2"/>
          <p:cNvSpPr>
            <a:spLocks noGrp="1"/>
          </p:cNvSpPr>
          <p:nvPr>
            <p:ph idx="1"/>
          </p:nvPr>
        </p:nvSpPr>
        <p:spPr/>
        <p:txBody>
          <a:bodyPr>
            <a:normAutofit fontScale="92500" lnSpcReduction="20000"/>
          </a:bodyPr>
          <a:lstStyle/>
          <a:p>
            <a:r>
              <a:rPr lang="en-US" sz="2800" dirty="0">
                <a:latin typeface="Britannic Bold" panose="020B0903060703020204" pitchFamily="34" charset="0"/>
              </a:rPr>
              <a:t>MESSAGE PASSING MODEL</a:t>
            </a:r>
          </a:p>
          <a:p>
            <a:r>
              <a:rPr lang="en-US" sz="2000" dirty="0">
                <a:latin typeface="Bahnschrift" panose="020B0502040204020203" pitchFamily="34" charset="0"/>
              </a:rPr>
              <a:t>In message passing model the cooperating processes communicate by exchanging messages with one another.</a:t>
            </a:r>
          </a:p>
          <a:p>
            <a:r>
              <a:rPr lang="en-US" sz="2000" dirty="0">
                <a:latin typeface="Bahnschrift" panose="020B0502040204020203" pitchFamily="34" charset="0"/>
              </a:rPr>
              <a:t>This model is useful for exchanging small amount of data.</a:t>
            </a:r>
          </a:p>
          <a:p>
            <a:r>
              <a:rPr lang="en-US" sz="2000" dirty="0">
                <a:latin typeface="Bahnschrift" panose="020B0502040204020203" pitchFamily="34" charset="0"/>
              </a:rPr>
              <a:t>It can implemented more easily than shared memory model.</a:t>
            </a:r>
          </a:p>
          <a:p>
            <a:r>
              <a:rPr lang="en-US" sz="2000" dirty="0">
                <a:latin typeface="Bahnschrift" panose="020B0502040204020203" pitchFamily="34" charset="0"/>
              </a:rPr>
              <a:t>Example- </a:t>
            </a:r>
          </a:p>
          <a:p>
            <a:r>
              <a:rPr lang="en-US" sz="2000" dirty="0">
                <a:latin typeface="Bahnschrift" panose="020B0502040204020203" pitchFamily="34" charset="0"/>
              </a:rPr>
              <a:t>Web browsers / Web Servers</a:t>
            </a:r>
          </a:p>
          <a:p>
            <a:r>
              <a:rPr lang="en-US" sz="2000" dirty="0">
                <a:latin typeface="Bahnschrift" panose="020B0502040204020203" pitchFamily="34" charset="0"/>
              </a:rPr>
              <a:t>It provide two operation.</a:t>
            </a:r>
          </a:p>
          <a:p>
            <a:pPr marL="457200" indent="-457200">
              <a:buFont typeface="+mj-lt"/>
              <a:buAutoNum type="arabicPeriod"/>
            </a:pPr>
            <a:r>
              <a:rPr lang="en-US" sz="2000" dirty="0">
                <a:latin typeface="Bahnschrift" panose="020B0502040204020203" pitchFamily="34" charset="0"/>
              </a:rPr>
              <a:t>Send</a:t>
            </a:r>
          </a:p>
          <a:p>
            <a:pPr marL="457200" indent="-457200">
              <a:buFont typeface="+mj-lt"/>
              <a:buAutoNum type="arabicPeriod"/>
            </a:pPr>
            <a:r>
              <a:rPr lang="en-US" sz="2000" dirty="0">
                <a:latin typeface="Bahnschrift" panose="020B0502040204020203" pitchFamily="34" charset="0"/>
              </a:rPr>
              <a:t>Receive</a:t>
            </a:r>
          </a:p>
          <a:p>
            <a:pPr marL="0" indent="0">
              <a:buNone/>
            </a:pPr>
            <a:endParaRPr lang="en-US" sz="2800" dirty="0">
              <a:latin typeface="Britannic Bold" panose="020B0903060703020204" pitchFamily="34" charset="0"/>
            </a:endParaRPr>
          </a:p>
        </p:txBody>
      </p:sp>
    </p:spTree>
    <p:extLst>
      <p:ext uri="{BB962C8B-B14F-4D97-AF65-F5344CB8AC3E}">
        <p14:creationId xmlns:p14="http://schemas.microsoft.com/office/powerpoint/2010/main" val="307318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heel(1)">
                                      <p:cBhvr>
                                        <p:cTn id="10" dur="2000"/>
                                        <p:tgtEl>
                                          <p:spTgt spid="3">
                                            <p:txEl>
                                              <p:pRg st="1" end="1"/>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heel(1)">
                                      <p:cBhvr>
                                        <p:cTn id="13" dur="2000"/>
                                        <p:tgtEl>
                                          <p:spTgt spid="3">
                                            <p:txEl>
                                              <p:pRg st="2" end="2"/>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heel(1)">
                                      <p:cBhvr>
                                        <p:cTn id="16" dur="2000"/>
                                        <p:tgtEl>
                                          <p:spTgt spid="3">
                                            <p:txEl>
                                              <p:pRg st="3" end="3"/>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heel(1)">
                                      <p:cBhvr>
                                        <p:cTn id="19" dur="2000"/>
                                        <p:tgtEl>
                                          <p:spTgt spid="3">
                                            <p:txEl>
                                              <p:pRg st="4" end="4"/>
                                            </p:txEl>
                                          </p:spTgt>
                                        </p:tgtEl>
                                      </p:cBhvr>
                                    </p:animEffect>
                                  </p:childTnLst>
                                </p:cTn>
                              </p:par>
                              <p:par>
                                <p:cTn id="20" presetID="21" presetClass="entr" presetSubtype="1"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heel(1)">
                                      <p:cBhvr>
                                        <p:cTn id="22" dur="2000"/>
                                        <p:tgtEl>
                                          <p:spTgt spid="3">
                                            <p:txEl>
                                              <p:pRg st="5" end="5"/>
                                            </p:txEl>
                                          </p:spTgt>
                                        </p:tgtEl>
                                      </p:cBhvr>
                                    </p:animEffect>
                                  </p:childTnLst>
                                </p:cTn>
                              </p:par>
                              <p:par>
                                <p:cTn id="23" presetID="21" presetClass="entr" presetSubtype="1"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heel(1)">
                                      <p:cBhvr>
                                        <p:cTn id="25" dur="2000"/>
                                        <p:tgtEl>
                                          <p:spTgt spid="3">
                                            <p:txEl>
                                              <p:pRg st="6" end="6"/>
                                            </p:txEl>
                                          </p:spTgt>
                                        </p:tgtEl>
                                      </p:cBhvr>
                                    </p:animEffect>
                                  </p:childTnLst>
                                </p:cTn>
                              </p:par>
                              <p:par>
                                <p:cTn id="26" presetID="21" presetClass="entr" presetSubtype="1"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heel(1)">
                                      <p:cBhvr>
                                        <p:cTn id="28" dur="2000"/>
                                        <p:tgtEl>
                                          <p:spTgt spid="3">
                                            <p:txEl>
                                              <p:pRg st="7" end="7"/>
                                            </p:txEl>
                                          </p:spTgt>
                                        </p:tgtEl>
                                      </p:cBhvr>
                                    </p:animEffect>
                                  </p:childTnLst>
                                </p:cTn>
                              </p:par>
                              <p:par>
                                <p:cTn id="29" presetID="21" presetClass="entr" presetSubtype="1"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heel(1)">
                                      <p:cBhvr>
                                        <p:cTn id="31"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42445" y="844638"/>
            <a:ext cx="6181859" cy="5409127"/>
          </a:xfrm>
          <a:prstGeom prst="rect">
            <a:avLst/>
          </a:prstGeom>
        </p:spPr>
      </p:pic>
    </p:spTree>
    <p:extLst>
      <p:ext uri="{BB962C8B-B14F-4D97-AF65-F5344CB8AC3E}">
        <p14:creationId xmlns:p14="http://schemas.microsoft.com/office/powerpoint/2010/main" val="266525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Communication</a:t>
            </a:r>
          </a:p>
        </p:txBody>
      </p:sp>
      <p:sp>
        <p:nvSpPr>
          <p:cNvPr id="3" name="Content Placeholder 2"/>
          <p:cNvSpPr>
            <a:spLocks noGrp="1"/>
          </p:cNvSpPr>
          <p:nvPr>
            <p:ph idx="1"/>
          </p:nvPr>
        </p:nvSpPr>
        <p:spPr>
          <a:xfrm>
            <a:off x="2189408" y="2060620"/>
            <a:ext cx="9122020" cy="4365757"/>
          </a:xfrm>
        </p:spPr>
        <p:txBody>
          <a:bodyPr>
            <a:normAutofit/>
          </a:bodyPr>
          <a:lstStyle/>
          <a:p>
            <a:pPr lvl="1"/>
            <a:r>
              <a:rPr lang="en-US" dirty="0">
                <a:latin typeface="Bahnschrift" panose="020B0502040204020203" pitchFamily="34" charset="0"/>
              </a:rPr>
              <a:t>Each process that wants to communicate must name the sender or receiver of the communication.</a:t>
            </a:r>
          </a:p>
          <a:p>
            <a:pPr lvl="1"/>
            <a:r>
              <a:rPr lang="en-US" dirty="0">
                <a:latin typeface="Bahnschrift" panose="020B0502040204020203" pitchFamily="34" charset="0"/>
              </a:rPr>
              <a:t>There is two scheme of direct communication Symmetric communication Asymmetric communication.</a:t>
            </a:r>
          </a:p>
          <a:p>
            <a:pPr lvl="1"/>
            <a:r>
              <a:rPr lang="en-US" sz="1800" b="1" dirty="0">
                <a:latin typeface="Bahnschrift" panose="020B0502040204020203" pitchFamily="34" charset="0"/>
              </a:rPr>
              <a:t>Symmetric communication</a:t>
            </a:r>
            <a:r>
              <a:rPr lang="en-US" dirty="0">
                <a:latin typeface="Bahnschrift" panose="020B0502040204020203" pitchFamily="34" charset="0"/>
              </a:rPr>
              <a:t>: It requires that both sender and receiver process must name each other to communicate.</a:t>
            </a:r>
          </a:p>
          <a:p>
            <a:pPr lvl="1"/>
            <a:r>
              <a:rPr lang="en-US" sz="1800" b="1" dirty="0">
                <a:latin typeface="Bahnschrift" panose="020B0502040204020203" pitchFamily="34" charset="0"/>
              </a:rPr>
              <a:t>Asymmetric communication</a:t>
            </a:r>
            <a:r>
              <a:rPr lang="en-US" dirty="0">
                <a:latin typeface="Bahnschrift" panose="020B0502040204020203" pitchFamily="34" charset="0"/>
              </a:rPr>
              <a:t>: Only the sender process must name the recipient(receiver).The recipient process does not need to name of the sender process.</a:t>
            </a:r>
          </a:p>
          <a:p>
            <a:pPr lvl="1"/>
            <a:r>
              <a:rPr lang="en-US" b="1" dirty="0">
                <a:latin typeface="Bahnschrift" panose="020B0502040204020203" pitchFamily="34" charset="0"/>
              </a:rPr>
              <a:t>Send</a:t>
            </a:r>
            <a:r>
              <a:rPr lang="en-US" dirty="0">
                <a:latin typeface="Bahnschrift" panose="020B0502040204020203" pitchFamily="34" charset="0"/>
              </a:rPr>
              <a:t> ( )and</a:t>
            </a:r>
            <a:r>
              <a:rPr lang="en-US" b="1" dirty="0">
                <a:latin typeface="Bahnschrift" panose="020B0502040204020203" pitchFamily="34" charset="0"/>
              </a:rPr>
              <a:t> Receive</a:t>
            </a:r>
            <a:r>
              <a:rPr lang="en-US" dirty="0">
                <a:latin typeface="Bahnschrift" panose="020B0502040204020203" pitchFamily="34" charset="0"/>
              </a:rPr>
              <a:t>( ) functions in symmetric communication are follows.</a:t>
            </a:r>
          </a:p>
          <a:p>
            <a:pPr lvl="1"/>
            <a:r>
              <a:rPr lang="en-US" b="1" dirty="0">
                <a:latin typeface="Bahnschrift" panose="020B0502040204020203" pitchFamily="34" charset="0"/>
              </a:rPr>
              <a:t>send</a:t>
            </a:r>
            <a:r>
              <a:rPr lang="en-US" dirty="0">
                <a:latin typeface="Bahnschrift" panose="020B0502040204020203" pitchFamily="34" charset="0"/>
              </a:rPr>
              <a:t> (</a:t>
            </a:r>
            <a:r>
              <a:rPr lang="en-US" i="1" dirty="0">
                <a:latin typeface="Bahnschrift" panose="020B0502040204020203" pitchFamily="34" charset="0"/>
              </a:rPr>
              <a:t>P, message</a:t>
            </a:r>
            <a:r>
              <a:rPr lang="en-US" dirty="0">
                <a:latin typeface="Bahnschrift" panose="020B0502040204020203" pitchFamily="34" charset="0"/>
              </a:rPr>
              <a:t>) – send a message to process P</a:t>
            </a:r>
          </a:p>
          <a:p>
            <a:pPr lvl="1"/>
            <a:r>
              <a:rPr lang="en-US" b="1" dirty="0">
                <a:latin typeface="Bahnschrift" panose="020B0502040204020203" pitchFamily="34" charset="0"/>
              </a:rPr>
              <a:t>receive</a:t>
            </a:r>
            <a:r>
              <a:rPr lang="en-US" dirty="0">
                <a:latin typeface="Bahnschrift" panose="020B0502040204020203" pitchFamily="34" charset="0"/>
              </a:rPr>
              <a:t>(</a:t>
            </a:r>
            <a:r>
              <a:rPr lang="en-US" i="1" dirty="0">
                <a:latin typeface="Bahnschrift" panose="020B0502040204020203" pitchFamily="34" charset="0"/>
              </a:rPr>
              <a:t>Q, message</a:t>
            </a:r>
            <a:r>
              <a:rPr lang="en-US" dirty="0">
                <a:latin typeface="Bahnschrift" panose="020B0502040204020203" pitchFamily="34" charset="0"/>
              </a:rPr>
              <a:t>) – receive a message from process Q</a:t>
            </a:r>
          </a:p>
          <a:p>
            <a:pPr lvl="1"/>
            <a:endParaRPr lang="en-US" dirty="0"/>
          </a:p>
          <a:p>
            <a:endParaRPr lang="en-US" dirty="0"/>
          </a:p>
        </p:txBody>
      </p:sp>
    </p:spTree>
    <p:extLst>
      <p:ext uri="{BB962C8B-B14F-4D97-AF65-F5344CB8AC3E}">
        <p14:creationId xmlns:p14="http://schemas.microsoft.com/office/powerpoint/2010/main" val="193700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Communication</a:t>
            </a:r>
          </a:p>
        </p:txBody>
      </p:sp>
      <p:sp>
        <p:nvSpPr>
          <p:cNvPr id="3" name="Content Placeholder 2"/>
          <p:cNvSpPr>
            <a:spLocks noGrp="1"/>
          </p:cNvSpPr>
          <p:nvPr>
            <p:ph idx="1"/>
          </p:nvPr>
        </p:nvSpPr>
        <p:spPr>
          <a:xfrm>
            <a:off x="2592925" y="2160105"/>
            <a:ext cx="8915400" cy="3777622"/>
          </a:xfrm>
        </p:spPr>
        <p:txBody>
          <a:bodyPr>
            <a:normAutofit/>
          </a:bodyPr>
          <a:lstStyle/>
          <a:p>
            <a:pPr marL="342900" lvl="1" indent="-342900"/>
            <a:r>
              <a:rPr lang="en-US" b="1" dirty="0">
                <a:latin typeface="Bahnschrift" panose="020B0502040204020203" pitchFamily="34" charset="0"/>
              </a:rPr>
              <a:t>Send</a:t>
            </a:r>
            <a:r>
              <a:rPr lang="en-US" dirty="0">
                <a:latin typeface="Bahnschrift" panose="020B0502040204020203" pitchFamily="34" charset="0"/>
              </a:rPr>
              <a:t> ( )and</a:t>
            </a:r>
            <a:r>
              <a:rPr lang="en-US" b="1" dirty="0">
                <a:latin typeface="Bahnschrift" panose="020B0502040204020203" pitchFamily="34" charset="0"/>
              </a:rPr>
              <a:t> Receive</a:t>
            </a:r>
            <a:r>
              <a:rPr lang="en-US" dirty="0">
                <a:latin typeface="Bahnschrift" panose="020B0502040204020203" pitchFamily="34" charset="0"/>
              </a:rPr>
              <a:t>( ) functions in Asymmetric communication are follows.</a:t>
            </a:r>
          </a:p>
          <a:p>
            <a:pPr lvl="1"/>
            <a:r>
              <a:rPr lang="en-US" b="1" dirty="0">
                <a:latin typeface="Bahnschrift" panose="020B0502040204020203" pitchFamily="34" charset="0"/>
              </a:rPr>
              <a:t>send</a:t>
            </a:r>
            <a:r>
              <a:rPr lang="en-US" dirty="0">
                <a:latin typeface="Bahnschrift" panose="020B0502040204020203" pitchFamily="34" charset="0"/>
              </a:rPr>
              <a:t> (</a:t>
            </a:r>
            <a:r>
              <a:rPr lang="en-US" i="1" dirty="0">
                <a:latin typeface="Bahnschrift" panose="020B0502040204020203" pitchFamily="34" charset="0"/>
              </a:rPr>
              <a:t>P, message</a:t>
            </a:r>
            <a:r>
              <a:rPr lang="en-US" dirty="0">
                <a:latin typeface="Bahnschrift" panose="020B0502040204020203" pitchFamily="34" charset="0"/>
              </a:rPr>
              <a:t>) – send a message to process P</a:t>
            </a:r>
          </a:p>
          <a:p>
            <a:pPr lvl="1"/>
            <a:r>
              <a:rPr lang="en-US" b="1" dirty="0">
                <a:latin typeface="Bahnschrift" panose="020B0502040204020203" pitchFamily="34" charset="0"/>
              </a:rPr>
              <a:t>receive</a:t>
            </a:r>
            <a:r>
              <a:rPr lang="en-US" dirty="0">
                <a:latin typeface="Bahnschrift" panose="020B0502040204020203" pitchFamily="34" charset="0"/>
              </a:rPr>
              <a:t>(</a:t>
            </a:r>
            <a:r>
              <a:rPr lang="en-US" i="1" dirty="0">
                <a:latin typeface="Bahnschrift" panose="020B0502040204020203" pitchFamily="34" charset="0"/>
              </a:rPr>
              <a:t>id, message</a:t>
            </a:r>
            <a:r>
              <a:rPr lang="en-US" dirty="0">
                <a:latin typeface="Bahnschrift" panose="020B0502040204020203" pitchFamily="34" charset="0"/>
              </a:rPr>
              <a:t>) – receive a message from ant process. ID refers to the name of the process with which communication takes place.</a:t>
            </a:r>
          </a:p>
          <a:p>
            <a:pPr marL="0" indent="0">
              <a:buNone/>
            </a:pPr>
            <a:endParaRPr lang="en-US" dirty="0">
              <a:latin typeface="Bahnschrift" panose="020B0502040204020203" pitchFamily="34" charset="0"/>
            </a:endParaRPr>
          </a:p>
          <a:p>
            <a:r>
              <a:rPr lang="en-US" dirty="0">
                <a:latin typeface="Bahnschrift" panose="020B0502040204020203" pitchFamily="34" charset="0"/>
              </a:rPr>
              <a:t>Properties of communication link</a:t>
            </a:r>
          </a:p>
          <a:p>
            <a:pPr lvl="1"/>
            <a:r>
              <a:rPr lang="en-US" dirty="0">
                <a:latin typeface="Bahnschrift" panose="020B0502040204020203" pitchFamily="34" charset="0"/>
              </a:rPr>
              <a:t>Links are established automatically</a:t>
            </a:r>
          </a:p>
          <a:p>
            <a:pPr lvl="1"/>
            <a:r>
              <a:rPr lang="en-US" dirty="0">
                <a:latin typeface="Bahnschrift" panose="020B0502040204020203" pitchFamily="34" charset="0"/>
              </a:rPr>
              <a:t>A link is associated with exactly one pair of communicating processes</a:t>
            </a:r>
          </a:p>
          <a:p>
            <a:pPr lvl="1"/>
            <a:r>
              <a:rPr lang="en-US" dirty="0">
                <a:latin typeface="Bahnschrift" panose="020B0502040204020203" pitchFamily="34" charset="0"/>
              </a:rPr>
              <a:t>Between each pair there exists exactly one link</a:t>
            </a:r>
          </a:p>
          <a:p>
            <a:pPr lvl="1"/>
            <a:r>
              <a:rPr lang="en-US" dirty="0">
                <a:latin typeface="Bahnschrift" panose="020B0502040204020203" pitchFamily="34" charset="0"/>
              </a:rPr>
              <a:t>The link may be unidirectional, but is usually bi-directional</a:t>
            </a:r>
          </a:p>
          <a:p>
            <a:endParaRPr lang="en-US" dirty="0"/>
          </a:p>
        </p:txBody>
      </p:sp>
    </p:spTree>
    <p:extLst>
      <p:ext uri="{BB962C8B-B14F-4D97-AF65-F5344CB8AC3E}">
        <p14:creationId xmlns:p14="http://schemas.microsoft.com/office/powerpoint/2010/main" val="219307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down)">
                                      <p:cBhvr>
                                        <p:cTn id="18" dur="500"/>
                                        <p:tgtEl>
                                          <p:spTgt spid="3">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down)">
                                      <p:cBhvr>
                                        <p:cTn id="21" dur="500"/>
                                        <p:tgtEl>
                                          <p:spTgt spid="3">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down)">
                                      <p:cBhvr>
                                        <p:cTn id="24" dur="500"/>
                                        <p:tgtEl>
                                          <p:spTgt spid="3">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down)">
                                      <p:cBhvr>
                                        <p:cTn id="27" dur="500"/>
                                        <p:tgtEl>
                                          <p:spTgt spid="3">
                                            <p:txEl>
                                              <p:pRg st="7" end="7"/>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wipe(down)">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Communication</a:t>
            </a:r>
          </a:p>
        </p:txBody>
      </p:sp>
      <p:sp>
        <p:nvSpPr>
          <p:cNvPr id="3" name="Content Placeholder 2"/>
          <p:cNvSpPr>
            <a:spLocks noGrp="1"/>
          </p:cNvSpPr>
          <p:nvPr>
            <p:ph idx="1"/>
          </p:nvPr>
        </p:nvSpPr>
        <p:spPr/>
        <p:txBody>
          <a:bodyPr/>
          <a:lstStyle/>
          <a:p>
            <a:r>
              <a:rPr lang="en-US" dirty="0"/>
              <a:t>Messages are directed and received from mailboxes (also referred to as ports)</a:t>
            </a:r>
          </a:p>
          <a:p>
            <a:pPr lvl="1"/>
            <a:r>
              <a:rPr lang="en-US" dirty="0"/>
              <a:t>Each mailbox has a unique id</a:t>
            </a:r>
          </a:p>
          <a:p>
            <a:pPr lvl="1"/>
            <a:r>
              <a:rPr lang="en-US" dirty="0"/>
              <a:t>Processes can communicate only if they share a mailbox</a:t>
            </a:r>
          </a:p>
          <a:p>
            <a:pPr lvl="1"/>
            <a:endParaRPr lang="en-US" dirty="0"/>
          </a:p>
          <a:p>
            <a:r>
              <a:rPr lang="en-US" dirty="0"/>
              <a:t>Properties of communication link</a:t>
            </a:r>
          </a:p>
          <a:p>
            <a:pPr lvl="1"/>
            <a:r>
              <a:rPr lang="en-US" dirty="0"/>
              <a:t>Link established only if processes share a common mailbox</a:t>
            </a:r>
          </a:p>
          <a:p>
            <a:pPr lvl="1"/>
            <a:r>
              <a:rPr lang="en-US" dirty="0"/>
              <a:t>A link may be associated with many processes</a:t>
            </a:r>
          </a:p>
          <a:p>
            <a:pPr lvl="1"/>
            <a:r>
              <a:rPr lang="en-US" dirty="0"/>
              <a:t>Each pair of processes may share several communication links</a:t>
            </a:r>
          </a:p>
          <a:p>
            <a:pPr lvl="1"/>
            <a:r>
              <a:rPr lang="en-US" dirty="0"/>
              <a:t>Link may be unidirectional or bi-directional</a:t>
            </a:r>
          </a:p>
          <a:p>
            <a:endParaRPr lang="en-US" dirty="0"/>
          </a:p>
        </p:txBody>
      </p:sp>
    </p:spTree>
    <p:extLst>
      <p:ext uri="{BB962C8B-B14F-4D97-AF65-F5344CB8AC3E}">
        <p14:creationId xmlns:p14="http://schemas.microsoft.com/office/powerpoint/2010/main" val="400401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00"/>
                                        <p:tgtEl>
                                          <p:spTgt spid="3">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wipe(down)">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Communication</a:t>
            </a:r>
          </a:p>
        </p:txBody>
      </p:sp>
      <p:sp>
        <p:nvSpPr>
          <p:cNvPr id="3" name="Content Placeholder 2"/>
          <p:cNvSpPr>
            <a:spLocks noGrp="1"/>
          </p:cNvSpPr>
          <p:nvPr>
            <p:ph idx="1"/>
          </p:nvPr>
        </p:nvSpPr>
        <p:spPr/>
        <p:txBody>
          <a:bodyPr/>
          <a:lstStyle/>
          <a:p>
            <a:r>
              <a:rPr lang="en-US" dirty="0"/>
              <a:t>Operations</a:t>
            </a:r>
          </a:p>
          <a:p>
            <a:pPr lvl="1"/>
            <a:r>
              <a:rPr lang="en-US" dirty="0"/>
              <a:t>create a new mailbox</a:t>
            </a:r>
          </a:p>
          <a:p>
            <a:pPr lvl="1"/>
            <a:r>
              <a:rPr lang="en-US" dirty="0"/>
              <a:t>send and receive messages through mailbox</a:t>
            </a:r>
          </a:p>
          <a:p>
            <a:pPr lvl="1"/>
            <a:r>
              <a:rPr lang="en-US" dirty="0"/>
              <a:t>destroy a mailbox</a:t>
            </a:r>
          </a:p>
          <a:p>
            <a:pPr lvl="1"/>
            <a:endParaRPr lang="en-US" dirty="0"/>
          </a:p>
          <a:p>
            <a:r>
              <a:rPr lang="en-US" dirty="0"/>
              <a:t>Primitives are defined as:</a:t>
            </a:r>
          </a:p>
          <a:p>
            <a:pPr>
              <a:buFont typeface="Monotype Sorts" charset="2"/>
              <a:buNone/>
            </a:pPr>
            <a:r>
              <a:rPr lang="en-US" dirty="0"/>
              <a:t>	</a:t>
            </a:r>
            <a:r>
              <a:rPr lang="en-US" b="1" dirty="0"/>
              <a:t>send</a:t>
            </a:r>
            <a:r>
              <a:rPr lang="en-US" dirty="0"/>
              <a:t>(</a:t>
            </a:r>
            <a:r>
              <a:rPr lang="en-US" i="1" dirty="0"/>
              <a:t>A, message</a:t>
            </a:r>
            <a:r>
              <a:rPr lang="en-US" dirty="0"/>
              <a:t>) – send a message to mailbox A</a:t>
            </a:r>
          </a:p>
          <a:p>
            <a:pPr>
              <a:buFont typeface="Monotype Sorts" charset="2"/>
              <a:buNone/>
            </a:pPr>
            <a:r>
              <a:rPr lang="en-US" dirty="0"/>
              <a:t>	</a:t>
            </a:r>
            <a:r>
              <a:rPr lang="en-US" b="1" dirty="0"/>
              <a:t>receive</a:t>
            </a:r>
            <a:r>
              <a:rPr lang="en-US" dirty="0"/>
              <a:t>(</a:t>
            </a:r>
            <a:r>
              <a:rPr lang="en-US" i="1" dirty="0"/>
              <a:t>A, message</a:t>
            </a:r>
            <a:r>
              <a:rPr lang="en-US" dirty="0"/>
              <a:t>) – receive a message from mailbox A</a:t>
            </a:r>
          </a:p>
          <a:p>
            <a:endParaRPr lang="en-US" dirty="0"/>
          </a:p>
        </p:txBody>
      </p:sp>
    </p:spTree>
    <p:extLst>
      <p:ext uri="{BB962C8B-B14F-4D97-AF65-F5344CB8AC3E}">
        <p14:creationId xmlns:p14="http://schemas.microsoft.com/office/powerpoint/2010/main" val="2489961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circle(in)">
                                      <p:cBhvr>
                                        <p:cTn id="15" dur="2000"/>
                                        <p:tgtEl>
                                          <p:spTgt spid="3">
                                            <p:txEl>
                                              <p:pRg st="1" end="1"/>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ircle(in)">
                                      <p:cBhvr>
                                        <p:cTn id="18" dur="2000"/>
                                        <p:tgtEl>
                                          <p:spTgt spid="3">
                                            <p:txEl>
                                              <p:pRg st="2" end="2"/>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circle(in)">
                                      <p:cBhvr>
                                        <p:cTn id="21" dur="2000"/>
                                        <p:tgtEl>
                                          <p:spTgt spid="3">
                                            <p:txEl>
                                              <p:pRg st="3" end="3"/>
                                            </p:txEl>
                                          </p:spTgt>
                                        </p:tgtEl>
                                      </p:cBhvr>
                                    </p:animEffect>
                                  </p:childTnLst>
                                </p:cTn>
                              </p:par>
                              <p:par>
                                <p:cTn id="22" presetID="6" presetClass="entr" presetSubtype="16"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circle(in)">
                                      <p:cBhvr>
                                        <p:cTn id="24" dur="2000"/>
                                        <p:tgtEl>
                                          <p:spTgt spid="3">
                                            <p:txEl>
                                              <p:pRg st="5" end="5"/>
                                            </p:txEl>
                                          </p:spTgt>
                                        </p:tgtEl>
                                      </p:cBhvr>
                                    </p:animEffect>
                                  </p:childTnLst>
                                </p:cTn>
                              </p:par>
                              <p:par>
                                <p:cTn id="25" presetID="6" presetClass="entr" presetSubtype="16"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circle(in)">
                                      <p:cBhvr>
                                        <p:cTn id="27" dur="2000"/>
                                        <p:tgtEl>
                                          <p:spTgt spid="3">
                                            <p:txEl>
                                              <p:pRg st="6" end="6"/>
                                            </p:txEl>
                                          </p:spTgt>
                                        </p:tgtEl>
                                      </p:cBhvr>
                                    </p:animEffect>
                                  </p:childTnLst>
                                </p:cTn>
                              </p:par>
                              <p:par>
                                <p:cTn id="28" presetID="6" presetClass="entr" presetSubtype="16"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circle(in)">
                                      <p:cBhvr>
                                        <p:cTn id="30"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Communication</a:t>
            </a:r>
          </a:p>
        </p:txBody>
      </p:sp>
      <p:sp>
        <p:nvSpPr>
          <p:cNvPr id="3" name="Content Placeholder 2"/>
          <p:cNvSpPr>
            <a:spLocks noGrp="1"/>
          </p:cNvSpPr>
          <p:nvPr>
            <p:ph idx="1"/>
          </p:nvPr>
        </p:nvSpPr>
        <p:spPr/>
        <p:txBody>
          <a:bodyPr/>
          <a:lstStyle/>
          <a:p>
            <a:r>
              <a:rPr lang="en-US" dirty="0"/>
              <a:t>Mailbox sharing</a:t>
            </a:r>
          </a:p>
          <a:p>
            <a:pPr lvl="1"/>
            <a:r>
              <a:rPr lang="en-US" i="1" dirty="0"/>
              <a:t>P</a:t>
            </a:r>
            <a:r>
              <a:rPr lang="en-US" i="1" baseline="-25000" dirty="0"/>
              <a:t>1</a:t>
            </a:r>
            <a:r>
              <a:rPr lang="en-US" i="1" dirty="0"/>
              <a:t>, P</a:t>
            </a:r>
            <a:r>
              <a:rPr lang="en-US" i="1" baseline="-25000" dirty="0"/>
              <a:t>2</a:t>
            </a:r>
            <a:r>
              <a:rPr lang="en-US" i="1" dirty="0"/>
              <a:t>,</a:t>
            </a:r>
            <a:r>
              <a:rPr lang="en-US" dirty="0"/>
              <a:t> and</a:t>
            </a:r>
            <a:r>
              <a:rPr lang="en-US" i="1" dirty="0"/>
              <a:t> P</a:t>
            </a:r>
            <a:r>
              <a:rPr lang="en-US" i="1" baseline="-25000" dirty="0"/>
              <a:t>3</a:t>
            </a:r>
            <a:r>
              <a:rPr lang="en-US" dirty="0"/>
              <a:t> share mailbox A</a:t>
            </a:r>
          </a:p>
          <a:p>
            <a:pPr lvl="1"/>
            <a:r>
              <a:rPr lang="en-US" i="1" dirty="0"/>
              <a:t>P</a:t>
            </a:r>
            <a:r>
              <a:rPr lang="en-US" i="1" baseline="-25000" dirty="0"/>
              <a:t>1</a:t>
            </a:r>
            <a:r>
              <a:rPr lang="en-US" dirty="0"/>
              <a:t>, sends; </a:t>
            </a:r>
            <a:r>
              <a:rPr lang="en-US" i="1" dirty="0"/>
              <a:t>P</a:t>
            </a:r>
            <a:r>
              <a:rPr lang="en-US" i="1" baseline="-25000" dirty="0"/>
              <a:t>2</a:t>
            </a:r>
            <a:r>
              <a:rPr lang="en-US" i="1" dirty="0"/>
              <a:t> </a:t>
            </a:r>
            <a:r>
              <a:rPr lang="en-US" dirty="0"/>
              <a:t>and</a:t>
            </a:r>
            <a:r>
              <a:rPr lang="en-US" i="1" dirty="0"/>
              <a:t> P</a:t>
            </a:r>
            <a:r>
              <a:rPr lang="en-US" i="1" baseline="-25000" dirty="0"/>
              <a:t>3</a:t>
            </a:r>
            <a:r>
              <a:rPr lang="en-US" dirty="0"/>
              <a:t> receive</a:t>
            </a:r>
          </a:p>
          <a:p>
            <a:pPr lvl="1"/>
            <a:r>
              <a:rPr lang="en-US" dirty="0"/>
              <a:t>Who gets the message?</a:t>
            </a:r>
          </a:p>
          <a:p>
            <a:pPr lvl="1"/>
            <a:endParaRPr lang="en-US" dirty="0"/>
          </a:p>
          <a:p>
            <a:r>
              <a:rPr lang="en-US" dirty="0"/>
              <a:t>Solutions</a:t>
            </a:r>
          </a:p>
          <a:p>
            <a:pPr lvl="1"/>
            <a:r>
              <a:rPr lang="en-US" dirty="0"/>
              <a:t>Allow a link to be associated with at most two processes</a:t>
            </a:r>
          </a:p>
          <a:p>
            <a:pPr lvl="1"/>
            <a:r>
              <a:rPr lang="en-US" dirty="0"/>
              <a:t>Allow only one process at a time to execute a receive operation</a:t>
            </a:r>
          </a:p>
          <a:p>
            <a:pPr lvl="1"/>
            <a:r>
              <a:rPr lang="en-US" dirty="0"/>
              <a:t>Allow the system to select arbitrarily the receiver.  Sender is notified who the receiver was.</a:t>
            </a:r>
          </a:p>
          <a:p>
            <a:endParaRPr lang="en-US" dirty="0"/>
          </a:p>
        </p:txBody>
      </p:sp>
    </p:spTree>
    <p:extLst>
      <p:ext uri="{BB962C8B-B14F-4D97-AF65-F5344CB8AC3E}">
        <p14:creationId xmlns:p14="http://schemas.microsoft.com/office/powerpoint/2010/main" val="170201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ipe(down)">
                                      <p:cBhvr>
                                        <p:cTn id="19" dur="500"/>
                                        <p:tgtEl>
                                          <p:spTgt spid="3">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wipe(down)">
                                      <p:cBhvr>
                                        <p:cTn id="25" dur="500"/>
                                        <p:tgtEl>
                                          <p:spTgt spid="3">
                                            <p:txEl>
                                              <p:pRg st="7" end="7"/>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wipe(down)">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3481" y="3273053"/>
            <a:ext cx="8915400" cy="566738"/>
          </a:xfrm>
        </p:spPr>
        <p:txBody>
          <a:bodyPr>
            <a:noAutofit/>
          </a:bodyPr>
          <a:lstStyle/>
          <a:p>
            <a:r>
              <a:rPr lang="en-US" sz="8800" dirty="0"/>
              <a:t>THE END</a:t>
            </a:r>
          </a:p>
        </p:txBody>
      </p:sp>
    </p:spTree>
    <p:extLst>
      <p:ext uri="{BB962C8B-B14F-4D97-AF65-F5344CB8AC3E}">
        <p14:creationId xmlns:p14="http://schemas.microsoft.com/office/powerpoint/2010/main" val="423802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docProps/app.xml><?xml version="1.0" encoding="utf-8"?>
<Properties xmlns="http://schemas.openxmlformats.org/officeDocument/2006/extended-properties" xmlns:vt="http://schemas.openxmlformats.org/officeDocument/2006/docPropsVTypes">
  <Template>Wisp</Template>
  <TotalTime>229</TotalTime>
  <Words>899</Words>
  <Application>Microsoft Office PowerPoint</Application>
  <PresentationFormat>Widescreen</PresentationFormat>
  <Paragraphs>111</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Yu Gothic UI Semibold</vt:lpstr>
      <vt:lpstr>Arial</vt:lpstr>
      <vt:lpstr>Bahnschrift</vt:lpstr>
      <vt:lpstr>Bahnschrift SemiBold</vt:lpstr>
      <vt:lpstr>Berlin Sans FB Demi</vt:lpstr>
      <vt:lpstr>Britannic Bold</vt:lpstr>
      <vt:lpstr>Century Gothic</vt:lpstr>
      <vt:lpstr>Monotype Sorts</vt:lpstr>
      <vt:lpstr>Wingdings 3</vt:lpstr>
      <vt:lpstr>Wisp</vt:lpstr>
      <vt:lpstr>INTER-PROCESS COMMUNICATION</vt:lpstr>
      <vt:lpstr>TABLE OF CONTENT</vt:lpstr>
      <vt:lpstr>INTER-PROCESS COMMUNICATION</vt:lpstr>
      <vt:lpstr>INTER-PROCESS COMMUNICATION</vt:lpstr>
      <vt:lpstr>INTER-PROCESS COMMUNICATION</vt:lpstr>
      <vt:lpstr>MODEL OF INTER-PROCESS COMMUNICATION</vt:lpstr>
      <vt:lpstr>INTER-PROCESS COMMUNICATION</vt:lpstr>
      <vt:lpstr>PowerPoint Presentation</vt:lpstr>
      <vt:lpstr>Producer-Consumer Problem</vt:lpstr>
      <vt:lpstr>Producer Consumer Problem</vt:lpstr>
      <vt:lpstr>Producer Consumer Problem</vt:lpstr>
      <vt:lpstr>INTER-PROCESS COMMUNICATION</vt:lpstr>
      <vt:lpstr>PowerPoint Presentation</vt:lpstr>
      <vt:lpstr>Direct Communication</vt:lpstr>
      <vt:lpstr>Direct Communication</vt:lpstr>
      <vt:lpstr>Indirect Communication</vt:lpstr>
      <vt:lpstr>Indirect Communication</vt:lpstr>
      <vt:lpstr>Indirect Communication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INTER-PROCESS COMMUNICATION</dc:title>
  <dc:creator>Windows User</dc:creator>
  <cp:lastModifiedBy>Muhammad Ikram</cp:lastModifiedBy>
  <cp:revision>25</cp:revision>
  <dcterms:created xsi:type="dcterms:W3CDTF">2024-03-17T06:05:10Z</dcterms:created>
  <dcterms:modified xsi:type="dcterms:W3CDTF">2024-03-26T01:32:45Z</dcterms:modified>
</cp:coreProperties>
</file>
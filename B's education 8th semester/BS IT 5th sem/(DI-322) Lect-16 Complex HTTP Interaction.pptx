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68" r:id="rId2"/>
    <p:sldId id="269" r:id="rId3"/>
    <p:sldId id="270" r:id="rId4"/>
    <p:sldId id="271" r:id="rId5"/>
    <p:sldId id="272" r:id="rId6"/>
    <p:sldId id="273" r:id="rId7"/>
    <p:sldId id="274" r:id="rId8"/>
    <p:sldId id="275" r:id="rId9"/>
    <p:sldId id="276" r:id="rId10"/>
    <p:sldId id="277"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05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39023B-1EA4-44D8-926B-D0DF1B8B1814}" type="datetimeFigureOut">
              <a:rPr lang="en-US" smtClean="0"/>
              <a:pPr/>
              <a:t>05/22/2019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6687B4-2936-4A77-A74B-234D606A2AA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13B850-0106-45AE-9BFA-D9397631D671}" type="datetimeFigureOut">
              <a:rPr lang="en-US" smtClean="0"/>
              <a:pPr/>
              <a:t>05/22/2019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A51CF-22BF-4B3C-8A27-8858A8A111B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13B850-0106-45AE-9BFA-D9397631D671}" type="datetimeFigureOut">
              <a:rPr lang="en-US" smtClean="0"/>
              <a:pPr/>
              <a:t>05/22/2019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1A51CF-22BF-4B3C-8A27-8858A8A111B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b="1" u="sng" dirty="0">
                <a:solidFill>
                  <a:srgbClr val="FF0000"/>
                </a:solidFill>
              </a:rPr>
              <a:t>COMPLEX HTTP INTERACTIONS</a:t>
            </a:r>
            <a:endParaRPr lang="en-US" u="sng" dirty="0">
              <a:solidFill>
                <a:srgbClr val="FF0000"/>
              </a:solidFill>
            </a:endParaRPr>
          </a:p>
        </p:txBody>
      </p:sp>
      <p:sp>
        <p:nvSpPr>
          <p:cNvPr id="3" name="Content Placeholder 2"/>
          <p:cNvSpPr>
            <a:spLocks noGrp="1"/>
          </p:cNvSpPr>
          <p:nvPr>
            <p:ph idx="1"/>
          </p:nvPr>
        </p:nvSpPr>
        <p:spPr>
          <a:xfrm>
            <a:off x="76200" y="838200"/>
            <a:ext cx="8991600" cy="5943600"/>
          </a:xfrm>
        </p:spPr>
        <p:txBody>
          <a:bodyPr>
            <a:normAutofit/>
          </a:bodyPr>
          <a:lstStyle/>
          <a:p>
            <a:r>
              <a:rPr lang="en-US" dirty="0"/>
              <a:t>Now that we have covered the basics of request and response processing, let us move on to situations where the interplay (interaction) of requests and responses yields more sophisticated functionality. The areas we mentioned earlier were</a:t>
            </a:r>
          </a:p>
          <a:p>
            <a:pPr lvl="1"/>
            <a:r>
              <a:rPr lang="en-US" dirty="0"/>
              <a:t> caching, authorization, cookies, the request of supporting data items, and the processing of other complex response headers</a:t>
            </a:r>
          </a:p>
          <a:p>
            <a:r>
              <a:rPr lang="en-US" dirty="0"/>
              <a:t>Let us examine how the modules in our browser architecture interact to provide this functionality.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pPr algn="l"/>
            <a:r>
              <a:rPr lang="en-US" b="1" u="sng" dirty="0">
                <a:solidFill>
                  <a:srgbClr val="FF0000"/>
                </a:solidFill>
              </a:rPr>
              <a:t>01: Caching:</a:t>
            </a:r>
            <a:endParaRPr lang="en-US" u="sng" dirty="0">
              <a:solidFill>
                <a:srgbClr val="FF0000"/>
              </a:solidFill>
            </a:endParaRPr>
          </a:p>
        </p:txBody>
      </p:sp>
      <p:sp>
        <p:nvSpPr>
          <p:cNvPr id="3" name="Content Placeholder 2"/>
          <p:cNvSpPr>
            <a:spLocks noGrp="1"/>
          </p:cNvSpPr>
          <p:nvPr>
            <p:ph idx="1"/>
          </p:nvPr>
        </p:nvSpPr>
        <p:spPr>
          <a:xfrm>
            <a:off x="76200" y="838200"/>
            <a:ext cx="8991600" cy="5943600"/>
          </a:xfrm>
        </p:spPr>
        <p:txBody>
          <a:bodyPr>
            <a:normAutofit fontScale="85000" lnSpcReduction="10000"/>
          </a:bodyPr>
          <a:lstStyle/>
          <a:p>
            <a:pPr algn="just"/>
            <a:r>
              <a:rPr lang="en-US" dirty="0"/>
              <a:t>When we speak of </a:t>
            </a:r>
            <a:r>
              <a:rPr lang="en-US" i="1" dirty="0"/>
              <a:t>caching, we are referring to the persistence in some storage </a:t>
            </a:r>
            <a:r>
              <a:rPr lang="en-US" dirty="0"/>
              <a:t>mechanisms of generated and retrieved server resources to improve the performance of the response generation process.</a:t>
            </a:r>
          </a:p>
          <a:p>
            <a:pPr algn="just"/>
            <a:r>
              <a:rPr lang="en-US" dirty="0"/>
              <a:t>There is </a:t>
            </a:r>
            <a:r>
              <a:rPr lang="en-US" i="1" dirty="0">
                <a:solidFill>
                  <a:srgbClr val="0000FF"/>
                </a:solidFill>
              </a:rPr>
              <a:t>server-side caching</a:t>
            </a:r>
            <a:r>
              <a:rPr lang="en-US" i="1" dirty="0"/>
              <a:t>, which relieves</a:t>
            </a:r>
            <a:r>
              <a:rPr lang="en-US" sz="2100" i="1" dirty="0"/>
              <a:t>(dismisses)</a:t>
            </a:r>
            <a:r>
              <a:rPr lang="en-US" i="1" dirty="0"/>
              <a:t> the server from </a:t>
            </a:r>
            <a:r>
              <a:rPr lang="en-US" dirty="0"/>
              <a:t>regenerating a response and ensured that the stored response is still deemed</a:t>
            </a:r>
            <a:r>
              <a:rPr lang="en-US" sz="2100" dirty="0"/>
              <a:t>(supposed)</a:t>
            </a:r>
            <a:r>
              <a:rPr lang="en-US" dirty="0"/>
              <a:t> usable (i.e. has not </a:t>
            </a:r>
            <a:r>
              <a:rPr lang="en-US" i="1" dirty="0"/>
              <a:t>expired). </a:t>
            </a:r>
          </a:p>
          <a:p>
            <a:pPr algn="just"/>
            <a:r>
              <a:rPr lang="en-US" dirty="0"/>
              <a:t>And in </a:t>
            </a:r>
            <a:r>
              <a:rPr lang="en-US" i="1" dirty="0">
                <a:solidFill>
                  <a:srgbClr val="0000FF"/>
                </a:solidFill>
              </a:rPr>
              <a:t>client-side caching</a:t>
            </a:r>
            <a:r>
              <a:rPr lang="en-US" i="1" dirty="0"/>
              <a:t>, it </a:t>
            </a:r>
            <a:r>
              <a:rPr lang="en-US" dirty="0"/>
              <a:t>can relieve the client of the responsibility for re-requesting a response from the server</a:t>
            </a:r>
          </a:p>
          <a:p>
            <a:pPr algn="just"/>
            <a:r>
              <a:rPr lang="en-US" dirty="0"/>
              <a:t>This can yield enormous savings in data transmission time.</a:t>
            </a:r>
          </a:p>
          <a:p>
            <a:pPr algn="just"/>
            <a:r>
              <a:rPr lang="en-US" dirty="0"/>
              <a:t>Support for browser caching requires three components:</a:t>
            </a:r>
          </a:p>
          <a:p>
            <a:pPr lvl="1" algn="just"/>
            <a:r>
              <a:rPr lang="en-US" sz="3100" i="1" dirty="0">
                <a:solidFill>
                  <a:srgbClr val="0000FF"/>
                </a:solidFill>
              </a:rPr>
              <a:t>Request Generation module, </a:t>
            </a:r>
          </a:p>
          <a:p>
            <a:pPr lvl="1" algn="just"/>
            <a:r>
              <a:rPr lang="en-US" sz="3100" i="1" dirty="0">
                <a:solidFill>
                  <a:srgbClr val="0000FF"/>
                </a:solidFill>
              </a:rPr>
              <a:t>Response Generation module </a:t>
            </a:r>
          </a:p>
          <a:p>
            <a:pPr lvl="1" algn="just"/>
            <a:r>
              <a:rPr lang="en-US" sz="3100" i="1" dirty="0">
                <a:solidFill>
                  <a:srgbClr val="0000FF"/>
                </a:solidFill>
              </a:rPr>
              <a:t>and Caching Support module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pPr algn="l"/>
            <a:r>
              <a:rPr lang="en-US" b="1" u="sng" dirty="0">
                <a:solidFill>
                  <a:srgbClr val="FF0000"/>
                </a:solidFill>
              </a:rPr>
              <a:t>01: Caching:</a:t>
            </a:r>
            <a:endParaRPr lang="en-US" u="sng" dirty="0">
              <a:solidFill>
                <a:srgbClr val="FF0000"/>
              </a:solidFill>
            </a:endParaRPr>
          </a:p>
        </p:txBody>
      </p:sp>
      <p:sp>
        <p:nvSpPr>
          <p:cNvPr id="3" name="Content Placeholder 2"/>
          <p:cNvSpPr>
            <a:spLocks noGrp="1"/>
          </p:cNvSpPr>
          <p:nvPr>
            <p:ph idx="1"/>
          </p:nvPr>
        </p:nvSpPr>
        <p:spPr>
          <a:xfrm>
            <a:off x="76200" y="838200"/>
            <a:ext cx="8991600" cy="5943600"/>
          </a:xfrm>
        </p:spPr>
        <p:txBody>
          <a:bodyPr>
            <a:normAutofit lnSpcReduction="10000"/>
          </a:bodyPr>
          <a:lstStyle/>
          <a:p>
            <a:r>
              <a:rPr lang="en-US" sz="2800" dirty="0"/>
              <a:t>An example of an HTTP response with the defined expiration date is shown below. This entry would expire one day after the original request was made:</a:t>
            </a:r>
          </a:p>
          <a:p>
            <a:pPr lvl="2">
              <a:buNone/>
            </a:pPr>
            <a:r>
              <a:rPr lang="en-US" b="1" dirty="0">
                <a:solidFill>
                  <a:srgbClr val="0000FF"/>
                </a:solidFill>
              </a:rPr>
              <a:t>HTTP/1.1 200 OK</a:t>
            </a:r>
          </a:p>
          <a:p>
            <a:pPr lvl="2">
              <a:buNone/>
            </a:pPr>
            <a:r>
              <a:rPr lang="en-US" b="1" dirty="0">
                <a:solidFill>
                  <a:srgbClr val="0000FF"/>
                </a:solidFill>
              </a:rPr>
              <a:t>Date: Sun, 13 May 2001 12:36:04 GMT</a:t>
            </a:r>
          </a:p>
          <a:p>
            <a:pPr lvl="2">
              <a:buNone/>
            </a:pPr>
            <a:r>
              <a:rPr lang="en-US" b="1" dirty="0">
                <a:solidFill>
                  <a:srgbClr val="0000FF"/>
                </a:solidFill>
              </a:rPr>
              <a:t>Content-Type: image/jpeg</a:t>
            </a:r>
          </a:p>
          <a:p>
            <a:pPr lvl="2">
              <a:buNone/>
            </a:pPr>
            <a:r>
              <a:rPr lang="en-US" b="1" dirty="0">
                <a:solidFill>
                  <a:srgbClr val="0000FF"/>
                </a:solidFill>
              </a:rPr>
              <a:t>Content-Length: 34567</a:t>
            </a:r>
          </a:p>
          <a:p>
            <a:pPr lvl="2">
              <a:buNone/>
            </a:pPr>
            <a:r>
              <a:rPr lang="en-US" b="1" dirty="0">
                <a:solidFill>
                  <a:srgbClr val="0000FF"/>
                </a:solidFill>
              </a:rPr>
              <a:t>Cache-Control: private</a:t>
            </a:r>
          </a:p>
          <a:p>
            <a:pPr lvl="2">
              <a:buNone/>
            </a:pPr>
            <a:r>
              <a:rPr lang="fr-FR" b="1" dirty="0">
                <a:solidFill>
                  <a:srgbClr val="0000FF"/>
                </a:solidFill>
              </a:rPr>
              <a:t>Expires: Mon, 14 May 2001 12:36:04 GMT</a:t>
            </a:r>
          </a:p>
          <a:p>
            <a:pPr lvl="2">
              <a:buNone/>
            </a:pPr>
            <a:r>
              <a:rPr lang="en-US" b="1" dirty="0">
                <a:solidFill>
                  <a:srgbClr val="0000FF"/>
                </a:solidFill>
              </a:rPr>
              <a:t>Last-Modified: Sun, 13 May 2001 12:36:04 GMT</a:t>
            </a:r>
          </a:p>
          <a:p>
            <a:pPr lvl="2">
              <a:buNone/>
            </a:pPr>
            <a:r>
              <a:rPr lang="en-US" b="1" i="1" dirty="0">
                <a:solidFill>
                  <a:srgbClr val="0000FF"/>
                </a:solidFill>
              </a:rPr>
              <a:t>. . .</a:t>
            </a:r>
          </a:p>
          <a:p>
            <a:r>
              <a:rPr lang="en-US" sz="2800" dirty="0"/>
              <a:t>The next time this particular resource is desired, the cached copy may be used, at least until the specified expiration date.</a:t>
            </a:r>
            <a:endParaRPr lang="en-US" sz="3100" i="1" dirty="0">
              <a:solidFill>
                <a:srgbClr val="00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pPr algn="l"/>
            <a:r>
              <a:rPr lang="en-US" b="1" u="sng" dirty="0">
                <a:solidFill>
                  <a:srgbClr val="FF0000"/>
                </a:solidFill>
              </a:rPr>
              <a:t>02: Cookie Coordination:</a:t>
            </a:r>
            <a:endParaRPr lang="en-US" u="sng" dirty="0">
              <a:solidFill>
                <a:srgbClr val="FF0000"/>
              </a:solidFill>
            </a:endParaRPr>
          </a:p>
        </p:txBody>
      </p:sp>
      <p:sp>
        <p:nvSpPr>
          <p:cNvPr id="3" name="Content Placeholder 2"/>
          <p:cNvSpPr>
            <a:spLocks noGrp="1"/>
          </p:cNvSpPr>
          <p:nvPr>
            <p:ph idx="1"/>
          </p:nvPr>
        </p:nvSpPr>
        <p:spPr>
          <a:xfrm>
            <a:off x="76200" y="838200"/>
            <a:ext cx="8991600" cy="5943600"/>
          </a:xfrm>
        </p:spPr>
        <p:txBody>
          <a:bodyPr>
            <a:normAutofit fontScale="85000" lnSpcReduction="20000"/>
          </a:bodyPr>
          <a:lstStyle/>
          <a:p>
            <a:pPr algn="just"/>
            <a:r>
              <a:rPr lang="en-US" sz="2800" dirty="0"/>
              <a:t>HTTP is a stateless protocol, but </a:t>
            </a:r>
            <a:r>
              <a:rPr lang="en-US" sz="2800" i="1" dirty="0"/>
              <a:t>cookies can maintain the state during </a:t>
            </a:r>
            <a:r>
              <a:rPr lang="en-US" sz="2800" dirty="0"/>
              <a:t>a browser session.</a:t>
            </a:r>
          </a:p>
          <a:p>
            <a:pPr algn="just"/>
            <a:r>
              <a:rPr lang="en-US" sz="2800" i="1" dirty="0">
                <a:solidFill>
                  <a:srgbClr val="0000FF"/>
                </a:solidFill>
              </a:rPr>
              <a:t>The principle is simple</a:t>
            </a:r>
            <a:r>
              <a:rPr lang="en-US" sz="2800" dirty="0"/>
              <a:t>: In responses sent to browsers, servers can include key/value pairs (cookies), which the clients are responsible for remembering.</a:t>
            </a:r>
          </a:p>
          <a:p>
            <a:pPr algn="just"/>
            <a:r>
              <a:rPr lang="en-US" sz="2800" dirty="0"/>
              <a:t>Every time the client sends a request back to a server for which it has received a cookie, it must include it in the request.</a:t>
            </a:r>
          </a:p>
          <a:p>
            <a:pPr algn="just"/>
            <a:r>
              <a:rPr lang="en-US" sz="2800" dirty="0"/>
              <a:t>This helps servers to </a:t>
            </a:r>
            <a:r>
              <a:rPr lang="en-US" sz="2800" i="1" dirty="0"/>
              <a:t>identify specific browser instances, allowing </a:t>
            </a:r>
            <a:r>
              <a:rPr lang="en-US" sz="2800" dirty="0"/>
              <a:t>them to associate the requests with particular users. </a:t>
            </a:r>
          </a:p>
          <a:p>
            <a:pPr algn="just"/>
            <a:r>
              <a:rPr lang="en-US" sz="2800" dirty="0"/>
              <a:t>Servers transmit cookies to browsers:</a:t>
            </a:r>
          </a:p>
          <a:p>
            <a:pPr algn="just">
              <a:buNone/>
            </a:pPr>
            <a:r>
              <a:rPr lang="en-US" sz="2800" b="1" dirty="0">
                <a:solidFill>
                  <a:srgbClr val="0000FF"/>
                </a:solidFill>
              </a:rPr>
              <a:t>	Set-Cookie: </a:t>
            </a:r>
          </a:p>
          <a:p>
            <a:pPr algn="just">
              <a:buNone/>
            </a:pPr>
            <a:r>
              <a:rPr lang="en-US" sz="2800" b="1" dirty="0">
                <a:solidFill>
                  <a:srgbClr val="0000FF"/>
                </a:solidFill>
              </a:rPr>
              <a:t>		&lt;name&gt;=&lt;value&gt;[; expires=&lt;date&gt;][; path=&lt;path&gt;]</a:t>
            </a:r>
          </a:p>
          <a:p>
            <a:pPr algn="just">
              <a:buNone/>
            </a:pPr>
            <a:r>
              <a:rPr lang="en-US" sz="2800" b="1" dirty="0">
                <a:solidFill>
                  <a:srgbClr val="0000FF"/>
                </a:solidFill>
              </a:rPr>
              <a:t>				[; domain=&lt;domain name&gt;][; secure]</a:t>
            </a:r>
          </a:p>
          <a:p>
            <a:pPr algn="just"/>
            <a:r>
              <a:rPr lang="en-US" sz="2800" dirty="0"/>
              <a:t>Browsers send identifying cookies back to appropriate servers by including a set of Key/Value pairs originally sent by the server:</a:t>
            </a:r>
          </a:p>
          <a:p>
            <a:pPr algn="just">
              <a:buNone/>
            </a:pPr>
            <a:r>
              <a:rPr lang="en-US" sz="2800" b="1" dirty="0">
                <a:solidFill>
                  <a:srgbClr val="0000FF"/>
                </a:solidFill>
              </a:rPr>
              <a:t>		Cookie:  key1=value1;  key2=value2; </a:t>
            </a:r>
            <a:r>
              <a:rPr lang="en-US" sz="2800" b="1" i="1" dirty="0">
                <a:solidFill>
                  <a:srgbClr val="0000FF"/>
                </a:solidFill>
              </a:rPr>
              <a:t>. . .</a:t>
            </a:r>
            <a:endParaRPr lang="en-US" sz="2800" b="1" dirty="0">
              <a:solidFill>
                <a:srgbClr val="0000FF"/>
              </a:solidFill>
            </a:endParaRPr>
          </a:p>
          <a:p>
            <a:pPr algn="just"/>
            <a:endParaRPr lang="en-US" sz="2800" b="1" dirty="0">
              <a:solidFill>
                <a:srgbClr val="0000FF"/>
              </a:solidFill>
            </a:endParaRPr>
          </a:p>
          <a:p>
            <a:endParaRPr lang="en-US" sz="3100" i="1" dirty="0">
              <a:solidFill>
                <a:srgbClr val="00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pPr algn="l"/>
            <a:r>
              <a:rPr lang="en-US" b="1" u="sng" dirty="0">
                <a:solidFill>
                  <a:srgbClr val="FF0000"/>
                </a:solidFill>
              </a:rPr>
              <a:t>03: Authorization: </a:t>
            </a:r>
            <a:r>
              <a:rPr lang="en-US" sz="3600" b="1" u="sng" dirty="0">
                <a:solidFill>
                  <a:srgbClr val="FF0000"/>
                </a:solidFill>
              </a:rPr>
              <a:t>challenge and response</a:t>
            </a:r>
            <a:endParaRPr lang="en-US" sz="3600" u="sng" dirty="0">
              <a:solidFill>
                <a:srgbClr val="FF0000"/>
              </a:solidFill>
            </a:endParaRPr>
          </a:p>
        </p:txBody>
      </p:sp>
      <p:sp>
        <p:nvSpPr>
          <p:cNvPr id="3" name="Content Placeholder 2"/>
          <p:cNvSpPr>
            <a:spLocks noGrp="1"/>
          </p:cNvSpPr>
          <p:nvPr>
            <p:ph idx="1"/>
          </p:nvPr>
        </p:nvSpPr>
        <p:spPr>
          <a:xfrm>
            <a:off x="76200" y="838200"/>
            <a:ext cx="8991600" cy="5943600"/>
          </a:xfrm>
        </p:spPr>
        <p:txBody>
          <a:bodyPr>
            <a:normAutofit lnSpcReduction="10000"/>
          </a:bodyPr>
          <a:lstStyle/>
          <a:p>
            <a:pPr algn="just"/>
            <a:r>
              <a:rPr lang="en-US" sz="2800" dirty="0"/>
              <a:t>The authorization mechanism associated with </a:t>
            </a:r>
            <a:r>
              <a:rPr lang="en-US" sz="2800" i="1" dirty="0">
                <a:solidFill>
                  <a:srgbClr val="0000FF"/>
                </a:solidFill>
              </a:rPr>
              <a:t>basic HTTP authentication</a:t>
            </a:r>
            <a:r>
              <a:rPr lang="en-US" sz="2800" i="1" dirty="0"/>
              <a:t> is an ongoing </a:t>
            </a:r>
            <a:r>
              <a:rPr lang="en-US" sz="2800" dirty="0"/>
              <a:t>interchange. </a:t>
            </a:r>
          </a:p>
          <a:p>
            <a:pPr algn="just"/>
            <a:r>
              <a:rPr lang="en-US" sz="2800" dirty="0"/>
              <a:t>Mechanisms exist on virtually all web servers to ‘protect’ selected resources from web clients.</a:t>
            </a:r>
          </a:p>
          <a:p>
            <a:pPr algn="just"/>
            <a:r>
              <a:rPr lang="en-US" sz="2800" dirty="0"/>
              <a:t>Usually, this is accomplished through a combination of </a:t>
            </a:r>
            <a:r>
              <a:rPr lang="en-US" sz="2800" dirty="0">
                <a:solidFill>
                  <a:srgbClr val="0000FF"/>
                </a:solidFill>
              </a:rPr>
              <a:t>IP address security</a:t>
            </a:r>
            <a:r>
              <a:rPr lang="en-US" sz="2800" dirty="0"/>
              <a:t> and some form of </a:t>
            </a:r>
            <a:r>
              <a:rPr lang="en-US" sz="2800" i="1" dirty="0">
                <a:solidFill>
                  <a:srgbClr val="0000FF"/>
                </a:solidFill>
              </a:rPr>
              <a:t>Access Control List (ACL)</a:t>
            </a:r>
            <a:r>
              <a:rPr lang="en-US" sz="2800" i="1" dirty="0"/>
              <a:t> describes the identifiers and passwords for users that </a:t>
            </a:r>
            <a:r>
              <a:rPr lang="en-US" sz="2800" dirty="0"/>
              <a:t>are allowed to access the resources. </a:t>
            </a:r>
          </a:p>
          <a:p>
            <a:pPr algn="just"/>
            <a:r>
              <a:rPr lang="en-US" sz="2800" dirty="0"/>
              <a:t>The Webmaster associates groups of resources (usually directory sub-trees) with specific </a:t>
            </a:r>
            <a:r>
              <a:rPr lang="en-US" sz="2800" dirty="0">
                <a:solidFill>
                  <a:srgbClr val="0000FF"/>
                </a:solidFill>
              </a:rPr>
              <a:t>realms</a:t>
            </a:r>
            <a:r>
              <a:rPr lang="en-US" sz="2800" dirty="0"/>
              <a:t> (area of storage).</a:t>
            </a:r>
          </a:p>
          <a:p>
            <a:pPr algn="just"/>
            <a:r>
              <a:rPr lang="en-US" sz="2800" dirty="0"/>
              <a:t>Let’s start with a Web client request for a protected resource. </a:t>
            </a:r>
          </a:p>
          <a:p>
            <a:pPr lvl="3">
              <a:buNone/>
            </a:pPr>
            <a:r>
              <a:rPr lang="en-US" sz="2400" b="1" dirty="0">
                <a:solidFill>
                  <a:srgbClr val="0000FF"/>
                </a:solidFill>
              </a:rPr>
              <a:t>GET     /protected/index.html HTTP/1.1</a:t>
            </a:r>
          </a:p>
          <a:p>
            <a:pPr lvl="3">
              <a:buNone/>
            </a:pPr>
            <a:r>
              <a:rPr lang="en-US" sz="2400" b="1" dirty="0">
                <a:solidFill>
                  <a:srgbClr val="0000FF"/>
                </a:solidFill>
              </a:rPr>
              <a:t>Host:  secret.resource.com</a:t>
            </a:r>
            <a:endParaRPr lang="en-US" sz="2400" b="1" i="1" dirty="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fontScale="90000"/>
          </a:bodyPr>
          <a:lstStyle/>
          <a:p>
            <a:pPr algn="l"/>
            <a:r>
              <a:rPr lang="en-US" b="1" u="sng" dirty="0">
                <a:solidFill>
                  <a:srgbClr val="FF0000"/>
                </a:solidFill>
              </a:rPr>
              <a:t>03: Authorization: </a:t>
            </a:r>
            <a:r>
              <a:rPr lang="en-US" sz="3600" b="1" u="sng" dirty="0">
                <a:solidFill>
                  <a:srgbClr val="FF0000"/>
                </a:solidFill>
              </a:rPr>
              <a:t>challenge and response</a:t>
            </a:r>
            <a:endParaRPr lang="en-US" sz="3600" u="sng" dirty="0">
              <a:solidFill>
                <a:srgbClr val="FF0000"/>
              </a:solidFill>
            </a:endParaRPr>
          </a:p>
        </p:txBody>
      </p:sp>
      <p:sp>
        <p:nvSpPr>
          <p:cNvPr id="3" name="Content Placeholder 2"/>
          <p:cNvSpPr>
            <a:spLocks noGrp="1"/>
          </p:cNvSpPr>
          <p:nvPr>
            <p:ph idx="1"/>
          </p:nvPr>
        </p:nvSpPr>
        <p:spPr>
          <a:xfrm>
            <a:off x="76200" y="838200"/>
            <a:ext cx="8991600" cy="5943600"/>
          </a:xfrm>
        </p:spPr>
        <p:txBody>
          <a:bodyPr>
            <a:noAutofit/>
          </a:bodyPr>
          <a:lstStyle/>
          <a:p>
            <a:r>
              <a:rPr lang="en-US" sz="2600" dirty="0"/>
              <a:t>The Web server, however, knows that the resource is protected (and is associated with a particular realm), and sends an appropriate response, with the following </a:t>
            </a:r>
            <a:r>
              <a:rPr lang="en-US" sz="2600" b="1" dirty="0"/>
              <a:t>status code</a:t>
            </a:r>
            <a:r>
              <a:rPr lang="en-US" sz="2600" dirty="0"/>
              <a:t>:</a:t>
            </a:r>
          </a:p>
          <a:p>
            <a:pPr>
              <a:buNone/>
            </a:pPr>
            <a:r>
              <a:rPr lang="en-US" sz="2600" dirty="0"/>
              <a:t>		</a:t>
            </a:r>
            <a:r>
              <a:rPr lang="en-US" sz="2600" dirty="0">
                <a:solidFill>
                  <a:srgbClr val="0000FF"/>
                </a:solidFill>
              </a:rPr>
              <a:t>HTTP/1.1 401 Not Authorized</a:t>
            </a:r>
          </a:p>
          <a:p>
            <a:pPr>
              <a:buNone/>
            </a:pPr>
            <a:r>
              <a:rPr lang="en-US" sz="2600" dirty="0">
                <a:solidFill>
                  <a:srgbClr val="0000FF"/>
                </a:solidFill>
              </a:rPr>
              <a:t>		Date: Sun, 11 Feb 2001 22:28:31 GMT</a:t>
            </a:r>
          </a:p>
          <a:p>
            <a:pPr>
              <a:buNone/>
            </a:pPr>
            <a:r>
              <a:rPr lang="en-US" sz="2600" dirty="0">
                <a:solidFill>
                  <a:srgbClr val="0000FF"/>
                </a:solidFill>
              </a:rPr>
              <a:t>		WWW-Authenticate: Basic realm ="Top </a:t>
            </a:r>
            <a:r>
              <a:rPr lang="en-US" sz="2600" dirty="0" err="1">
                <a:solidFill>
                  <a:srgbClr val="0000FF"/>
                </a:solidFill>
              </a:rPr>
              <a:t>Seekrit</a:t>
            </a:r>
            <a:r>
              <a:rPr lang="en-US" sz="2600" dirty="0">
                <a:solidFill>
                  <a:srgbClr val="0000FF"/>
                </a:solidFill>
              </a:rPr>
              <a:t>"</a:t>
            </a:r>
          </a:p>
          <a:p>
            <a:pPr>
              <a:buNone/>
            </a:pPr>
            <a:r>
              <a:rPr lang="en-US" sz="2600" dirty="0">
                <a:solidFill>
                  <a:srgbClr val="0000FF"/>
                </a:solidFill>
              </a:rPr>
              <a:t>		Content-type: text/html </a:t>
            </a:r>
            <a:r>
              <a:rPr lang="en-US" sz="2600" i="1" dirty="0">
                <a:solidFill>
                  <a:srgbClr val="0000FF"/>
                </a:solidFill>
              </a:rPr>
              <a:t>		</a:t>
            </a:r>
          </a:p>
          <a:p>
            <a:r>
              <a:rPr lang="en-US" sz="2600" dirty="0"/>
              <a:t>This response is the </a:t>
            </a:r>
            <a:r>
              <a:rPr lang="en-US" sz="2600" i="1" dirty="0">
                <a:solidFill>
                  <a:srgbClr val="0000FF"/>
                </a:solidFill>
              </a:rPr>
              <a:t>authentication challenge</a:t>
            </a:r>
            <a:r>
              <a:rPr lang="en-US" sz="2600" i="1" dirty="0"/>
              <a:t>. At this point, the client must answer </a:t>
            </a:r>
            <a:r>
              <a:rPr lang="en-US" sz="2600" dirty="0"/>
              <a:t>the challenge by providing </a:t>
            </a:r>
            <a:r>
              <a:rPr lang="en-US" sz="2600" i="1" dirty="0">
                <a:solidFill>
                  <a:srgbClr val="0000FF"/>
                </a:solidFill>
              </a:rPr>
              <a:t>authorization credentials</a:t>
            </a:r>
            <a:r>
              <a:rPr lang="en-US" sz="2600" i="1" dirty="0"/>
              <a:t>.</a:t>
            </a:r>
          </a:p>
          <a:p>
            <a:r>
              <a:rPr lang="en-US" sz="2600" dirty="0"/>
              <a:t>If the credentials provided </a:t>
            </a:r>
            <a:r>
              <a:rPr lang="en-US" sz="2600" i="1" dirty="0">
                <a:solidFill>
                  <a:srgbClr val="0000FF"/>
                </a:solidFill>
              </a:rPr>
              <a:t>do</a:t>
            </a:r>
            <a:r>
              <a:rPr lang="en-US" sz="2600" i="1" dirty="0"/>
              <a:t> match the </a:t>
            </a:r>
            <a:r>
              <a:rPr lang="en-US" sz="2600" i="1" dirty="0">
                <a:solidFill>
                  <a:srgbClr val="0000FF"/>
                </a:solidFill>
              </a:rPr>
              <a:t>user-id</a:t>
            </a:r>
            <a:r>
              <a:rPr lang="en-US" sz="2600" i="1" dirty="0"/>
              <a:t> and </a:t>
            </a:r>
            <a:r>
              <a:rPr lang="en-US" sz="2600" i="1" dirty="0">
                <a:solidFill>
                  <a:srgbClr val="0000FF"/>
                </a:solidFill>
              </a:rPr>
              <a:t>password</a:t>
            </a:r>
            <a:r>
              <a:rPr lang="en-US" sz="2600" i="1" dirty="0"/>
              <a:t> in the ACL, the </a:t>
            </a:r>
            <a:r>
              <a:rPr lang="en-US" sz="2600" dirty="0"/>
              <a:t>Web server will then finally transmit the contents of the requested resource.</a:t>
            </a:r>
            <a:endParaRPr lang="en-US" sz="2600" b="1" i="1" dirty="0">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1143000"/>
          </a:xfrm>
        </p:spPr>
        <p:txBody>
          <a:bodyPr>
            <a:noAutofit/>
          </a:bodyPr>
          <a:lstStyle/>
          <a:p>
            <a:pPr algn="l"/>
            <a:r>
              <a:rPr lang="en-US" sz="3600" b="1" u="sng" dirty="0">
                <a:solidFill>
                  <a:srgbClr val="FF0000"/>
                </a:solidFill>
              </a:rPr>
              <a:t>04: </a:t>
            </a:r>
            <a:r>
              <a:rPr lang="en-US" sz="3600" b="1" u="sng" dirty="0">
                <a:solidFill>
                  <a:srgbClr val="C00000"/>
                </a:solidFill>
              </a:rPr>
              <a:t>Re-factoring: common mechanisms for storing persistent data</a:t>
            </a:r>
            <a:endParaRPr lang="en-US" sz="3600" u="sng" dirty="0">
              <a:solidFill>
                <a:srgbClr val="C00000"/>
              </a:solidFill>
            </a:endParaRPr>
          </a:p>
        </p:txBody>
      </p:sp>
      <p:sp>
        <p:nvSpPr>
          <p:cNvPr id="3" name="Content Placeholder 2"/>
          <p:cNvSpPr>
            <a:spLocks noGrp="1"/>
          </p:cNvSpPr>
          <p:nvPr>
            <p:ph idx="1"/>
          </p:nvPr>
        </p:nvSpPr>
        <p:spPr>
          <a:xfrm>
            <a:off x="76200" y="1219200"/>
            <a:ext cx="8991600" cy="5943600"/>
          </a:xfrm>
        </p:spPr>
        <p:txBody>
          <a:bodyPr>
            <a:noAutofit/>
          </a:bodyPr>
          <a:lstStyle/>
          <a:p>
            <a:r>
              <a:rPr lang="en-US" sz="2600" dirty="0"/>
              <a:t>There are many similarities between the mechanisms provided for storing cached content, cookie information, and authorization credentials. </a:t>
            </a:r>
          </a:p>
          <a:p>
            <a:r>
              <a:rPr lang="en-US" sz="2600" dirty="0"/>
              <a:t>They can all be thought of as a form of </a:t>
            </a:r>
            <a:r>
              <a:rPr lang="en-US" sz="2600" i="1" dirty="0"/>
              <a:t>persistence, since they all represent efforts to store similarly </a:t>
            </a:r>
            <a:r>
              <a:rPr lang="en-US" sz="2600" dirty="0"/>
              <a:t>structured information that will be reused later on.</a:t>
            </a:r>
          </a:p>
          <a:p>
            <a:r>
              <a:rPr lang="en-US" sz="2600" dirty="0"/>
              <a:t>Therefore browser builds a generalized persistence mechanism for all of these purposes i.e. :</a:t>
            </a:r>
          </a:p>
          <a:p>
            <a:r>
              <a:rPr lang="en-US" sz="2600" dirty="0">
                <a:solidFill>
                  <a:srgbClr val="0000FF"/>
                </a:solidFill>
              </a:rPr>
              <a:t>In-memory persistence</a:t>
            </a:r>
            <a:r>
              <a:rPr lang="en-US" sz="2600" dirty="0"/>
              <a:t> (</a:t>
            </a:r>
            <a:r>
              <a:rPr lang="en-US" sz="2200" dirty="0"/>
              <a:t>where persisted information is saved only for the duration of the browser session and never stored permanently)</a:t>
            </a:r>
            <a:r>
              <a:rPr lang="en-US" sz="2600" dirty="0"/>
              <a:t>,</a:t>
            </a:r>
          </a:p>
          <a:p>
            <a:r>
              <a:rPr lang="en-US" sz="2600" dirty="0">
                <a:solidFill>
                  <a:srgbClr val="0000FF"/>
                </a:solidFill>
              </a:rPr>
              <a:t>long-term persistence</a:t>
            </a:r>
            <a:r>
              <a:rPr lang="en-US" sz="2600" dirty="0"/>
              <a:t> (</a:t>
            </a:r>
            <a:r>
              <a:rPr lang="en-US" sz="2200" dirty="0"/>
              <a:t>where persisted information may be placed in some form of permanent data storage so that it lasts beyond the end of the browser session)</a:t>
            </a:r>
            <a:r>
              <a:rPr lang="en-US" sz="2600" dirty="0"/>
              <a:t>.</a:t>
            </a:r>
            <a:endParaRPr lang="en-US" sz="2600" b="1" i="1" dirty="0">
              <a:solidFill>
                <a:srgbClr val="00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1143000"/>
          </a:xfrm>
        </p:spPr>
        <p:txBody>
          <a:bodyPr>
            <a:noAutofit/>
          </a:bodyPr>
          <a:lstStyle/>
          <a:p>
            <a:pPr algn="l"/>
            <a:r>
              <a:rPr lang="en-US" sz="3600" b="1" u="sng" dirty="0">
                <a:solidFill>
                  <a:srgbClr val="FF0000"/>
                </a:solidFill>
              </a:rPr>
              <a:t>04: </a:t>
            </a:r>
            <a:r>
              <a:rPr lang="en-US" sz="3600" b="1" u="sng" dirty="0">
                <a:solidFill>
                  <a:srgbClr val="C00000"/>
                </a:solidFill>
              </a:rPr>
              <a:t>Re-factoring: </a:t>
            </a:r>
            <a:br>
              <a:rPr lang="en-US" sz="3600" b="1" u="sng" dirty="0">
                <a:solidFill>
                  <a:srgbClr val="C00000"/>
                </a:solidFill>
              </a:rPr>
            </a:br>
            <a:r>
              <a:rPr lang="en-US" sz="2800" dirty="0"/>
              <a:t>Browser mechanisms for storing persistent data:</a:t>
            </a:r>
            <a:endParaRPr lang="en-US" sz="2800" u="sng" dirty="0">
              <a:solidFill>
                <a:srgbClr val="C00000"/>
              </a:solidFill>
            </a:endParaRPr>
          </a:p>
        </p:txBody>
      </p:sp>
      <p:graphicFrame>
        <p:nvGraphicFramePr>
          <p:cNvPr id="4" name="Content Placeholder 3"/>
          <p:cNvGraphicFramePr>
            <a:graphicFrameLocks noGrp="1"/>
          </p:cNvGraphicFramePr>
          <p:nvPr>
            <p:ph idx="1"/>
          </p:nvPr>
        </p:nvGraphicFramePr>
        <p:xfrm>
          <a:off x="76200" y="1295400"/>
          <a:ext cx="8991600" cy="4910380"/>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val="20000"/>
                    </a:ext>
                  </a:extLst>
                </a:gridCol>
                <a:gridCol w="1798320">
                  <a:extLst>
                    <a:ext uri="{9D8B030D-6E8A-4147-A177-3AD203B41FA5}">
                      <a16:colId xmlns:a16="http://schemas.microsoft.com/office/drawing/2014/main" val="20001"/>
                    </a:ext>
                  </a:extLst>
                </a:gridCol>
                <a:gridCol w="1798320">
                  <a:extLst>
                    <a:ext uri="{9D8B030D-6E8A-4147-A177-3AD203B41FA5}">
                      <a16:colId xmlns:a16="http://schemas.microsoft.com/office/drawing/2014/main" val="20002"/>
                    </a:ext>
                  </a:extLst>
                </a:gridCol>
                <a:gridCol w="1798320">
                  <a:extLst>
                    <a:ext uri="{9D8B030D-6E8A-4147-A177-3AD203B41FA5}">
                      <a16:colId xmlns:a16="http://schemas.microsoft.com/office/drawing/2014/main" val="20003"/>
                    </a:ext>
                  </a:extLst>
                </a:gridCol>
                <a:gridCol w="1798320">
                  <a:extLst>
                    <a:ext uri="{9D8B030D-6E8A-4147-A177-3AD203B41FA5}">
                      <a16:colId xmlns:a16="http://schemas.microsoft.com/office/drawing/2014/main" val="20004"/>
                    </a:ext>
                  </a:extLst>
                </a:gridCol>
              </a:tblGrid>
              <a:tr h="661013">
                <a:tc>
                  <a:txBody>
                    <a:bodyPr/>
                    <a:lstStyle/>
                    <a:p>
                      <a:endParaRPr lang="en-US" dirty="0"/>
                    </a:p>
                  </a:txBody>
                  <a:tcPr/>
                </a:tc>
                <a:tc>
                  <a:txBody>
                    <a:bodyPr/>
                    <a:lstStyle/>
                    <a:p>
                      <a:r>
                        <a:rPr lang="en-US" sz="1800" b="1" kern="1200" baseline="0" dirty="0">
                          <a:solidFill>
                            <a:schemeClr val="lt1"/>
                          </a:solidFill>
                          <a:latin typeface="+mn-lt"/>
                          <a:ea typeface="+mn-ea"/>
                          <a:cs typeface="+mn-cs"/>
                        </a:rPr>
                        <a:t>Decision to store</a:t>
                      </a:r>
                      <a:endParaRPr lang="en-US" dirty="0"/>
                    </a:p>
                  </a:txBody>
                  <a:tcPr/>
                </a:tc>
                <a:tc>
                  <a:txBody>
                    <a:bodyPr/>
                    <a:lstStyle/>
                    <a:p>
                      <a:r>
                        <a:rPr lang="en-US" sz="1800" b="1" kern="1200" baseline="0" dirty="0">
                          <a:solidFill>
                            <a:schemeClr val="lt1"/>
                          </a:solidFill>
                          <a:latin typeface="+mn-lt"/>
                          <a:ea typeface="+mn-ea"/>
                          <a:cs typeface="+mn-cs"/>
                        </a:rPr>
                        <a:t>Access key</a:t>
                      </a:r>
                      <a:endParaRPr lang="en-US" dirty="0"/>
                    </a:p>
                  </a:txBody>
                  <a:tcPr/>
                </a:tc>
                <a:tc>
                  <a:txBody>
                    <a:bodyPr/>
                    <a:lstStyle/>
                    <a:p>
                      <a:r>
                        <a:rPr lang="en-US" sz="1800" b="1" kern="1200" baseline="0" dirty="0">
                          <a:solidFill>
                            <a:schemeClr val="lt1"/>
                          </a:solidFill>
                          <a:latin typeface="+mn-lt"/>
                          <a:ea typeface="+mn-ea"/>
                          <a:cs typeface="+mn-cs"/>
                        </a:rPr>
                        <a:t>When to delete</a:t>
                      </a:r>
                      <a:endParaRPr lang="en-US" dirty="0"/>
                    </a:p>
                  </a:txBody>
                  <a:tcPr/>
                </a:tc>
                <a:tc>
                  <a:txBody>
                    <a:bodyPr/>
                    <a:lstStyle/>
                    <a:p>
                      <a:r>
                        <a:rPr lang="en-US" sz="1800" b="1" kern="1200" baseline="0" dirty="0">
                          <a:solidFill>
                            <a:schemeClr val="lt1"/>
                          </a:solidFill>
                          <a:latin typeface="+mn-lt"/>
                          <a:ea typeface="+mn-ea"/>
                          <a:cs typeface="+mn-cs"/>
                        </a:rPr>
                        <a:t>Storage mechanism</a:t>
                      </a:r>
                      <a:endParaRPr lang="en-US" dirty="0"/>
                    </a:p>
                  </a:txBody>
                  <a:tcPr/>
                </a:tc>
                <a:extLst>
                  <a:ext uri="{0D108BD9-81ED-4DB2-BD59-A6C34878D82A}">
                    <a16:rowId xmlns:a16="http://schemas.microsoft.com/office/drawing/2014/main" val="10000"/>
                  </a:ext>
                </a:extLst>
              </a:tr>
              <a:tr h="1227595">
                <a:tc>
                  <a:txBody>
                    <a:bodyPr/>
                    <a:lstStyle/>
                    <a:p>
                      <a:r>
                        <a:rPr lang="en-US" sz="2200" b="1" kern="1200" baseline="0" dirty="0">
                          <a:solidFill>
                            <a:schemeClr val="dk1"/>
                          </a:solidFill>
                          <a:latin typeface="+mn-lt"/>
                          <a:ea typeface="+mn-ea"/>
                          <a:cs typeface="+mn-cs"/>
                        </a:rPr>
                        <a:t>Cache</a:t>
                      </a:r>
                      <a:endParaRPr lang="en-US" sz="2200" dirty="0"/>
                    </a:p>
                  </a:txBody>
                  <a:tcPr/>
                </a:tc>
                <a:tc>
                  <a:txBody>
                    <a:bodyPr/>
                    <a:lstStyle/>
                    <a:p>
                      <a:r>
                        <a:rPr lang="en-US" sz="1800" kern="1200" baseline="0" dirty="0">
                          <a:solidFill>
                            <a:schemeClr val="dk1"/>
                          </a:solidFill>
                          <a:latin typeface="+mn-lt"/>
                          <a:ea typeface="+mn-ea"/>
                          <a:cs typeface="+mn-cs"/>
                        </a:rPr>
                        <a:t>Depends on response</a:t>
                      </a:r>
                    </a:p>
                    <a:p>
                      <a:r>
                        <a:rPr lang="en-US" sz="1800" kern="1200" baseline="0" dirty="0">
                          <a:solidFill>
                            <a:schemeClr val="dk1"/>
                          </a:solidFill>
                          <a:latin typeface="+mn-lt"/>
                          <a:ea typeface="+mn-ea"/>
                          <a:cs typeface="+mn-cs"/>
                        </a:rPr>
                        <a:t>headers</a:t>
                      </a:r>
                      <a:endParaRPr lang="en-US" dirty="0"/>
                    </a:p>
                  </a:txBody>
                  <a:tcPr/>
                </a:tc>
                <a:tc>
                  <a:txBody>
                    <a:bodyPr/>
                    <a:lstStyle/>
                    <a:p>
                      <a:r>
                        <a:rPr lang="en-US" sz="1800" kern="1200" baseline="0" dirty="0">
                          <a:solidFill>
                            <a:schemeClr val="dk1"/>
                          </a:solidFill>
                          <a:latin typeface="+mn-lt"/>
                          <a:ea typeface="+mn-ea"/>
                          <a:cs typeface="+mn-cs"/>
                        </a:rPr>
                        <a:t>URL associated with</a:t>
                      </a:r>
                    </a:p>
                    <a:p>
                      <a:r>
                        <a:rPr lang="en-US" sz="1800" kern="1200" baseline="0" dirty="0">
                          <a:solidFill>
                            <a:schemeClr val="dk1"/>
                          </a:solidFill>
                          <a:latin typeface="+mn-lt"/>
                          <a:ea typeface="+mn-ea"/>
                          <a:cs typeface="+mn-cs"/>
                        </a:rPr>
                        <a:t>request</a:t>
                      </a:r>
                      <a:endParaRPr lang="en-US" dirty="0"/>
                    </a:p>
                  </a:txBody>
                  <a:tcPr/>
                </a:tc>
                <a:tc>
                  <a:txBody>
                    <a:bodyPr/>
                    <a:lstStyle/>
                    <a:p>
                      <a:r>
                        <a:rPr lang="en-US" sz="1800" kern="1200" baseline="0" dirty="0">
                          <a:solidFill>
                            <a:schemeClr val="dk1"/>
                          </a:solidFill>
                          <a:latin typeface="+mn-lt"/>
                          <a:ea typeface="+mn-ea"/>
                          <a:cs typeface="+mn-cs"/>
                        </a:rPr>
                        <a:t>At expiration date</a:t>
                      </a:r>
                    </a:p>
                    <a:p>
                      <a:r>
                        <a:rPr lang="en-US" sz="1800" kern="1200" baseline="0" dirty="0">
                          <a:solidFill>
                            <a:schemeClr val="dk1"/>
                          </a:solidFill>
                          <a:latin typeface="+mn-lt"/>
                          <a:ea typeface="+mn-ea"/>
                          <a:cs typeface="+mn-cs"/>
                        </a:rPr>
                        <a:t>or when cache is</a:t>
                      </a:r>
                    </a:p>
                    <a:p>
                      <a:r>
                        <a:rPr lang="en-US" sz="1800" kern="1200" baseline="0" dirty="0">
                          <a:solidFill>
                            <a:schemeClr val="dk1"/>
                          </a:solidFill>
                          <a:latin typeface="+mn-lt"/>
                          <a:ea typeface="+mn-ea"/>
                          <a:cs typeface="+mn-cs"/>
                        </a:rPr>
                        <a:t>full</a:t>
                      </a:r>
                      <a:endParaRPr lang="en-US" dirty="0"/>
                    </a:p>
                  </a:txBody>
                  <a:tcPr/>
                </a:tc>
                <a:tc>
                  <a:txBody>
                    <a:bodyPr/>
                    <a:lstStyle/>
                    <a:p>
                      <a:r>
                        <a:rPr lang="en-US" sz="1800" kern="1200" baseline="0" dirty="0">
                          <a:solidFill>
                            <a:schemeClr val="dk1"/>
                          </a:solidFill>
                          <a:latin typeface="+mn-lt"/>
                          <a:ea typeface="+mn-ea"/>
                          <a:cs typeface="+mn-cs"/>
                        </a:rPr>
                        <a:t>Memory and/or disk</a:t>
                      </a:r>
                      <a:endParaRPr lang="en-US" dirty="0"/>
                    </a:p>
                  </a:txBody>
                  <a:tcPr/>
                </a:tc>
                <a:extLst>
                  <a:ext uri="{0D108BD9-81ED-4DB2-BD59-A6C34878D82A}">
                    <a16:rowId xmlns:a16="http://schemas.microsoft.com/office/drawing/2014/main" val="10001"/>
                  </a:ext>
                </a:extLst>
              </a:tr>
              <a:tr h="1794177">
                <a:tc>
                  <a:txBody>
                    <a:bodyPr/>
                    <a:lstStyle/>
                    <a:p>
                      <a:r>
                        <a:rPr lang="en-US" sz="2200" b="1" kern="1200" baseline="0" dirty="0">
                          <a:solidFill>
                            <a:schemeClr val="dk1"/>
                          </a:solidFill>
                          <a:latin typeface="+mn-lt"/>
                          <a:ea typeface="+mn-ea"/>
                          <a:cs typeface="+mn-cs"/>
                        </a:rPr>
                        <a:t>Cookies</a:t>
                      </a:r>
                      <a:endParaRPr lang="en-US" sz="2200" dirty="0"/>
                    </a:p>
                  </a:txBody>
                  <a:tcPr/>
                </a:tc>
                <a:tc>
                  <a:txBody>
                    <a:bodyPr/>
                    <a:lstStyle/>
                    <a:p>
                      <a:r>
                        <a:rPr lang="en-US" sz="1800" kern="1200" baseline="0" dirty="0">
                          <a:solidFill>
                            <a:schemeClr val="dk1"/>
                          </a:solidFill>
                          <a:latin typeface="+mn-lt"/>
                          <a:ea typeface="+mn-ea"/>
                          <a:cs typeface="+mn-cs"/>
                        </a:rPr>
                        <a:t>Depends on user</a:t>
                      </a:r>
                    </a:p>
                    <a:p>
                      <a:r>
                        <a:rPr lang="en-US" sz="1800" kern="1200" baseline="0" dirty="0">
                          <a:solidFill>
                            <a:schemeClr val="dk1"/>
                          </a:solidFill>
                          <a:latin typeface="+mn-lt"/>
                          <a:ea typeface="+mn-ea"/>
                          <a:cs typeface="+mn-cs"/>
                        </a:rPr>
                        <a:t>settings</a:t>
                      </a:r>
                      <a:endParaRPr lang="en-US" dirty="0"/>
                    </a:p>
                  </a:txBody>
                  <a:tcPr/>
                </a:tc>
                <a:tc>
                  <a:txBody>
                    <a:bodyPr/>
                    <a:lstStyle/>
                    <a:p>
                      <a:r>
                        <a:rPr lang="en-US" sz="1800" kern="1200" baseline="0" dirty="0">
                          <a:solidFill>
                            <a:schemeClr val="dk1"/>
                          </a:solidFill>
                          <a:latin typeface="+mn-lt"/>
                          <a:ea typeface="+mn-ea"/>
                          <a:cs typeface="+mn-cs"/>
                        </a:rPr>
                        <a:t>Domain and path</a:t>
                      </a:r>
                    </a:p>
                    <a:p>
                      <a:r>
                        <a:rPr lang="en-US" sz="1800" kern="1200" baseline="0" dirty="0">
                          <a:solidFill>
                            <a:schemeClr val="dk1"/>
                          </a:solidFill>
                          <a:latin typeface="+mn-lt"/>
                          <a:ea typeface="+mn-ea"/>
                          <a:cs typeface="+mn-cs"/>
                        </a:rPr>
                        <a:t>parameters in cookie</a:t>
                      </a:r>
                      <a:endParaRPr lang="en-US" dirty="0"/>
                    </a:p>
                  </a:txBody>
                  <a:tcPr/>
                </a:tc>
                <a:tc>
                  <a:txBody>
                    <a:bodyPr/>
                    <a:lstStyle/>
                    <a:p>
                      <a:r>
                        <a:rPr lang="en-US" sz="1800" kern="1200" baseline="0" dirty="0">
                          <a:solidFill>
                            <a:schemeClr val="dk1"/>
                          </a:solidFill>
                          <a:latin typeface="+mn-lt"/>
                          <a:ea typeface="+mn-ea"/>
                          <a:cs typeface="+mn-cs"/>
                        </a:rPr>
                        <a:t>At expiration date,</a:t>
                      </a:r>
                    </a:p>
                    <a:p>
                      <a:r>
                        <a:rPr lang="en-US" sz="1800" kern="1200" baseline="0" dirty="0">
                          <a:solidFill>
                            <a:schemeClr val="dk1"/>
                          </a:solidFill>
                          <a:latin typeface="+mn-lt"/>
                          <a:ea typeface="+mn-ea"/>
                          <a:cs typeface="+mn-cs"/>
                        </a:rPr>
                        <a:t>or at end of session</a:t>
                      </a:r>
                    </a:p>
                    <a:p>
                      <a:r>
                        <a:rPr lang="en-US" sz="1800" kern="1200" baseline="0" dirty="0">
                          <a:solidFill>
                            <a:schemeClr val="dk1"/>
                          </a:solidFill>
                          <a:latin typeface="+mn-lt"/>
                          <a:ea typeface="+mn-ea"/>
                          <a:cs typeface="+mn-cs"/>
                        </a:rPr>
                        <a:t>if no date provided</a:t>
                      </a:r>
                      <a:endParaRPr lang="en-US" dirty="0"/>
                    </a:p>
                  </a:txBody>
                  <a:tcPr/>
                </a:tc>
                <a:tc>
                  <a:txBody>
                    <a:bodyPr/>
                    <a:lstStyle/>
                    <a:p>
                      <a:r>
                        <a:rPr lang="en-US" sz="1800" kern="1200" baseline="0" dirty="0">
                          <a:solidFill>
                            <a:schemeClr val="dk1"/>
                          </a:solidFill>
                          <a:latin typeface="+mn-lt"/>
                          <a:ea typeface="+mn-ea"/>
                          <a:cs typeface="+mn-cs"/>
                        </a:rPr>
                        <a:t>Memory for cookies that</a:t>
                      </a:r>
                    </a:p>
                    <a:p>
                      <a:r>
                        <a:rPr lang="en-US" sz="1800" kern="1200" baseline="0" dirty="0">
                          <a:solidFill>
                            <a:schemeClr val="dk1"/>
                          </a:solidFill>
                          <a:latin typeface="+mn-lt"/>
                          <a:ea typeface="+mn-ea"/>
                          <a:cs typeface="+mn-cs"/>
                        </a:rPr>
                        <a:t>expire at end of session,</a:t>
                      </a:r>
                    </a:p>
                    <a:p>
                      <a:r>
                        <a:rPr lang="en-US" sz="1800" kern="1200" baseline="0" dirty="0">
                          <a:solidFill>
                            <a:schemeClr val="dk1"/>
                          </a:solidFill>
                          <a:latin typeface="+mn-lt"/>
                          <a:ea typeface="+mn-ea"/>
                          <a:cs typeface="+mn-cs"/>
                        </a:rPr>
                        <a:t>disk for persisted cookies</a:t>
                      </a:r>
                      <a:endParaRPr lang="en-US" dirty="0"/>
                    </a:p>
                  </a:txBody>
                  <a:tcPr/>
                </a:tc>
                <a:extLst>
                  <a:ext uri="{0D108BD9-81ED-4DB2-BD59-A6C34878D82A}">
                    <a16:rowId xmlns:a16="http://schemas.microsoft.com/office/drawing/2014/main" val="10002"/>
                  </a:ext>
                </a:extLst>
              </a:tr>
              <a:tr h="1227595">
                <a:tc>
                  <a:txBody>
                    <a:bodyPr/>
                    <a:lstStyle/>
                    <a:p>
                      <a:r>
                        <a:rPr lang="en-US" sz="2200" b="1" kern="1200" baseline="0" dirty="0">
                          <a:solidFill>
                            <a:schemeClr val="dk1"/>
                          </a:solidFill>
                          <a:latin typeface="+mn-lt"/>
                          <a:ea typeface="+mn-ea"/>
                          <a:cs typeface="+mn-cs"/>
                        </a:rPr>
                        <a:t>Authorization</a:t>
                      </a:r>
                    </a:p>
                    <a:p>
                      <a:r>
                        <a:rPr lang="en-US" sz="2200" b="1" kern="1200" baseline="0" dirty="0">
                          <a:solidFill>
                            <a:schemeClr val="dk1"/>
                          </a:solidFill>
                          <a:latin typeface="+mn-lt"/>
                          <a:ea typeface="+mn-ea"/>
                          <a:cs typeface="+mn-cs"/>
                        </a:rPr>
                        <a:t>credentials</a:t>
                      </a:r>
                      <a:endParaRPr lang="en-US" sz="2200" dirty="0"/>
                    </a:p>
                  </a:txBody>
                  <a:tcPr/>
                </a:tc>
                <a:tc>
                  <a:txBody>
                    <a:bodyPr/>
                    <a:lstStyle/>
                    <a:p>
                      <a:r>
                        <a:rPr lang="en-US" sz="1800" kern="1200" baseline="0" dirty="0">
                          <a:solidFill>
                            <a:schemeClr val="dk1"/>
                          </a:solidFill>
                          <a:latin typeface="+mn-lt"/>
                          <a:ea typeface="+mn-ea"/>
                          <a:cs typeface="+mn-cs"/>
                        </a:rPr>
                        <a:t>Always</a:t>
                      </a:r>
                      <a:endParaRPr lang="en-US" dirty="0"/>
                    </a:p>
                  </a:txBody>
                  <a:tcPr/>
                </a:tc>
                <a:tc>
                  <a:txBody>
                    <a:bodyPr/>
                    <a:lstStyle/>
                    <a:p>
                      <a:r>
                        <a:rPr lang="en-US" sz="1800" kern="1200" baseline="0" dirty="0">
                          <a:solidFill>
                            <a:schemeClr val="dk1"/>
                          </a:solidFill>
                          <a:latin typeface="+mn-lt"/>
                          <a:ea typeface="+mn-ea"/>
                          <a:cs typeface="+mn-cs"/>
                        </a:rPr>
                        <a:t>Server address and</a:t>
                      </a:r>
                    </a:p>
                    <a:p>
                      <a:r>
                        <a:rPr lang="en-US" sz="1800" kern="1200" baseline="0" dirty="0">
                          <a:solidFill>
                            <a:schemeClr val="dk1"/>
                          </a:solidFill>
                          <a:latin typeface="+mn-lt"/>
                          <a:ea typeface="+mn-ea"/>
                          <a:cs typeface="+mn-cs"/>
                        </a:rPr>
                        <a:t>authentication realm</a:t>
                      </a:r>
                      <a:endParaRPr lang="en-US" dirty="0"/>
                    </a:p>
                  </a:txBody>
                  <a:tcPr/>
                </a:tc>
                <a:tc>
                  <a:txBody>
                    <a:bodyPr/>
                    <a:lstStyle/>
                    <a:p>
                      <a:r>
                        <a:rPr lang="en-US" sz="1800" kern="1200" baseline="0" dirty="0">
                          <a:solidFill>
                            <a:schemeClr val="dk1"/>
                          </a:solidFill>
                          <a:latin typeface="+mn-lt"/>
                          <a:ea typeface="+mn-ea"/>
                          <a:cs typeface="+mn-cs"/>
                        </a:rPr>
                        <a:t>At end of session!!</a:t>
                      </a:r>
                      <a:endParaRPr lang="en-US" dirty="0"/>
                    </a:p>
                  </a:txBody>
                  <a:tcPr/>
                </a:tc>
                <a:tc>
                  <a:txBody>
                    <a:bodyPr/>
                    <a:lstStyle/>
                    <a:p>
                      <a:r>
                        <a:rPr lang="en-US" sz="1800" kern="1200" baseline="0" dirty="0">
                          <a:solidFill>
                            <a:schemeClr val="dk1"/>
                          </a:solidFill>
                          <a:latin typeface="+mn-lt"/>
                          <a:ea typeface="+mn-ea"/>
                          <a:cs typeface="+mn-cs"/>
                        </a:rPr>
                        <a:t>Memory only (never</a:t>
                      </a:r>
                    </a:p>
                    <a:p>
                      <a:r>
                        <a:rPr lang="en-US" sz="1800" kern="1200" baseline="0" dirty="0">
                          <a:solidFill>
                            <a:schemeClr val="dk1"/>
                          </a:solidFill>
                          <a:latin typeface="+mn-lt"/>
                          <a:ea typeface="+mn-ea"/>
                          <a:cs typeface="+mn-cs"/>
                        </a:rPr>
                        <a:t>store on disk)</a:t>
                      </a:r>
                      <a:endParaRPr lang="en-US"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1143000"/>
          </a:xfrm>
        </p:spPr>
        <p:txBody>
          <a:bodyPr>
            <a:noAutofit/>
          </a:bodyPr>
          <a:lstStyle/>
          <a:p>
            <a:pPr algn="l"/>
            <a:r>
              <a:rPr lang="en-US" sz="3600" b="1" u="sng" dirty="0">
                <a:solidFill>
                  <a:srgbClr val="FF0000"/>
                </a:solidFill>
              </a:rPr>
              <a:t>05: Requesting supporting data items</a:t>
            </a:r>
            <a:r>
              <a:rPr lang="en-US" sz="3600" b="1" u="sng" dirty="0">
                <a:solidFill>
                  <a:srgbClr val="C00000"/>
                </a:solidFill>
              </a:rPr>
              <a:t>: </a:t>
            </a:r>
            <a:endParaRPr lang="en-US" sz="2800" u="sng" dirty="0">
              <a:solidFill>
                <a:srgbClr val="C00000"/>
              </a:solidFill>
            </a:endParaRPr>
          </a:p>
        </p:txBody>
      </p:sp>
      <p:sp>
        <p:nvSpPr>
          <p:cNvPr id="5" name="Content Placeholder 4"/>
          <p:cNvSpPr>
            <a:spLocks noGrp="1"/>
          </p:cNvSpPr>
          <p:nvPr>
            <p:ph idx="1"/>
          </p:nvPr>
        </p:nvSpPr>
        <p:spPr>
          <a:xfrm>
            <a:off x="152400" y="914400"/>
            <a:ext cx="8839200" cy="5715000"/>
          </a:xfrm>
        </p:spPr>
        <p:txBody>
          <a:bodyPr>
            <a:normAutofit fontScale="92500" lnSpcReduction="20000"/>
          </a:bodyPr>
          <a:lstStyle/>
          <a:p>
            <a:pPr algn="just"/>
            <a:r>
              <a:rPr lang="en-US" dirty="0"/>
              <a:t>Even the simplest web page is not ‘self-contained’. </a:t>
            </a:r>
          </a:p>
          <a:p>
            <a:pPr algn="just"/>
            <a:r>
              <a:rPr lang="en-US" dirty="0"/>
              <a:t>Most pages at the very least, contain references to images found at other URLs, or other mutually linked pages. </a:t>
            </a:r>
          </a:p>
          <a:p>
            <a:pPr algn="just"/>
            <a:r>
              <a:rPr lang="en-US" dirty="0"/>
              <a:t>In order to support graphical page rendering properly, a browser must make supplementary requests to retrieve supporting resources.</a:t>
            </a:r>
          </a:p>
          <a:p>
            <a:pPr algn="just"/>
            <a:r>
              <a:rPr lang="en-US" dirty="0"/>
              <a:t>The </a:t>
            </a:r>
            <a:r>
              <a:rPr lang="en-US" i="1" dirty="0">
                <a:solidFill>
                  <a:srgbClr val="0000FF"/>
                </a:solidFill>
              </a:rPr>
              <a:t>Content Interpretation module</a:t>
            </a:r>
            <a:r>
              <a:rPr lang="en-US" i="1" dirty="0"/>
              <a:t> </a:t>
            </a:r>
            <a:r>
              <a:rPr lang="en-US" dirty="0"/>
              <a:t>is responsible for performing this analysis. </a:t>
            </a:r>
          </a:p>
          <a:p>
            <a:pPr algn="just"/>
            <a:r>
              <a:rPr lang="en-US" dirty="0"/>
              <a:t>Once it has determined which additional resources are desired, it must tell the </a:t>
            </a:r>
            <a:r>
              <a:rPr lang="en-US" i="1" dirty="0">
                <a:solidFill>
                  <a:srgbClr val="0000FF"/>
                </a:solidFill>
              </a:rPr>
              <a:t>Request Generation module</a:t>
            </a:r>
            <a:r>
              <a:rPr lang="en-US" i="1" dirty="0"/>
              <a:t> to construct and </a:t>
            </a:r>
            <a:r>
              <a:rPr lang="en-US" dirty="0"/>
              <a:t>transmit HTTP requests to obtain these resources.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1143000"/>
          </a:xfrm>
        </p:spPr>
        <p:txBody>
          <a:bodyPr>
            <a:noAutofit/>
          </a:bodyPr>
          <a:lstStyle/>
          <a:p>
            <a:pPr algn="l"/>
            <a:r>
              <a:rPr lang="en-US" sz="3600" b="1" u="sng" dirty="0">
                <a:solidFill>
                  <a:srgbClr val="FF0000"/>
                </a:solidFill>
              </a:rPr>
              <a:t>06: Multimedia support: </a:t>
            </a:r>
            <a:r>
              <a:rPr lang="en-US" sz="2800" b="1" u="sng" dirty="0">
                <a:solidFill>
                  <a:srgbClr val="FF0000"/>
                </a:solidFill>
              </a:rPr>
              <a:t>helpers and plug-ins</a:t>
            </a:r>
            <a:r>
              <a:rPr lang="en-US" sz="2800" b="1" u="sng" dirty="0">
                <a:solidFill>
                  <a:srgbClr val="C00000"/>
                </a:solidFill>
              </a:rPr>
              <a:t>:</a:t>
            </a:r>
            <a:r>
              <a:rPr lang="en-US" sz="3600" b="1" u="sng" dirty="0">
                <a:solidFill>
                  <a:srgbClr val="C00000"/>
                </a:solidFill>
              </a:rPr>
              <a:t> </a:t>
            </a:r>
            <a:endParaRPr lang="en-US" sz="2800" u="sng" dirty="0">
              <a:solidFill>
                <a:srgbClr val="C00000"/>
              </a:solidFill>
            </a:endParaRPr>
          </a:p>
        </p:txBody>
      </p:sp>
      <p:sp>
        <p:nvSpPr>
          <p:cNvPr id="5" name="Content Placeholder 4"/>
          <p:cNvSpPr>
            <a:spLocks noGrp="1"/>
          </p:cNvSpPr>
          <p:nvPr>
            <p:ph idx="1"/>
          </p:nvPr>
        </p:nvSpPr>
        <p:spPr>
          <a:xfrm>
            <a:off x="152400" y="914400"/>
            <a:ext cx="8839200" cy="5715000"/>
          </a:xfrm>
        </p:spPr>
        <p:txBody>
          <a:bodyPr>
            <a:normAutofit fontScale="77500" lnSpcReduction="20000"/>
          </a:bodyPr>
          <a:lstStyle/>
          <a:p>
            <a:pPr algn="just"/>
            <a:r>
              <a:rPr lang="en-US" dirty="0"/>
              <a:t>HTML, plain text, GIF and JPEG are supported “natively” by pretty much all of the modern desktop browsers. </a:t>
            </a:r>
          </a:p>
          <a:p>
            <a:pPr algn="just"/>
            <a:r>
              <a:rPr lang="en-US" dirty="0"/>
              <a:t>Apart from images, there are other popular types of data presented via the Web like “</a:t>
            </a:r>
            <a:r>
              <a:rPr lang="en-US" dirty="0">
                <a:solidFill>
                  <a:srgbClr val="0000FF"/>
                </a:solidFill>
              </a:rPr>
              <a:t>Multimedia Objects</a:t>
            </a:r>
            <a:r>
              <a:rPr lang="en-US" dirty="0"/>
              <a:t>” (audio and video), and also proprietary formats such as </a:t>
            </a:r>
            <a:r>
              <a:rPr lang="en-US" dirty="0">
                <a:solidFill>
                  <a:srgbClr val="0000FF"/>
                </a:solidFill>
              </a:rPr>
              <a:t>Adobe Acrobat PDF</a:t>
            </a:r>
            <a:r>
              <a:rPr lang="en-US" dirty="0"/>
              <a:t> and </a:t>
            </a:r>
            <a:r>
              <a:rPr lang="en-US" dirty="0">
                <a:solidFill>
                  <a:srgbClr val="0000FF"/>
                </a:solidFill>
              </a:rPr>
              <a:t>Macromedia Flash</a:t>
            </a:r>
            <a:r>
              <a:rPr lang="en-US" dirty="0"/>
              <a:t>.</a:t>
            </a:r>
          </a:p>
          <a:p>
            <a:pPr algn="just"/>
            <a:r>
              <a:rPr lang="en-US" dirty="0"/>
              <a:t>To enable the presentation of these data objects, browsers can provide Plug-ins.</a:t>
            </a:r>
          </a:p>
          <a:p>
            <a:pPr algn="just"/>
            <a:r>
              <a:rPr lang="en-US" dirty="0">
                <a:solidFill>
                  <a:srgbClr val="0000FF"/>
                </a:solidFill>
              </a:rPr>
              <a:t>Plug-ins</a:t>
            </a:r>
            <a:r>
              <a:rPr lang="en-US" dirty="0"/>
              <a:t> are program modules closely integrated with the browser, which enable the rendering / presentation of particular kinds of objects within the browser window e.g. </a:t>
            </a:r>
            <a:r>
              <a:rPr lang="en-US" dirty="0">
                <a:solidFill>
                  <a:srgbClr val="0000FF"/>
                </a:solidFill>
              </a:rPr>
              <a:t>&lt;OBJECT&gt; </a:t>
            </a:r>
            <a:r>
              <a:rPr lang="en-US" dirty="0"/>
              <a:t> and </a:t>
            </a:r>
            <a:r>
              <a:rPr lang="en-US" dirty="0">
                <a:solidFill>
                  <a:srgbClr val="0000FF"/>
                </a:solidFill>
              </a:rPr>
              <a:t>&lt;EMBED&gt;</a:t>
            </a:r>
            <a:r>
              <a:rPr lang="en-US" dirty="0"/>
              <a:t> tag as a generalized approach to embedding multimedia objects.</a:t>
            </a:r>
          </a:p>
          <a:p>
            <a:pPr algn="just"/>
            <a:r>
              <a:rPr lang="en-US" dirty="0"/>
              <a:t>OR they can allow the invocation (to tune) of </a:t>
            </a:r>
            <a:r>
              <a:rPr lang="en-US" i="1" dirty="0">
                <a:solidFill>
                  <a:srgbClr val="0000FF"/>
                </a:solidFill>
              </a:rPr>
              <a:t>helper programs</a:t>
            </a:r>
            <a:r>
              <a:rPr lang="en-US" i="1" dirty="0"/>
              <a:t> to present these objects e.g. </a:t>
            </a:r>
          </a:p>
          <a:p>
            <a:pPr algn="just">
              <a:buNone/>
            </a:pPr>
            <a:r>
              <a:rPr lang="en-US" dirty="0"/>
              <a:t>		</a:t>
            </a:r>
            <a:r>
              <a:rPr lang="en-US" b="1" dirty="0">
                <a:solidFill>
                  <a:srgbClr val="0000FF"/>
                </a:solidFill>
              </a:rPr>
              <a:t>&lt;A HREF="flashmovies/mymovie.swf"&gt;</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TotalTime>
  <Words>1040</Words>
  <Application>Microsoft Office PowerPoint</Application>
  <PresentationFormat>On-screen Show (4:3)</PresentationFormat>
  <Paragraphs>103</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COMPLEX HTTP INTERACTIONS</vt:lpstr>
      <vt:lpstr>01: Caching:</vt:lpstr>
      <vt:lpstr>01: Caching:</vt:lpstr>
      <vt:lpstr>02: Cookie Coordination:</vt:lpstr>
      <vt:lpstr>03: Authorization: challenge and response</vt:lpstr>
      <vt:lpstr>03: Authorization: challenge and response</vt:lpstr>
      <vt:lpstr>04: Re-factoring: common mechanisms for storing persistent data</vt:lpstr>
      <vt:lpstr>04: Re-factoring:  Browser mechanisms for storing persistent data:</vt:lpstr>
      <vt:lpstr>05: Requesting supporting data items: </vt:lpstr>
      <vt:lpstr>06: Multimedia support: helpers and plug-ins: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Browser</dc:title>
  <dc:creator>Power By Gmc</dc:creator>
  <cp:lastModifiedBy>Saif ur Rehman</cp:lastModifiedBy>
  <cp:revision>103</cp:revision>
  <dcterms:created xsi:type="dcterms:W3CDTF">2015-02-23T05:21:44Z</dcterms:created>
  <dcterms:modified xsi:type="dcterms:W3CDTF">2019-05-21T19:13:09Z</dcterms:modified>
</cp:coreProperties>
</file>
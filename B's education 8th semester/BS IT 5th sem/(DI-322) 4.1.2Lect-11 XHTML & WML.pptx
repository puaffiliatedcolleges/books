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66" autoAdjust="0"/>
    <p:restoredTop sz="94660"/>
  </p:normalViewPr>
  <p:slideViewPr>
    <p:cSldViewPr>
      <p:cViewPr varScale="1">
        <p:scale>
          <a:sx n="82" d="100"/>
          <a:sy n="82" d="100"/>
        </p:scale>
        <p:origin x="936"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C39273B-891A-46E3-B4D3-525D7D40B71B}" type="datetimeFigureOut">
              <a:rPr lang="en-US" smtClean="0"/>
              <a:pPr/>
              <a:t>04/28/2019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91E383-1A60-42BC-8AD3-471D3A7AF7C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39273B-891A-46E3-B4D3-525D7D40B71B}" type="datetimeFigureOut">
              <a:rPr lang="en-US" smtClean="0"/>
              <a:pPr/>
              <a:t>04/28/2019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91E383-1A60-42BC-8AD3-471D3A7AF7C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39273B-891A-46E3-B4D3-525D7D40B71B}" type="datetimeFigureOut">
              <a:rPr lang="en-US" smtClean="0"/>
              <a:pPr/>
              <a:t>04/28/2019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91E383-1A60-42BC-8AD3-471D3A7AF7C2}"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C39273B-891A-46E3-B4D3-525D7D40B71B}" type="datetimeFigureOut">
              <a:rPr lang="en-US" smtClean="0"/>
              <a:pPr/>
              <a:t>04/28/2019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91E383-1A60-42BC-8AD3-471D3A7AF7C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C39273B-891A-46E3-B4D3-525D7D40B71B}" type="datetimeFigureOut">
              <a:rPr lang="en-US" smtClean="0"/>
              <a:pPr/>
              <a:t>04/28/2019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691E383-1A60-42BC-8AD3-471D3A7AF7C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C39273B-891A-46E3-B4D3-525D7D40B71B}" type="datetimeFigureOut">
              <a:rPr lang="en-US" smtClean="0"/>
              <a:pPr/>
              <a:t>04/28/2019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691E383-1A60-42BC-8AD3-471D3A7AF7C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39273B-891A-46E3-B4D3-525D7D40B71B}" type="datetimeFigureOut">
              <a:rPr lang="en-US" smtClean="0"/>
              <a:pPr/>
              <a:t>04/28/2019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691E383-1A60-42BC-8AD3-471D3A7AF7C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39273B-891A-46E3-B4D3-525D7D40B71B}" type="datetimeFigureOut">
              <a:rPr lang="en-US" smtClean="0"/>
              <a:pPr/>
              <a:t>04/28/2019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91E383-1A60-42BC-8AD3-471D3A7AF7C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39273B-891A-46E3-B4D3-525D7D40B71B}" type="datetimeFigureOut">
              <a:rPr lang="en-US" smtClean="0"/>
              <a:pPr/>
              <a:t>04/28/2019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91E383-1A60-42BC-8AD3-471D3A7AF7C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39273B-891A-46E3-B4D3-525D7D40B71B}" type="datetimeFigureOut">
              <a:rPr lang="en-US" smtClean="0"/>
              <a:pPr/>
              <a:t>04/28/2019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91E383-1A60-42BC-8AD3-471D3A7AF7C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39273B-891A-46E3-B4D3-525D7D40B71B}" type="datetimeFigureOut">
              <a:rPr lang="en-US" smtClean="0"/>
              <a:pPr/>
              <a:t>04/28/2019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91E383-1A60-42BC-8AD3-471D3A7AF7C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39273B-891A-46E3-B4D3-525D7D40B71B}" type="datetimeFigureOut">
              <a:rPr lang="en-US" smtClean="0"/>
              <a:pPr/>
              <a:t>04/28/2019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91E383-1A60-42BC-8AD3-471D3A7AF7C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www.w3.org/1999/xhtm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file:///G:\Web%20Technologies\mypage.html"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earchsoa.techtarget.com/definition/HTML" TargetMode="External"/><Relationship Id="rId2" Type="http://schemas.openxmlformats.org/officeDocument/2006/relationships/hyperlink" Target="http://searchmobilecomputing.techtarget.com/definition/WAP" TargetMode="External"/><Relationship Id="rId1" Type="http://schemas.openxmlformats.org/officeDocument/2006/relationships/slideLayout" Target="../slideLayouts/slideLayout2.xml"/><Relationship Id="rId5" Type="http://schemas.openxmlformats.org/officeDocument/2006/relationships/hyperlink" Target="http://searchsqlserver.techtarget.com/definition/SQL" TargetMode="External"/><Relationship Id="rId4" Type="http://schemas.openxmlformats.org/officeDocument/2006/relationships/hyperlink" Target="http://searchsoa.techtarget.com/definition/common-gateway-interfac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file:///G:\Web%20Technologies\WML%20file%20output.docx"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en.wikipedia.org/wiki/WAP_gateway" TargetMode="External"/><Relationship Id="rId2" Type="http://schemas.openxmlformats.org/officeDocument/2006/relationships/hyperlink" Target="http://en.wikipedia.org/wiki/Web_server" TargetMode="External"/><Relationship Id="rId1" Type="http://schemas.openxmlformats.org/officeDocument/2006/relationships/slideLayout" Target="../slideLayouts/slideLayout2.xml"/><Relationship Id="rId4" Type="http://schemas.openxmlformats.org/officeDocument/2006/relationships/hyperlink" Target="http://en.wikipedia.org/wiki/Proxy_serve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62000"/>
            <a:ext cx="7772400" cy="1470025"/>
          </a:xfrm>
        </p:spPr>
        <p:txBody>
          <a:bodyPr>
            <a:normAutofit/>
          </a:bodyPr>
          <a:lstStyle/>
          <a:p>
            <a:r>
              <a:rPr lang="en-US" sz="5400" b="1" i="1" dirty="0">
                <a:solidFill>
                  <a:schemeClr val="accent6">
                    <a:lumMod val="75000"/>
                  </a:schemeClr>
                </a:solidFill>
              </a:rPr>
              <a:t>XHTML, HTML 5.0 &amp; WML</a:t>
            </a:r>
          </a:p>
        </p:txBody>
      </p:sp>
      <p:sp>
        <p:nvSpPr>
          <p:cNvPr id="3" name="Subtitle 2"/>
          <p:cNvSpPr>
            <a:spLocks noGrp="1"/>
          </p:cNvSpPr>
          <p:nvPr>
            <p:ph type="subTitle" idx="1"/>
          </p:nvPr>
        </p:nvSpPr>
        <p:spPr>
          <a:xfrm>
            <a:off x="838200" y="2286000"/>
            <a:ext cx="7620000" cy="3657600"/>
          </a:xfrm>
        </p:spPr>
        <p:txBody>
          <a:bodyPr/>
          <a:lstStyle/>
          <a:p>
            <a:pPr algn="l">
              <a:buFont typeface="Wingdings" pitchFamily="2" charset="2"/>
              <a:buChar char="q"/>
            </a:pPr>
            <a:r>
              <a:rPr lang="en-US" dirty="0"/>
              <a:t>     </a:t>
            </a:r>
            <a:r>
              <a:rPr lang="en-US" b="1" i="1" dirty="0">
                <a:solidFill>
                  <a:srgbClr val="0070C0"/>
                </a:solidFill>
              </a:rPr>
              <a:t>Relatively Constrained Tags along with 	XML applications</a:t>
            </a:r>
          </a:p>
          <a:p>
            <a:pPr algn="l">
              <a:buFont typeface="Wingdings" pitchFamily="2" charset="2"/>
              <a:buChar char="q"/>
            </a:pPr>
            <a:r>
              <a:rPr lang="en-US" b="1" i="1" dirty="0">
                <a:solidFill>
                  <a:srgbClr val="0070C0"/>
                </a:solidFill>
              </a:rPr>
              <a:t>     Migration of HTML to HTML 5.0</a:t>
            </a:r>
          </a:p>
          <a:p>
            <a:pPr algn="l">
              <a:buFont typeface="Wingdings" pitchFamily="2" charset="2"/>
              <a:buChar char="q"/>
            </a:pPr>
            <a:r>
              <a:rPr lang="en-US" b="1" i="1" dirty="0">
                <a:solidFill>
                  <a:srgbClr val="0070C0"/>
                </a:solidFill>
              </a:rPr>
              <a:t>     Wireless Markup Language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749" y="76200"/>
            <a:ext cx="8221851" cy="697424"/>
          </a:xfrm>
        </p:spPr>
        <p:txBody>
          <a:bodyPr>
            <a:normAutofit fontScale="90000"/>
          </a:bodyPr>
          <a:lstStyle/>
          <a:p>
            <a:r>
              <a:rPr lang="en-US" b="1" u="sng" dirty="0">
                <a:solidFill>
                  <a:srgbClr val="C00000"/>
                </a:solidFill>
              </a:rPr>
              <a:t>What Is XHTML?</a:t>
            </a:r>
          </a:p>
        </p:txBody>
      </p:sp>
      <p:sp>
        <p:nvSpPr>
          <p:cNvPr id="3" name="Content Placeholder 2"/>
          <p:cNvSpPr>
            <a:spLocks noGrp="1"/>
          </p:cNvSpPr>
          <p:nvPr>
            <p:ph idx="1"/>
          </p:nvPr>
        </p:nvSpPr>
        <p:spPr>
          <a:xfrm>
            <a:off x="228600" y="838200"/>
            <a:ext cx="8713922" cy="5810573"/>
          </a:xfrm>
        </p:spPr>
        <p:txBody>
          <a:bodyPr>
            <a:normAutofit lnSpcReduction="10000"/>
          </a:bodyPr>
          <a:lstStyle/>
          <a:p>
            <a:pPr lvl="0"/>
            <a:r>
              <a:rPr lang="en-US" dirty="0"/>
              <a:t>XHTML stands for 	</a:t>
            </a:r>
            <a:r>
              <a:rPr lang="en-US" b="1" i="1" dirty="0" err="1">
                <a:solidFill>
                  <a:srgbClr val="0000FF"/>
                </a:solidFill>
              </a:rPr>
              <a:t>EXtensible</a:t>
            </a:r>
            <a:r>
              <a:rPr lang="en-US" b="1" i="1" dirty="0">
                <a:solidFill>
                  <a:srgbClr val="0000FF"/>
                </a:solidFill>
              </a:rPr>
              <a:t> </a:t>
            </a:r>
            <a:r>
              <a:rPr lang="en-US" b="1" i="1" dirty="0" err="1">
                <a:solidFill>
                  <a:srgbClr val="0000FF"/>
                </a:solidFill>
              </a:rPr>
              <a:t>HyperText</a:t>
            </a:r>
            <a:r>
              <a:rPr lang="en-US" b="1" i="1" dirty="0">
                <a:solidFill>
                  <a:srgbClr val="0000FF"/>
                </a:solidFill>
              </a:rPr>
              <a:t> Markup Language</a:t>
            </a:r>
          </a:p>
          <a:p>
            <a:pPr algn="just"/>
            <a:r>
              <a:rPr lang="en-US" dirty="0"/>
              <a:t>The structure of HTML documents is relatively unconstrained but XHTML is strict structural constrained.</a:t>
            </a:r>
          </a:p>
          <a:p>
            <a:pPr algn="just"/>
            <a:r>
              <a:rPr lang="en-US" dirty="0"/>
              <a:t>XHTML is a reformulation of HTML as an XML application.</a:t>
            </a:r>
          </a:p>
          <a:p>
            <a:pPr lvl="0" algn="just"/>
            <a:r>
              <a:rPr lang="en-US" dirty="0"/>
              <a:t>XHTML is supported by all major browsers</a:t>
            </a:r>
          </a:p>
          <a:p>
            <a:pPr algn="just"/>
            <a:r>
              <a:rPr lang="en-US" dirty="0"/>
              <a:t>XHTML elements have the same well-defined semantics </a:t>
            </a:r>
            <a:r>
              <a:rPr lang="en-US" sz="2000" dirty="0"/>
              <a:t>(relating to meaning)</a:t>
            </a:r>
            <a:r>
              <a:rPr lang="en-US" dirty="0"/>
              <a:t> as corresponding HTML elements.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749" y="76200"/>
            <a:ext cx="8221851" cy="697424"/>
          </a:xfrm>
        </p:spPr>
        <p:txBody>
          <a:bodyPr>
            <a:normAutofit fontScale="90000"/>
          </a:bodyPr>
          <a:lstStyle/>
          <a:p>
            <a:pPr algn="l"/>
            <a:r>
              <a:rPr lang="en-US" b="1" u="sng" dirty="0">
                <a:solidFill>
                  <a:srgbClr val="C00000"/>
                </a:solidFill>
              </a:rPr>
              <a:t>Why XHTML?</a:t>
            </a:r>
          </a:p>
        </p:txBody>
      </p:sp>
      <p:sp>
        <p:nvSpPr>
          <p:cNvPr id="3" name="Content Placeholder 2"/>
          <p:cNvSpPr>
            <a:spLocks noGrp="1"/>
          </p:cNvSpPr>
          <p:nvPr>
            <p:ph idx="1"/>
          </p:nvPr>
        </p:nvSpPr>
        <p:spPr>
          <a:xfrm>
            <a:off x="228600" y="838200"/>
            <a:ext cx="8713922" cy="5810573"/>
          </a:xfrm>
        </p:spPr>
        <p:txBody>
          <a:bodyPr>
            <a:normAutofit fontScale="77500" lnSpcReduction="20000"/>
          </a:bodyPr>
          <a:lstStyle/>
          <a:p>
            <a:pPr algn="just"/>
            <a:r>
              <a:rPr lang="en-US" dirty="0"/>
              <a:t>Many pages on the internet contain "bad" HTML.</a:t>
            </a:r>
          </a:p>
          <a:p>
            <a:pPr>
              <a:buNone/>
            </a:pPr>
            <a:r>
              <a:rPr lang="en-US" dirty="0"/>
              <a:t>		</a:t>
            </a:r>
            <a:r>
              <a:rPr lang="en-US" dirty="0">
                <a:solidFill>
                  <a:srgbClr val="0000FF"/>
                </a:solidFill>
              </a:rPr>
              <a:t>&lt;html&gt;</a:t>
            </a:r>
            <a:br>
              <a:rPr lang="en-US" dirty="0">
                <a:solidFill>
                  <a:srgbClr val="0000FF"/>
                </a:solidFill>
              </a:rPr>
            </a:br>
            <a:r>
              <a:rPr lang="en-US" dirty="0">
                <a:solidFill>
                  <a:srgbClr val="0000FF"/>
                </a:solidFill>
              </a:rPr>
              <a:t>	&lt;head&gt;</a:t>
            </a:r>
            <a:br>
              <a:rPr lang="en-US" dirty="0">
                <a:solidFill>
                  <a:srgbClr val="0000FF"/>
                </a:solidFill>
              </a:rPr>
            </a:br>
            <a:r>
              <a:rPr lang="en-US" dirty="0">
                <a:solidFill>
                  <a:srgbClr val="0000FF"/>
                </a:solidFill>
              </a:rPr>
              <a:t>  		&lt;title&gt;This is bad HTML&lt;/title&gt;</a:t>
            </a:r>
            <a:br>
              <a:rPr lang="en-US" dirty="0">
                <a:solidFill>
                  <a:srgbClr val="0000FF"/>
                </a:solidFill>
              </a:rPr>
            </a:br>
            <a:br>
              <a:rPr lang="en-US" dirty="0">
                <a:solidFill>
                  <a:srgbClr val="0000FF"/>
                </a:solidFill>
              </a:rPr>
            </a:br>
            <a:r>
              <a:rPr lang="en-US" dirty="0">
                <a:solidFill>
                  <a:srgbClr val="0000FF"/>
                </a:solidFill>
              </a:rPr>
              <a:t>	&lt;body&gt;</a:t>
            </a:r>
            <a:br>
              <a:rPr lang="en-US" dirty="0">
                <a:solidFill>
                  <a:srgbClr val="0000FF"/>
                </a:solidFill>
              </a:rPr>
            </a:br>
            <a:r>
              <a:rPr lang="en-US" dirty="0">
                <a:solidFill>
                  <a:srgbClr val="0000FF"/>
                </a:solidFill>
              </a:rPr>
              <a:t> 		 &lt;h1&gt;Bad HTML</a:t>
            </a:r>
            <a:br>
              <a:rPr lang="en-US" dirty="0">
                <a:solidFill>
                  <a:srgbClr val="0000FF"/>
                </a:solidFill>
              </a:rPr>
            </a:br>
            <a:r>
              <a:rPr lang="en-US" dirty="0">
                <a:solidFill>
                  <a:srgbClr val="0000FF"/>
                </a:solidFill>
              </a:rPr>
              <a:t>  		&lt;p&gt;This is a paragraph</a:t>
            </a:r>
            <a:br>
              <a:rPr lang="en-US" dirty="0">
                <a:solidFill>
                  <a:srgbClr val="0000FF"/>
                </a:solidFill>
              </a:rPr>
            </a:br>
            <a:r>
              <a:rPr lang="en-US" dirty="0">
                <a:solidFill>
                  <a:srgbClr val="0000FF"/>
                </a:solidFill>
              </a:rPr>
              <a:t>	&lt;/body&gt;</a:t>
            </a:r>
          </a:p>
          <a:p>
            <a:pPr algn="just"/>
            <a:r>
              <a:rPr lang="en-US" dirty="0"/>
              <a:t>Today's market consists of different browser technologies:</a:t>
            </a:r>
          </a:p>
          <a:p>
            <a:pPr lvl="1" algn="just"/>
            <a:r>
              <a:rPr lang="en-US" dirty="0"/>
              <a:t> Some browsers run on computers, </a:t>
            </a:r>
          </a:p>
          <a:p>
            <a:pPr lvl="1" algn="just"/>
            <a:r>
              <a:rPr lang="en-US" dirty="0"/>
              <a:t>Some browsers run on mobile phones,</a:t>
            </a:r>
          </a:p>
          <a:p>
            <a:pPr lvl="1" algn="just"/>
            <a:r>
              <a:rPr lang="en-US" dirty="0"/>
              <a:t>or other small devices. </a:t>
            </a:r>
          </a:p>
          <a:p>
            <a:pPr algn="just"/>
            <a:r>
              <a:rPr lang="en-US" dirty="0"/>
              <a:t>Smaller devices often lack the resources or power to interpret "bad" markup.</a:t>
            </a:r>
          </a:p>
          <a:p>
            <a:pPr algn="just"/>
            <a:r>
              <a:rPr lang="en-US" dirty="0"/>
              <a:t>XML is a markup language where documents must be marked up correctly (</a:t>
            </a:r>
            <a:r>
              <a:rPr lang="en-US" b="1" dirty="0">
                <a:solidFill>
                  <a:srgbClr val="0000FF"/>
                </a:solidFill>
              </a:rPr>
              <a:t>be "well-formed"</a:t>
            </a:r>
            <a:r>
              <a:rPr lang="en-US" dirty="0"/>
              <a:t>).</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749" y="76200"/>
            <a:ext cx="8221851" cy="697424"/>
          </a:xfrm>
        </p:spPr>
        <p:txBody>
          <a:bodyPr>
            <a:normAutofit fontScale="90000"/>
          </a:bodyPr>
          <a:lstStyle/>
          <a:p>
            <a:pPr algn="l"/>
            <a:r>
              <a:rPr lang="en-US" b="1" u="sng" dirty="0">
                <a:solidFill>
                  <a:srgbClr val="C00000"/>
                </a:solidFill>
              </a:rPr>
              <a:t>XHTML DOCUMENT:</a:t>
            </a:r>
          </a:p>
        </p:txBody>
      </p:sp>
      <p:sp>
        <p:nvSpPr>
          <p:cNvPr id="3" name="Content Placeholder 2"/>
          <p:cNvSpPr>
            <a:spLocks noGrp="1"/>
          </p:cNvSpPr>
          <p:nvPr>
            <p:ph idx="1"/>
          </p:nvPr>
        </p:nvSpPr>
        <p:spPr>
          <a:xfrm>
            <a:off x="228600" y="838200"/>
            <a:ext cx="8713922" cy="5810573"/>
          </a:xfrm>
        </p:spPr>
        <p:txBody>
          <a:bodyPr>
            <a:normAutofit fontScale="85000" lnSpcReduction="20000"/>
          </a:bodyPr>
          <a:lstStyle/>
          <a:p>
            <a:r>
              <a:rPr lang="en-US" b="1" dirty="0">
                <a:solidFill>
                  <a:srgbClr val="0000FF"/>
                </a:solidFill>
              </a:rPr>
              <a:t>Document  Structure </a:t>
            </a:r>
          </a:p>
          <a:p>
            <a:pPr lvl="1"/>
            <a:r>
              <a:rPr lang="en-US" dirty="0"/>
              <a:t>XHTML &lt;!DOCTYPE.…&gt; is </a:t>
            </a:r>
            <a:r>
              <a:rPr lang="en-US" b="1" dirty="0"/>
              <a:t>mandatory</a:t>
            </a:r>
            <a:endParaRPr lang="en-US" dirty="0"/>
          </a:p>
          <a:p>
            <a:pPr lvl="1"/>
            <a:r>
              <a:rPr lang="en-US" dirty="0"/>
              <a:t>The xmlns attribute in &lt;html&gt; is </a:t>
            </a:r>
            <a:r>
              <a:rPr lang="en-US" b="1" dirty="0"/>
              <a:t>mandatory</a:t>
            </a:r>
            <a:endParaRPr lang="en-US" dirty="0"/>
          </a:p>
          <a:p>
            <a:pPr lvl="1"/>
            <a:r>
              <a:rPr lang="en-US" dirty="0"/>
              <a:t>&lt;html&gt;, &lt;head&gt;, &lt;title&gt;, and &lt;body&gt; are </a:t>
            </a:r>
            <a:r>
              <a:rPr lang="en-US" b="1" dirty="0"/>
              <a:t>mandatory</a:t>
            </a:r>
            <a:endParaRPr lang="en-US" dirty="0"/>
          </a:p>
          <a:p>
            <a:r>
              <a:rPr lang="en-US" b="1" dirty="0">
                <a:solidFill>
                  <a:srgbClr val="0000FF"/>
                </a:solidFill>
              </a:rPr>
              <a:t>XHTML Elements</a:t>
            </a:r>
          </a:p>
          <a:p>
            <a:pPr lvl="1"/>
            <a:r>
              <a:rPr lang="en-US" dirty="0"/>
              <a:t>XHTML elements must be </a:t>
            </a:r>
            <a:r>
              <a:rPr lang="en-US" b="1" dirty="0"/>
              <a:t>properly nested</a:t>
            </a:r>
            <a:endParaRPr lang="en-US" dirty="0"/>
          </a:p>
          <a:p>
            <a:pPr lvl="1"/>
            <a:r>
              <a:rPr lang="en-US" dirty="0"/>
              <a:t>XHTML elements must always be </a:t>
            </a:r>
            <a:r>
              <a:rPr lang="en-US" b="1" dirty="0"/>
              <a:t>closed</a:t>
            </a:r>
            <a:endParaRPr lang="en-US" dirty="0"/>
          </a:p>
          <a:p>
            <a:pPr lvl="1"/>
            <a:r>
              <a:rPr lang="en-US" dirty="0"/>
              <a:t>XHTML elements must be in </a:t>
            </a:r>
            <a:r>
              <a:rPr lang="en-US" b="1" dirty="0"/>
              <a:t>lowercase</a:t>
            </a:r>
            <a:endParaRPr lang="en-US" dirty="0"/>
          </a:p>
          <a:p>
            <a:pPr lvl="1"/>
            <a:r>
              <a:rPr lang="en-US" dirty="0"/>
              <a:t>XHTML documents must have </a:t>
            </a:r>
            <a:r>
              <a:rPr lang="en-US" b="1" dirty="0"/>
              <a:t>one root element</a:t>
            </a:r>
            <a:endParaRPr lang="en-US" dirty="0"/>
          </a:p>
          <a:p>
            <a:r>
              <a:rPr lang="en-US" b="1" dirty="0">
                <a:solidFill>
                  <a:srgbClr val="0000FF"/>
                </a:solidFill>
              </a:rPr>
              <a:t>XHTML Attributes</a:t>
            </a:r>
          </a:p>
          <a:p>
            <a:pPr lvl="1"/>
            <a:r>
              <a:rPr lang="en-US" dirty="0"/>
              <a:t>Attribute names must be in </a:t>
            </a:r>
            <a:r>
              <a:rPr lang="en-US" b="1" dirty="0"/>
              <a:t>lower case</a:t>
            </a:r>
            <a:endParaRPr lang="en-US" dirty="0"/>
          </a:p>
          <a:p>
            <a:pPr lvl="1"/>
            <a:r>
              <a:rPr lang="en-US" dirty="0"/>
              <a:t>Attribute values must be </a:t>
            </a:r>
            <a:r>
              <a:rPr lang="en-US" b="1" dirty="0"/>
              <a:t>quoted</a:t>
            </a:r>
            <a:endParaRPr lang="en-US" dirty="0"/>
          </a:p>
          <a:p>
            <a:pPr lvl="1"/>
            <a:r>
              <a:rPr lang="en-US" dirty="0"/>
              <a:t>Attribute minimization is </a:t>
            </a:r>
            <a:r>
              <a:rPr lang="en-US" b="1" dirty="0"/>
              <a:t>forbidden, e.g.</a:t>
            </a:r>
          </a:p>
          <a:p>
            <a:pPr>
              <a:buNone/>
            </a:pPr>
            <a:r>
              <a:rPr lang="en-US" dirty="0"/>
              <a:t>	</a:t>
            </a:r>
            <a:r>
              <a:rPr lang="en-US" dirty="0">
                <a:solidFill>
                  <a:srgbClr val="C00000"/>
                </a:solidFill>
              </a:rPr>
              <a:t>Wrong:</a:t>
            </a:r>
            <a:r>
              <a:rPr lang="en-US" dirty="0"/>
              <a:t>  &lt;input type="checkbox“  checked /&gt;</a:t>
            </a:r>
            <a:endParaRPr lang="en-US" sz="2400" dirty="0"/>
          </a:p>
          <a:p>
            <a:pPr>
              <a:buNone/>
            </a:pPr>
            <a:r>
              <a:rPr lang="en-US" dirty="0"/>
              <a:t>	</a:t>
            </a:r>
            <a:r>
              <a:rPr lang="en-US" dirty="0">
                <a:solidFill>
                  <a:srgbClr val="C00000"/>
                </a:solidFill>
              </a:rPr>
              <a:t>Correct:</a:t>
            </a:r>
            <a:r>
              <a:rPr lang="en-US" dirty="0"/>
              <a:t> &lt;input type="checkbox“  checked="checked" /&gt;</a:t>
            </a:r>
            <a:endParaRPr lang="en-US" sz="2400" dirty="0"/>
          </a:p>
          <a:p>
            <a:pPr lvl="1">
              <a:buNone/>
            </a:pPr>
            <a:endParaRPr lang="en-US" dirty="0"/>
          </a:p>
          <a:p>
            <a:endParaRPr lang="en-US"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749" y="76200"/>
            <a:ext cx="8221851" cy="697424"/>
          </a:xfrm>
        </p:spPr>
        <p:txBody>
          <a:bodyPr>
            <a:normAutofit fontScale="90000"/>
          </a:bodyPr>
          <a:lstStyle/>
          <a:p>
            <a:r>
              <a:rPr lang="en-US" b="1" u="sng" dirty="0">
                <a:solidFill>
                  <a:srgbClr val="C00000"/>
                </a:solidFill>
              </a:rPr>
              <a:t>XHTML document Example:</a:t>
            </a:r>
          </a:p>
        </p:txBody>
      </p:sp>
      <p:sp>
        <p:nvSpPr>
          <p:cNvPr id="3" name="Content Placeholder 2"/>
          <p:cNvSpPr>
            <a:spLocks noGrp="1"/>
          </p:cNvSpPr>
          <p:nvPr>
            <p:ph idx="1"/>
          </p:nvPr>
        </p:nvSpPr>
        <p:spPr>
          <a:xfrm>
            <a:off x="228600" y="762000"/>
            <a:ext cx="8713922" cy="5995261"/>
          </a:xfrm>
        </p:spPr>
        <p:txBody>
          <a:bodyPr>
            <a:normAutofit fontScale="85000" lnSpcReduction="20000"/>
          </a:bodyPr>
          <a:lstStyle/>
          <a:p>
            <a:pPr>
              <a:buNone/>
            </a:pPr>
            <a:r>
              <a:rPr lang="en-US" dirty="0"/>
              <a:t>&lt;?xml version ="1.0" encoding ="UTF-8"?&gt;</a:t>
            </a:r>
          </a:p>
          <a:p>
            <a:pPr>
              <a:buNone/>
            </a:pPr>
            <a:r>
              <a:rPr lang="en-US" dirty="0"/>
              <a:t>&lt;!DOCTYPE html PUBLIC&gt;</a:t>
            </a:r>
          </a:p>
          <a:p>
            <a:pPr>
              <a:buNone/>
            </a:pPr>
            <a:r>
              <a:rPr lang="en-US" dirty="0"/>
              <a:t>&lt;html xmlns =</a:t>
            </a:r>
            <a:r>
              <a:rPr lang="en-US" dirty="0">
                <a:hlinkClick r:id="rId2"/>
              </a:rPr>
              <a:t>http://www.w3.org/1999/xhtml</a:t>
            </a:r>
            <a:r>
              <a:rPr lang="en-US" dirty="0"/>
              <a:t>  								xml: </a:t>
            </a:r>
            <a:r>
              <a:rPr lang="en-US" dirty="0" err="1"/>
              <a:t>lang</a:t>
            </a:r>
            <a:r>
              <a:rPr lang="en-US" dirty="0"/>
              <a:t> ="en“ &gt;</a:t>
            </a:r>
          </a:p>
          <a:p>
            <a:pPr>
              <a:buNone/>
            </a:pPr>
            <a:r>
              <a:rPr lang="en-US" dirty="0"/>
              <a:t>&lt;head&gt;</a:t>
            </a:r>
          </a:p>
          <a:p>
            <a:pPr>
              <a:buNone/>
            </a:pPr>
            <a:r>
              <a:rPr lang="en-US" dirty="0"/>
              <a:t>	&lt;title&gt;Sample HTML Document&lt;/title&gt;</a:t>
            </a:r>
          </a:p>
          <a:p>
            <a:pPr>
              <a:buNone/>
            </a:pPr>
            <a:r>
              <a:rPr lang="en-US" dirty="0"/>
              <a:t>&lt;/head&gt;</a:t>
            </a:r>
          </a:p>
          <a:p>
            <a:pPr>
              <a:buNone/>
            </a:pPr>
            <a:r>
              <a:rPr lang="en-US" dirty="0"/>
              <a:t>&lt;body&gt;</a:t>
            </a:r>
          </a:p>
          <a:p>
            <a:pPr>
              <a:buNone/>
            </a:pPr>
            <a:r>
              <a:rPr lang="en-US" dirty="0"/>
              <a:t>	&lt;p&gt;I do have to close the &amp;</a:t>
            </a:r>
            <a:r>
              <a:rPr lang="en-US" dirty="0" err="1"/>
              <a:t>lt;p&amp;gt</a:t>
            </a:r>
            <a:r>
              <a:rPr lang="en-US" dirty="0"/>
              <a:t>; tag.&lt;/p&gt; &lt;hr /&gt;</a:t>
            </a:r>
          </a:p>
          <a:p>
            <a:pPr>
              <a:buNone/>
            </a:pPr>
            <a:r>
              <a:rPr lang="en-US" dirty="0"/>
              <a:t>	&lt;p</a:t>
            </a:r>
            <a:r>
              <a:rPr lang="en-US"/>
              <a:t>&gt; Sargodha </a:t>
            </a:r>
            <a:r>
              <a:rPr lang="en-US" dirty="0"/>
              <a:t>University &lt;</a:t>
            </a:r>
            <a:r>
              <a:rPr lang="en-US" dirty="0" err="1"/>
              <a:t>br</a:t>
            </a:r>
            <a:r>
              <a:rPr lang="en-US" dirty="0"/>
              <a:t>&gt;&lt;/</a:t>
            </a:r>
            <a:r>
              <a:rPr lang="en-US" dirty="0" err="1"/>
              <a:t>br</a:t>
            </a:r>
            <a:r>
              <a:rPr lang="en-US" dirty="0"/>
              <a:t>&gt; Sargodha Campus &lt;/p&gt;</a:t>
            </a:r>
          </a:p>
          <a:p>
            <a:pPr>
              <a:buNone/>
            </a:pPr>
            <a:r>
              <a:rPr lang="en-US" dirty="0"/>
              <a:t>&lt;/body&gt;</a:t>
            </a:r>
          </a:p>
          <a:p>
            <a:pPr>
              <a:buNone/>
            </a:pPr>
            <a:r>
              <a:rPr lang="en-US" dirty="0"/>
              <a:t>&lt;/html&gt;</a:t>
            </a:r>
            <a:br>
              <a:rPr lang="en-US" dirty="0"/>
            </a:br>
            <a:endParaRPr lang="en-US" dirty="0"/>
          </a:p>
          <a:p>
            <a:pPr algn="ctr">
              <a:buNone/>
            </a:pPr>
            <a:r>
              <a:rPr lang="en-US" b="1" i="1" dirty="0">
                <a:solidFill>
                  <a:srgbClr val="0000FF"/>
                </a:solidFill>
              </a:rPr>
              <a:t>xmlns attribute in &lt;html&gt; must specify the xml namespace for the document.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749" y="76200"/>
            <a:ext cx="8221851" cy="697424"/>
          </a:xfrm>
        </p:spPr>
        <p:txBody>
          <a:bodyPr>
            <a:normAutofit fontScale="90000"/>
          </a:bodyPr>
          <a:lstStyle/>
          <a:p>
            <a:pPr algn="l"/>
            <a:r>
              <a:rPr lang="en-US" b="1" u="sng" dirty="0">
                <a:solidFill>
                  <a:srgbClr val="C00000"/>
                </a:solidFill>
              </a:rPr>
              <a:t>WHAT IS HTML 5.0?</a:t>
            </a:r>
          </a:p>
        </p:txBody>
      </p:sp>
      <p:sp>
        <p:nvSpPr>
          <p:cNvPr id="3" name="Content Placeholder 2"/>
          <p:cNvSpPr>
            <a:spLocks noGrp="1"/>
          </p:cNvSpPr>
          <p:nvPr>
            <p:ph idx="1"/>
          </p:nvPr>
        </p:nvSpPr>
        <p:spPr>
          <a:xfrm>
            <a:off x="228600" y="762000"/>
            <a:ext cx="8713922" cy="5995261"/>
          </a:xfrm>
        </p:spPr>
        <p:txBody>
          <a:bodyPr>
            <a:normAutofit/>
          </a:bodyPr>
          <a:lstStyle/>
          <a:p>
            <a:pPr>
              <a:buNone/>
            </a:pPr>
            <a:r>
              <a:rPr lang="en-US" dirty="0"/>
              <a:t>Migration from HTML4 to HTML5:</a:t>
            </a:r>
          </a:p>
          <a:p>
            <a:pPr fontAlgn="t">
              <a:buNone/>
            </a:pPr>
            <a:endParaRPr lang="en-US" dirty="0"/>
          </a:p>
          <a:p>
            <a:pPr fontAlgn="t"/>
            <a:endParaRPr lang="en-US" dirty="0"/>
          </a:p>
          <a:p>
            <a:pPr fontAlgn="t"/>
            <a:endParaRPr lang="en-US" dirty="0"/>
          </a:p>
          <a:p>
            <a:pPr fontAlgn="t"/>
            <a:endParaRPr lang="en-US" dirty="0"/>
          </a:p>
          <a:p>
            <a:pPr fontAlgn="t"/>
            <a:endParaRPr lang="en-US" dirty="0"/>
          </a:p>
          <a:p>
            <a:pPr fontAlgn="t"/>
            <a:endParaRPr lang="en-US" dirty="0"/>
          </a:p>
          <a:p>
            <a:pPr fontAlgn="t"/>
            <a:endParaRPr lang="en-US" dirty="0"/>
          </a:p>
          <a:p>
            <a:pPr fontAlgn="t"/>
            <a:endParaRPr lang="en-US" dirty="0"/>
          </a:p>
          <a:p>
            <a:pPr fontAlgn="t"/>
            <a:endParaRPr lang="en-US" dirty="0"/>
          </a:p>
          <a:p>
            <a:pPr fontAlgn="t"/>
            <a:endParaRPr lang="en-US" dirty="0"/>
          </a:p>
          <a:p>
            <a:pPr>
              <a:buNone/>
            </a:pPr>
            <a:endParaRPr lang="en-US" dirty="0"/>
          </a:p>
          <a:p>
            <a:pPr>
              <a:buNone/>
            </a:pPr>
            <a:endParaRPr lang="en-US" b="1" i="1" dirty="0">
              <a:solidFill>
                <a:srgbClr val="0000FF"/>
              </a:solidFill>
            </a:endParaRPr>
          </a:p>
        </p:txBody>
      </p:sp>
      <p:graphicFrame>
        <p:nvGraphicFramePr>
          <p:cNvPr id="4" name="Table 3"/>
          <p:cNvGraphicFramePr>
            <a:graphicFrameLocks noGrp="1"/>
          </p:cNvGraphicFramePr>
          <p:nvPr/>
        </p:nvGraphicFramePr>
        <p:xfrm>
          <a:off x="542442" y="1397000"/>
          <a:ext cx="8068158" cy="5003802"/>
        </p:xfrm>
        <a:graphic>
          <a:graphicData uri="http://schemas.openxmlformats.org/drawingml/2006/table">
            <a:tbl>
              <a:tblPr firstRow="1" bandRow="1">
                <a:tableStyleId>{5C22544A-7EE6-4342-B048-85BDC9FD1C3A}</a:tableStyleId>
              </a:tblPr>
              <a:tblGrid>
                <a:gridCol w="4034079">
                  <a:extLst>
                    <a:ext uri="{9D8B030D-6E8A-4147-A177-3AD203B41FA5}">
                      <a16:colId xmlns:a16="http://schemas.microsoft.com/office/drawing/2014/main" val="20000"/>
                    </a:ext>
                  </a:extLst>
                </a:gridCol>
                <a:gridCol w="4034079">
                  <a:extLst>
                    <a:ext uri="{9D8B030D-6E8A-4147-A177-3AD203B41FA5}">
                      <a16:colId xmlns:a16="http://schemas.microsoft.com/office/drawing/2014/main" val="20001"/>
                    </a:ext>
                  </a:extLst>
                </a:gridCol>
              </a:tblGrid>
              <a:tr h="833967">
                <a:tc>
                  <a:txBody>
                    <a:bodyPr/>
                    <a:lstStyle/>
                    <a:p>
                      <a:pPr marL="0" marR="0" algn="ctr">
                        <a:lnSpc>
                          <a:spcPts val="1795"/>
                        </a:lnSpc>
                        <a:spcBef>
                          <a:spcPts val="0"/>
                        </a:spcBef>
                        <a:spcAft>
                          <a:spcPts val="1005"/>
                        </a:spcAft>
                      </a:pPr>
                      <a:r>
                        <a:rPr lang="en-US" sz="2800" b="1" dirty="0">
                          <a:solidFill>
                            <a:srgbClr val="000000"/>
                          </a:solidFill>
                          <a:latin typeface="Verdana"/>
                          <a:ea typeface="Times New Roman"/>
                          <a:cs typeface="Times New Roman"/>
                        </a:rPr>
                        <a:t>Typical HTML4</a:t>
                      </a:r>
                      <a:endParaRPr lang="en-US" sz="2800" dirty="0">
                        <a:latin typeface="Calibri"/>
                        <a:ea typeface="Calibri"/>
                        <a:cs typeface="Times New Roman"/>
                      </a:endParaRPr>
                    </a:p>
                  </a:txBody>
                  <a:tcPr marL="53340" marR="53340" marT="53340" marB="53340" anchor="ctr"/>
                </a:tc>
                <a:tc>
                  <a:txBody>
                    <a:bodyPr/>
                    <a:lstStyle/>
                    <a:p>
                      <a:pPr marL="0" marR="0" algn="ctr">
                        <a:lnSpc>
                          <a:spcPts val="1795"/>
                        </a:lnSpc>
                        <a:spcBef>
                          <a:spcPts val="0"/>
                        </a:spcBef>
                        <a:spcAft>
                          <a:spcPts val="1005"/>
                        </a:spcAft>
                      </a:pPr>
                      <a:r>
                        <a:rPr lang="en-US" sz="2800" b="1" dirty="0">
                          <a:solidFill>
                            <a:srgbClr val="000000"/>
                          </a:solidFill>
                          <a:latin typeface="Verdana"/>
                          <a:ea typeface="Times New Roman"/>
                          <a:cs typeface="Times New Roman"/>
                        </a:rPr>
                        <a:t>Typical HTML5</a:t>
                      </a:r>
                      <a:endParaRPr lang="en-US" sz="2800" dirty="0">
                        <a:latin typeface="Calibri"/>
                        <a:ea typeface="Calibri"/>
                        <a:cs typeface="Times New Roman"/>
                      </a:endParaRPr>
                    </a:p>
                  </a:txBody>
                  <a:tcPr marL="53340" marR="53340" marT="53340" marB="53340" anchor="ctr"/>
                </a:tc>
                <a:extLst>
                  <a:ext uri="{0D108BD9-81ED-4DB2-BD59-A6C34878D82A}">
                    <a16:rowId xmlns:a16="http://schemas.microsoft.com/office/drawing/2014/main" val="10000"/>
                  </a:ext>
                </a:extLst>
              </a:tr>
              <a:tr h="833967">
                <a:tc>
                  <a:txBody>
                    <a:bodyPr/>
                    <a:lstStyle/>
                    <a:p>
                      <a:pPr marL="0" marR="0" algn="ctr">
                        <a:lnSpc>
                          <a:spcPts val="1795"/>
                        </a:lnSpc>
                        <a:spcBef>
                          <a:spcPts val="0"/>
                        </a:spcBef>
                        <a:spcAft>
                          <a:spcPts val="1005"/>
                        </a:spcAft>
                      </a:pPr>
                      <a:r>
                        <a:rPr lang="en-US" sz="2800">
                          <a:solidFill>
                            <a:srgbClr val="000000"/>
                          </a:solidFill>
                          <a:latin typeface="Verdana"/>
                          <a:ea typeface="Times New Roman"/>
                          <a:cs typeface="Times New Roman"/>
                        </a:rPr>
                        <a:t>&lt;div id="header"&gt;</a:t>
                      </a:r>
                      <a:endParaRPr lang="en-US" sz="2800">
                        <a:latin typeface="Calibri"/>
                        <a:ea typeface="Calibri"/>
                        <a:cs typeface="Times New Roman"/>
                      </a:endParaRPr>
                    </a:p>
                  </a:txBody>
                  <a:tcPr marL="159385" marR="159385" marT="159385" marB="159385" anchor="ctr"/>
                </a:tc>
                <a:tc>
                  <a:txBody>
                    <a:bodyPr/>
                    <a:lstStyle/>
                    <a:p>
                      <a:pPr marL="0" marR="0" algn="ctr">
                        <a:lnSpc>
                          <a:spcPts val="1795"/>
                        </a:lnSpc>
                        <a:spcBef>
                          <a:spcPts val="0"/>
                        </a:spcBef>
                        <a:spcAft>
                          <a:spcPts val="1005"/>
                        </a:spcAft>
                      </a:pPr>
                      <a:r>
                        <a:rPr lang="en-US" sz="2800" dirty="0">
                          <a:solidFill>
                            <a:srgbClr val="000000"/>
                          </a:solidFill>
                          <a:latin typeface="Verdana"/>
                          <a:ea typeface="Times New Roman"/>
                          <a:cs typeface="Times New Roman"/>
                        </a:rPr>
                        <a:t>&lt;header&gt;</a:t>
                      </a:r>
                      <a:endParaRPr lang="en-US" sz="2800" dirty="0">
                        <a:latin typeface="Calibri"/>
                        <a:ea typeface="Calibri"/>
                        <a:cs typeface="Times New Roman"/>
                      </a:endParaRPr>
                    </a:p>
                  </a:txBody>
                  <a:tcPr marL="159385" marR="159385" marT="159385" marB="159385" anchor="ctr"/>
                </a:tc>
                <a:extLst>
                  <a:ext uri="{0D108BD9-81ED-4DB2-BD59-A6C34878D82A}">
                    <a16:rowId xmlns:a16="http://schemas.microsoft.com/office/drawing/2014/main" val="10001"/>
                  </a:ext>
                </a:extLst>
              </a:tr>
              <a:tr h="833967">
                <a:tc>
                  <a:txBody>
                    <a:bodyPr/>
                    <a:lstStyle/>
                    <a:p>
                      <a:pPr marL="0" marR="0" algn="ctr">
                        <a:lnSpc>
                          <a:spcPts val="1795"/>
                        </a:lnSpc>
                        <a:spcBef>
                          <a:spcPts val="0"/>
                        </a:spcBef>
                        <a:spcAft>
                          <a:spcPts val="1005"/>
                        </a:spcAft>
                      </a:pPr>
                      <a:r>
                        <a:rPr lang="en-US" sz="2800">
                          <a:solidFill>
                            <a:srgbClr val="000000"/>
                          </a:solidFill>
                          <a:latin typeface="Verdana"/>
                          <a:ea typeface="Times New Roman"/>
                          <a:cs typeface="Times New Roman"/>
                        </a:rPr>
                        <a:t>&lt;div id="menu"&gt;</a:t>
                      </a:r>
                      <a:endParaRPr lang="en-US" sz="2800">
                        <a:latin typeface="Calibri"/>
                        <a:ea typeface="Calibri"/>
                        <a:cs typeface="Times New Roman"/>
                      </a:endParaRPr>
                    </a:p>
                  </a:txBody>
                  <a:tcPr marL="159385" marR="159385" marT="159385" marB="159385" anchor="ctr"/>
                </a:tc>
                <a:tc>
                  <a:txBody>
                    <a:bodyPr/>
                    <a:lstStyle/>
                    <a:p>
                      <a:pPr marL="0" marR="0" algn="ctr">
                        <a:lnSpc>
                          <a:spcPts val="1795"/>
                        </a:lnSpc>
                        <a:spcBef>
                          <a:spcPts val="0"/>
                        </a:spcBef>
                        <a:spcAft>
                          <a:spcPts val="1005"/>
                        </a:spcAft>
                      </a:pPr>
                      <a:r>
                        <a:rPr lang="en-US" sz="2800" dirty="0">
                          <a:solidFill>
                            <a:srgbClr val="000000"/>
                          </a:solidFill>
                          <a:latin typeface="Verdana"/>
                          <a:ea typeface="Times New Roman"/>
                          <a:cs typeface="Times New Roman"/>
                        </a:rPr>
                        <a:t>&lt;</a:t>
                      </a:r>
                      <a:r>
                        <a:rPr lang="en-US" sz="2800" dirty="0" err="1">
                          <a:solidFill>
                            <a:srgbClr val="000000"/>
                          </a:solidFill>
                          <a:latin typeface="Verdana"/>
                          <a:ea typeface="Times New Roman"/>
                          <a:cs typeface="Times New Roman"/>
                        </a:rPr>
                        <a:t>nav</a:t>
                      </a:r>
                      <a:r>
                        <a:rPr lang="en-US" sz="2800" dirty="0">
                          <a:solidFill>
                            <a:srgbClr val="000000"/>
                          </a:solidFill>
                          <a:latin typeface="Verdana"/>
                          <a:ea typeface="Times New Roman"/>
                          <a:cs typeface="Times New Roman"/>
                        </a:rPr>
                        <a:t>&gt;</a:t>
                      </a:r>
                      <a:endParaRPr lang="en-US" sz="2800" dirty="0">
                        <a:latin typeface="Calibri"/>
                        <a:ea typeface="Calibri"/>
                        <a:cs typeface="Times New Roman"/>
                      </a:endParaRPr>
                    </a:p>
                  </a:txBody>
                  <a:tcPr marL="159385" marR="159385" marT="159385" marB="159385" anchor="ctr"/>
                </a:tc>
                <a:extLst>
                  <a:ext uri="{0D108BD9-81ED-4DB2-BD59-A6C34878D82A}">
                    <a16:rowId xmlns:a16="http://schemas.microsoft.com/office/drawing/2014/main" val="10002"/>
                  </a:ext>
                </a:extLst>
              </a:tr>
              <a:tr h="833967">
                <a:tc>
                  <a:txBody>
                    <a:bodyPr/>
                    <a:lstStyle/>
                    <a:p>
                      <a:pPr marL="0" marR="0" algn="ctr">
                        <a:lnSpc>
                          <a:spcPts val="1795"/>
                        </a:lnSpc>
                        <a:spcBef>
                          <a:spcPts val="0"/>
                        </a:spcBef>
                        <a:spcAft>
                          <a:spcPts val="1005"/>
                        </a:spcAft>
                      </a:pPr>
                      <a:r>
                        <a:rPr lang="en-US" sz="2800">
                          <a:solidFill>
                            <a:srgbClr val="000000"/>
                          </a:solidFill>
                          <a:latin typeface="Verdana"/>
                          <a:ea typeface="Times New Roman"/>
                          <a:cs typeface="Times New Roman"/>
                        </a:rPr>
                        <a:t>&lt;div id="content"&gt;</a:t>
                      </a:r>
                      <a:endParaRPr lang="en-US" sz="2800">
                        <a:latin typeface="Calibri"/>
                        <a:ea typeface="Calibri"/>
                        <a:cs typeface="Times New Roman"/>
                      </a:endParaRPr>
                    </a:p>
                  </a:txBody>
                  <a:tcPr marL="159385" marR="159385" marT="159385" marB="159385" anchor="ctr"/>
                </a:tc>
                <a:tc>
                  <a:txBody>
                    <a:bodyPr/>
                    <a:lstStyle/>
                    <a:p>
                      <a:pPr marL="0" marR="0" algn="ctr">
                        <a:lnSpc>
                          <a:spcPts val="1795"/>
                        </a:lnSpc>
                        <a:spcBef>
                          <a:spcPts val="0"/>
                        </a:spcBef>
                        <a:spcAft>
                          <a:spcPts val="1005"/>
                        </a:spcAft>
                      </a:pPr>
                      <a:r>
                        <a:rPr lang="en-US" sz="2800" dirty="0">
                          <a:solidFill>
                            <a:srgbClr val="000000"/>
                          </a:solidFill>
                          <a:latin typeface="Verdana"/>
                          <a:ea typeface="Times New Roman"/>
                          <a:cs typeface="Times New Roman"/>
                        </a:rPr>
                        <a:t>&lt;section&gt;</a:t>
                      </a:r>
                      <a:endParaRPr lang="en-US" sz="2800" dirty="0">
                        <a:latin typeface="Calibri"/>
                        <a:ea typeface="Calibri"/>
                        <a:cs typeface="Times New Roman"/>
                      </a:endParaRPr>
                    </a:p>
                  </a:txBody>
                  <a:tcPr marL="159385" marR="159385" marT="159385" marB="159385" anchor="ctr"/>
                </a:tc>
                <a:extLst>
                  <a:ext uri="{0D108BD9-81ED-4DB2-BD59-A6C34878D82A}">
                    <a16:rowId xmlns:a16="http://schemas.microsoft.com/office/drawing/2014/main" val="10003"/>
                  </a:ext>
                </a:extLst>
              </a:tr>
              <a:tr h="833967">
                <a:tc>
                  <a:txBody>
                    <a:bodyPr/>
                    <a:lstStyle/>
                    <a:p>
                      <a:pPr marL="0" marR="0" algn="ctr">
                        <a:lnSpc>
                          <a:spcPts val="1795"/>
                        </a:lnSpc>
                        <a:spcBef>
                          <a:spcPts val="0"/>
                        </a:spcBef>
                        <a:spcAft>
                          <a:spcPts val="1005"/>
                        </a:spcAft>
                      </a:pPr>
                      <a:r>
                        <a:rPr lang="en-US" sz="2800">
                          <a:solidFill>
                            <a:srgbClr val="000000"/>
                          </a:solidFill>
                          <a:latin typeface="Verdana"/>
                          <a:ea typeface="Times New Roman"/>
                          <a:cs typeface="Times New Roman"/>
                        </a:rPr>
                        <a:t>&lt;div id="post"&gt;</a:t>
                      </a:r>
                      <a:endParaRPr lang="en-US" sz="2800">
                        <a:latin typeface="Calibri"/>
                        <a:ea typeface="Calibri"/>
                        <a:cs typeface="Times New Roman"/>
                      </a:endParaRPr>
                    </a:p>
                  </a:txBody>
                  <a:tcPr marL="159385" marR="159385" marT="159385" marB="159385" anchor="ctr"/>
                </a:tc>
                <a:tc>
                  <a:txBody>
                    <a:bodyPr/>
                    <a:lstStyle/>
                    <a:p>
                      <a:pPr marL="0" marR="0" algn="ctr">
                        <a:lnSpc>
                          <a:spcPts val="1795"/>
                        </a:lnSpc>
                        <a:spcBef>
                          <a:spcPts val="0"/>
                        </a:spcBef>
                        <a:spcAft>
                          <a:spcPts val="1005"/>
                        </a:spcAft>
                      </a:pPr>
                      <a:r>
                        <a:rPr lang="en-US" sz="2800" dirty="0">
                          <a:solidFill>
                            <a:srgbClr val="000000"/>
                          </a:solidFill>
                          <a:latin typeface="Verdana"/>
                          <a:ea typeface="Times New Roman"/>
                          <a:cs typeface="Times New Roman"/>
                        </a:rPr>
                        <a:t>&lt;article&gt;</a:t>
                      </a:r>
                      <a:endParaRPr lang="en-US" sz="2800" dirty="0">
                        <a:latin typeface="Calibri"/>
                        <a:ea typeface="Calibri"/>
                        <a:cs typeface="Times New Roman"/>
                      </a:endParaRPr>
                    </a:p>
                  </a:txBody>
                  <a:tcPr marL="159385" marR="159385" marT="159385" marB="159385" anchor="ctr"/>
                </a:tc>
                <a:extLst>
                  <a:ext uri="{0D108BD9-81ED-4DB2-BD59-A6C34878D82A}">
                    <a16:rowId xmlns:a16="http://schemas.microsoft.com/office/drawing/2014/main" val="10004"/>
                  </a:ext>
                </a:extLst>
              </a:tr>
              <a:tr h="833967">
                <a:tc>
                  <a:txBody>
                    <a:bodyPr/>
                    <a:lstStyle/>
                    <a:p>
                      <a:pPr marL="0" marR="0" algn="ctr">
                        <a:lnSpc>
                          <a:spcPts val="1795"/>
                        </a:lnSpc>
                        <a:spcBef>
                          <a:spcPts val="0"/>
                        </a:spcBef>
                        <a:spcAft>
                          <a:spcPts val="1005"/>
                        </a:spcAft>
                      </a:pPr>
                      <a:r>
                        <a:rPr lang="en-US" sz="2800" dirty="0">
                          <a:solidFill>
                            <a:srgbClr val="000000"/>
                          </a:solidFill>
                          <a:latin typeface="Verdana"/>
                          <a:ea typeface="Times New Roman"/>
                          <a:cs typeface="Times New Roman"/>
                        </a:rPr>
                        <a:t>&lt;div id="footer"&gt;</a:t>
                      </a:r>
                      <a:endParaRPr lang="en-US" sz="2800" dirty="0">
                        <a:latin typeface="Calibri"/>
                        <a:ea typeface="Calibri"/>
                        <a:cs typeface="Times New Roman"/>
                      </a:endParaRPr>
                    </a:p>
                  </a:txBody>
                  <a:tcPr marL="159385" marR="159385" marT="159385" marB="159385" anchor="ctr"/>
                </a:tc>
                <a:tc>
                  <a:txBody>
                    <a:bodyPr/>
                    <a:lstStyle/>
                    <a:p>
                      <a:pPr marL="0" marR="0" algn="ctr">
                        <a:lnSpc>
                          <a:spcPts val="1795"/>
                        </a:lnSpc>
                        <a:spcBef>
                          <a:spcPts val="0"/>
                        </a:spcBef>
                        <a:spcAft>
                          <a:spcPts val="1005"/>
                        </a:spcAft>
                      </a:pPr>
                      <a:r>
                        <a:rPr lang="en-US" sz="2800" dirty="0">
                          <a:solidFill>
                            <a:srgbClr val="000000"/>
                          </a:solidFill>
                          <a:latin typeface="Verdana"/>
                          <a:ea typeface="Times New Roman"/>
                          <a:cs typeface="Times New Roman"/>
                        </a:rPr>
                        <a:t>&lt;footer&gt;</a:t>
                      </a:r>
                      <a:endParaRPr lang="en-US" sz="2800" dirty="0">
                        <a:latin typeface="Calibri"/>
                        <a:ea typeface="Calibri"/>
                        <a:cs typeface="Times New Roman"/>
                      </a:endParaRPr>
                    </a:p>
                  </a:txBody>
                  <a:tcPr marL="159385" marR="159385" marT="159385" marB="159385"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749" y="76200"/>
            <a:ext cx="8221851" cy="697424"/>
          </a:xfrm>
        </p:spPr>
        <p:txBody>
          <a:bodyPr>
            <a:normAutofit fontScale="90000"/>
          </a:bodyPr>
          <a:lstStyle/>
          <a:p>
            <a:pPr algn="l"/>
            <a:r>
              <a:rPr lang="en-US" b="1" u="sng" dirty="0">
                <a:solidFill>
                  <a:srgbClr val="C00000"/>
                </a:solidFill>
              </a:rPr>
              <a:t>TYPICAL HTML 4.0 PAGE:</a:t>
            </a:r>
          </a:p>
        </p:txBody>
      </p:sp>
      <p:sp>
        <p:nvSpPr>
          <p:cNvPr id="3" name="Content Placeholder 2"/>
          <p:cNvSpPr>
            <a:spLocks noGrp="1"/>
          </p:cNvSpPr>
          <p:nvPr>
            <p:ph idx="1"/>
          </p:nvPr>
        </p:nvSpPr>
        <p:spPr>
          <a:xfrm>
            <a:off x="228600" y="762000"/>
            <a:ext cx="8713922" cy="5995261"/>
          </a:xfrm>
        </p:spPr>
        <p:txBody>
          <a:bodyPr>
            <a:normAutofit fontScale="32500" lnSpcReduction="20000"/>
          </a:bodyPr>
          <a:lstStyle/>
          <a:p>
            <a:pPr fontAlgn="t">
              <a:buNone/>
            </a:pPr>
            <a:r>
              <a:rPr lang="en-US" sz="4300" dirty="0"/>
              <a:t>&lt;html </a:t>
            </a:r>
            <a:r>
              <a:rPr lang="en-US" sz="4300" dirty="0" err="1"/>
              <a:t>lang</a:t>
            </a:r>
            <a:r>
              <a:rPr lang="en-US" sz="4300" dirty="0"/>
              <a:t>="en"&gt;&lt;head&gt;</a:t>
            </a:r>
          </a:p>
          <a:p>
            <a:pPr fontAlgn="t">
              <a:buNone/>
            </a:pPr>
            <a:r>
              <a:rPr lang="en-US" sz="4300" dirty="0"/>
              <a:t>&lt;meta http-equiv="Content-Type" content="text/</a:t>
            </a:r>
            <a:r>
              <a:rPr lang="en-US" sz="4300" dirty="0" err="1"/>
              <a:t>html;charset</a:t>
            </a:r>
            <a:r>
              <a:rPr lang="en-US" sz="4300" dirty="0"/>
              <a:t>=utf-8"&gt;</a:t>
            </a:r>
          </a:p>
          <a:p>
            <a:pPr fontAlgn="t">
              <a:buNone/>
            </a:pPr>
            <a:r>
              <a:rPr lang="en-US" sz="4300" dirty="0"/>
              <a:t>&lt;title&gt;HTML4&lt;/title&gt;</a:t>
            </a:r>
          </a:p>
          <a:p>
            <a:pPr fontAlgn="t">
              <a:buNone/>
            </a:pPr>
            <a:r>
              <a:rPr lang="en-US" sz="4300" dirty="0"/>
              <a:t>&lt;style&gt;</a:t>
            </a:r>
          </a:p>
          <a:p>
            <a:pPr fontAlgn="t">
              <a:buNone/>
            </a:pPr>
            <a:r>
              <a:rPr lang="en-US" sz="4300" dirty="0"/>
              <a:t>    body {font-family:Verdana,sans-serif;font-size:0.8em;}</a:t>
            </a:r>
          </a:p>
          <a:p>
            <a:pPr fontAlgn="t">
              <a:buNone/>
            </a:pPr>
            <a:r>
              <a:rPr lang="en-US" sz="4300" dirty="0"/>
              <a:t>    </a:t>
            </a:r>
            <a:r>
              <a:rPr lang="en-US" sz="4300" dirty="0" err="1"/>
              <a:t>div#header,div#footer,div#content,div#post</a:t>
            </a:r>
            <a:r>
              <a:rPr lang="en-US" sz="4300" dirty="0"/>
              <a:t> </a:t>
            </a:r>
            <a:br>
              <a:rPr lang="en-US" sz="4300" dirty="0"/>
            </a:br>
            <a:r>
              <a:rPr lang="en-US" sz="4300" dirty="0"/>
              <a:t>  {border:1px solid grey;margin:5px;margin-bottom:15px;padding:8px;background-color:white;}</a:t>
            </a:r>
          </a:p>
          <a:p>
            <a:pPr fontAlgn="t">
              <a:buNone/>
            </a:pPr>
            <a:r>
              <a:rPr lang="en-US" sz="4300" dirty="0"/>
              <a:t>    </a:t>
            </a:r>
            <a:r>
              <a:rPr lang="en-US" sz="4300" dirty="0" err="1"/>
              <a:t>div#header,div#footer</a:t>
            </a:r>
            <a:r>
              <a:rPr lang="en-US" sz="4300" dirty="0"/>
              <a:t> {</a:t>
            </a:r>
            <a:r>
              <a:rPr lang="en-US" sz="4300" dirty="0" err="1"/>
              <a:t>color:white;background</a:t>
            </a:r>
            <a:r>
              <a:rPr lang="en-US" sz="4300" dirty="0"/>
              <a:t>-color:#444;margin-bottom:5px;}</a:t>
            </a:r>
          </a:p>
          <a:p>
            <a:pPr fontAlgn="t">
              <a:buNone/>
            </a:pPr>
            <a:r>
              <a:rPr lang="en-US" sz="4300" dirty="0"/>
              <a:t>    </a:t>
            </a:r>
            <a:r>
              <a:rPr lang="en-US" sz="4300" dirty="0" err="1"/>
              <a:t>div#content</a:t>
            </a:r>
            <a:r>
              <a:rPr lang="en-US" sz="4300" dirty="0"/>
              <a:t> {background-color:#</a:t>
            </a:r>
            <a:r>
              <a:rPr lang="en-US" sz="4300" dirty="0" err="1"/>
              <a:t>ddd</a:t>
            </a:r>
            <a:r>
              <a:rPr lang="en-US" sz="4300" dirty="0"/>
              <a:t>;}</a:t>
            </a:r>
          </a:p>
          <a:p>
            <a:pPr fontAlgn="t">
              <a:buNone/>
            </a:pPr>
            <a:r>
              <a:rPr lang="en-US" sz="4300" dirty="0"/>
              <a:t>    </a:t>
            </a:r>
            <a:r>
              <a:rPr lang="en-US" sz="4300" dirty="0" err="1"/>
              <a:t>div#menu</a:t>
            </a:r>
            <a:r>
              <a:rPr lang="en-US" sz="4300" dirty="0"/>
              <a:t> </a:t>
            </a:r>
            <a:r>
              <a:rPr lang="en-US" sz="4300" dirty="0" err="1"/>
              <a:t>ul</a:t>
            </a:r>
            <a:r>
              <a:rPr lang="en-US" sz="4300" dirty="0"/>
              <a:t> {margin:0;padding:0;}</a:t>
            </a:r>
          </a:p>
          <a:p>
            <a:pPr fontAlgn="t">
              <a:buNone/>
            </a:pPr>
            <a:r>
              <a:rPr lang="en-US" sz="4300" dirty="0"/>
              <a:t>    </a:t>
            </a:r>
            <a:r>
              <a:rPr lang="en-US" sz="4300" dirty="0" err="1"/>
              <a:t>div#menu</a:t>
            </a:r>
            <a:r>
              <a:rPr lang="en-US" sz="4300" dirty="0"/>
              <a:t> </a:t>
            </a:r>
            <a:r>
              <a:rPr lang="en-US" sz="4300" dirty="0" err="1"/>
              <a:t>ul</a:t>
            </a:r>
            <a:r>
              <a:rPr lang="en-US" sz="4300" dirty="0"/>
              <a:t> </a:t>
            </a:r>
            <a:r>
              <a:rPr lang="en-US" sz="4300" dirty="0" err="1"/>
              <a:t>li</a:t>
            </a:r>
            <a:r>
              <a:rPr lang="en-US" sz="4300" dirty="0"/>
              <a:t> {</a:t>
            </a:r>
            <a:r>
              <a:rPr lang="en-US" sz="4300" dirty="0" err="1"/>
              <a:t>display:inline</a:t>
            </a:r>
            <a:r>
              <a:rPr lang="en-US" sz="4300" dirty="0"/>
              <a:t>; margin:5px;}</a:t>
            </a:r>
          </a:p>
          <a:p>
            <a:pPr fontAlgn="t">
              <a:buNone/>
            </a:pPr>
            <a:r>
              <a:rPr lang="en-US" sz="4300" dirty="0"/>
              <a:t>&lt;/style&gt;&lt;/head&gt;</a:t>
            </a:r>
          </a:p>
          <a:p>
            <a:pPr fontAlgn="t">
              <a:buNone/>
            </a:pPr>
            <a:r>
              <a:rPr lang="en-US" sz="4300" dirty="0"/>
              <a:t>&lt;body&gt;</a:t>
            </a:r>
            <a:br>
              <a:rPr lang="en-US" sz="4300" dirty="0"/>
            </a:br>
            <a:r>
              <a:rPr lang="en-US" sz="4300" dirty="0"/>
              <a:t>&lt;div id="header"&gt; &lt;h1&gt;Monday Times&lt;/h1&gt; &lt;/div&gt;</a:t>
            </a:r>
            <a:br>
              <a:rPr lang="en-US" sz="4300" dirty="0"/>
            </a:br>
            <a:r>
              <a:rPr lang="en-US" sz="4300" dirty="0"/>
              <a:t>&lt;div id="menu“&gt;&lt;</a:t>
            </a:r>
            <a:r>
              <a:rPr lang="en-US" sz="4300" dirty="0" err="1"/>
              <a:t>ul</a:t>
            </a:r>
            <a:r>
              <a:rPr lang="en-US" sz="4300" dirty="0"/>
              <a:t>&gt;</a:t>
            </a:r>
            <a:br>
              <a:rPr lang="en-US" sz="4300" dirty="0"/>
            </a:br>
            <a:r>
              <a:rPr lang="en-US" sz="4300" dirty="0"/>
              <a:t>    &lt;</a:t>
            </a:r>
            <a:r>
              <a:rPr lang="en-US" sz="4300" dirty="0" err="1"/>
              <a:t>li</a:t>
            </a:r>
            <a:r>
              <a:rPr lang="en-US" sz="4300" dirty="0"/>
              <a:t>&gt;News&lt;/</a:t>
            </a:r>
            <a:r>
              <a:rPr lang="en-US" sz="4300" dirty="0" err="1"/>
              <a:t>li</a:t>
            </a:r>
            <a:r>
              <a:rPr lang="en-US" sz="4300" dirty="0"/>
              <a:t>&gt;</a:t>
            </a:r>
            <a:br>
              <a:rPr lang="en-US" sz="4300" dirty="0"/>
            </a:br>
            <a:r>
              <a:rPr lang="en-US" sz="4300" dirty="0"/>
              <a:t>    &lt;</a:t>
            </a:r>
            <a:r>
              <a:rPr lang="en-US" sz="4300" dirty="0" err="1"/>
              <a:t>li</a:t>
            </a:r>
            <a:r>
              <a:rPr lang="en-US" sz="4300" dirty="0"/>
              <a:t>&gt;Sports&lt;/</a:t>
            </a:r>
            <a:r>
              <a:rPr lang="en-US" sz="4300" dirty="0" err="1"/>
              <a:t>li</a:t>
            </a:r>
            <a:r>
              <a:rPr lang="en-US" sz="4300" dirty="0"/>
              <a:t>&gt;</a:t>
            </a:r>
            <a:br>
              <a:rPr lang="en-US" sz="4300" dirty="0"/>
            </a:br>
            <a:r>
              <a:rPr lang="en-US" sz="4300" dirty="0"/>
              <a:t>    &lt;</a:t>
            </a:r>
            <a:r>
              <a:rPr lang="en-US" sz="4300" dirty="0" err="1"/>
              <a:t>li</a:t>
            </a:r>
            <a:r>
              <a:rPr lang="en-US" sz="4300" dirty="0"/>
              <a:t>&gt;Weather&lt;/</a:t>
            </a:r>
            <a:r>
              <a:rPr lang="en-US" sz="4300" dirty="0" err="1"/>
              <a:t>li</a:t>
            </a:r>
            <a:r>
              <a:rPr lang="en-US" sz="4300" dirty="0"/>
              <a:t>&gt;&lt;/</a:t>
            </a:r>
            <a:r>
              <a:rPr lang="en-US" sz="4300" dirty="0" err="1"/>
              <a:t>ul</a:t>
            </a:r>
            <a:r>
              <a:rPr lang="en-US" sz="4300" dirty="0"/>
              <a:t>&gt;&lt;/div&gt;</a:t>
            </a:r>
            <a:br>
              <a:rPr lang="en-US" sz="4300" dirty="0"/>
            </a:br>
            <a:r>
              <a:rPr lang="en-US" sz="4300" dirty="0"/>
              <a:t>&lt;div id="content"&gt;</a:t>
            </a:r>
            <a:br>
              <a:rPr lang="en-US" sz="4300" dirty="0"/>
            </a:br>
            <a:r>
              <a:rPr lang="en-US" sz="4300" dirty="0"/>
              <a:t>&lt;h2&gt;News Section&lt;/h2&gt;</a:t>
            </a:r>
            <a:br>
              <a:rPr lang="en-US" sz="4300" dirty="0"/>
            </a:br>
            <a:r>
              <a:rPr lang="en-US" sz="4300" dirty="0"/>
              <a:t>&lt;div id="post“&gt; &lt;h2&gt;News Article&lt;/h2&gt;</a:t>
            </a:r>
            <a:br>
              <a:rPr lang="en-US" sz="4300" dirty="0"/>
            </a:br>
            <a:r>
              <a:rPr lang="en-US" sz="4300" dirty="0"/>
              <a:t>  &lt;p&gt;</a:t>
            </a:r>
            <a:r>
              <a:rPr lang="en-US" sz="4300" dirty="0" err="1"/>
              <a:t>Ipsum</a:t>
            </a:r>
            <a:r>
              <a:rPr lang="en-US" sz="4300" dirty="0"/>
              <a:t> </a:t>
            </a:r>
            <a:r>
              <a:rPr lang="en-US" sz="4300" dirty="0" err="1"/>
              <a:t>lurum</a:t>
            </a:r>
            <a:r>
              <a:rPr lang="en-US" sz="4300" dirty="0"/>
              <a:t> </a:t>
            </a:r>
            <a:r>
              <a:rPr lang="en-US" sz="4300" dirty="0" err="1"/>
              <a:t>hurum</a:t>
            </a:r>
            <a:r>
              <a:rPr lang="en-US" sz="4300" dirty="0"/>
              <a:t> </a:t>
            </a:r>
            <a:r>
              <a:rPr lang="en-US" sz="4300" dirty="0" err="1"/>
              <a:t>turum</a:t>
            </a:r>
            <a:r>
              <a:rPr lang="en-US" sz="4300" dirty="0"/>
              <a:t> </a:t>
            </a:r>
            <a:r>
              <a:rPr lang="en-US" sz="4300" dirty="0" err="1"/>
              <a:t>ipsum</a:t>
            </a:r>
            <a:r>
              <a:rPr lang="en-US" sz="4300" dirty="0"/>
              <a:t> </a:t>
            </a:r>
            <a:r>
              <a:rPr lang="en-US" sz="4300" dirty="0" err="1"/>
              <a:t>lurum</a:t>
            </a:r>
            <a:r>
              <a:rPr lang="en-US" sz="4300" dirty="0"/>
              <a:t> </a:t>
            </a:r>
            <a:r>
              <a:rPr lang="en-US" sz="4300" dirty="0" err="1"/>
              <a:t>hurum</a:t>
            </a:r>
            <a:r>
              <a:rPr lang="en-US" sz="4300" dirty="0"/>
              <a:t> </a:t>
            </a:r>
            <a:r>
              <a:rPr lang="en-US" sz="4300" dirty="0" err="1"/>
              <a:t>turum</a:t>
            </a:r>
            <a:r>
              <a:rPr lang="en-US" sz="4300" dirty="0"/>
              <a:t> </a:t>
            </a:r>
            <a:r>
              <a:rPr lang="en-US" sz="4300" dirty="0" err="1"/>
              <a:t>ipsum</a:t>
            </a:r>
            <a:r>
              <a:rPr lang="en-US" sz="4300" dirty="0"/>
              <a:t> </a:t>
            </a:r>
            <a:r>
              <a:rPr lang="en-US" sz="4300" dirty="0" err="1"/>
              <a:t>lurum</a:t>
            </a:r>
            <a:r>
              <a:rPr lang="en-US" sz="4300" dirty="0"/>
              <a:t> </a:t>
            </a:r>
            <a:r>
              <a:rPr lang="en-US" sz="4300" dirty="0" err="1"/>
              <a:t>hurum</a:t>
            </a:r>
            <a:r>
              <a:rPr lang="en-US" sz="4300" dirty="0"/>
              <a:t> </a:t>
            </a:r>
            <a:r>
              <a:rPr lang="en-US" sz="4300" dirty="0" err="1"/>
              <a:t>turum</a:t>
            </a:r>
            <a:r>
              <a:rPr lang="en-US" sz="4300" dirty="0"/>
              <a:t> </a:t>
            </a:r>
            <a:r>
              <a:rPr lang="en-US" sz="4300" dirty="0" err="1"/>
              <a:t>ipsum</a:t>
            </a:r>
            <a:r>
              <a:rPr lang="en-US" sz="4300" dirty="0"/>
              <a:t> </a:t>
            </a:r>
            <a:br>
              <a:rPr lang="en-US" sz="4300" dirty="0"/>
            </a:br>
            <a:r>
              <a:rPr lang="en-US" sz="4300" dirty="0"/>
              <a:t>  </a:t>
            </a:r>
            <a:r>
              <a:rPr lang="en-US" sz="4300" dirty="0" err="1"/>
              <a:t>lurum</a:t>
            </a:r>
            <a:r>
              <a:rPr lang="en-US" sz="4300" dirty="0"/>
              <a:t> </a:t>
            </a:r>
            <a:r>
              <a:rPr lang="en-US" sz="4300" dirty="0" err="1"/>
              <a:t>hurum</a:t>
            </a:r>
            <a:r>
              <a:rPr lang="en-US" sz="4300" dirty="0"/>
              <a:t> </a:t>
            </a:r>
            <a:r>
              <a:rPr lang="en-US" sz="4300" dirty="0" err="1"/>
              <a:t>turum</a:t>
            </a:r>
            <a:r>
              <a:rPr lang="en-US" sz="4300" dirty="0"/>
              <a:t>.&lt;/p&gt;&lt;/div&gt;</a:t>
            </a:r>
            <a:br>
              <a:rPr lang="en-US" sz="4300" dirty="0"/>
            </a:br>
            <a:r>
              <a:rPr lang="en-US" sz="4300" dirty="0"/>
              <a:t>&lt;div id="post"&gt;  &lt;h2&gt;News Article&lt;/h2&gt;</a:t>
            </a:r>
            <a:br>
              <a:rPr lang="en-US" sz="4300" dirty="0"/>
            </a:br>
            <a:r>
              <a:rPr lang="en-US" sz="4300" dirty="0"/>
              <a:t>  &lt;p&gt;</a:t>
            </a:r>
            <a:r>
              <a:rPr lang="en-US" sz="4300" dirty="0" err="1"/>
              <a:t>Ipsum</a:t>
            </a:r>
            <a:r>
              <a:rPr lang="en-US" sz="4300" dirty="0"/>
              <a:t> </a:t>
            </a:r>
            <a:r>
              <a:rPr lang="en-US" sz="4300" dirty="0" err="1"/>
              <a:t>lurum</a:t>
            </a:r>
            <a:r>
              <a:rPr lang="en-US" sz="4300" dirty="0"/>
              <a:t> </a:t>
            </a:r>
            <a:r>
              <a:rPr lang="en-US" sz="4300" dirty="0" err="1"/>
              <a:t>hurum</a:t>
            </a:r>
            <a:r>
              <a:rPr lang="en-US" sz="4300" dirty="0"/>
              <a:t> </a:t>
            </a:r>
            <a:r>
              <a:rPr lang="en-US" sz="4300" dirty="0" err="1"/>
              <a:t>turum</a:t>
            </a:r>
            <a:r>
              <a:rPr lang="en-US" sz="4300" dirty="0"/>
              <a:t> </a:t>
            </a:r>
            <a:r>
              <a:rPr lang="en-US" sz="4300" dirty="0" err="1"/>
              <a:t>ipsum</a:t>
            </a:r>
            <a:r>
              <a:rPr lang="en-US" sz="4300" dirty="0"/>
              <a:t> </a:t>
            </a:r>
            <a:r>
              <a:rPr lang="en-US" sz="4300" dirty="0" err="1"/>
              <a:t>lurum</a:t>
            </a:r>
            <a:r>
              <a:rPr lang="en-US" sz="4300" dirty="0"/>
              <a:t> </a:t>
            </a:r>
            <a:r>
              <a:rPr lang="en-US" sz="4300" dirty="0" err="1"/>
              <a:t>hurum</a:t>
            </a:r>
            <a:r>
              <a:rPr lang="en-US" sz="4300" dirty="0"/>
              <a:t> </a:t>
            </a:r>
            <a:r>
              <a:rPr lang="en-US" sz="4300" dirty="0" err="1"/>
              <a:t>turum</a:t>
            </a:r>
            <a:r>
              <a:rPr lang="en-US" sz="4300" dirty="0"/>
              <a:t> </a:t>
            </a:r>
            <a:r>
              <a:rPr lang="en-US" sz="4300" dirty="0" err="1"/>
              <a:t>ipsum</a:t>
            </a:r>
            <a:r>
              <a:rPr lang="en-US" sz="4300" dirty="0"/>
              <a:t> </a:t>
            </a:r>
            <a:r>
              <a:rPr lang="en-US" sz="4300" dirty="0" err="1"/>
              <a:t>lurum</a:t>
            </a:r>
            <a:r>
              <a:rPr lang="en-US" sz="4300" dirty="0"/>
              <a:t> </a:t>
            </a:r>
            <a:r>
              <a:rPr lang="en-US" sz="4300" dirty="0" err="1"/>
              <a:t>hurum</a:t>
            </a:r>
            <a:r>
              <a:rPr lang="en-US" sz="4300" dirty="0"/>
              <a:t> </a:t>
            </a:r>
            <a:r>
              <a:rPr lang="en-US" sz="4300" dirty="0" err="1"/>
              <a:t>turum</a:t>
            </a:r>
            <a:r>
              <a:rPr lang="en-US" sz="4300" dirty="0"/>
              <a:t> </a:t>
            </a:r>
            <a:r>
              <a:rPr lang="en-US" sz="4300" dirty="0" err="1"/>
              <a:t>ipsum</a:t>
            </a:r>
            <a:r>
              <a:rPr lang="en-US" sz="4300" dirty="0"/>
              <a:t> </a:t>
            </a:r>
            <a:br>
              <a:rPr lang="en-US" sz="4300" dirty="0"/>
            </a:br>
            <a:r>
              <a:rPr lang="en-US" sz="4300" dirty="0"/>
              <a:t>  </a:t>
            </a:r>
            <a:r>
              <a:rPr lang="en-US" sz="4300" dirty="0" err="1"/>
              <a:t>lurum</a:t>
            </a:r>
            <a:r>
              <a:rPr lang="en-US" sz="4300" dirty="0"/>
              <a:t> </a:t>
            </a:r>
            <a:r>
              <a:rPr lang="en-US" sz="4300" dirty="0" err="1"/>
              <a:t>hurum</a:t>
            </a:r>
            <a:r>
              <a:rPr lang="en-US" sz="4300" dirty="0"/>
              <a:t> </a:t>
            </a:r>
            <a:r>
              <a:rPr lang="en-US" sz="4300" dirty="0" err="1"/>
              <a:t>turum</a:t>
            </a:r>
            <a:r>
              <a:rPr lang="en-US" sz="4300" dirty="0"/>
              <a:t>.&lt;/p&gt;&lt;/div&gt; &lt;/div&gt;</a:t>
            </a:r>
            <a:br>
              <a:rPr lang="en-US" sz="4300" dirty="0"/>
            </a:br>
            <a:r>
              <a:rPr lang="en-US" sz="4300" dirty="0"/>
              <a:t>&lt;div id="footer"&gt;</a:t>
            </a:r>
            <a:br>
              <a:rPr lang="en-US" sz="4300" dirty="0"/>
            </a:br>
            <a:r>
              <a:rPr lang="en-US" sz="4300" dirty="0"/>
              <a:t>  &lt;p&gt;&amp;</a:t>
            </a:r>
            <a:r>
              <a:rPr lang="en-US" sz="4300" dirty="0" err="1"/>
              <a:t>amp;copy</a:t>
            </a:r>
            <a:r>
              <a:rPr lang="en-US" sz="4300" dirty="0"/>
              <a:t>; 2014 Monday Times. All rights reserved.&lt;/p&gt;</a:t>
            </a:r>
            <a:br>
              <a:rPr lang="en-US" sz="4300" dirty="0"/>
            </a:br>
            <a:r>
              <a:rPr lang="en-US" sz="4300" dirty="0"/>
              <a:t>&lt;/div&gt;</a:t>
            </a:r>
            <a:br>
              <a:rPr lang="en-US" sz="4300" dirty="0"/>
            </a:br>
            <a:r>
              <a:rPr lang="en-US" sz="4300" dirty="0"/>
              <a:t>&lt;/body&gt;</a:t>
            </a:r>
            <a:br>
              <a:rPr lang="en-US" sz="4300" dirty="0"/>
            </a:br>
            <a:r>
              <a:rPr lang="en-US" sz="4300" dirty="0"/>
              <a:t>&lt;/html&gt;</a:t>
            </a:r>
          </a:p>
          <a:p>
            <a:pPr fontAlgn="t"/>
            <a:endParaRPr lang="en-US" dirty="0"/>
          </a:p>
          <a:p>
            <a:pPr fontAlgn="t"/>
            <a:endParaRPr lang="en-US" dirty="0"/>
          </a:p>
          <a:p>
            <a:pPr fontAlgn="t"/>
            <a:endParaRPr lang="en-US" dirty="0"/>
          </a:p>
          <a:p>
            <a:pPr>
              <a:buNone/>
            </a:pPr>
            <a:endParaRPr lang="en-US" dirty="0"/>
          </a:p>
          <a:p>
            <a:pPr>
              <a:buNone/>
            </a:pPr>
            <a:endParaRPr lang="en-US" b="1" i="1" dirty="0">
              <a:solidFill>
                <a:srgbClr val="0000FF"/>
              </a:solidFill>
            </a:endParaRPr>
          </a:p>
        </p:txBody>
      </p:sp>
      <p:sp>
        <p:nvSpPr>
          <p:cNvPr id="4" name="Action Button: Document 3">
            <a:hlinkClick r:id="rId2" action="ppaction://hlinkfile" highlightClick="1"/>
          </p:cNvPr>
          <p:cNvSpPr/>
          <p:nvPr/>
        </p:nvSpPr>
        <p:spPr>
          <a:xfrm>
            <a:off x="6400800" y="5958114"/>
            <a:ext cx="1995714" cy="595086"/>
          </a:xfrm>
          <a:prstGeom prst="actionButton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749" y="76200"/>
            <a:ext cx="8221851" cy="697424"/>
          </a:xfrm>
        </p:spPr>
        <p:txBody>
          <a:bodyPr>
            <a:normAutofit fontScale="90000"/>
          </a:bodyPr>
          <a:lstStyle/>
          <a:p>
            <a:pPr algn="l"/>
            <a:r>
              <a:rPr lang="en-US" b="1" u="sng" dirty="0">
                <a:solidFill>
                  <a:srgbClr val="C00000"/>
                </a:solidFill>
              </a:rPr>
              <a:t>TYPICAL HTML 5.0 PAGE:</a:t>
            </a:r>
          </a:p>
        </p:txBody>
      </p:sp>
      <p:sp>
        <p:nvSpPr>
          <p:cNvPr id="3" name="Content Placeholder 2"/>
          <p:cNvSpPr>
            <a:spLocks noGrp="1"/>
          </p:cNvSpPr>
          <p:nvPr>
            <p:ph idx="1"/>
          </p:nvPr>
        </p:nvSpPr>
        <p:spPr>
          <a:xfrm>
            <a:off x="228600" y="762000"/>
            <a:ext cx="8713922" cy="5995261"/>
          </a:xfrm>
        </p:spPr>
        <p:txBody>
          <a:bodyPr>
            <a:normAutofit fontScale="55000" lnSpcReduction="20000"/>
          </a:bodyPr>
          <a:lstStyle/>
          <a:p>
            <a:pPr>
              <a:buNone/>
            </a:pPr>
            <a:r>
              <a:rPr lang="en-US" dirty="0"/>
              <a:t>&lt;!DOCTYPE html&gt;  &lt;html </a:t>
            </a:r>
            <a:r>
              <a:rPr lang="en-US" dirty="0" err="1"/>
              <a:t>lang</a:t>
            </a:r>
            <a:r>
              <a:rPr lang="en-US" dirty="0"/>
              <a:t>="en"&gt; &lt;title&gt;HTML5&lt;/title&gt; &lt;meta </a:t>
            </a:r>
            <a:r>
              <a:rPr lang="en-US" dirty="0" err="1"/>
              <a:t>charset</a:t>
            </a:r>
            <a:r>
              <a:rPr lang="en-US" dirty="0"/>
              <a:t>="utf-8"&gt;</a:t>
            </a:r>
          </a:p>
          <a:p>
            <a:pPr>
              <a:buNone/>
            </a:pPr>
            <a:r>
              <a:rPr lang="en-US" dirty="0"/>
              <a:t>&lt;style&gt;</a:t>
            </a:r>
            <a:br>
              <a:rPr lang="en-US" dirty="0"/>
            </a:br>
            <a:r>
              <a:rPr lang="en-US" dirty="0"/>
              <a:t>body { font-family:Verdana,sans-serif;font-size:0.8em; }</a:t>
            </a:r>
            <a:br>
              <a:rPr lang="en-US" dirty="0"/>
            </a:br>
            <a:r>
              <a:rPr lang="en-US" dirty="0" err="1"/>
              <a:t>header,footer,section,article</a:t>
            </a:r>
            <a:r>
              <a:rPr lang="en-US" dirty="0"/>
              <a:t> { border:1px solid grey;</a:t>
            </a:r>
            <a:br>
              <a:rPr lang="en-US" dirty="0"/>
            </a:br>
            <a:r>
              <a:rPr lang="en-US" dirty="0"/>
              <a:t>    margin:5px;margin-bottom:15px;padding:8px;</a:t>
            </a:r>
            <a:br>
              <a:rPr lang="en-US" dirty="0"/>
            </a:br>
            <a:r>
              <a:rPr lang="en-US" dirty="0"/>
              <a:t>    background-</a:t>
            </a:r>
            <a:r>
              <a:rPr lang="en-US" dirty="0" err="1"/>
              <a:t>color:white</a:t>
            </a:r>
            <a:r>
              <a:rPr lang="en-US" dirty="0"/>
              <a:t>; }</a:t>
            </a:r>
            <a:br>
              <a:rPr lang="en-US" dirty="0"/>
            </a:br>
            <a:r>
              <a:rPr lang="en-US" dirty="0" err="1"/>
              <a:t>header,footer</a:t>
            </a:r>
            <a:r>
              <a:rPr lang="en-US" dirty="0"/>
              <a:t> { </a:t>
            </a:r>
            <a:r>
              <a:rPr lang="en-US" dirty="0" err="1"/>
              <a:t>color:white;background</a:t>
            </a:r>
            <a:r>
              <a:rPr lang="en-US" dirty="0"/>
              <a:t>-color:#444;margin-bottom:5px;}</a:t>
            </a:r>
            <a:br>
              <a:rPr lang="en-US" dirty="0"/>
            </a:br>
            <a:r>
              <a:rPr lang="en-US" dirty="0"/>
              <a:t>section { background-color:#</a:t>
            </a:r>
            <a:r>
              <a:rPr lang="en-US" dirty="0" err="1"/>
              <a:t>ddd</a:t>
            </a:r>
            <a:r>
              <a:rPr lang="en-US" dirty="0"/>
              <a:t>; }</a:t>
            </a:r>
            <a:br>
              <a:rPr lang="en-US" dirty="0"/>
            </a:br>
            <a:r>
              <a:rPr lang="en-US" dirty="0" err="1"/>
              <a:t>nav</a:t>
            </a:r>
            <a:r>
              <a:rPr lang="en-US" dirty="0"/>
              <a:t> </a:t>
            </a:r>
            <a:r>
              <a:rPr lang="en-US" dirty="0" err="1"/>
              <a:t>ul</a:t>
            </a:r>
            <a:r>
              <a:rPr lang="en-US" dirty="0"/>
              <a:t> { margin:0;padding:0; }</a:t>
            </a:r>
            <a:br>
              <a:rPr lang="en-US" dirty="0"/>
            </a:br>
            <a:r>
              <a:rPr lang="en-US" dirty="0" err="1"/>
              <a:t>nav</a:t>
            </a:r>
            <a:r>
              <a:rPr lang="en-US" dirty="0"/>
              <a:t> </a:t>
            </a:r>
            <a:r>
              <a:rPr lang="en-US" dirty="0" err="1"/>
              <a:t>ul</a:t>
            </a:r>
            <a:r>
              <a:rPr lang="en-US" dirty="0"/>
              <a:t> </a:t>
            </a:r>
            <a:r>
              <a:rPr lang="en-US" dirty="0" err="1"/>
              <a:t>li</a:t>
            </a:r>
            <a:r>
              <a:rPr lang="en-US" dirty="0"/>
              <a:t> { </a:t>
            </a:r>
            <a:r>
              <a:rPr lang="en-US" dirty="0" err="1"/>
              <a:t>display:inline</a:t>
            </a:r>
            <a:r>
              <a:rPr lang="en-US" dirty="0"/>
              <a:t>; margin:5px; }</a:t>
            </a:r>
          </a:p>
          <a:p>
            <a:pPr>
              <a:buNone/>
            </a:pPr>
            <a:r>
              <a:rPr lang="en-US" dirty="0"/>
              <a:t> &lt;/style&gt;&lt;body&gt;</a:t>
            </a:r>
            <a:br>
              <a:rPr lang="en-US" dirty="0"/>
            </a:br>
            <a:r>
              <a:rPr lang="en-US" dirty="0"/>
              <a:t>&lt;header&gt; &lt;h1&gt;Monday Times&lt;/h1&gt; &lt;/header&gt;</a:t>
            </a:r>
            <a:br>
              <a:rPr lang="en-US" dirty="0"/>
            </a:br>
            <a:r>
              <a:rPr lang="en-US" dirty="0"/>
              <a:t>&lt;</a:t>
            </a:r>
            <a:r>
              <a:rPr lang="en-US" dirty="0" err="1"/>
              <a:t>nav</a:t>
            </a:r>
            <a:r>
              <a:rPr lang="en-US" dirty="0"/>
              <a:t>&gt; &lt;</a:t>
            </a:r>
            <a:r>
              <a:rPr lang="en-US" dirty="0" err="1"/>
              <a:t>ul</a:t>
            </a:r>
            <a:r>
              <a:rPr lang="en-US" dirty="0"/>
              <a:t>&gt; &lt;</a:t>
            </a:r>
            <a:r>
              <a:rPr lang="en-US" dirty="0" err="1"/>
              <a:t>li</a:t>
            </a:r>
            <a:r>
              <a:rPr lang="en-US" dirty="0"/>
              <a:t>&gt;News&lt;/</a:t>
            </a:r>
            <a:r>
              <a:rPr lang="en-US" dirty="0" err="1"/>
              <a:t>li</a:t>
            </a:r>
            <a:r>
              <a:rPr lang="en-US" dirty="0"/>
              <a:t>&gt;&lt;</a:t>
            </a:r>
            <a:r>
              <a:rPr lang="en-US" dirty="0" err="1"/>
              <a:t>li</a:t>
            </a:r>
            <a:r>
              <a:rPr lang="en-US" dirty="0"/>
              <a:t>&gt;Sports&lt;/</a:t>
            </a:r>
            <a:r>
              <a:rPr lang="en-US" dirty="0" err="1"/>
              <a:t>li</a:t>
            </a:r>
            <a:r>
              <a:rPr lang="en-US" dirty="0"/>
              <a:t>&gt;&lt;</a:t>
            </a:r>
            <a:r>
              <a:rPr lang="en-US" dirty="0" err="1"/>
              <a:t>li</a:t>
            </a:r>
            <a:r>
              <a:rPr lang="en-US" dirty="0"/>
              <a:t>&gt;Weather&lt;/</a:t>
            </a:r>
            <a:r>
              <a:rPr lang="en-US" dirty="0" err="1"/>
              <a:t>li</a:t>
            </a:r>
            <a:r>
              <a:rPr lang="en-US" dirty="0"/>
              <a:t>&gt;&lt;/</a:t>
            </a:r>
            <a:r>
              <a:rPr lang="en-US" dirty="0" err="1"/>
              <a:t>ul</a:t>
            </a:r>
            <a:r>
              <a:rPr lang="en-US" dirty="0"/>
              <a:t>&gt;&lt;/</a:t>
            </a:r>
            <a:r>
              <a:rPr lang="en-US" dirty="0" err="1"/>
              <a:t>nav</a:t>
            </a:r>
            <a:r>
              <a:rPr lang="en-US" dirty="0"/>
              <a:t>&gt;</a:t>
            </a:r>
            <a:br>
              <a:rPr lang="en-US" dirty="0"/>
            </a:br>
            <a:r>
              <a:rPr lang="en-US" dirty="0"/>
              <a:t>&lt;section&gt; &lt;h2&gt;News Section&lt;/h2&gt;</a:t>
            </a:r>
            <a:br>
              <a:rPr lang="en-US" dirty="0"/>
            </a:br>
            <a:r>
              <a:rPr lang="en-US" dirty="0"/>
              <a:t>&lt;article&gt; &lt;h2&gt;News Article&lt;/h2&gt;</a:t>
            </a:r>
          </a:p>
          <a:p>
            <a:pPr>
              <a:buNone/>
            </a:pPr>
            <a:r>
              <a:rPr lang="en-US" dirty="0"/>
              <a:t>	&lt;p&gt;</a:t>
            </a:r>
            <a:r>
              <a:rPr lang="en-US" dirty="0" err="1"/>
              <a:t>Ipsum</a:t>
            </a:r>
            <a:r>
              <a:rPr lang="en-US" dirty="0"/>
              <a:t> </a:t>
            </a:r>
            <a:r>
              <a:rPr lang="en-US" dirty="0" err="1"/>
              <a:t>lurum</a:t>
            </a:r>
            <a:r>
              <a:rPr lang="en-US" dirty="0"/>
              <a:t> </a:t>
            </a:r>
            <a:r>
              <a:rPr lang="en-US" dirty="0" err="1"/>
              <a:t>hurum</a:t>
            </a:r>
            <a:r>
              <a:rPr lang="en-US" dirty="0"/>
              <a:t> </a:t>
            </a:r>
            <a:r>
              <a:rPr lang="en-US" dirty="0" err="1"/>
              <a:t>turum</a:t>
            </a:r>
            <a:r>
              <a:rPr lang="en-US" dirty="0"/>
              <a:t> </a:t>
            </a:r>
            <a:r>
              <a:rPr lang="en-US" dirty="0" err="1"/>
              <a:t>ipsum</a:t>
            </a:r>
            <a:r>
              <a:rPr lang="en-US" dirty="0"/>
              <a:t> </a:t>
            </a:r>
            <a:r>
              <a:rPr lang="en-US" dirty="0" err="1"/>
              <a:t>lurum</a:t>
            </a:r>
            <a:r>
              <a:rPr lang="en-US" dirty="0"/>
              <a:t> </a:t>
            </a:r>
            <a:r>
              <a:rPr lang="en-US" dirty="0" err="1"/>
              <a:t>hurum</a:t>
            </a:r>
            <a:r>
              <a:rPr lang="en-US" dirty="0"/>
              <a:t> </a:t>
            </a:r>
            <a:r>
              <a:rPr lang="en-US" dirty="0" err="1"/>
              <a:t>turum</a:t>
            </a:r>
            <a:r>
              <a:rPr lang="en-US" dirty="0"/>
              <a:t> </a:t>
            </a:r>
            <a:r>
              <a:rPr lang="en-US" dirty="0" err="1"/>
              <a:t>ipsum</a:t>
            </a:r>
            <a:r>
              <a:rPr lang="en-US" dirty="0"/>
              <a:t> </a:t>
            </a:r>
            <a:r>
              <a:rPr lang="en-US" dirty="0" err="1"/>
              <a:t>lurum</a:t>
            </a:r>
            <a:r>
              <a:rPr lang="en-US" dirty="0"/>
              <a:t> </a:t>
            </a:r>
            <a:r>
              <a:rPr lang="en-US" dirty="0" err="1"/>
              <a:t>hurum</a:t>
            </a:r>
            <a:r>
              <a:rPr lang="en-US" dirty="0"/>
              <a:t> </a:t>
            </a:r>
            <a:r>
              <a:rPr lang="en-US" dirty="0" err="1"/>
              <a:t>turum</a:t>
            </a:r>
            <a:r>
              <a:rPr lang="en-US" dirty="0"/>
              <a:t> </a:t>
            </a:r>
            <a:r>
              <a:rPr lang="en-US" dirty="0" err="1"/>
              <a:t>ipsum</a:t>
            </a:r>
            <a:r>
              <a:rPr lang="en-US" dirty="0"/>
              <a:t> </a:t>
            </a:r>
            <a:br>
              <a:rPr lang="en-US" dirty="0"/>
            </a:br>
            <a:r>
              <a:rPr lang="en-US" dirty="0"/>
              <a:t>  </a:t>
            </a:r>
            <a:r>
              <a:rPr lang="en-US" dirty="0" err="1"/>
              <a:t>lurum</a:t>
            </a:r>
            <a:r>
              <a:rPr lang="en-US" dirty="0"/>
              <a:t> </a:t>
            </a:r>
            <a:r>
              <a:rPr lang="en-US" dirty="0" err="1"/>
              <a:t>hurum</a:t>
            </a:r>
            <a:r>
              <a:rPr lang="en-US" dirty="0"/>
              <a:t> </a:t>
            </a:r>
            <a:r>
              <a:rPr lang="en-US" dirty="0" err="1"/>
              <a:t>turum</a:t>
            </a:r>
            <a:r>
              <a:rPr lang="en-US" dirty="0"/>
              <a:t>.&lt;/p&gt;&lt;/article&gt;</a:t>
            </a:r>
            <a:br>
              <a:rPr lang="en-US" dirty="0"/>
            </a:br>
            <a:r>
              <a:rPr lang="en-US" dirty="0"/>
              <a:t>&lt;article&gt; &lt;h2&gt;News Article&lt;/h2&gt;</a:t>
            </a:r>
            <a:br>
              <a:rPr lang="en-US" dirty="0"/>
            </a:br>
            <a:r>
              <a:rPr lang="en-US" dirty="0"/>
              <a:t>  &lt;p&gt;</a:t>
            </a:r>
            <a:r>
              <a:rPr lang="en-US" dirty="0" err="1"/>
              <a:t>Ipsum</a:t>
            </a:r>
            <a:r>
              <a:rPr lang="en-US" dirty="0"/>
              <a:t> </a:t>
            </a:r>
            <a:r>
              <a:rPr lang="en-US" dirty="0" err="1"/>
              <a:t>lurum</a:t>
            </a:r>
            <a:r>
              <a:rPr lang="en-US" dirty="0"/>
              <a:t> </a:t>
            </a:r>
            <a:r>
              <a:rPr lang="en-US" dirty="0" err="1"/>
              <a:t>hurum</a:t>
            </a:r>
            <a:r>
              <a:rPr lang="en-US" dirty="0"/>
              <a:t> </a:t>
            </a:r>
            <a:r>
              <a:rPr lang="en-US" dirty="0" err="1"/>
              <a:t>turum</a:t>
            </a:r>
            <a:r>
              <a:rPr lang="en-US" dirty="0"/>
              <a:t> </a:t>
            </a:r>
            <a:r>
              <a:rPr lang="en-US" dirty="0" err="1"/>
              <a:t>ipsum</a:t>
            </a:r>
            <a:r>
              <a:rPr lang="en-US" dirty="0"/>
              <a:t> </a:t>
            </a:r>
            <a:r>
              <a:rPr lang="en-US" dirty="0" err="1"/>
              <a:t>lurum</a:t>
            </a:r>
            <a:r>
              <a:rPr lang="en-US" dirty="0"/>
              <a:t> </a:t>
            </a:r>
            <a:r>
              <a:rPr lang="en-US" dirty="0" err="1"/>
              <a:t>hurum</a:t>
            </a:r>
            <a:r>
              <a:rPr lang="en-US" dirty="0"/>
              <a:t> </a:t>
            </a:r>
            <a:r>
              <a:rPr lang="en-US" dirty="0" err="1"/>
              <a:t>turum</a:t>
            </a:r>
            <a:r>
              <a:rPr lang="en-US" dirty="0"/>
              <a:t> </a:t>
            </a:r>
            <a:r>
              <a:rPr lang="en-US" dirty="0" err="1"/>
              <a:t>ipsum</a:t>
            </a:r>
            <a:r>
              <a:rPr lang="en-US" dirty="0"/>
              <a:t> </a:t>
            </a:r>
            <a:r>
              <a:rPr lang="en-US" dirty="0" err="1"/>
              <a:t>lurum</a:t>
            </a:r>
            <a:r>
              <a:rPr lang="en-US" dirty="0"/>
              <a:t> </a:t>
            </a:r>
            <a:r>
              <a:rPr lang="en-US" dirty="0" err="1"/>
              <a:t>hurum</a:t>
            </a:r>
            <a:r>
              <a:rPr lang="en-US" dirty="0"/>
              <a:t> </a:t>
            </a:r>
            <a:r>
              <a:rPr lang="en-US" dirty="0" err="1"/>
              <a:t>turum</a:t>
            </a:r>
            <a:r>
              <a:rPr lang="en-US" dirty="0"/>
              <a:t> </a:t>
            </a:r>
            <a:r>
              <a:rPr lang="en-US" dirty="0" err="1"/>
              <a:t>ipsum</a:t>
            </a:r>
            <a:r>
              <a:rPr lang="en-US" dirty="0"/>
              <a:t> </a:t>
            </a:r>
            <a:br>
              <a:rPr lang="en-US" dirty="0"/>
            </a:br>
            <a:r>
              <a:rPr lang="en-US" dirty="0"/>
              <a:t>  </a:t>
            </a:r>
            <a:r>
              <a:rPr lang="en-US" dirty="0" err="1"/>
              <a:t>lurum</a:t>
            </a:r>
            <a:r>
              <a:rPr lang="en-US" dirty="0"/>
              <a:t> </a:t>
            </a:r>
            <a:r>
              <a:rPr lang="en-US" dirty="0" err="1"/>
              <a:t>hurum</a:t>
            </a:r>
            <a:r>
              <a:rPr lang="en-US" dirty="0"/>
              <a:t> </a:t>
            </a:r>
            <a:r>
              <a:rPr lang="en-US" dirty="0" err="1"/>
              <a:t>turum</a:t>
            </a:r>
            <a:r>
              <a:rPr lang="en-US" dirty="0"/>
              <a:t>.&lt;/p&gt;&lt;/article&gt;</a:t>
            </a:r>
            <a:br>
              <a:rPr lang="en-US" dirty="0"/>
            </a:br>
            <a:r>
              <a:rPr lang="en-US" dirty="0"/>
              <a:t>&lt;/section&gt;</a:t>
            </a:r>
            <a:br>
              <a:rPr lang="en-US" dirty="0"/>
            </a:br>
            <a:r>
              <a:rPr lang="en-US" dirty="0"/>
              <a:t>&lt;footer&gt;&lt;p&gt;&amp;</a:t>
            </a:r>
            <a:r>
              <a:rPr lang="en-US" dirty="0" err="1"/>
              <a:t>amp;copy</a:t>
            </a:r>
            <a:r>
              <a:rPr lang="en-US" dirty="0"/>
              <a:t>; 2014 Monday Times. All rights reserved.&lt;/p&gt;&lt;/footer&gt;</a:t>
            </a:r>
            <a:br>
              <a:rPr lang="en-US" dirty="0"/>
            </a:br>
            <a:r>
              <a:rPr lang="en-US" dirty="0"/>
              <a:t>&lt;/body&gt;&lt;/html&gt;</a:t>
            </a:r>
          </a:p>
          <a:p>
            <a:pPr fontAlgn="t"/>
            <a:endParaRPr lang="en-US" dirty="0"/>
          </a:p>
          <a:p>
            <a:pPr fontAlgn="t"/>
            <a:endParaRPr lang="en-US" dirty="0"/>
          </a:p>
          <a:p>
            <a:pPr fontAlgn="t"/>
            <a:endParaRPr lang="en-US" dirty="0"/>
          </a:p>
          <a:p>
            <a:pPr>
              <a:buNone/>
            </a:pPr>
            <a:endParaRPr lang="en-US" dirty="0"/>
          </a:p>
          <a:p>
            <a:pPr>
              <a:buNone/>
            </a:pPr>
            <a:endParaRPr lang="en-US" b="1" i="1" dirty="0">
              <a:solidFill>
                <a:srgbClr val="0000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749" y="216976"/>
            <a:ext cx="8221851" cy="697424"/>
          </a:xfrm>
        </p:spPr>
        <p:txBody>
          <a:bodyPr>
            <a:normAutofit fontScale="90000"/>
          </a:bodyPr>
          <a:lstStyle/>
          <a:p>
            <a:pPr algn="l"/>
            <a:r>
              <a:rPr lang="en-US" b="1" u="sng" dirty="0">
                <a:solidFill>
                  <a:srgbClr val="C00000"/>
                </a:solidFill>
              </a:rPr>
              <a:t>WHAT IS WML?</a:t>
            </a:r>
          </a:p>
        </p:txBody>
      </p:sp>
      <p:sp>
        <p:nvSpPr>
          <p:cNvPr id="3" name="Content Placeholder 2"/>
          <p:cNvSpPr>
            <a:spLocks noGrp="1"/>
          </p:cNvSpPr>
          <p:nvPr>
            <p:ph idx="1"/>
          </p:nvPr>
        </p:nvSpPr>
        <p:spPr>
          <a:xfrm>
            <a:off x="228600" y="1091339"/>
            <a:ext cx="8713922" cy="5995261"/>
          </a:xfrm>
        </p:spPr>
        <p:txBody>
          <a:bodyPr>
            <a:normAutofit/>
          </a:bodyPr>
          <a:lstStyle/>
          <a:p>
            <a:pPr algn="just" fontAlgn="t"/>
            <a:r>
              <a:rPr lang="en-US" sz="2400" dirty="0"/>
              <a:t>WML (Wireless Markup Language), formerly called HDML (Handheld Devices Markup Languages), </a:t>
            </a:r>
          </a:p>
          <a:p>
            <a:pPr algn="just" fontAlgn="t"/>
            <a:r>
              <a:rPr lang="en-US" sz="2400" dirty="0"/>
              <a:t>Allows the text portions of Web pages to be presented on cellular telephones and personal digital assistants (PDAs) via wireless access.</a:t>
            </a:r>
          </a:p>
          <a:p>
            <a:pPr algn="just" fontAlgn="t"/>
            <a:r>
              <a:rPr lang="en-US" sz="2400" dirty="0"/>
              <a:t>WML is part of the Wireless Application Protocol (</a:t>
            </a:r>
            <a:r>
              <a:rPr lang="en-US" sz="2400" u="sng" dirty="0">
                <a:hlinkClick r:id="rId2"/>
              </a:rPr>
              <a:t>WAP</a:t>
            </a:r>
            <a:r>
              <a:rPr lang="en-US" sz="2400" dirty="0"/>
              <a:t>) that is being proposed by several vendors to standards bodies. </a:t>
            </a:r>
          </a:p>
          <a:p>
            <a:pPr algn="just" fontAlgn="t"/>
            <a:r>
              <a:rPr lang="en-US" sz="2400" dirty="0"/>
              <a:t>The Wireless Application Protocol works on top of standard data link protocols.</a:t>
            </a:r>
          </a:p>
          <a:p>
            <a:pPr algn="just" fontAlgn="t"/>
            <a:r>
              <a:rPr lang="en-US" sz="2400" dirty="0"/>
              <a:t>WML is an open language offered royalty-free. Any programmer with working knowledge of </a:t>
            </a:r>
            <a:r>
              <a:rPr lang="en-US" sz="2400" u="sng" dirty="0">
                <a:hlinkClick r:id="rId3"/>
              </a:rPr>
              <a:t>HTML</a:t>
            </a:r>
            <a:r>
              <a:rPr lang="en-US" sz="2400" dirty="0"/>
              <a:t>, </a:t>
            </a:r>
            <a:r>
              <a:rPr lang="en-US" sz="2400" u="sng" dirty="0">
                <a:hlinkClick r:id="rId4"/>
              </a:rPr>
              <a:t>common gateway interface</a:t>
            </a:r>
            <a:r>
              <a:rPr lang="en-US" sz="2400" dirty="0"/>
              <a:t>, and </a:t>
            </a:r>
            <a:r>
              <a:rPr lang="en-US" sz="2400" u="sng" dirty="0">
                <a:hlinkClick r:id="rId5"/>
              </a:rPr>
              <a:t>Structured Query Language</a:t>
            </a:r>
            <a:r>
              <a:rPr lang="en-US" sz="2400" dirty="0"/>
              <a:t> should be able to write a presentation layer using WML.</a:t>
            </a:r>
            <a:endParaRPr lang="en-US" sz="2400" b="1" dirty="0"/>
          </a:p>
          <a:p>
            <a:pPr fontAlgn="t"/>
            <a:endParaRPr lang="en-US" dirty="0"/>
          </a:p>
          <a:p>
            <a:pPr fontAlgn="t"/>
            <a:endParaRPr lang="en-US" dirty="0"/>
          </a:p>
          <a:p>
            <a:pPr fontAlgn="t"/>
            <a:endParaRPr lang="en-US" dirty="0"/>
          </a:p>
          <a:p>
            <a:pPr>
              <a:buNone/>
            </a:pPr>
            <a:endParaRPr lang="en-US" dirty="0"/>
          </a:p>
          <a:p>
            <a:pPr>
              <a:buNone/>
            </a:pPr>
            <a:endParaRPr lang="en-US" b="1" i="1" dirty="0">
              <a:solidFill>
                <a:srgbClr val="0000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749" y="216976"/>
            <a:ext cx="8221851" cy="697424"/>
          </a:xfrm>
        </p:spPr>
        <p:txBody>
          <a:bodyPr>
            <a:normAutofit fontScale="90000"/>
          </a:bodyPr>
          <a:lstStyle/>
          <a:p>
            <a:pPr algn="l"/>
            <a:r>
              <a:rPr lang="en-US" b="1" u="sng" dirty="0">
                <a:solidFill>
                  <a:srgbClr val="C00000"/>
                </a:solidFill>
              </a:rPr>
              <a:t>WHY DO WE USE WML?</a:t>
            </a:r>
          </a:p>
        </p:txBody>
      </p:sp>
      <p:sp>
        <p:nvSpPr>
          <p:cNvPr id="3" name="Content Placeholder 2"/>
          <p:cNvSpPr>
            <a:spLocks noGrp="1"/>
          </p:cNvSpPr>
          <p:nvPr>
            <p:ph idx="1"/>
          </p:nvPr>
        </p:nvSpPr>
        <p:spPr>
          <a:xfrm>
            <a:off x="228600" y="1091339"/>
            <a:ext cx="8713922" cy="5995261"/>
          </a:xfrm>
        </p:spPr>
        <p:txBody>
          <a:bodyPr>
            <a:normAutofit/>
          </a:bodyPr>
          <a:lstStyle/>
          <a:p>
            <a:pPr lvl="0"/>
            <a:r>
              <a:rPr lang="en-US" sz="2400" dirty="0"/>
              <a:t>WML is based on HDML and is modified so that it can be compared with HTML.</a:t>
            </a:r>
          </a:p>
          <a:p>
            <a:pPr lvl="0"/>
            <a:r>
              <a:rPr lang="en-US" sz="2400" dirty="0"/>
              <a:t>WML takes care of the small screen and the low bandwidth of transmission.</a:t>
            </a:r>
          </a:p>
          <a:p>
            <a:pPr lvl="0"/>
            <a:r>
              <a:rPr lang="en-US" sz="2400" dirty="0"/>
              <a:t>WML is the markup language defined in the WAP specification.</a:t>
            </a:r>
          </a:p>
          <a:p>
            <a:pPr lvl="0"/>
            <a:r>
              <a:rPr lang="en-US" sz="2400" dirty="0"/>
              <a:t>WAP sites are written in WML, while web sites are written in HTML.</a:t>
            </a:r>
          </a:p>
          <a:p>
            <a:pPr lvl="0"/>
            <a:r>
              <a:rPr lang="en-US" sz="2400" dirty="0"/>
              <a:t>WML is very similar to HTML. Both of them use tags and are written in plain text format.</a:t>
            </a:r>
          </a:p>
          <a:p>
            <a:pPr lvl="0"/>
            <a:r>
              <a:rPr lang="en-US" sz="2400" dirty="0"/>
              <a:t>WML supports client-side scripting. The scripting language supported is called WML Script.</a:t>
            </a:r>
          </a:p>
          <a:p>
            <a:pPr lvl="0"/>
            <a:r>
              <a:rPr lang="en-US" sz="2400" dirty="0"/>
              <a:t>WML files have the extension ".</a:t>
            </a:r>
            <a:r>
              <a:rPr lang="en-US" sz="2400" dirty="0" err="1"/>
              <a:t>wml</a:t>
            </a:r>
            <a:r>
              <a:rPr lang="en-US" sz="2400" dirty="0"/>
              <a:t>". </a:t>
            </a:r>
          </a:p>
          <a:p>
            <a:pPr fontAlgn="t"/>
            <a:endParaRPr lang="en-US" dirty="0"/>
          </a:p>
          <a:p>
            <a:pPr fontAlgn="t"/>
            <a:endParaRPr lang="en-US" dirty="0"/>
          </a:p>
          <a:p>
            <a:pPr fontAlgn="t"/>
            <a:endParaRPr lang="en-US" dirty="0"/>
          </a:p>
          <a:p>
            <a:pPr>
              <a:buNone/>
            </a:pPr>
            <a:endParaRPr lang="en-US" dirty="0"/>
          </a:p>
          <a:p>
            <a:pPr>
              <a:buNone/>
            </a:pPr>
            <a:endParaRPr lang="en-US" b="1" i="1" dirty="0">
              <a:solidFill>
                <a:srgbClr val="0000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749" y="76200"/>
            <a:ext cx="8221851" cy="697424"/>
          </a:xfrm>
        </p:spPr>
        <p:txBody>
          <a:bodyPr>
            <a:normAutofit/>
          </a:bodyPr>
          <a:lstStyle/>
          <a:p>
            <a:pPr algn="l"/>
            <a:r>
              <a:rPr lang="en-US" sz="3600" b="1" u="sng" dirty="0">
                <a:solidFill>
                  <a:srgbClr val="C00000"/>
                </a:solidFill>
              </a:rPr>
              <a:t>An Example of WML code (example.wml):</a:t>
            </a:r>
          </a:p>
        </p:txBody>
      </p:sp>
      <p:sp>
        <p:nvSpPr>
          <p:cNvPr id="3" name="Content Placeholder 2"/>
          <p:cNvSpPr>
            <a:spLocks noGrp="1"/>
          </p:cNvSpPr>
          <p:nvPr>
            <p:ph idx="1"/>
          </p:nvPr>
        </p:nvSpPr>
        <p:spPr>
          <a:xfrm>
            <a:off x="228600" y="914400"/>
            <a:ext cx="8713922" cy="5995261"/>
          </a:xfrm>
        </p:spPr>
        <p:txBody>
          <a:bodyPr>
            <a:normAutofit/>
          </a:bodyPr>
          <a:lstStyle/>
          <a:p>
            <a:pPr fontAlgn="t">
              <a:buNone/>
            </a:pPr>
            <a:r>
              <a:rPr lang="en-US" sz="2400" b="1" dirty="0"/>
              <a:t>&lt;?xml</a:t>
            </a:r>
            <a:r>
              <a:rPr lang="en-US" sz="2400" dirty="0"/>
              <a:t> version="1.0"</a:t>
            </a:r>
            <a:r>
              <a:rPr lang="en-US" sz="2400" b="1" dirty="0"/>
              <a:t>?&gt;</a:t>
            </a:r>
            <a:endParaRPr lang="en-US" sz="2400" dirty="0"/>
          </a:p>
          <a:p>
            <a:pPr fontAlgn="t">
              <a:buNone/>
            </a:pPr>
            <a:r>
              <a:rPr lang="en-US" sz="2400" dirty="0"/>
              <a:t>&lt;!DOCTYPE </a:t>
            </a:r>
            <a:r>
              <a:rPr lang="en-US" sz="2400" dirty="0" err="1"/>
              <a:t>wml</a:t>
            </a:r>
            <a:r>
              <a:rPr lang="en-US" sz="2400" dirty="0"/>
              <a:t> PUBLIC "-//WAPFORUM//DTD WML 1.1//EN"</a:t>
            </a:r>
          </a:p>
          <a:p>
            <a:pPr fontAlgn="t">
              <a:buNone/>
            </a:pPr>
            <a:r>
              <a:rPr lang="en-US" sz="2400" dirty="0"/>
              <a:t>   "http://www.wapforum.org/DTD/wml_1.1.xml" &gt;</a:t>
            </a:r>
          </a:p>
          <a:p>
            <a:pPr fontAlgn="t">
              <a:buNone/>
            </a:pPr>
            <a:r>
              <a:rPr lang="en-US" sz="2400" b="1" dirty="0"/>
              <a:t>&lt;</a:t>
            </a:r>
            <a:r>
              <a:rPr lang="en-US" sz="2400" b="1" dirty="0" err="1"/>
              <a:t>wml</a:t>
            </a:r>
            <a:r>
              <a:rPr lang="en-US" sz="2400" b="1" dirty="0"/>
              <a:t>&gt;</a:t>
            </a:r>
            <a:endParaRPr lang="en-US" sz="2400" dirty="0"/>
          </a:p>
          <a:p>
            <a:pPr>
              <a:buNone/>
            </a:pPr>
            <a:r>
              <a:rPr lang="en-US" sz="2400" dirty="0"/>
              <a:t> &lt;card id="one" title="First Card"&gt;</a:t>
            </a:r>
          </a:p>
          <a:p>
            <a:pPr>
              <a:buNone/>
            </a:pPr>
            <a:r>
              <a:rPr lang="en-US" sz="2400" dirty="0"/>
              <a:t>	&lt;p&gt;   This is the first card in the deck   &lt;/p&gt;</a:t>
            </a:r>
          </a:p>
          <a:p>
            <a:pPr>
              <a:buNone/>
            </a:pPr>
            <a:r>
              <a:rPr lang="en-US" sz="2400" dirty="0"/>
              <a:t>&lt;/card&gt;</a:t>
            </a:r>
          </a:p>
          <a:p>
            <a:pPr>
              <a:buNone/>
            </a:pPr>
            <a:r>
              <a:rPr lang="en-US" sz="2400" dirty="0"/>
              <a:t> </a:t>
            </a:r>
          </a:p>
          <a:p>
            <a:pPr>
              <a:buNone/>
            </a:pPr>
            <a:r>
              <a:rPr lang="en-US" sz="2400" dirty="0"/>
              <a:t>&lt;card id="two" title="Second Card"&gt;</a:t>
            </a:r>
          </a:p>
          <a:p>
            <a:pPr>
              <a:buNone/>
            </a:pPr>
            <a:r>
              <a:rPr lang="en-US" sz="2400" dirty="0"/>
              <a:t>	&lt;p&gt;   </a:t>
            </a:r>
            <a:r>
              <a:rPr lang="en-US" sz="2400" dirty="0" err="1"/>
              <a:t>Ths</a:t>
            </a:r>
            <a:r>
              <a:rPr lang="en-US" sz="2400" dirty="0"/>
              <a:t> is the second card in the deck  &lt;/p&gt;</a:t>
            </a:r>
          </a:p>
          <a:p>
            <a:pPr>
              <a:buNone/>
            </a:pPr>
            <a:r>
              <a:rPr lang="en-US" sz="2400" dirty="0"/>
              <a:t>&lt;/card&gt;</a:t>
            </a:r>
          </a:p>
          <a:p>
            <a:pPr fontAlgn="t">
              <a:buNone/>
            </a:pPr>
            <a:r>
              <a:rPr lang="en-US" sz="2400" b="1" dirty="0"/>
              <a:t>&lt;/</a:t>
            </a:r>
            <a:r>
              <a:rPr lang="en-US" sz="2400" b="1" dirty="0" err="1"/>
              <a:t>wml</a:t>
            </a:r>
            <a:r>
              <a:rPr lang="en-US" sz="2400" b="1" dirty="0"/>
              <a:t>&gt;</a:t>
            </a:r>
            <a:endParaRPr lang="en-US" sz="2400" dirty="0"/>
          </a:p>
          <a:p>
            <a:pPr fontAlgn="t">
              <a:buNone/>
            </a:pPr>
            <a:endParaRPr lang="en-US" dirty="0"/>
          </a:p>
          <a:p>
            <a:pPr fontAlgn="t"/>
            <a:endParaRPr lang="en-US" dirty="0"/>
          </a:p>
          <a:p>
            <a:pPr fontAlgn="t"/>
            <a:endParaRPr lang="en-US" dirty="0"/>
          </a:p>
          <a:p>
            <a:pPr>
              <a:buNone/>
            </a:pPr>
            <a:endParaRPr lang="en-US" dirty="0"/>
          </a:p>
          <a:p>
            <a:pPr>
              <a:buNone/>
            </a:pPr>
            <a:endParaRPr lang="en-US" b="1" i="1" dirty="0">
              <a:solidFill>
                <a:srgbClr val="0000FF"/>
              </a:solidFill>
            </a:endParaRPr>
          </a:p>
        </p:txBody>
      </p:sp>
      <p:sp>
        <p:nvSpPr>
          <p:cNvPr id="4" name="Action Button: Document 3">
            <a:hlinkClick r:id="rId2" action="ppaction://hlinkfile" highlightClick="1"/>
          </p:cNvPr>
          <p:cNvSpPr/>
          <p:nvPr/>
        </p:nvSpPr>
        <p:spPr>
          <a:xfrm>
            <a:off x="6400800" y="5958114"/>
            <a:ext cx="1995714" cy="595086"/>
          </a:xfrm>
          <a:prstGeom prst="actionButton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749" y="76200"/>
            <a:ext cx="8221851" cy="697424"/>
          </a:xfrm>
        </p:spPr>
        <p:txBody>
          <a:bodyPr>
            <a:normAutofit/>
          </a:bodyPr>
          <a:lstStyle/>
          <a:p>
            <a:pPr algn="l"/>
            <a:r>
              <a:rPr lang="en-US" sz="3600" b="1" u="sng" dirty="0">
                <a:solidFill>
                  <a:srgbClr val="C00000"/>
                </a:solidFill>
              </a:rPr>
              <a:t>WML SYNTAX:</a:t>
            </a:r>
          </a:p>
        </p:txBody>
      </p:sp>
      <p:sp>
        <p:nvSpPr>
          <p:cNvPr id="3" name="Content Placeholder 2"/>
          <p:cNvSpPr>
            <a:spLocks noGrp="1"/>
          </p:cNvSpPr>
          <p:nvPr>
            <p:ph idx="1"/>
          </p:nvPr>
        </p:nvSpPr>
        <p:spPr>
          <a:xfrm>
            <a:off x="76200" y="762000"/>
            <a:ext cx="9067800" cy="6096000"/>
          </a:xfrm>
        </p:spPr>
        <p:txBody>
          <a:bodyPr>
            <a:noAutofit/>
          </a:bodyPr>
          <a:lstStyle/>
          <a:p>
            <a:pPr algn="just"/>
            <a:r>
              <a:rPr lang="en-US" sz="2400" dirty="0"/>
              <a:t>A WML program is typically divided into two parts: the document prolog and the body:</a:t>
            </a:r>
          </a:p>
          <a:p>
            <a:r>
              <a:rPr lang="en-US" sz="2400" b="1" u="sng" dirty="0">
                <a:solidFill>
                  <a:srgbClr val="0000FF"/>
                </a:solidFill>
              </a:rPr>
              <a:t>WML Document Prolog:</a:t>
            </a:r>
          </a:p>
          <a:p>
            <a:r>
              <a:rPr lang="en-US" sz="2400" dirty="0"/>
              <a:t>The first line of this text says that this is an XML document and the version is 1.0. </a:t>
            </a:r>
          </a:p>
          <a:p>
            <a:r>
              <a:rPr lang="en-US" sz="2400" dirty="0"/>
              <a:t>The second line gives the URL of DTD and the DTD referenced is defined in WAP 1.2. </a:t>
            </a:r>
          </a:p>
          <a:p>
            <a:r>
              <a:rPr lang="en-US" sz="2400" b="1" u="sng" dirty="0">
                <a:solidFill>
                  <a:srgbClr val="0000FF"/>
                </a:solidFill>
              </a:rPr>
              <a:t>WML Document Body:</a:t>
            </a:r>
          </a:p>
          <a:p>
            <a:r>
              <a:rPr lang="en-US" sz="2400" dirty="0"/>
              <a:t>The body is enclosed within a &lt;</a:t>
            </a:r>
            <a:r>
              <a:rPr lang="en-US" sz="2400" dirty="0" err="1"/>
              <a:t>wml</a:t>
            </a:r>
            <a:r>
              <a:rPr lang="en-US" sz="2400" dirty="0"/>
              <a:t>&gt; &lt;/</a:t>
            </a:r>
            <a:r>
              <a:rPr lang="en-US" sz="2400" dirty="0" err="1"/>
              <a:t>wml</a:t>
            </a:r>
            <a:r>
              <a:rPr lang="en-US" sz="2400" dirty="0"/>
              <a:t>&gt; tag pair. </a:t>
            </a:r>
          </a:p>
          <a:p>
            <a:r>
              <a:rPr lang="en-US" sz="2400" dirty="0"/>
              <a:t>The body of a WML document can consist of one or more of the following:</a:t>
            </a:r>
          </a:p>
          <a:p>
            <a:pPr lvl="1"/>
            <a:r>
              <a:rPr lang="en-US" sz="2400" dirty="0"/>
              <a:t>Deck 	-- Card</a:t>
            </a:r>
          </a:p>
          <a:p>
            <a:pPr lvl="1"/>
            <a:r>
              <a:rPr lang="en-US" sz="2400" dirty="0"/>
              <a:t>Content to be shown in &lt;p&gt;   …….. &lt;/p&gt; tag.</a:t>
            </a:r>
          </a:p>
          <a:p>
            <a:pPr lvl="1"/>
            <a:r>
              <a:rPr lang="en-US" sz="2400" dirty="0"/>
              <a:t>Navigation instructions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749" y="216976"/>
            <a:ext cx="8221851" cy="697424"/>
          </a:xfrm>
        </p:spPr>
        <p:txBody>
          <a:bodyPr>
            <a:normAutofit/>
          </a:bodyPr>
          <a:lstStyle/>
          <a:p>
            <a:pPr algn="l"/>
            <a:r>
              <a:rPr lang="en-US" sz="3600" b="1" u="sng" dirty="0">
                <a:solidFill>
                  <a:srgbClr val="C00000"/>
                </a:solidFill>
              </a:rPr>
              <a:t>Working of WML (Deck &amp; Cards):</a:t>
            </a:r>
          </a:p>
        </p:txBody>
      </p:sp>
      <p:sp>
        <p:nvSpPr>
          <p:cNvPr id="3" name="Content Placeholder 2"/>
          <p:cNvSpPr>
            <a:spLocks noGrp="1"/>
          </p:cNvSpPr>
          <p:nvPr>
            <p:ph idx="1"/>
          </p:nvPr>
        </p:nvSpPr>
        <p:spPr>
          <a:xfrm>
            <a:off x="228600" y="1091339"/>
            <a:ext cx="8713922" cy="5995261"/>
          </a:xfrm>
        </p:spPr>
        <p:txBody>
          <a:bodyPr>
            <a:normAutofit lnSpcReduction="10000"/>
          </a:bodyPr>
          <a:lstStyle/>
          <a:p>
            <a:pPr algn="just"/>
            <a:r>
              <a:rPr lang="en-US" sz="2400" dirty="0"/>
              <a:t>A WML document is known as a “deck”. </a:t>
            </a:r>
          </a:p>
          <a:p>
            <a:pPr algn="just"/>
            <a:r>
              <a:rPr lang="en-US" sz="2400" dirty="0"/>
              <a:t>Data in the deck is structured into one or more “cards” (pages) </a:t>
            </a:r>
          </a:p>
          <a:p>
            <a:pPr algn="just"/>
            <a:r>
              <a:rPr lang="en-US" sz="2400" dirty="0"/>
              <a:t>Each of which represents a single interaction with the user.</a:t>
            </a:r>
          </a:p>
          <a:p>
            <a:pPr algn="just"/>
            <a:r>
              <a:rPr lang="en-US" sz="2400" dirty="0"/>
              <a:t>WML decks are stored on an ordinary </a:t>
            </a:r>
            <a:r>
              <a:rPr lang="en-US" sz="2400" u="sng" dirty="0">
                <a:hlinkClick r:id="rId2" tooltip="Web server"/>
              </a:rPr>
              <a:t>web server</a:t>
            </a:r>
            <a:r>
              <a:rPr lang="en-US" sz="2400" dirty="0"/>
              <a:t> .</a:t>
            </a:r>
          </a:p>
          <a:p>
            <a:pPr algn="just"/>
            <a:r>
              <a:rPr lang="en-US" sz="2400" dirty="0"/>
              <a:t>The WML cards when requested by a device are accessed by a bridge </a:t>
            </a:r>
            <a:r>
              <a:rPr lang="en-US" sz="2400" u="sng" dirty="0">
                <a:hlinkClick r:id="rId3" tooltip="WAP gateway"/>
              </a:rPr>
              <a:t>WAP gateway</a:t>
            </a:r>
            <a:r>
              <a:rPr lang="en-US" sz="2400" dirty="0"/>
              <a:t>, which sits between mobile devices and the World Wide Web, passing pages from one to the other much like a </a:t>
            </a:r>
            <a:r>
              <a:rPr lang="en-US" sz="2400" u="sng" dirty="0">
                <a:hlinkClick r:id="rId4" tooltip="Proxy server"/>
              </a:rPr>
              <a:t>proxy</a:t>
            </a:r>
            <a:r>
              <a:rPr lang="en-US" sz="2400" dirty="0"/>
              <a:t>. </a:t>
            </a:r>
          </a:p>
          <a:p>
            <a:pPr algn="just"/>
            <a:r>
              <a:rPr lang="en-US" sz="2400" dirty="0"/>
              <a:t>The gateways send the WML pages on in a form suitable for mobile device reception. </a:t>
            </a:r>
          </a:p>
          <a:p>
            <a:pPr algn="just"/>
            <a:r>
              <a:rPr lang="en-US" sz="2400" dirty="0"/>
              <a:t>When a WML page is accessed from a mobile phone, all the cards in the page are downloaded from the WAP server. So if the user goes to another card of the same deck, the mobile browser does not have to send any requests to the server since the file that contains the deck is already stored in the wireless device.</a:t>
            </a:r>
          </a:p>
          <a:p>
            <a:endParaRPr lang="en-US" sz="2400" dirty="0"/>
          </a:p>
          <a:p>
            <a:pPr fontAlgn="t">
              <a:buNone/>
            </a:pPr>
            <a:endParaRPr lang="en-US" dirty="0"/>
          </a:p>
          <a:p>
            <a:pPr fontAlgn="t"/>
            <a:endParaRPr lang="en-US" dirty="0"/>
          </a:p>
          <a:p>
            <a:pPr fontAlgn="t"/>
            <a:endParaRPr lang="en-US" dirty="0"/>
          </a:p>
          <a:p>
            <a:pPr>
              <a:buNone/>
            </a:pPr>
            <a:endParaRPr lang="en-US" dirty="0"/>
          </a:p>
          <a:p>
            <a:pPr>
              <a:buNone/>
            </a:pPr>
            <a:endParaRPr lang="en-US" b="1" i="1" dirty="0">
              <a:solidFill>
                <a:srgbClr val="0000FF"/>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257</TotalTime>
  <Words>560</Words>
  <Application>Microsoft Office PowerPoint</Application>
  <PresentationFormat>On-screen Show (4:3)</PresentationFormat>
  <Paragraphs>156</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Verdana</vt:lpstr>
      <vt:lpstr>Wingdings</vt:lpstr>
      <vt:lpstr>Office Theme</vt:lpstr>
      <vt:lpstr>XHTML, HTML 5.0 &amp; WML</vt:lpstr>
      <vt:lpstr>What Is XHTML?</vt:lpstr>
      <vt:lpstr>Why XHTML?</vt:lpstr>
      <vt:lpstr>XHTML DOCUMENT:</vt:lpstr>
      <vt:lpstr>XHTML document Example:</vt:lpstr>
      <vt:lpstr>WHAT IS HTML 5.0?</vt:lpstr>
      <vt:lpstr>TYPICAL HTML 4.0 PAGE:</vt:lpstr>
      <vt:lpstr>TYPICAL HTML 5.0 PAGE:</vt:lpstr>
      <vt:lpstr>WHAT IS WML?</vt:lpstr>
      <vt:lpstr>WHY DO WE USE WML?</vt:lpstr>
      <vt:lpstr>An Example of WML code (example.wml):</vt:lpstr>
      <vt:lpstr>WML SYNTAX:</vt:lpstr>
      <vt:lpstr>Working of WML (Deck &amp; Cards):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XHTML &amp; WML</dc:title>
  <dc:creator>Administrator</dc:creator>
  <cp:lastModifiedBy>Saif ur Rehman</cp:lastModifiedBy>
  <cp:revision>57</cp:revision>
  <dcterms:created xsi:type="dcterms:W3CDTF">2007-05-20T19:07:59Z</dcterms:created>
  <dcterms:modified xsi:type="dcterms:W3CDTF">2019-04-27T20:34:10Z</dcterms:modified>
</cp:coreProperties>
</file>
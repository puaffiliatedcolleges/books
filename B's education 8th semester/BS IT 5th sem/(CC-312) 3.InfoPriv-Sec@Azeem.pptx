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9" r:id="rId2"/>
    <p:sldId id="392" r:id="rId3"/>
    <p:sldId id="291" r:id="rId4"/>
    <p:sldId id="374" r:id="rId5"/>
    <p:sldId id="371" r:id="rId6"/>
    <p:sldId id="376" r:id="rId7"/>
    <p:sldId id="395" r:id="rId8"/>
    <p:sldId id="377" r:id="rId9"/>
    <p:sldId id="378" r:id="rId10"/>
    <p:sldId id="394" r:id="rId11"/>
    <p:sldId id="379" r:id="rId12"/>
    <p:sldId id="396" r:id="rId13"/>
    <p:sldId id="397" r:id="rId14"/>
    <p:sldId id="398" r:id="rId15"/>
    <p:sldId id="400" r:id="rId16"/>
    <p:sldId id="399" r:id="rId17"/>
    <p:sldId id="288" r:id="rId18"/>
  </p:sldIdLst>
  <p:sldSz cx="12190413" cy="6858000"/>
  <p:notesSz cx="6858000" cy="9144000"/>
  <p:embeddedFontLst>
    <p:embeddedFont>
      <p:font typeface="Microsoft YaHei" panose="020B0503020204020204" pitchFamily="34" charset="-122"/>
      <p:regular r:id="rId20"/>
      <p:bold r:id="rId21"/>
    </p:embeddedFont>
    <p:embeddedFont>
      <p:font typeface="Microsoft YaHei" panose="020B0503020204020204" pitchFamily="34" charset="-122"/>
      <p:regular r:id="rId20"/>
      <p:bold r:id="rId21"/>
    </p:embeddedFont>
    <p:embeddedFont>
      <p:font typeface="宋体" panose="02010600030101010101" pitchFamily="2" charset="-122"/>
      <p:regular r:id="rId22"/>
    </p:embeddedFont>
    <p:embeddedFont>
      <p:font typeface="Calibri" panose="020F0502020204030204" pitchFamily="34" charset="0"/>
      <p:regular r:id="rId23"/>
      <p:bold r:id="rId24"/>
      <p:italic r:id="rId25"/>
      <p:boldItalic r:id="rId26"/>
    </p:embeddedFont>
    <p:embeddedFont>
      <p:font typeface="Cambria" panose="02040503050406030204" pitchFamily="18" charset="0"/>
      <p:regular r:id="rId27"/>
      <p:bold r:id="rId28"/>
      <p:italic r:id="rId29"/>
      <p:boldItalic r:id="rId30"/>
    </p:embeddedFont>
    <p:embeddedFont>
      <p:font typeface="Century" panose="02040604050505020304" pitchFamily="18" charset="0"/>
      <p:regular r:id="rId31"/>
    </p:embeddedFont>
    <p:embeddedFont>
      <p:font typeface="Lucida Handwriting" panose="03010101010101010101" pitchFamily="66" charset="0"/>
      <p:regular r:id="rId32"/>
    </p:embeddedFont>
  </p:embeddedFontLst>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4E1CF0"/>
    <a:srgbClr val="000000"/>
    <a:srgbClr val="080808"/>
    <a:srgbClr val="414455"/>
    <a:srgbClr val="E8E8E6"/>
    <a:srgbClr val="FFFFFF"/>
    <a:srgbClr val="9498AE"/>
    <a:srgbClr val="7C819C"/>
    <a:srgbClr val="6368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29" autoAdjust="0"/>
    <p:restoredTop sz="93250" autoAdjust="0"/>
  </p:normalViewPr>
  <p:slideViewPr>
    <p:cSldViewPr>
      <p:cViewPr>
        <p:scale>
          <a:sx n="100" d="100"/>
          <a:sy n="100" d="100"/>
        </p:scale>
        <p:origin x="-252" y="-64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70E5BC-B417-466E-A76A-1359E7C5B0BB}" type="datetimeFigureOut">
              <a:rPr lang="zh-CN" altLang="en-US" smtClean="0"/>
              <a:t>2023/1/13</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1E0E0E2-7263-44C4-AAA9-733DBA7BD205}" type="slidenum">
              <a:rPr lang="zh-CN" altLang="en-US" smtClean="0"/>
              <a:t>‹#›</a:t>
            </a:fld>
            <a:endParaRPr lang="zh-CN" altLang="en-US"/>
          </a:p>
        </p:txBody>
      </p:sp>
    </p:spTree>
    <p:extLst>
      <p:ext uri="{BB962C8B-B14F-4D97-AF65-F5344CB8AC3E}">
        <p14:creationId xmlns:p14="http://schemas.microsoft.com/office/powerpoint/2010/main" val="573092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1E0E0E2-7263-44C4-AAA9-733DBA7BD205}" type="slidenum">
              <a:rPr lang="zh-CN" altLang="en-US" smtClean="0"/>
              <a:t>1</a:t>
            </a:fld>
            <a:endParaRPr lang="zh-CN" altLang="en-US"/>
          </a:p>
        </p:txBody>
      </p:sp>
    </p:spTree>
    <p:extLst>
      <p:ext uri="{BB962C8B-B14F-4D97-AF65-F5344CB8AC3E}">
        <p14:creationId xmlns:p14="http://schemas.microsoft.com/office/powerpoint/2010/main" val="204478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2</a:t>
            </a:fld>
            <a:endParaRPr lang="zh-CN" altLang="en-US"/>
          </a:p>
        </p:txBody>
      </p:sp>
    </p:spTree>
    <p:extLst>
      <p:ext uri="{BB962C8B-B14F-4D97-AF65-F5344CB8AC3E}">
        <p14:creationId xmlns:p14="http://schemas.microsoft.com/office/powerpoint/2010/main" val="3169717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3</a:t>
            </a:fld>
            <a:endParaRPr lang="zh-CN" altLang="en-US"/>
          </a:p>
        </p:txBody>
      </p:sp>
    </p:spTree>
    <p:extLst>
      <p:ext uri="{BB962C8B-B14F-4D97-AF65-F5344CB8AC3E}">
        <p14:creationId xmlns:p14="http://schemas.microsoft.com/office/powerpoint/2010/main" val="3169717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4</a:t>
            </a:fld>
            <a:endParaRPr lang="zh-CN" altLang="en-US"/>
          </a:p>
        </p:txBody>
      </p:sp>
    </p:spTree>
    <p:extLst>
      <p:ext uri="{BB962C8B-B14F-4D97-AF65-F5344CB8AC3E}">
        <p14:creationId xmlns:p14="http://schemas.microsoft.com/office/powerpoint/2010/main" val="383502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5</a:t>
            </a:fld>
            <a:endParaRPr lang="zh-CN" altLang="en-US"/>
          </a:p>
        </p:txBody>
      </p:sp>
    </p:spTree>
    <p:extLst>
      <p:ext uri="{BB962C8B-B14F-4D97-AF65-F5344CB8AC3E}">
        <p14:creationId xmlns:p14="http://schemas.microsoft.com/office/powerpoint/2010/main" val="3169717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6</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7</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8</a:t>
            </a:fld>
            <a:endParaRPr lang="zh-CN" altLang="en-US"/>
          </a:p>
        </p:txBody>
      </p:sp>
    </p:spTree>
    <p:extLst>
      <p:ext uri="{BB962C8B-B14F-4D97-AF65-F5344CB8AC3E}">
        <p14:creationId xmlns:p14="http://schemas.microsoft.com/office/powerpoint/2010/main" val="3169717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9</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10</a:t>
            </a:fld>
            <a:endParaRPr lang="zh-CN" altLang="en-US"/>
          </a:p>
        </p:txBody>
      </p:sp>
    </p:spTree>
    <p:extLst>
      <p:ext uri="{BB962C8B-B14F-4D97-AF65-F5344CB8AC3E}">
        <p14:creationId xmlns:p14="http://schemas.microsoft.com/office/powerpoint/2010/main" val="31697174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11</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12</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13</a:t>
            </a:fld>
            <a:endParaRPr lang="zh-CN" altLang="en-US"/>
          </a:p>
        </p:txBody>
      </p:sp>
    </p:spTree>
    <p:extLst>
      <p:ext uri="{BB962C8B-B14F-4D97-AF65-F5344CB8AC3E}">
        <p14:creationId xmlns:p14="http://schemas.microsoft.com/office/powerpoint/2010/main" val="3169717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14</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15</a:t>
            </a:fld>
            <a:endParaRPr lang="zh-CN" altLang="en-US"/>
          </a:p>
        </p:txBody>
      </p:sp>
    </p:spTree>
    <p:extLst>
      <p:ext uri="{BB962C8B-B14F-4D97-AF65-F5344CB8AC3E}">
        <p14:creationId xmlns:p14="http://schemas.microsoft.com/office/powerpoint/2010/main" val="19429197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16</a:t>
            </a:fld>
            <a:endParaRPr lang="zh-CN" altLang="en-US"/>
          </a:p>
        </p:txBody>
      </p:sp>
    </p:spTree>
    <p:extLst>
      <p:ext uri="{BB962C8B-B14F-4D97-AF65-F5344CB8AC3E}">
        <p14:creationId xmlns:p14="http://schemas.microsoft.com/office/powerpoint/2010/main" val="3078519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E0E0E2-7263-44C4-AAA9-733DBA7BD205}" type="slidenum">
              <a:rPr lang="zh-CN" altLang="en-US" smtClean="0"/>
              <a:t>17</a:t>
            </a:fld>
            <a:endParaRPr lang="zh-CN" altLang="en-US"/>
          </a:p>
        </p:txBody>
      </p:sp>
    </p:spTree>
    <p:extLst>
      <p:ext uri="{BB962C8B-B14F-4D97-AF65-F5344CB8AC3E}">
        <p14:creationId xmlns:p14="http://schemas.microsoft.com/office/powerpoint/2010/main" val="13732875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rgbClr val="414455"/>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D730DE7-1FF2-4121-A5D1-B143C6A55253}" type="datetime1">
              <a:rPr lang="zh-CN" altLang="en-US" smtClean="0"/>
              <a:t>2023/1/13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959" y="4406901"/>
            <a:ext cx="10361851"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2959" y="2906713"/>
            <a:ext cx="1036185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AF845360-D40D-4218-82E0-E88E222F33DC}" type="datetime1">
              <a:rPr lang="zh-CN" altLang="en-US" smtClean="0"/>
              <a:t>2023/1/13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521" y="1600201"/>
            <a:ext cx="53840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6793" y="1600201"/>
            <a:ext cx="53840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638452EF-5253-4CA2-A1BD-987A71394BB4}" type="datetime1">
              <a:rPr lang="zh-CN" altLang="en-US" smtClean="0"/>
              <a:t>2023/1/13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521" y="1535113"/>
            <a:ext cx="538621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521" y="2174875"/>
            <a:ext cx="538621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561" y="1535113"/>
            <a:ext cx="538833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561" y="2174875"/>
            <a:ext cx="538833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3CA8C59-2160-4A1A-8013-9C2279D025E3}" type="datetime1">
              <a:rPr lang="zh-CN" altLang="en-US" smtClean="0"/>
              <a:t>2023/1/13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E1503A6-B87E-46C2-AC39-4120FBDDAFAE}" type="datetime1">
              <a:rPr lang="zh-CN" altLang="en-US" smtClean="0"/>
              <a:t>2023/1/13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5AED53F-D197-4793-8DD1-DFDF1F4AB196}" type="datetime1">
              <a:rPr lang="zh-CN" altLang="en-US" smtClean="0"/>
              <a:t>2023/1/13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521" y="273050"/>
            <a:ext cx="4010562"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113" y="273051"/>
            <a:ext cx="681477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521" y="1435101"/>
            <a:ext cx="4010562"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927C1C1-F04A-46FC-AD4B-5DC17035F515}" type="datetime1">
              <a:rPr lang="zh-CN" altLang="en-US" smtClean="0"/>
              <a:t>2023/1/13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406" y="4800600"/>
            <a:ext cx="7314248"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406" y="612775"/>
            <a:ext cx="7314248"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2389406" y="5367338"/>
            <a:ext cx="731424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E855D89-C0DB-4CD2-B8B1-6FEBA862EA77}" type="datetime1">
              <a:rPr lang="zh-CN" altLang="en-US" smtClean="0"/>
              <a:t>2023/1/13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9767938-52E0-42A8-A445-31D02E09BF6F}" type="datetime1">
              <a:rPr lang="zh-CN" altLang="en-US" smtClean="0"/>
              <a:t>2023/1/13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8049" y="274639"/>
            <a:ext cx="2742843"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521" y="274639"/>
            <a:ext cx="8025355"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BC7BAF8-4370-4C7E-BCB7-EE684EC45DFA}" type="datetime1">
              <a:rPr lang="zh-CN" altLang="en-US" smtClean="0"/>
              <a:t>2023/1/13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3802" y="1122363"/>
            <a:ext cx="914281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3802" y="3602038"/>
            <a:ext cx="914281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742226D-16F5-499D-9509-9396B24A2121}" type="datetime1">
              <a:rPr lang="zh-CN" altLang="en-US" smtClean="0"/>
              <a:t>2023/1/13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ABDD927-E55F-4D12-BD2D-8ABE6C912713}" type="slidenum">
              <a:rPr lang="zh-CN" altLang="en-US" smtClean="0"/>
              <a:t>‹#›</a:t>
            </a:fld>
            <a:endParaRPr lang="zh-CN" altLang="en-US"/>
          </a:p>
        </p:txBody>
      </p:sp>
    </p:spTree>
    <p:extLst>
      <p:ext uri="{BB962C8B-B14F-4D97-AF65-F5344CB8AC3E}">
        <p14:creationId xmlns:p14="http://schemas.microsoft.com/office/powerpoint/2010/main" val="12786124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rgbClr val="FFFFFF"/>
          </a:fgClr>
          <a:bgClr>
            <a:srgbClr val="E8E8E6"/>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521" y="274638"/>
            <a:ext cx="10971372"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09521" y="1600201"/>
            <a:ext cx="10971372"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520" y="6356351"/>
            <a:ext cx="284443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0F5AEB-C490-4B7D-850B-97176F0072B2}" type="datetime1">
              <a:rPr lang="zh-CN" altLang="en-US" smtClean="0"/>
              <a:t>2023/1/13</a:t>
            </a:fld>
            <a:endParaRPr lang="zh-CN" altLang="en-US"/>
          </a:p>
        </p:txBody>
      </p:sp>
      <p:sp>
        <p:nvSpPr>
          <p:cNvPr id="5" name="页脚占位符 4"/>
          <p:cNvSpPr>
            <a:spLocks noGrp="1"/>
          </p:cNvSpPr>
          <p:nvPr>
            <p:ph type="ftr" sz="quarter" idx="3"/>
          </p:nvPr>
        </p:nvSpPr>
        <p:spPr>
          <a:xfrm>
            <a:off x="4165058" y="6356351"/>
            <a:ext cx="386029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736463" y="6356351"/>
            <a:ext cx="284443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502918" y="2173796"/>
            <a:ext cx="8687495" cy="2865281"/>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25"/>
          <p:cNvSpPr txBox="1"/>
          <p:nvPr/>
        </p:nvSpPr>
        <p:spPr>
          <a:xfrm>
            <a:off x="6978092" y="4437112"/>
            <a:ext cx="5140816" cy="499624"/>
          </a:xfrm>
          <a:prstGeom prst="rect">
            <a:avLst/>
          </a:prstGeom>
        </p:spPr>
        <p:txBody>
          <a:bodyPr wrap="square"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r"/>
            <a:r>
              <a:rPr lang="en-US" altLang="zh-CN" sz="2000" b="1" dirty="0">
                <a:solidFill>
                  <a:schemeClr val="bg1"/>
                </a:solidFill>
              </a:rPr>
              <a:t>University of Sialkot</a:t>
            </a:r>
            <a:endParaRPr lang="zh-CN" altLang="en-US" sz="2000" b="1" dirty="0">
              <a:solidFill>
                <a:schemeClr val="bg1"/>
              </a:solidFill>
            </a:endParaRPr>
          </a:p>
        </p:txBody>
      </p:sp>
      <p:sp>
        <p:nvSpPr>
          <p:cNvPr id="34" name="矩形 33"/>
          <p:cNvSpPr/>
          <p:nvPr/>
        </p:nvSpPr>
        <p:spPr>
          <a:xfrm>
            <a:off x="3790950" y="1814001"/>
            <a:ext cx="8399463" cy="35979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TextBox 29"/>
          <p:cNvSpPr txBox="1"/>
          <p:nvPr/>
        </p:nvSpPr>
        <p:spPr>
          <a:xfrm>
            <a:off x="3862958" y="2204864"/>
            <a:ext cx="2820177" cy="499624"/>
          </a:xfrm>
          <a:prstGeom prst="rect">
            <a:avLst/>
          </a:prstGeom>
        </p:spPr>
        <p:txBody>
          <a:bodyPr wrap="square" anchor="ctr">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2000" b="1" dirty="0">
                <a:solidFill>
                  <a:schemeClr val="bg1"/>
                </a:solidFill>
              </a:rPr>
              <a:t>Lec-3</a:t>
            </a:r>
            <a:endParaRPr lang="zh-CN" altLang="en-US" sz="2000" b="1" dirty="0">
              <a:solidFill>
                <a:schemeClr val="bg1"/>
              </a:solidFill>
            </a:endParaRPr>
          </a:p>
        </p:txBody>
      </p:sp>
      <p:sp>
        <p:nvSpPr>
          <p:cNvPr id="18" name="文本框 17"/>
          <p:cNvSpPr txBox="1"/>
          <p:nvPr/>
        </p:nvSpPr>
        <p:spPr>
          <a:xfrm>
            <a:off x="4655900" y="3212976"/>
            <a:ext cx="6767898" cy="646331"/>
          </a:xfrm>
          <a:prstGeom prst="rect">
            <a:avLst/>
          </a:prstGeom>
          <a:noFill/>
        </p:spPr>
        <p:txBody>
          <a:bodyPr wrap="square" rtlCol="0">
            <a:spAutoFit/>
          </a:bodyPr>
          <a:lstStyle/>
          <a:p>
            <a:pPr algn="ctr"/>
            <a:r>
              <a:rPr lang="en-US" sz="3600" dirty="0">
                <a:solidFill>
                  <a:schemeClr val="bg1"/>
                </a:solidFill>
                <a:latin typeface="Cambria" panose="02040503050406030204" pitchFamily="18" charset="0"/>
              </a:rPr>
              <a:t>Identity and Access Management</a:t>
            </a:r>
            <a:endParaRPr lang="zh-CN" altLang="en-US" sz="3600" dirty="0">
              <a:solidFill>
                <a:schemeClr val="bg1"/>
              </a:solidFill>
              <a:latin typeface="Cambria" panose="02040503050406030204" pitchFamily="18" charset="0"/>
              <a:ea typeface="MStiffHei HKS UltraBold" pitchFamily="2" charset="-120"/>
            </a:endParaRPr>
          </a:p>
        </p:txBody>
      </p:sp>
      <p:sp>
        <p:nvSpPr>
          <p:cNvPr id="35" name="TextBox 34"/>
          <p:cNvSpPr txBox="1"/>
          <p:nvPr/>
        </p:nvSpPr>
        <p:spPr>
          <a:xfrm>
            <a:off x="4078982" y="5393950"/>
            <a:ext cx="7836136" cy="540341"/>
          </a:xfrm>
          <a:prstGeom prst="rect">
            <a:avLst/>
          </a:prstGeom>
        </p:spPr>
        <p:txBody>
          <a:bodyPr wrap="square">
            <a:spAutoFit/>
          </a:bodyPr>
          <a:lstStyle>
            <a:defPPr>
              <a:defRPr lang="zh-CN"/>
            </a:defPPr>
            <a:lvl1pPr>
              <a:lnSpc>
                <a:spcPct val="150000"/>
              </a:lnSpc>
              <a:defRPr sz="4000" b="0">
                <a:solidFill>
                  <a:schemeClr val="bg1">
                    <a:lumMod val="50000"/>
                  </a:schemeClr>
                </a:solidFill>
                <a:latin typeface="微软雅黑" panose="020B0503020204020204" pitchFamily="34" charset="-122"/>
                <a:ea typeface="微软雅黑" panose="020B0503020204020204" pitchFamily="34" charset="-122"/>
              </a:defRPr>
            </a:lvl1pPr>
          </a:lstStyle>
          <a:p>
            <a:pPr algn="r"/>
            <a:r>
              <a:rPr lang="en-US" altLang="zh-CN" sz="2200" b="1" dirty="0">
                <a:solidFill>
                  <a:srgbClr val="414455"/>
                </a:solidFill>
              </a:rPr>
              <a:t>Instructor</a:t>
            </a:r>
            <a:r>
              <a:rPr lang="zh-CN" altLang="en-US" sz="2200" b="1" dirty="0">
                <a:solidFill>
                  <a:srgbClr val="414455"/>
                </a:solidFill>
              </a:rPr>
              <a:t>：</a:t>
            </a:r>
            <a:r>
              <a:rPr lang="en-US" altLang="zh-CN" sz="2200" dirty="0">
                <a:solidFill>
                  <a:schemeClr val="tx1">
                    <a:lumMod val="75000"/>
                    <a:lumOff val="25000"/>
                  </a:schemeClr>
                </a:solidFill>
              </a:rPr>
              <a:t>Muhammad </a:t>
            </a:r>
            <a:r>
              <a:rPr lang="en-US" altLang="zh-CN" sz="2200" dirty="0" err="1">
                <a:solidFill>
                  <a:schemeClr val="tx1">
                    <a:lumMod val="75000"/>
                    <a:lumOff val="25000"/>
                  </a:schemeClr>
                </a:solidFill>
              </a:rPr>
              <a:t>Azeem</a:t>
            </a:r>
            <a:endParaRPr lang="zh-CN" altLang="en-US" sz="2200" dirty="0">
              <a:solidFill>
                <a:schemeClr val="tx1">
                  <a:lumMod val="75000"/>
                  <a:lumOff val="25000"/>
                </a:schemeClr>
              </a:solidFill>
            </a:endParaRPr>
          </a:p>
        </p:txBody>
      </p:sp>
      <p:grpSp>
        <p:nvGrpSpPr>
          <p:cNvPr id="36" name="组合 35"/>
          <p:cNvGrpSpPr/>
          <p:nvPr/>
        </p:nvGrpSpPr>
        <p:grpSpPr>
          <a:xfrm>
            <a:off x="6073163" y="960929"/>
            <a:ext cx="681980" cy="681980"/>
            <a:chOff x="952456" y="3218117"/>
            <a:chExt cx="877066" cy="877066"/>
          </a:xfrm>
        </p:grpSpPr>
        <p:sp>
          <p:nvSpPr>
            <p:cNvPr id="38" name="椭圆 50"/>
            <p:cNvSpPr>
              <a:spLocks noChangeArrowheads="1"/>
            </p:cNvSpPr>
            <p:nvPr/>
          </p:nvSpPr>
          <p:spPr bwMode="auto">
            <a:xfrm>
              <a:off x="952456" y="3218117"/>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0" name="Picture 3" descr="D:\360data\重要数据\桌面\4675.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51696" y="3367890"/>
              <a:ext cx="478586" cy="57752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 name="组合 40"/>
          <p:cNvGrpSpPr/>
          <p:nvPr/>
        </p:nvGrpSpPr>
        <p:grpSpPr>
          <a:xfrm>
            <a:off x="6978091" y="960929"/>
            <a:ext cx="681980" cy="681980"/>
            <a:chOff x="2812677" y="3391963"/>
            <a:chExt cx="877066" cy="877066"/>
          </a:xfrm>
        </p:grpSpPr>
        <p:sp>
          <p:nvSpPr>
            <p:cNvPr id="42" name="椭圆 50"/>
            <p:cNvSpPr>
              <a:spLocks noChangeArrowheads="1"/>
            </p:cNvSpPr>
            <p:nvPr/>
          </p:nvSpPr>
          <p:spPr bwMode="auto">
            <a:xfrm>
              <a:off x="2812677" y="3391963"/>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3" name="Picture 4" descr="D:\360data\重要数据\桌面\未标题-3.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41249" y="3537498"/>
              <a:ext cx="419922" cy="5864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4" name="组合 43"/>
          <p:cNvGrpSpPr/>
          <p:nvPr/>
        </p:nvGrpSpPr>
        <p:grpSpPr>
          <a:xfrm>
            <a:off x="7883019" y="960929"/>
            <a:ext cx="681980" cy="681980"/>
            <a:chOff x="4672898" y="2936570"/>
            <a:chExt cx="877066" cy="877066"/>
          </a:xfrm>
        </p:grpSpPr>
        <p:sp>
          <p:nvSpPr>
            <p:cNvPr id="45" name="椭圆 44"/>
            <p:cNvSpPr>
              <a:spLocks noChangeArrowheads="1"/>
            </p:cNvSpPr>
            <p:nvPr/>
          </p:nvSpPr>
          <p:spPr bwMode="auto">
            <a:xfrm>
              <a:off x="4672898" y="293657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6" name="Picture 5" descr="D:\360data\重要数据\桌面\未标题-4.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45149" y="3095025"/>
              <a:ext cx="532564" cy="51354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7" name="组合 46"/>
          <p:cNvGrpSpPr/>
          <p:nvPr/>
        </p:nvGrpSpPr>
        <p:grpSpPr>
          <a:xfrm>
            <a:off x="8787947" y="960929"/>
            <a:ext cx="681980" cy="681980"/>
            <a:chOff x="6533119" y="2285390"/>
            <a:chExt cx="877066" cy="877066"/>
          </a:xfrm>
        </p:grpSpPr>
        <p:sp>
          <p:nvSpPr>
            <p:cNvPr id="48" name="椭圆 47"/>
            <p:cNvSpPr>
              <a:spLocks noChangeArrowheads="1"/>
            </p:cNvSpPr>
            <p:nvPr/>
          </p:nvSpPr>
          <p:spPr bwMode="auto">
            <a:xfrm>
              <a:off x="6533119" y="228539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49" name="Picture 6" descr="D:\360data\重要数据\桌面\未标题-5.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35358" y="2430447"/>
              <a:ext cx="512614" cy="5869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组合 49"/>
          <p:cNvGrpSpPr/>
          <p:nvPr/>
        </p:nvGrpSpPr>
        <p:grpSpPr>
          <a:xfrm>
            <a:off x="9692875" y="960929"/>
            <a:ext cx="681980" cy="681980"/>
            <a:chOff x="8393340" y="1988840"/>
            <a:chExt cx="877066" cy="877066"/>
          </a:xfrm>
        </p:grpSpPr>
        <p:sp>
          <p:nvSpPr>
            <p:cNvPr id="51" name="椭圆 50"/>
            <p:cNvSpPr>
              <a:spLocks noChangeArrowheads="1"/>
            </p:cNvSpPr>
            <p:nvPr/>
          </p:nvSpPr>
          <p:spPr bwMode="auto">
            <a:xfrm>
              <a:off x="8393340" y="1988840"/>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52" name="Picture 7" descr="D:\360data\重要数据\桌面\未标题-1.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568665" y="2183926"/>
              <a:ext cx="564516" cy="48689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3" name="组合 52"/>
          <p:cNvGrpSpPr/>
          <p:nvPr/>
        </p:nvGrpSpPr>
        <p:grpSpPr>
          <a:xfrm>
            <a:off x="10597802" y="960929"/>
            <a:ext cx="681980" cy="681980"/>
            <a:chOff x="10253559" y="2420888"/>
            <a:chExt cx="877066" cy="877066"/>
          </a:xfrm>
        </p:grpSpPr>
        <p:sp>
          <p:nvSpPr>
            <p:cNvPr id="54" name="椭圆 53"/>
            <p:cNvSpPr>
              <a:spLocks noChangeArrowheads="1"/>
            </p:cNvSpPr>
            <p:nvPr/>
          </p:nvSpPr>
          <p:spPr bwMode="auto">
            <a:xfrm>
              <a:off x="10253559" y="2420888"/>
              <a:ext cx="877066" cy="877066"/>
            </a:xfrm>
            <a:prstGeom prst="ellipse">
              <a:avLst/>
            </a:prstGeom>
            <a:solidFill>
              <a:srgbClr val="414455"/>
            </a:solidFill>
            <a:ln w="76200" cap="sq" cmpd="sng">
              <a:solidFill>
                <a:srgbClr val="C8C6BD"/>
              </a:solid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55" name="Picture 8" descr="D:\360data\重要数据\桌面\未标题-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388676" y="2566876"/>
              <a:ext cx="606832" cy="585090"/>
            </a:xfrm>
            <a:prstGeom prst="rect">
              <a:avLst/>
            </a:prstGeom>
            <a:noFill/>
            <a:extLst>
              <a:ext uri="{909E8E84-426E-40DD-AFC4-6F175D3DCCD1}">
                <a14:hiddenFill xmlns:a14="http://schemas.microsoft.com/office/drawing/2010/main">
                  <a:solidFill>
                    <a:srgbClr val="FFFFFF"/>
                  </a:solidFill>
                </a14:hiddenFill>
              </a:ext>
            </a:extLst>
          </p:spPr>
        </p:pic>
      </p:grpSp>
      <p:sp>
        <p:nvSpPr>
          <p:cNvPr id="7" name="灯片编号占位符 6"/>
          <p:cNvSpPr>
            <a:spLocks noGrp="1"/>
          </p:cNvSpPr>
          <p:nvPr>
            <p:ph type="sldNum" sz="quarter" idx="12"/>
          </p:nvPr>
        </p:nvSpPr>
        <p:spPr/>
        <p:txBody>
          <a:bodyPr/>
          <a:lstStyle/>
          <a:p>
            <a:fld id="{0ABDD927-E55F-4D12-BD2D-8ABE6C912713}" type="slidenum">
              <a:rPr lang="zh-CN" altLang="en-US" smtClean="0"/>
              <a:t>1</a:t>
            </a:fld>
            <a:endParaRPr lang="zh-CN" altLang="en-US"/>
          </a:p>
        </p:txBody>
      </p:sp>
      <p:pic>
        <p:nvPicPr>
          <p:cNvPr id="37890" name="Picture 2" descr="H:\Az-PhD-Work\Thesis\Images\hiding.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808037"/>
            <a:ext cx="3790949" cy="323104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912905" y="62628"/>
            <a:ext cx="1869933" cy="1735223"/>
            <a:chOff x="555139" y="-27384"/>
            <a:chExt cx="2011675" cy="1825235"/>
          </a:xfrm>
        </p:grpSpPr>
        <p:grpSp>
          <p:nvGrpSpPr>
            <p:cNvPr id="57" name="Group 56"/>
            <p:cNvGrpSpPr/>
            <p:nvPr/>
          </p:nvGrpSpPr>
          <p:grpSpPr>
            <a:xfrm>
              <a:off x="555139" y="-27384"/>
              <a:ext cx="2011675" cy="1825235"/>
              <a:chOff x="483130" y="1294"/>
              <a:chExt cx="2011675" cy="1825235"/>
            </a:xfrm>
          </p:grpSpPr>
          <p:sp>
            <p:nvSpPr>
              <p:cNvPr id="58" name="矩形 31"/>
              <p:cNvSpPr/>
              <p:nvPr/>
            </p:nvSpPr>
            <p:spPr>
              <a:xfrm>
                <a:off x="483130" y="1294"/>
                <a:ext cx="2011675" cy="1825235"/>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itchFamily="34" charset="-122"/>
                  <a:ea typeface="微软雅黑" pitchFamily="34" charset="-122"/>
                </a:endParaRPr>
              </a:p>
            </p:txBody>
          </p:sp>
          <p:sp>
            <p:nvSpPr>
              <p:cNvPr id="59" name="Oval 58"/>
              <p:cNvSpPr/>
              <p:nvPr/>
            </p:nvSpPr>
            <p:spPr>
              <a:xfrm>
                <a:off x="624871" y="60422"/>
                <a:ext cx="1728192" cy="170697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0" name="Picture 2" descr="H:\USKT\Lectures\OOP\USKT_Logo.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60662" y="62628"/>
              <a:ext cx="1609725" cy="16097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18786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p:cNvSpPr txBox="1"/>
          <p:nvPr/>
        </p:nvSpPr>
        <p:spPr>
          <a:xfrm>
            <a:off x="622598" y="764704"/>
            <a:ext cx="2593980" cy="646331"/>
          </a:xfrm>
          <a:prstGeom prst="rect">
            <a:avLst/>
          </a:prstGeom>
          <a:noFill/>
        </p:spPr>
        <p:txBody>
          <a:bodyPr wrap="none" rtlCol="0">
            <a:spAutoFit/>
          </a:bodyPr>
          <a:lstStyle/>
          <a:p>
            <a:r>
              <a:rPr lang="en-US" altLang="zh-CN" sz="3600" b="1" dirty="0">
                <a:solidFill>
                  <a:schemeClr val="bg2"/>
                </a:solidFill>
                <a:latin typeface="Lucida Handwriting" panose="03010101010101010101" pitchFamily="66" charset="0"/>
                <a:ea typeface="微软雅黑" pitchFamily="34" charset="-122"/>
              </a:rPr>
              <a:t>Contents:</a:t>
            </a:r>
          </a:p>
        </p:txBody>
      </p:sp>
      <p:sp>
        <p:nvSpPr>
          <p:cNvPr id="7" name="TextBox 6"/>
          <p:cNvSpPr txBox="1"/>
          <p:nvPr/>
        </p:nvSpPr>
        <p:spPr>
          <a:xfrm>
            <a:off x="4078982" y="764704"/>
            <a:ext cx="5472139" cy="3785652"/>
          </a:xfrm>
          <a:prstGeom prst="rect">
            <a:avLst/>
          </a:prstGeom>
          <a:noFill/>
        </p:spPr>
        <p:txBody>
          <a:bodyPr wrap="none" rtlCol="0">
            <a:spAutoFit/>
          </a:bodyPr>
          <a:lstStyle/>
          <a:p>
            <a:pPr marL="342900" indent="-342900">
              <a:lnSpc>
                <a:spcPct val="20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Identity and Access?</a:t>
            </a:r>
          </a:p>
          <a:p>
            <a:pPr marL="342900" indent="-342900">
              <a:lnSpc>
                <a:spcPct val="20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Types of Users</a:t>
            </a:r>
          </a:p>
          <a:p>
            <a:pPr marL="342900" indent="-342900">
              <a:lnSpc>
                <a:spcPct val="20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Types of Identities</a:t>
            </a:r>
          </a:p>
          <a:p>
            <a:pPr marL="342900" indent="-342900">
              <a:lnSpc>
                <a:spcPct val="20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Introduction to IA Management (IAM)</a:t>
            </a:r>
          </a:p>
          <a:p>
            <a:pPr marL="342900" indent="-342900">
              <a:lnSpc>
                <a:spcPct val="20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IAM System Overview</a:t>
            </a:r>
          </a:p>
          <a:p>
            <a:pPr marL="342900" indent="-342900">
              <a:lnSpc>
                <a:spcPct val="200000"/>
              </a:lnSpc>
              <a:buFont typeface="Wingdings" panose="05000000000000000000" pitchFamily="2" charset="2"/>
              <a:buChar char="Ø"/>
            </a:pPr>
            <a:r>
              <a:rPr lang="en-US" altLang="zh-CN" sz="2000" b="1" dirty="0">
                <a:solidFill>
                  <a:schemeClr val="bg2"/>
                </a:solidFill>
                <a:latin typeface="微软雅黑" pitchFamily="34" charset="-122"/>
                <a:ea typeface="微软雅黑" pitchFamily="34" charset="-122"/>
              </a:rPr>
              <a:t>IAM System Options</a:t>
            </a:r>
          </a:p>
        </p:txBody>
      </p:sp>
    </p:spTree>
    <p:extLst>
      <p:ext uri="{BB962C8B-B14F-4D97-AF65-F5344CB8AC3E}">
        <p14:creationId xmlns:p14="http://schemas.microsoft.com/office/powerpoint/2010/main" val="1282546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nvGrpSpPr>
        <p:grpSpPr>
          <a:xfrm>
            <a:off x="5316096" y="1931512"/>
            <a:ext cx="2046054" cy="2046054"/>
            <a:chOff x="952456" y="3218117"/>
            <a:chExt cx="877066" cy="877066"/>
          </a:xfrm>
        </p:grpSpPr>
        <p:sp>
          <p:nvSpPr>
            <p:cNvPr id="36" name="椭圆 50"/>
            <p:cNvSpPr>
              <a:spLocks noChangeArrowheads="1"/>
            </p:cNvSpPr>
            <p:nvPr/>
          </p:nvSpPr>
          <p:spPr bwMode="auto">
            <a:xfrm>
              <a:off x="952456" y="3218117"/>
              <a:ext cx="877066" cy="877066"/>
            </a:xfrm>
            <a:prstGeom prst="ellipse">
              <a:avLst/>
            </a:prstGeom>
            <a:solidFill>
              <a:schemeClr val="bg1"/>
            </a:solidFill>
            <a:ln w="76200" cap="sq" cmpd="sng">
              <a:noFill/>
              <a:round/>
              <a:headEnd/>
              <a:tailEnd/>
            </a:ln>
          </p:spPr>
          <p:txBody>
            <a:bodyPr anchor="ctr"/>
            <a:lstStyle/>
            <a:p>
              <a:pPr algn="ctr"/>
              <a:endParaRPr lang="zh-CN" altLang="zh-CN" sz="2400">
                <a:solidFill>
                  <a:srgbClr val="FFFFFF"/>
                </a:solidFill>
                <a:latin typeface="宋体" panose="02010600030101010101" pitchFamily="2" charset="-122"/>
                <a:sym typeface="宋体" panose="02010600030101010101" pitchFamily="2" charset="-122"/>
              </a:endParaRPr>
            </a:p>
          </p:txBody>
        </p:sp>
        <p:pic>
          <p:nvPicPr>
            <p:cNvPr id="37" name="Picture 3"/>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152086" y="3367890"/>
              <a:ext cx="477805" cy="577521"/>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TextBox 37"/>
          <p:cNvSpPr txBox="1"/>
          <p:nvPr/>
        </p:nvSpPr>
        <p:spPr>
          <a:xfrm>
            <a:off x="4943078" y="4251797"/>
            <a:ext cx="3191899" cy="830997"/>
          </a:xfrm>
          <a:prstGeom prst="rect">
            <a:avLst/>
          </a:prstGeom>
          <a:noFill/>
        </p:spPr>
        <p:txBody>
          <a:bodyPr wrap="none" rtlCol="0">
            <a:spAutoFit/>
          </a:bodyPr>
          <a:lstStyle/>
          <a:p>
            <a:pPr>
              <a:lnSpc>
                <a:spcPct val="200000"/>
              </a:lnSpc>
            </a:pPr>
            <a:r>
              <a:rPr lang="en-US" altLang="zh-CN" sz="2400" b="1" dirty="0">
                <a:solidFill>
                  <a:schemeClr val="bg2"/>
                </a:solidFill>
                <a:latin typeface="微软雅黑" pitchFamily="34" charset="-122"/>
                <a:ea typeface="微软雅黑" pitchFamily="34" charset="-122"/>
              </a:rPr>
              <a:t>Identity and Access</a:t>
            </a:r>
          </a:p>
        </p:txBody>
      </p:sp>
      <p:pic>
        <p:nvPicPr>
          <p:cNvPr id="2050" name="Picture 2" descr="D:\360data\重要数据\桌面\4667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01416" y="1916832"/>
            <a:ext cx="2075414" cy="2075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9095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358902" y="6137331"/>
            <a:ext cx="6264696" cy="134065"/>
          </a:xfrm>
          <a:prstGeom prst="rect">
            <a:avLst/>
          </a:prstGeom>
          <a:pattFill prst="ltUpDiag">
            <a:fgClr>
              <a:srgbClr val="414455"/>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982638" y="973172"/>
            <a:ext cx="10358206" cy="3970318"/>
          </a:xfrm>
          <a:prstGeom prst="rect">
            <a:avLst/>
          </a:prstGeom>
          <a:noFill/>
          <a:ln w="38100">
            <a:solidFill>
              <a:srgbClr val="FF0000"/>
            </a:solidFill>
          </a:ln>
        </p:spPr>
        <p:txBody>
          <a:bodyPr wrap="square" rtlCol="0">
            <a:spAutoFit/>
          </a:bodyPr>
          <a:lstStyle/>
          <a:p>
            <a:pPr>
              <a:lnSpc>
                <a:spcPct val="150000"/>
              </a:lnSpc>
            </a:pPr>
            <a:r>
              <a:rPr lang="en-US" altLang="en-US" sz="2400" dirty="0">
                <a:latin typeface="微软雅黑" pitchFamily="34" charset="-122"/>
                <a:ea typeface="微软雅黑" pitchFamily="34" charset="-122"/>
              </a:rPr>
              <a:t>Identity: Who are you?</a:t>
            </a:r>
          </a:p>
          <a:p>
            <a:pPr>
              <a:lnSpc>
                <a:spcPct val="150000"/>
              </a:lnSpc>
            </a:pPr>
            <a:r>
              <a:rPr lang="en-US" altLang="en-US" sz="2400" dirty="0">
                <a:latin typeface="微软雅黑" pitchFamily="34" charset="-122"/>
                <a:ea typeface="微软雅黑" pitchFamily="34" charset="-122"/>
              </a:rPr>
              <a:t>Access: What you can use in the system</a:t>
            </a:r>
          </a:p>
          <a:p>
            <a:pPr>
              <a:lnSpc>
                <a:spcPct val="150000"/>
              </a:lnSpc>
            </a:pPr>
            <a:endParaRPr lang="en-US" altLang="en-US" sz="2400" dirty="0"/>
          </a:p>
          <a:p>
            <a:pPr marL="342900" indent="-342900">
              <a:lnSpc>
                <a:spcPct val="150000"/>
              </a:lnSpc>
              <a:buFont typeface="Wingdings" panose="05000000000000000000" pitchFamily="2" charset="2"/>
              <a:buChar char="v"/>
            </a:pPr>
            <a:r>
              <a:rPr lang="en-US" altLang="en-US" sz="2400" dirty="0">
                <a:latin typeface="微软雅黑" pitchFamily="34" charset="-122"/>
                <a:ea typeface="微软雅黑" pitchFamily="34" charset="-122"/>
              </a:rPr>
              <a:t>Identity is a role e.g. Father, Mother, Brother, Manager, Admin, User etc.</a:t>
            </a:r>
          </a:p>
          <a:p>
            <a:pPr marL="342900" indent="-342900">
              <a:lnSpc>
                <a:spcPct val="150000"/>
              </a:lnSpc>
              <a:buFont typeface="Wingdings" panose="05000000000000000000" pitchFamily="2" charset="2"/>
              <a:buChar char="v"/>
            </a:pPr>
            <a:r>
              <a:rPr lang="en-US" altLang="en-US" sz="2400" dirty="0">
                <a:latin typeface="微软雅黑" pitchFamily="34" charset="-122"/>
                <a:ea typeface="微软雅黑" pitchFamily="34" charset="-122"/>
              </a:rPr>
              <a:t>What you can see or do with the system e.g. read, write, delete etc.</a:t>
            </a:r>
          </a:p>
          <a:p>
            <a:pPr marL="342900" indent="-342900">
              <a:lnSpc>
                <a:spcPct val="150000"/>
              </a:lnSpc>
              <a:buFont typeface="Wingdings" panose="05000000000000000000" pitchFamily="2" charset="2"/>
              <a:buChar char="v"/>
            </a:pPr>
            <a:r>
              <a:rPr lang="en-US" altLang="en-US" sz="2400" dirty="0">
                <a:latin typeface="微软雅黑" pitchFamily="34" charset="-122"/>
                <a:ea typeface="微软雅黑" pitchFamily="34" charset="-122"/>
              </a:rPr>
              <a:t>However, product or company don’t care about it</a:t>
            </a:r>
          </a:p>
        </p:txBody>
      </p:sp>
      <p:sp>
        <p:nvSpPr>
          <p:cNvPr id="29" name="灯片编号占位符 28"/>
          <p:cNvSpPr>
            <a:spLocks noGrp="1"/>
          </p:cNvSpPr>
          <p:nvPr>
            <p:ph type="sldNum" sz="quarter" idx="12"/>
          </p:nvPr>
        </p:nvSpPr>
        <p:spPr/>
        <p:txBody>
          <a:bodyPr/>
          <a:lstStyle/>
          <a:p>
            <a:fld id="{0ABDD927-E55F-4D12-BD2D-8ABE6C912713}" type="slidenum">
              <a:rPr lang="zh-CN" altLang="en-US" smtClean="0"/>
              <a:t>4</a:t>
            </a:fld>
            <a:endParaRPr lang="zh-CN" altLang="en-US"/>
          </a:p>
        </p:txBody>
      </p:sp>
    </p:spTree>
    <p:extLst>
      <p:ext uri="{BB962C8B-B14F-4D97-AF65-F5344CB8AC3E}">
        <p14:creationId xmlns:p14="http://schemas.microsoft.com/office/powerpoint/2010/main" val="2045317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17"/>
          <p:cNvSpPr/>
          <p:nvPr/>
        </p:nvSpPr>
        <p:spPr>
          <a:xfrm>
            <a:off x="3286894" y="2708920"/>
            <a:ext cx="5976664" cy="560669"/>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latin typeface="微软雅黑" pitchFamily="34" charset="-122"/>
                <a:ea typeface="微软雅黑" pitchFamily="34" charset="-122"/>
              </a:rPr>
              <a:t>Types of User</a:t>
            </a:r>
            <a:endParaRPr lang="zh-CN" altLang="en-US" sz="3200" b="1" dirty="0">
              <a:latin typeface="微软雅黑" pitchFamily="34" charset="-122"/>
              <a:ea typeface="微软雅黑" pitchFamily="34" charset="-122"/>
            </a:endParaRPr>
          </a:p>
        </p:txBody>
      </p:sp>
    </p:spTree>
    <p:extLst>
      <p:ext uri="{BB962C8B-B14F-4D97-AF65-F5344CB8AC3E}">
        <p14:creationId xmlns:p14="http://schemas.microsoft.com/office/powerpoint/2010/main" val="2632589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0"/>
            <a:ext cx="10534713" cy="5512679"/>
            <a:chOff x="3502918" y="1124744"/>
            <a:chExt cx="6361113" cy="4213306"/>
          </a:xfrm>
        </p:grpSpPr>
        <p:sp>
          <p:nvSpPr>
            <p:cNvPr id="66" name="矩形 65"/>
            <p:cNvSpPr/>
            <p:nvPr/>
          </p:nvSpPr>
          <p:spPr>
            <a:xfrm>
              <a:off x="3502918" y="1338469"/>
              <a:ext cx="6361113" cy="399958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4334768" y="1124744"/>
              <a:ext cx="4686300" cy="46355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itchFamily="34" charset="-122"/>
                  <a:ea typeface="微软雅黑" pitchFamily="34" charset="-122"/>
                </a:rPr>
                <a:t>Types of Users</a:t>
              </a:r>
              <a:endParaRPr lang="zh-CN" altLang="en-US" sz="20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6</a:t>
            </a:fld>
            <a:endParaRPr lang="zh-CN" altLang="en-US" dirty="0"/>
          </a:p>
        </p:txBody>
      </p:sp>
      <p:sp>
        <p:nvSpPr>
          <p:cNvPr id="5" name="Rectangle 4"/>
          <p:cNvSpPr/>
          <p:nvPr/>
        </p:nvSpPr>
        <p:spPr>
          <a:xfrm>
            <a:off x="601053" y="1109057"/>
            <a:ext cx="10534713" cy="5632311"/>
          </a:xfrm>
          <a:prstGeom prst="rect">
            <a:avLst/>
          </a:prstGeom>
        </p:spPr>
        <p:txBody>
          <a:bodyPr wrap="square">
            <a:spAutoFit/>
          </a:bodyPr>
          <a:lstStyle/>
          <a:p>
            <a:pPr marL="342900" indent="-342900" algn="just">
              <a:lnSpc>
                <a:spcPct val="150000"/>
              </a:lnSpc>
              <a:buFont typeface="Wingdings" pitchFamily="2" charset="2"/>
              <a:buChar char="v"/>
            </a:pPr>
            <a:r>
              <a:rPr lang="en-US" sz="2000" dirty="0"/>
              <a:t>Across any organization there will be a variety of business roles that have different demands from the IT service due to the way they interact with different systems, handle data, travel, and use their identity to authorize transactions on behalf of the business, partners, and their customers.</a:t>
            </a:r>
          </a:p>
          <a:p>
            <a:pPr marL="342900" indent="-342900" algn="just">
              <a:lnSpc>
                <a:spcPct val="150000"/>
              </a:lnSpc>
              <a:buFont typeface="Wingdings" pitchFamily="2" charset="2"/>
              <a:buChar char="v"/>
            </a:pPr>
            <a:r>
              <a:rPr lang="en-US" sz="2000" dirty="0"/>
              <a:t>Following are the user types and roles</a:t>
            </a:r>
          </a:p>
          <a:p>
            <a:pPr marL="342900" indent="-342900" algn="just">
              <a:lnSpc>
                <a:spcPct val="150000"/>
              </a:lnSpc>
              <a:buFont typeface="Wingdings" pitchFamily="2" charset="2"/>
              <a:buChar char="v"/>
            </a:pPr>
            <a:r>
              <a:rPr lang="en-US" sz="2000" b="1" dirty="0"/>
              <a:t>Internal :</a:t>
            </a:r>
            <a:r>
              <a:rPr lang="en-US" sz="2000" dirty="0"/>
              <a:t> Highly trusted people with delegated access</a:t>
            </a:r>
          </a:p>
          <a:p>
            <a:pPr lvl="1" algn="just">
              <a:lnSpc>
                <a:spcPct val="150000"/>
              </a:lnSpc>
            </a:pPr>
            <a:r>
              <a:rPr lang="en-US" sz="2000" dirty="0"/>
              <a:t>• Executives, managers, and knowledge workers that rely on IT systems for the majority of their work </a:t>
            </a:r>
          </a:p>
          <a:p>
            <a:pPr lvl="1" algn="just">
              <a:lnSpc>
                <a:spcPct val="150000"/>
              </a:lnSpc>
            </a:pPr>
            <a:r>
              <a:rPr lang="en-US" sz="2000" dirty="0"/>
              <a:t>• IT systems administrators, security, and compliance personnel implementing and maintaining the IT systems </a:t>
            </a:r>
          </a:p>
          <a:p>
            <a:pPr lvl="1" algn="just">
              <a:lnSpc>
                <a:spcPct val="150000"/>
              </a:lnSpc>
            </a:pPr>
            <a:r>
              <a:rPr lang="en-US" sz="2000" dirty="0"/>
              <a:t>• Frontline workforce interacting with technology as part of their work; may not have dedicated devices</a:t>
            </a:r>
          </a:p>
        </p:txBody>
      </p:sp>
    </p:spTree>
    <p:extLst>
      <p:ext uri="{BB962C8B-B14F-4D97-AF65-F5344CB8AC3E}">
        <p14:creationId xmlns:p14="http://schemas.microsoft.com/office/powerpoint/2010/main" val="3916982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08610"/>
            <a:ext cx="10534713" cy="5512679"/>
            <a:chOff x="3502918" y="1124744"/>
            <a:chExt cx="6361113" cy="4213306"/>
          </a:xfrm>
        </p:grpSpPr>
        <p:sp>
          <p:nvSpPr>
            <p:cNvPr id="66" name="矩形 65"/>
            <p:cNvSpPr/>
            <p:nvPr/>
          </p:nvSpPr>
          <p:spPr>
            <a:xfrm>
              <a:off x="3502918" y="1338469"/>
              <a:ext cx="6361113" cy="399958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4334768" y="1124744"/>
              <a:ext cx="4686300" cy="46355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itchFamily="34" charset="-122"/>
                  <a:ea typeface="微软雅黑" pitchFamily="34" charset="-122"/>
                </a:rPr>
                <a:t>Types of Users</a:t>
              </a:r>
              <a:endParaRPr lang="zh-CN" altLang="en-US" sz="20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7</a:t>
            </a:fld>
            <a:endParaRPr lang="zh-CN" altLang="en-US" dirty="0"/>
          </a:p>
        </p:txBody>
      </p:sp>
      <p:sp>
        <p:nvSpPr>
          <p:cNvPr id="5" name="Rectangle 4"/>
          <p:cNvSpPr/>
          <p:nvPr/>
        </p:nvSpPr>
        <p:spPr>
          <a:xfrm>
            <a:off x="1054646" y="1340768"/>
            <a:ext cx="9577064" cy="4247317"/>
          </a:xfrm>
          <a:prstGeom prst="rect">
            <a:avLst/>
          </a:prstGeom>
        </p:spPr>
        <p:txBody>
          <a:bodyPr wrap="square">
            <a:spAutoFit/>
          </a:bodyPr>
          <a:lstStyle/>
          <a:p>
            <a:pPr marL="342900" indent="-342900" algn="just">
              <a:lnSpc>
                <a:spcPct val="150000"/>
              </a:lnSpc>
              <a:buFont typeface="Wingdings" pitchFamily="2" charset="2"/>
              <a:buChar char="v"/>
            </a:pPr>
            <a:r>
              <a:rPr lang="en-US" sz="2000" b="1" dirty="0"/>
              <a:t>External : </a:t>
            </a:r>
            <a:r>
              <a:rPr lang="en-US" sz="2000" dirty="0"/>
              <a:t>Trusted business partners and guest user access</a:t>
            </a:r>
          </a:p>
          <a:p>
            <a:pPr algn="just">
              <a:lnSpc>
                <a:spcPct val="150000"/>
              </a:lnSpc>
            </a:pPr>
            <a:r>
              <a:rPr lang="en-US" sz="2000" dirty="0"/>
              <a:t>	• Consultants, contractors, 3rd party business services adding value to the 	company but are not employees </a:t>
            </a:r>
          </a:p>
          <a:p>
            <a:pPr algn="just">
              <a:lnSpc>
                <a:spcPct val="150000"/>
              </a:lnSpc>
            </a:pPr>
            <a:r>
              <a:rPr lang="en-US" sz="2000" dirty="0"/>
              <a:t>	• Temporary and guest user access to company IT systems during visits such as 	meetings </a:t>
            </a:r>
          </a:p>
          <a:p>
            <a:pPr algn="just">
              <a:lnSpc>
                <a:spcPct val="150000"/>
              </a:lnSpc>
            </a:pPr>
            <a:r>
              <a:rPr lang="en-US" sz="2000" dirty="0"/>
              <a:t>	• Likely to use their own equipment and identities</a:t>
            </a:r>
          </a:p>
          <a:p>
            <a:pPr marL="342900" indent="-342900" algn="just">
              <a:lnSpc>
                <a:spcPct val="150000"/>
              </a:lnSpc>
              <a:buFont typeface="Wingdings" pitchFamily="2" charset="2"/>
              <a:buChar char="v"/>
            </a:pPr>
            <a:r>
              <a:rPr lang="en-US" sz="2000" b="1" dirty="0"/>
              <a:t>Customer :</a:t>
            </a:r>
            <a:r>
              <a:rPr lang="en-US" sz="2000" dirty="0"/>
              <a:t> Customers that require access to your services</a:t>
            </a:r>
          </a:p>
          <a:p>
            <a:pPr algn="just">
              <a:lnSpc>
                <a:spcPct val="150000"/>
              </a:lnSpc>
            </a:pPr>
            <a:r>
              <a:rPr lang="en-US" sz="2000" dirty="0"/>
              <a:t>	• Consumers of systems and information published externally </a:t>
            </a:r>
          </a:p>
          <a:p>
            <a:pPr algn="just">
              <a:lnSpc>
                <a:spcPct val="150000"/>
              </a:lnSpc>
            </a:pPr>
            <a:r>
              <a:rPr lang="en-US" sz="2000" dirty="0"/>
              <a:t>	• May be provided at no cost or paying a subscription for premium services</a:t>
            </a:r>
          </a:p>
        </p:txBody>
      </p:sp>
    </p:spTree>
    <p:extLst>
      <p:ext uri="{BB962C8B-B14F-4D97-AF65-F5344CB8AC3E}">
        <p14:creationId xmlns:p14="http://schemas.microsoft.com/office/powerpoint/2010/main" val="3888142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17"/>
          <p:cNvSpPr/>
          <p:nvPr/>
        </p:nvSpPr>
        <p:spPr>
          <a:xfrm>
            <a:off x="3286894" y="2708920"/>
            <a:ext cx="5976664" cy="560669"/>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latin typeface="微软雅黑" pitchFamily="34" charset="-122"/>
                <a:ea typeface="微软雅黑" pitchFamily="34" charset="-122"/>
              </a:rPr>
              <a:t>Types of Identities</a:t>
            </a:r>
            <a:endParaRPr lang="zh-CN" altLang="en-US" sz="3200" b="1" dirty="0">
              <a:latin typeface="微软雅黑" pitchFamily="34" charset="-122"/>
              <a:ea typeface="微软雅黑" pitchFamily="34" charset="-122"/>
            </a:endParaRPr>
          </a:p>
        </p:txBody>
      </p:sp>
    </p:spTree>
    <p:extLst>
      <p:ext uri="{BB962C8B-B14F-4D97-AF65-F5344CB8AC3E}">
        <p14:creationId xmlns:p14="http://schemas.microsoft.com/office/powerpoint/2010/main" val="2834601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4" name="Group 3"/>
          <p:cNvGrpSpPr/>
          <p:nvPr/>
        </p:nvGrpSpPr>
        <p:grpSpPr>
          <a:xfrm>
            <a:off x="601053" y="508610"/>
            <a:ext cx="10534713" cy="5880116"/>
            <a:chOff x="3502918" y="1124744"/>
            <a:chExt cx="6361113" cy="4213306"/>
          </a:xfrm>
        </p:grpSpPr>
        <p:grpSp>
          <p:nvGrpSpPr>
            <p:cNvPr id="3" name="Group 2"/>
            <p:cNvGrpSpPr/>
            <p:nvPr/>
          </p:nvGrpSpPr>
          <p:grpSpPr>
            <a:xfrm>
              <a:off x="3502918" y="1124744"/>
              <a:ext cx="6361113" cy="4213306"/>
              <a:chOff x="3502918" y="1124744"/>
              <a:chExt cx="6361113" cy="4213306"/>
            </a:xfrm>
          </p:grpSpPr>
          <p:sp>
            <p:nvSpPr>
              <p:cNvPr id="66" name="矩形 65"/>
              <p:cNvSpPr/>
              <p:nvPr/>
            </p:nvSpPr>
            <p:spPr>
              <a:xfrm>
                <a:off x="3502918" y="1338469"/>
                <a:ext cx="6361113" cy="399958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4334768" y="1124744"/>
                <a:ext cx="4686300" cy="46355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itchFamily="34" charset="-122"/>
                    <a:ea typeface="微软雅黑" pitchFamily="34" charset="-122"/>
                  </a:rPr>
                  <a:t>Identities Types</a:t>
                </a:r>
                <a:endParaRPr lang="zh-CN" altLang="en-US" sz="2000" b="1" dirty="0">
                  <a:latin typeface="微软雅黑" pitchFamily="34" charset="-122"/>
                  <a:ea typeface="微软雅黑" pitchFamily="34" charset="-122"/>
                </a:endParaRPr>
              </a:p>
            </p:txBody>
          </p:sp>
        </p:grpSp>
        <p:sp>
          <p:nvSpPr>
            <p:cNvPr id="84" name="TextBox 83"/>
            <p:cNvSpPr txBox="1"/>
            <p:nvPr/>
          </p:nvSpPr>
          <p:spPr>
            <a:xfrm>
              <a:off x="3502918" y="1721014"/>
              <a:ext cx="6293923" cy="328823"/>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en-US" dirty="0">
                  <a:latin typeface="微软雅黑" pitchFamily="34" charset="-122"/>
                  <a:ea typeface="微软雅黑" pitchFamily="34" charset="-122"/>
                </a:rPr>
                <a:t>The following list provides a high-level separation of identities to enable simple reference. </a:t>
              </a: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9</a:t>
            </a:fld>
            <a:endParaRPr lang="zh-CN" altLang="en-US" dirty="0"/>
          </a:p>
        </p:txBody>
      </p:sp>
      <p:sp>
        <p:nvSpPr>
          <p:cNvPr id="7" name="Rectangle 6"/>
          <p:cNvSpPr/>
          <p:nvPr/>
        </p:nvSpPr>
        <p:spPr>
          <a:xfrm>
            <a:off x="601053" y="1880221"/>
            <a:ext cx="10318689" cy="1754326"/>
          </a:xfrm>
          <a:prstGeom prst="rect">
            <a:avLst/>
          </a:prstGeom>
        </p:spPr>
        <p:txBody>
          <a:bodyPr wrap="square">
            <a:spAutoFit/>
          </a:bodyPr>
          <a:lstStyle/>
          <a:p>
            <a:pPr algn="just">
              <a:lnSpc>
                <a:spcPct val="150000"/>
              </a:lnSpc>
            </a:pPr>
            <a:r>
              <a:rPr lang="en-US" b="1" dirty="0">
                <a:latin typeface="Microsoft YaHei" pitchFamily="34" charset="-122"/>
                <a:ea typeface="Microsoft YaHei" pitchFamily="34" charset="-122"/>
              </a:rPr>
              <a:t>Local identities: </a:t>
            </a:r>
            <a:r>
              <a:rPr lang="en-US" dirty="0">
                <a:latin typeface="Microsoft YaHei" pitchFamily="34" charset="-122"/>
                <a:ea typeface="Microsoft YaHei" pitchFamily="34" charset="-122"/>
              </a:rPr>
              <a:t>These accounts are specific to the individual systems, such as Windows®, Mac®, and Linux® operating systems; any device that comes with a default set of credentials, as well as any applications that are not integrated with network or cloud identity services.</a:t>
            </a:r>
          </a:p>
        </p:txBody>
      </p:sp>
      <p:sp>
        <p:nvSpPr>
          <p:cNvPr id="9" name="Rectangle 8"/>
          <p:cNvSpPr/>
          <p:nvPr/>
        </p:nvSpPr>
        <p:spPr>
          <a:xfrm>
            <a:off x="601053" y="3597956"/>
            <a:ext cx="10174673" cy="1338828"/>
          </a:xfrm>
          <a:prstGeom prst="rect">
            <a:avLst/>
          </a:prstGeom>
        </p:spPr>
        <p:txBody>
          <a:bodyPr wrap="square">
            <a:spAutoFit/>
          </a:bodyPr>
          <a:lstStyle/>
          <a:p>
            <a:pPr algn="just">
              <a:lnSpc>
                <a:spcPct val="150000"/>
              </a:lnSpc>
            </a:pPr>
            <a:r>
              <a:rPr lang="en-US" b="1" dirty="0">
                <a:latin typeface="Microsoft YaHei" pitchFamily="34" charset="-122"/>
                <a:ea typeface="Microsoft YaHei" pitchFamily="34" charset="-122"/>
              </a:rPr>
              <a:t>Network identities: </a:t>
            </a:r>
            <a:r>
              <a:rPr lang="en-US" dirty="0">
                <a:latin typeface="Microsoft YaHei" pitchFamily="34" charset="-122"/>
                <a:ea typeface="Microsoft YaHei" pitchFamily="34" charset="-122"/>
              </a:rPr>
              <a:t>The most prevalent solution for network identities is Microsoft® Active Directory® (AD). Many network systems can utilize this service to register their services and trust identities that are represented.</a:t>
            </a:r>
          </a:p>
        </p:txBody>
      </p:sp>
      <p:sp>
        <p:nvSpPr>
          <p:cNvPr id="10" name="Rectangle 9"/>
          <p:cNvSpPr/>
          <p:nvPr/>
        </p:nvSpPr>
        <p:spPr>
          <a:xfrm>
            <a:off x="604200" y="4936784"/>
            <a:ext cx="10531566" cy="1754326"/>
          </a:xfrm>
          <a:prstGeom prst="rect">
            <a:avLst/>
          </a:prstGeom>
        </p:spPr>
        <p:txBody>
          <a:bodyPr wrap="square">
            <a:spAutoFit/>
          </a:bodyPr>
          <a:lstStyle/>
          <a:p>
            <a:pPr algn="justLow">
              <a:lnSpc>
                <a:spcPct val="150000"/>
              </a:lnSpc>
            </a:pPr>
            <a:r>
              <a:rPr lang="en-US" b="1" dirty="0">
                <a:latin typeface="Microsoft YaHei" pitchFamily="34" charset="-122"/>
                <a:ea typeface="Microsoft YaHei" pitchFamily="34" charset="-122"/>
              </a:rPr>
              <a:t>Cloud identities: </a:t>
            </a:r>
            <a:r>
              <a:rPr lang="en-US" dirty="0">
                <a:latin typeface="Microsoft YaHei" pitchFamily="34" charset="-122"/>
                <a:ea typeface="Microsoft YaHei" pitchFamily="34" charset="-122"/>
              </a:rPr>
              <a:t>With the popular adoption of cloud-based productivity services, most organizations now maintain one or more solutions that utilize cloud identities. For organizations using Microsoft Office 365®, their cloud identities are in Azure® Active Directory (Azure AD), a natural extension of AD.</a:t>
            </a:r>
          </a:p>
        </p:txBody>
      </p:sp>
    </p:spTree>
    <p:extLst>
      <p:ext uri="{BB962C8B-B14F-4D97-AF65-F5344CB8AC3E}">
        <p14:creationId xmlns:p14="http://schemas.microsoft.com/office/powerpoint/2010/main" val="380836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17"/>
          <p:cNvSpPr/>
          <p:nvPr/>
        </p:nvSpPr>
        <p:spPr>
          <a:xfrm>
            <a:off x="3286894" y="2708920"/>
            <a:ext cx="5976664" cy="560669"/>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latin typeface="微软雅黑" pitchFamily="34" charset="-122"/>
                <a:ea typeface="微软雅黑" pitchFamily="34" charset="-122"/>
              </a:rPr>
              <a:t>IAM Concepts</a:t>
            </a:r>
          </a:p>
        </p:txBody>
      </p:sp>
    </p:spTree>
    <p:extLst>
      <p:ext uri="{BB962C8B-B14F-4D97-AF65-F5344CB8AC3E}">
        <p14:creationId xmlns:p14="http://schemas.microsoft.com/office/powerpoint/2010/main" val="177248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73219"/>
            <a:ext cx="10534713" cy="5880117"/>
            <a:chOff x="3502918" y="1124744"/>
            <a:chExt cx="6361113" cy="4213306"/>
          </a:xfrm>
        </p:grpSpPr>
        <p:sp>
          <p:nvSpPr>
            <p:cNvPr id="66" name="矩形 65"/>
            <p:cNvSpPr/>
            <p:nvPr/>
          </p:nvSpPr>
          <p:spPr>
            <a:xfrm>
              <a:off x="3502918" y="1338469"/>
              <a:ext cx="6361113" cy="399958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4334768" y="1124744"/>
              <a:ext cx="4686300" cy="46355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itchFamily="34" charset="-122"/>
                  <a:ea typeface="微软雅黑" pitchFamily="34" charset="-122"/>
                </a:rPr>
                <a:t>IAM Concepts</a:t>
              </a:r>
              <a:endParaRPr lang="zh-CN" altLang="en-US" sz="20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11</a:t>
            </a:fld>
            <a:endParaRPr lang="zh-CN" altLang="en-US" dirty="0"/>
          </a:p>
        </p:txBody>
      </p:sp>
      <p:sp>
        <p:nvSpPr>
          <p:cNvPr id="5" name="Rectangle 4"/>
          <p:cNvSpPr/>
          <p:nvPr/>
        </p:nvSpPr>
        <p:spPr>
          <a:xfrm>
            <a:off x="719837" y="1382087"/>
            <a:ext cx="10297144" cy="923330"/>
          </a:xfrm>
          <a:prstGeom prst="rect">
            <a:avLst/>
          </a:prstGeom>
        </p:spPr>
        <p:txBody>
          <a:bodyPr wrap="square">
            <a:spAutoFit/>
          </a:bodyPr>
          <a:lstStyle/>
          <a:p>
            <a:r>
              <a:rPr lang="en-US" dirty="0">
                <a:latin typeface="Microsoft YaHei" pitchFamily="34" charset="-122"/>
                <a:ea typeface="Microsoft YaHei" pitchFamily="34" charset="-122"/>
              </a:rPr>
              <a:t>There are several concepts that come up in every IAM design, each with their own approach and merit. </a:t>
            </a:r>
          </a:p>
          <a:p>
            <a:endParaRPr lang="en-US" dirty="0">
              <a:latin typeface="Microsoft YaHei" pitchFamily="34" charset="-122"/>
              <a:ea typeface="Microsoft YaHei" pitchFamily="34" charset="-122"/>
            </a:endParaRPr>
          </a:p>
        </p:txBody>
      </p:sp>
      <p:sp>
        <p:nvSpPr>
          <p:cNvPr id="6" name="Rectangle 5"/>
          <p:cNvSpPr/>
          <p:nvPr/>
        </p:nvSpPr>
        <p:spPr>
          <a:xfrm>
            <a:off x="726932" y="2172920"/>
            <a:ext cx="10415928" cy="3416320"/>
          </a:xfrm>
          <a:prstGeom prst="rect">
            <a:avLst/>
          </a:prstGeom>
        </p:spPr>
        <p:txBody>
          <a:bodyPr wrap="square">
            <a:spAutoFit/>
          </a:bodyPr>
          <a:lstStyle/>
          <a:p>
            <a:pPr algn="just">
              <a:lnSpc>
                <a:spcPct val="150000"/>
              </a:lnSpc>
            </a:pPr>
            <a:r>
              <a:rPr lang="en-US" b="1" dirty="0">
                <a:latin typeface="Microsoft YaHei" pitchFamily="34" charset="-122"/>
                <a:ea typeface="Microsoft YaHei" pitchFamily="34" charset="-122"/>
              </a:rPr>
              <a:t>Least Privilege: </a:t>
            </a:r>
            <a:r>
              <a:rPr lang="en-US" dirty="0">
                <a:latin typeface="Microsoft YaHei" pitchFamily="34" charset="-122"/>
                <a:ea typeface="Microsoft YaHei" pitchFamily="34" charset="-122"/>
              </a:rPr>
              <a:t>This guidance ensures individuals only have the level of access they require to carry out the specific duties needed; permissions should be reviewed regularly. </a:t>
            </a:r>
          </a:p>
          <a:p>
            <a:pPr algn="just">
              <a:lnSpc>
                <a:spcPct val="150000"/>
              </a:lnSpc>
            </a:pPr>
            <a:r>
              <a:rPr lang="en-US" b="1" dirty="0">
                <a:latin typeface="Microsoft YaHei" pitchFamily="34" charset="-122"/>
                <a:ea typeface="Microsoft YaHei" pitchFamily="34" charset="-122"/>
              </a:rPr>
              <a:t>Role Based Access Control: </a:t>
            </a:r>
            <a:r>
              <a:rPr lang="en-US" dirty="0">
                <a:latin typeface="Microsoft YaHei" pitchFamily="34" charset="-122"/>
                <a:ea typeface="Microsoft YaHei" pitchFamily="34" charset="-122"/>
              </a:rPr>
              <a:t>If you can define “roles,” you can assign controls and permissions to your identities based on those roles instead of each one having individual policies and other settings. </a:t>
            </a:r>
          </a:p>
          <a:p>
            <a:pPr algn="just">
              <a:lnSpc>
                <a:spcPct val="150000"/>
              </a:lnSpc>
            </a:pPr>
            <a:r>
              <a:rPr lang="en-US" b="1" dirty="0">
                <a:latin typeface="Microsoft YaHei" pitchFamily="34" charset="-122"/>
                <a:ea typeface="Microsoft YaHei" pitchFamily="34" charset="-122"/>
              </a:rPr>
              <a:t>Just in Time Provisioning : </a:t>
            </a:r>
            <a:r>
              <a:rPr lang="en-US" dirty="0">
                <a:latin typeface="Microsoft YaHei" pitchFamily="34" charset="-122"/>
                <a:ea typeface="Microsoft YaHei" pitchFamily="34" charset="-122"/>
              </a:rPr>
              <a:t>Building upon the previous items above, when a role is assigned the rights to privileged access, this access is granted on demand and revoked automatically instead of being available at all times. </a:t>
            </a:r>
          </a:p>
        </p:txBody>
      </p:sp>
    </p:spTree>
    <p:extLst>
      <p:ext uri="{BB962C8B-B14F-4D97-AF65-F5344CB8AC3E}">
        <p14:creationId xmlns:p14="http://schemas.microsoft.com/office/powerpoint/2010/main" val="1805699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73219"/>
            <a:ext cx="10534713" cy="5880117"/>
            <a:chOff x="3502918" y="1124744"/>
            <a:chExt cx="6361113" cy="4213306"/>
          </a:xfrm>
        </p:grpSpPr>
        <p:sp>
          <p:nvSpPr>
            <p:cNvPr id="66" name="矩形 65"/>
            <p:cNvSpPr/>
            <p:nvPr/>
          </p:nvSpPr>
          <p:spPr>
            <a:xfrm>
              <a:off x="3502918" y="1338469"/>
              <a:ext cx="6361113" cy="399958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4334768" y="1124744"/>
              <a:ext cx="4686300" cy="46355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itchFamily="34" charset="-122"/>
                  <a:ea typeface="微软雅黑" pitchFamily="34" charset="-122"/>
                </a:rPr>
                <a:t>IAM Concepts</a:t>
              </a:r>
              <a:endParaRPr lang="zh-CN" altLang="en-US" sz="20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12</a:t>
            </a:fld>
            <a:endParaRPr lang="zh-CN" altLang="en-US" dirty="0"/>
          </a:p>
        </p:txBody>
      </p:sp>
      <p:sp>
        <p:nvSpPr>
          <p:cNvPr id="5" name="Rectangle 4"/>
          <p:cNvSpPr/>
          <p:nvPr/>
        </p:nvSpPr>
        <p:spPr>
          <a:xfrm>
            <a:off x="719837" y="1382087"/>
            <a:ext cx="10297144" cy="923330"/>
          </a:xfrm>
          <a:prstGeom prst="rect">
            <a:avLst/>
          </a:prstGeom>
        </p:spPr>
        <p:txBody>
          <a:bodyPr wrap="square">
            <a:spAutoFit/>
          </a:bodyPr>
          <a:lstStyle/>
          <a:p>
            <a:r>
              <a:rPr lang="en-US" dirty="0">
                <a:latin typeface="Microsoft YaHei" pitchFamily="34" charset="-122"/>
                <a:ea typeface="Microsoft YaHei" pitchFamily="34" charset="-122"/>
              </a:rPr>
              <a:t>There are several concepts that come up in every IAM design, each with their own approach and merit. </a:t>
            </a:r>
          </a:p>
          <a:p>
            <a:endParaRPr lang="en-US" dirty="0">
              <a:latin typeface="Microsoft YaHei" pitchFamily="34" charset="-122"/>
              <a:ea typeface="Microsoft YaHei" pitchFamily="34" charset="-122"/>
            </a:endParaRPr>
          </a:p>
        </p:txBody>
      </p:sp>
      <p:sp>
        <p:nvSpPr>
          <p:cNvPr id="6" name="Rectangle 5"/>
          <p:cNvSpPr/>
          <p:nvPr/>
        </p:nvSpPr>
        <p:spPr>
          <a:xfrm>
            <a:off x="726932" y="2305417"/>
            <a:ext cx="10415928" cy="3416320"/>
          </a:xfrm>
          <a:prstGeom prst="rect">
            <a:avLst/>
          </a:prstGeom>
        </p:spPr>
        <p:txBody>
          <a:bodyPr wrap="square">
            <a:spAutoFit/>
          </a:bodyPr>
          <a:lstStyle/>
          <a:p>
            <a:pPr algn="just">
              <a:lnSpc>
                <a:spcPct val="150000"/>
              </a:lnSpc>
            </a:pPr>
            <a:r>
              <a:rPr lang="en-US" b="1" dirty="0">
                <a:latin typeface="Microsoft YaHei" pitchFamily="34" charset="-122"/>
                <a:ea typeface="Microsoft YaHei" pitchFamily="34" charset="-122"/>
              </a:rPr>
              <a:t>Defense in Depth: </a:t>
            </a:r>
            <a:r>
              <a:rPr lang="en-US" dirty="0">
                <a:latin typeface="Microsoft YaHei" pitchFamily="34" charset="-122"/>
                <a:ea typeface="Microsoft YaHei" pitchFamily="34" charset="-122"/>
              </a:rPr>
              <a:t>An approach that is not only geared toward identity, but to securing your IT assets. This should include people, process, and every layer of the technology stack. </a:t>
            </a:r>
          </a:p>
          <a:p>
            <a:pPr algn="just">
              <a:lnSpc>
                <a:spcPct val="150000"/>
              </a:lnSpc>
            </a:pPr>
            <a:r>
              <a:rPr lang="en-US" b="1" dirty="0">
                <a:latin typeface="Microsoft YaHei" pitchFamily="34" charset="-122"/>
                <a:ea typeface="Microsoft YaHei" pitchFamily="34" charset="-122"/>
              </a:rPr>
              <a:t>Zero Trust : </a:t>
            </a:r>
            <a:r>
              <a:rPr lang="en-US" dirty="0">
                <a:latin typeface="Microsoft YaHei" pitchFamily="34" charset="-122"/>
                <a:ea typeface="Microsoft YaHei" pitchFamily="34" charset="-122"/>
              </a:rPr>
              <a:t>The ultimate approach to security is to verify access requests at every stage of the journey, increasing the controls based on the user behavior and sensitivity of the system/data being accessed. </a:t>
            </a:r>
          </a:p>
          <a:p>
            <a:pPr algn="just">
              <a:lnSpc>
                <a:spcPct val="150000"/>
              </a:lnSpc>
            </a:pPr>
            <a:r>
              <a:rPr lang="en-US" b="1" dirty="0" err="1">
                <a:latin typeface="Microsoft YaHei" pitchFamily="34" charset="-122"/>
                <a:ea typeface="Microsoft YaHei" pitchFamily="34" charset="-122"/>
              </a:rPr>
              <a:t>Passwordless</a:t>
            </a:r>
            <a:r>
              <a:rPr lang="en-US" b="1" dirty="0">
                <a:latin typeface="Microsoft YaHei" pitchFamily="34" charset="-122"/>
                <a:ea typeface="Microsoft YaHei" pitchFamily="34" charset="-122"/>
              </a:rPr>
              <a:t> Authentication : </a:t>
            </a:r>
            <a:r>
              <a:rPr lang="en-US" dirty="0">
                <a:latin typeface="Microsoft YaHei" pitchFamily="34" charset="-122"/>
                <a:ea typeface="Microsoft YaHei" pitchFamily="34" charset="-122"/>
              </a:rPr>
              <a:t>This is the removal of passwords from the authentication service. Due to the inherent vulnerabilities of passwords, and the cost to manage them, invest in alternatives such as certificates and biometrics. </a:t>
            </a:r>
          </a:p>
        </p:txBody>
      </p:sp>
    </p:spTree>
    <p:extLst>
      <p:ext uri="{BB962C8B-B14F-4D97-AF65-F5344CB8AC3E}">
        <p14:creationId xmlns:p14="http://schemas.microsoft.com/office/powerpoint/2010/main" val="18505596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17"/>
          <p:cNvSpPr/>
          <p:nvPr/>
        </p:nvSpPr>
        <p:spPr>
          <a:xfrm>
            <a:off x="3286894" y="2708920"/>
            <a:ext cx="5976664" cy="560669"/>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latin typeface="微软雅黑" pitchFamily="34" charset="-122"/>
                <a:ea typeface="微软雅黑" pitchFamily="34" charset="-122"/>
              </a:rPr>
              <a:t>IAM Overview</a:t>
            </a:r>
          </a:p>
        </p:txBody>
      </p:sp>
    </p:spTree>
    <p:extLst>
      <p:ext uri="{BB962C8B-B14F-4D97-AF65-F5344CB8AC3E}">
        <p14:creationId xmlns:p14="http://schemas.microsoft.com/office/powerpoint/2010/main" val="745236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73219"/>
            <a:ext cx="10534713" cy="5880117"/>
            <a:chOff x="3502918" y="1124744"/>
            <a:chExt cx="6361113" cy="4213306"/>
          </a:xfrm>
        </p:grpSpPr>
        <p:sp>
          <p:nvSpPr>
            <p:cNvPr id="66" name="矩形 65"/>
            <p:cNvSpPr/>
            <p:nvPr/>
          </p:nvSpPr>
          <p:spPr>
            <a:xfrm>
              <a:off x="3502918" y="1338469"/>
              <a:ext cx="6361113" cy="399958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4334768" y="1124744"/>
              <a:ext cx="4686300" cy="46355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itchFamily="34" charset="-122"/>
                  <a:ea typeface="微软雅黑" pitchFamily="34" charset="-122"/>
                </a:rPr>
                <a:t>IAM System Overview</a:t>
              </a:r>
              <a:endParaRPr lang="zh-CN" altLang="en-US" sz="20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14</a:t>
            </a:fld>
            <a:endParaRPr lang="zh-CN" altLang="en-US" dirty="0"/>
          </a:p>
        </p:txBody>
      </p:sp>
      <p:sp>
        <p:nvSpPr>
          <p:cNvPr id="5" name="Rectangle 4"/>
          <p:cNvSpPr/>
          <p:nvPr/>
        </p:nvSpPr>
        <p:spPr>
          <a:xfrm>
            <a:off x="719837" y="1382087"/>
            <a:ext cx="10297144" cy="646331"/>
          </a:xfrm>
          <a:prstGeom prst="rect">
            <a:avLst/>
          </a:prstGeom>
        </p:spPr>
        <p:txBody>
          <a:bodyPr wrap="square">
            <a:spAutoFit/>
          </a:bodyPr>
          <a:lstStyle/>
          <a:p>
            <a:r>
              <a:rPr lang="en-US" dirty="0"/>
              <a:t>With an overview of the components involved and the approaches we can take, let’s now look at putting all this together to start mapping out the systems required to create a strong IAM solution.</a:t>
            </a:r>
            <a:endParaRPr lang="en-US" dirty="0">
              <a:latin typeface="Microsoft YaHei" pitchFamily="34" charset="-122"/>
              <a:ea typeface="Microsoft YaHei" pitchFamily="34" charset="-122"/>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4646" y="2132856"/>
            <a:ext cx="9572968"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60469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17"/>
          <p:cNvSpPr/>
          <p:nvPr/>
        </p:nvSpPr>
        <p:spPr>
          <a:xfrm>
            <a:off x="3286894" y="2708920"/>
            <a:ext cx="5976664" cy="560669"/>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latin typeface="微软雅黑" pitchFamily="34" charset="-122"/>
                <a:ea typeface="微软雅黑" pitchFamily="34" charset="-122"/>
              </a:rPr>
              <a:t>IAM Options</a:t>
            </a:r>
          </a:p>
        </p:txBody>
      </p:sp>
    </p:spTree>
    <p:extLst>
      <p:ext uri="{BB962C8B-B14F-4D97-AF65-F5344CB8AC3E}">
        <p14:creationId xmlns:p14="http://schemas.microsoft.com/office/powerpoint/2010/main" val="268271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0" y="404664"/>
            <a:ext cx="12190413" cy="0"/>
          </a:xfrm>
          <a:prstGeom prst="line">
            <a:avLst/>
          </a:prstGeom>
          <a:ln>
            <a:solidFill>
              <a:srgbClr val="414455"/>
            </a:solidFill>
            <a:prstDash val="dash"/>
          </a:ln>
        </p:spPr>
        <p:style>
          <a:lnRef idx="1">
            <a:schemeClr val="accent1"/>
          </a:lnRef>
          <a:fillRef idx="0">
            <a:schemeClr val="accent1"/>
          </a:fillRef>
          <a:effectRef idx="0">
            <a:schemeClr val="accent1"/>
          </a:effectRef>
          <a:fontRef idx="minor">
            <a:schemeClr val="tx1"/>
          </a:fontRef>
        </p:style>
      </p:cxnSp>
      <p:grpSp>
        <p:nvGrpSpPr>
          <p:cNvPr id="3" name="Group 2"/>
          <p:cNvGrpSpPr/>
          <p:nvPr/>
        </p:nvGrpSpPr>
        <p:grpSpPr>
          <a:xfrm>
            <a:off x="601053" y="548680"/>
            <a:ext cx="10534713" cy="5865698"/>
            <a:chOff x="3502918" y="1135076"/>
            <a:chExt cx="6361113" cy="4202974"/>
          </a:xfrm>
        </p:grpSpPr>
        <p:sp>
          <p:nvSpPr>
            <p:cNvPr id="66" name="矩形 65"/>
            <p:cNvSpPr/>
            <p:nvPr/>
          </p:nvSpPr>
          <p:spPr>
            <a:xfrm>
              <a:off x="3502918" y="1338469"/>
              <a:ext cx="6361113" cy="3999581"/>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3505003" y="1135076"/>
              <a:ext cx="1659529" cy="463550"/>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latin typeface="微软雅黑" pitchFamily="34" charset="-122"/>
                  <a:ea typeface="微软雅黑" pitchFamily="34" charset="-122"/>
                </a:rPr>
                <a:t>IAM Options</a:t>
              </a:r>
              <a:endParaRPr lang="zh-CN" altLang="en-US" sz="2000" b="1" dirty="0">
                <a:latin typeface="微软雅黑" pitchFamily="34" charset="-122"/>
                <a:ea typeface="微软雅黑" pitchFamily="34" charset="-122"/>
              </a:endParaRPr>
            </a:p>
          </p:txBody>
        </p:sp>
      </p:grpSp>
      <p:sp>
        <p:nvSpPr>
          <p:cNvPr id="8" name="灯片编号占位符 7"/>
          <p:cNvSpPr>
            <a:spLocks noGrp="1"/>
          </p:cNvSpPr>
          <p:nvPr>
            <p:ph type="sldNum" sz="quarter" idx="12"/>
          </p:nvPr>
        </p:nvSpPr>
        <p:spPr/>
        <p:txBody>
          <a:bodyPr/>
          <a:lstStyle/>
          <a:p>
            <a:fld id="{0ABDD927-E55F-4D12-BD2D-8ABE6C912713}" type="slidenum">
              <a:rPr lang="zh-CN" altLang="en-US" smtClean="0"/>
              <a:t>16</a:t>
            </a:fld>
            <a:endParaRPr lang="zh-CN" altLang="en-US"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8942" y="295132"/>
            <a:ext cx="7741915" cy="6423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2083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0"/>
            <a:ext cx="12190413" cy="1124744"/>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0" y="5733256"/>
            <a:ext cx="12190413" cy="1124744"/>
          </a:xfrm>
          <a:prstGeom prst="rect">
            <a:avLst/>
          </a:prstGeom>
          <a:solidFill>
            <a:srgbClr val="4144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3934965" y="2492896"/>
            <a:ext cx="4320480" cy="1296893"/>
          </a:xfrm>
          <a:prstGeom prst="rect">
            <a:avLst/>
          </a:prstGeom>
        </p:spPr>
        <p:txBody>
          <a:bodyPr wrap="square">
            <a:spAutoFit/>
          </a:bodyPr>
          <a:lstStyle/>
          <a:p>
            <a:pPr algn="ctr">
              <a:lnSpc>
                <a:spcPct val="150000"/>
              </a:lnSpc>
            </a:pPr>
            <a:r>
              <a:rPr lang="en-US" altLang="zh-CN" sz="6000" b="1" dirty="0">
                <a:solidFill>
                  <a:srgbClr val="FF0000"/>
                </a:solidFill>
                <a:latin typeface="Century" panose="02040604050505020304" pitchFamily="18" charset="0"/>
                <a:ea typeface="微软雅黑" panose="020B0503020204020204" pitchFamily="34" charset="-122"/>
              </a:rPr>
              <a:t>Thank You</a:t>
            </a:r>
            <a:endParaRPr lang="zh-CN" altLang="en-US" sz="6000" b="1" dirty="0">
              <a:solidFill>
                <a:srgbClr val="FF0000"/>
              </a:solidFill>
              <a:latin typeface="Century" panose="02040604050505020304" pitchFamily="18" charset="0"/>
              <a:ea typeface="微软雅黑" panose="020B0503020204020204" pitchFamily="34" charset="-122"/>
            </a:endParaRPr>
          </a:p>
        </p:txBody>
      </p:sp>
      <p:sp>
        <p:nvSpPr>
          <p:cNvPr id="3" name="灯片编号占位符 2"/>
          <p:cNvSpPr>
            <a:spLocks noGrp="1"/>
          </p:cNvSpPr>
          <p:nvPr>
            <p:ph type="sldNum" sz="quarter" idx="12"/>
          </p:nvPr>
        </p:nvSpPr>
        <p:spPr/>
        <p:txBody>
          <a:bodyPr/>
          <a:lstStyle/>
          <a:p>
            <a:fld id="{0ABDD927-E55F-4D12-BD2D-8ABE6C912713}" type="slidenum">
              <a:rPr lang="zh-CN" altLang="en-US" smtClean="0"/>
              <a:t>17</a:t>
            </a:fld>
            <a:endParaRPr lang="zh-CN" altLang="en-US"/>
          </a:p>
        </p:txBody>
      </p:sp>
    </p:spTree>
    <p:extLst>
      <p:ext uri="{BB962C8B-B14F-4D97-AF65-F5344CB8AC3E}">
        <p14:creationId xmlns:p14="http://schemas.microsoft.com/office/powerpoint/2010/main" val="344752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6"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falsh"/>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nchor="ctr">
        <a:spAutoFit/>
      </a:bodyPr>
      <a:lstStyle>
        <a:defPPr>
          <a:defRPr smtClean="0">
            <a:latin typeface="微软雅黑" pitchFamily="34" charset="-122"/>
            <a:ea typeface="微软雅黑"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5411</TotalTime>
  <Words>818</Words>
  <Application>Microsoft Office PowerPoint</Application>
  <PresentationFormat>Custom</PresentationFormat>
  <Paragraphs>84</Paragraphs>
  <Slides>17</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Wingdings</vt:lpstr>
      <vt:lpstr>Arial</vt:lpstr>
      <vt:lpstr>Microsoft YaHei</vt:lpstr>
      <vt:lpstr>Calibri</vt:lpstr>
      <vt:lpstr>Cambria</vt:lpstr>
      <vt:lpstr>宋体</vt:lpstr>
      <vt:lpstr>Century</vt:lpstr>
      <vt:lpstr>Lucida Handwriting</vt:lpstr>
      <vt:lpstr>Microsoft YaHei</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falsh</dc:title>
  <dc:creator>Administrator</dc:creator>
  <cp:lastModifiedBy>WAQAS</cp:lastModifiedBy>
  <cp:revision>437</cp:revision>
  <dcterms:created xsi:type="dcterms:W3CDTF">2014-05-15T03:15:25Z</dcterms:created>
  <dcterms:modified xsi:type="dcterms:W3CDTF">2023-01-13T15:27:08Z</dcterms:modified>
</cp:coreProperties>
</file>
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9" r:id="rId2"/>
    <p:sldId id="392" r:id="rId3"/>
    <p:sldId id="491" r:id="rId4"/>
    <p:sldId id="513" r:id="rId5"/>
    <p:sldId id="514" r:id="rId6"/>
    <p:sldId id="515" r:id="rId7"/>
    <p:sldId id="516" r:id="rId8"/>
    <p:sldId id="506" r:id="rId9"/>
    <p:sldId id="507" r:id="rId10"/>
    <p:sldId id="509" r:id="rId11"/>
    <p:sldId id="508" r:id="rId12"/>
    <p:sldId id="510" r:id="rId13"/>
    <p:sldId id="512" r:id="rId14"/>
    <p:sldId id="517" r:id="rId15"/>
    <p:sldId id="518" r:id="rId16"/>
    <p:sldId id="519" r:id="rId17"/>
    <p:sldId id="520" r:id="rId18"/>
    <p:sldId id="521" r:id="rId19"/>
    <p:sldId id="522" r:id="rId20"/>
    <p:sldId id="523" r:id="rId21"/>
    <p:sldId id="524" r:id="rId22"/>
    <p:sldId id="288" r:id="rId23"/>
  </p:sldIdLst>
  <p:sldSz cx="12190413" cy="6858000"/>
  <p:notesSz cx="6858000" cy="9144000"/>
  <p:embeddedFontLst>
    <p:embeddedFont>
      <p:font typeface="微软雅黑" panose="020B0503020204020204" pitchFamily="34" charset="-122"/>
      <p:regular r:id="rId25"/>
      <p:bold r:id="rId26"/>
    </p:embeddedFont>
    <p:embeddedFont>
      <p:font typeface="宋体" panose="02010600030101010101" pitchFamily="2" charset="-122"/>
      <p:regular r:id="rId27"/>
    </p:embeddedFont>
    <p:embeddedFont>
      <p:font typeface="Calibri" panose="020F0502020204030204" pitchFamily="34" charset="0"/>
      <p:regular r:id="rId28"/>
      <p:bold r:id="rId29"/>
      <p:italic r:id="rId30"/>
      <p:boldItalic r:id="rId31"/>
    </p:embeddedFont>
    <p:embeddedFont>
      <p:font typeface="Cambria" panose="02040503050406030204" pitchFamily="18" charset="0"/>
      <p:regular r:id="rId32"/>
      <p:bold r:id="rId33"/>
      <p:italic r:id="rId34"/>
      <p:boldItalic r:id="rId35"/>
    </p:embeddedFont>
    <p:embeddedFont>
      <p:font typeface="Century" panose="02040604050505020304" pitchFamily="18" charset="0"/>
      <p:regular r:id="rId36"/>
    </p:embeddedFont>
    <p:embeddedFont>
      <p:font typeface="Lucida Handwriting" panose="03010101010101010101" pitchFamily="66" charset="0"/>
      <p:regular r:id="rId37"/>
    </p:embeddedFont>
  </p:embeddedFontLst>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819C"/>
    <a:srgbClr val="0000FF"/>
    <a:srgbClr val="4E1CF0"/>
    <a:srgbClr val="000000"/>
    <a:srgbClr val="080808"/>
    <a:srgbClr val="414455"/>
    <a:srgbClr val="E8E8E6"/>
    <a:srgbClr val="FFFFFF"/>
    <a:srgbClr val="9498AE"/>
    <a:srgbClr val="6368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29" autoAdjust="0"/>
    <p:restoredTop sz="93250" autoAdjust="0"/>
  </p:normalViewPr>
  <p:slideViewPr>
    <p:cSldViewPr>
      <p:cViewPr varScale="1">
        <p:scale>
          <a:sx n="68" d="100"/>
          <a:sy n="68" d="100"/>
        </p:scale>
        <p:origin x="978" y="5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70E5BC-B417-466E-A76A-1359E7C5B0BB}" type="datetimeFigureOut">
              <a:rPr lang="zh-CN" altLang="en-US" smtClean="0"/>
              <a:t>2023/1/12</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E0E0E2-7263-44C4-AAA9-733DBA7BD205}" type="slidenum">
              <a:rPr lang="zh-CN" altLang="en-US" smtClean="0"/>
              <a:t>‹#›</a:t>
            </a:fld>
            <a:endParaRPr lang="zh-CN" altLang="en-US"/>
          </a:p>
        </p:txBody>
      </p:sp>
    </p:spTree>
    <p:extLst>
      <p:ext uri="{BB962C8B-B14F-4D97-AF65-F5344CB8AC3E}">
        <p14:creationId xmlns:p14="http://schemas.microsoft.com/office/powerpoint/2010/main" val="573092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t>1</a:t>
            </a:fld>
            <a:endParaRPr lang="zh-CN" altLang="en-US"/>
          </a:p>
        </p:txBody>
      </p:sp>
    </p:spTree>
    <p:extLst>
      <p:ext uri="{BB962C8B-B14F-4D97-AF65-F5344CB8AC3E}">
        <p14:creationId xmlns:p14="http://schemas.microsoft.com/office/powerpoint/2010/main" val="2044780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a:t>
            </a:fld>
            <a:endParaRPr lang="zh-CN" altLang="en-US"/>
          </a:p>
        </p:txBody>
      </p:sp>
    </p:spTree>
    <p:extLst>
      <p:ext uri="{BB962C8B-B14F-4D97-AF65-F5344CB8AC3E}">
        <p14:creationId xmlns:p14="http://schemas.microsoft.com/office/powerpoint/2010/main" val="3169717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3</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5</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6</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7</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8</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9</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10</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11</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12</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13</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14</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15</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16</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17</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18</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19</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20</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21</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22</a:t>
            </a:fld>
            <a:endParaRPr lang="zh-CN" altLang="en-US"/>
          </a:p>
        </p:txBody>
      </p:sp>
    </p:spTree>
    <p:extLst>
      <p:ext uri="{BB962C8B-B14F-4D97-AF65-F5344CB8AC3E}">
        <p14:creationId xmlns:p14="http://schemas.microsoft.com/office/powerpoint/2010/main" val="1373287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414455"/>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D730DE7-1FF2-4121-A5D1-B143C6A55253}" type="datetime1">
              <a:rPr lang="zh-CN" altLang="en-US" smtClean="0"/>
              <a:t>2023/1/12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6901"/>
            <a:ext cx="10361851"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2959" y="2906713"/>
            <a:ext cx="1036185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F845360-D40D-4218-82E0-E88E222F33DC}" type="datetime1">
              <a:rPr lang="zh-CN" altLang="en-US" smtClean="0"/>
              <a:t>2023/1/12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201"/>
            <a:ext cx="53840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201"/>
            <a:ext cx="53840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38452EF-5253-4CA2-A1BD-987A71394BB4}" type="datetime1">
              <a:rPr lang="zh-CN" altLang="en-US" smtClean="0"/>
              <a:t>2023/1/12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113"/>
            <a:ext cx="53862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521" y="2174875"/>
            <a:ext cx="53862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1" y="1535113"/>
            <a:ext cx="538833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561" y="2174875"/>
            <a:ext cx="538833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3CA8C59-2160-4A1A-8013-9C2279D025E3}" type="datetime1">
              <a:rPr lang="zh-CN" altLang="en-US" smtClean="0"/>
              <a:t>2023/1/12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E1503A6-B87E-46C2-AC39-4120FBDDAFAE}" type="datetime1">
              <a:rPr lang="zh-CN" altLang="en-US" smtClean="0"/>
              <a:t>2023/1/12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AED53F-D197-4793-8DD1-DFDF1F4AB196}" type="datetime1">
              <a:rPr lang="zh-CN" altLang="en-US" smtClean="0"/>
              <a:t>2023/1/12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21" y="273050"/>
            <a:ext cx="4010562"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113" y="273051"/>
            <a:ext cx="681477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521" y="1435101"/>
            <a:ext cx="401056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927C1C1-F04A-46FC-AD4B-5DC17035F515}" type="datetime1">
              <a:rPr lang="zh-CN" altLang="en-US" smtClean="0"/>
              <a:t>2023/1/12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06" y="4800600"/>
            <a:ext cx="7314248"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406" y="612775"/>
            <a:ext cx="731424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406" y="5367338"/>
            <a:ext cx="731424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E855D89-C0DB-4CD2-B8B1-6FEBA862EA77}" type="datetime1">
              <a:rPr lang="zh-CN" altLang="en-US" smtClean="0"/>
              <a:t>2023/1/12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9767938-52E0-42A8-A445-31D02E09BF6F}" type="datetime1">
              <a:rPr lang="zh-CN" altLang="en-US" smtClean="0"/>
              <a:t>2023/1/12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639"/>
            <a:ext cx="2742843"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639"/>
            <a:ext cx="8025355"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BC7BAF8-4370-4C7E-BCB7-EE684EC45DFA}" type="datetime1">
              <a:rPr lang="zh-CN" altLang="en-US" smtClean="0"/>
              <a:t>2023/1/12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802" y="1122363"/>
            <a:ext cx="914281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3802" y="3602038"/>
            <a:ext cx="914281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742226D-16F5-499D-9509-9396B24A2121}" type="datetime1">
              <a:rPr lang="zh-CN" altLang="en-US" smtClean="0"/>
              <a:t>2023/1/12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BDD927-E55F-4D12-BD2D-8ABE6C912713}" type="slidenum">
              <a:rPr lang="zh-CN" altLang="en-US" smtClean="0"/>
              <a:t>‹#›</a:t>
            </a:fld>
            <a:endParaRPr lang="zh-CN" altLang="en-US"/>
          </a:p>
        </p:txBody>
      </p:sp>
    </p:spTree>
    <p:extLst>
      <p:ext uri="{BB962C8B-B14F-4D97-AF65-F5344CB8AC3E}">
        <p14:creationId xmlns:p14="http://schemas.microsoft.com/office/powerpoint/2010/main" val="127861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UpDiag">
          <a:fgClr>
            <a:srgbClr val="FFFFFF"/>
          </a:fgClr>
          <a:bgClr>
            <a:srgbClr val="E8E8E6"/>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638"/>
            <a:ext cx="10971372"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201"/>
            <a:ext cx="10971372"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0" y="6356351"/>
            <a:ext cx="284443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0F5AEB-C490-4B7D-850B-97176F0072B2}" type="datetime1">
              <a:rPr lang="zh-CN" altLang="en-US" smtClean="0"/>
              <a:t>2023/1/12</a:t>
            </a:fld>
            <a:endParaRPr lang="zh-CN" altLang="en-US"/>
          </a:p>
        </p:txBody>
      </p:sp>
      <p:sp>
        <p:nvSpPr>
          <p:cNvPr id="5" name="页脚占位符 4"/>
          <p:cNvSpPr>
            <a:spLocks noGrp="1"/>
          </p:cNvSpPr>
          <p:nvPr>
            <p:ph type="ftr" sz="quarter" idx="3"/>
          </p:nvPr>
        </p:nvSpPr>
        <p:spPr>
          <a:xfrm>
            <a:off x="4165058" y="6356351"/>
            <a:ext cx="3860297"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6351"/>
            <a:ext cx="284443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s://thebestvpn.com/what-is-vpn-beginners-guide/" TargetMode="External"/><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hyperlink" Target="https://www.pcworld.com/article/261752/is_your_isp_spying_on_you_.html"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torproject.org/"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hyperlink" Target="https://thebestvpn.com/reviews/expressvpn/"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Virtual_machine"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hyperlink" Target="https://www.virtualbox.org/"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en.wikipedia.org/wiki/Proxy_server" TargetMode="External"/><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hyperlink" Target="https://en.wikipedia.org/wiki/HTTP_cookie"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hyperlink" Target="https://hub.packtpub.com/cambridge-analytica-ethics-data-science/" TargetMode="External"/><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hyperlink" Target="https://telegram.org/" TargetMode="External"/><Relationship Id="rId4" Type="http://schemas.openxmlformats.org/officeDocument/2006/relationships/hyperlink" Target="https://signal.org/"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en.wikipedia.org/wiki/DuckDuckGo" TargetMode="External"/><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hyperlink" Target="https://en.wikipedia.org/wiki/Filter_bubble"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02918" y="2173796"/>
            <a:ext cx="8687495" cy="2865281"/>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6978092" y="4437112"/>
            <a:ext cx="5140816" cy="499624"/>
          </a:xfrm>
          <a:prstGeom prst="rect">
            <a:avLst/>
          </a:prstGeom>
        </p:spPr>
        <p:txBody>
          <a:bodyPr wrap="square" anchor="ctr">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pPr algn="r"/>
            <a:r>
              <a:rPr lang="en-US" altLang="zh-CN" sz="2000" b="1" dirty="0">
                <a:solidFill>
                  <a:schemeClr val="bg1"/>
                </a:solidFill>
              </a:rPr>
              <a:t>University of Sialkot</a:t>
            </a:r>
            <a:endParaRPr lang="zh-CN" altLang="en-US" sz="2000" b="1" dirty="0">
              <a:solidFill>
                <a:schemeClr val="bg1"/>
              </a:solidFill>
            </a:endParaRPr>
          </a:p>
        </p:txBody>
      </p:sp>
      <p:sp>
        <p:nvSpPr>
          <p:cNvPr id="34" name="矩形 33"/>
          <p:cNvSpPr/>
          <p:nvPr/>
        </p:nvSpPr>
        <p:spPr>
          <a:xfrm>
            <a:off x="3502918" y="1814001"/>
            <a:ext cx="8687495" cy="35979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29"/>
          <p:cNvSpPr txBox="1"/>
          <p:nvPr/>
        </p:nvSpPr>
        <p:spPr>
          <a:xfrm>
            <a:off x="3862958" y="2204864"/>
            <a:ext cx="2820177" cy="499624"/>
          </a:xfrm>
          <a:prstGeom prst="rect">
            <a:avLst/>
          </a:prstGeom>
        </p:spPr>
        <p:txBody>
          <a:bodyPr wrap="square" anchor="ctr">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2000" b="1" dirty="0">
                <a:solidFill>
                  <a:schemeClr val="bg1"/>
                </a:solidFill>
              </a:rPr>
              <a:t>Lec-3-2</a:t>
            </a:r>
            <a:endParaRPr lang="zh-CN" altLang="en-US" sz="2000" b="1" dirty="0">
              <a:solidFill>
                <a:schemeClr val="bg1"/>
              </a:solidFill>
            </a:endParaRPr>
          </a:p>
        </p:txBody>
      </p:sp>
      <p:sp>
        <p:nvSpPr>
          <p:cNvPr id="18" name="文本框 17"/>
          <p:cNvSpPr txBox="1"/>
          <p:nvPr/>
        </p:nvSpPr>
        <p:spPr>
          <a:xfrm>
            <a:off x="4655900" y="3212976"/>
            <a:ext cx="6767898" cy="646331"/>
          </a:xfrm>
          <a:prstGeom prst="rect">
            <a:avLst/>
          </a:prstGeom>
          <a:noFill/>
        </p:spPr>
        <p:txBody>
          <a:bodyPr wrap="square" rtlCol="0">
            <a:spAutoFit/>
          </a:bodyPr>
          <a:lstStyle/>
          <a:p>
            <a:pPr algn="ctr"/>
            <a:r>
              <a:rPr lang="en-US" altLang="zh-CN" sz="3600" dirty="0">
                <a:solidFill>
                  <a:schemeClr val="bg1"/>
                </a:solidFill>
                <a:latin typeface="Cambria" panose="02040503050406030204" pitchFamily="18" charset="0"/>
              </a:rPr>
              <a:t>Anonymity</a:t>
            </a:r>
            <a:endParaRPr lang="zh-CN" altLang="en-US" sz="3600" dirty="0">
              <a:solidFill>
                <a:schemeClr val="bg1"/>
              </a:solidFill>
              <a:latin typeface="Cambria" panose="02040503050406030204" pitchFamily="18" charset="0"/>
              <a:ea typeface="MStiffHei HKS UltraBold" pitchFamily="2" charset="-120"/>
            </a:endParaRPr>
          </a:p>
        </p:txBody>
      </p:sp>
      <p:sp>
        <p:nvSpPr>
          <p:cNvPr id="35" name="TextBox 34"/>
          <p:cNvSpPr txBox="1"/>
          <p:nvPr/>
        </p:nvSpPr>
        <p:spPr>
          <a:xfrm>
            <a:off x="4078982" y="5393950"/>
            <a:ext cx="7836136" cy="540341"/>
          </a:xfrm>
          <a:prstGeom prst="rect">
            <a:avLst/>
          </a:prstGeom>
        </p:spPr>
        <p:txBody>
          <a:bodyPr wrap="square">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pPr algn="r"/>
            <a:r>
              <a:rPr lang="en-US" altLang="zh-CN" sz="2200" b="1" dirty="0">
                <a:solidFill>
                  <a:srgbClr val="414455"/>
                </a:solidFill>
              </a:rPr>
              <a:t>Instructor</a:t>
            </a:r>
            <a:r>
              <a:rPr lang="zh-CN" altLang="en-US" sz="2200" b="1" dirty="0">
                <a:solidFill>
                  <a:srgbClr val="414455"/>
                </a:solidFill>
              </a:rPr>
              <a:t>：</a:t>
            </a:r>
            <a:r>
              <a:rPr lang="en-US" altLang="zh-CN" sz="2200" dirty="0">
                <a:solidFill>
                  <a:schemeClr val="tx1">
                    <a:lumMod val="75000"/>
                    <a:lumOff val="25000"/>
                  </a:schemeClr>
                </a:solidFill>
              </a:rPr>
              <a:t>Muhammad </a:t>
            </a:r>
            <a:r>
              <a:rPr lang="en-US" altLang="zh-CN" sz="2200" dirty="0" err="1">
                <a:solidFill>
                  <a:schemeClr val="tx1">
                    <a:lumMod val="75000"/>
                    <a:lumOff val="25000"/>
                  </a:schemeClr>
                </a:solidFill>
              </a:rPr>
              <a:t>Azeem</a:t>
            </a:r>
            <a:endParaRPr lang="zh-CN" altLang="en-US" sz="2200" dirty="0">
              <a:solidFill>
                <a:schemeClr val="tx1">
                  <a:lumMod val="75000"/>
                  <a:lumOff val="25000"/>
                </a:schemeClr>
              </a:solidFill>
            </a:endParaRPr>
          </a:p>
        </p:txBody>
      </p:sp>
      <p:grpSp>
        <p:nvGrpSpPr>
          <p:cNvPr id="36" name="组合 35"/>
          <p:cNvGrpSpPr/>
          <p:nvPr/>
        </p:nvGrpSpPr>
        <p:grpSpPr>
          <a:xfrm>
            <a:off x="6073163" y="960929"/>
            <a:ext cx="681980" cy="681980"/>
            <a:chOff x="952456" y="3218117"/>
            <a:chExt cx="877066" cy="877066"/>
          </a:xfrm>
        </p:grpSpPr>
        <p:sp>
          <p:nvSpPr>
            <p:cNvPr id="38" name="椭圆 50"/>
            <p:cNvSpPr>
              <a:spLocks noChangeArrowheads="1"/>
            </p:cNvSpPr>
            <p:nvPr/>
          </p:nvSpPr>
          <p:spPr bwMode="auto">
            <a:xfrm>
              <a:off x="952456" y="3218117"/>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40" name="Picture 3" descr="D:\360data\重要数据\桌面\467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1696" y="3367890"/>
              <a:ext cx="478586" cy="5775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 name="组合 40"/>
          <p:cNvGrpSpPr/>
          <p:nvPr/>
        </p:nvGrpSpPr>
        <p:grpSpPr>
          <a:xfrm>
            <a:off x="6978091" y="960929"/>
            <a:ext cx="681980" cy="681980"/>
            <a:chOff x="2812677" y="3391963"/>
            <a:chExt cx="877066" cy="877066"/>
          </a:xfrm>
        </p:grpSpPr>
        <p:sp>
          <p:nvSpPr>
            <p:cNvPr id="42" name="椭圆 50"/>
            <p:cNvSpPr>
              <a:spLocks noChangeArrowheads="1"/>
            </p:cNvSpPr>
            <p:nvPr/>
          </p:nvSpPr>
          <p:spPr bwMode="auto">
            <a:xfrm>
              <a:off x="2812677" y="3391963"/>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43" name="Picture 4" descr="D:\360data\重要数据\桌面\未标题-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1249" y="3537498"/>
              <a:ext cx="419922" cy="5864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4" name="组合 43"/>
          <p:cNvGrpSpPr/>
          <p:nvPr/>
        </p:nvGrpSpPr>
        <p:grpSpPr>
          <a:xfrm>
            <a:off x="7883019" y="960929"/>
            <a:ext cx="681980" cy="681980"/>
            <a:chOff x="4672898" y="2936570"/>
            <a:chExt cx="877066" cy="877066"/>
          </a:xfrm>
        </p:grpSpPr>
        <p:sp>
          <p:nvSpPr>
            <p:cNvPr id="45" name="椭圆 44"/>
            <p:cNvSpPr>
              <a:spLocks noChangeArrowheads="1"/>
            </p:cNvSpPr>
            <p:nvPr/>
          </p:nvSpPr>
          <p:spPr bwMode="auto">
            <a:xfrm>
              <a:off x="4672898" y="2936570"/>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46" name="Picture 5" descr="D:\360data\重要数据\桌面\未标题-4.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45149" y="3095025"/>
              <a:ext cx="532564" cy="51354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7" name="组合 46"/>
          <p:cNvGrpSpPr/>
          <p:nvPr/>
        </p:nvGrpSpPr>
        <p:grpSpPr>
          <a:xfrm>
            <a:off x="8787947" y="960929"/>
            <a:ext cx="681980" cy="681980"/>
            <a:chOff x="6533119" y="2285390"/>
            <a:chExt cx="877066" cy="877066"/>
          </a:xfrm>
        </p:grpSpPr>
        <p:sp>
          <p:nvSpPr>
            <p:cNvPr id="48" name="椭圆 47"/>
            <p:cNvSpPr>
              <a:spLocks noChangeArrowheads="1"/>
            </p:cNvSpPr>
            <p:nvPr/>
          </p:nvSpPr>
          <p:spPr bwMode="auto">
            <a:xfrm>
              <a:off x="6533119" y="2285390"/>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49" name="Picture 6" descr="D:\360data\重要数据\桌面\未标题-5.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35358" y="2430447"/>
              <a:ext cx="512614" cy="5869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组合 49"/>
          <p:cNvGrpSpPr/>
          <p:nvPr/>
        </p:nvGrpSpPr>
        <p:grpSpPr>
          <a:xfrm>
            <a:off x="9692875" y="960929"/>
            <a:ext cx="681980" cy="681980"/>
            <a:chOff x="8393340" y="1988840"/>
            <a:chExt cx="877066" cy="877066"/>
          </a:xfrm>
        </p:grpSpPr>
        <p:sp>
          <p:nvSpPr>
            <p:cNvPr id="51" name="椭圆 50"/>
            <p:cNvSpPr>
              <a:spLocks noChangeArrowheads="1"/>
            </p:cNvSpPr>
            <p:nvPr/>
          </p:nvSpPr>
          <p:spPr bwMode="auto">
            <a:xfrm>
              <a:off x="8393340" y="1988840"/>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52" name="Picture 7" descr="D:\360data\重要数据\桌面\未标题-1.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568665" y="2183926"/>
              <a:ext cx="564516" cy="4868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3" name="组合 52"/>
          <p:cNvGrpSpPr/>
          <p:nvPr/>
        </p:nvGrpSpPr>
        <p:grpSpPr>
          <a:xfrm>
            <a:off x="10597802" y="960929"/>
            <a:ext cx="681980" cy="681980"/>
            <a:chOff x="10253559" y="2420888"/>
            <a:chExt cx="877066" cy="877066"/>
          </a:xfrm>
        </p:grpSpPr>
        <p:sp>
          <p:nvSpPr>
            <p:cNvPr id="54" name="椭圆 53"/>
            <p:cNvSpPr>
              <a:spLocks noChangeArrowheads="1"/>
            </p:cNvSpPr>
            <p:nvPr/>
          </p:nvSpPr>
          <p:spPr bwMode="auto">
            <a:xfrm>
              <a:off x="10253559" y="2420888"/>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55" name="Picture 8" descr="D:\360data\重要数据\桌面\未标题-1.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88676" y="2566876"/>
              <a:ext cx="606832" cy="585090"/>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灯片编号占位符 6"/>
          <p:cNvSpPr>
            <a:spLocks noGrp="1"/>
          </p:cNvSpPr>
          <p:nvPr>
            <p:ph type="sldNum" sz="quarter" idx="12"/>
          </p:nvPr>
        </p:nvSpPr>
        <p:spPr/>
        <p:txBody>
          <a:bodyPr/>
          <a:lstStyle/>
          <a:p>
            <a:fld id="{0ABDD927-E55F-4D12-BD2D-8ABE6C912713}" type="slidenum">
              <a:rPr lang="zh-CN" altLang="en-US" smtClean="0"/>
              <a:t>1</a:t>
            </a:fld>
            <a:endParaRPr lang="zh-CN" altLang="en-US"/>
          </a:p>
        </p:txBody>
      </p:sp>
      <p:grpSp>
        <p:nvGrpSpPr>
          <p:cNvPr id="6" name="Group 5"/>
          <p:cNvGrpSpPr/>
          <p:nvPr/>
        </p:nvGrpSpPr>
        <p:grpSpPr>
          <a:xfrm>
            <a:off x="912905" y="62628"/>
            <a:ext cx="1869933" cy="1735223"/>
            <a:chOff x="555139" y="-27384"/>
            <a:chExt cx="2011675" cy="1825235"/>
          </a:xfrm>
        </p:grpSpPr>
        <p:grpSp>
          <p:nvGrpSpPr>
            <p:cNvPr id="57" name="Group 56"/>
            <p:cNvGrpSpPr/>
            <p:nvPr/>
          </p:nvGrpSpPr>
          <p:grpSpPr>
            <a:xfrm>
              <a:off x="555139" y="-27384"/>
              <a:ext cx="2011675" cy="1825235"/>
              <a:chOff x="483130" y="1294"/>
              <a:chExt cx="2011675" cy="1825235"/>
            </a:xfrm>
          </p:grpSpPr>
          <p:sp>
            <p:nvSpPr>
              <p:cNvPr id="58" name="矩形 31"/>
              <p:cNvSpPr/>
              <p:nvPr/>
            </p:nvSpPr>
            <p:spPr>
              <a:xfrm>
                <a:off x="483130" y="1294"/>
                <a:ext cx="2011675" cy="1825235"/>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59" name="Oval 58"/>
              <p:cNvSpPr/>
              <p:nvPr/>
            </p:nvSpPr>
            <p:spPr>
              <a:xfrm>
                <a:off x="624871" y="60422"/>
                <a:ext cx="1728192" cy="170697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0" name="Picture 2" descr="H:\USKT\Lectures\OOP\USKT_Logo.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0662" y="62628"/>
              <a:ext cx="1609725" cy="1609725"/>
            </a:xfrm>
            <a:prstGeom prst="rect">
              <a:avLst/>
            </a:prstGeom>
            <a:noFill/>
            <a:extLst>
              <a:ext uri="{909E8E84-426E-40DD-AFC4-6F175D3DCCD1}">
                <a14:hiddenFill xmlns:a14="http://schemas.microsoft.com/office/drawing/2010/main">
                  <a:solidFill>
                    <a:srgbClr val="FFFFFF"/>
                  </a:solidFill>
                </a14:hiddenFill>
              </a:ext>
            </a:extLst>
          </p:spPr>
        </p:pic>
      </p:grpSp>
      <p:sp>
        <p:nvSpPr>
          <p:cNvPr id="33" name="文本框 17"/>
          <p:cNvSpPr txBox="1"/>
          <p:nvPr/>
        </p:nvSpPr>
        <p:spPr>
          <a:xfrm>
            <a:off x="5099849" y="2230128"/>
            <a:ext cx="5459853" cy="461665"/>
          </a:xfrm>
          <a:prstGeom prst="rect">
            <a:avLst/>
          </a:prstGeom>
          <a:noFill/>
        </p:spPr>
        <p:txBody>
          <a:bodyPr wrap="square" rtlCol="0">
            <a:spAutoFit/>
          </a:bodyPr>
          <a:lstStyle/>
          <a:p>
            <a:pPr algn="ctr"/>
            <a:r>
              <a:rPr lang="en-US" sz="2400" dirty="0" err="1">
                <a:solidFill>
                  <a:schemeClr val="bg1"/>
                </a:solidFill>
                <a:latin typeface="Cambria" panose="02040503050406030204" pitchFamily="18" charset="0"/>
              </a:rPr>
              <a:t>Blockchain</a:t>
            </a:r>
            <a:r>
              <a:rPr lang="en-US" sz="2400" dirty="0">
                <a:solidFill>
                  <a:schemeClr val="bg1"/>
                </a:solidFill>
                <a:latin typeface="Cambria" panose="02040503050406030204" pitchFamily="18" charset="0"/>
              </a:rPr>
              <a:t> Technology and Applications</a:t>
            </a:r>
            <a:endParaRPr lang="zh-CN" altLang="en-US" sz="2400" dirty="0">
              <a:solidFill>
                <a:schemeClr val="bg1"/>
              </a:solidFill>
              <a:latin typeface="Cambria" panose="02040503050406030204" pitchFamily="18" charset="0"/>
              <a:ea typeface="MStiffHei HKS UltraBold" pitchFamily="2" charset="-120"/>
            </a:endParaRPr>
          </a:p>
        </p:txBody>
      </p:sp>
      <p:pic>
        <p:nvPicPr>
          <p:cNvPr id="1027"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4047" y="1814001"/>
            <a:ext cx="3208871" cy="3225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8786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p:cNvSpPr txBox="1"/>
          <p:nvPr/>
        </p:nvSpPr>
        <p:spPr>
          <a:xfrm>
            <a:off x="622598" y="764704"/>
            <a:ext cx="2593980" cy="646331"/>
          </a:xfrm>
          <a:prstGeom prst="rect">
            <a:avLst/>
          </a:prstGeom>
          <a:noFill/>
        </p:spPr>
        <p:txBody>
          <a:bodyPr wrap="none" rtlCol="0">
            <a:spAutoFit/>
          </a:bodyPr>
          <a:lstStyle/>
          <a:p>
            <a:r>
              <a:rPr lang="en-US" altLang="zh-CN" sz="3600" b="1" dirty="0">
                <a:solidFill>
                  <a:schemeClr val="bg2"/>
                </a:solidFill>
                <a:latin typeface="Lucida Handwriting" panose="03010101010101010101" pitchFamily="66" charset="0"/>
                <a:ea typeface="微软雅黑" pitchFamily="34" charset="-122"/>
              </a:rPr>
              <a:t>Contents:</a:t>
            </a:r>
          </a:p>
        </p:txBody>
      </p:sp>
      <p:sp>
        <p:nvSpPr>
          <p:cNvPr id="7" name="TextBox 6"/>
          <p:cNvSpPr txBox="1"/>
          <p:nvPr/>
        </p:nvSpPr>
        <p:spPr>
          <a:xfrm>
            <a:off x="4222998" y="1628800"/>
            <a:ext cx="4187557" cy="3939540"/>
          </a:xfrm>
          <a:prstGeom prst="rect">
            <a:avLst/>
          </a:prstGeom>
          <a:noFill/>
        </p:spPr>
        <p:txBody>
          <a:bodyPr wrap="none" rtlCol="0">
            <a:spAutoFit/>
          </a:bodyPr>
          <a:lstStyle/>
          <a:p>
            <a:pPr marL="342900" indent="-342900">
              <a:lnSpc>
                <a:spcPct val="250000"/>
              </a:lnSpc>
              <a:buFont typeface="Wingdings" panose="05000000000000000000" pitchFamily="2" charset="2"/>
              <a:buChar char="Ø"/>
            </a:pPr>
            <a:r>
              <a:rPr lang="en-US" altLang="zh-CN" sz="2000" b="1" dirty="0">
                <a:solidFill>
                  <a:schemeClr val="bg2"/>
                </a:solidFill>
                <a:latin typeface="微软雅黑" pitchFamily="34" charset="-122"/>
                <a:ea typeface="微软雅黑" pitchFamily="34" charset="-122"/>
              </a:rPr>
              <a:t>Introduction</a:t>
            </a:r>
          </a:p>
          <a:p>
            <a:pPr marL="342900" indent="-342900">
              <a:lnSpc>
                <a:spcPct val="250000"/>
              </a:lnSpc>
              <a:buFont typeface="Wingdings" panose="05000000000000000000" pitchFamily="2" charset="2"/>
              <a:buChar char="Ø"/>
            </a:pPr>
            <a:r>
              <a:rPr lang="en-US" altLang="zh-CN" sz="2000" b="1" dirty="0">
                <a:solidFill>
                  <a:schemeClr val="bg2"/>
                </a:solidFill>
                <a:latin typeface="微软雅黑" pitchFamily="34" charset="-122"/>
                <a:ea typeface="微软雅黑" pitchFamily="34" charset="-122"/>
              </a:rPr>
              <a:t>Need of Anonymity</a:t>
            </a:r>
          </a:p>
          <a:p>
            <a:pPr marL="342900" indent="-342900">
              <a:lnSpc>
                <a:spcPct val="250000"/>
              </a:lnSpc>
              <a:buFont typeface="Wingdings" panose="05000000000000000000" pitchFamily="2" charset="2"/>
              <a:buChar char="Ø"/>
            </a:pPr>
            <a:r>
              <a:rPr lang="en-US" altLang="zh-CN" sz="2000" b="1" dirty="0">
                <a:solidFill>
                  <a:schemeClr val="bg2"/>
                </a:solidFill>
                <a:latin typeface="微软雅黑" pitchFamily="34" charset="-122"/>
                <a:ea typeface="微软雅黑" pitchFamily="34" charset="-122"/>
              </a:rPr>
              <a:t>Privacy </a:t>
            </a:r>
            <a:r>
              <a:rPr lang="en-US" altLang="zh-CN" sz="2000" b="1" dirty="0" err="1">
                <a:solidFill>
                  <a:schemeClr val="bg2"/>
                </a:solidFill>
                <a:latin typeface="微软雅黑" pitchFamily="34" charset="-122"/>
                <a:ea typeface="微软雅黑" pitchFamily="34" charset="-122"/>
              </a:rPr>
              <a:t>vs</a:t>
            </a:r>
            <a:r>
              <a:rPr lang="en-US" altLang="zh-CN" sz="2000" b="1" dirty="0">
                <a:solidFill>
                  <a:schemeClr val="bg2"/>
                </a:solidFill>
                <a:latin typeface="微软雅黑" pitchFamily="34" charset="-122"/>
                <a:ea typeface="微软雅黑" pitchFamily="34" charset="-122"/>
              </a:rPr>
              <a:t> Anonymity</a:t>
            </a:r>
          </a:p>
          <a:p>
            <a:pPr marL="342900" indent="-342900">
              <a:lnSpc>
                <a:spcPct val="250000"/>
              </a:lnSpc>
              <a:buFont typeface="Wingdings" panose="05000000000000000000" pitchFamily="2" charset="2"/>
              <a:buChar char="Ø"/>
            </a:pPr>
            <a:r>
              <a:rPr lang="en-US" altLang="zh-CN" sz="2000" b="1" dirty="0">
                <a:solidFill>
                  <a:schemeClr val="bg2"/>
                </a:solidFill>
                <a:latin typeface="微软雅黑" pitchFamily="34" charset="-122"/>
                <a:ea typeface="微软雅黑" pitchFamily="34" charset="-122"/>
              </a:rPr>
              <a:t>Step to Become Anonymous</a:t>
            </a:r>
          </a:p>
          <a:p>
            <a:pPr marL="342900" indent="-342900">
              <a:lnSpc>
                <a:spcPct val="250000"/>
              </a:lnSpc>
              <a:buFont typeface="Wingdings" panose="05000000000000000000" pitchFamily="2" charset="2"/>
              <a:buChar char="Ø"/>
            </a:pPr>
            <a:r>
              <a:rPr lang="en-US" altLang="zh-CN" sz="2000" b="1" dirty="0">
                <a:solidFill>
                  <a:schemeClr val="bg2"/>
                </a:solidFill>
                <a:latin typeface="微软雅黑" pitchFamily="34" charset="-122"/>
                <a:ea typeface="微软雅黑" pitchFamily="34" charset="-122"/>
              </a:rPr>
              <a:t>Discussion</a:t>
            </a:r>
          </a:p>
        </p:txBody>
      </p:sp>
    </p:spTree>
    <p:extLst>
      <p:ext uri="{BB962C8B-B14F-4D97-AF65-F5344CB8AC3E}">
        <p14:creationId xmlns:p14="http://schemas.microsoft.com/office/powerpoint/2010/main" val="1282546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Anonymity</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3</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982638" y="1340768"/>
            <a:ext cx="9866481" cy="471388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lnSpc>
                <a:spcPct val="120000"/>
              </a:lnSpc>
              <a:defRPr/>
            </a:pPr>
            <a:r>
              <a:rPr lang="en-US" b="1" dirty="0"/>
              <a:t>Anonymity</a:t>
            </a:r>
            <a:r>
              <a:rPr lang="en-US" baseline="30000" dirty="0"/>
              <a:t>:</a:t>
            </a:r>
          </a:p>
          <a:p>
            <a:pPr algn="just">
              <a:lnSpc>
                <a:spcPct val="120000"/>
              </a:lnSpc>
              <a:defRPr/>
            </a:pPr>
            <a:r>
              <a:rPr lang="en-US" dirty="0"/>
              <a:t>_Describes situations where the acting person's identity is unknown. </a:t>
            </a:r>
          </a:p>
          <a:p>
            <a:pPr algn="just">
              <a:lnSpc>
                <a:spcPct val="120000"/>
              </a:lnSpc>
              <a:defRPr/>
            </a:pPr>
            <a:r>
              <a:rPr lang="en-US" dirty="0"/>
              <a:t>_The important idea here is that a person be non-identifiable, unreachable, or </a:t>
            </a:r>
            <a:r>
              <a:rPr lang="en-US" dirty="0" err="1"/>
              <a:t>untrackable</a:t>
            </a:r>
            <a:r>
              <a:rPr lang="en-US" dirty="0"/>
              <a:t>.</a:t>
            </a:r>
            <a:endParaRPr lang="en-US" baseline="30000" dirty="0"/>
          </a:p>
          <a:p>
            <a:pPr algn="just">
              <a:lnSpc>
                <a:spcPct val="120000"/>
              </a:lnSpc>
              <a:defRPr/>
            </a:pPr>
            <a:r>
              <a:rPr lang="en-US" dirty="0"/>
              <a:t>_Anonymity is seen as a technique, or a way of realizing, a certain other values, such as privacy, or liberty. </a:t>
            </a:r>
          </a:p>
          <a:p>
            <a:pPr algn="just">
              <a:lnSpc>
                <a:spcPct val="120000"/>
              </a:lnSpc>
              <a:defRPr/>
            </a:pPr>
            <a:r>
              <a:rPr lang="en-US" dirty="0"/>
              <a:t>_Over the past few years, anonymity tools used on the dark web by criminals and malicious users have drastically altered the ability of law enforcement to use conventional surveillance techniques</a:t>
            </a:r>
          </a:p>
        </p:txBody>
      </p:sp>
    </p:spTree>
    <p:extLst>
      <p:ext uri="{BB962C8B-B14F-4D97-AF65-F5344CB8AC3E}">
        <p14:creationId xmlns:p14="http://schemas.microsoft.com/office/powerpoint/2010/main" val="1434296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Anonymity</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4</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982638" y="1340768"/>
            <a:ext cx="9866481" cy="471388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lnSpc>
                <a:spcPct val="120000"/>
              </a:lnSpc>
              <a:defRPr/>
            </a:pPr>
            <a:endParaRPr lang="en-US" dirty="0"/>
          </a:p>
        </p:txBody>
      </p:sp>
      <p:grpSp>
        <p:nvGrpSpPr>
          <p:cNvPr id="10" name="Group 9"/>
          <p:cNvGrpSpPr>
            <a:grpSpLocks/>
          </p:cNvGrpSpPr>
          <p:nvPr/>
        </p:nvGrpSpPr>
        <p:grpSpPr bwMode="auto">
          <a:xfrm>
            <a:off x="2103061" y="1531103"/>
            <a:ext cx="4572000" cy="3733800"/>
            <a:chOff x="1152" y="1104"/>
            <a:chExt cx="3312" cy="2832"/>
          </a:xfrm>
        </p:grpSpPr>
        <p:pic>
          <p:nvPicPr>
            <p:cNvPr id="11" name="Picture 4" descr="C:\Documents and Settings\Andrei\Desktop\Research\CASSIS2005\Anonymou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 y="1104"/>
              <a:ext cx="1248" cy="124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5" descr="C:\Documents and Settings\Andrei\Desktop\Research\CASSIS2005\Anonymou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 y="2688"/>
              <a:ext cx="1248" cy="124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C:\Documents and Settings\Andrei\Desktop\Research\CASSIS2005\Anonymou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6" y="1104"/>
              <a:ext cx="1248" cy="124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7" descr="C:\Documents and Settings\Andrei\Desktop\Research\CASSIS2005\Anonymou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6" y="2640"/>
              <a:ext cx="1248" cy="124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C:\Documents and Settings\Andrei\Desktop\Research\CASSIS2005\Anonymou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6" y="1824"/>
              <a:ext cx="1248" cy="1248"/>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Text Box 11"/>
          <p:cNvSpPr txBox="1">
            <a:spLocks noChangeArrowheads="1"/>
          </p:cNvSpPr>
          <p:nvPr/>
        </p:nvSpPr>
        <p:spPr bwMode="auto">
          <a:xfrm>
            <a:off x="7056061" y="1835903"/>
            <a:ext cx="32766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dirty="0"/>
              <a:t>Actually, we assume humans are tied to computers </a:t>
            </a:r>
          </a:p>
          <a:p>
            <a:r>
              <a:rPr lang="en-US" sz="2000" dirty="0"/>
              <a:t>and </a:t>
            </a:r>
            <a:r>
              <a:rPr lang="en-US" sz="2000" dirty="0" err="1"/>
              <a:t>anonymize</a:t>
            </a:r>
            <a:r>
              <a:rPr lang="en-US" sz="2000" dirty="0"/>
              <a:t> those</a:t>
            </a:r>
          </a:p>
        </p:txBody>
      </p:sp>
      <p:sp>
        <p:nvSpPr>
          <p:cNvPr id="17" name="Text Box 12"/>
          <p:cNvSpPr txBox="1">
            <a:spLocks noChangeArrowheads="1"/>
          </p:cNvSpPr>
          <p:nvPr/>
        </p:nvSpPr>
        <p:spPr bwMode="auto">
          <a:xfrm>
            <a:off x="7175326" y="3721203"/>
            <a:ext cx="32766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000" dirty="0"/>
              <a:t>Anonymity does not hide the </a:t>
            </a:r>
            <a:r>
              <a:rPr lang="en-US" sz="2000" b="1" dirty="0"/>
              <a:t>presence</a:t>
            </a:r>
            <a:r>
              <a:rPr lang="en-US" sz="2000" dirty="0"/>
              <a:t> of the </a:t>
            </a:r>
          </a:p>
          <a:p>
            <a:r>
              <a:rPr lang="en-US" sz="2000" dirty="0"/>
              <a:t>individuals/computers</a:t>
            </a:r>
          </a:p>
          <a:p>
            <a:r>
              <a:rPr lang="en-US" sz="2000" dirty="0"/>
              <a:t>just their </a:t>
            </a:r>
            <a:r>
              <a:rPr lang="en-US" sz="2000" b="1" dirty="0"/>
              <a:t>identity</a:t>
            </a:r>
          </a:p>
        </p:txBody>
      </p:sp>
    </p:spTree>
    <p:extLst>
      <p:ext uri="{BB962C8B-B14F-4D97-AF65-F5344CB8AC3E}">
        <p14:creationId xmlns:p14="http://schemas.microsoft.com/office/powerpoint/2010/main" val="4225454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Anonymity System</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5</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982638" y="1340768"/>
            <a:ext cx="9866481" cy="471388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lnSpc>
                <a:spcPct val="120000"/>
              </a:lnSpc>
              <a:defRPr/>
            </a:pPr>
            <a:endParaRPr lang="en-US" dirty="0"/>
          </a:p>
        </p:txBody>
      </p:sp>
      <p:sp>
        <p:nvSpPr>
          <p:cNvPr id="10" name="Rectangle 2"/>
          <p:cNvSpPr txBox="1">
            <a:spLocks noChangeArrowheads="1"/>
          </p:cNvSpPr>
          <p:nvPr/>
        </p:nvSpPr>
        <p:spPr>
          <a:xfrm>
            <a:off x="2209006" y="508611"/>
            <a:ext cx="7772400" cy="1143000"/>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6000" kern="1200">
                <a:solidFill>
                  <a:schemeClr val="tx1"/>
                </a:solidFill>
                <a:latin typeface="+mj-lt"/>
                <a:ea typeface="+mj-ea"/>
                <a:cs typeface="+mj-cs"/>
              </a:defRPr>
            </a:lvl1pPr>
          </a:lstStyle>
          <a:p>
            <a:endParaRPr lang="en-US" dirty="0"/>
          </a:p>
        </p:txBody>
      </p:sp>
      <p:grpSp>
        <p:nvGrpSpPr>
          <p:cNvPr id="11" name="Group 4"/>
          <p:cNvGrpSpPr>
            <a:grpSpLocks/>
          </p:cNvGrpSpPr>
          <p:nvPr/>
        </p:nvGrpSpPr>
        <p:grpSpPr bwMode="auto">
          <a:xfrm>
            <a:off x="7162006" y="2566011"/>
            <a:ext cx="2895600" cy="2362200"/>
            <a:chOff x="1152" y="1104"/>
            <a:chExt cx="3312" cy="2832"/>
          </a:xfrm>
        </p:grpSpPr>
        <p:pic>
          <p:nvPicPr>
            <p:cNvPr id="12" name="Picture 5" descr="C:\Documents and Settings\Andrei\Desktop\Research\CASSIS2005\Anonymou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 y="1104"/>
              <a:ext cx="1248" cy="124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C:\Documents and Settings\Andrei\Desktop\Research\CASSIS2005\Anonymou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 y="2688"/>
              <a:ext cx="1248" cy="124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7" descr="C:\Documents and Settings\Andrei\Desktop\Research\CASSIS2005\Anonymou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6" y="1104"/>
              <a:ext cx="1248" cy="124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C:\Documents and Settings\Andrei\Desktop\Research\CASSIS2005\Anonymou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6" y="2640"/>
              <a:ext cx="1248" cy="124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9" descr="C:\Documents and Settings\Andrei\Desktop\Research\CASSIS2005\Anonymou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6" y="1824"/>
              <a:ext cx="1248" cy="1248"/>
            </a:xfrm>
            <a:prstGeom prst="rect">
              <a:avLst/>
            </a:prstGeom>
            <a:noFill/>
            <a:extLst>
              <a:ext uri="{909E8E84-426E-40DD-AFC4-6F175D3DCCD1}">
                <a14:hiddenFill xmlns:a14="http://schemas.microsoft.com/office/drawing/2010/main">
                  <a:solidFill>
                    <a:srgbClr val="FFFFFF"/>
                  </a:solidFill>
                </a14:hiddenFill>
              </a:ext>
            </a:extLst>
          </p:spPr>
        </p:pic>
      </p:grpSp>
      <p:pic>
        <p:nvPicPr>
          <p:cNvPr id="17" name="Picture 10" descr="C:\Documents and Settings\Andrei\Desktop\Research\CASSIS2005\user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0406" y="2185011"/>
            <a:ext cx="1282700" cy="97790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1" descr="C:\Documents and Settings\Andrei\Desktop\Research\CASSIS2005\user2.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006" y="3328011"/>
            <a:ext cx="1498600" cy="10287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C:\Documents and Settings\Andrei\Desktop\Research\CASSIS2005\user3.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4206" y="4547211"/>
            <a:ext cx="1676400" cy="14351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3" descr="C:\Documents and Settings\Andrei\Desktop\Research\CASSIS2005\user4.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4006" y="1956411"/>
            <a:ext cx="15240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4" descr="C:\Documents and Settings\Andrei\Desktop\Research\CASSIS2005\user5.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7406" y="4471011"/>
            <a:ext cx="825500" cy="1346200"/>
          </a:xfrm>
          <a:prstGeom prst="rect">
            <a:avLst/>
          </a:prstGeom>
          <a:noFill/>
          <a:extLst>
            <a:ext uri="{909E8E84-426E-40DD-AFC4-6F175D3DCCD1}">
              <a14:hiddenFill xmlns:a14="http://schemas.microsoft.com/office/drawing/2010/main">
                <a:solidFill>
                  <a:srgbClr val="FFFFFF"/>
                </a:solidFill>
              </a14:hiddenFill>
            </a:ext>
          </a:extLst>
        </p:spPr>
      </p:pic>
      <p:sp>
        <p:nvSpPr>
          <p:cNvPr id="22" name="AutoShape 15"/>
          <p:cNvSpPr>
            <a:spLocks noChangeArrowheads="1"/>
          </p:cNvSpPr>
          <p:nvPr/>
        </p:nvSpPr>
        <p:spPr bwMode="auto">
          <a:xfrm>
            <a:off x="5257006" y="3328011"/>
            <a:ext cx="1676400" cy="838200"/>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Text Box 16"/>
          <p:cNvSpPr txBox="1">
            <a:spLocks noChangeArrowheads="1"/>
          </p:cNvSpPr>
          <p:nvPr/>
        </p:nvSpPr>
        <p:spPr bwMode="auto">
          <a:xfrm>
            <a:off x="6141243" y="5478160"/>
            <a:ext cx="38401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This guy does not even know </a:t>
            </a:r>
          </a:p>
          <a:p>
            <a:r>
              <a:rPr lang="en-US" dirty="0"/>
              <a:t>he is on the internet(!)</a:t>
            </a:r>
          </a:p>
        </p:txBody>
      </p:sp>
    </p:spTree>
    <p:extLst>
      <p:ext uri="{BB962C8B-B14F-4D97-AF65-F5344CB8AC3E}">
        <p14:creationId xmlns:p14="http://schemas.microsoft.com/office/powerpoint/2010/main" val="3261549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Anonymity Properties: Untraceable</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6</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982638" y="1340768"/>
            <a:ext cx="9866481" cy="471388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lnSpc>
                <a:spcPct val="120000"/>
              </a:lnSpc>
              <a:defRPr/>
            </a:pPr>
            <a:endParaRPr lang="en-US" dirty="0"/>
          </a:p>
        </p:txBody>
      </p:sp>
      <p:pic>
        <p:nvPicPr>
          <p:cNvPr id="11" name="Picture 6" descr="C:\Documents and Settings\Andrei\Desktop\Research\CASSIS2005\receiver_anon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4613" y="1484784"/>
            <a:ext cx="6681788" cy="33655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 Box 7"/>
          <p:cNvSpPr txBox="1">
            <a:spLocks noChangeArrowheads="1"/>
          </p:cNvSpPr>
          <p:nvPr/>
        </p:nvSpPr>
        <p:spPr bwMode="auto">
          <a:xfrm>
            <a:off x="1090613" y="5006498"/>
            <a:ext cx="4114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dirty="0"/>
              <a:t>Senders are observable – i.e. the attacker knows that</a:t>
            </a:r>
          </a:p>
          <a:p>
            <a:pPr algn="ctr"/>
            <a:r>
              <a:rPr lang="en-US" b="1" dirty="0"/>
              <a:t>A sent a message to someone</a:t>
            </a:r>
          </a:p>
        </p:txBody>
      </p:sp>
      <p:sp>
        <p:nvSpPr>
          <p:cNvPr id="13" name="Text Box 8"/>
          <p:cNvSpPr txBox="1">
            <a:spLocks noChangeArrowheads="1"/>
          </p:cNvSpPr>
          <p:nvPr/>
        </p:nvSpPr>
        <p:spPr bwMode="auto">
          <a:xfrm>
            <a:off x="6095206" y="4983395"/>
            <a:ext cx="44069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dirty="0"/>
              <a:t>Receivers are not observable – </a:t>
            </a:r>
            <a:r>
              <a:rPr lang="en-US" dirty="0" err="1"/>
              <a:t>ie</a:t>
            </a:r>
            <a:r>
              <a:rPr lang="en-US" dirty="0"/>
              <a:t> the attacker does not know if </a:t>
            </a:r>
          </a:p>
          <a:p>
            <a:pPr algn="ctr"/>
            <a:r>
              <a:rPr lang="en-US" dirty="0"/>
              <a:t>B received a message</a:t>
            </a:r>
          </a:p>
        </p:txBody>
      </p:sp>
      <p:sp>
        <p:nvSpPr>
          <p:cNvPr id="14" name="Text Box 9"/>
          <p:cNvSpPr txBox="1">
            <a:spLocks noChangeArrowheads="1"/>
          </p:cNvSpPr>
          <p:nvPr/>
        </p:nvSpPr>
        <p:spPr bwMode="auto">
          <a:xfrm>
            <a:off x="2614613" y="6158232"/>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sp>
        <p:nvSpPr>
          <p:cNvPr id="15" name="Text Box 10"/>
          <p:cNvSpPr txBox="1">
            <a:spLocks noChangeArrowheads="1"/>
          </p:cNvSpPr>
          <p:nvPr/>
        </p:nvSpPr>
        <p:spPr bwMode="auto">
          <a:xfrm>
            <a:off x="3148013" y="2043432"/>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chemeClr val="accent2"/>
                </a:solidFill>
              </a:rPr>
              <a:t>A</a:t>
            </a:r>
          </a:p>
        </p:txBody>
      </p:sp>
      <p:sp>
        <p:nvSpPr>
          <p:cNvPr id="16" name="Text Box 11"/>
          <p:cNvSpPr txBox="1">
            <a:spLocks noChangeArrowheads="1"/>
          </p:cNvSpPr>
          <p:nvPr/>
        </p:nvSpPr>
        <p:spPr bwMode="auto">
          <a:xfrm>
            <a:off x="7796213" y="3186432"/>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rgbClr val="FF0000"/>
                </a:solidFill>
              </a:rPr>
              <a:t>B</a:t>
            </a:r>
          </a:p>
        </p:txBody>
      </p:sp>
    </p:spTree>
    <p:extLst>
      <p:ext uri="{BB962C8B-B14F-4D97-AF65-F5344CB8AC3E}">
        <p14:creationId xmlns:p14="http://schemas.microsoft.com/office/powerpoint/2010/main" val="1831179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Anonymity Properties: </a:t>
              </a:r>
              <a:r>
                <a:rPr lang="en-US" altLang="zh-CN" sz="2800" b="1" dirty="0" err="1">
                  <a:latin typeface="微软雅黑" pitchFamily="34" charset="-122"/>
                  <a:ea typeface="微软雅黑" pitchFamily="34" charset="-122"/>
                </a:rPr>
                <a:t>Unlinkability</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7</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982638" y="1340768"/>
            <a:ext cx="9866481" cy="471388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lnSpc>
                <a:spcPct val="120000"/>
              </a:lnSpc>
              <a:defRPr/>
            </a:pPr>
            <a:endParaRPr lang="en-US" dirty="0"/>
          </a:p>
        </p:txBody>
      </p:sp>
      <p:sp>
        <p:nvSpPr>
          <p:cNvPr id="14" name="Text Box 9"/>
          <p:cNvSpPr txBox="1">
            <a:spLocks noChangeArrowheads="1"/>
          </p:cNvSpPr>
          <p:nvPr/>
        </p:nvSpPr>
        <p:spPr bwMode="auto">
          <a:xfrm>
            <a:off x="2614613" y="6158232"/>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sp>
        <p:nvSpPr>
          <p:cNvPr id="17" name="Text Box 4"/>
          <p:cNvSpPr txBox="1">
            <a:spLocks noChangeArrowheads="1"/>
          </p:cNvSpPr>
          <p:nvPr/>
        </p:nvSpPr>
        <p:spPr bwMode="auto">
          <a:xfrm>
            <a:off x="3799433" y="4725144"/>
            <a:ext cx="423289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dirty="0"/>
              <a:t>Senders and Receivers are observable, </a:t>
            </a:r>
          </a:p>
          <a:p>
            <a:r>
              <a:rPr lang="en-US" sz="2000" dirty="0"/>
              <a:t>but not clear who is talking to whom</a:t>
            </a:r>
          </a:p>
        </p:txBody>
      </p:sp>
      <p:pic>
        <p:nvPicPr>
          <p:cNvPr id="18" name="Picture 5" descr="C:\Documents and Settings\Andrei\Desktop\Research\CASSIS2005\unlinkabilit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6904" y="1844824"/>
            <a:ext cx="7493000" cy="272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7924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Need of Anonymity</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8</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66614" y="1196752"/>
            <a:ext cx="10225136" cy="5040559"/>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marL="342900" indent="-342900" algn="just">
              <a:lnSpc>
                <a:spcPct val="120000"/>
              </a:lnSpc>
              <a:buFont typeface="Wingdings" pitchFamily="2" charset="2"/>
              <a:buChar char="v"/>
              <a:defRPr/>
            </a:pPr>
            <a:r>
              <a:rPr lang="en-US" sz="2000" dirty="0"/>
              <a:t>An important example for anonymity being not only protected, but enforced by law is the vote in free elections.</a:t>
            </a:r>
          </a:p>
          <a:p>
            <a:pPr marL="342900" indent="-342900" algn="just">
              <a:lnSpc>
                <a:spcPct val="120000"/>
              </a:lnSpc>
              <a:buFont typeface="Wingdings" pitchFamily="2" charset="2"/>
              <a:buChar char="v"/>
              <a:defRPr/>
            </a:pPr>
            <a:r>
              <a:rPr lang="en-US" sz="2000" dirty="0"/>
              <a:t>In many other situations (like conversation between strangers, buying some product or service in a shop), anonymity is traditionally accepted as natural. </a:t>
            </a:r>
          </a:p>
          <a:p>
            <a:pPr marL="342900" indent="-342900" algn="just">
              <a:lnSpc>
                <a:spcPct val="120000"/>
              </a:lnSpc>
              <a:buFont typeface="Wingdings" pitchFamily="2" charset="2"/>
              <a:buChar char="v"/>
              <a:defRPr/>
            </a:pPr>
            <a:r>
              <a:rPr lang="en-US" sz="2000" dirty="0"/>
              <a:t>There are also various situations in which a person might choose to withhold their identity. Acts of charity have been performed anonymously when benefactors do not wish to be acknowledged. </a:t>
            </a:r>
          </a:p>
          <a:p>
            <a:pPr marL="342900" indent="-342900" algn="just">
              <a:lnSpc>
                <a:spcPct val="120000"/>
              </a:lnSpc>
              <a:buFont typeface="Wingdings" pitchFamily="2" charset="2"/>
              <a:buChar char="v"/>
              <a:defRPr/>
            </a:pPr>
            <a:r>
              <a:rPr lang="en-US" sz="2000" dirty="0"/>
              <a:t>A person who feels threatened might attempt to mitigate that threat through anonymity</a:t>
            </a:r>
          </a:p>
          <a:p>
            <a:pPr marL="342900" indent="-342900" algn="just">
              <a:lnSpc>
                <a:spcPct val="120000"/>
              </a:lnSpc>
              <a:buFont typeface="Wingdings" pitchFamily="2" charset="2"/>
              <a:buChar char="v"/>
              <a:defRPr/>
            </a:pPr>
            <a:r>
              <a:rPr lang="en-US" sz="2000" dirty="0"/>
              <a:t>A witness to a crime might seek to avoid retribution, for example, by anonymously calling a crime </a:t>
            </a:r>
            <a:r>
              <a:rPr lang="en-US" sz="2000" dirty="0" err="1"/>
              <a:t>tipline</a:t>
            </a:r>
            <a:r>
              <a:rPr lang="en-US" sz="2000" dirty="0"/>
              <a:t>. </a:t>
            </a:r>
          </a:p>
          <a:p>
            <a:pPr marL="342900" indent="-342900" algn="just">
              <a:lnSpc>
                <a:spcPct val="120000"/>
              </a:lnSpc>
              <a:buFont typeface="Wingdings" pitchFamily="2" charset="2"/>
              <a:buChar char="v"/>
              <a:defRPr/>
            </a:pPr>
            <a:r>
              <a:rPr lang="en-US" sz="2000" dirty="0"/>
              <a:t>Criminals might proceed anonymously to conceal their participation in a crime.</a:t>
            </a:r>
          </a:p>
          <a:p>
            <a:pPr marL="342900" indent="-342900" algn="just">
              <a:lnSpc>
                <a:spcPct val="120000"/>
              </a:lnSpc>
              <a:buFont typeface="Wingdings" pitchFamily="2" charset="2"/>
              <a:buChar char="v"/>
              <a:defRPr/>
            </a:pPr>
            <a:r>
              <a:rPr lang="en-US" sz="2000" dirty="0"/>
              <a:t> Anonymity may also be created unintentionally, through the loss of identifying information due to the passage of time or a destructive event</a:t>
            </a:r>
          </a:p>
        </p:txBody>
      </p:sp>
    </p:spTree>
    <p:extLst>
      <p:ext uri="{BB962C8B-B14F-4D97-AF65-F5344CB8AC3E}">
        <p14:creationId xmlns:p14="http://schemas.microsoft.com/office/powerpoint/2010/main" val="649456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Pseudonymity</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9</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66614" y="1196752"/>
            <a:ext cx="10225136" cy="5040559"/>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marL="342900" indent="-342900" algn="just">
              <a:lnSpc>
                <a:spcPct val="120000"/>
              </a:lnSpc>
              <a:buFont typeface="Wingdings" pitchFamily="2" charset="2"/>
              <a:buChar char="v"/>
              <a:defRPr/>
            </a:pPr>
            <a:r>
              <a:rPr lang="en-US" sz="2000" dirty="0"/>
              <a:t>Sometimes a person may desire a long-term relationship (such as a reputation) with another party without necessarily disclosing personally identifying information to that party. </a:t>
            </a:r>
          </a:p>
          <a:p>
            <a:pPr marL="342900" indent="-342900" algn="just">
              <a:lnSpc>
                <a:spcPct val="120000"/>
              </a:lnSpc>
              <a:buFont typeface="Wingdings" pitchFamily="2" charset="2"/>
              <a:buChar char="v"/>
              <a:defRPr/>
            </a:pPr>
            <a:r>
              <a:rPr lang="en-US" sz="2000" dirty="0"/>
              <a:t>In this case, it may be useful for the person to establish a unique identifier, called a pseudonym. </a:t>
            </a:r>
          </a:p>
          <a:p>
            <a:pPr marL="342900" indent="-342900" algn="just">
              <a:lnSpc>
                <a:spcPct val="120000"/>
              </a:lnSpc>
              <a:buFont typeface="Wingdings" pitchFamily="2" charset="2"/>
              <a:buChar char="v"/>
              <a:defRPr/>
            </a:pPr>
            <a:r>
              <a:rPr lang="en-US" sz="2000" dirty="0"/>
              <a:t>Examples of pseudonyms are pen names, nicknames, credit card numbers, student numbers, bank account numbers, etc. </a:t>
            </a:r>
          </a:p>
          <a:p>
            <a:pPr marL="342900" indent="-342900" algn="just">
              <a:lnSpc>
                <a:spcPct val="120000"/>
              </a:lnSpc>
              <a:buFont typeface="Wingdings" pitchFamily="2" charset="2"/>
              <a:buChar char="v"/>
              <a:defRPr/>
            </a:pPr>
            <a:r>
              <a:rPr lang="en-US" sz="2000" dirty="0"/>
              <a:t>A pseudonym enables the other party to link different messages from the same person and, thereby, to establish a long-term relationship. </a:t>
            </a:r>
          </a:p>
          <a:p>
            <a:pPr marL="342900" indent="-342900" algn="just">
              <a:lnSpc>
                <a:spcPct val="120000"/>
              </a:lnSpc>
              <a:buFont typeface="Wingdings" pitchFamily="2" charset="2"/>
              <a:buChar char="v"/>
              <a:defRPr/>
            </a:pPr>
            <a:r>
              <a:rPr lang="en-US" sz="2000" dirty="0"/>
              <a:t>Pseudonyms are widely used in social networks and other virtual communication, although recently some important service providers like Google try to discourage </a:t>
            </a:r>
            <a:r>
              <a:rPr lang="en-US" sz="2000" dirty="0" err="1"/>
              <a:t>pseudonymity</a:t>
            </a:r>
            <a:r>
              <a:rPr lang="en-US" sz="2000" dirty="0"/>
              <a:t>.</a:t>
            </a:r>
            <a:endParaRPr lang="en-US" sz="2000" baseline="30000" dirty="0"/>
          </a:p>
          <a:p>
            <a:pPr marL="342900" indent="-342900" algn="just">
              <a:lnSpc>
                <a:spcPct val="120000"/>
              </a:lnSpc>
              <a:buFont typeface="Wingdings" pitchFamily="2" charset="2"/>
              <a:buChar char="v"/>
              <a:defRPr/>
            </a:pPr>
            <a:r>
              <a:rPr lang="en-US" sz="2000" dirty="0"/>
              <a:t>Someone using a pseudonym would be strictly considered to be using "</a:t>
            </a:r>
            <a:r>
              <a:rPr lang="en-US" sz="2000" dirty="0" err="1"/>
              <a:t>pseudonymity</a:t>
            </a:r>
            <a:r>
              <a:rPr lang="en-US" sz="2000" dirty="0"/>
              <a:t>" not "anonymity", but sometimes the latter is used to refer to both (in general, a situation where the legal identity of the person is disguised)</a:t>
            </a:r>
          </a:p>
        </p:txBody>
      </p:sp>
    </p:spTree>
    <p:extLst>
      <p:ext uri="{BB962C8B-B14F-4D97-AF65-F5344CB8AC3E}">
        <p14:creationId xmlns:p14="http://schemas.microsoft.com/office/powerpoint/2010/main" val="3265584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4000" dirty="0">
                  <a:solidFill>
                    <a:srgbClr val="FF0000"/>
                  </a:solidFill>
                </a:rPr>
                <a:t>Is it good or bad?</a:t>
              </a:r>
              <a:endParaRPr lang="zh-CN" altLang="en-US" sz="4000" dirty="0">
                <a:solidFill>
                  <a:srgbClr val="FF0000"/>
                </a:solidFill>
              </a:endParaRPr>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Anonymity/</a:t>
              </a:r>
              <a:r>
                <a:rPr lang="en-US" altLang="zh-CN" sz="2800" b="1" dirty="0" err="1">
                  <a:latin typeface="微软雅黑" pitchFamily="34" charset="-122"/>
                  <a:ea typeface="微软雅黑" pitchFamily="34" charset="-122"/>
                </a:rPr>
                <a:t>Pseudonymity</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10</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66614" y="1196752"/>
            <a:ext cx="10225136" cy="5040559"/>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marL="342900" indent="-342900" algn="just">
              <a:lnSpc>
                <a:spcPct val="120000"/>
              </a:lnSpc>
              <a:buFont typeface="Wingdings" pitchFamily="2" charset="2"/>
              <a:buChar char="v"/>
              <a:defRPr/>
            </a:pPr>
            <a:endParaRPr lang="en-US" sz="2000" dirty="0"/>
          </a:p>
        </p:txBody>
      </p:sp>
    </p:spTree>
    <p:extLst>
      <p:ext uri="{BB962C8B-B14F-4D97-AF65-F5344CB8AC3E}">
        <p14:creationId xmlns:p14="http://schemas.microsoft.com/office/powerpoint/2010/main" val="3387318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Psychological Effect</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11</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66614" y="1340769"/>
            <a:ext cx="10225136" cy="5040559"/>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marL="342900" indent="-342900" algn="just">
              <a:buFont typeface="Wingdings" pitchFamily="2" charset="2"/>
              <a:buChar char="v"/>
            </a:pPr>
            <a:r>
              <a:rPr lang="en-US" sz="2000" dirty="0"/>
              <a:t>Anonymity may reduce the accountability one perceives to have for their actions, and removes the impact these actions might otherwise have on their reputation. </a:t>
            </a:r>
          </a:p>
          <a:p>
            <a:pPr marL="342900" indent="-342900" algn="just">
              <a:buFont typeface="Wingdings" pitchFamily="2" charset="2"/>
              <a:buChar char="v"/>
            </a:pPr>
            <a:r>
              <a:rPr lang="en-US" sz="2000" dirty="0"/>
              <a:t>This can have dramatic effects, both useful and harmful to various parties involved. </a:t>
            </a:r>
          </a:p>
          <a:p>
            <a:pPr marL="342900" indent="-342900" algn="just">
              <a:buFont typeface="Wingdings" pitchFamily="2" charset="2"/>
              <a:buChar char="v"/>
            </a:pPr>
            <a:r>
              <a:rPr lang="en-US" sz="2000" dirty="0"/>
              <a:t>Thus, it may be used for psychological tactics involving any respective party to purport or support or discredit any sort of activity or belief.</a:t>
            </a:r>
          </a:p>
          <a:p>
            <a:pPr marL="342900" indent="-342900" algn="just">
              <a:buFont typeface="Wingdings" pitchFamily="2" charset="2"/>
              <a:buChar char="v"/>
            </a:pPr>
            <a:r>
              <a:rPr lang="en-US" sz="2000" dirty="0"/>
              <a:t>In conversational settings, anonymity may allow people to reveal personal history and feelings without fear of later embarrassment. </a:t>
            </a:r>
          </a:p>
          <a:p>
            <a:pPr marL="342900" indent="-342900" algn="just">
              <a:buFont typeface="Wingdings" pitchFamily="2" charset="2"/>
              <a:buChar char="v"/>
            </a:pPr>
            <a:r>
              <a:rPr lang="en-US" sz="2000" dirty="0"/>
              <a:t>Electronic conversational media can provide physical isolation, in addition to anonymity. </a:t>
            </a:r>
          </a:p>
          <a:p>
            <a:pPr marL="342900" indent="-342900" algn="just">
              <a:buFont typeface="Wingdings" pitchFamily="2" charset="2"/>
              <a:buChar char="v"/>
            </a:pPr>
            <a:r>
              <a:rPr lang="en-US" sz="2000" dirty="0"/>
              <a:t>This prevents physical retaliation for remarks, and prevents negative behavior or discussion from tarnishing the reputation of the speaker. </a:t>
            </a:r>
          </a:p>
          <a:p>
            <a:pPr marL="342900" indent="-342900" algn="just">
              <a:buFont typeface="Wingdings" pitchFamily="2" charset="2"/>
              <a:buChar char="v"/>
            </a:pPr>
            <a:r>
              <a:rPr lang="en-US" sz="2000" dirty="0"/>
              <a:t>This can be beneficial when discussing very private matters, or taboo subjects or expressing views or revealing facts that may put someone in physical, financial, or legal danger (such as illegal activity, or unpopular, or outlawed political views).</a:t>
            </a:r>
          </a:p>
        </p:txBody>
      </p:sp>
    </p:spTree>
    <p:extLst>
      <p:ext uri="{BB962C8B-B14F-4D97-AF65-F5344CB8AC3E}">
        <p14:creationId xmlns:p14="http://schemas.microsoft.com/office/powerpoint/2010/main" val="1447848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Privacy vs. Anonymity</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12</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94228" y="1268766"/>
            <a:ext cx="10225136" cy="5040559"/>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marL="342900" indent="-342900" algn="just">
              <a:buFont typeface="Wingdings" pitchFamily="2" charset="2"/>
              <a:buChar char="v"/>
            </a:pPr>
            <a:r>
              <a:rPr lang="en-US" sz="2000" dirty="0"/>
              <a:t>Two different concepts. </a:t>
            </a:r>
          </a:p>
          <a:p>
            <a:pPr marL="342900" indent="-342900" algn="just">
              <a:buFont typeface="Wingdings" pitchFamily="2" charset="2"/>
              <a:buChar char="v"/>
            </a:pPr>
            <a:r>
              <a:rPr lang="en-US" sz="2000" b="1" dirty="0"/>
              <a:t>Privacy</a:t>
            </a:r>
            <a:r>
              <a:rPr lang="en-US" sz="2000" dirty="0"/>
              <a:t> is the ability to keep some things to yourself, regardless of their impact to society. </a:t>
            </a:r>
          </a:p>
          <a:p>
            <a:pPr marL="342900" indent="-342900" algn="just">
              <a:buFont typeface="Wingdings" pitchFamily="2" charset="2"/>
              <a:buChar char="v"/>
            </a:pPr>
            <a:r>
              <a:rPr lang="en-US" sz="2000" dirty="0"/>
              <a:t>To take an example, I lock the door when I go to the men’s room – not because I’m doing something criminal or plotting to overthrow the government in the men’s room, but simply because I want to keep the activity there to myself.</a:t>
            </a:r>
          </a:p>
          <a:p>
            <a:pPr marL="342900" indent="-342900" algn="just">
              <a:buFont typeface="Wingdings" pitchFamily="2" charset="2"/>
              <a:buChar char="v"/>
            </a:pPr>
            <a:r>
              <a:rPr lang="en-US" sz="2000" dirty="0"/>
              <a:t>So privacy is a concept describing activities that you keep entirely to yourself, or to a limited group of people.</a:t>
            </a:r>
          </a:p>
          <a:p>
            <a:pPr marL="342900" indent="-342900" algn="just">
              <a:buFont typeface="Wingdings" pitchFamily="2" charset="2"/>
              <a:buChar char="v"/>
            </a:pPr>
            <a:r>
              <a:rPr lang="en-US" sz="2000" b="1" dirty="0"/>
              <a:t>Anonymity</a:t>
            </a:r>
            <a:r>
              <a:rPr lang="en-US" sz="2000" dirty="0"/>
              <a:t> is when you </a:t>
            </a:r>
            <a:r>
              <a:rPr lang="en-US" sz="2000" i="1" dirty="0"/>
              <a:t>want</a:t>
            </a:r>
            <a:r>
              <a:rPr lang="en-US" sz="2000" dirty="0"/>
              <a:t> people to see what you do, just not that it’s you doing it. </a:t>
            </a:r>
          </a:p>
          <a:p>
            <a:pPr marL="342900" indent="-342900" algn="just">
              <a:buFont typeface="Wingdings" pitchFamily="2" charset="2"/>
              <a:buChar char="v"/>
            </a:pPr>
            <a:r>
              <a:rPr lang="en-US" sz="2000" dirty="0"/>
              <a:t>Anonymity is when nobody knows who you are but potentially they know what you are doing.</a:t>
            </a:r>
          </a:p>
          <a:p>
            <a:pPr marL="342900" indent="-342900" algn="just">
              <a:buFont typeface="Wingdings" pitchFamily="2" charset="2"/>
              <a:buChar char="v"/>
            </a:pPr>
            <a:r>
              <a:rPr lang="en-US" sz="2000" dirty="0"/>
              <a:t>To be faceless and nameless.</a:t>
            </a:r>
          </a:p>
          <a:p>
            <a:pPr marL="342900" indent="-342900" algn="just">
              <a:buFont typeface="Wingdings" pitchFamily="2" charset="2"/>
              <a:buChar char="v"/>
            </a:pPr>
            <a:r>
              <a:rPr lang="en-US" sz="2000" dirty="0"/>
              <a:t>In this instance, you are keeping separate from your identity while making your non-private message. If you connect to the internet via a virtual private network (VPN), potentially you are anonymous, but say you post a message to that website, you are no longer private.</a:t>
            </a:r>
          </a:p>
          <a:p>
            <a:pPr marL="342900" indent="-342900" algn="just">
              <a:buFont typeface="Wingdings" pitchFamily="2" charset="2"/>
              <a:buChar char="v"/>
            </a:pPr>
            <a:r>
              <a:rPr lang="en-US" sz="2000" dirty="0"/>
              <a:t>You can also post such data anonymously online through a VPN, the TOR </a:t>
            </a:r>
            <a:r>
              <a:rPr lang="en-US" sz="2000" dirty="0" err="1"/>
              <a:t>anonymizing</a:t>
            </a:r>
            <a:r>
              <a:rPr lang="en-US" sz="2000" dirty="0"/>
              <a:t> network, or both. </a:t>
            </a:r>
          </a:p>
          <a:p>
            <a:pPr marL="342900" indent="-342900" algn="just">
              <a:buFont typeface="Wingdings" pitchFamily="2" charset="2"/>
              <a:buChar char="v"/>
            </a:pPr>
            <a:endParaRPr lang="en-US" sz="2000" dirty="0"/>
          </a:p>
        </p:txBody>
      </p:sp>
    </p:spTree>
    <p:extLst>
      <p:ext uri="{BB962C8B-B14F-4D97-AF65-F5344CB8AC3E}">
        <p14:creationId xmlns:p14="http://schemas.microsoft.com/office/powerpoint/2010/main" val="4184854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Privacy vs. Anonymity</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13</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46639" y="2407082"/>
            <a:ext cx="10225136" cy="227663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marL="342900" indent="-342900" algn="just">
              <a:buFont typeface="Wingdings" pitchFamily="2" charset="2"/>
              <a:buChar char="v"/>
            </a:pPr>
            <a:r>
              <a:rPr lang="en-US" sz="2000" dirty="0"/>
              <a:t>A transaction is “anonymous” if no one knows who you are. </a:t>
            </a:r>
          </a:p>
          <a:p>
            <a:pPr marL="342900" indent="-342900" algn="just">
              <a:buFont typeface="Wingdings" pitchFamily="2" charset="2"/>
              <a:buChar char="v"/>
            </a:pPr>
            <a:r>
              <a:rPr lang="en-US" sz="2000" dirty="0"/>
              <a:t>A transaction is “private” if what you purchased, and for what amount, are unknown</a:t>
            </a:r>
          </a:p>
          <a:p>
            <a:pPr marL="342900" indent="-342900" algn="just">
              <a:buFont typeface="Wingdings" pitchFamily="2" charset="2"/>
              <a:buChar char="v"/>
            </a:pPr>
            <a:r>
              <a:rPr lang="en-US" sz="2000" dirty="0"/>
              <a:t>Some transactions are private but not anonymous • For example, you might see a person listed as donating to a charity – however, the amount the person donated is not listed.</a:t>
            </a:r>
          </a:p>
        </p:txBody>
      </p:sp>
    </p:spTree>
    <p:extLst>
      <p:ext uri="{BB962C8B-B14F-4D97-AF65-F5344CB8AC3E}">
        <p14:creationId xmlns:p14="http://schemas.microsoft.com/office/powerpoint/2010/main" val="584056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Steps to be Anonymous User</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14</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46639" y="1196754"/>
            <a:ext cx="10225136" cy="5544614"/>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r>
              <a:rPr lang="en-US" sz="2000" b="1" dirty="0"/>
              <a:t>VPNs</a:t>
            </a:r>
          </a:p>
          <a:p>
            <a:pPr marL="342900" indent="-342900" algn="just">
              <a:lnSpc>
                <a:spcPct val="150000"/>
              </a:lnSpc>
              <a:buFont typeface="Wingdings" pitchFamily="2" charset="2"/>
              <a:buChar char="v"/>
            </a:pPr>
            <a:r>
              <a:rPr lang="en-US" sz="2000" dirty="0"/>
              <a:t>A </a:t>
            </a:r>
            <a:r>
              <a:rPr lang="en-US" sz="2000" dirty="0">
                <a:hlinkClick r:id="rId3"/>
              </a:rPr>
              <a:t>VPN</a:t>
            </a:r>
            <a:r>
              <a:rPr lang="en-US" sz="2000" dirty="0"/>
              <a:t> helps you maintain anonymity by hiding your real IP and internet activity from prying eyes</a:t>
            </a:r>
          </a:p>
          <a:p>
            <a:pPr marL="342900" indent="-342900" algn="just">
              <a:lnSpc>
                <a:spcPct val="150000"/>
              </a:lnSpc>
              <a:buFont typeface="Wingdings" pitchFamily="2" charset="2"/>
              <a:buChar char="v"/>
            </a:pPr>
            <a:r>
              <a:rPr lang="en-US" sz="2000" dirty="0"/>
              <a:t>Normally, your browser sends a query tagged with your IP every time you make an online search. </a:t>
            </a:r>
          </a:p>
          <a:p>
            <a:pPr marL="342900" indent="-342900" algn="just">
              <a:lnSpc>
                <a:spcPct val="150000"/>
              </a:lnSpc>
              <a:buFont typeface="Wingdings" pitchFamily="2" charset="2"/>
              <a:buChar char="v"/>
            </a:pPr>
            <a:r>
              <a:rPr lang="en-US" sz="2000" dirty="0"/>
              <a:t>Your </a:t>
            </a:r>
            <a:r>
              <a:rPr lang="en-US" sz="2000" dirty="0">
                <a:hlinkClick r:id="rId4"/>
              </a:rPr>
              <a:t>ISP</a:t>
            </a:r>
            <a:r>
              <a:rPr lang="en-US" sz="2000" dirty="0"/>
              <a:t> takes this query and sends it to a DNS server which then points you to the correct website.</a:t>
            </a:r>
          </a:p>
          <a:p>
            <a:pPr marL="342900" indent="-342900" algn="just">
              <a:lnSpc>
                <a:spcPct val="150000"/>
              </a:lnSpc>
              <a:buFont typeface="Wingdings" pitchFamily="2" charset="2"/>
              <a:buChar char="v"/>
            </a:pPr>
            <a:r>
              <a:rPr lang="en-US" sz="2000" dirty="0"/>
              <a:t>A VPN protects your identity by assigning you an anonymous IP and encrypting your data. </a:t>
            </a:r>
          </a:p>
          <a:p>
            <a:pPr marL="342900" indent="-342900" algn="just">
              <a:lnSpc>
                <a:spcPct val="150000"/>
              </a:lnSpc>
              <a:buFont typeface="Wingdings" pitchFamily="2" charset="2"/>
              <a:buChar char="v"/>
            </a:pPr>
            <a:r>
              <a:rPr lang="en-US" sz="2000" dirty="0"/>
              <a:t>This means that any query you send to your ISP will be encrypted and no longer display your real IP.</a:t>
            </a:r>
          </a:p>
          <a:p>
            <a:pPr marL="342900" indent="-342900" algn="just">
              <a:lnSpc>
                <a:spcPct val="150000"/>
              </a:lnSpc>
              <a:buFont typeface="Wingdings" pitchFamily="2" charset="2"/>
              <a:buChar char="v"/>
            </a:pPr>
            <a:r>
              <a:rPr lang="en-US" sz="2000" dirty="0" err="1"/>
              <a:t>Psiphone</a:t>
            </a:r>
            <a:r>
              <a:rPr lang="en-US" sz="2000" dirty="0"/>
              <a:t>, hotspot </a:t>
            </a:r>
            <a:r>
              <a:rPr lang="en-US" sz="2000" dirty="0" err="1"/>
              <a:t>sheild</a:t>
            </a:r>
            <a:r>
              <a:rPr lang="en-US" sz="2000" dirty="0"/>
              <a:t>, </a:t>
            </a:r>
            <a:r>
              <a:rPr lang="en-US" sz="2000" dirty="0" err="1"/>
              <a:t>supervpn</a:t>
            </a:r>
            <a:r>
              <a:rPr lang="en-US" sz="2000" dirty="0"/>
              <a:t> </a:t>
            </a:r>
          </a:p>
          <a:p>
            <a:pPr marL="457200" indent="-457200">
              <a:lnSpc>
                <a:spcPct val="150000"/>
              </a:lnSpc>
              <a:buAutoNum type="arabicPeriod"/>
            </a:pPr>
            <a:endParaRPr lang="en-US" sz="2000" dirty="0"/>
          </a:p>
        </p:txBody>
      </p:sp>
    </p:spTree>
    <p:extLst>
      <p:ext uri="{BB962C8B-B14F-4D97-AF65-F5344CB8AC3E}">
        <p14:creationId xmlns:p14="http://schemas.microsoft.com/office/powerpoint/2010/main" val="941300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Steps to be Anonymous User</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15</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46639" y="1196754"/>
            <a:ext cx="10225136" cy="489654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r>
              <a:rPr lang="en-US" sz="2000" b="1" dirty="0"/>
              <a:t>TOR Browser</a:t>
            </a:r>
          </a:p>
          <a:p>
            <a:pPr marL="342900" indent="-342900" algn="just">
              <a:buFont typeface="Wingdings" pitchFamily="2" charset="2"/>
              <a:buChar char="v"/>
            </a:pPr>
            <a:r>
              <a:rPr lang="en-US" sz="2000" dirty="0">
                <a:hlinkClick r:id="rId3"/>
              </a:rPr>
              <a:t>The Onion Router</a:t>
            </a:r>
            <a:r>
              <a:rPr lang="en-US" sz="2000" dirty="0"/>
              <a:t> (TOR) is a browser that strengthens your online anonymity even more by using different layers of encryption– thereby protecting your internet activity which includes “visits to Web sites, online posts, instant messages, and other communication forms”.</a:t>
            </a:r>
          </a:p>
          <a:p>
            <a:pPr marL="342900" indent="-342900" algn="just">
              <a:buFont typeface="Wingdings" pitchFamily="2" charset="2"/>
              <a:buChar char="v"/>
            </a:pPr>
            <a:r>
              <a:rPr lang="en-US" sz="2000" dirty="0"/>
              <a:t>It works by first encasing your data in three layers of encryption. Your data is then bounced three times– each bounce taking off one layer of encryption. </a:t>
            </a:r>
          </a:p>
          <a:p>
            <a:pPr marL="342900" indent="-342900" algn="just">
              <a:buFont typeface="Wingdings" pitchFamily="2" charset="2"/>
              <a:buChar char="v"/>
            </a:pPr>
            <a:r>
              <a:rPr lang="en-US" sz="2000" dirty="0"/>
              <a:t>Once your data gets to the right server, it “puts back on” each layer it has shed as it successively bounces back to your device.</a:t>
            </a:r>
          </a:p>
          <a:p>
            <a:pPr marL="342900" indent="-342900" algn="just">
              <a:buFont typeface="Wingdings" pitchFamily="2" charset="2"/>
              <a:buChar char="v"/>
            </a:pPr>
            <a:r>
              <a:rPr lang="en-US" sz="2000" dirty="0"/>
              <a:t>You can even improve TOR by using it in combination with a </a:t>
            </a:r>
            <a:r>
              <a:rPr lang="en-US" sz="2000" dirty="0">
                <a:hlinkClick r:id="rId4"/>
              </a:rPr>
              <a:t>compatible VPN</a:t>
            </a:r>
            <a:r>
              <a:rPr lang="en-US" sz="2000" dirty="0"/>
              <a:t>.</a:t>
            </a:r>
          </a:p>
          <a:p>
            <a:pPr marL="342900" indent="-342900" algn="just">
              <a:buFont typeface="Wingdings" pitchFamily="2" charset="2"/>
              <a:buChar char="v"/>
            </a:pPr>
            <a:r>
              <a:rPr lang="en-US" sz="2000" dirty="0"/>
              <a:t>It is important to note, though, that using TOR won’t hide the fact that you’re using it. Some sites may restrict allowances made through TOR.</a:t>
            </a:r>
          </a:p>
          <a:p>
            <a:pPr marL="457200" indent="-457200" algn="just">
              <a:lnSpc>
                <a:spcPct val="150000"/>
              </a:lnSpc>
              <a:buAutoNum type="arabicPeriod"/>
            </a:pPr>
            <a:endParaRPr lang="en-US" sz="2000" dirty="0"/>
          </a:p>
        </p:txBody>
      </p:sp>
    </p:spTree>
    <p:extLst>
      <p:ext uri="{BB962C8B-B14F-4D97-AF65-F5344CB8AC3E}">
        <p14:creationId xmlns:p14="http://schemas.microsoft.com/office/powerpoint/2010/main" val="2399794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Steps to be Anonymous User</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16</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46639" y="1196754"/>
            <a:ext cx="10225136" cy="489654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r>
              <a:rPr lang="en-US" sz="2000" b="1" dirty="0"/>
              <a:t>Virtual machine</a:t>
            </a:r>
          </a:p>
          <a:p>
            <a:pPr marL="342900" indent="-342900" algn="just">
              <a:lnSpc>
                <a:spcPct val="150000"/>
              </a:lnSpc>
              <a:buFont typeface="Wingdings" pitchFamily="2" charset="2"/>
              <a:buChar char="v"/>
            </a:pPr>
            <a:r>
              <a:rPr lang="en-US" sz="2000" dirty="0"/>
              <a:t>A </a:t>
            </a:r>
            <a:r>
              <a:rPr lang="en-US" sz="2000" dirty="0">
                <a:hlinkClick r:id="rId3"/>
              </a:rPr>
              <a:t>Virtual machine</a:t>
            </a:r>
            <a:r>
              <a:rPr lang="en-US" sz="2000" dirty="0"/>
              <a:t> is basically a second computer within your computer. </a:t>
            </a:r>
          </a:p>
          <a:p>
            <a:pPr marL="342900" indent="-342900" algn="just">
              <a:lnSpc>
                <a:spcPct val="150000"/>
              </a:lnSpc>
              <a:buFont typeface="Wingdings" pitchFamily="2" charset="2"/>
              <a:buChar char="v"/>
            </a:pPr>
            <a:r>
              <a:rPr lang="en-US" sz="2000" dirty="0"/>
              <a:t>It lets you emulate another device through an application. </a:t>
            </a:r>
          </a:p>
          <a:p>
            <a:pPr marL="342900" indent="-342900" algn="just">
              <a:lnSpc>
                <a:spcPct val="150000"/>
              </a:lnSpc>
              <a:buFont typeface="Wingdings" pitchFamily="2" charset="2"/>
              <a:buChar char="v"/>
            </a:pPr>
            <a:r>
              <a:rPr lang="en-US" sz="2000" dirty="0"/>
              <a:t>This emulated computer can then be set according to your preferences.</a:t>
            </a:r>
          </a:p>
          <a:p>
            <a:pPr marL="342900" indent="-342900" algn="just">
              <a:lnSpc>
                <a:spcPct val="150000"/>
              </a:lnSpc>
              <a:buFont typeface="Wingdings" pitchFamily="2" charset="2"/>
              <a:buChar char="v"/>
            </a:pPr>
            <a:r>
              <a:rPr lang="en-US" sz="2000" dirty="0"/>
              <a:t>The best use for this tool, however, is for tasks that don’t involve an internet connection. </a:t>
            </a:r>
          </a:p>
          <a:p>
            <a:pPr marL="342900" indent="-342900" algn="just">
              <a:lnSpc>
                <a:spcPct val="150000"/>
              </a:lnSpc>
              <a:buFont typeface="Wingdings" pitchFamily="2" charset="2"/>
              <a:buChar char="v"/>
            </a:pPr>
            <a:r>
              <a:rPr lang="en-US" sz="2000" dirty="0"/>
              <a:t>It is best used for when you want to open a file and want to make sure no one is watching over your shoulder.</a:t>
            </a:r>
          </a:p>
          <a:p>
            <a:pPr marL="342900" indent="-342900" algn="just">
              <a:lnSpc>
                <a:spcPct val="150000"/>
              </a:lnSpc>
              <a:buFont typeface="Wingdings" pitchFamily="2" charset="2"/>
              <a:buChar char="v"/>
            </a:pPr>
            <a:r>
              <a:rPr lang="en-US" sz="2000" dirty="0"/>
              <a:t> After opening the file, you then simply delete the virtual machine.</a:t>
            </a:r>
          </a:p>
          <a:p>
            <a:pPr marL="342900" indent="-342900" algn="just">
              <a:lnSpc>
                <a:spcPct val="150000"/>
              </a:lnSpc>
              <a:buFont typeface="Wingdings" pitchFamily="2" charset="2"/>
              <a:buChar char="v"/>
            </a:pPr>
            <a:r>
              <a:rPr lang="en-US" sz="2000" dirty="0"/>
              <a:t>You can try </a:t>
            </a:r>
            <a:r>
              <a:rPr lang="en-US" sz="2000" dirty="0" err="1">
                <a:hlinkClick r:id="rId4"/>
              </a:rPr>
              <a:t>VirtualBox</a:t>
            </a:r>
            <a:r>
              <a:rPr lang="en-US" sz="2000" dirty="0"/>
              <a:t> which is available on Windows, Linux, and Mac.</a:t>
            </a:r>
          </a:p>
          <a:p>
            <a:pPr marL="457200" indent="-457200" algn="just">
              <a:lnSpc>
                <a:spcPct val="150000"/>
              </a:lnSpc>
              <a:buAutoNum type="arabicPeriod"/>
            </a:pPr>
            <a:endParaRPr lang="en-US" sz="2000" dirty="0"/>
          </a:p>
        </p:txBody>
      </p:sp>
    </p:spTree>
    <p:extLst>
      <p:ext uri="{BB962C8B-B14F-4D97-AF65-F5344CB8AC3E}">
        <p14:creationId xmlns:p14="http://schemas.microsoft.com/office/powerpoint/2010/main" val="2168702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Steps to be Anonymous User</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17</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46639" y="1196754"/>
            <a:ext cx="10225136" cy="489654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r>
              <a:rPr lang="en-US" sz="2000" b="1" dirty="0"/>
              <a:t>Proxy servers</a:t>
            </a:r>
          </a:p>
          <a:p>
            <a:pPr marL="342900" indent="-342900" algn="just">
              <a:lnSpc>
                <a:spcPct val="150000"/>
              </a:lnSpc>
              <a:buFont typeface="Wingdings" pitchFamily="2" charset="2"/>
              <a:buChar char="v"/>
            </a:pPr>
            <a:r>
              <a:rPr lang="en-US" sz="2000" dirty="0"/>
              <a:t>A </a:t>
            </a:r>
            <a:r>
              <a:rPr lang="en-US" sz="2000" dirty="0">
                <a:hlinkClick r:id="rId3"/>
              </a:rPr>
              <a:t>proxy server</a:t>
            </a:r>
            <a:r>
              <a:rPr lang="en-US" sz="2000" dirty="0"/>
              <a:t> is an intermediary between your device and the internet. </a:t>
            </a:r>
          </a:p>
          <a:p>
            <a:pPr marL="342900" indent="-342900" algn="just">
              <a:lnSpc>
                <a:spcPct val="150000"/>
              </a:lnSpc>
              <a:buFont typeface="Wingdings" pitchFamily="2" charset="2"/>
              <a:buChar char="v"/>
            </a:pPr>
            <a:r>
              <a:rPr lang="en-US" sz="2000" dirty="0"/>
              <a:t>It’s basically another computer that you use to process internet requests. </a:t>
            </a:r>
          </a:p>
          <a:p>
            <a:pPr marL="342900" indent="-342900" algn="just">
              <a:lnSpc>
                <a:spcPct val="150000"/>
              </a:lnSpc>
              <a:buFont typeface="Wingdings" pitchFamily="2" charset="2"/>
              <a:buChar char="v"/>
            </a:pPr>
            <a:r>
              <a:rPr lang="en-US" sz="2000" dirty="0"/>
              <a:t>It’s similar to a virtual machine in concept but it’s an entirely separate physical machine.</a:t>
            </a:r>
          </a:p>
          <a:p>
            <a:pPr marL="342900" indent="-342900" algn="just">
              <a:lnSpc>
                <a:spcPct val="150000"/>
              </a:lnSpc>
              <a:buFont typeface="Wingdings" pitchFamily="2" charset="2"/>
              <a:buChar char="v"/>
            </a:pPr>
            <a:r>
              <a:rPr lang="en-US" sz="2000" dirty="0"/>
              <a:t>It protects your anonymity in a similar way a VPN does (by hiding your IP) but it can also send a different user agent to keep your browser unidentifiable and block or accept </a:t>
            </a:r>
            <a:r>
              <a:rPr lang="en-US" sz="2000" dirty="0">
                <a:hlinkClick r:id="rId4"/>
              </a:rPr>
              <a:t>cookies</a:t>
            </a:r>
            <a:r>
              <a:rPr lang="en-US" sz="2000" dirty="0"/>
              <a:t> but keep them from passing to your device.</a:t>
            </a:r>
          </a:p>
          <a:p>
            <a:pPr marL="342900" indent="-342900" algn="just">
              <a:lnSpc>
                <a:spcPct val="150000"/>
              </a:lnSpc>
              <a:buFont typeface="Wingdings" pitchFamily="2" charset="2"/>
              <a:buChar char="v"/>
            </a:pPr>
            <a:r>
              <a:rPr lang="en-US" sz="2000" dirty="0"/>
              <a:t>Most VPN companies also offer proxy servers so they’re a good place to look for a reliable one.</a:t>
            </a:r>
          </a:p>
          <a:p>
            <a:pPr marL="457200" indent="-457200" algn="just">
              <a:lnSpc>
                <a:spcPct val="150000"/>
              </a:lnSpc>
              <a:buAutoNum type="arabicPeriod"/>
            </a:pPr>
            <a:endParaRPr lang="en-US" sz="2000" dirty="0"/>
          </a:p>
        </p:txBody>
      </p:sp>
    </p:spTree>
    <p:extLst>
      <p:ext uri="{BB962C8B-B14F-4D97-AF65-F5344CB8AC3E}">
        <p14:creationId xmlns:p14="http://schemas.microsoft.com/office/powerpoint/2010/main" val="2335528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Steps to be Anonymous User</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18</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46639" y="1196754"/>
            <a:ext cx="10225136" cy="489654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r>
              <a:rPr lang="en-US" sz="2000" b="1" dirty="0"/>
              <a:t>Incognito mode</a:t>
            </a:r>
          </a:p>
          <a:p>
            <a:pPr marL="342900" indent="-342900" algn="just">
              <a:lnSpc>
                <a:spcPct val="150000"/>
              </a:lnSpc>
              <a:buFont typeface="Wingdings" pitchFamily="2" charset="2"/>
              <a:buChar char="v"/>
            </a:pPr>
            <a:r>
              <a:rPr lang="en-US" sz="2000" dirty="0"/>
              <a:t>“Going incognito” is the easiest anonymity tool to come by.</a:t>
            </a:r>
          </a:p>
          <a:p>
            <a:pPr marL="342900" indent="-342900" algn="just">
              <a:lnSpc>
                <a:spcPct val="150000"/>
              </a:lnSpc>
              <a:buFont typeface="Wingdings" pitchFamily="2" charset="2"/>
              <a:buChar char="v"/>
            </a:pPr>
            <a:r>
              <a:rPr lang="en-US" sz="2000" dirty="0"/>
              <a:t>Your device will not store any data at all while in this mode including: your browsing history, cookies, site data, and information entered in forms.</a:t>
            </a:r>
          </a:p>
          <a:p>
            <a:pPr marL="342900" indent="-342900" algn="just">
              <a:lnSpc>
                <a:spcPct val="150000"/>
              </a:lnSpc>
              <a:buFont typeface="Wingdings" pitchFamily="2" charset="2"/>
              <a:buChar char="v"/>
            </a:pPr>
            <a:r>
              <a:rPr lang="en-US" sz="2000" dirty="0"/>
              <a:t>Most browsers have a privacy mode that you can easily use to hide your online activity from other users of the same device.</a:t>
            </a:r>
          </a:p>
          <a:p>
            <a:pPr marL="457200" indent="-457200" algn="just">
              <a:lnSpc>
                <a:spcPct val="150000"/>
              </a:lnSpc>
              <a:buAutoNum type="arabicPeriod"/>
            </a:pPr>
            <a:endParaRPr lang="en-US" sz="2000" dirty="0"/>
          </a:p>
        </p:txBody>
      </p:sp>
    </p:spTree>
    <p:extLst>
      <p:ext uri="{BB962C8B-B14F-4D97-AF65-F5344CB8AC3E}">
        <p14:creationId xmlns:p14="http://schemas.microsoft.com/office/powerpoint/2010/main" val="1240723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Steps to be Anonymous User</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19</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46639" y="1196754"/>
            <a:ext cx="10225136" cy="489654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lnSpc>
                <a:spcPct val="150000"/>
              </a:lnSpc>
            </a:pPr>
            <a:r>
              <a:rPr lang="en-US" sz="2000" b="1" dirty="0"/>
              <a:t>Ad blockers</a:t>
            </a:r>
          </a:p>
          <a:p>
            <a:pPr marL="342900" indent="-342900" algn="just">
              <a:lnSpc>
                <a:spcPct val="150000"/>
              </a:lnSpc>
              <a:buFont typeface="Wingdings" pitchFamily="2" charset="2"/>
              <a:buChar char="v"/>
            </a:pPr>
            <a:r>
              <a:rPr lang="en-US" sz="2000" dirty="0"/>
              <a:t>Ads are everywhere these days. Advertising has and always will be a lucrative business.</a:t>
            </a:r>
          </a:p>
          <a:p>
            <a:pPr marL="342900" indent="-342900" algn="just">
              <a:lnSpc>
                <a:spcPct val="150000"/>
              </a:lnSpc>
              <a:buFont typeface="Wingdings" pitchFamily="2" charset="2"/>
              <a:buChar char="v"/>
            </a:pPr>
            <a:r>
              <a:rPr lang="en-US" sz="2000" dirty="0"/>
              <a:t>That said, there is a difference between good ads and bad ads.</a:t>
            </a:r>
          </a:p>
          <a:p>
            <a:pPr marL="342900" indent="-342900" algn="just">
              <a:lnSpc>
                <a:spcPct val="150000"/>
              </a:lnSpc>
              <a:buFont typeface="Wingdings" pitchFamily="2" charset="2"/>
              <a:buChar char="v"/>
            </a:pPr>
            <a:r>
              <a:rPr lang="en-US" sz="2000" dirty="0"/>
              <a:t>Good ads are those that target a population as a whole. </a:t>
            </a:r>
          </a:p>
          <a:p>
            <a:pPr marL="342900" indent="-342900" algn="just">
              <a:lnSpc>
                <a:spcPct val="150000"/>
              </a:lnSpc>
              <a:buFont typeface="Wingdings" pitchFamily="2" charset="2"/>
              <a:buChar char="v"/>
            </a:pPr>
            <a:r>
              <a:rPr lang="en-US" sz="2000" dirty="0"/>
              <a:t>Bad ads (interest-based advertising, as their companies like to call it) target each of us individually by tracking our online activity and location– which compromises our online privacy.</a:t>
            </a:r>
          </a:p>
          <a:p>
            <a:pPr marL="342900" indent="-342900" algn="just">
              <a:lnSpc>
                <a:spcPct val="150000"/>
              </a:lnSpc>
              <a:buFont typeface="Wingdings" pitchFamily="2" charset="2"/>
              <a:buChar char="v"/>
            </a:pPr>
            <a:r>
              <a:rPr lang="en-US" sz="2000" dirty="0"/>
              <a:t> Tracking algorithms aren’t illegal, though, and have even been considered “clever”.</a:t>
            </a:r>
          </a:p>
          <a:p>
            <a:pPr marL="457200" indent="-457200" algn="just">
              <a:lnSpc>
                <a:spcPct val="150000"/>
              </a:lnSpc>
              <a:buAutoNum type="arabicPeriod"/>
            </a:pPr>
            <a:endParaRPr lang="en-US" sz="2000" dirty="0"/>
          </a:p>
        </p:txBody>
      </p:sp>
    </p:spTree>
    <p:extLst>
      <p:ext uri="{BB962C8B-B14F-4D97-AF65-F5344CB8AC3E}">
        <p14:creationId xmlns:p14="http://schemas.microsoft.com/office/powerpoint/2010/main" val="1314391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Steps to be Anonymous User</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20</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46639" y="1196754"/>
            <a:ext cx="10225136" cy="489654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lnSpc>
                <a:spcPct val="150000"/>
              </a:lnSpc>
            </a:pPr>
            <a:r>
              <a:rPr lang="en-US" sz="2000" b="1" dirty="0"/>
              <a:t>Secure messaging apps</a:t>
            </a:r>
          </a:p>
          <a:p>
            <a:pPr marL="342900" indent="-342900" algn="just">
              <a:lnSpc>
                <a:spcPct val="150000"/>
              </a:lnSpc>
              <a:buFont typeface="Wingdings" pitchFamily="2" charset="2"/>
              <a:buChar char="v"/>
            </a:pPr>
            <a:r>
              <a:rPr lang="en-US" sz="2000" dirty="0"/>
              <a:t>If you need to use an online messaging app, you should know that the popular ones aren’t as secure as you’d like them to be</a:t>
            </a:r>
          </a:p>
          <a:p>
            <a:pPr marL="342900" indent="-342900" algn="just">
              <a:lnSpc>
                <a:spcPct val="150000"/>
              </a:lnSpc>
              <a:buFont typeface="Wingdings" pitchFamily="2" charset="2"/>
              <a:buChar char="v"/>
            </a:pPr>
            <a:r>
              <a:rPr lang="en-US" sz="2000" dirty="0"/>
              <a:t>True, Facebook messenger does have a “secret conversation” feature but Facebook hasn’t exactly been the most </a:t>
            </a:r>
            <a:r>
              <a:rPr lang="en-US" sz="2000" dirty="0">
                <a:hlinkClick r:id="rId3"/>
              </a:rPr>
              <a:t>secure social network</a:t>
            </a:r>
            <a:r>
              <a:rPr lang="en-US" sz="2000" dirty="0"/>
              <a:t> to begin with.</a:t>
            </a:r>
          </a:p>
          <a:p>
            <a:pPr marL="342900" indent="-342900" algn="just">
              <a:lnSpc>
                <a:spcPct val="150000"/>
              </a:lnSpc>
              <a:buFont typeface="Wingdings" pitchFamily="2" charset="2"/>
              <a:buChar char="v"/>
            </a:pPr>
            <a:r>
              <a:rPr lang="en-US" sz="2000" dirty="0"/>
              <a:t>Instead, use tools like </a:t>
            </a:r>
            <a:r>
              <a:rPr lang="en-US" sz="2000" dirty="0">
                <a:hlinkClick r:id="rId4"/>
              </a:rPr>
              <a:t>Signal</a:t>
            </a:r>
            <a:r>
              <a:rPr lang="en-US" sz="2000" dirty="0"/>
              <a:t> or </a:t>
            </a:r>
            <a:r>
              <a:rPr lang="en-US" sz="2000" dirty="0">
                <a:hlinkClick r:id="rId5"/>
              </a:rPr>
              <a:t>Telegram</a:t>
            </a:r>
            <a:r>
              <a:rPr lang="en-US" sz="2000" dirty="0"/>
              <a:t>. These apps use end-to-end encryption and can even be used to make voice calls.</a:t>
            </a:r>
          </a:p>
          <a:p>
            <a:pPr marL="457200" indent="-457200" algn="just">
              <a:lnSpc>
                <a:spcPct val="150000"/>
              </a:lnSpc>
              <a:buAutoNum type="arabicPeriod"/>
            </a:pPr>
            <a:endParaRPr lang="en-US" sz="2000" dirty="0"/>
          </a:p>
        </p:txBody>
      </p:sp>
    </p:spTree>
    <p:extLst>
      <p:ext uri="{BB962C8B-B14F-4D97-AF65-F5344CB8AC3E}">
        <p14:creationId xmlns:p14="http://schemas.microsoft.com/office/powerpoint/2010/main" val="2002539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1"/>
            <a:ext cx="10534713" cy="5800714"/>
            <a:chOff x="3502918" y="1124744"/>
            <a:chExt cx="6361113" cy="4543517"/>
          </a:xfrm>
        </p:grpSpPr>
        <p:sp>
          <p:nvSpPr>
            <p:cNvPr id="66" name="矩形 65"/>
            <p:cNvSpPr/>
            <p:nvPr/>
          </p:nvSpPr>
          <p:spPr>
            <a:xfrm>
              <a:off x="3502918" y="1338469"/>
              <a:ext cx="6361113" cy="432979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a:p>
          </p:txBody>
        </p:sp>
        <p:sp>
          <p:nvSpPr>
            <p:cNvPr id="65" name="矩形 64"/>
            <p:cNvSpPr/>
            <p:nvPr/>
          </p:nvSpPr>
          <p:spPr>
            <a:xfrm>
              <a:off x="4334768" y="1124744"/>
              <a:ext cx="4686300" cy="539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800" b="1" dirty="0">
                  <a:latin typeface="微软雅黑" pitchFamily="34" charset="-122"/>
                  <a:ea typeface="微软雅黑" pitchFamily="34" charset="-122"/>
                </a:rPr>
                <a:t>Steps to be Anonymous User</a:t>
              </a:r>
              <a:endParaRPr lang="zh-CN" altLang="en-US" sz="28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21</a:t>
            </a:fld>
            <a:endParaRPr lang="zh-CN" altLang="en-US" dirty="0"/>
          </a:p>
        </p:txBody>
      </p:sp>
      <p:sp>
        <p:nvSpPr>
          <p:cNvPr id="9" name="Content Placeholder 2">
            <a:extLst>
              <a:ext uri="{FF2B5EF4-FFF2-40B4-BE49-F238E27FC236}">
                <a16:creationId xmlns:a16="http://schemas.microsoft.com/office/drawing/2014/main" id="{57B62BCD-1B5E-4BB1-ADF6-B4011A76426D}"/>
              </a:ext>
            </a:extLst>
          </p:cNvPr>
          <p:cNvSpPr txBox="1">
            <a:spLocks/>
          </p:cNvSpPr>
          <p:nvPr/>
        </p:nvSpPr>
        <p:spPr>
          <a:xfrm>
            <a:off x="746639" y="1196754"/>
            <a:ext cx="10225136" cy="489654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pPr algn="just">
              <a:lnSpc>
                <a:spcPct val="150000"/>
              </a:lnSpc>
            </a:pPr>
            <a:r>
              <a:rPr lang="en-US" sz="2000" b="1" dirty="0" err="1"/>
              <a:t>DuckDuckGo</a:t>
            </a:r>
            <a:r>
              <a:rPr lang="en-US" sz="2000" b="1" dirty="0"/>
              <a:t>-Search Engine</a:t>
            </a:r>
          </a:p>
          <a:p>
            <a:pPr marL="342900" indent="-342900" algn="just">
              <a:lnSpc>
                <a:spcPct val="150000"/>
              </a:lnSpc>
              <a:buFont typeface="Wingdings" pitchFamily="2" charset="2"/>
              <a:buChar char="v"/>
            </a:pPr>
            <a:r>
              <a:rPr lang="en-US" sz="2000" dirty="0" err="1">
                <a:hlinkClick r:id="rId3"/>
              </a:rPr>
              <a:t>DuckDuckGo</a:t>
            </a:r>
            <a:r>
              <a:rPr lang="en-US" sz="2000" dirty="0"/>
              <a:t> is a search engine that doesn’t track your </a:t>
            </a:r>
            <a:r>
              <a:rPr lang="en-US" sz="2000" dirty="0" err="1"/>
              <a:t>behaviour</a:t>
            </a:r>
            <a:r>
              <a:rPr lang="en-US" sz="2000" dirty="0"/>
              <a:t> (like Google and Bing that use </a:t>
            </a:r>
            <a:r>
              <a:rPr lang="en-US" sz="2000" dirty="0" err="1"/>
              <a:t>behavioural</a:t>
            </a:r>
            <a:r>
              <a:rPr lang="en-US" sz="2000" dirty="0"/>
              <a:t> trackers to target you with ads). It emphasizes your privacy and avoids the </a:t>
            </a:r>
            <a:r>
              <a:rPr lang="en-US" sz="2000" dirty="0">
                <a:hlinkClick r:id="rId4"/>
              </a:rPr>
              <a:t>filter bubble</a:t>
            </a:r>
            <a:r>
              <a:rPr lang="en-US" sz="2000" dirty="0"/>
              <a:t> of personalized search results.</a:t>
            </a:r>
          </a:p>
          <a:p>
            <a:pPr marL="342900" indent="-342900" algn="just">
              <a:lnSpc>
                <a:spcPct val="150000"/>
              </a:lnSpc>
              <a:buFont typeface="Wingdings" pitchFamily="2" charset="2"/>
              <a:buChar char="v"/>
            </a:pPr>
            <a:r>
              <a:rPr lang="en-US" sz="2000" dirty="0"/>
              <a:t>It offers useful features like region-specific searching, Safe Search (to protect against explicit content), and an instant answer feature which shows an answer across the top of the screen apart from the search results.</a:t>
            </a:r>
          </a:p>
          <a:p>
            <a:pPr marL="457200" indent="-457200" algn="just">
              <a:lnSpc>
                <a:spcPct val="150000"/>
              </a:lnSpc>
              <a:buAutoNum type="arabicPeriod"/>
            </a:pPr>
            <a:endParaRPr lang="en-US" sz="2000" dirty="0"/>
          </a:p>
        </p:txBody>
      </p:sp>
    </p:spTree>
    <p:extLst>
      <p:ext uri="{BB962C8B-B14F-4D97-AF65-F5344CB8AC3E}">
        <p14:creationId xmlns:p14="http://schemas.microsoft.com/office/powerpoint/2010/main" val="1414180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0413" cy="1124744"/>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5733256"/>
            <a:ext cx="12190413" cy="1124744"/>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934965" y="2492896"/>
            <a:ext cx="4320480" cy="1296893"/>
          </a:xfrm>
          <a:prstGeom prst="rect">
            <a:avLst/>
          </a:prstGeom>
        </p:spPr>
        <p:txBody>
          <a:bodyPr wrap="square">
            <a:spAutoFit/>
          </a:bodyPr>
          <a:lstStyle/>
          <a:p>
            <a:pPr algn="ctr">
              <a:lnSpc>
                <a:spcPct val="150000"/>
              </a:lnSpc>
            </a:pPr>
            <a:r>
              <a:rPr lang="en-US" altLang="zh-CN" sz="6000" b="1" dirty="0">
                <a:solidFill>
                  <a:srgbClr val="FF0000"/>
                </a:solidFill>
                <a:latin typeface="Century" panose="02040604050505020304" pitchFamily="18" charset="0"/>
                <a:ea typeface="微软雅黑" panose="020B0503020204020204" pitchFamily="34" charset="-122"/>
              </a:rPr>
              <a:t>Thank You</a:t>
            </a:r>
            <a:endParaRPr lang="zh-CN" altLang="en-US" sz="6000" b="1" dirty="0">
              <a:solidFill>
                <a:srgbClr val="FF0000"/>
              </a:solidFill>
              <a:latin typeface="Century" panose="02040604050505020304" pitchFamily="18" charset="0"/>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0ABDD927-E55F-4D12-BD2D-8ABE6C912713}" type="slidenum">
              <a:rPr lang="zh-CN" altLang="en-US" smtClean="0"/>
              <a:t>22</a:t>
            </a:fld>
            <a:endParaRPr lang="zh-CN" altLang="en-US"/>
          </a:p>
        </p:txBody>
      </p:sp>
    </p:spTree>
    <p:extLst>
      <p:ext uri="{BB962C8B-B14F-4D97-AF65-F5344CB8AC3E}">
        <p14:creationId xmlns:p14="http://schemas.microsoft.com/office/powerpoint/2010/main" val="344752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falsh"/>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nchor="ctr">
        <a:spAutoFit/>
      </a:bodyPr>
      <a:lstStyle>
        <a:defPPr>
          <a:defRPr smtClean="0">
            <a:latin typeface="微软雅黑" pitchFamily="34" charset="-122"/>
            <a:ea typeface="微软雅黑" pitchFamily="34" charset="-122"/>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29899</TotalTime>
  <Words>1862</Words>
  <Application>Microsoft Office PowerPoint</Application>
  <PresentationFormat>Custom</PresentationFormat>
  <Paragraphs>171</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Wingdings</vt:lpstr>
      <vt:lpstr>Arial</vt:lpstr>
      <vt:lpstr>Calibri</vt:lpstr>
      <vt:lpstr>Cambria</vt:lpstr>
      <vt:lpstr>宋体</vt:lpstr>
      <vt:lpstr>Century</vt:lpstr>
      <vt:lpstr>Lucida Handwriting</vt:lpstr>
      <vt:lpstr>微软雅黑</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falsh</dc:title>
  <dc:creator>Administrator</dc:creator>
  <cp:lastModifiedBy>WAQAS</cp:lastModifiedBy>
  <cp:revision>506</cp:revision>
  <dcterms:created xsi:type="dcterms:W3CDTF">2014-05-15T03:15:25Z</dcterms:created>
  <dcterms:modified xsi:type="dcterms:W3CDTF">2023-01-12T13:09:00Z</dcterms:modified>
</cp:coreProperties>
</file>
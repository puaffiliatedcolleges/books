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7" r:id="rId12"/>
    <p:sldId id="268" r:id="rId13"/>
    <p:sldId id="266" r:id="rId14"/>
    <p:sldId id="269" r:id="rId15"/>
    <p:sldId id="270" r:id="rId16"/>
    <p:sldId id="272" r:id="rId17"/>
    <p:sldId id="27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53" y="1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598"/>
            <a:ext cx="7472854" cy="22627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EI-331 </a:t>
            </a:r>
            <a:br>
              <a:rPr lang="en-US" dirty="0" smtClean="0"/>
            </a:br>
            <a:r>
              <a:rPr lang="en-US" dirty="0" smtClean="0"/>
              <a:t>Design and Analysis of Algorithms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291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dirty="0" smtClean="0"/>
              <a:t>String Matching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 matching is a fundamental problem in computer science, with applications in various fields including text processing, bioinformatics, and data retrieval.</a:t>
            </a:r>
          </a:p>
          <a:p>
            <a:r>
              <a:rPr lang="en-US" dirty="0"/>
              <a:t>It involves finding occurrences of a substring (pattern) within a larger string (text).</a:t>
            </a:r>
          </a:p>
          <a:p>
            <a:r>
              <a:rPr lang="en-US" dirty="0"/>
              <a:t>String matching algorithms aim to efficiently locate these occurrences.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791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dirty="0" smtClean="0"/>
              <a:t>String Matching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Text</a:t>
            </a:r>
            <a:r>
              <a:rPr lang="en-US" dirty="0"/>
              <a:t>: The larger string in which we want to find occurrences of a smaller string (pattern).</a:t>
            </a:r>
          </a:p>
          <a:p>
            <a:r>
              <a:rPr lang="en-US" b="1" dirty="0"/>
              <a:t>Pattern</a:t>
            </a:r>
            <a:r>
              <a:rPr lang="en-US" dirty="0"/>
              <a:t>: The smaller string we are searching for within the text.</a:t>
            </a:r>
          </a:p>
          <a:p>
            <a:r>
              <a:rPr lang="en-US" b="1" dirty="0"/>
              <a:t>Occurrence</a:t>
            </a:r>
            <a:r>
              <a:rPr lang="en-US" dirty="0"/>
              <a:t>: A position in the text where an exact match of the pattern is found.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718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dirty="0" smtClean="0"/>
              <a:t>String Matching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Naive String Matching </a:t>
            </a:r>
            <a:r>
              <a:rPr lang="en-US" b="1" dirty="0" smtClean="0"/>
              <a:t>Algorithm – Brute-Force Algorithm</a:t>
            </a:r>
            <a:endParaRPr lang="en-US" b="1" dirty="0"/>
          </a:p>
          <a:p>
            <a:r>
              <a:rPr lang="en-US" dirty="0"/>
              <a:t>The simplest approach to string matching.</a:t>
            </a:r>
          </a:p>
          <a:p>
            <a:r>
              <a:rPr lang="en-US" dirty="0"/>
              <a:t>Iterate through the text one character at a time and compare it with the pattern.</a:t>
            </a:r>
          </a:p>
          <a:p>
            <a:r>
              <a:rPr lang="en-US" dirty="0"/>
              <a:t>If a match is found, check if the subsequent characters also match the pattern.</a:t>
            </a:r>
          </a:p>
          <a:p>
            <a:r>
              <a:rPr lang="en-US" dirty="0"/>
              <a:t>Complexity: O((n-m+1)*m) where n is the length of the text and m is the length of the pattern.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025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9364613" cy="1280890"/>
          </a:xfrm>
        </p:spPr>
        <p:txBody>
          <a:bodyPr>
            <a:normAutofit/>
          </a:bodyPr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dirty="0" smtClean="0"/>
              <a:t>String Matching (Brute – Force Algorithm)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DAAF23-86E6-3446-870C-1704750E9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2042939"/>
            <a:ext cx="8508829" cy="444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51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dirty="0" smtClean="0"/>
              <a:t>String Matching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Knuth-Morris-Pratt (KMP) </a:t>
            </a:r>
            <a:r>
              <a:rPr lang="en-US" b="1" dirty="0" smtClean="0"/>
              <a:t>Algorithm</a:t>
            </a:r>
          </a:p>
          <a:p>
            <a:r>
              <a:rPr lang="en-US" dirty="0"/>
              <a:t>Efficient string matching algorithm based on the concept of "failure function" or "prefix function".</a:t>
            </a:r>
          </a:p>
          <a:p>
            <a:r>
              <a:rPr lang="en-US" dirty="0"/>
              <a:t>Preprocess the pattern to determine the longest proper prefix of the pattern that is also a suffix.</a:t>
            </a:r>
          </a:p>
          <a:p>
            <a:r>
              <a:rPr lang="en-US" dirty="0"/>
              <a:t>Use this information to avoid unnecessary comparisons in the text.</a:t>
            </a:r>
          </a:p>
          <a:p>
            <a:r>
              <a:rPr lang="en-US" dirty="0"/>
              <a:t>Complexity: O(n + m), where n is the length of the text and m is the length of the pattern.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775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9364613" cy="12808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dirty="0" smtClean="0"/>
              <a:t>String Matching 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b="1" dirty="0"/>
              <a:t>Knuth-Morris-Pratt (KMP) </a:t>
            </a:r>
            <a:r>
              <a:rPr lang="en-US" b="1" dirty="0" smtClean="0"/>
              <a:t>Algorithm</a:t>
            </a:r>
            <a:r>
              <a:rPr lang="en-US" dirty="0" smtClean="0"/>
              <a:t>)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187796"/>
              </p:ext>
            </p:extLst>
          </p:nvPr>
        </p:nvGraphicFramePr>
        <p:xfrm>
          <a:off x="4185138" y="2198077"/>
          <a:ext cx="7772400" cy="415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VISIO" r:id="rId3" imgW="4787900" imgH="2565400" progId="Visio.Drawing.6">
                  <p:embed/>
                </p:oleObj>
              </mc:Choice>
              <mc:Fallback>
                <p:oleObj name="VISIO" r:id="rId3" imgW="4787900" imgH="2565400" progId="Visio.Drawing.6">
                  <p:embed/>
                  <p:pic>
                    <p:nvPicPr>
                      <p:cNvPr id="2970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5138" y="2198077"/>
                        <a:ext cx="7772400" cy="415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637826"/>
              </p:ext>
            </p:extLst>
          </p:nvPr>
        </p:nvGraphicFramePr>
        <p:xfrm>
          <a:off x="2057399" y="5225439"/>
          <a:ext cx="3505200" cy="1128713"/>
        </p:xfrm>
        <a:graphic>
          <a:graphicData uri="http://schemas.openxmlformats.org/drawingml/2006/table">
            <a:tbl>
              <a:tblPr/>
              <a:tblGrid>
                <a:gridCol w="63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]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9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491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dirty="0" smtClean="0"/>
              <a:t>String Matching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Knuth-Morris-Pratt (KMP) </a:t>
            </a:r>
            <a:r>
              <a:rPr lang="en-US" b="1" dirty="0" smtClean="0"/>
              <a:t>Algorithm</a:t>
            </a:r>
          </a:p>
          <a:p>
            <a:r>
              <a:rPr lang="en-US" dirty="0"/>
              <a:t>Preprocess the pattern to compute the failure function.</a:t>
            </a:r>
          </a:p>
          <a:p>
            <a:r>
              <a:rPr lang="en-US" dirty="0"/>
              <a:t>Use the failure function to guide the search in the text.</a:t>
            </a:r>
          </a:p>
          <a:p>
            <a:r>
              <a:rPr lang="en-US" dirty="0"/>
              <a:t>Achieves linear time complexity.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82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b="1" dirty="0" smtClean="0"/>
              <a:t>Data Structure Revision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597" y="2045677"/>
            <a:ext cx="7657486" cy="439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88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b="1" dirty="0" smtClean="0"/>
              <a:t>Graphs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graph is a data structure composed of </a:t>
            </a:r>
            <a:r>
              <a:rPr lang="en-US" b="1" dirty="0"/>
              <a:t>nodes</a:t>
            </a:r>
            <a:r>
              <a:rPr lang="en-US" dirty="0"/>
              <a:t> (</a:t>
            </a:r>
            <a:r>
              <a:rPr lang="en-US" b="1" dirty="0"/>
              <a:t>vertices</a:t>
            </a:r>
            <a:r>
              <a:rPr lang="en-US" dirty="0"/>
              <a:t>) and </a:t>
            </a:r>
            <a:r>
              <a:rPr lang="en-US" b="1" dirty="0"/>
              <a:t>edges</a:t>
            </a:r>
            <a:r>
              <a:rPr lang="en-US" dirty="0"/>
              <a:t> that connect pairs of nodes.</a:t>
            </a:r>
          </a:p>
          <a:p>
            <a:r>
              <a:rPr lang="en-US" dirty="0"/>
              <a:t>Nodes represent </a:t>
            </a:r>
            <a:r>
              <a:rPr lang="en-US" b="1" dirty="0"/>
              <a:t>entities</a:t>
            </a:r>
            <a:r>
              <a:rPr lang="en-US" dirty="0"/>
              <a:t>, and edges represent </a:t>
            </a:r>
            <a:r>
              <a:rPr lang="en-US" b="1" dirty="0"/>
              <a:t>relationships</a:t>
            </a:r>
            <a:r>
              <a:rPr lang="en-US" dirty="0"/>
              <a:t> between these entities.</a:t>
            </a:r>
          </a:p>
          <a:p>
            <a:r>
              <a:rPr lang="en-US" dirty="0"/>
              <a:t>Graphs are versatile and widely used in various fields, including computer science, social networks, transportation systems, and more.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703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b="1" dirty="0" smtClean="0"/>
              <a:t>Graphs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2646" y="1676399"/>
            <a:ext cx="10843846" cy="49705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The basic properties of a graph include</a:t>
            </a:r>
            <a:r>
              <a:rPr lang="en-US" b="1" dirty="0" smtClean="0"/>
              <a:t>: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Vertices (nodes): </a:t>
            </a:r>
            <a:r>
              <a:rPr lang="en-US" dirty="0"/>
              <a:t>The points where edges meet in a graph are known as vertices or nodes. A vertex can represent a physical object, concept, or abstract entity.</a:t>
            </a:r>
          </a:p>
          <a:p>
            <a:pPr marL="0" indent="0">
              <a:buNone/>
            </a:pPr>
            <a:r>
              <a:rPr lang="en-US" b="1" dirty="0"/>
              <a:t>Edges: </a:t>
            </a:r>
            <a:r>
              <a:rPr lang="en-US" dirty="0"/>
              <a:t>The connections between vertices are known as edges. They can be undirected (bidirectional) or directed (unidirectional).</a:t>
            </a:r>
          </a:p>
          <a:p>
            <a:pPr marL="0" indent="0">
              <a:buNone/>
            </a:pPr>
            <a:r>
              <a:rPr lang="en-US" b="1" dirty="0"/>
              <a:t>Weight: </a:t>
            </a:r>
            <a:r>
              <a:rPr lang="en-US" dirty="0"/>
              <a:t>A weight can be assigned to an edge, representing the cost or distance between two vertices. A weighted graph is a graph where the edges have weights.</a:t>
            </a:r>
          </a:p>
          <a:p>
            <a:pPr marL="0" indent="0">
              <a:buNone/>
            </a:pPr>
            <a:r>
              <a:rPr lang="en-US" b="1" dirty="0"/>
              <a:t>Degree: </a:t>
            </a:r>
            <a:r>
              <a:rPr lang="en-US" dirty="0"/>
              <a:t>The degree of a vertex is the number of edges that connect to it. In a directed graph, the in-degree of a vertex is the number of edges that point to it, and the out-degree is the number of edges that start from it.</a:t>
            </a:r>
          </a:p>
          <a:p>
            <a:pPr marL="0" indent="0">
              <a:buNone/>
            </a:pPr>
            <a:r>
              <a:rPr lang="en-US" b="1" dirty="0"/>
              <a:t>Path: </a:t>
            </a:r>
            <a:r>
              <a:rPr lang="en-US" dirty="0"/>
              <a:t>A path is a sequence of vertices that are connected by edges. A simple path does not contain any repeated vertices or edges.</a:t>
            </a:r>
          </a:p>
          <a:p>
            <a:pPr marL="0" indent="0">
              <a:buNone/>
            </a:pPr>
            <a:r>
              <a:rPr lang="en-US" b="1" dirty="0"/>
              <a:t>Cycle: </a:t>
            </a:r>
            <a:r>
              <a:rPr lang="en-US" dirty="0"/>
              <a:t>A cycle is a path that starts and ends at the same vertex. A simple cycle does not contain any repeated vertices or edges.</a:t>
            </a:r>
          </a:p>
          <a:p>
            <a:pPr marL="0" indent="0">
              <a:buNone/>
            </a:pPr>
            <a:r>
              <a:rPr lang="en-US" b="1" dirty="0"/>
              <a:t>Connectedness: </a:t>
            </a:r>
            <a:r>
              <a:rPr lang="en-US" dirty="0"/>
              <a:t>A graph is said to be connected if there is a path between any two vertices. A disconnected graph is a graph that is not connected.</a:t>
            </a:r>
          </a:p>
        </p:txBody>
      </p:sp>
    </p:spTree>
    <p:extLst>
      <p:ext uri="{BB962C8B-B14F-4D97-AF65-F5344CB8AC3E}">
        <p14:creationId xmlns:p14="http://schemas.microsoft.com/office/powerpoint/2010/main" val="3236941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b="1" dirty="0" smtClean="0"/>
              <a:t>Graphs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1264555"/>
            <a:ext cx="8382000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019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b="1" dirty="0" smtClean="0"/>
              <a:t>Graphs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34" y="1905000"/>
            <a:ext cx="7225517" cy="404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110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b="1" dirty="0" smtClean="0"/>
              <a:t>Graphs Representation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957" y="2069123"/>
            <a:ext cx="7779426" cy="375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1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b="1" dirty="0"/>
              <a:t>Graphs Representation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1905000"/>
            <a:ext cx="7969567" cy="431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99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b="1" dirty="0" smtClean="0"/>
              <a:t>Tree vs Graphs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1770184"/>
            <a:ext cx="9006824" cy="482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713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b="1" dirty="0" smtClean="0"/>
              <a:t>Graphs Search</a:t>
            </a:r>
            <a:endParaRPr lang="en-US" b="1" dirty="0"/>
          </a:p>
        </p:txBody>
      </p:sp>
      <p:sp>
        <p:nvSpPr>
          <p:cNvPr id="3" name="AutoShape 2" descr="directed graphs are visited using DF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directed graphs are visited using DFS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601" y="1729502"/>
            <a:ext cx="8907606" cy="493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78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b="1" dirty="0" smtClean="0"/>
              <a:t>Graphs Search</a:t>
            </a:r>
            <a:endParaRPr lang="en-US" b="1" dirty="0"/>
          </a:p>
        </p:txBody>
      </p:sp>
      <p:sp>
        <p:nvSpPr>
          <p:cNvPr id="3" name="AutoShape 2" descr="directed graphs are visited using DF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directed graphs are visited using DFS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4046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191</TotalTime>
  <Words>690</Words>
  <Application>Microsoft Office PowerPoint</Application>
  <PresentationFormat>Widescreen</PresentationFormat>
  <Paragraphs>71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Century Gothic</vt:lpstr>
      <vt:lpstr>Symbol</vt:lpstr>
      <vt:lpstr>Times New Roman</vt:lpstr>
      <vt:lpstr>Wingdings</vt:lpstr>
      <vt:lpstr>Wingdings 3</vt:lpstr>
      <vt:lpstr>Wisp</vt:lpstr>
      <vt:lpstr>VISIO</vt:lpstr>
      <vt:lpstr>EI-331  Design and Analysis of Algorithms</vt:lpstr>
      <vt:lpstr>EI-331 Design &amp; Analysis of Algorithms String Matching</vt:lpstr>
      <vt:lpstr>EI-331 Design &amp; Analysis of Algorithms String Matching</vt:lpstr>
      <vt:lpstr>EI-331 Design &amp; Analysis of Algorithms String Matching</vt:lpstr>
      <vt:lpstr>EI-331 Design &amp; Analysis of Algorithms String Matching (Brute – Force Algorithm)</vt:lpstr>
      <vt:lpstr>EI-331 Design &amp; Analysis of Algorithms String Matching</vt:lpstr>
      <vt:lpstr>EI-331 Design &amp; Analysis of Algorithms String Matching  (Knuth-Morris-Pratt (KMP) Algorithm)</vt:lpstr>
      <vt:lpstr>EI-331 Design &amp; Analysis of Algorithms String Matching</vt:lpstr>
      <vt:lpstr>EI-331 Design &amp; Analysis of Algorithms Data Structure Revision</vt:lpstr>
      <vt:lpstr>EI-331 Design &amp; Analysis of Algorithms Graphs</vt:lpstr>
      <vt:lpstr>EI-331 Design &amp; Analysis of Algorithms Graphs</vt:lpstr>
      <vt:lpstr>EI-331 Design &amp; Analysis of Algorithms Graphs</vt:lpstr>
      <vt:lpstr>EI-331 Design &amp; Analysis of Algorithms Graphs</vt:lpstr>
      <vt:lpstr>EI-331 Design &amp; Analysis of Algorithms Graphs Representation</vt:lpstr>
      <vt:lpstr>EI-331 Design &amp; Analysis of Algorithms Graphs Representation</vt:lpstr>
      <vt:lpstr>EI-331 Design &amp; Analysis of Algorithms Tree vs Graphs</vt:lpstr>
      <vt:lpstr>EI-331 Design &amp; Analysis of Algorithms Graphs Search</vt:lpstr>
      <vt:lpstr>EI-331 Design &amp; Analysis of Algorithms Graphs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EI-331  Design and Analysis of Algorithms</dc:title>
  <dc:creator>Kamran</dc:creator>
  <cp:lastModifiedBy>Kamran</cp:lastModifiedBy>
  <cp:revision>16</cp:revision>
  <dcterms:created xsi:type="dcterms:W3CDTF">2024-03-24T23:29:06Z</dcterms:created>
  <dcterms:modified xsi:type="dcterms:W3CDTF">2024-04-03T00:31:31Z</dcterms:modified>
</cp:coreProperties>
</file>
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67" r:id="rId4"/>
    <p:sldId id="263" r:id="rId5"/>
    <p:sldId id="264" r:id="rId6"/>
    <p:sldId id="262" r:id="rId7"/>
    <p:sldId id="260" r:id="rId8"/>
    <p:sldId id="261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38" y="1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6223" y="2898420"/>
            <a:ext cx="10385777" cy="22627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EI-331 </a:t>
            </a:r>
            <a:br>
              <a:rPr lang="en-US" dirty="0" smtClean="0"/>
            </a:br>
            <a:r>
              <a:rPr lang="en-US" dirty="0" smtClean="0"/>
              <a:t>Design and Analysis of Algorithms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NP-Completeness     (NPC)</a:t>
            </a:r>
            <a:br>
              <a:rPr lang="en-US" dirty="0" smtClean="0"/>
            </a:br>
            <a:r>
              <a:rPr lang="en-US" dirty="0" smtClean="0"/>
              <a:t>Polynomial Time Algorithm (P)</a:t>
            </a:r>
            <a:br>
              <a:rPr lang="en-US" dirty="0" smtClean="0"/>
            </a:br>
            <a:r>
              <a:rPr lang="en-US" dirty="0" smtClean="0"/>
              <a:t>Polynomial Time Verification (NP)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291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dirty="0"/>
              <a:t>Polynomial Time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905000"/>
            <a:ext cx="9675812" cy="4755444"/>
          </a:xfrm>
        </p:spPr>
        <p:txBody>
          <a:bodyPr>
            <a:normAutofit/>
          </a:bodyPr>
          <a:lstStyle/>
          <a:p>
            <a:pPr lvl="0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kern="0" dirty="0">
                <a:solidFill>
                  <a:srgbClr val="000000"/>
                </a:solidFill>
                <a:latin typeface="Times New Roman"/>
              </a:rPr>
              <a:t>Decision problem: solving the problem by giving an answer “YES” or “NO”</a:t>
            </a:r>
          </a:p>
          <a:p>
            <a:pPr lvl="0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kern="0" dirty="0">
                <a:solidFill>
                  <a:srgbClr val="000000"/>
                </a:solidFill>
                <a:latin typeface="Times New Roman"/>
              </a:rPr>
              <a:t>Optimization problem: solving the problem by finding the optimal solution.</a:t>
            </a:r>
          </a:p>
          <a:p>
            <a:pPr lvl="0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kern="0" dirty="0">
                <a:solidFill>
                  <a:srgbClr val="000000"/>
                </a:solidFill>
                <a:latin typeface="Times New Roman"/>
              </a:rPr>
              <a:t>Examples: </a:t>
            </a:r>
          </a:p>
          <a:p>
            <a:pPr lvl="1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FontTx/>
              <a:buChar char="–"/>
            </a:pPr>
            <a:r>
              <a:rPr lang="en-US" altLang="en-US" sz="2400" kern="0" dirty="0">
                <a:solidFill>
                  <a:srgbClr val="000000"/>
                </a:solidFill>
                <a:latin typeface="Times New Roman"/>
              </a:rPr>
              <a:t>SHORTEST-PATH (optimization)</a:t>
            </a:r>
          </a:p>
          <a:p>
            <a:pPr lvl="2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kern="0" dirty="0">
                <a:solidFill>
                  <a:srgbClr val="000000"/>
                </a:solidFill>
                <a:latin typeface="Times New Roman"/>
              </a:rPr>
              <a:t>Given </a:t>
            </a:r>
            <a:r>
              <a:rPr lang="en-US" altLang="en-US" sz="2000" i="1" kern="0" dirty="0">
                <a:solidFill>
                  <a:srgbClr val="000000"/>
                </a:solidFill>
                <a:latin typeface="Times New Roman"/>
              </a:rPr>
              <a:t>G</a:t>
            </a:r>
            <a:r>
              <a:rPr lang="en-US" altLang="en-US" sz="2000" kern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altLang="en-US" sz="2000" i="1" kern="0" dirty="0" err="1">
                <a:solidFill>
                  <a:srgbClr val="000000"/>
                </a:solidFill>
                <a:latin typeface="Times New Roman"/>
              </a:rPr>
              <a:t>u</a:t>
            </a:r>
            <a:r>
              <a:rPr lang="en-US" altLang="en-US" sz="2000" kern="0" dirty="0" err="1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altLang="en-US" sz="2000" i="1" kern="0" dirty="0" err="1">
                <a:solidFill>
                  <a:srgbClr val="000000"/>
                </a:solidFill>
                <a:latin typeface="Times New Roman"/>
              </a:rPr>
              <a:t>v</a:t>
            </a:r>
            <a:r>
              <a:rPr lang="en-US" altLang="en-US" sz="2000" kern="0" dirty="0">
                <a:solidFill>
                  <a:srgbClr val="000000"/>
                </a:solidFill>
                <a:latin typeface="Times New Roman"/>
              </a:rPr>
              <a:t>, find a path from </a:t>
            </a:r>
            <a:r>
              <a:rPr lang="en-US" altLang="en-US" sz="2000" i="1" kern="0" dirty="0">
                <a:solidFill>
                  <a:srgbClr val="000000"/>
                </a:solidFill>
                <a:latin typeface="Times New Roman"/>
              </a:rPr>
              <a:t>u</a:t>
            </a:r>
            <a:r>
              <a:rPr lang="en-US" altLang="en-US" sz="2000" kern="0" dirty="0">
                <a:solidFill>
                  <a:srgbClr val="000000"/>
                </a:solidFill>
                <a:latin typeface="Times New Roman"/>
              </a:rPr>
              <a:t> to </a:t>
            </a:r>
            <a:r>
              <a:rPr lang="en-US" altLang="en-US" sz="2000" i="1" kern="0" dirty="0">
                <a:solidFill>
                  <a:srgbClr val="000000"/>
                </a:solidFill>
                <a:latin typeface="Times New Roman"/>
              </a:rPr>
              <a:t>v</a:t>
            </a:r>
            <a:r>
              <a:rPr lang="en-US" altLang="en-US" sz="2000" kern="0" dirty="0">
                <a:solidFill>
                  <a:srgbClr val="000000"/>
                </a:solidFill>
                <a:latin typeface="Times New Roman"/>
              </a:rPr>
              <a:t> with fewest edges.</a:t>
            </a:r>
          </a:p>
          <a:p>
            <a:pPr lvl="1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FontTx/>
              <a:buChar char="–"/>
            </a:pPr>
            <a:r>
              <a:rPr lang="en-US" altLang="en-US" sz="2400" kern="0" dirty="0">
                <a:solidFill>
                  <a:srgbClr val="000000"/>
                </a:solidFill>
                <a:latin typeface="Times New Roman"/>
              </a:rPr>
              <a:t>PATH (decision)</a:t>
            </a:r>
          </a:p>
          <a:p>
            <a:pPr lvl="2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kern="0" dirty="0">
                <a:solidFill>
                  <a:srgbClr val="000000"/>
                </a:solidFill>
                <a:latin typeface="Times New Roman"/>
              </a:rPr>
              <a:t>Given </a:t>
            </a:r>
            <a:r>
              <a:rPr lang="en-US" altLang="en-US" sz="2000" i="1" kern="0" dirty="0">
                <a:solidFill>
                  <a:srgbClr val="000000"/>
                </a:solidFill>
                <a:latin typeface="Times New Roman"/>
              </a:rPr>
              <a:t>G</a:t>
            </a:r>
            <a:r>
              <a:rPr lang="en-US" altLang="en-US" sz="2000" kern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altLang="en-US" sz="2000" i="1" kern="0" dirty="0" err="1">
                <a:solidFill>
                  <a:srgbClr val="000000"/>
                </a:solidFill>
                <a:latin typeface="Times New Roman"/>
              </a:rPr>
              <a:t>u</a:t>
            </a:r>
            <a:r>
              <a:rPr lang="en-US" altLang="en-US" sz="2000" kern="0" dirty="0" err="1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altLang="en-US" sz="2000" i="1" kern="0" dirty="0" err="1">
                <a:solidFill>
                  <a:srgbClr val="000000"/>
                </a:solidFill>
                <a:latin typeface="Times New Roman"/>
              </a:rPr>
              <a:t>v</a:t>
            </a:r>
            <a:r>
              <a:rPr lang="en-US" altLang="en-US" sz="2000" kern="0" dirty="0">
                <a:solidFill>
                  <a:srgbClr val="000000"/>
                </a:solidFill>
                <a:latin typeface="Times New Roman"/>
              </a:rPr>
              <a:t>, and </a:t>
            </a:r>
            <a:r>
              <a:rPr lang="en-US" altLang="en-US" sz="2000" i="1" kern="0" dirty="0">
                <a:solidFill>
                  <a:srgbClr val="000000"/>
                </a:solidFill>
                <a:latin typeface="Times New Roman"/>
              </a:rPr>
              <a:t>k</a:t>
            </a:r>
            <a:r>
              <a:rPr lang="en-US" altLang="en-US" sz="2000" kern="0" dirty="0">
                <a:solidFill>
                  <a:srgbClr val="000000"/>
                </a:solidFill>
                <a:latin typeface="Times New Roman"/>
              </a:rPr>
              <a:t>, whether  exist a path from </a:t>
            </a:r>
            <a:r>
              <a:rPr lang="en-US" altLang="en-US" sz="2000" i="1" kern="0" dirty="0">
                <a:solidFill>
                  <a:srgbClr val="000000"/>
                </a:solidFill>
                <a:latin typeface="Times New Roman"/>
              </a:rPr>
              <a:t>u</a:t>
            </a:r>
            <a:r>
              <a:rPr lang="en-US" altLang="en-US" sz="2000" kern="0" dirty="0">
                <a:solidFill>
                  <a:srgbClr val="000000"/>
                </a:solidFill>
                <a:latin typeface="Times New Roman"/>
              </a:rPr>
              <a:t> to </a:t>
            </a:r>
            <a:r>
              <a:rPr lang="en-US" altLang="en-US" sz="2000" i="1" kern="0" dirty="0">
                <a:solidFill>
                  <a:srgbClr val="000000"/>
                </a:solidFill>
                <a:latin typeface="Times New Roman"/>
              </a:rPr>
              <a:t>v</a:t>
            </a:r>
            <a:r>
              <a:rPr lang="en-US" altLang="en-US" sz="2000" kern="0" dirty="0">
                <a:solidFill>
                  <a:srgbClr val="000000"/>
                </a:solidFill>
                <a:latin typeface="Times New Roman"/>
              </a:rPr>
              <a:t> consisting of at most </a:t>
            </a:r>
            <a:r>
              <a:rPr lang="en-US" altLang="en-US" sz="2000" i="1" kern="0" dirty="0">
                <a:solidFill>
                  <a:srgbClr val="000000"/>
                </a:solidFill>
                <a:latin typeface="Times New Roman"/>
              </a:rPr>
              <a:t>k</a:t>
            </a:r>
            <a:r>
              <a:rPr lang="en-US" altLang="en-US" sz="2000" kern="0" dirty="0">
                <a:solidFill>
                  <a:srgbClr val="000000"/>
                </a:solidFill>
                <a:latin typeface="Times New Roman"/>
              </a:rPr>
              <a:t> edges.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868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dirty="0"/>
              <a:t>Polynomial Time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905000"/>
            <a:ext cx="9675812" cy="4755444"/>
          </a:xfrm>
        </p:spPr>
        <p:txBody>
          <a:bodyPr>
            <a:normAutofit/>
          </a:bodyPr>
          <a:lstStyle/>
          <a:p>
            <a:r>
              <a:rPr lang="en-US" dirty="0"/>
              <a:t>P (Polynomial Time):</a:t>
            </a:r>
          </a:p>
          <a:p>
            <a:pPr marL="0" indent="0">
              <a:buNone/>
            </a:pPr>
            <a:r>
              <a:rPr lang="en-US" dirty="0" smtClean="0"/>
              <a:t>Decision </a:t>
            </a:r>
            <a:r>
              <a:rPr lang="en-US" dirty="0"/>
              <a:t>problems that </a:t>
            </a:r>
            <a:r>
              <a:rPr lang="en-US" b="1" dirty="0"/>
              <a:t>can be solved </a:t>
            </a:r>
            <a:r>
              <a:rPr lang="en-US" dirty="0"/>
              <a:t>in polynomial time on </a:t>
            </a:r>
            <a:r>
              <a:rPr lang="en-US" dirty="0" smtClean="0"/>
              <a:t>a RAM Model.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 simpler terms, problems for which there exists an algorithm that can find a solution in polynomial time relative to the size of the input</a:t>
            </a:r>
            <a:r>
              <a:rPr lang="en-US" dirty="0" smtClean="0"/>
              <a:t>.</a:t>
            </a:r>
          </a:p>
          <a:p>
            <a:r>
              <a:rPr lang="en-US" b="1" dirty="0"/>
              <a:t>Polynomial Time Algorithm</a:t>
            </a:r>
          </a:p>
          <a:p>
            <a:r>
              <a:rPr lang="en-US" dirty="0"/>
              <a:t>A polynomial time algorithm is an algorithm whose time complexity is bounded above by a polynomial function of the input </a:t>
            </a:r>
            <a:r>
              <a:rPr lang="en-US" dirty="0" smtClean="0"/>
              <a:t>size O(</a:t>
            </a:r>
            <a:r>
              <a:rPr lang="en-US" dirty="0" err="1" smtClean="0"/>
              <a:t>n^c</a:t>
            </a:r>
            <a:r>
              <a:rPr lang="en-US" dirty="0" smtClean="0"/>
              <a:t>).</a:t>
            </a:r>
            <a:endParaRPr lang="en-US" dirty="0"/>
          </a:p>
          <a:p>
            <a:r>
              <a:rPr lang="en-US" dirty="0"/>
              <a:t>quicksort and merge sort, and searching algorithms like binary search, have polynomial time </a:t>
            </a:r>
            <a:r>
              <a:rPr lang="en-US" dirty="0" smtClean="0"/>
              <a:t>complexity</a:t>
            </a:r>
          </a:p>
          <a:p>
            <a:r>
              <a:rPr lang="en-US" b="1" dirty="0"/>
              <a:t>Polynomial time </a:t>
            </a:r>
            <a:r>
              <a:rPr lang="en-US" dirty="0"/>
              <a:t>algorithms are generally considered efficient, especially compared to algorithms </a:t>
            </a:r>
            <a:r>
              <a:rPr lang="en-US" dirty="0" smtClean="0"/>
              <a:t>with</a:t>
            </a:r>
          </a:p>
          <a:p>
            <a:r>
              <a:rPr lang="en-US" b="1" dirty="0" smtClean="0"/>
              <a:t> Exponential </a:t>
            </a:r>
            <a:r>
              <a:rPr lang="en-US" b="1" dirty="0"/>
              <a:t>time </a:t>
            </a:r>
            <a:r>
              <a:rPr lang="en-US" dirty="0"/>
              <a:t>complexity, which grow much faster with increasing input size.</a:t>
            </a:r>
          </a:p>
        </p:txBody>
      </p:sp>
    </p:spTree>
    <p:extLst>
      <p:ext uri="{BB962C8B-B14F-4D97-AF65-F5344CB8AC3E}">
        <p14:creationId xmlns:p14="http://schemas.microsoft.com/office/powerpoint/2010/main" val="1916126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dirty="0"/>
              <a:t>Polynomial Time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905000"/>
            <a:ext cx="9675812" cy="4755444"/>
          </a:xfrm>
        </p:spPr>
        <p:txBody>
          <a:bodyPr>
            <a:normAutofit/>
          </a:bodyPr>
          <a:lstStyle/>
          <a:p>
            <a:r>
              <a:rPr lang="en-US" b="1" dirty="0" smtClean="0"/>
              <a:t>Exponential </a:t>
            </a:r>
            <a:r>
              <a:rPr lang="en-US" b="1" dirty="0"/>
              <a:t>time </a:t>
            </a:r>
            <a:r>
              <a:rPr lang="en-US" dirty="0"/>
              <a:t>complexity, which grow much faster with increasing input size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Exponential </a:t>
            </a:r>
            <a:r>
              <a:rPr lang="en-US" dirty="0"/>
              <a:t>time complexity is </a:t>
            </a:r>
            <a:r>
              <a:rPr lang="en-US" dirty="0" smtClean="0"/>
              <a:t>denoted </a:t>
            </a:r>
            <a:r>
              <a:rPr lang="en-US" dirty="0"/>
              <a:t>as O(2^n</a:t>
            </a:r>
            <a:r>
              <a:rPr lang="en-US" dirty="0" smtClean="0"/>
              <a:t>).</a:t>
            </a:r>
          </a:p>
          <a:p>
            <a:r>
              <a:rPr lang="en-US" dirty="0"/>
              <a:t>take 2^n operations to complete for an input of size n</a:t>
            </a:r>
            <a:r>
              <a:rPr lang="en-US" dirty="0" smtClean="0"/>
              <a:t>.</a:t>
            </a:r>
          </a:p>
          <a:p>
            <a:r>
              <a:rPr lang="en-US" dirty="0"/>
              <a:t>generally considered inefficient for large input </a:t>
            </a:r>
            <a:r>
              <a:rPr lang="en-US" dirty="0" smtClean="0"/>
              <a:t>sizes.</a:t>
            </a:r>
          </a:p>
          <a:p>
            <a:r>
              <a:rPr lang="en-US" dirty="0" smtClean="0"/>
              <a:t>Examples</a:t>
            </a:r>
          </a:p>
          <a:p>
            <a:r>
              <a:rPr lang="en-US" b="1" dirty="0"/>
              <a:t>Brute-force search</a:t>
            </a:r>
            <a:r>
              <a:rPr lang="en-US" dirty="0"/>
              <a:t>: Trying every possible combination of elements until a solution is found.</a:t>
            </a:r>
          </a:p>
          <a:p>
            <a:r>
              <a:rPr lang="en-US" b="1" dirty="0"/>
              <a:t>Subset generation</a:t>
            </a:r>
            <a:r>
              <a:rPr lang="en-US" dirty="0"/>
              <a:t>: Generating all possible subsets of a set.</a:t>
            </a:r>
          </a:p>
          <a:p>
            <a:r>
              <a:rPr lang="en-US" b="1" dirty="0"/>
              <a:t>Traveling Salesman Problem (TSP)</a:t>
            </a:r>
            <a:r>
              <a:rPr lang="en-US" dirty="0"/>
              <a:t>: Finding the shortest possible route that visits each city exactly once and returns to the origin city.</a:t>
            </a:r>
          </a:p>
          <a:p>
            <a:r>
              <a:rPr lang="en-US" b="1" dirty="0"/>
              <a:t>Certain cryptographic algorithms</a:t>
            </a:r>
            <a:r>
              <a:rPr lang="en-US" dirty="0"/>
              <a:t>: Some encryption and decryption algorithms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122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dirty="0"/>
              <a:t>Polynomial Time </a:t>
            </a:r>
            <a:r>
              <a:rPr lang="en-US" dirty="0" smtClean="0"/>
              <a:t>Verification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905000"/>
            <a:ext cx="9675812" cy="4755444"/>
          </a:xfrm>
        </p:spPr>
        <p:txBody>
          <a:bodyPr>
            <a:normAutofit/>
          </a:bodyPr>
          <a:lstStyle/>
          <a:p>
            <a:r>
              <a:rPr lang="en-US" b="1" dirty="0" smtClean="0"/>
              <a:t>Polynomial </a:t>
            </a:r>
            <a:r>
              <a:rPr lang="en-US" b="1" dirty="0"/>
              <a:t>time </a:t>
            </a:r>
            <a:r>
              <a:rPr lang="en-US" dirty="0" smtClean="0"/>
              <a:t>Verification, </a:t>
            </a:r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ability to </a:t>
            </a:r>
            <a:r>
              <a:rPr lang="en-US" b="1" dirty="0"/>
              <a:t>verify the correctness </a:t>
            </a:r>
            <a:r>
              <a:rPr lang="en-US" dirty="0"/>
              <a:t>of a solution to a problem </a:t>
            </a:r>
            <a:r>
              <a:rPr lang="en-US" b="1" dirty="0"/>
              <a:t>in polynomial time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r>
              <a:rPr lang="en-US" dirty="0" smtClean="0"/>
              <a:t>Any set of problems for their solution can be verified </a:t>
            </a:r>
            <a:r>
              <a:rPr lang="en-US" dirty="0"/>
              <a:t>to be correct or incorrect</a:t>
            </a:r>
            <a:r>
              <a:rPr lang="en-US" dirty="0" smtClean="0"/>
              <a:t> in polynomial time are known as NP </a:t>
            </a:r>
            <a:r>
              <a:rPr lang="en-US" dirty="0"/>
              <a:t>(Nondeterministic-Polynomial </a:t>
            </a:r>
            <a:r>
              <a:rPr lang="en-US" dirty="0" smtClean="0"/>
              <a:t>Time) problems.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225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dirty="0" smtClean="0"/>
              <a:t>NP - Completeness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905000"/>
            <a:ext cx="9675812" cy="400622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NP-Completeness refers to one of fields of computational complexity theory.</a:t>
            </a:r>
          </a:p>
          <a:p>
            <a:r>
              <a:rPr lang="en-US" dirty="0" smtClean="0"/>
              <a:t>Lets check both NP and Completeness separately:</a:t>
            </a:r>
          </a:p>
          <a:p>
            <a:r>
              <a:rPr lang="en-US" b="1" dirty="0" smtClean="0"/>
              <a:t>NP</a:t>
            </a:r>
            <a:r>
              <a:rPr lang="en-US" dirty="0" smtClean="0"/>
              <a:t> – nondeterministic polynomial time.</a:t>
            </a:r>
          </a:p>
          <a:p>
            <a:r>
              <a:rPr lang="en-US" dirty="0" smtClean="0"/>
              <a:t>NP – refers to class of decision problems for which a proposed solution can be verified in polynomial time.</a:t>
            </a:r>
          </a:p>
          <a:p>
            <a:r>
              <a:rPr lang="en-US" dirty="0" smtClean="0"/>
              <a:t>We can say we can verify a solution to such problems in some time if it is </a:t>
            </a:r>
            <a:r>
              <a:rPr lang="en-US" b="1" dirty="0" smtClean="0"/>
              <a:t>correct</a:t>
            </a:r>
            <a:r>
              <a:rPr lang="en-US" dirty="0" smtClean="0"/>
              <a:t> or </a:t>
            </a:r>
            <a:r>
              <a:rPr lang="en-US" b="1" dirty="0" smtClean="0"/>
              <a:t>not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Completeness: </a:t>
            </a:r>
            <a:r>
              <a:rPr lang="en-US" dirty="0" smtClean="0"/>
              <a:t>in the context of NP-Completeness, the word “completeness” refers to a property of certain problem.</a:t>
            </a:r>
          </a:p>
          <a:p>
            <a:r>
              <a:rPr lang="en-US" dirty="0" smtClean="0"/>
              <a:t>In simple terms all the problems that are NP problems are hard to solve.</a:t>
            </a:r>
          </a:p>
          <a:p>
            <a:r>
              <a:rPr lang="en-US" dirty="0" smtClean="0"/>
              <a:t>A problem is said to be “complete” if It is as hard as the hardest problems in the NP class.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199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dirty="0"/>
              <a:t>Polynomial Time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905000"/>
            <a:ext cx="9675812" cy="4755444"/>
          </a:xfrm>
        </p:spPr>
        <p:txBody>
          <a:bodyPr>
            <a:normAutofit/>
          </a:bodyPr>
          <a:lstStyle/>
          <a:p>
            <a:r>
              <a:rPr lang="en-US" altLang="en-US" dirty="0"/>
              <a:t>Three classes of problems</a:t>
            </a:r>
          </a:p>
          <a:p>
            <a:pPr lvl="1"/>
            <a:r>
              <a:rPr lang="en-US" altLang="en-US" b="1" dirty="0"/>
              <a:t>P</a:t>
            </a:r>
            <a:r>
              <a:rPr lang="en-US" altLang="en-US" dirty="0"/>
              <a:t>:  problems solvable in poly time</a:t>
            </a:r>
            <a:r>
              <a:rPr lang="en-US" altLang="en-US" dirty="0" smtClean="0"/>
              <a:t>.</a:t>
            </a:r>
          </a:p>
          <a:p>
            <a:pPr lvl="1"/>
            <a:r>
              <a:rPr lang="en-US" altLang="en-US" dirty="0"/>
              <a:t>worst case running time – </a:t>
            </a:r>
            <a:r>
              <a:rPr lang="en-US" altLang="en-US" i="1" dirty="0"/>
              <a:t>O</a:t>
            </a:r>
            <a:r>
              <a:rPr lang="en-US" altLang="en-US" dirty="0"/>
              <a:t>(</a:t>
            </a:r>
            <a:r>
              <a:rPr lang="en-US" altLang="en-US" i="1" dirty="0" err="1"/>
              <a:t>n</a:t>
            </a:r>
            <a:r>
              <a:rPr lang="en-US" altLang="en-US" i="1" baseline="30000" dirty="0" err="1"/>
              <a:t>c</a:t>
            </a:r>
            <a:r>
              <a:rPr lang="en-US" altLang="en-US" dirty="0"/>
              <a:t>) for some constant </a:t>
            </a:r>
            <a:r>
              <a:rPr lang="en-US" altLang="en-US" i="1" dirty="0" smtClean="0"/>
              <a:t>c (Polynomial)</a:t>
            </a:r>
            <a:endParaRPr lang="en-US" altLang="en-US" dirty="0"/>
          </a:p>
          <a:p>
            <a:pPr lvl="1"/>
            <a:r>
              <a:rPr lang="en-US" altLang="en-US" b="1" dirty="0"/>
              <a:t>NP</a:t>
            </a:r>
            <a:r>
              <a:rPr lang="en-US" altLang="en-US" dirty="0"/>
              <a:t>: problems verifiable in poly time. </a:t>
            </a:r>
            <a:endParaRPr lang="en-US" altLang="en-US" dirty="0" smtClean="0"/>
          </a:p>
          <a:p>
            <a:pPr lvl="1"/>
            <a:r>
              <a:rPr lang="en-US" altLang="en-US" dirty="0"/>
              <a:t>worst case running time – </a:t>
            </a:r>
            <a:r>
              <a:rPr lang="en-US" altLang="en-US" i="1" dirty="0"/>
              <a:t>O</a:t>
            </a:r>
            <a:r>
              <a:rPr lang="en-US" altLang="en-US" dirty="0"/>
              <a:t>(</a:t>
            </a:r>
            <a:r>
              <a:rPr lang="en-US" altLang="en-US" i="1" dirty="0" err="1"/>
              <a:t>n</a:t>
            </a:r>
            <a:r>
              <a:rPr lang="en-US" altLang="en-US" i="1" baseline="30000" dirty="0" err="1"/>
              <a:t>c</a:t>
            </a:r>
            <a:r>
              <a:rPr lang="en-US" altLang="en-US" dirty="0"/>
              <a:t>) for some constant </a:t>
            </a:r>
            <a:r>
              <a:rPr lang="en-US" altLang="en-US" i="1" dirty="0" smtClean="0"/>
              <a:t>c (Polynomial)</a:t>
            </a:r>
            <a:endParaRPr lang="en-US" altLang="en-US" dirty="0"/>
          </a:p>
          <a:p>
            <a:pPr lvl="1"/>
            <a:r>
              <a:rPr lang="en-US" altLang="en-US" b="1" dirty="0"/>
              <a:t>NPC</a:t>
            </a:r>
            <a:r>
              <a:rPr lang="en-US" altLang="en-US" dirty="0"/>
              <a:t>: problems in NP and as hard as any problem </a:t>
            </a:r>
            <a:r>
              <a:rPr lang="en-US" altLang="en-US" dirty="0" smtClean="0"/>
              <a:t>in </a:t>
            </a:r>
            <a:r>
              <a:rPr lang="en-US" altLang="en-US" dirty="0"/>
              <a:t>NP</a:t>
            </a:r>
            <a:r>
              <a:rPr lang="en-US" altLang="en-US" dirty="0" smtClean="0"/>
              <a:t>.</a:t>
            </a:r>
          </a:p>
          <a:p>
            <a:pPr lvl="1"/>
            <a:r>
              <a:rPr lang="en-US" altLang="en-US" dirty="0"/>
              <a:t>worst case running time – </a:t>
            </a:r>
            <a:r>
              <a:rPr lang="en-US" altLang="en-US" i="1" dirty="0" smtClean="0"/>
              <a:t>O</a:t>
            </a:r>
            <a:r>
              <a:rPr lang="en-US" altLang="en-US" dirty="0" smtClean="0"/>
              <a:t>(</a:t>
            </a:r>
            <a:r>
              <a:rPr lang="en-US" altLang="en-US" i="1" dirty="0" err="1"/>
              <a:t>c</a:t>
            </a:r>
            <a:r>
              <a:rPr lang="en-US" altLang="en-US" i="1" baseline="30000" dirty="0" err="1" smtClean="0"/>
              <a:t>n</a:t>
            </a:r>
            <a:r>
              <a:rPr lang="en-US" altLang="en-US" dirty="0" smtClean="0"/>
              <a:t>) </a:t>
            </a:r>
            <a:r>
              <a:rPr lang="en-US" altLang="en-US" dirty="0"/>
              <a:t>for some constant </a:t>
            </a:r>
            <a:r>
              <a:rPr lang="en-US" altLang="en-US" i="1" dirty="0"/>
              <a:t>c</a:t>
            </a:r>
            <a:r>
              <a:rPr lang="en-US" altLang="en-US" dirty="0" smtClean="0"/>
              <a:t> (Exponential)</a:t>
            </a: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399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dirty="0" smtClean="0"/>
              <a:t>NP -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905000"/>
            <a:ext cx="9675812" cy="400622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sz="1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b="1" dirty="0" smtClean="0"/>
              <a:t>Boolean Satisfiability (SAT)</a:t>
            </a:r>
          </a:p>
          <a:p>
            <a:r>
              <a:rPr lang="en-US" dirty="0"/>
              <a:t>Given a Boolean formula, is there an assignment of truth values to the variables that makes the formula true?</a:t>
            </a:r>
          </a:p>
          <a:p>
            <a:r>
              <a:rPr lang="en-US" dirty="0"/>
              <a:t>Example: </a:t>
            </a:r>
            <a:r>
              <a:rPr lang="en-US" dirty="0" smtClean="0"/>
              <a:t>(x ∨ y)</a:t>
            </a:r>
            <a:r>
              <a:rPr lang="en-US" dirty="0"/>
              <a:t>∧</a:t>
            </a:r>
            <a:r>
              <a:rPr lang="en-US" dirty="0" smtClean="0"/>
              <a:t>(¬ x ∨ z )</a:t>
            </a:r>
            <a:r>
              <a:rPr lang="en-US" dirty="0"/>
              <a:t>∧</a:t>
            </a:r>
            <a:r>
              <a:rPr lang="en-US" dirty="0" smtClean="0"/>
              <a:t>(y ∨ ¬ z)</a:t>
            </a:r>
            <a:endParaRPr lang="en-US" dirty="0"/>
          </a:p>
          <a:p>
            <a:pPr lvl="1"/>
            <a:endParaRPr lang="en-US" b="1" dirty="0" smtClean="0"/>
          </a:p>
          <a:p>
            <a:r>
              <a:rPr lang="en-US" b="1" dirty="0" smtClean="0"/>
              <a:t>Traveling Salesman Problem</a:t>
            </a:r>
          </a:p>
          <a:p>
            <a:r>
              <a:rPr lang="en-US" dirty="0"/>
              <a:t>Given a list of cities and the distances between each pair of cities, what is the shortest possible route that visits each city exactly once and returns to the original city?</a:t>
            </a:r>
          </a:p>
          <a:p>
            <a:r>
              <a:rPr lang="en-US" dirty="0"/>
              <a:t>Example: A salesman needs to visit 5 cities, and the distances between them are known.</a:t>
            </a:r>
          </a:p>
          <a:p>
            <a:pPr marL="0" indent="0">
              <a:buNone/>
            </a:pPr>
            <a:endParaRPr lang="en-US" b="1" dirty="0" smtClean="0"/>
          </a:p>
          <a:p>
            <a:r>
              <a:rPr lang="en-US" b="1" dirty="0" smtClean="0"/>
              <a:t>Subset Sum Problem</a:t>
            </a:r>
          </a:p>
          <a:p>
            <a:r>
              <a:rPr lang="en-US" b="1" dirty="0" smtClean="0"/>
              <a:t>Knapsack Problem</a:t>
            </a:r>
          </a:p>
          <a:p>
            <a:r>
              <a:rPr lang="en-US" b="1" dirty="0" smtClean="0"/>
              <a:t>Graph Coloring Problem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954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EI-331 Design &amp; Analysis of Algorithms</a:t>
            </a:r>
            <a:br>
              <a:rPr lang="en-US" dirty="0" smtClean="0"/>
            </a:br>
            <a:r>
              <a:rPr lang="en-US" dirty="0" smtClean="0"/>
              <a:t>NP - Complete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905000"/>
            <a:ext cx="9675812" cy="40062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dirty="0"/>
              <a:t>NP-complete problems are the hard problems in </a:t>
            </a:r>
            <a:r>
              <a:rPr lang="en-US" dirty="0" smtClean="0"/>
              <a:t>NP</a:t>
            </a:r>
            <a:endParaRPr lang="en-US" b="1" dirty="0" smtClean="0"/>
          </a:p>
          <a:p>
            <a:r>
              <a:rPr lang="en-US" dirty="0"/>
              <a:t>If one could solve an NP-complete problem in polynomial time, then one could also solve any NP problem in polynomial </a:t>
            </a:r>
            <a:r>
              <a:rPr lang="en-US" dirty="0" smtClean="0"/>
              <a:t>time.</a:t>
            </a:r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48917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307</TotalTime>
  <Words>732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Times New Roman</vt:lpstr>
      <vt:lpstr>Wingdings 3</vt:lpstr>
      <vt:lpstr>Wisp</vt:lpstr>
      <vt:lpstr>EI-331  Design and Analysis of Algorithms  NP-Completeness     (NPC) Polynomial Time Algorithm (P) Polynomial Time Verification (NP)</vt:lpstr>
      <vt:lpstr>EI-331 Design &amp; Analysis of Algorithms Polynomial Time Algorithm</vt:lpstr>
      <vt:lpstr>EI-331 Design &amp; Analysis of Algorithms Polynomial Time Algorithm</vt:lpstr>
      <vt:lpstr>EI-331 Design &amp; Analysis of Algorithms Polynomial Time Algorithm</vt:lpstr>
      <vt:lpstr>EI-331 Design &amp; Analysis of Algorithms Polynomial Time Verification</vt:lpstr>
      <vt:lpstr>EI-331 Design &amp; Analysis of Algorithms NP - Completeness</vt:lpstr>
      <vt:lpstr>EI-331 Design &amp; Analysis of Algorithms Polynomial Time Algorithm</vt:lpstr>
      <vt:lpstr>EI-331 Design &amp; Analysis of Algorithms NP - Problems</vt:lpstr>
      <vt:lpstr>EI-331 Design &amp; Analysis of Algorithms NP - Complete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EI-331  Design and Analysis of Algorithms</dc:title>
  <dc:creator>Kamran</dc:creator>
  <cp:lastModifiedBy>Kamran</cp:lastModifiedBy>
  <cp:revision>30</cp:revision>
  <dcterms:created xsi:type="dcterms:W3CDTF">2024-03-24T23:29:06Z</dcterms:created>
  <dcterms:modified xsi:type="dcterms:W3CDTF">2024-04-17T01:15:01Z</dcterms:modified>
</cp:coreProperties>
</file>
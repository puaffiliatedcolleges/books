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2" autoAdjust="0"/>
    <p:restoredTop sz="94660"/>
  </p:normalViewPr>
  <p:slideViewPr>
    <p:cSldViewPr>
      <p:cViewPr varScale="1">
        <p:scale>
          <a:sx n="70" d="100"/>
          <a:sy n="70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5D3F4-B91E-4737-AD1F-F4F3C689C397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90B9F-BF70-4C0E-9442-9423D9C2B1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390B9F-BF70-4C0E-9442-9423D9C2B1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B6454B6-BB5D-4F97-8870-6DB9E9C8A379}" type="datetimeFigureOut">
              <a:rPr lang="en-US" smtClean="0"/>
              <a:t>20-Apr-21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EA2EB43-B443-4017-BFE5-69F441B6804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052001"/>
            <a:ext cx="7772400" cy="2224599"/>
          </a:xfrm>
        </p:spPr>
        <p:txBody>
          <a:bodyPr>
            <a:normAutofit/>
          </a:bodyPr>
          <a:lstStyle/>
          <a:p>
            <a:r>
              <a:rPr lang="en-US" sz="5400" dirty="0" smtClean="0"/>
              <a:t>XML Languages &amp; Applications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3886200"/>
            <a:ext cx="8153400" cy="1752600"/>
          </a:xfrm>
        </p:spPr>
        <p:txBody>
          <a:bodyPr>
            <a:normAutofit lnSpcReduction="10000"/>
          </a:bodyPr>
          <a:lstStyle/>
          <a:p>
            <a:r>
              <a:rPr lang="en-US" sz="4400" b="1" i="1" dirty="0" smtClean="0">
                <a:solidFill>
                  <a:srgbClr val="C00000"/>
                </a:solidFill>
              </a:rPr>
              <a:t>eXtensible Markup Language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(New generation </a:t>
            </a:r>
            <a:r>
              <a:rPr lang="en-US" sz="2400" dirty="0">
                <a:solidFill>
                  <a:srgbClr val="C00000"/>
                </a:solidFill>
              </a:rPr>
              <a:t>of markup </a:t>
            </a:r>
            <a:r>
              <a:rPr lang="en-US" sz="2400" dirty="0" smtClean="0">
                <a:solidFill>
                  <a:srgbClr val="C00000"/>
                </a:solidFill>
              </a:rPr>
              <a:t>languages)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7321"/>
            <a:ext cx="7467600" cy="104567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solidFill>
                  <a:srgbClr val="0070C0"/>
                </a:solidFill>
              </a:rPr>
              <a:t>CORE XML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473631"/>
            <a:ext cx="8326464" cy="576536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XML stands for EXtensible Markup Language.</a:t>
            </a:r>
          </a:p>
          <a:p>
            <a:r>
              <a:rPr lang="en-US" sz="2600" dirty="0" smtClean="0"/>
              <a:t>XML was designed to describe data, not to display data like HTML</a:t>
            </a:r>
          </a:p>
          <a:p>
            <a:r>
              <a:rPr lang="en-US" sz="2600" dirty="0" smtClean="0"/>
              <a:t>XML is a software- and hardware-independent tool for carrying information.</a:t>
            </a:r>
          </a:p>
          <a:p>
            <a:r>
              <a:rPr lang="en-US" sz="2600" dirty="0" smtClean="0"/>
              <a:t>XML tags are not predefined. You must define your own tags</a:t>
            </a:r>
          </a:p>
          <a:p>
            <a:r>
              <a:rPr lang="en-US" sz="2600" dirty="0" smtClean="0"/>
              <a:t>XML is designed to be self-descriptive</a:t>
            </a:r>
          </a:p>
          <a:p>
            <a:r>
              <a:rPr lang="en-US" sz="2600" dirty="0" smtClean="0"/>
              <a:t>XML is easy to learn.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467600" cy="1143000"/>
          </a:xfrm>
        </p:spPr>
        <p:txBody>
          <a:bodyPr/>
          <a:lstStyle/>
          <a:p>
            <a:r>
              <a:rPr lang="en-US" b="1" u="sng" dirty="0" smtClean="0"/>
              <a:t>XML Document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371599"/>
            <a:ext cx="8686800" cy="52926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700" dirty="0" smtClean="0"/>
              <a:t>&lt;?xml version="1.0" encoding="UTF-8"?&gt;</a:t>
            </a:r>
          </a:p>
          <a:p>
            <a:pPr>
              <a:buNone/>
            </a:pPr>
            <a:r>
              <a:rPr lang="en-US" sz="2700" dirty="0" smtClean="0"/>
              <a:t>		</a:t>
            </a:r>
          </a:p>
          <a:p>
            <a:pPr>
              <a:buNone/>
            </a:pPr>
            <a:r>
              <a:rPr lang="en-US" sz="2700" dirty="0" smtClean="0"/>
              <a:t>&lt;note&gt;</a:t>
            </a:r>
          </a:p>
          <a:p>
            <a:pPr>
              <a:buNone/>
            </a:pPr>
            <a:r>
              <a:rPr lang="en-US" sz="2700" dirty="0" smtClean="0"/>
              <a:t>  		&lt;</a:t>
            </a:r>
            <a:r>
              <a:rPr lang="en-US" sz="2700" dirty="0" smtClean="0"/>
              <a:t>to&gt;Mr. Saif&lt;/</a:t>
            </a:r>
            <a:r>
              <a:rPr lang="en-US" sz="2700" dirty="0" smtClean="0"/>
              <a:t>to&gt;</a:t>
            </a:r>
          </a:p>
          <a:p>
            <a:pPr>
              <a:buNone/>
            </a:pPr>
            <a:r>
              <a:rPr lang="en-US" sz="2700" dirty="0" smtClean="0"/>
              <a:t>  		&lt;</a:t>
            </a:r>
            <a:r>
              <a:rPr lang="en-US" sz="2700" dirty="0" smtClean="0"/>
              <a:t>from&gt;IQRA COLLEGE&lt;/</a:t>
            </a:r>
            <a:r>
              <a:rPr lang="en-US" sz="2700" dirty="0" smtClean="0"/>
              <a:t>from&gt;</a:t>
            </a:r>
          </a:p>
          <a:p>
            <a:pPr>
              <a:buNone/>
            </a:pPr>
            <a:r>
              <a:rPr lang="en-US" sz="2700" dirty="0" smtClean="0"/>
              <a:t>  		&lt;heading&gt;Reminder&lt;/heading&gt;</a:t>
            </a:r>
          </a:p>
          <a:p>
            <a:pPr>
              <a:buNone/>
            </a:pPr>
            <a:r>
              <a:rPr lang="en-US" sz="2700" dirty="0" smtClean="0"/>
              <a:t>  		&lt;body&gt;Don't forget me this weekend! &lt;/body&gt;</a:t>
            </a:r>
          </a:p>
          <a:p>
            <a:pPr>
              <a:buNone/>
            </a:pPr>
            <a:r>
              <a:rPr lang="en-US" sz="2700" dirty="0" smtClean="0"/>
              <a:t>&lt;/note&gt;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u="sng" dirty="0" smtClean="0">
                <a:solidFill>
                  <a:srgbClr val="0070C0"/>
                </a:solidFill>
              </a:rPr>
              <a:t>difference b/w XML &amp; HTML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XML is not a replacement for HTML. </a:t>
            </a:r>
          </a:p>
          <a:p>
            <a:r>
              <a:rPr lang="en-US" sz="2800" dirty="0" smtClean="0"/>
              <a:t>XML and HTML were designed with different goals:</a:t>
            </a:r>
          </a:p>
          <a:p>
            <a:pPr lvl="1"/>
            <a:r>
              <a:rPr lang="en-US" sz="2800" dirty="0" smtClean="0"/>
              <a:t>XML</a:t>
            </a:r>
            <a:r>
              <a:rPr lang="en-US" sz="2500" dirty="0" smtClean="0"/>
              <a:t> was designed to describe data, with focus on what data is</a:t>
            </a:r>
          </a:p>
          <a:p>
            <a:pPr lvl="1"/>
            <a:r>
              <a:rPr lang="en-US" sz="2800" dirty="0" smtClean="0"/>
              <a:t>HTML </a:t>
            </a:r>
            <a:r>
              <a:rPr lang="en-US" sz="2500" dirty="0" smtClean="0"/>
              <a:t>was designed to display data, with focus on how data looks</a:t>
            </a:r>
          </a:p>
          <a:p>
            <a:r>
              <a:rPr lang="en-US" sz="2800" dirty="0" smtClean="0"/>
              <a:t>HTML is about displaying information, while XML is about carrying information.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sz="4000" b="1" u="sng" dirty="0" smtClean="0">
                <a:solidFill>
                  <a:srgbClr val="0070C0"/>
                </a:solidFill>
              </a:rPr>
              <a:t>difference b/w XML &amp; HTML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With XML You Invent Your Own Tags:</a:t>
            </a:r>
            <a:endParaRPr lang="en-US" sz="2800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The tags in the example above (like </a:t>
            </a:r>
            <a:r>
              <a:rPr lang="en-US" sz="2800" b="1" dirty="0" smtClean="0"/>
              <a:t>&lt;to&gt;</a:t>
            </a:r>
            <a:r>
              <a:rPr lang="en-US" sz="2800" dirty="0" smtClean="0"/>
              <a:t> and </a:t>
            </a:r>
            <a:r>
              <a:rPr lang="en-US" sz="2800" b="1" dirty="0" smtClean="0"/>
              <a:t>&lt;from&gt;</a:t>
            </a:r>
            <a:r>
              <a:rPr lang="en-US" sz="2800" dirty="0" smtClean="0"/>
              <a:t>) are not defined in any XML standard.</a:t>
            </a:r>
          </a:p>
          <a:p>
            <a:r>
              <a:rPr lang="en-US" sz="2800" dirty="0" smtClean="0"/>
              <a:t> These tags are "invented" by the author of the XML document. </a:t>
            </a:r>
          </a:p>
          <a:p>
            <a:r>
              <a:rPr lang="en-US" sz="2800" dirty="0" smtClean="0"/>
              <a:t>That is because the XML language has no predefined tags.</a:t>
            </a:r>
          </a:p>
          <a:p>
            <a:r>
              <a:rPr lang="en-US" sz="2800" dirty="0" smtClean="0"/>
              <a:t>The tags used in HTML are predefined. </a:t>
            </a:r>
          </a:p>
          <a:p>
            <a:r>
              <a:rPr lang="en-US" sz="2800" dirty="0" smtClean="0"/>
              <a:t>HTML documents can only use tags defined in the HTML standard (like &lt;p&gt;, &lt;h1&gt;, etc.). </a:t>
            </a:r>
          </a:p>
          <a:p>
            <a:r>
              <a:rPr lang="en-US" sz="2800" dirty="0" smtClean="0"/>
              <a:t>XML allows the author to define his/her own tags and his/her own document structure.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How Can XML be Used?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XML Separates Data from HTML:</a:t>
            </a:r>
            <a:endParaRPr lang="en-US" sz="2800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If you need to display dynamic data in your HTML document, it will take a lot of work to edit the HTML each time the data changes. </a:t>
            </a:r>
          </a:p>
          <a:p>
            <a:r>
              <a:rPr lang="en-US" sz="2800" dirty="0" smtClean="0"/>
              <a:t>With XML, data can be stored in separate XML files. This way you can concentrate on using HTML/CSS for display and layout, and be sure that changes in the underlying data will not require any changes to the HTML.</a:t>
            </a:r>
          </a:p>
          <a:p>
            <a:r>
              <a:rPr lang="en-US" sz="2800" dirty="0" smtClean="0"/>
              <a:t>With a few lines of JavaScript code, you can read an external XML file and update the data content of your web page.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How Can XML be Used?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XML Simplifies Data Sharing :</a:t>
            </a:r>
            <a:endParaRPr lang="en-US" sz="2800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In the real world, computer systems and databases contain data in incompatible formats.</a:t>
            </a:r>
          </a:p>
          <a:p>
            <a:r>
              <a:rPr lang="en-US" sz="2800" dirty="0" smtClean="0"/>
              <a:t>XML data is stored in plain text format. </a:t>
            </a:r>
          </a:p>
          <a:p>
            <a:r>
              <a:rPr lang="en-US" sz="2800" dirty="0" smtClean="0"/>
              <a:t>This provides a software- and hardware-independent way of storing data.</a:t>
            </a:r>
          </a:p>
          <a:p>
            <a:r>
              <a:rPr lang="en-US" sz="2800" dirty="0" smtClean="0"/>
              <a:t>This makes it much easier to create data that can be shared by different applications.</a:t>
            </a:r>
          </a:p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XML Simplifies Data Transport</a:t>
            </a:r>
            <a:endParaRPr lang="en-US" sz="2800" dirty="0" smtClean="0">
              <a:solidFill>
                <a:srgbClr val="C00000"/>
              </a:solidFill>
            </a:endParaRPr>
          </a:p>
          <a:p>
            <a:pPr algn="just"/>
            <a:r>
              <a:rPr lang="en-US" sz="2800" dirty="0" smtClean="0"/>
              <a:t>Exchanging data as XML greatly reduces this complexity, since the data can be read by different incompatible applications.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How Can XML be Used?</a:t>
            </a:r>
            <a:endParaRPr lang="en-US" sz="4000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XML Simplifies Platform Changes</a:t>
            </a:r>
            <a:endParaRPr lang="en-US" sz="2800" dirty="0" smtClean="0">
              <a:solidFill>
                <a:srgbClr val="C00000"/>
              </a:solidFill>
            </a:endParaRPr>
          </a:p>
          <a:p>
            <a:pPr algn="just"/>
            <a:r>
              <a:rPr lang="en-US" sz="2800" dirty="0" smtClean="0"/>
              <a:t>Upgrading to new systems (hardware or software platforms), is always time consuming.</a:t>
            </a:r>
          </a:p>
          <a:p>
            <a:pPr algn="just"/>
            <a:r>
              <a:rPr lang="en-US" sz="2800" dirty="0" smtClean="0"/>
              <a:t>Large amounts of data must be converted and incompatible data is often lost.</a:t>
            </a:r>
          </a:p>
          <a:p>
            <a:pPr algn="just"/>
            <a:r>
              <a:rPr lang="en-US" sz="2800" dirty="0" smtClean="0"/>
              <a:t>XML data is stored in text format. This makes it easier to expand or upgrade to new operating systems, new applications, or new browsers, without losing data.</a:t>
            </a:r>
          </a:p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Internet Languages Written in XML</a:t>
            </a:r>
            <a:r>
              <a:rPr lang="en-US" sz="2800" b="1" i="1" u="sng" dirty="0" smtClean="0">
                <a:solidFill>
                  <a:srgbClr val="C00000"/>
                </a:solidFill>
              </a:rPr>
              <a:t>:</a:t>
            </a:r>
            <a:endParaRPr lang="en-US" sz="2800" b="1" u="sng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Several Internet languages are written in XML. Here are some examples:</a:t>
            </a:r>
          </a:p>
          <a:p>
            <a:pPr lvl="1"/>
            <a:r>
              <a:rPr lang="en-US" sz="2500" dirty="0" smtClean="0"/>
              <a:t>XHTML ,     XML Schema,     XSL,     WSDL,     RSS</a:t>
            </a:r>
          </a:p>
          <a:p>
            <a:pPr algn="just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XML Tree: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XML documents form a tree structure that starts at </a:t>
            </a:r>
            <a:r>
              <a:rPr lang="en-US" sz="2800" dirty="0" smtClean="0">
                <a:solidFill>
                  <a:srgbClr val="C00000"/>
                </a:solidFill>
              </a:rPr>
              <a:t>"the root"</a:t>
            </a:r>
            <a:r>
              <a:rPr lang="en-US" sz="2800" dirty="0" smtClean="0"/>
              <a:t> and branches to </a:t>
            </a:r>
            <a:r>
              <a:rPr lang="en-US" sz="2800" dirty="0" smtClean="0">
                <a:solidFill>
                  <a:srgbClr val="C00000"/>
                </a:solidFill>
              </a:rPr>
              <a:t>"the leaves"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The first line is the XML declaration. It defines the XML version:</a:t>
            </a:r>
          </a:p>
          <a:p>
            <a:pPr lvl="1"/>
            <a:r>
              <a:rPr lang="en-US" sz="2400" b="1" dirty="0" smtClean="0">
                <a:solidFill>
                  <a:srgbClr val="00B050"/>
                </a:solidFill>
              </a:rPr>
              <a:t>&lt;?xml version="1.0" encoding="UTF-8"?&gt;</a:t>
            </a:r>
            <a:endParaRPr lang="en-US" sz="2500" b="1" dirty="0" smtClean="0">
              <a:solidFill>
                <a:srgbClr val="00B050"/>
              </a:solidFill>
            </a:endParaRPr>
          </a:p>
          <a:p>
            <a:r>
              <a:rPr lang="en-US" sz="2800" dirty="0" smtClean="0"/>
              <a:t>The next line describes the root element of the document: 	</a:t>
            </a:r>
            <a:r>
              <a:rPr lang="en-US" sz="2800" b="1" dirty="0" smtClean="0">
                <a:solidFill>
                  <a:srgbClr val="00B050"/>
                </a:solidFill>
              </a:rPr>
              <a:t>&lt;Note&gt;</a:t>
            </a:r>
          </a:p>
          <a:p>
            <a:r>
              <a:rPr lang="en-US" sz="2800" dirty="0" smtClean="0"/>
              <a:t>The next 4 lines describe 4 child elements of the root: (to, from, heading, and body):</a:t>
            </a:r>
          </a:p>
          <a:p>
            <a:pPr lvl="1"/>
            <a:r>
              <a:rPr lang="en-US" sz="2500" b="1" dirty="0" smtClean="0">
                <a:solidFill>
                  <a:srgbClr val="00B050"/>
                </a:solidFill>
              </a:rPr>
              <a:t>&lt;to&gt;</a:t>
            </a:r>
            <a:r>
              <a:rPr lang="en-US" sz="2500" b="1" dirty="0" err="1" smtClean="0">
                <a:solidFill>
                  <a:srgbClr val="00B050"/>
                </a:solidFill>
              </a:rPr>
              <a:t>Tove</a:t>
            </a:r>
            <a:r>
              <a:rPr lang="en-US" sz="2500" b="1" dirty="0" smtClean="0">
                <a:solidFill>
                  <a:srgbClr val="00B050"/>
                </a:solidFill>
              </a:rPr>
              <a:t>&lt;/to&gt;</a:t>
            </a:r>
          </a:p>
          <a:p>
            <a:pPr lvl="1"/>
            <a:r>
              <a:rPr lang="en-US" sz="2500" b="1" dirty="0" smtClean="0">
                <a:solidFill>
                  <a:srgbClr val="00B050"/>
                </a:solidFill>
              </a:rPr>
              <a:t>&lt;from&gt;</a:t>
            </a:r>
            <a:r>
              <a:rPr lang="en-US" sz="2500" b="1" dirty="0" err="1" smtClean="0">
                <a:solidFill>
                  <a:srgbClr val="00B050"/>
                </a:solidFill>
              </a:rPr>
              <a:t>Jani</a:t>
            </a:r>
            <a:r>
              <a:rPr lang="en-US" sz="2500" b="1" dirty="0" smtClean="0">
                <a:solidFill>
                  <a:srgbClr val="00B050"/>
                </a:solidFill>
              </a:rPr>
              <a:t>&lt;/from&gt;</a:t>
            </a:r>
          </a:p>
          <a:p>
            <a:pPr lvl="1"/>
            <a:r>
              <a:rPr lang="en-US" sz="2500" b="1" dirty="0" smtClean="0">
                <a:solidFill>
                  <a:srgbClr val="00B050"/>
                </a:solidFill>
              </a:rPr>
              <a:t>&lt;heading&gt;Reminder&lt;/heading&gt;</a:t>
            </a:r>
          </a:p>
          <a:p>
            <a:pPr lvl="1"/>
            <a:r>
              <a:rPr lang="en-US" sz="2500" b="1" dirty="0" smtClean="0">
                <a:solidFill>
                  <a:srgbClr val="00B050"/>
                </a:solidFill>
              </a:rPr>
              <a:t>&lt;body&gt;Don't forget me this weekend!&lt;/body&gt;</a:t>
            </a:r>
          </a:p>
          <a:p>
            <a:pPr algn="just"/>
            <a:r>
              <a:rPr lang="en-US" sz="2800" b="1" dirty="0" smtClean="0"/>
              <a:t>And finally the last line defines the end of the root element:  </a:t>
            </a:r>
            <a:r>
              <a:rPr lang="en-US" sz="2800" b="1" dirty="0" smtClean="0">
                <a:solidFill>
                  <a:srgbClr val="00B050"/>
                </a:solidFill>
              </a:rPr>
              <a:t>&lt;/Note&gt;</a:t>
            </a:r>
            <a:endParaRPr lang="en-US" sz="2800" dirty="0" smtClean="0">
              <a:solidFill>
                <a:srgbClr val="00B050"/>
              </a:solidFill>
            </a:endParaRPr>
          </a:p>
          <a:p>
            <a:pPr algn="just"/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81000"/>
            <a:ext cx="7467600" cy="1143000"/>
          </a:xfrm>
        </p:spPr>
        <p:txBody>
          <a:bodyPr>
            <a:normAutofit/>
          </a:bodyPr>
          <a:lstStyle/>
          <a:p>
            <a:r>
              <a:rPr lang="en-US" sz="3600" b="1" u="sng" dirty="0" smtClean="0">
                <a:solidFill>
                  <a:srgbClr val="0070C0"/>
                </a:solidFill>
              </a:rPr>
              <a:t>XML Tree: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399"/>
            <a:ext cx="8419454" cy="574987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b="1" u="sng" dirty="0" smtClean="0">
                <a:solidFill>
                  <a:srgbClr val="C00000"/>
                </a:solidFill>
              </a:rPr>
              <a:t>XML Documents Form a Tree Structure:</a:t>
            </a:r>
            <a:endParaRPr lang="en-US" sz="2800" dirty="0" smtClean="0">
              <a:solidFill>
                <a:srgbClr val="C00000"/>
              </a:solidFill>
            </a:endParaRPr>
          </a:p>
          <a:p>
            <a:r>
              <a:rPr lang="en-US" sz="2800" dirty="0" smtClean="0"/>
              <a:t>XML documents must contain a root element. This element is </a:t>
            </a:r>
            <a:r>
              <a:rPr lang="en-US" sz="2800" b="1" dirty="0" smtClean="0">
                <a:solidFill>
                  <a:srgbClr val="00B050"/>
                </a:solidFill>
              </a:rPr>
              <a:t>"the parent"</a:t>
            </a:r>
            <a:r>
              <a:rPr lang="en-US" sz="2800" dirty="0" smtClean="0"/>
              <a:t> of all other elements. The elements in an XML document form a document tree. The tree starts at the root and branches to the lowest level of the tree. All elements can have sub elements </a:t>
            </a:r>
            <a:r>
              <a:rPr lang="en-US" sz="2800" b="1" dirty="0" smtClean="0">
                <a:solidFill>
                  <a:srgbClr val="00B050"/>
                </a:solidFill>
              </a:rPr>
              <a:t>(child elements):</a:t>
            </a:r>
          </a:p>
          <a:p>
            <a:pPr>
              <a:buNone/>
            </a:pPr>
            <a:r>
              <a:rPr lang="en-US" sz="2800" dirty="0" smtClean="0"/>
              <a:t>		&lt;root&gt;</a:t>
            </a:r>
          </a:p>
          <a:p>
            <a:pPr>
              <a:buNone/>
            </a:pPr>
            <a:r>
              <a:rPr lang="en-US" sz="2800" dirty="0" smtClean="0"/>
              <a:t> 	 		&lt;child&gt;</a:t>
            </a:r>
          </a:p>
          <a:p>
            <a:pPr>
              <a:buNone/>
            </a:pPr>
            <a:r>
              <a:rPr lang="en-US" sz="2800" dirty="0" smtClean="0"/>
              <a:t>   				 &lt;</a:t>
            </a:r>
            <a:r>
              <a:rPr lang="en-US" sz="2800" dirty="0" err="1" smtClean="0"/>
              <a:t>subchild</a:t>
            </a:r>
            <a:r>
              <a:rPr lang="en-US" sz="2800" dirty="0" smtClean="0"/>
              <a:t>&gt;.....&lt;/</a:t>
            </a:r>
            <a:r>
              <a:rPr lang="en-US" sz="2800" dirty="0" err="1" smtClean="0"/>
              <a:t>subchild</a:t>
            </a:r>
            <a:r>
              <a:rPr lang="en-US" sz="2800" dirty="0" smtClean="0"/>
              <a:t>&gt;</a:t>
            </a:r>
          </a:p>
          <a:p>
            <a:pPr>
              <a:buNone/>
            </a:pPr>
            <a:r>
              <a:rPr lang="en-US" sz="2800" dirty="0" smtClean="0"/>
              <a:t>  			&lt;/child&gt;</a:t>
            </a:r>
          </a:p>
          <a:p>
            <a:pPr>
              <a:buNone/>
            </a:pPr>
            <a:r>
              <a:rPr lang="en-US" sz="2800" dirty="0" smtClean="0"/>
              <a:t>		&lt;/root&gt;</a:t>
            </a:r>
          </a:p>
          <a:p>
            <a:r>
              <a:rPr lang="en-US" sz="2800" dirty="0" smtClean="0"/>
              <a:t>The terms parent, child, and </a:t>
            </a:r>
            <a:r>
              <a:rPr lang="en-US" sz="2800" b="1" dirty="0" smtClean="0">
                <a:solidFill>
                  <a:srgbClr val="00B050"/>
                </a:solidFill>
              </a:rPr>
              <a:t>sibling</a:t>
            </a:r>
            <a:r>
              <a:rPr lang="en-US" sz="2800" dirty="0" smtClean="0"/>
              <a:t> are used to describe the relationships between elements. Parent elements have children. Children on the same level are called siblings (</a:t>
            </a:r>
            <a:r>
              <a:rPr lang="en-US" sz="2800" b="1" dirty="0" smtClean="0">
                <a:solidFill>
                  <a:srgbClr val="00B050"/>
                </a:solidFill>
              </a:rPr>
              <a:t>brothers or sisters</a:t>
            </a:r>
            <a:r>
              <a:rPr lang="en-US" sz="2800" dirty="0" smtClean="0"/>
              <a:t>). All elements can have text content and attributes (just like in HTML).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589936" cy="6452461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6000" b="1" u="sng" dirty="0" smtClean="0">
                <a:solidFill>
                  <a:srgbClr val="C00000"/>
                </a:solidFill>
              </a:rPr>
              <a:t>XML Documents Form a Tree Structure:</a:t>
            </a:r>
            <a:endParaRPr lang="en-US" sz="6000" dirty="0" smtClean="0">
              <a:solidFill>
                <a:srgbClr val="C00000"/>
              </a:solidFill>
            </a:endParaRPr>
          </a:p>
          <a:p>
            <a:r>
              <a:rPr lang="en-US" sz="4300" dirty="0" smtClean="0"/>
              <a:t>Example:</a:t>
            </a:r>
          </a:p>
          <a:p>
            <a:r>
              <a:rPr lang="en-US" sz="4300" b="1" dirty="0" smtClean="0">
                <a:solidFill>
                  <a:srgbClr val="C00000"/>
                </a:solidFill>
              </a:rPr>
              <a:t>&lt;bookstore&gt; //Root</a:t>
            </a:r>
          </a:p>
          <a:p>
            <a:r>
              <a:rPr lang="en-US" sz="4300" dirty="0" smtClean="0"/>
              <a:t> 	</a:t>
            </a:r>
            <a:r>
              <a:rPr lang="en-US" sz="4300" b="1" dirty="0" smtClean="0">
                <a:solidFill>
                  <a:srgbClr val="0070C0"/>
                </a:solidFill>
              </a:rPr>
              <a:t> &lt;book category="COOKING"&gt; //Child</a:t>
            </a:r>
          </a:p>
          <a:p>
            <a:r>
              <a:rPr lang="en-US" sz="4300" dirty="0" smtClean="0"/>
              <a:t> 		   </a:t>
            </a:r>
            <a:r>
              <a:rPr lang="en-US" sz="4300" b="1" dirty="0" smtClean="0">
                <a:solidFill>
                  <a:srgbClr val="00B050"/>
                </a:solidFill>
              </a:rPr>
              <a:t>&lt;title </a:t>
            </a:r>
            <a:r>
              <a:rPr lang="en-US" sz="4300" b="1" dirty="0" err="1" smtClean="0">
                <a:solidFill>
                  <a:srgbClr val="00B050"/>
                </a:solidFill>
              </a:rPr>
              <a:t>lang</a:t>
            </a:r>
            <a:r>
              <a:rPr lang="en-US" sz="4300" b="1" dirty="0" smtClean="0">
                <a:solidFill>
                  <a:srgbClr val="00B050"/>
                </a:solidFill>
              </a:rPr>
              <a:t>="en"&gt;</a:t>
            </a:r>
            <a:r>
              <a:rPr lang="en-US" sz="4300" b="1" dirty="0" smtClean="0"/>
              <a:t>Everyday Italian</a:t>
            </a:r>
            <a:r>
              <a:rPr lang="en-US" sz="4300" b="1" dirty="0" smtClean="0">
                <a:solidFill>
                  <a:srgbClr val="00B050"/>
                </a:solidFill>
              </a:rPr>
              <a:t>&lt;/title&gt; // Sub-child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		   &lt;author&gt;</a:t>
            </a:r>
            <a:r>
              <a:rPr lang="en-US" sz="4300" b="1" dirty="0" smtClean="0"/>
              <a:t>Giada De </a:t>
            </a:r>
            <a:r>
              <a:rPr lang="en-US" sz="4300" b="1" dirty="0" err="1" smtClean="0"/>
              <a:t>Laurentiis</a:t>
            </a:r>
            <a:r>
              <a:rPr lang="en-US" sz="4300" b="1" dirty="0" smtClean="0">
                <a:solidFill>
                  <a:srgbClr val="00B050"/>
                </a:solidFill>
              </a:rPr>
              <a:t>&lt;/author&gt;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		   &lt;year&gt;</a:t>
            </a:r>
            <a:r>
              <a:rPr lang="en-US" sz="4300" b="1" dirty="0" smtClean="0"/>
              <a:t>2005</a:t>
            </a:r>
            <a:r>
              <a:rPr lang="en-US" sz="4300" b="1" dirty="0" smtClean="0">
                <a:solidFill>
                  <a:srgbClr val="00B050"/>
                </a:solidFill>
              </a:rPr>
              <a:t>&lt;/year&gt;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 		   &lt;price&gt;</a:t>
            </a:r>
            <a:r>
              <a:rPr lang="en-US" sz="4300" b="1" dirty="0" smtClean="0"/>
              <a:t>30.00</a:t>
            </a:r>
            <a:r>
              <a:rPr lang="en-US" sz="4300" b="1" dirty="0" smtClean="0">
                <a:solidFill>
                  <a:srgbClr val="00B050"/>
                </a:solidFill>
              </a:rPr>
              <a:t>&lt;/price&gt;</a:t>
            </a:r>
          </a:p>
          <a:p>
            <a:r>
              <a:rPr lang="en-US" sz="4300" dirty="0" smtClean="0"/>
              <a:t> 	</a:t>
            </a:r>
            <a:r>
              <a:rPr lang="en-US" sz="4300" b="1" dirty="0" smtClean="0">
                <a:solidFill>
                  <a:srgbClr val="0070C0"/>
                </a:solidFill>
              </a:rPr>
              <a:t> &lt;/book&gt;</a:t>
            </a:r>
          </a:p>
          <a:p>
            <a:r>
              <a:rPr lang="en-US" sz="4300" b="1" dirty="0" smtClean="0">
                <a:solidFill>
                  <a:srgbClr val="0070C0"/>
                </a:solidFill>
              </a:rPr>
              <a:t>  	&lt;book category="CHILDREN"&gt; // Sibling</a:t>
            </a:r>
          </a:p>
          <a:p>
            <a:r>
              <a:rPr lang="en-US" sz="4300" dirty="0" smtClean="0"/>
              <a:t>    		 </a:t>
            </a:r>
            <a:r>
              <a:rPr lang="en-US" sz="4300" b="1" dirty="0" smtClean="0">
                <a:solidFill>
                  <a:srgbClr val="00B050"/>
                </a:solidFill>
              </a:rPr>
              <a:t>&lt;title </a:t>
            </a:r>
            <a:r>
              <a:rPr lang="en-US" sz="4300" b="1" dirty="0" err="1" smtClean="0">
                <a:solidFill>
                  <a:srgbClr val="00B050"/>
                </a:solidFill>
              </a:rPr>
              <a:t>lang</a:t>
            </a:r>
            <a:r>
              <a:rPr lang="en-US" sz="4300" b="1" dirty="0" smtClean="0">
                <a:solidFill>
                  <a:srgbClr val="00B050"/>
                </a:solidFill>
              </a:rPr>
              <a:t>="en"&gt;</a:t>
            </a:r>
            <a:r>
              <a:rPr lang="en-US" sz="4300" b="1" dirty="0" smtClean="0"/>
              <a:t>Harry Potter</a:t>
            </a:r>
            <a:r>
              <a:rPr lang="en-US" sz="4300" b="1" dirty="0" smtClean="0">
                <a:solidFill>
                  <a:srgbClr val="00B050"/>
                </a:solidFill>
              </a:rPr>
              <a:t>&lt;/title&gt;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 		 &lt;author&gt;</a:t>
            </a:r>
            <a:r>
              <a:rPr lang="en-US" sz="4300" b="1" dirty="0" smtClean="0"/>
              <a:t>J K. Rowling</a:t>
            </a:r>
            <a:r>
              <a:rPr lang="en-US" sz="4300" b="1" dirty="0" smtClean="0">
                <a:solidFill>
                  <a:srgbClr val="00B050"/>
                </a:solidFill>
              </a:rPr>
              <a:t>&lt;/author&gt;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		 &lt;year&gt;</a:t>
            </a:r>
            <a:r>
              <a:rPr lang="en-US" sz="4300" b="1" dirty="0" smtClean="0"/>
              <a:t>2005</a:t>
            </a:r>
            <a:r>
              <a:rPr lang="en-US" sz="4300" b="1" dirty="0" smtClean="0">
                <a:solidFill>
                  <a:srgbClr val="00B050"/>
                </a:solidFill>
              </a:rPr>
              <a:t>&lt;/year&gt;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  		 &lt;price&gt;</a:t>
            </a:r>
            <a:r>
              <a:rPr lang="en-US" sz="4300" b="1" dirty="0" smtClean="0"/>
              <a:t>29.99</a:t>
            </a:r>
            <a:r>
              <a:rPr lang="en-US" sz="4300" b="1" dirty="0" smtClean="0">
                <a:solidFill>
                  <a:srgbClr val="00B050"/>
                </a:solidFill>
              </a:rPr>
              <a:t>&lt;/price&gt;</a:t>
            </a:r>
          </a:p>
          <a:p>
            <a:r>
              <a:rPr lang="en-US" sz="4300" dirty="0" smtClean="0"/>
              <a:t> 	</a:t>
            </a:r>
            <a:r>
              <a:rPr lang="en-US" sz="4300" b="1" dirty="0" smtClean="0">
                <a:solidFill>
                  <a:srgbClr val="0070C0"/>
                </a:solidFill>
              </a:rPr>
              <a:t> &lt;/book&gt;</a:t>
            </a:r>
          </a:p>
          <a:p>
            <a:r>
              <a:rPr lang="en-US" sz="4300" b="1" dirty="0" smtClean="0">
                <a:solidFill>
                  <a:srgbClr val="0070C0"/>
                </a:solidFill>
              </a:rPr>
              <a:t>  	&lt;book category="WEB</a:t>
            </a:r>
            <a:r>
              <a:rPr lang="en-US" sz="4300" b="1" dirty="0">
                <a:solidFill>
                  <a:srgbClr val="0070C0"/>
                </a:solidFill>
              </a:rPr>
              <a:t>"&gt; // Sibling</a:t>
            </a:r>
            <a:endParaRPr lang="en-US" sz="4300" b="1" dirty="0" smtClean="0">
              <a:solidFill>
                <a:srgbClr val="0070C0"/>
              </a:solidFill>
            </a:endParaRPr>
          </a:p>
          <a:p>
            <a:r>
              <a:rPr lang="en-US" sz="4300" b="1" dirty="0" smtClean="0">
                <a:solidFill>
                  <a:srgbClr val="0070C0"/>
                </a:solidFill>
              </a:rPr>
              <a:t>   	</a:t>
            </a:r>
            <a:r>
              <a:rPr lang="en-US" sz="4300" dirty="0" smtClean="0"/>
              <a:t>	 </a:t>
            </a:r>
            <a:r>
              <a:rPr lang="en-US" sz="4300" b="1" dirty="0" smtClean="0">
                <a:solidFill>
                  <a:srgbClr val="00B050"/>
                </a:solidFill>
              </a:rPr>
              <a:t>&lt;title </a:t>
            </a:r>
            <a:r>
              <a:rPr lang="en-US" sz="4300" b="1" dirty="0" err="1" smtClean="0">
                <a:solidFill>
                  <a:srgbClr val="00B050"/>
                </a:solidFill>
              </a:rPr>
              <a:t>lang</a:t>
            </a:r>
            <a:r>
              <a:rPr lang="en-US" sz="4300" b="1" dirty="0" smtClean="0">
                <a:solidFill>
                  <a:srgbClr val="00B050"/>
                </a:solidFill>
              </a:rPr>
              <a:t>="en"&gt;</a:t>
            </a:r>
            <a:r>
              <a:rPr lang="en-US" sz="4300" b="1" dirty="0" smtClean="0"/>
              <a:t>Learning XML</a:t>
            </a:r>
            <a:r>
              <a:rPr lang="en-US" sz="4300" b="1" dirty="0" smtClean="0">
                <a:solidFill>
                  <a:srgbClr val="00B050"/>
                </a:solidFill>
              </a:rPr>
              <a:t>&lt;/title&gt;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  		 &lt;author&gt;</a:t>
            </a:r>
            <a:r>
              <a:rPr lang="en-US" sz="4300" b="1" dirty="0" smtClean="0"/>
              <a:t>Erik T. Ray</a:t>
            </a:r>
            <a:r>
              <a:rPr lang="en-US" sz="4300" b="1" dirty="0" smtClean="0">
                <a:solidFill>
                  <a:srgbClr val="00B050"/>
                </a:solidFill>
              </a:rPr>
              <a:t>&lt;/author&gt;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 		 &lt;year&gt;</a:t>
            </a:r>
            <a:r>
              <a:rPr lang="en-US" sz="4300" b="1" dirty="0" smtClean="0"/>
              <a:t>2003</a:t>
            </a:r>
            <a:r>
              <a:rPr lang="en-US" sz="4300" b="1" dirty="0" smtClean="0">
                <a:solidFill>
                  <a:srgbClr val="00B050"/>
                </a:solidFill>
              </a:rPr>
              <a:t>&lt;/year&gt;</a:t>
            </a:r>
          </a:p>
          <a:p>
            <a:r>
              <a:rPr lang="en-US" sz="4300" b="1" dirty="0" smtClean="0">
                <a:solidFill>
                  <a:srgbClr val="00B050"/>
                </a:solidFill>
              </a:rPr>
              <a:t> 		 &lt;price&gt;</a:t>
            </a:r>
            <a:r>
              <a:rPr lang="en-US" sz="4300" b="1" dirty="0" smtClean="0"/>
              <a:t>39.95</a:t>
            </a:r>
            <a:r>
              <a:rPr lang="en-US" sz="4300" b="1" dirty="0" smtClean="0">
                <a:solidFill>
                  <a:srgbClr val="00B050"/>
                </a:solidFill>
              </a:rPr>
              <a:t>&lt;/price&gt;</a:t>
            </a:r>
          </a:p>
          <a:p>
            <a:r>
              <a:rPr lang="en-US" sz="4300" dirty="0" smtClean="0"/>
              <a:t>	  </a:t>
            </a:r>
            <a:r>
              <a:rPr lang="en-US" sz="4300" b="1" dirty="0" smtClean="0">
                <a:solidFill>
                  <a:srgbClr val="0070C0"/>
                </a:solidFill>
              </a:rPr>
              <a:t>&lt;/book&gt;</a:t>
            </a:r>
          </a:p>
          <a:p>
            <a:r>
              <a:rPr lang="en-US" sz="4300" b="1" dirty="0" smtClean="0">
                <a:solidFill>
                  <a:srgbClr val="C00000"/>
                </a:solidFill>
              </a:rPr>
              <a:t>&lt;/bookstore&gt; </a:t>
            </a:r>
            <a:endParaRPr lang="en-US" sz="43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57200"/>
            <a:ext cx="7040880" cy="1143000"/>
          </a:xfrm>
        </p:spPr>
        <p:txBody>
          <a:bodyPr/>
          <a:lstStyle/>
          <a:p>
            <a:r>
              <a:rPr lang="en-US" b="1" u="sng" dirty="0" smtClean="0"/>
              <a:t>XML Syntax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799" y="761999"/>
            <a:ext cx="8305801" cy="5791201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(01) All XML Elements Must Have a Closing Tag:</a:t>
            </a:r>
            <a:endParaRPr lang="en-US" u="sng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In HTML, some elements do not have to have a closing tag:</a:t>
            </a:r>
          </a:p>
          <a:p>
            <a:pPr>
              <a:buNone/>
            </a:pPr>
            <a:r>
              <a:rPr lang="en-US" dirty="0" smtClean="0"/>
              <a:t>		&lt;p&gt;This is a paragraph. &lt;</a:t>
            </a:r>
            <a:r>
              <a:rPr lang="en-US" dirty="0" err="1" smtClean="0"/>
              <a:t>br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In XML, it is illegal to omit the closing tag. All elements must have a closing tag:</a:t>
            </a:r>
          </a:p>
          <a:p>
            <a:pPr>
              <a:buNone/>
            </a:pPr>
            <a:r>
              <a:rPr lang="en-US" dirty="0" smtClean="0"/>
              <a:t>		&lt;p&gt;This is a paragraph.&lt;/p&gt;	</a:t>
            </a:r>
          </a:p>
          <a:p>
            <a:pPr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br</a:t>
            </a:r>
            <a:r>
              <a:rPr lang="en-US" dirty="0" smtClean="0"/>
              <a:t> /&gt;       [XML syntax to write tag of </a:t>
            </a:r>
            <a:r>
              <a:rPr lang="en-US" b="1" dirty="0" smtClean="0">
                <a:solidFill>
                  <a:srgbClr val="7030A0"/>
                </a:solidFill>
              </a:rPr>
              <a:t>no contain</a:t>
            </a:r>
            <a:r>
              <a:rPr lang="en-US" dirty="0" smtClean="0"/>
              <a:t>]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(02) XML Tags are Case Sensitive:</a:t>
            </a:r>
          </a:p>
          <a:p>
            <a:r>
              <a:rPr lang="en-US" dirty="0" smtClean="0"/>
              <a:t>XML tags are case sensitive. The tag &lt;Letter&gt; is different from the tag &lt;letter&gt;. </a:t>
            </a:r>
          </a:p>
          <a:p>
            <a:r>
              <a:rPr lang="en-US" dirty="0" smtClean="0"/>
              <a:t>Opening and closing tags must be written with the same case:</a:t>
            </a:r>
          </a:p>
          <a:p>
            <a:pPr>
              <a:buNone/>
            </a:pPr>
            <a:r>
              <a:rPr lang="en-US" dirty="0" smtClean="0"/>
              <a:t>		&lt;Message&gt;This is incorrect&lt;/message&gt;</a:t>
            </a:r>
          </a:p>
          <a:p>
            <a:pPr>
              <a:buNone/>
            </a:pPr>
            <a:r>
              <a:rPr lang="en-US" dirty="0" smtClean="0"/>
              <a:t>		&lt;message&gt;This is correct&lt;/message&gt;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799" y="152400"/>
            <a:ext cx="8305801" cy="579120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(03) Entity References:</a:t>
            </a:r>
            <a:endParaRPr lang="en-US" u="sng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Some characters have a special meaning in XML. If you place a character like "&lt;" inside an XML element, it will generate an error because the parser interprets it as the start of a new element.</a:t>
            </a:r>
          </a:p>
          <a:p>
            <a:r>
              <a:rPr lang="en-US" dirty="0" smtClean="0"/>
              <a:t>This will generate an XML error:  </a:t>
            </a:r>
          </a:p>
          <a:p>
            <a:pPr>
              <a:buNone/>
            </a:pPr>
            <a:r>
              <a:rPr lang="en-US" dirty="0" smtClean="0"/>
              <a:t>		&lt;message&gt;if salary &lt; 1000 then&lt;/message&gt;</a:t>
            </a:r>
          </a:p>
          <a:p>
            <a:r>
              <a:rPr lang="en-US" dirty="0" smtClean="0"/>
              <a:t>To avoid this error, replace the "&lt;" character with an entity reference:</a:t>
            </a:r>
          </a:p>
          <a:p>
            <a:pPr>
              <a:buNone/>
            </a:pPr>
            <a:r>
              <a:rPr lang="en-US" b="1" dirty="0" smtClean="0"/>
              <a:t>	&lt;message&gt;if salary &amp;</a:t>
            </a:r>
            <a:r>
              <a:rPr lang="en-US" b="1" dirty="0" err="1" smtClean="0"/>
              <a:t>lt</a:t>
            </a:r>
            <a:r>
              <a:rPr lang="en-US" b="1" dirty="0" smtClean="0"/>
              <a:t>; 1000 then&lt;/message&gt;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4419600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Entity Refs.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&amp;</a:t>
                      </a:r>
                      <a:r>
                        <a:rPr lang="en-US" b="1" dirty="0" err="1" smtClean="0"/>
                        <a:t>lt</a:t>
                      </a:r>
                      <a:r>
                        <a:rPr lang="en-US" b="1" dirty="0" smtClean="0"/>
                        <a:t>; 	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&lt;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Less than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</a:t>
                      </a:r>
                      <a:r>
                        <a:rPr lang="en-US" dirty="0" err="1" smtClean="0"/>
                        <a:t>gt</a:t>
                      </a:r>
                      <a:r>
                        <a:rPr lang="en-US" dirty="0" smtClean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&gt;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Greater than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&amp;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Ampersand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</a:t>
                      </a:r>
                      <a:r>
                        <a:rPr lang="en-US" dirty="0" err="1" smtClean="0"/>
                        <a:t>apos</a:t>
                      </a:r>
                      <a:r>
                        <a:rPr lang="en-US" dirty="0" smtClean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‘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Apostrophe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&amp;</a:t>
                      </a:r>
                      <a:r>
                        <a:rPr lang="en-US" dirty="0" err="1" smtClean="0"/>
                        <a:t>quot</a:t>
                      </a:r>
                      <a:r>
                        <a:rPr lang="en-US" dirty="0" smtClean="0"/>
                        <a:t>;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Quotation mark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609600"/>
            <a:ext cx="7040880" cy="1143000"/>
          </a:xfrm>
        </p:spPr>
        <p:txBody>
          <a:bodyPr/>
          <a:lstStyle/>
          <a:p>
            <a:r>
              <a:rPr lang="en-US" b="1" u="sng" dirty="0" smtClean="0"/>
              <a:t>XML Syntax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457200"/>
            <a:ext cx="8305801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(04) XML Elements Must be Properly Nested:</a:t>
            </a:r>
            <a:endParaRPr lang="en-US" u="sng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In HTML, you might see improperly nested elements:</a:t>
            </a:r>
          </a:p>
          <a:p>
            <a:pPr>
              <a:buNone/>
            </a:pPr>
            <a:r>
              <a:rPr lang="en-US" dirty="0" smtClean="0"/>
              <a:t>		&lt;b&gt;&lt;</a:t>
            </a:r>
            <a:r>
              <a:rPr lang="en-US" dirty="0" err="1" smtClean="0"/>
              <a:t>i</a:t>
            </a:r>
            <a:r>
              <a:rPr lang="en-US" dirty="0" smtClean="0"/>
              <a:t>&gt;This text is bold and italic&lt;/b&gt;&lt;/</a:t>
            </a:r>
            <a:r>
              <a:rPr lang="en-US" dirty="0" err="1" smtClean="0"/>
              <a:t>i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In XML, all elements must be properly nested within each other:</a:t>
            </a:r>
          </a:p>
          <a:p>
            <a:pPr>
              <a:buNone/>
            </a:pPr>
            <a:r>
              <a:rPr lang="en-US" dirty="0" smtClean="0"/>
              <a:t>		&lt;b&gt;&lt;</a:t>
            </a:r>
            <a:r>
              <a:rPr lang="en-US" dirty="0" err="1" smtClean="0"/>
              <a:t>i</a:t>
            </a:r>
            <a:r>
              <a:rPr lang="en-US" dirty="0" smtClean="0"/>
              <a:t>&gt;This text is bold and italic&lt;/</a:t>
            </a:r>
            <a:r>
              <a:rPr lang="en-US" dirty="0" err="1" smtClean="0"/>
              <a:t>i</a:t>
            </a:r>
            <a:r>
              <a:rPr lang="en-US" dirty="0" smtClean="0"/>
              <a:t>&gt;&lt;/b&gt;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(05) XML Attribute Values Must be Quoted:</a:t>
            </a:r>
            <a:endParaRPr lang="en-US" u="sng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XML elements can have attributes in name/value pairs just like in HTML. </a:t>
            </a:r>
          </a:p>
          <a:p>
            <a:r>
              <a:rPr lang="en-US" dirty="0" smtClean="0"/>
              <a:t>In XML, the attribute values must always be quoted.</a:t>
            </a:r>
          </a:p>
          <a:p>
            <a:r>
              <a:rPr lang="en-US" dirty="0" smtClean="0"/>
              <a:t>Study the two XML documents below. The first one is incorrect, the second is correct: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5581471"/>
            <a:ext cx="285366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/>
              <a:t>1</a:t>
            </a:r>
            <a:r>
              <a:rPr lang="en-US" b="1" baseline="30000" dirty="0" smtClean="0"/>
              <a:t>st</a:t>
            </a:r>
            <a:r>
              <a:rPr lang="en-US" b="1" dirty="0" smtClean="0"/>
              <a:t> One:</a:t>
            </a:r>
          </a:p>
          <a:p>
            <a:r>
              <a:rPr lang="en-US" dirty="0" smtClean="0"/>
              <a:t>&lt;</a:t>
            </a:r>
            <a:r>
              <a:rPr lang="en-US" dirty="0"/>
              <a:t>note date=12/11/2007&gt;</a:t>
            </a:r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/>
              <a:t>&lt;to&gt;</a:t>
            </a:r>
            <a:r>
              <a:rPr lang="en-US" dirty="0" err="1"/>
              <a:t>Tove</a:t>
            </a:r>
            <a:r>
              <a:rPr lang="en-US" dirty="0"/>
              <a:t>&lt;/to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 &lt;from&gt; </a:t>
            </a:r>
            <a:r>
              <a:rPr lang="en-US" dirty="0" err="1" smtClean="0"/>
              <a:t>Jani</a:t>
            </a:r>
            <a:r>
              <a:rPr lang="en-US" dirty="0" smtClean="0"/>
              <a:t> &lt;/form&gt;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85334" y="5581471"/>
            <a:ext cx="297068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2</a:t>
            </a:r>
            <a:r>
              <a:rPr lang="en-US" b="1" baseline="30000" dirty="0" smtClean="0">
                <a:solidFill>
                  <a:srgbClr val="00B050"/>
                </a:solidFill>
              </a:rPr>
              <a:t>nd</a:t>
            </a:r>
            <a:r>
              <a:rPr lang="en-US" b="1" dirty="0" smtClean="0">
                <a:solidFill>
                  <a:srgbClr val="00B050"/>
                </a:solidFill>
              </a:rPr>
              <a:t> One:</a:t>
            </a:r>
          </a:p>
          <a:p>
            <a:r>
              <a:rPr lang="en-US" dirty="0" smtClean="0"/>
              <a:t>&lt;</a:t>
            </a:r>
            <a:r>
              <a:rPr lang="en-US" dirty="0"/>
              <a:t>note date</a:t>
            </a:r>
            <a:r>
              <a:rPr lang="en-US" dirty="0" smtClean="0"/>
              <a:t>=</a:t>
            </a:r>
            <a:r>
              <a:rPr lang="en-US" b="1" dirty="0" smtClean="0"/>
              <a:t>“</a:t>
            </a:r>
            <a:r>
              <a:rPr lang="en-US" dirty="0" smtClean="0"/>
              <a:t>12/11/2007</a:t>
            </a:r>
            <a:r>
              <a:rPr lang="en-US" b="1" dirty="0" smtClean="0"/>
              <a:t>”</a:t>
            </a:r>
            <a:r>
              <a:rPr lang="en-US" dirty="0" smtClean="0"/>
              <a:t>&gt;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      </a:t>
            </a:r>
            <a:r>
              <a:rPr lang="en-US" dirty="0"/>
              <a:t>&lt;to&gt;</a:t>
            </a:r>
            <a:r>
              <a:rPr lang="en-US" dirty="0" err="1"/>
              <a:t>Tove</a:t>
            </a:r>
            <a:r>
              <a:rPr lang="en-US" dirty="0"/>
              <a:t>&lt;/to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       &lt;from&gt; </a:t>
            </a:r>
            <a:r>
              <a:rPr lang="en-US" dirty="0" err="1" smtClean="0"/>
              <a:t>Jani</a:t>
            </a:r>
            <a:r>
              <a:rPr lang="en-US" dirty="0" smtClean="0"/>
              <a:t> &lt;/form&gt;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214</TotalTime>
  <Words>868</Words>
  <Application>Microsoft Office PowerPoint</Application>
  <PresentationFormat>On-screen Show (4:3)</PresentationFormat>
  <Paragraphs>151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Century Schoolbook</vt:lpstr>
      <vt:lpstr>Wingdings</vt:lpstr>
      <vt:lpstr>Wingdings 2</vt:lpstr>
      <vt:lpstr>Oriel</vt:lpstr>
      <vt:lpstr>XML Languages &amp; Applications</vt:lpstr>
      <vt:lpstr>CORE XML</vt:lpstr>
      <vt:lpstr>XML Document Example</vt:lpstr>
      <vt:lpstr>difference b/w XML &amp; HTML</vt:lpstr>
      <vt:lpstr>difference b/w XML &amp; HTML</vt:lpstr>
      <vt:lpstr>How Can XML be Used?</vt:lpstr>
      <vt:lpstr>How Can XML be Used?</vt:lpstr>
      <vt:lpstr>How Can XML be Used?</vt:lpstr>
      <vt:lpstr>XML Tree:</vt:lpstr>
      <vt:lpstr>XML Tree:</vt:lpstr>
      <vt:lpstr>PowerPoint Presentation</vt:lpstr>
      <vt:lpstr>XML Syntax Rules</vt:lpstr>
      <vt:lpstr>PowerPoint Presentation</vt:lpstr>
      <vt:lpstr>XML Syntax Rules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Languages &amp; Applications</dc:title>
  <dc:creator>Administrator</dc:creator>
  <cp:lastModifiedBy>Microsoft account</cp:lastModifiedBy>
  <cp:revision>48</cp:revision>
  <dcterms:created xsi:type="dcterms:W3CDTF">2007-05-20T19:02:56Z</dcterms:created>
  <dcterms:modified xsi:type="dcterms:W3CDTF">2021-04-19T20:55:49Z</dcterms:modified>
</cp:coreProperties>
</file>
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1" r:id="rId6"/>
    <p:sldId id="272" r:id="rId7"/>
    <p:sldId id="261" r:id="rId8"/>
    <p:sldId id="276" r:id="rId9"/>
    <p:sldId id="262" r:id="rId10"/>
    <p:sldId id="273" r:id="rId11"/>
    <p:sldId id="274" r:id="rId12"/>
    <p:sldId id="275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5D3F4-B91E-4737-AD1F-F4F3C689C397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90B9F-BF70-4C0E-9442-9423D9C2B1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90B9F-BF70-4C0E-9442-9423D9C2B14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B6454B6-BB5D-4F97-8870-6DB9E9C8A379}" type="datetimeFigureOut">
              <a:rPr lang="en-US" smtClean="0"/>
              <a:t>05/09/2019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052001"/>
            <a:ext cx="7772400" cy="2224599"/>
          </a:xfrm>
        </p:spPr>
        <p:txBody>
          <a:bodyPr>
            <a:normAutofit/>
          </a:bodyPr>
          <a:lstStyle/>
          <a:p>
            <a:r>
              <a:rPr lang="en-US" sz="5400" dirty="0"/>
              <a:t>XML FILES &amp;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886200"/>
            <a:ext cx="8153400" cy="17526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400" b="1" i="1" dirty="0">
                <a:solidFill>
                  <a:srgbClr val="C00000"/>
                </a:solidFill>
              </a:rPr>
              <a:t>  Simple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C00000"/>
                </a:solidFill>
              </a:rPr>
              <a:t>  Collaboration to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C00000"/>
                </a:solidFill>
              </a:rPr>
              <a:t>  DTD Files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07479"/>
            <a:ext cx="7467600" cy="1045679"/>
          </a:xfrm>
        </p:spPr>
        <p:txBody>
          <a:bodyPr>
            <a:normAutofit/>
          </a:bodyPr>
          <a:lstStyle/>
          <a:p>
            <a:r>
              <a:rPr lang="en-US" sz="4000" b="1" dirty="0"/>
              <a:t>Viewing XML Files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914400"/>
            <a:ext cx="8326464" cy="576536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Don't expect XML files to be displayed as HTML pages.</a:t>
            </a:r>
          </a:p>
          <a:p>
            <a:pPr algn="just"/>
            <a:r>
              <a:rPr lang="en-US" sz="2800" dirty="0"/>
              <a:t>The XML document will be displayed with color-coded root and child elements. </a:t>
            </a:r>
          </a:p>
          <a:p>
            <a:pPr algn="just"/>
            <a:r>
              <a:rPr lang="en-US" sz="2800" dirty="0"/>
              <a:t>A plus (+) or minus sign (-) to the left of the elements can be clicked to expand or collapse the element structure. </a:t>
            </a:r>
          </a:p>
          <a:p>
            <a:pPr algn="just"/>
            <a:r>
              <a:rPr lang="en-US" sz="2800" dirty="0"/>
              <a:t>To view the raw XML source, select "View Page Source“ from the browser menu.</a:t>
            </a:r>
          </a:p>
          <a:p>
            <a:pPr algn="just">
              <a:buNone/>
            </a:pPr>
            <a:r>
              <a:rPr lang="en-US" sz="2800" b="1" dirty="0"/>
              <a:t>	</a:t>
            </a:r>
            <a:r>
              <a:rPr lang="en-US" sz="2800" b="1" u="sng" dirty="0">
                <a:solidFill>
                  <a:srgbClr val="0070C0"/>
                </a:solidFill>
              </a:rPr>
              <a:t>Why Does XML Display Like This?</a:t>
            </a:r>
          </a:p>
          <a:p>
            <a:pPr algn="just"/>
            <a:r>
              <a:rPr lang="en-US" sz="2800" dirty="0"/>
              <a:t>Since XML tags are "invented" by the author of the XML document, browsers do not know if a tag like &lt;table&gt; describes an HTML table or a dining table.</a:t>
            </a:r>
          </a:p>
          <a:p>
            <a:pPr algn="just"/>
            <a:r>
              <a:rPr lang="en-US" sz="2800" dirty="0"/>
              <a:t>Without any information about how to display the data, most browsers will just display the XML document as it is.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7467600" cy="1143000"/>
          </a:xfrm>
        </p:spPr>
        <p:txBody>
          <a:bodyPr/>
          <a:lstStyle/>
          <a:p>
            <a:r>
              <a:rPr lang="en-US" sz="3200" b="1" dirty="0"/>
              <a:t>Viewing XML File’s OUTPUT:</a:t>
            </a:r>
            <a:br>
              <a:rPr lang="en-US" sz="3200" b="1" dirty="0"/>
            </a:br>
            <a:r>
              <a:rPr lang="en-US" sz="3200" b="1" u="sng" dirty="0"/>
              <a:t>(Collapse code)</a:t>
            </a:r>
            <a:endParaRPr lang="en-US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1"/>
            <a:ext cx="8717118" cy="2895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49" y="4785102"/>
            <a:ext cx="8216467" cy="100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33400" y="4126468"/>
            <a:ext cx="41472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(Expandable code)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Displaying your XML Files with CSS?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533400"/>
            <a:ext cx="8305800" cy="6249035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&lt;?xml version="1.0" encoding="UTF-8</a:t>
            </a:r>
            <a:r>
              <a:rPr lang="en-US" sz="2000" b="1" dirty="0"/>
              <a:t>"</a:t>
            </a:r>
            <a:r>
              <a:rPr lang="en-US" sz="2000" dirty="0"/>
              <a:t>?&gt;</a:t>
            </a:r>
          </a:p>
          <a:p>
            <a:pPr>
              <a:buNone/>
            </a:pPr>
            <a:r>
              <a:rPr lang="en-US" sz="2000" dirty="0"/>
              <a:t>&lt;?xml-</a:t>
            </a:r>
            <a:r>
              <a:rPr lang="en-US" sz="2000" dirty="0" err="1"/>
              <a:t>stylesheet</a:t>
            </a:r>
            <a:r>
              <a:rPr lang="en-US" sz="2000" dirty="0"/>
              <a:t> type="text/</a:t>
            </a:r>
            <a:r>
              <a:rPr lang="en-US" sz="2000" dirty="0" err="1"/>
              <a:t>css</a:t>
            </a:r>
            <a:r>
              <a:rPr lang="en-US" sz="2000" dirty="0"/>
              <a:t>" </a:t>
            </a:r>
            <a:r>
              <a:rPr lang="en-US" sz="2000" dirty="0" err="1"/>
              <a:t>href</a:t>
            </a:r>
            <a:r>
              <a:rPr lang="en-US" sz="2000" dirty="0"/>
              <a:t>="cd_catalog.css"?&gt;</a:t>
            </a:r>
          </a:p>
          <a:p>
            <a:pPr>
              <a:buNone/>
            </a:pPr>
            <a:r>
              <a:rPr lang="en-US" sz="2000" dirty="0"/>
              <a:t>&lt;CATALOG&gt;</a:t>
            </a:r>
          </a:p>
          <a:p>
            <a:pPr>
              <a:buNone/>
            </a:pPr>
            <a:r>
              <a:rPr lang="en-US" sz="2000" dirty="0"/>
              <a:t>&lt;CD&gt;		&lt;TITLE&gt;Empire Burlesque&lt;/TITLE&gt;</a:t>
            </a:r>
            <a:br>
              <a:rPr lang="en-US" sz="2000" dirty="0"/>
            </a:br>
            <a:r>
              <a:rPr lang="en-US" sz="2000" dirty="0"/>
              <a:t>    		&lt;ARTIST&gt;Bob Dylan&lt;/ARTIST&gt;</a:t>
            </a:r>
            <a:br>
              <a:rPr lang="en-US" sz="2000" dirty="0"/>
            </a:br>
            <a:r>
              <a:rPr lang="en-US" sz="2000" dirty="0"/>
              <a:t>    		&lt;COUNTRY&gt;USA&lt;/COUNTRY&gt;</a:t>
            </a:r>
            <a:br>
              <a:rPr lang="en-US" sz="2000" dirty="0"/>
            </a:br>
            <a:r>
              <a:rPr lang="en-US" sz="2000" dirty="0"/>
              <a:t>    		&lt;COMPANY&gt;Columbia&lt;/COMPANY&gt;</a:t>
            </a:r>
            <a:br>
              <a:rPr lang="en-US" sz="2000" dirty="0"/>
            </a:br>
            <a:r>
              <a:rPr lang="en-US" sz="2000" dirty="0"/>
              <a:t>    		&lt;PRICE&gt;10.90&lt;/PRICE&gt;</a:t>
            </a:r>
            <a:br>
              <a:rPr lang="en-US" sz="2000" dirty="0"/>
            </a:br>
            <a:r>
              <a:rPr lang="en-US" sz="2000" dirty="0"/>
              <a:t>    		&lt;YEAR&gt;1985&lt;/YEAR&gt;		&lt;/CD&gt;</a:t>
            </a:r>
          </a:p>
          <a:p>
            <a:pPr>
              <a:buNone/>
            </a:pPr>
            <a:r>
              <a:rPr lang="en-US" sz="2000" dirty="0"/>
              <a:t>&lt;CD&gt;</a:t>
            </a:r>
            <a:br>
              <a:rPr lang="en-US" sz="2000" dirty="0"/>
            </a:br>
            <a:r>
              <a:rPr lang="en-US" sz="2000" dirty="0"/>
              <a:t>    	&lt;TITLE&gt;Hide your heart&lt;/TITLE&gt;</a:t>
            </a:r>
            <a:br>
              <a:rPr lang="en-US" sz="2000" dirty="0"/>
            </a:br>
            <a:r>
              <a:rPr lang="en-US" sz="2000" dirty="0"/>
              <a:t>    	&lt;ARTIST&gt;Bonnie Tyler&lt;/ARTIST&gt;</a:t>
            </a:r>
            <a:br>
              <a:rPr lang="en-US" sz="2000" dirty="0"/>
            </a:br>
            <a:r>
              <a:rPr lang="en-US" sz="2000" dirty="0"/>
              <a:t>    	&lt;COUNTRY&gt;UK&lt;/COUNTRY&gt;</a:t>
            </a:r>
            <a:br>
              <a:rPr lang="en-US" sz="2000" dirty="0"/>
            </a:br>
            <a:r>
              <a:rPr lang="en-US" sz="2000" dirty="0"/>
              <a:t>    	&lt;COMPANY&gt;CBS Records&lt;/COMPANY&gt;</a:t>
            </a:r>
            <a:br>
              <a:rPr lang="en-US" sz="2000" dirty="0"/>
            </a:br>
            <a:r>
              <a:rPr lang="en-US" sz="2000" dirty="0"/>
              <a:t>    	&lt;PRICE&gt;9.90&lt;/PRICE&gt;</a:t>
            </a:r>
            <a:br>
              <a:rPr lang="en-US" sz="2000" dirty="0"/>
            </a:br>
            <a:r>
              <a:rPr lang="en-US" sz="2000" dirty="0"/>
              <a:t>    	&lt;YEAR&gt;1988&lt;/YEAR&gt;</a:t>
            </a:r>
            <a:br>
              <a:rPr lang="en-US" sz="2000" dirty="0"/>
            </a:br>
            <a:r>
              <a:rPr lang="en-US" sz="2000" dirty="0"/>
              <a:t>  &lt;/CD&gt;&lt;/CATALOG&gt;</a:t>
            </a:r>
          </a:p>
        </p:txBody>
      </p:sp>
      <p:sp>
        <p:nvSpPr>
          <p:cNvPr id="4" name="Rectangle 3"/>
          <p:cNvSpPr/>
          <p:nvPr/>
        </p:nvSpPr>
        <p:spPr>
          <a:xfrm rot="5400000">
            <a:off x="4716780" y="3285490"/>
            <a:ext cx="5963285" cy="11988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An xml file “CDBOOK.xml”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48895"/>
            <a:ext cx="7858125" cy="582295"/>
          </a:xfrm>
        </p:spPr>
        <p:txBody>
          <a:bodyPr>
            <a:normAutofit fontScale="90000"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Displaying your XML Files with CSS?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04800" y="1219200"/>
            <a:ext cx="3962400" cy="54013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CATALOG </a:t>
            </a:r>
          </a:p>
          <a:p>
            <a:pPr>
              <a:buNone/>
            </a:pPr>
            <a:r>
              <a:rPr lang="en-US" sz="2000" dirty="0"/>
              <a:t>{</a:t>
            </a:r>
          </a:p>
          <a:p>
            <a:pPr>
              <a:buNone/>
            </a:pPr>
            <a:r>
              <a:rPr lang="en-US" sz="2000" dirty="0"/>
              <a:t>	background-color: #00ff44;</a:t>
            </a:r>
          </a:p>
          <a:p>
            <a:pPr>
              <a:buNone/>
            </a:pPr>
            <a:r>
              <a:rPr lang="en-US" sz="2000" dirty="0"/>
              <a:t>	width: 100%;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r>
              <a:rPr lang="en-US" sz="2000" dirty="0"/>
              <a:t>CD</a:t>
            </a:r>
          </a:p>
          <a:p>
            <a:pPr>
              <a:buNone/>
            </a:pPr>
            <a:r>
              <a:rPr lang="en-US" sz="2000" dirty="0"/>
              <a:t>{</a:t>
            </a:r>
          </a:p>
          <a:p>
            <a:pPr>
              <a:buNone/>
            </a:pPr>
            <a:r>
              <a:rPr lang="en-US" sz="2000" dirty="0"/>
              <a:t>	display: block;</a:t>
            </a:r>
          </a:p>
          <a:p>
            <a:pPr>
              <a:buNone/>
            </a:pPr>
            <a:r>
              <a:rPr lang="en-US" sz="2000" dirty="0"/>
              <a:t>	margin-bottom: 30pt;</a:t>
            </a:r>
          </a:p>
          <a:p>
            <a:pPr>
              <a:buNone/>
            </a:pPr>
            <a:r>
              <a:rPr lang="en-US" sz="2000" dirty="0"/>
              <a:t>	margin-left: 0;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r>
              <a:rPr lang="en-US" sz="2000" dirty="0"/>
              <a:t>TITLE</a:t>
            </a:r>
          </a:p>
          <a:p>
            <a:pPr>
              <a:buNone/>
            </a:pPr>
            <a:r>
              <a:rPr lang="en-US" sz="2000" dirty="0"/>
              <a:t>{</a:t>
            </a:r>
          </a:p>
          <a:p>
            <a:pPr>
              <a:buNone/>
            </a:pPr>
            <a:r>
              <a:rPr lang="en-US" sz="2000" dirty="0"/>
              <a:t>	color: #FF0000;</a:t>
            </a:r>
          </a:p>
          <a:p>
            <a:pPr>
              <a:buNone/>
            </a:pPr>
            <a:r>
              <a:rPr lang="en-US" sz="2000" dirty="0"/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71974" y="1524000"/>
            <a:ext cx="4183089" cy="498528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font-size: 20pt;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ARTIST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color: #0000FF;</a:t>
            </a:r>
          </a:p>
          <a:p>
            <a:pPr>
              <a:buNone/>
            </a:pPr>
            <a:r>
              <a:rPr lang="en-US" dirty="0"/>
              <a:t>font-size: 20pt;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COUNTRY,PRICE,YEAR,COMPANY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display: block;</a:t>
            </a:r>
          </a:p>
          <a:p>
            <a:pPr>
              <a:buNone/>
            </a:pPr>
            <a:r>
              <a:rPr lang="en-US" dirty="0"/>
              <a:t>color: #000000;</a:t>
            </a:r>
          </a:p>
          <a:p>
            <a:pPr>
              <a:buNone/>
            </a:pPr>
            <a:r>
              <a:rPr lang="en-US" dirty="0"/>
              <a:t>margin-left: 20pt;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533400"/>
            <a:ext cx="4953000" cy="658368"/>
          </a:xfrm>
        </p:spPr>
        <p:txBody>
          <a:bodyPr/>
          <a:lstStyle/>
          <a:p>
            <a:r>
              <a:rPr lang="en-US" dirty="0"/>
              <a:t>A CSS file “cd_catalog.css”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228600"/>
            <a:ext cx="4953000" cy="658368"/>
          </a:xfrm>
        </p:spPr>
        <p:txBody>
          <a:bodyPr/>
          <a:lstStyle/>
          <a:p>
            <a:r>
              <a:rPr lang="en-US" dirty="0"/>
              <a:t>Browser 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5872" y="1143000"/>
            <a:ext cx="6421728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XML Document Types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3200" dirty="0">
                <a:solidFill>
                  <a:srgbClr val="0000FF"/>
                </a:solidFill>
              </a:rPr>
              <a:t>	(01) XML DTD		(02) XML Schema</a:t>
            </a:r>
          </a:p>
          <a:p>
            <a:pPr algn="just"/>
            <a:r>
              <a:rPr lang="en-US" sz="2800" dirty="0"/>
              <a:t>A Document Type Definition (DTD) defines the legal building blocks of an XML document. </a:t>
            </a:r>
          </a:p>
          <a:p>
            <a:pPr algn="just"/>
            <a:r>
              <a:rPr lang="en-US" sz="2800" dirty="0"/>
              <a:t>It defines the document structure with a list of legal elements and attributes.</a:t>
            </a:r>
          </a:p>
          <a:p>
            <a:pPr algn="just"/>
            <a:r>
              <a:rPr lang="en-US" sz="2800" dirty="0"/>
              <a:t>A DTD can be declared </a:t>
            </a:r>
            <a:r>
              <a:rPr lang="en-US" sz="2800" b="1" dirty="0">
                <a:solidFill>
                  <a:srgbClr val="FF0000"/>
                </a:solidFill>
              </a:rPr>
              <a:t>inline</a:t>
            </a:r>
            <a:r>
              <a:rPr lang="en-US" sz="2800" dirty="0"/>
              <a:t> inside an XML document, or as an </a:t>
            </a:r>
            <a:r>
              <a:rPr lang="en-US" sz="2800" b="1" dirty="0">
                <a:solidFill>
                  <a:srgbClr val="FF0000"/>
                </a:solidFill>
              </a:rPr>
              <a:t>external</a:t>
            </a:r>
            <a:r>
              <a:rPr lang="en-US" sz="2800" dirty="0"/>
              <a:t> reference.</a:t>
            </a:r>
          </a:p>
          <a:p>
            <a:pPr algn="just"/>
            <a:r>
              <a:rPr lang="en-US" sz="2800" dirty="0"/>
              <a:t>A document definition also provides a common reference that many users (developers) can share.</a:t>
            </a:r>
          </a:p>
          <a:p>
            <a:r>
              <a:rPr lang="en-US" sz="2800" dirty="0"/>
              <a:t>A document definition provides a standardization that makes life easier.</a:t>
            </a:r>
          </a:p>
          <a:p>
            <a:endParaRPr lang="en-US" sz="3100" dirty="0"/>
          </a:p>
          <a:p>
            <a:pPr lvl="1"/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When NOT to Use a Document Definition?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84329"/>
            <a:ext cx="8419454" cy="5749871"/>
          </a:xfrm>
        </p:spPr>
        <p:txBody>
          <a:bodyPr>
            <a:normAutofit/>
          </a:bodyPr>
          <a:lstStyle/>
          <a:p>
            <a:pPr lvl="0" algn="just"/>
            <a:r>
              <a:rPr lang="en-US" sz="3200" dirty="0"/>
              <a:t> XML does not require a document definition. When you are experimenting with XML, or when you are working with small XML files.</a:t>
            </a:r>
          </a:p>
          <a:p>
            <a:pPr lvl="0" algn="just"/>
            <a:r>
              <a:rPr lang="en-US" sz="3200" dirty="0"/>
              <a:t> Creating document definitions may be a   waste of time.</a:t>
            </a:r>
          </a:p>
          <a:p>
            <a:pPr algn="just"/>
            <a:r>
              <a:rPr lang="en-US" sz="3200" dirty="0"/>
              <a:t> If you develop applications, wait until the specification is stable before you add a document definition. Otherwise, your software might stop working because of validation errors.</a:t>
            </a:r>
            <a:endParaRPr lang="en-US" sz="3100" dirty="0"/>
          </a:p>
          <a:p>
            <a:pPr lvl="1"/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External DTD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&lt;?xml version="1.0" encoding="UTF-8"?&gt;</a:t>
            </a:r>
          </a:p>
          <a:p>
            <a:pPr>
              <a:buNone/>
            </a:pPr>
            <a:r>
              <a:rPr lang="en-US" sz="2800" dirty="0"/>
              <a:t>&lt;!DOCTYPE note SYSTEM "Note.dtd"&gt;</a:t>
            </a:r>
          </a:p>
          <a:p>
            <a:pPr>
              <a:buNone/>
            </a:pPr>
            <a:r>
              <a:rPr lang="en-US" sz="2800" dirty="0"/>
              <a:t>&lt;note&gt;</a:t>
            </a:r>
            <a:br>
              <a:rPr lang="en-US" sz="2800" dirty="0"/>
            </a:br>
            <a:r>
              <a:rPr lang="en-US" sz="2800" dirty="0"/>
              <a:t>&lt;to&gt;</a:t>
            </a:r>
            <a:r>
              <a:rPr lang="en-US" sz="2800" dirty="0" err="1"/>
              <a:t>Tove</a:t>
            </a:r>
            <a:r>
              <a:rPr lang="en-US" sz="2800" dirty="0"/>
              <a:t>&lt;/to&gt;</a:t>
            </a:r>
            <a:br>
              <a:rPr lang="en-US" sz="2800" dirty="0"/>
            </a:br>
            <a:r>
              <a:rPr lang="en-US" sz="2800" dirty="0"/>
              <a:t>&lt;from&gt;</a:t>
            </a:r>
            <a:r>
              <a:rPr lang="en-US" sz="2800" dirty="0" err="1"/>
              <a:t>Jani</a:t>
            </a:r>
            <a:r>
              <a:rPr lang="en-US" sz="2800" dirty="0"/>
              <a:t>&lt;/from&gt;</a:t>
            </a:r>
            <a:br>
              <a:rPr lang="en-US" sz="2800" dirty="0"/>
            </a:br>
            <a:r>
              <a:rPr lang="en-US" sz="2800" dirty="0"/>
              <a:t>&lt;heading&gt;Reminder&lt;/heading&gt;</a:t>
            </a:r>
            <a:br>
              <a:rPr lang="en-US" sz="2800" dirty="0"/>
            </a:br>
            <a:r>
              <a:rPr lang="en-US" sz="2800" dirty="0"/>
              <a:t>&lt;body&gt;Don't forget me this weekend!&lt;/body&gt;</a:t>
            </a:r>
          </a:p>
          <a:p>
            <a:pPr>
              <a:buNone/>
            </a:pPr>
            <a:r>
              <a:rPr lang="en-US" sz="2800" dirty="0"/>
              <a:t>&lt;/note&gt;</a:t>
            </a:r>
          </a:p>
          <a:p>
            <a:r>
              <a:rPr lang="en-US" sz="2800" i="1" dirty="0">
                <a:solidFill>
                  <a:srgbClr val="0000FF"/>
                </a:solidFill>
              </a:rPr>
              <a:t>The DOCTYPE declaration, in the example above, is a reference to an external DTD file “</a:t>
            </a:r>
            <a:r>
              <a:rPr lang="en-US" sz="2800" b="1" i="1" dirty="0">
                <a:solidFill>
                  <a:srgbClr val="FF0000"/>
                </a:solidFill>
              </a:rPr>
              <a:t>Note.dtd”</a:t>
            </a:r>
            <a:r>
              <a:rPr lang="en-US" sz="2800" i="1" dirty="0">
                <a:solidFill>
                  <a:srgbClr val="0000FF"/>
                </a:solidFill>
              </a:rPr>
              <a:t>. The content of the file is shown in the next slide.</a:t>
            </a:r>
          </a:p>
          <a:p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76200"/>
            <a:ext cx="4953000" cy="65836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XML DTD file “Note.dtd”</a:t>
            </a: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871220"/>
            <a:ext cx="9260205" cy="6000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&lt;!DOCTYPE note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[	&lt;!ELEMENT note (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to,from,heading,body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to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from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heading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body (#PCDATA)&gt;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]&gt;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US" sz="2400" dirty="0">
              <a:solidFill>
                <a:srgbClr val="C00000"/>
              </a:solidFill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  <a:r>
              <a:rPr lang="en-US" sz="2400" b="1" i="1" u="sng" dirty="0">
                <a:solidFill>
                  <a:srgbClr val="C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DTD above is interpreted like this:</a:t>
            </a:r>
            <a:endParaRPr lang="en-US" sz="2400" dirty="0">
              <a:solidFill>
                <a:srgbClr val="404040"/>
              </a:solidFill>
              <a:latin typeface="Verdana" panose="020B060403050404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!DOCTYPE note defines that the root element of the 	document is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note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!ELEMENT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defines that the note element contains 	four sub-elements: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"to, from, heading, body"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!ELEMENTs (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to, from, heading, body</a:t>
            </a: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define that the 	sub-elements to be of type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"#PCDATA“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 DTD Declaration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&lt;!DOCTYPE root-element [element-declarations]&gt; </a:t>
            </a:r>
          </a:p>
          <a:p>
            <a:r>
              <a:rPr lang="en-US" sz="2800" dirty="0">
                <a:solidFill>
                  <a:schemeClr val="tx1"/>
                </a:solidFill>
              </a:rPr>
              <a:t>Example XML document with an internal DTD:</a:t>
            </a:r>
          </a:p>
          <a:p>
            <a:r>
              <a:rPr lang="en-US" sz="2800" dirty="0">
                <a:solidFill>
                  <a:schemeClr val="tx1"/>
                </a:solidFill>
              </a:rPr>
              <a:t>&lt;?xml version="1.0"?&gt;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&lt;!DOCTYPE note </a:t>
            </a:r>
            <a:r>
              <a:rPr lang="en-US" sz="2800" b="0" dirty="0">
                <a:solidFill>
                  <a:srgbClr val="0000FF"/>
                </a:solidFill>
              </a:rPr>
              <a:t>[</a:t>
            </a:r>
            <a:br>
              <a:rPr lang="en-US" sz="2800" dirty="0"/>
            </a:br>
            <a:r>
              <a:rPr lang="en-US" sz="2800" dirty="0">
                <a:solidFill>
                  <a:schemeClr val="tx1"/>
                </a:solidFill>
              </a:rPr>
              <a:t>&lt;!ELEMENT note (</a:t>
            </a:r>
            <a:r>
              <a:rPr lang="en-US" sz="2800" dirty="0" err="1">
                <a:solidFill>
                  <a:schemeClr val="tx1"/>
                </a:solidFill>
              </a:rPr>
              <a:t>to,from,heading,body</a:t>
            </a:r>
            <a:r>
              <a:rPr lang="en-US" sz="2800" dirty="0">
                <a:solidFill>
                  <a:schemeClr val="tx1"/>
                </a:solidFill>
              </a:rPr>
              <a:t>)&gt;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&lt;!ELEMENT to (#PCDATA)&gt;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&lt;!ELEMENT from (#PCDATA)&gt;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&lt;!ELEMENT heading (#PCDATA)&gt;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&lt;!ELEMENT body (#PCDATA)&gt;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rgbClr val="0000FF"/>
                </a:solidFill>
              </a:rPr>
              <a:t>]&gt;</a:t>
            </a:r>
            <a:br>
              <a:rPr lang="en-US" sz="2800" dirty="0"/>
            </a:br>
            <a:r>
              <a:rPr lang="en-US" sz="2800" dirty="0">
                <a:solidFill>
                  <a:schemeClr val="tx1"/>
                </a:solidFill>
              </a:rPr>
              <a:t>&lt;note&gt;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&lt;to&gt;</a:t>
            </a:r>
            <a:r>
              <a:rPr lang="en-US" sz="2800" dirty="0" err="1">
                <a:solidFill>
                  <a:schemeClr val="tx1"/>
                </a:solidFill>
              </a:rPr>
              <a:t>Tove</a:t>
            </a:r>
            <a:r>
              <a:rPr lang="en-US" sz="2800" dirty="0">
                <a:solidFill>
                  <a:schemeClr val="tx1"/>
                </a:solidFill>
              </a:rPr>
              <a:t>&lt;/to&gt;</a:t>
            </a:r>
          </a:p>
          <a:p>
            <a:r>
              <a:rPr lang="en-US" sz="2800" dirty="0">
                <a:solidFill>
                  <a:schemeClr val="tx1"/>
                </a:solidFill>
              </a:rPr>
              <a:t>&lt;from&gt;</a:t>
            </a:r>
            <a:r>
              <a:rPr lang="en-US" sz="2800" dirty="0" err="1">
                <a:solidFill>
                  <a:schemeClr val="tx1"/>
                </a:solidFill>
              </a:rPr>
              <a:t>Jani</a:t>
            </a:r>
            <a:r>
              <a:rPr lang="en-US" sz="2800" dirty="0">
                <a:solidFill>
                  <a:schemeClr val="tx1"/>
                </a:solidFill>
              </a:rPr>
              <a:t>&lt;/from&gt;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&lt;heading&gt;Reminder&lt;/heading&gt;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&lt;body&gt;Don't forget me this weekend&lt;/body&gt;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&lt;/note&gt;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01395" y="-28575"/>
            <a:ext cx="7467600" cy="60261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 DTD Declaration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574729"/>
            <a:ext cx="8419454" cy="6283271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PCDATA</a:t>
            </a:r>
          </a:p>
          <a:p>
            <a:pPr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sz="3200" b="0" dirty="0"/>
              <a:t>  </a:t>
            </a:r>
            <a:r>
              <a:rPr lang="en-US" sz="2800" b="0" dirty="0">
                <a:latin typeface="Times New Roman" panose="02020603050405020304" pitchFamily="18" charset="0"/>
              </a:rPr>
              <a:t> 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PCDATA means </a:t>
            </a:r>
            <a:r>
              <a:rPr lang="en-US" sz="28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parsed character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data.</a:t>
            </a:r>
          </a:p>
          <a:p>
            <a:pPr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Think of character data as the text found between the start tag and the end tag of a XML element.</a:t>
            </a:r>
          </a:p>
          <a:p>
            <a:pPr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PCDATA is text that WILL be parsed by a  parser. The text will be examined by the parser for entities and markup.</a:t>
            </a:r>
          </a:p>
          <a:p>
            <a:pPr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Tags inside the text will be treated as markup and entities will be expanded.</a:t>
            </a:r>
          </a:p>
          <a:p>
            <a:pPr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However, parsed character data should not contain any &amp;, &lt;, or &gt; characters; these need to be represented by the &amp;amp; &amp;</a:t>
            </a:r>
            <a:r>
              <a:rPr lang="en-US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lt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; and &amp;</a:t>
            </a:r>
            <a:r>
              <a:rPr lang="en-US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gt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;  entities, respectively.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639762"/>
          </a:xfrm>
        </p:spPr>
        <p:txBody>
          <a:bodyPr anchor="t">
            <a:noAutofit/>
          </a:bodyPr>
          <a:lstStyle/>
          <a:p>
            <a:r>
              <a:rPr lang="en-US" sz="3600" b="1" i="1" u="sng" dirty="0">
                <a:solidFill>
                  <a:srgbClr val="C00000"/>
                </a:solidFill>
              </a:rPr>
              <a:t>XML Schema</a:t>
            </a:r>
            <a:endParaRPr lang="en-US" sz="3600" i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8686800" cy="5534186"/>
          </a:xfrm>
        </p:spPr>
        <p:txBody>
          <a:bodyPr>
            <a:normAutofit fontScale="92500"/>
          </a:bodyPr>
          <a:lstStyle/>
          <a:p>
            <a:r>
              <a:rPr lang="en-US" sz="2600" dirty="0"/>
              <a:t>An XML Schema describes the structure of an XML document, just like a DTD (</a:t>
            </a:r>
            <a:r>
              <a:rPr lang="en-US" sz="2600" b="1" dirty="0">
                <a:solidFill>
                  <a:srgbClr val="FF0000"/>
                </a:solidFill>
              </a:rPr>
              <a:t>or even alternative of DTD</a:t>
            </a:r>
            <a:r>
              <a:rPr lang="en-US" sz="2600" dirty="0"/>
              <a:t>)</a:t>
            </a:r>
          </a:p>
          <a:p>
            <a:pPr lvl="0"/>
            <a:r>
              <a:rPr lang="en-US" sz="2600" dirty="0"/>
              <a:t>XML Schema supports data types and It is easier to:</a:t>
            </a:r>
          </a:p>
          <a:p>
            <a:pPr lvl="1"/>
            <a:r>
              <a:rPr lang="en-US" sz="2600" dirty="0"/>
              <a:t> </a:t>
            </a:r>
            <a:r>
              <a:rPr lang="en-US" sz="2600" b="1" dirty="0">
                <a:solidFill>
                  <a:srgbClr val="0000FF"/>
                </a:solidFill>
              </a:rPr>
              <a:t>describe document content.</a:t>
            </a:r>
          </a:p>
          <a:p>
            <a:pPr lvl="1"/>
            <a:r>
              <a:rPr lang="en-US" sz="2600" b="1" dirty="0">
                <a:solidFill>
                  <a:srgbClr val="0000FF"/>
                </a:solidFill>
              </a:rPr>
              <a:t>define restrictions on data.</a:t>
            </a:r>
          </a:p>
          <a:p>
            <a:pPr lvl="1"/>
            <a:r>
              <a:rPr lang="en-US" sz="2600" b="1" dirty="0">
                <a:solidFill>
                  <a:srgbClr val="0000FF"/>
                </a:solidFill>
              </a:rPr>
              <a:t>validate the correctness of data.</a:t>
            </a:r>
          </a:p>
          <a:p>
            <a:pPr lvl="1"/>
            <a:r>
              <a:rPr lang="en-US" sz="2600" b="1" dirty="0">
                <a:solidFill>
                  <a:srgbClr val="0000FF"/>
                </a:solidFill>
              </a:rPr>
              <a:t>convert data between different data types.</a:t>
            </a:r>
          </a:p>
          <a:p>
            <a:r>
              <a:rPr lang="en-US" sz="2600" dirty="0"/>
              <a:t>Another great strength about XML Schema is that they are written in XML:</a:t>
            </a:r>
          </a:p>
          <a:p>
            <a:pPr lvl="1"/>
            <a:r>
              <a:rPr lang="en-US" sz="2600" dirty="0"/>
              <a:t>You don't have to learn a new language.</a:t>
            </a:r>
          </a:p>
          <a:p>
            <a:pPr lvl="1"/>
            <a:r>
              <a:rPr lang="en-US" sz="2600" dirty="0"/>
              <a:t>You can use your XML editor to edit your Schema files.</a:t>
            </a:r>
          </a:p>
          <a:p>
            <a:pPr lvl="1"/>
            <a:r>
              <a:rPr lang="en-US" sz="2600" dirty="0"/>
              <a:t>You can use your XML parser to parse your Schema files.</a:t>
            </a:r>
          </a:p>
          <a:p>
            <a:endParaRPr lang="en-US" sz="27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639762"/>
          </a:xfrm>
        </p:spPr>
        <p:txBody>
          <a:bodyPr anchor="t">
            <a:noAutofit/>
          </a:bodyPr>
          <a:lstStyle/>
          <a:p>
            <a:r>
              <a:rPr lang="en-US" sz="3600" b="1" i="1" u="sng" dirty="0">
                <a:solidFill>
                  <a:srgbClr val="C00000"/>
                </a:solidFill>
              </a:rPr>
              <a:t>XML Schema (Example)</a:t>
            </a:r>
            <a:endParaRPr lang="en-US" sz="3600" i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251585"/>
            <a:ext cx="8897620" cy="5273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&lt;</a:t>
            </a:r>
            <a:r>
              <a:rPr lang="en-US" sz="2800" dirty="0" err="1"/>
              <a:t>xs:element</a:t>
            </a:r>
            <a:r>
              <a:rPr lang="en-US" sz="2800" dirty="0"/>
              <a:t> name="note"&gt;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&lt;</a:t>
            </a:r>
            <a:r>
              <a:rPr lang="en-US" sz="2800" dirty="0" err="1"/>
              <a:t>xs:complexType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  &lt;</a:t>
            </a:r>
            <a:r>
              <a:rPr lang="en-US" sz="2800" dirty="0" err="1"/>
              <a:t>xs:sequence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    &lt;</a:t>
            </a:r>
            <a:r>
              <a:rPr lang="en-US" sz="2800" dirty="0" err="1"/>
              <a:t>xs:element</a:t>
            </a:r>
            <a:r>
              <a:rPr lang="en-US" sz="2800" dirty="0"/>
              <a:t> name="to" type="</a:t>
            </a:r>
            <a:r>
              <a:rPr lang="en-US" sz="2800" dirty="0" err="1"/>
              <a:t>xs:string</a:t>
            </a:r>
            <a:r>
              <a:rPr lang="en-US" sz="2800" dirty="0"/>
              <a:t>"/&gt;</a:t>
            </a:r>
            <a:br>
              <a:rPr lang="en-US" sz="2800" dirty="0"/>
            </a:br>
            <a:r>
              <a:rPr lang="en-US" sz="2800" dirty="0"/>
              <a:t>    &lt;</a:t>
            </a:r>
            <a:r>
              <a:rPr lang="en-US" sz="2800" dirty="0" err="1"/>
              <a:t>xs:element</a:t>
            </a:r>
            <a:r>
              <a:rPr lang="en-US" sz="2800" dirty="0"/>
              <a:t> name="from" type="</a:t>
            </a:r>
            <a:r>
              <a:rPr lang="en-US" sz="2800" dirty="0" err="1"/>
              <a:t>xs:string</a:t>
            </a:r>
            <a:r>
              <a:rPr lang="en-US" sz="2800" dirty="0"/>
              <a:t>"/&gt;</a:t>
            </a:r>
            <a:br>
              <a:rPr lang="en-US" sz="2800" dirty="0"/>
            </a:br>
            <a:r>
              <a:rPr lang="en-US" sz="2800" dirty="0"/>
              <a:t>    &lt;</a:t>
            </a:r>
            <a:r>
              <a:rPr lang="en-US" sz="2800" dirty="0" err="1"/>
              <a:t>xs:element</a:t>
            </a:r>
            <a:r>
              <a:rPr lang="en-US" sz="2800" dirty="0"/>
              <a:t> name="heading“ type="</a:t>
            </a:r>
            <a:r>
              <a:rPr lang="en-US" sz="2800" dirty="0" err="1"/>
              <a:t>xs:string</a:t>
            </a:r>
            <a:r>
              <a:rPr lang="en-US" sz="2800" dirty="0"/>
              <a:t>"/&gt;</a:t>
            </a:r>
            <a:br>
              <a:rPr lang="en-US" sz="2800" dirty="0"/>
            </a:br>
            <a:r>
              <a:rPr lang="en-US" sz="2800" dirty="0"/>
              <a:t>    &lt;</a:t>
            </a:r>
            <a:r>
              <a:rPr lang="en-US" sz="2800" dirty="0" err="1"/>
              <a:t>xs:element</a:t>
            </a:r>
            <a:r>
              <a:rPr lang="en-US" sz="2800" dirty="0"/>
              <a:t> name="body" type="</a:t>
            </a:r>
            <a:r>
              <a:rPr lang="en-US" sz="2800" dirty="0" err="1"/>
              <a:t>xs:string</a:t>
            </a:r>
            <a:r>
              <a:rPr lang="en-US" sz="2800" dirty="0"/>
              <a:t>"/&gt;</a:t>
            </a:r>
            <a:br>
              <a:rPr lang="en-US" sz="2800" dirty="0"/>
            </a:br>
            <a:r>
              <a:rPr lang="en-US" sz="2800" dirty="0"/>
              <a:t>  &lt;/</a:t>
            </a:r>
            <a:r>
              <a:rPr lang="en-US" sz="2800" dirty="0" err="1"/>
              <a:t>xs:sequence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&lt;/</a:t>
            </a:r>
            <a:r>
              <a:rPr lang="en-US" sz="2800" dirty="0" err="1"/>
              <a:t>xs:complexType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&lt;/</a:t>
            </a:r>
            <a:r>
              <a:rPr lang="en-US" sz="2800" dirty="0" err="1"/>
              <a:t>xs:element</a:t>
            </a:r>
            <a:r>
              <a:rPr lang="en-US" sz="2800" dirty="0"/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589936" cy="639762"/>
          </a:xfrm>
        </p:spPr>
        <p:txBody>
          <a:bodyPr anchor="t">
            <a:noAutofit/>
          </a:bodyPr>
          <a:lstStyle/>
          <a:p>
            <a:r>
              <a:rPr lang="en-US" sz="3200" b="1" i="1" u="sng" dirty="0">
                <a:solidFill>
                  <a:srgbClr val="FF0000"/>
                </a:solidFill>
              </a:rPr>
              <a:t>The Schema Is interpreted like this: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199" y="609599"/>
            <a:ext cx="8897319" cy="6163159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name="note"&gt;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defines the root element called "note"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xs:complexType</a:t>
            </a:r>
            <a:r>
              <a:rPr lang="en-US" dirty="0"/>
              <a:t>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the "note" element is a complex type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xs:sequence</a:t>
            </a:r>
            <a:r>
              <a:rPr lang="en-US" dirty="0"/>
              <a:t>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the complex type is a sequence of elements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name="to" type="</a:t>
            </a:r>
            <a:r>
              <a:rPr lang="en-US" dirty="0" err="1"/>
              <a:t>xs:string</a:t>
            </a:r>
            <a:r>
              <a:rPr lang="en-US" dirty="0"/>
              <a:t>"&gt;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the element "to" is of type string (text)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name="from" type="</a:t>
            </a:r>
            <a:r>
              <a:rPr lang="en-US" dirty="0" err="1"/>
              <a:t>xs:string</a:t>
            </a:r>
            <a:r>
              <a:rPr lang="en-US" dirty="0"/>
              <a:t>"&gt;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the element "from" is of type string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name="heading" type="</a:t>
            </a:r>
            <a:r>
              <a:rPr lang="en-US" dirty="0" err="1"/>
              <a:t>xs:string</a:t>
            </a:r>
            <a:r>
              <a:rPr lang="en-US" dirty="0"/>
              <a:t>"&gt; </a:t>
            </a:r>
          </a:p>
          <a:p>
            <a:pPr lvl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the element "heading" is of type string	   </a:t>
            </a:r>
            <a:r>
              <a:rPr lang="en-US" dirty="0"/>
              <a:t>and so on.</a:t>
            </a:r>
            <a:endParaRPr lang="en-US" dirty="0">
              <a:solidFill>
                <a:srgbClr val="0000FF"/>
              </a:solidFill>
            </a:endParaRPr>
          </a:p>
          <a:p>
            <a:pPr algn="ctr">
              <a:buNone/>
            </a:pPr>
            <a:r>
              <a:rPr lang="en-US" b="1" i="1" u="sng" dirty="0">
                <a:solidFill>
                  <a:srgbClr val="00B050"/>
                </a:solidFill>
              </a:rPr>
              <a:t>Everything is wrapped in "Well Formed" XML.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573</Words>
  <Application>Microsoft Office PowerPoint</Application>
  <PresentationFormat>On-screen Show (4:3)</PresentationFormat>
  <Paragraphs>119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Century Schoolbook</vt:lpstr>
      <vt:lpstr>Consolas</vt:lpstr>
      <vt:lpstr>Times New Roman</vt:lpstr>
      <vt:lpstr>Verdana</vt:lpstr>
      <vt:lpstr>Wingdings</vt:lpstr>
      <vt:lpstr>Wingdings 2</vt:lpstr>
      <vt:lpstr>Oriel</vt:lpstr>
      <vt:lpstr>XML FILES &amp; CSS</vt:lpstr>
      <vt:lpstr>Viewing XML Files</vt:lpstr>
      <vt:lpstr>Viewing XML File’s OUTPUT: (Collapse code)</vt:lpstr>
      <vt:lpstr>Displaying your XML Files with CSS?</vt:lpstr>
      <vt:lpstr>Displaying your XML Files with CSS?</vt:lpstr>
      <vt:lpstr>PowerPoint Presentation</vt:lpstr>
      <vt:lpstr>XML Document Types</vt:lpstr>
      <vt:lpstr>When NOT to Use a Document Definition?</vt:lpstr>
      <vt:lpstr>External DTD Declaration</vt:lpstr>
      <vt:lpstr>PowerPoint Presentation</vt:lpstr>
      <vt:lpstr> DTD Declaration</vt:lpstr>
      <vt:lpstr> DTD Declaration</vt:lpstr>
      <vt:lpstr>XML Schema</vt:lpstr>
      <vt:lpstr>XML Schema (Example)</vt:lpstr>
      <vt:lpstr>The Schema Is interpreted like this: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Languages &amp; Applications</dc:title>
  <dc:creator>Administrator</dc:creator>
  <cp:lastModifiedBy>Saif ur Rehman</cp:lastModifiedBy>
  <cp:revision>95</cp:revision>
  <dcterms:created xsi:type="dcterms:W3CDTF">2007-05-20T19:02:00Z</dcterms:created>
  <dcterms:modified xsi:type="dcterms:W3CDTF">2019-05-09T18:21:08Z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1033-10.2.0.5965</vt:lpwstr>
  </property>
</Properties>
</file>
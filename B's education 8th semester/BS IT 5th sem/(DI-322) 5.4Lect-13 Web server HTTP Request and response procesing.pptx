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65" r:id="rId2"/>
    <p:sldId id="259" r:id="rId3"/>
    <p:sldId id="260" r:id="rId4"/>
    <p:sldId id="257" r:id="rId5"/>
    <p:sldId id="261" r:id="rId6"/>
    <p:sldId id="262" r:id="rId7"/>
    <p:sldId id="264" r:id="rId8"/>
    <p:sldId id="263" r:id="rId9"/>
    <p:sldId id="268" r:id="rId10"/>
    <p:sldId id="266" r:id="rId11"/>
    <p:sldId id="267" r:id="rId12"/>
    <p:sldId id="273" r:id="rId13"/>
    <p:sldId id="274" r:id="rId14"/>
    <p:sldId id="275" r:id="rId15"/>
    <p:sldId id="276"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CB6FB86-4161-4BE0-9E6D-F35589FB377D}" type="datetimeFigureOut">
              <a:rPr lang="en-US" smtClean="0"/>
              <a:pPr/>
              <a:t>4/2/2020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7C6E8EB-86F8-4EFB-AFDA-1464963DE926}" type="slidenum">
              <a:rPr lang="en-US" smtClean="0"/>
              <a:pPr/>
              <a:t>‹#›</a:t>
            </a:fld>
            <a:endParaRPr lang="en-US"/>
          </a:p>
        </p:txBody>
      </p:sp>
    </p:spTree>
    <p:extLst>
      <p:ext uri="{BB962C8B-B14F-4D97-AF65-F5344CB8AC3E}">
        <p14:creationId xmlns:p14="http://schemas.microsoft.com/office/powerpoint/2010/main" val="2884101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w3schools.com/php/func_network_setcookie.asp"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A25E895-D5FC-45FB-8B3D-3B9CF2F51B78}" type="slidenum">
              <a:rPr lang="en-US" smtClean="0"/>
              <a:pPr/>
              <a:t>1</a:t>
            </a:fld>
            <a:endParaRPr lang="en-US"/>
          </a:p>
        </p:txBody>
      </p:sp>
    </p:spTree>
    <p:extLst>
      <p:ext uri="{BB962C8B-B14F-4D97-AF65-F5344CB8AC3E}">
        <p14:creationId xmlns:p14="http://schemas.microsoft.com/office/powerpoint/2010/main" val="24063298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7C6E8EB-86F8-4EFB-AFDA-1464963DE926}" type="slidenum">
              <a:rPr lang="en-US" smtClean="0"/>
              <a:pPr/>
              <a:t>4</a:t>
            </a:fld>
            <a:endParaRPr lang="en-US"/>
          </a:p>
        </p:txBody>
      </p:sp>
    </p:spTree>
    <p:extLst>
      <p:ext uri="{BB962C8B-B14F-4D97-AF65-F5344CB8AC3E}">
        <p14:creationId xmlns:p14="http://schemas.microsoft.com/office/powerpoint/2010/main" val="4954174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hlinkClick r:id="rId3"/>
              </a:rPr>
              <a:t>https://www.w3schools.com/php/func_network_setcookie.asp</a:t>
            </a:r>
            <a:endParaRPr lang="en-US" dirty="0"/>
          </a:p>
        </p:txBody>
      </p:sp>
      <p:sp>
        <p:nvSpPr>
          <p:cNvPr id="4" name="Slide Number Placeholder 3"/>
          <p:cNvSpPr>
            <a:spLocks noGrp="1"/>
          </p:cNvSpPr>
          <p:nvPr>
            <p:ph type="sldNum" sz="quarter" idx="10"/>
          </p:nvPr>
        </p:nvSpPr>
        <p:spPr/>
        <p:txBody>
          <a:bodyPr/>
          <a:lstStyle/>
          <a:p>
            <a:fld id="{C7C6E8EB-86F8-4EFB-AFDA-1464963DE926}" type="slidenum">
              <a:rPr lang="en-US" smtClean="0"/>
              <a:pPr/>
              <a:t>11</a:t>
            </a:fld>
            <a:endParaRPr lang="en-US"/>
          </a:p>
        </p:txBody>
      </p:sp>
    </p:spTree>
    <p:extLst>
      <p:ext uri="{BB962C8B-B14F-4D97-AF65-F5344CB8AC3E}">
        <p14:creationId xmlns:p14="http://schemas.microsoft.com/office/powerpoint/2010/main" val="21277081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F2026E6-3706-47A9-BFAD-AD132253C04C}" type="datetimeFigureOut">
              <a:rPr lang="en-US" smtClean="0"/>
              <a:pPr/>
              <a:t>4/2/2020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3F3FA-3B45-41E5-B54F-99D416A468E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2026E6-3706-47A9-BFAD-AD132253C04C}" type="datetimeFigureOut">
              <a:rPr lang="en-US" smtClean="0"/>
              <a:pPr/>
              <a:t>4/2/2020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3F3FA-3B45-41E5-B54F-99D416A468E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2026E6-3706-47A9-BFAD-AD132253C04C}" type="datetimeFigureOut">
              <a:rPr lang="en-US" smtClean="0"/>
              <a:pPr/>
              <a:t>4/2/2020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3F3FA-3B45-41E5-B54F-99D416A468E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F2026E6-3706-47A9-BFAD-AD132253C04C}" type="datetimeFigureOut">
              <a:rPr lang="en-US" smtClean="0"/>
              <a:pPr/>
              <a:t>4/2/2020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D3F3FA-3B45-41E5-B54F-99D416A468E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F2026E6-3706-47A9-BFAD-AD132253C04C}" type="datetimeFigureOut">
              <a:rPr lang="en-US" smtClean="0"/>
              <a:pPr/>
              <a:t>4/2/2020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D3F3FA-3B45-41E5-B54F-99D416A468E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F2026E6-3706-47A9-BFAD-AD132253C04C}" type="datetimeFigureOut">
              <a:rPr lang="en-US" smtClean="0"/>
              <a:pPr/>
              <a:t>4/2/2020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D3F3FA-3B45-41E5-B54F-99D416A468E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2026E6-3706-47A9-BFAD-AD132253C04C}" type="datetimeFigureOut">
              <a:rPr lang="en-US" smtClean="0"/>
              <a:pPr/>
              <a:t>4/2/2020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D3F3FA-3B45-41E5-B54F-99D416A468E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2026E6-3706-47A9-BFAD-AD132253C04C}" type="datetimeFigureOut">
              <a:rPr lang="en-US" smtClean="0"/>
              <a:pPr/>
              <a:t>4/2/2020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D3F3FA-3B45-41E5-B54F-99D416A468E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2026E6-3706-47A9-BFAD-AD132253C04C}" type="datetimeFigureOut">
              <a:rPr lang="en-US" smtClean="0"/>
              <a:pPr/>
              <a:t>4/2/2020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D3F3FA-3B45-41E5-B54F-99D416A468E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2026E6-3706-47A9-BFAD-AD132253C04C}" type="datetimeFigureOut">
              <a:rPr lang="en-US" smtClean="0"/>
              <a:pPr/>
              <a:t>4/2/2020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3F3FA-3B45-41E5-B54F-99D416A468E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2026E6-3706-47A9-BFAD-AD132253C04C}" type="datetimeFigureOut">
              <a:rPr lang="en-US" smtClean="0"/>
              <a:pPr/>
              <a:t>4/2/2020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D3F3FA-3B45-41E5-B54F-99D416A468E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2026E6-3706-47A9-BFAD-AD132253C04C}" type="datetimeFigureOut">
              <a:rPr lang="en-US" smtClean="0"/>
              <a:pPr/>
              <a:t>4/2/2020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D3F3FA-3B45-41E5-B54F-99D416A468E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www.netlingo.com/word/shopping-cart-technology.php" TargetMode="External"/><Relationship Id="rId3" Type="http://schemas.openxmlformats.org/officeDocument/2006/relationships/hyperlink" Target="http://www.netlingo.com/word/access.php" TargetMode="External"/><Relationship Id="rId7" Type="http://schemas.openxmlformats.org/officeDocument/2006/relationships/hyperlink" Target="http://www.netlingo.com/word/password.php" TargetMode="External"/><Relationship Id="rId2" Type="http://schemas.openxmlformats.org/officeDocument/2006/relationships/hyperlink" Target="http://www.netlingo.com/word/server.php" TargetMode="External"/><Relationship Id="rId1" Type="http://schemas.openxmlformats.org/officeDocument/2006/relationships/slideLayout" Target="../slideLayouts/slideLayout2.xml"/><Relationship Id="rId6" Type="http://schemas.openxmlformats.org/officeDocument/2006/relationships/hyperlink" Target="http://www.netlingo.com/word/username.php" TargetMode="External"/><Relationship Id="rId5" Type="http://schemas.openxmlformats.org/officeDocument/2006/relationships/hyperlink" Target="http://www.netlingo.com/word/login-or-log-in.php" TargetMode="External"/><Relationship Id="rId4" Type="http://schemas.openxmlformats.org/officeDocument/2006/relationships/hyperlink" Target="http://www.netlingo.com/word/web-site.php"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80848" y="-76200"/>
            <a:ext cx="8205952" cy="1470025"/>
          </a:xfrm>
        </p:spPr>
        <p:txBody>
          <a:bodyPr>
            <a:noAutofit/>
          </a:bodyPr>
          <a:lstStyle/>
          <a:p>
            <a:r>
              <a:rPr lang="en-US" sz="5400" b="1" dirty="0"/>
              <a:t>Web Server Operations </a:t>
            </a:r>
            <a:endParaRPr lang="en-US" sz="3600" b="1" dirty="0"/>
          </a:p>
        </p:txBody>
      </p:sp>
      <p:sp>
        <p:nvSpPr>
          <p:cNvPr id="3" name="Subtitle 2"/>
          <p:cNvSpPr>
            <a:spLocks noGrp="1"/>
          </p:cNvSpPr>
          <p:nvPr>
            <p:ph type="subTitle" idx="1"/>
          </p:nvPr>
        </p:nvSpPr>
        <p:spPr>
          <a:xfrm>
            <a:off x="215461" y="1108129"/>
            <a:ext cx="8773555" cy="5749871"/>
          </a:xfrm>
        </p:spPr>
        <p:txBody>
          <a:bodyPr>
            <a:normAutofit fontScale="32500" lnSpcReduction="20000"/>
          </a:bodyPr>
          <a:lstStyle/>
          <a:p>
            <a:pPr marL="2057400" lvl="2" indent="-1143000" algn="l">
              <a:buFont typeface="+mj-lt"/>
              <a:buAutoNum type="alphaUcPeriod"/>
            </a:pPr>
            <a:r>
              <a:rPr lang="en-US" sz="8000" b="1" dirty="0">
                <a:solidFill>
                  <a:srgbClr val="C00000"/>
                </a:solidFill>
              </a:rPr>
              <a:t>Processing HTTP Requests</a:t>
            </a:r>
          </a:p>
          <a:p>
            <a:pPr marL="2057400" lvl="2" indent="-1143000" algn="l">
              <a:buFont typeface="+mj-lt"/>
              <a:buAutoNum type="alphaUcPeriod"/>
            </a:pPr>
            <a:r>
              <a:rPr lang="en-US" sz="8000" b="1" dirty="0">
                <a:solidFill>
                  <a:srgbClr val="C00000"/>
                </a:solidFill>
              </a:rPr>
              <a:t>Processing HTTP Responses</a:t>
            </a:r>
          </a:p>
          <a:p>
            <a:pPr marL="2057400" lvl="2" indent="-1143000" algn="l">
              <a:buFont typeface="+mj-lt"/>
              <a:buAutoNum type="alphaUcPeriod"/>
            </a:pPr>
            <a:r>
              <a:rPr lang="en-US" sz="8000" b="1" dirty="0">
                <a:solidFill>
                  <a:srgbClr val="C00000"/>
                </a:solidFill>
              </a:rPr>
              <a:t>Cookie Coordination</a:t>
            </a:r>
          </a:p>
          <a:p>
            <a:pPr marL="2057400" lvl="2" indent="-1143000" algn="l">
              <a:buFont typeface="+mj-lt"/>
              <a:buAutoNum type="alphaUcPeriod"/>
            </a:pPr>
            <a:r>
              <a:rPr lang="en-US" sz="8000" b="1">
                <a:solidFill>
                  <a:srgbClr val="C00000"/>
                </a:solidFill>
              </a:rPr>
              <a:t>Privacy and P3P</a:t>
            </a:r>
          </a:p>
          <a:p>
            <a:pPr marL="2057400" lvl="2" indent="-1143000" algn="l">
              <a:buFont typeface="+mj-lt"/>
              <a:buAutoNum type="alphaUcPeriod"/>
            </a:pPr>
            <a:r>
              <a:rPr lang="en-US" sz="8000" b="1">
                <a:solidFill>
                  <a:srgbClr val="C00000"/>
                </a:solidFill>
              </a:rPr>
              <a:t>Server </a:t>
            </a:r>
            <a:r>
              <a:rPr lang="en-US" sz="8000" b="1" dirty="0">
                <a:solidFill>
                  <a:srgbClr val="C00000"/>
                </a:solidFill>
              </a:rPr>
              <a:t>Configuration</a:t>
            </a:r>
          </a:p>
          <a:p>
            <a:pPr marL="2057400" lvl="2" indent="-1143000" algn="l">
              <a:buFont typeface="+mj-lt"/>
              <a:buAutoNum type="alphaUcPeriod"/>
            </a:pPr>
            <a:r>
              <a:rPr lang="en-US" sz="8000" b="1" dirty="0">
                <a:solidFill>
                  <a:srgbClr val="C00000"/>
                </a:solidFill>
              </a:rPr>
              <a:t>Server Security </a:t>
            </a:r>
          </a:p>
          <a:p>
            <a:pPr marL="2057400" lvl="2" indent="-1143000" algn="l">
              <a:buFont typeface="+mj-lt"/>
              <a:buAutoNum type="alphaUcPeriod"/>
            </a:pPr>
            <a:r>
              <a:rPr lang="en-US" sz="8000" b="1" dirty="0">
                <a:solidFill>
                  <a:srgbClr val="C00000"/>
                </a:solidFill>
              </a:rPr>
              <a:t>Complex HTTP Interactions</a:t>
            </a:r>
          </a:p>
          <a:p>
            <a:pPr marL="1143000" indent="-1143000" algn="l"/>
            <a:endParaRPr lang="en-US" sz="6600" b="1" i="1" dirty="0">
              <a:solidFill>
                <a:srgbClr val="00B050"/>
              </a:solidFill>
            </a:endParaRPr>
          </a:p>
          <a:p>
            <a:pPr marL="1143000" indent="-1143000" algn="l"/>
            <a:r>
              <a:rPr lang="en-US" sz="8600" b="1" i="1" dirty="0">
                <a:solidFill>
                  <a:srgbClr val="00B050"/>
                </a:solidFill>
              </a:rPr>
              <a:t>Recall Previous Knowledge:</a:t>
            </a:r>
          </a:p>
          <a:p>
            <a:pPr algn="l">
              <a:buFont typeface="Wingdings" pitchFamily="2" charset="2"/>
              <a:buChar char="q"/>
            </a:pPr>
            <a:r>
              <a:rPr lang="en-US" sz="7400" dirty="0">
                <a:solidFill>
                  <a:srgbClr val="C00000"/>
                </a:solidFill>
              </a:rPr>
              <a:t>        Web servers, browsers, and proxies communicate  by </a:t>
            </a:r>
          </a:p>
          <a:p>
            <a:pPr algn="l"/>
            <a:r>
              <a:rPr lang="en-US" sz="7400" dirty="0">
                <a:solidFill>
                  <a:srgbClr val="C00000"/>
                </a:solidFill>
              </a:rPr>
              <a:t>	exchanging  HTTP messages.</a:t>
            </a:r>
          </a:p>
          <a:p>
            <a:pPr algn="l">
              <a:buFont typeface="Wingdings" pitchFamily="2" charset="2"/>
              <a:buChar char="q"/>
            </a:pPr>
            <a:r>
              <a:rPr lang="en-US" sz="7400" dirty="0">
                <a:solidFill>
                  <a:srgbClr val="C00000"/>
                </a:solidFill>
              </a:rPr>
              <a:t>        The server </a:t>
            </a:r>
            <a:r>
              <a:rPr lang="en-US" sz="7400" b="1" dirty="0">
                <a:solidFill>
                  <a:srgbClr val="0000CC"/>
                </a:solidFill>
              </a:rPr>
              <a:t>receives</a:t>
            </a:r>
            <a:r>
              <a:rPr lang="en-US" sz="7400" dirty="0">
                <a:solidFill>
                  <a:srgbClr val="C00000"/>
                </a:solidFill>
              </a:rPr>
              <a:t> and interprets HTTP requests, </a:t>
            </a:r>
            <a:r>
              <a:rPr lang="en-US" sz="7400" b="1" dirty="0">
                <a:solidFill>
                  <a:srgbClr val="0000CC"/>
                </a:solidFill>
              </a:rPr>
              <a:t>Locates</a:t>
            </a:r>
            <a:r>
              <a:rPr lang="en-US" sz="7400" dirty="0">
                <a:solidFill>
                  <a:srgbClr val="C00000"/>
                </a:solidFill>
              </a:rPr>
              <a:t> and </a:t>
            </a:r>
          </a:p>
          <a:p>
            <a:pPr algn="l"/>
            <a:r>
              <a:rPr lang="en-US" sz="7400" dirty="0">
                <a:solidFill>
                  <a:srgbClr val="C00000"/>
                </a:solidFill>
              </a:rPr>
              <a:t>	accesses requested resources, and  </a:t>
            </a:r>
            <a:r>
              <a:rPr lang="en-US" sz="7400" b="1" dirty="0">
                <a:solidFill>
                  <a:srgbClr val="0000CC"/>
                </a:solidFill>
              </a:rPr>
              <a:t>Generates</a:t>
            </a:r>
            <a:r>
              <a:rPr lang="en-US" sz="7400" dirty="0">
                <a:solidFill>
                  <a:srgbClr val="C00000"/>
                </a:solidFill>
              </a:rPr>
              <a:t> responses, 	which it sends back to the originators of the requests. </a:t>
            </a:r>
            <a:endParaRPr lang="en-US" sz="7400"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76200" y="263476"/>
            <a:ext cx="8592864" cy="6594524"/>
          </a:xfrm>
          <a:prstGeom prst="rect">
            <a:avLst/>
          </a:prstGeom>
          <a:noFill/>
          <a:ln w="9525">
            <a:noFill/>
            <a:miter lim="800000"/>
            <a:headEnd/>
            <a:tailEnd/>
          </a:ln>
          <a:effectLst/>
        </p:spPr>
      </p:pic>
      <p:sp>
        <p:nvSpPr>
          <p:cNvPr id="3" name="Rectangle 2"/>
          <p:cNvSpPr/>
          <p:nvPr/>
        </p:nvSpPr>
        <p:spPr>
          <a:xfrm>
            <a:off x="6261904" y="0"/>
            <a:ext cx="2805896" cy="369332"/>
          </a:xfrm>
          <a:prstGeom prst="rect">
            <a:avLst/>
          </a:prstGeom>
        </p:spPr>
        <p:txBody>
          <a:bodyPr wrap="none">
            <a:spAutoFit/>
          </a:bodyPr>
          <a:lstStyle/>
          <a:p>
            <a:r>
              <a:rPr lang="en-US" b="1" i="1" dirty="0">
                <a:solidFill>
                  <a:srgbClr val="00B050"/>
                </a:solidFill>
              </a:rPr>
              <a:t>Recall Previous Knowledge: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76200"/>
            <a:ext cx="8805620" cy="6172200"/>
          </a:xfrm>
        </p:spPr>
        <p:txBody>
          <a:bodyPr>
            <a:noAutofit/>
          </a:bodyPr>
          <a:lstStyle/>
          <a:p>
            <a:r>
              <a:rPr lang="en-US" sz="2800" dirty="0"/>
              <a:t>The </a:t>
            </a:r>
            <a:r>
              <a:rPr lang="en-US" sz="2800" b="1" i="1" u="sng" dirty="0">
                <a:solidFill>
                  <a:srgbClr val="008000"/>
                </a:solidFill>
              </a:rPr>
              <a:t>Address Resolution module</a:t>
            </a:r>
            <a:r>
              <a:rPr lang="en-US" sz="2800" i="1" dirty="0"/>
              <a:t>, which is responsible for analyzing and  </a:t>
            </a:r>
            <a:r>
              <a:rPr lang="en-US" sz="2800" dirty="0"/>
              <a:t>‘</a:t>
            </a:r>
            <a:r>
              <a:rPr lang="en-US" sz="2800" b="1" dirty="0">
                <a:solidFill>
                  <a:srgbClr val="0000CC"/>
                </a:solidFill>
              </a:rPr>
              <a:t>pre-processing</a:t>
            </a:r>
            <a:r>
              <a:rPr lang="en-US" sz="2800" dirty="0"/>
              <a:t>’  the request. </a:t>
            </a:r>
          </a:p>
          <a:p>
            <a:r>
              <a:rPr lang="en-US" sz="2800" dirty="0"/>
              <a:t>This pre-processing includes: </a:t>
            </a:r>
          </a:p>
          <a:p>
            <a:pPr marL="914400" lvl="1" indent="-457200">
              <a:buAutoNum type="arabicPeriod"/>
            </a:pPr>
            <a:r>
              <a:rPr lang="en-US" i="1" dirty="0">
                <a:solidFill>
                  <a:srgbClr val="0000CC"/>
                </a:solidFill>
              </a:rPr>
              <a:t>Virtual Hosting</a:t>
            </a:r>
            <a:r>
              <a:rPr lang="en-US" i="1" dirty="0"/>
              <a:t>: Hosting for multiple domains on a server</a:t>
            </a:r>
          </a:p>
          <a:p>
            <a:pPr marL="971550" lvl="1" indent="-514350">
              <a:buAutoNum type="arabicPeriod"/>
            </a:pPr>
            <a:r>
              <a:rPr lang="en-US" sz="2800" i="1" dirty="0">
                <a:solidFill>
                  <a:srgbClr val="0000CC"/>
                </a:solidFill>
              </a:rPr>
              <a:t>Address Mapping</a:t>
            </a:r>
            <a:r>
              <a:rPr lang="en-US" sz="2800" i="1" dirty="0"/>
              <a:t>: determine whether this is a request for static or dynamic </a:t>
            </a:r>
            <a:r>
              <a:rPr lang="en-US" sz="2800" dirty="0"/>
              <a:t>content.</a:t>
            </a:r>
          </a:p>
          <a:p>
            <a:pPr marL="971550" lvl="1" indent="-514350">
              <a:buFont typeface="+mj-lt"/>
              <a:buAutoNum type="arabicPeriod"/>
            </a:pPr>
            <a:r>
              <a:rPr lang="en-US" i="1" dirty="0">
                <a:solidFill>
                  <a:srgbClr val="0000CC"/>
                </a:solidFill>
              </a:rPr>
              <a:t>Authentication:</a:t>
            </a:r>
            <a:r>
              <a:rPr lang="en-US" i="1" dirty="0"/>
              <a:t> if the requested resource is protected, examine authorization certificate </a:t>
            </a:r>
            <a:r>
              <a:rPr lang="en-US" dirty="0"/>
              <a:t>to see if the request is coming from an authorized user.</a:t>
            </a:r>
          </a:p>
          <a:p>
            <a:r>
              <a:rPr lang="en-US" sz="2800" dirty="0"/>
              <a:t>The </a:t>
            </a:r>
            <a:r>
              <a:rPr lang="en-US" sz="2800" b="1" i="1" u="sng" dirty="0">
                <a:solidFill>
                  <a:srgbClr val="008000"/>
                </a:solidFill>
              </a:rPr>
              <a:t>Request Processing </a:t>
            </a:r>
            <a:r>
              <a:rPr lang="en-US" sz="2800" b="1" u="sng" dirty="0">
                <a:solidFill>
                  <a:srgbClr val="008000"/>
                </a:solidFill>
              </a:rPr>
              <a:t>module</a:t>
            </a:r>
            <a:r>
              <a:rPr lang="en-US" sz="2800" dirty="0"/>
              <a:t>, invokes sub-modules to serve static or dynamic content as appropriate. </a:t>
            </a:r>
          </a:p>
          <a:p>
            <a:r>
              <a:rPr lang="en-US" sz="2800" dirty="0"/>
              <a:t>The </a:t>
            </a:r>
            <a:r>
              <a:rPr lang="en-US" sz="2800" b="1" i="1" u="sng" dirty="0">
                <a:solidFill>
                  <a:srgbClr val="008000"/>
                </a:solidFill>
              </a:rPr>
              <a:t>Response Generation module</a:t>
            </a:r>
            <a:r>
              <a:rPr lang="en-US" sz="2800" i="1" dirty="0"/>
              <a:t>, </a:t>
            </a:r>
            <a:r>
              <a:rPr lang="en-US" sz="2800" dirty="0"/>
              <a:t>builds the response and directs it to the </a:t>
            </a:r>
            <a:r>
              <a:rPr lang="en-US" sz="2800" i="1" dirty="0"/>
              <a:t>Networking module for transmission.</a:t>
            </a:r>
            <a:endParaRPr lang="en-US" sz="2800" dirty="0"/>
          </a:p>
          <a:p>
            <a:pPr marL="971550" lvl="1" indent="-514350">
              <a:buNone/>
            </a:pPr>
            <a:endParaRPr lang="en-US" sz="8000" dirty="0"/>
          </a:p>
          <a:p>
            <a:pPr marL="971550" lvl="1" indent="-514350">
              <a:buNone/>
            </a:pP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229600" cy="1143000"/>
          </a:xfrm>
        </p:spPr>
        <p:txBody>
          <a:bodyPr/>
          <a:lstStyle/>
          <a:p>
            <a:pPr algn="l"/>
            <a:r>
              <a:rPr lang="en-US" b="1" dirty="0">
                <a:solidFill>
                  <a:srgbClr val="C00000"/>
                </a:solidFill>
                <a:latin typeface="Arial Black" pitchFamily="34" charset="0"/>
              </a:rPr>
              <a:t>HTTP Request processing</a:t>
            </a:r>
          </a:p>
        </p:txBody>
      </p:sp>
      <p:sp>
        <p:nvSpPr>
          <p:cNvPr id="3" name="Content Placeholder 2"/>
          <p:cNvSpPr>
            <a:spLocks noGrp="1"/>
          </p:cNvSpPr>
          <p:nvPr>
            <p:ph idx="1"/>
          </p:nvPr>
        </p:nvSpPr>
        <p:spPr>
          <a:xfrm>
            <a:off x="228599" y="990600"/>
            <a:ext cx="8760417" cy="5611678"/>
          </a:xfrm>
        </p:spPr>
        <p:txBody>
          <a:bodyPr>
            <a:normAutofit fontScale="92500" lnSpcReduction="20000"/>
          </a:bodyPr>
          <a:lstStyle/>
          <a:p>
            <a:pPr algn="just"/>
            <a:r>
              <a:rPr lang="en-US" dirty="0"/>
              <a:t>HTTP is the foundation protocol of the World Wide Web. </a:t>
            </a:r>
          </a:p>
          <a:p>
            <a:pPr algn="just"/>
            <a:r>
              <a:rPr lang="en-US" dirty="0"/>
              <a:t>HTTP is an </a:t>
            </a:r>
            <a:r>
              <a:rPr lang="en-US" i="1" dirty="0"/>
              <a:t>application level protocol in the TCP/IP protocol suite.</a:t>
            </a:r>
          </a:p>
          <a:p>
            <a:pPr algn="just"/>
            <a:r>
              <a:rPr lang="en-US" dirty="0"/>
              <a:t>It uses the </a:t>
            </a:r>
            <a:r>
              <a:rPr lang="en-US" i="1" dirty="0"/>
              <a:t>request/response paradigm, meaning that an HTTP </a:t>
            </a:r>
            <a:r>
              <a:rPr lang="en-US" dirty="0"/>
              <a:t>client program sends an HTTP request message to an HTTP server, which returns an HTTP response message.</a:t>
            </a:r>
          </a:p>
          <a:p>
            <a:pPr algn="just"/>
            <a:r>
              <a:rPr lang="en-US" dirty="0"/>
              <a:t>The structure of request and response messages is similar to that of e-mail messages:</a:t>
            </a:r>
          </a:p>
          <a:p>
            <a:pPr lvl="1" algn="just"/>
            <a:r>
              <a:rPr lang="en-US" b="1" i="1" dirty="0">
                <a:solidFill>
                  <a:srgbClr val="0000FF"/>
                </a:solidFill>
              </a:rPr>
              <a:t>Message</a:t>
            </a:r>
            <a:r>
              <a:rPr lang="en-US" i="1" dirty="0"/>
              <a:t> </a:t>
            </a:r>
            <a:r>
              <a:rPr lang="en-US" b="1" i="1" dirty="0">
                <a:solidFill>
                  <a:srgbClr val="0000CC"/>
                </a:solidFill>
              </a:rPr>
              <a:t>header</a:t>
            </a:r>
            <a:r>
              <a:rPr lang="en-US" i="1" dirty="0"/>
              <a:t>= Method + URL link + HTTP version</a:t>
            </a:r>
          </a:p>
          <a:p>
            <a:pPr lvl="1" algn="just"/>
            <a:r>
              <a:rPr lang="en-US" b="1" i="1" dirty="0">
                <a:solidFill>
                  <a:srgbClr val="0000CC"/>
                </a:solidFill>
              </a:rPr>
              <a:t>Host Name = </a:t>
            </a:r>
            <a:r>
              <a:rPr lang="en-US" dirty="0"/>
              <a:t>Website address</a:t>
            </a:r>
          </a:p>
          <a:p>
            <a:pPr lvl="1" algn="just"/>
            <a:r>
              <a:rPr lang="en-US" b="1" i="1" dirty="0">
                <a:solidFill>
                  <a:srgbClr val="0000CC"/>
                </a:solidFill>
              </a:rPr>
              <a:t>User-agent = </a:t>
            </a:r>
            <a:r>
              <a:rPr lang="en-US" i="1" dirty="0"/>
              <a:t>Browser + Operating system Information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a:solidFill>
                  <a:srgbClr val="C00000"/>
                </a:solidFill>
                <a:latin typeface="Arial Black" pitchFamily="34" charset="0"/>
              </a:rPr>
              <a:t>HTTP Request processing</a:t>
            </a:r>
            <a:br>
              <a:rPr lang="en-US" sz="3600" b="1" dirty="0">
                <a:solidFill>
                  <a:srgbClr val="C00000"/>
                </a:solidFill>
                <a:latin typeface="Arial Black" pitchFamily="34" charset="0"/>
              </a:rPr>
            </a:br>
            <a:r>
              <a:rPr lang="en-US" sz="3600" b="1" dirty="0">
                <a:solidFill>
                  <a:srgbClr val="0000FF"/>
                </a:solidFill>
                <a:latin typeface="Arial Black" pitchFamily="34" charset="0"/>
              </a:rPr>
              <a:t>(An Example Explanation)</a:t>
            </a:r>
            <a:endParaRPr lang="en-US" sz="3600" dirty="0">
              <a:solidFill>
                <a:srgbClr val="0000FF"/>
              </a:solidFill>
            </a:endParaRPr>
          </a:p>
        </p:txBody>
      </p:sp>
      <p:sp>
        <p:nvSpPr>
          <p:cNvPr id="3" name="Content Placeholder 2"/>
          <p:cNvSpPr>
            <a:spLocks noGrp="1"/>
          </p:cNvSpPr>
          <p:nvPr>
            <p:ph idx="1"/>
          </p:nvPr>
        </p:nvSpPr>
        <p:spPr/>
        <p:txBody>
          <a:bodyPr>
            <a:normAutofit fontScale="85000" lnSpcReduction="20000"/>
          </a:bodyPr>
          <a:lstStyle/>
          <a:p>
            <a:pPr algn="just"/>
            <a:r>
              <a:rPr lang="en-US" dirty="0"/>
              <a:t>Let us take an example in which an end-user is visiting her friend’s personal web site found at http://mysite.org/.</a:t>
            </a:r>
          </a:p>
          <a:p>
            <a:pPr algn="just"/>
            <a:r>
              <a:rPr lang="en-US" dirty="0"/>
              <a:t>The process begins when the end user tells the browser to access the page found at the URL http://mysite.org/pages/simple-page.html. </a:t>
            </a:r>
          </a:p>
          <a:p>
            <a:pPr algn="just"/>
            <a:r>
              <a:rPr lang="en-US" dirty="0"/>
              <a:t>When the browser successfully receives and renders the page, the user sees that it has links to two other pages, which contain her friend’s ‘school links’ (school.html) and ‘home links’ (home.html). </a:t>
            </a:r>
          </a:p>
          <a:p>
            <a:pPr algn="just"/>
            <a:r>
              <a:rPr lang="en-US" dirty="0"/>
              <a:t>Suppose now that the end user follows the link to her friend’s ‘school links’ page.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0"/>
            <a:ext cx="8229600" cy="1143000"/>
          </a:xfrm>
        </p:spPr>
        <p:txBody>
          <a:bodyPr>
            <a:normAutofit/>
          </a:bodyPr>
          <a:lstStyle/>
          <a:p>
            <a:pPr algn="l"/>
            <a:r>
              <a:rPr lang="fr-FR" sz="3200" b="1" dirty="0"/>
              <a:t>Simple HTML page</a:t>
            </a:r>
            <a:endParaRPr lang="en-US" sz="3200" dirty="0"/>
          </a:p>
        </p:txBody>
      </p:sp>
      <p:sp>
        <p:nvSpPr>
          <p:cNvPr id="3" name="Content Placeholder 2"/>
          <p:cNvSpPr>
            <a:spLocks noGrp="1"/>
          </p:cNvSpPr>
          <p:nvPr>
            <p:ph idx="1"/>
          </p:nvPr>
        </p:nvSpPr>
        <p:spPr>
          <a:xfrm>
            <a:off x="152400" y="914400"/>
            <a:ext cx="6172200" cy="4724400"/>
          </a:xfrm>
        </p:spPr>
        <p:txBody>
          <a:bodyPr>
            <a:normAutofit fontScale="70000" lnSpcReduction="20000"/>
          </a:bodyPr>
          <a:lstStyle/>
          <a:p>
            <a:pPr>
              <a:buNone/>
            </a:pPr>
            <a:r>
              <a:rPr lang="en-US" dirty="0"/>
              <a:t>&lt;HTML&gt;</a:t>
            </a:r>
          </a:p>
          <a:p>
            <a:pPr>
              <a:buNone/>
            </a:pPr>
            <a:r>
              <a:rPr lang="en-US" dirty="0"/>
              <a:t>&lt;HEAD&gt;</a:t>
            </a:r>
          </a:p>
          <a:p>
            <a:pPr>
              <a:buNone/>
            </a:pPr>
            <a:r>
              <a:rPr lang="en-US" dirty="0"/>
              <a:t>&lt;TITLE&gt;Simple Page &lt;/TITLE&gt;</a:t>
            </a:r>
          </a:p>
          <a:p>
            <a:pPr>
              <a:buNone/>
            </a:pPr>
            <a:r>
              <a:rPr lang="en-US" dirty="0"/>
              <a:t>&lt;/HEAD&gt;</a:t>
            </a:r>
          </a:p>
          <a:p>
            <a:pPr>
              <a:buNone/>
            </a:pPr>
            <a:r>
              <a:rPr lang="en-US" dirty="0"/>
              <a:t>&lt;BODY&gt;</a:t>
            </a:r>
          </a:p>
          <a:p>
            <a:pPr>
              <a:buNone/>
            </a:pPr>
            <a:r>
              <a:rPr lang="en-US" dirty="0"/>
              <a:t>&lt;H2&gt;My Links&lt;/H2&gt;</a:t>
            </a:r>
          </a:p>
          <a:p>
            <a:pPr>
              <a:buNone/>
            </a:pPr>
            <a:r>
              <a:rPr lang="en-US" dirty="0"/>
              <a:t>&lt;</a:t>
            </a:r>
            <a:r>
              <a:rPr lang="en-US" dirty="0" err="1"/>
              <a:t>ul</a:t>
            </a:r>
            <a:r>
              <a:rPr lang="en-US" dirty="0"/>
              <a:t>&gt;</a:t>
            </a:r>
          </a:p>
          <a:p>
            <a:pPr>
              <a:buNone/>
            </a:pPr>
            <a:r>
              <a:rPr lang="en-US" dirty="0"/>
              <a:t>&lt;</a:t>
            </a:r>
            <a:r>
              <a:rPr lang="en-US" dirty="0" err="1"/>
              <a:t>li</a:t>
            </a:r>
            <a:r>
              <a:rPr lang="en-US" dirty="0"/>
              <a:t>&gt;&lt;a </a:t>
            </a:r>
            <a:r>
              <a:rPr lang="en-US" dirty="0" err="1"/>
              <a:t>href</a:t>
            </a:r>
            <a:r>
              <a:rPr lang="en-US" dirty="0"/>
              <a:t> ="school.html"&gt; My school links&lt;/a&gt;&lt;/</a:t>
            </a:r>
            <a:r>
              <a:rPr lang="en-US" dirty="0" err="1"/>
              <a:t>li</a:t>
            </a:r>
            <a:r>
              <a:rPr lang="en-US" dirty="0"/>
              <a:t>&gt;</a:t>
            </a:r>
          </a:p>
          <a:p>
            <a:pPr>
              <a:buNone/>
            </a:pPr>
            <a:r>
              <a:rPr lang="en-US" dirty="0"/>
              <a:t>&lt;</a:t>
            </a:r>
            <a:r>
              <a:rPr lang="en-US" dirty="0" err="1"/>
              <a:t>li</a:t>
            </a:r>
            <a:r>
              <a:rPr lang="en-US" dirty="0"/>
              <a:t>&gt;&lt;a </a:t>
            </a:r>
            <a:r>
              <a:rPr lang="en-US" dirty="0" err="1"/>
              <a:t>href</a:t>
            </a:r>
            <a:r>
              <a:rPr lang="en-US" dirty="0"/>
              <a:t> ="home.html"&gt;  My home links&lt;/a&gt;&lt;/</a:t>
            </a:r>
            <a:r>
              <a:rPr lang="en-US" dirty="0" err="1"/>
              <a:t>li</a:t>
            </a:r>
            <a:r>
              <a:rPr lang="en-US" dirty="0"/>
              <a:t>&gt;</a:t>
            </a:r>
          </a:p>
          <a:p>
            <a:pPr>
              <a:buNone/>
            </a:pPr>
            <a:r>
              <a:rPr lang="en-US" dirty="0"/>
              <a:t>&lt;/</a:t>
            </a:r>
            <a:r>
              <a:rPr lang="en-US" dirty="0" err="1"/>
              <a:t>ul</a:t>
            </a:r>
            <a:r>
              <a:rPr lang="en-US" dirty="0"/>
              <a:t>&gt;</a:t>
            </a:r>
          </a:p>
          <a:p>
            <a:pPr>
              <a:buNone/>
            </a:pPr>
            <a:r>
              <a:rPr lang="en-US" dirty="0"/>
              <a:t>&lt;/BODY&gt;</a:t>
            </a:r>
          </a:p>
          <a:p>
            <a:pPr>
              <a:buNone/>
            </a:pPr>
            <a:r>
              <a:rPr lang="en-US" dirty="0"/>
              <a:t>&lt;/HTML&gt;</a:t>
            </a:r>
          </a:p>
        </p:txBody>
      </p:sp>
      <p:sp>
        <p:nvSpPr>
          <p:cNvPr id="4" name="Rectangle 3"/>
          <p:cNvSpPr/>
          <p:nvPr/>
        </p:nvSpPr>
        <p:spPr>
          <a:xfrm>
            <a:off x="3200400" y="4244876"/>
            <a:ext cx="5715000" cy="2308324"/>
          </a:xfrm>
          <a:prstGeom prst="rect">
            <a:avLst/>
          </a:prstGeom>
          <a:ln>
            <a:solidFill>
              <a:schemeClr val="tx1"/>
            </a:solidFill>
          </a:ln>
        </p:spPr>
        <p:txBody>
          <a:bodyPr wrap="square">
            <a:spAutoFit/>
          </a:bodyPr>
          <a:lstStyle/>
          <a:p>
            <a:r>
              <a:rPr lang="en-US" sz="2400" dirty="0"/>
              <a:t>GET http://mysite.org/pages/simple-page.html HTTP/1.1</a:t>
            </a:r>
          </a:p>
          <a:p>
            <a:r>
              <a:rPr lang="en-US" sz="2400" dirty="0"/>
              <a:t>Host: mysite.org</a:t>
            </a:r>
          </a:p>
          <a:p>
            <a:r>
              <a:rPr lang="en-US" sz="2400" dirty="0"/>
              <a:t>User-Agent: Mozilla/4.75 [en] (WinNT; U)</a:t>
            </a:r>
          </a:p>
          <a:p>
            <a:pPr algn="ctr"/>
            <a:r>
              <a:rPr lang="en-US" sz="2400" b="1" i="1" dirty="0">
                <a:solidFill>
                  <a:srgbClr val="0000FF"/>
                </a:solidFill>
              </a:rPr>
              <a:t>Browser request to load the simple-page.html page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6038"/>
            <a:ext cx="8229600" cy="792162"/>
          </a:xfrm>
        </p:spPr>
        <p:txBody>
          <a:bodyPr>
            <a:normAutofit/>
          </a:bodyPr>
          <a:lstStyle/>
          <a:p>
            <a:r>
              <a:rPr lang="en-US" b="1" u="sng" dirty="0">
                <a:solidFill>
                  <a:srgbClr val="C00000"/>
                </a:solidFill>
              </a:rPr>
              <a:t>Server Response to an request</a:t>
            </a:r>
            <a:endParaRPr lang="en-US" u="sng" dirty="0">
              <a:solidFill>
                <a:srgbClr val="C00000"/>
              </a:solidFill>
            </a:endParaRPr>
          </a:p>
        </p:txBody>
      </p:sp>
      <p:sp>
        <p:nvSpPr>
          <p:cNvPr id="3" name="Content Placeholder 2"/>
          <p:cNvSpPr>
            <a:spLocks noGrp="1"/>
          </p:cNvSpPr>
          <p:nvPr>
            <p:ph idx="1"/>
          </p:nvPr>
        </p:nvSpPr>
        <p:spPr>
          <a:xfrm>
            <a:off x="152400" y="914400"/>
            <a:ext cx="8991600" cy="5943600"/>
          </a:xfrm>
        </p:spPr>
        <p:txBody>
          <a:bodyPr>
            <a:normAutofit fontScale="92500" lnSpcReduction="20000"/>
          </a:bodyPr>
          <a:lstStyle/>
          <a:p>
            <a:pPr>
              <a:buNone/>
            </a:pPr>
            <a:r>
              <a:rPr lang="en-US" sz="2400" b="1" dirty="0">
                <a:solidFill>
                  <a:srgbClr val="0000FF"/>
                </a:solidFill>
              </a:rPr>
              <a:t>HTTP/1.1 200 OK</a:t>
            </a:r>
          </a:p>
          <a:p>
            <a:pPr>
              <a:buNone/>
            </a:pPr>
            <a:r>
              <a:rPr lang="en-US" sz="2400" b="1" dirty="0">
                <a:solidFill>
                  <a:srgbClr val="0000FF"/>
                </a:solidFill>
              </a:rPr>
              <a:t>Date: Tue, 29 May 2001 23:15:29 GMT</a:t>
            </a:r>
          </a:p>
          <a:p>
            <a:pPr>
              <a:buNone/>
            </a:pPr>
            <a:r>
              <a:rPr lang="en-US" sz="2400" b="1" dirty="0">
                <a:solidFill>
                  <a:srgbClr val="0000FF"/>
                </a:solidFill>
              </a:rPr>
              <a:t>Last-Modified: Mon, 28 May 2001 15:11:01 GMT</a:t>
            </a:r>
          </a:p>
          <a:p>
            <a:pPr>
              <a:buNone/>
            </a:pPr>
            <a:r>
              <a:rPr lang="en-US" sz="2400" b="1" dirty="0">
                <a:solidFill>
                  <a:srgbClr val="0000FF"/>
                </a:solidFill>
              </a:rPr>
              <a:t>Content-type: text/html</a:t>
            </a:r>
          </a:p>
          <a:p>
            <a:pPr>
              <a:buNone/>
            </a:pPr>
            <a:r>
              <a:rPr lang="en-US" sz="2400" b="1" dirty="0">
                <a:solidFill>
                  <a:srgbClr val="0000FF"/>
                </a:solidFill>
              </a:rPr>
              <a:t>Content-length: 193</a:t>
            </a:r>
          </a:p>
          <a:p>
            <a:pPr>
              <a:buNone/>
            </a:pPr>
            <a:r>
              <a:rPr lang="en-US" sz="2400" b="1" dirty="0">
                <a:solidFill>
                  <a:srgbClr val="0000FF"/>
                </a:solidFill>
              </a:rPr>
              <a:t>Server: Apache/1.2.5</a:t>
            </a:r>
          </a:p>
          <a:p>
            <a:pPr>
              <a:buNone/>
            </a:pPr>
            <a:endParaRPr lang="en-US" sz="2400" dirty="0"/>
          </a:p>
          <a:p>
            <a:pPr>
              <a:buNone/>
            </a:pPr>
            <a:r>
              <a:rPr lang="en-US" sz="2400" dirty="0"/>
              <a:t>&lt;HTML&gt;</a:t>
            </a:r>
          </a:p>
          <a:p>
            <a:pPr>
              <a:buNone/>
            </a:pPr>
            <a:r>
              <a:rPr lang="en-US" sz="2400" dirty="0"/>
              <a:t>&lt;HEAD&gt;&lt;TITLE&gt;School Page&lt;/TITLE&gt;&lt;/HEAD&gt;</a:t>
            </a:r>
          </a:p>
          <a:p>
            <a:pPr>
              <a:buNone/>
            </a:pPr>
            <a:r>
              <a:rPr lang="en-US" sz="2400" dirty="0"/>
              <a:t>&lt;BODY&gt;</a:t>
            </a:r>
          </a:p>
          <a:p>
            <a:pPr>
              <a:buNone/>
            </a:pPr>
            <a:r>
              <a:rPr lang="en-US" sz="2400" dirty="0"/>
              <a:t>&lt;H2&gt;My Links&lt;/H2&gt;</a:t>
            </a:r>
          </a:p>
          <a:p>
            <a:pPr>
              <a:buNone/>
            </a:pPr>
            <a:r>
              <a:rPr lang="en-US" sz="2400" dirty="0"/>
              <a:t>&lt;</a:t>
            </a:r>
            <a:r>
              <a:rPr lang="en-US" sz="2400" dirty="0" err="1"/>
              <a:t>ul</a:t>
            </a:r>
            <a:r>
              <a:rPr lang="en-US" sz="2400" dirty="0"/>
              <a:t>&gt;</a:t>
            </a:r>
          </a:p>
          <a:p>
            <a:pPr>
              <a:buNone/>
            </a:pPr>
            <a:r>
              <a:rPr lang="en-US" sz="2400" dirty="0"/>
              <a:t>&lt;</a:t>
            </a:r>
            <a:r>
              <a:rPr lang="en-US" sz="2400" dirty="0" err="1"/>
              <a:t>li</a:t>
            </a:r>
            <a:r>
              <a:rPr lang="en-US" sz="2400" dirty="0"/>
              <a:t>&gt;&lt;a </a:t>
            </a:r>
            <a:r>
              <a:rPr lang="en-US" sz="2400" dirty="0" err="1"/>
              <a:t>href</a:t>
            </a:r>
            <a:r>
              <a:rPr lang="en-US" sz="2400" dirty="0"/>
              <a:t> ="classes.html"&gt;My classes&lt;/a&gt;&lt;/</a:t>
            </a:r>
            <a:r>
              <a:rPr lang="en-US" sz="2400" dirty="0" err="1"/>
              <a:t>li</a:t>
            </a:r>
            <a:r>
              <a:rPr lang="en-US" sz="2400" dirty="0"/>
              <a:t>&gt;</a:t>
            </a:r>
          </a:p>
          <a:p>
            <a:pPr>
              <a:buNone/>
            </a:pPr>
            <a:r>
              <a:rPr lang="en-US" sz="2400" dirty="0"/>
              <a:t>&lt;</a:t>
            </a:r>
            <a:r>
              <a:rPr lang="en-US" sz="2400" dirty="0" err="1"/>
              <a:t>li</a:t>
            </a:r>
            <a:r>
              <a:rPr lang="en-US" sz="2400" dirty="0"/>
              <a:t>&gt;&lt;a </a:t>
            </a:r>
            <a:r>
              <a:rPr lang="en-US" sz="2400" dirty="0" err="1"/>
              <a:t>href</a:t>
            </a:r>
            <a:r>
              <a:rPr lang="en-US" sz="2400" dirty="0"/>
              <a:t> ="friends.html"&gt;My friends&lt;/a&gt;&lt;/</a:t>
            </a:r>
            <a:r>
              <a:rPr lang="en-US" sz="2400" dirty="0" err="1"/>
              <a:t>li</a:t>
            </a:r>
            <a:r>
              <a:rPr lang="en-US" sz="2400" dirty="0"/>
              <a:t>&gt;</a:t>
            </a:r>
          </a:p>
          <a:p>
            <a:pPr>
              <a:buNone/>
            </a:pPr>
            <a:r>
              <a:rPr lang="en-US" sz="2400" dirty="0"/>
              <a:t>&lt;/</a:t>
            </a:r>
            <a:r>
              <a:rPr lang="en-US" sz="2400" dirty="0" err="1"/>
              <a:t>ul</a:t>
            </a:r>
            <a:r>
              <a:rPr lang="en-US" sz="2400" dirty="0"/>
              <a:t>&gt;</a:t>
            </a:r>
          </a:p>
          <a:p>
            <a:pPr>
              <a:buNone/>
            </a:pPr>
            <a:r>
              <a:rPr lang="en-US" sz="2400" dirty="0"/>
              <a:t>&lt;/BODY&gt;</a:t>
            </a:r>
          </a:p>
          <a:p>
            <a:pPr>
              <a:buNone/>
            </a:pPr>
            <a:r>
              <a:rPr lang="en-US" sz="2400" dirty="0"/>
              <a:t>&lt;/HTML&gt;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533400"/>
          </a:xfrm>
        </p:spPr>
        <p:txBody>
          <a:bodyPr>
            <a:noAutofit/>
          </a:bodyPr>
          <a:lstStyle/>
          <a:p>
            <a:pPr algn="l"/>
            <a:r>
              <a:rPr lang="en-US" sz="3600" b="1" u="sng" dirty="0">
                <a:solidFill>
                  <a:srgbClr val="C00000"/>
                </a:solidFill>
              </a:rPr>
              <a:t>Server Connection Procedure:</a:t>
            </a:r>
          </a:p>
        </p:txBody>
      </p:sp>
      <p:sp>
        <p:nvSpPr>
          <p:cNvPr id="3" name="Content Placeholder 2"/>
          <p:cNvSpPr>
            <a:spLocks noGrp="1"/>
          </p:cNvSpPr>
          <p:nvPr>
            <p:ph idx="1"/>
          </p:nvPr>
        </p:nvSpPr>
        <p:spPr>
          <a:xfrm>
            <a:off x="76200" y="990600"/>
            <a:ext cx="9067800" cy="6248400"/>
          </a:xfrm>
        </p:spPr>
        <p:txBody>
          <a:bodyPr>
            <a:noAutofit/>
          </a:bodyPr>
          <a:lstStyle/>
          <a:p>
            <a:pPr algn="just">
              <a:buFont typeface="+mj-lt"/>
              <a:buAutoNum type="arabicPeriod"/>
            </a:pPr>
            <a:r>
              <a:rPr lang="en-US" sz="2600" dirty="0"/>
              <a:t>The browser generates and sends a request towards a server.</a:t>
            </a:r>
          </a:p>
          <a:p>
            <a:pPr algn="just">
              <a:buFont typeface="+mj-lt"/>
              <a:buAutoNum type="arabicPeriod"/>
            </a:pPr>
            <a:r>
              <a:rPr lang="en-US" sz="2600" dirty="0"/>
              <a:t>Server  first re-establishes the connection. </a:t>
            </a:r>
          </a:p>
          <a:p>
            <a:pPr algn="just">
              <a:buFont typeface="+mj-lt"/>
              <a:buAutoNum type="arabicPeriod"/>
            </a:pPr>
            <a:r>
              <a:rPr lang="en-US" sz="2600" dirty="0"/>
              <a:t>Consequently, the server receives the request either directly from the browser or from the proxy.</a:t>
            </a:r>
          </a:p>
          <a:p>
            <a:pPr algn="just">
              <a:buFont typeface="+mj-lt"/>
              <a:buAutoNum type="arabicPeriod"/>
            </a:pPr>
            <a:r>
              <a:rPr lang="en-US" sz="2600" dirty="0"/>
              <a:t>For persistent (continual) connections, the server is responsible for maintaining queues of requests and responses. </a:t>
            </a:r>
          </a:p>
          <a:p>
            <a:pPr algn="just">
              <a:buFont typeface="+mj-lt"/>
              <a:buAutoNum type="arabicPeriod"/>
            </a:pPr>
            <a:r>
              <a:rPr lang="en-US" sz="2600" dirty="0"/>
              <a:t>HTTP/1.1 specifies that within the context of a single continuously open connection, a series of requests may be transmitted. </a:t>
            </a:r>
          </a:p>
          <a:p>
            <a:pPr algn="just">
              <a:buFont typeface="+mj-lt"/>
              <a:buAutoNum type="arabicPeriod"/>
            </a:pPr>
            <a:r>
              <a:rPr lang="en-US" sz="2600" dirty="0"/>
              <a:t>It also specifies that responses to these requests must be sent back in the order of request arrival (FIFO).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533400"/>
          </a:xfrm>
        </p:spPr>
        <p:txBody>
          <a:bodyPr>
            <a:noAutofit/>
          </a:bodyPr>
          <a:lstStyle/>
          <a:p>
            <a:pPr algn="l"/>
            <a:r>
              <a:rPr lang="en-US" sz="3600" b="1" u="sng" dirty="0">
                <a:solidFill>
                  <a:srgbClr val="C00000"/>
                </a:solidFill>
              </a:rPr>
              <a:t>Server Connection Procedure:</a:t>
            </a:r>
          </a:p>
        </p:txBody>
      </p:sp>
      <p:sp>
        <p:nvSpPr>
          <p:cNvPr id="3" name="Content Placeholder 2"/>
          <p:cNvSpPr>
            <a:spLocks noGrp="1"/>
          </p:cNvSpPr>
          <p:nvPr>
            <p:ph idx="1"/>
          </p:nvPr>
        </p:nvSpPr>
        <p:spPr>
          <a:xfrm>
            <a:off x="76200" y="914400"/>
            <a:ext cx="9067800" cy="6248400"/>
          </a:xfrm>
        </p:spPr>
        <p:txBody>
          <a:bodyPr>
            <a:noAutofit/>
          </a:bodyPr>
          <a:lstStyle/>
          <a:p>
            <a:pPr marL="457200" indent="-457200" algn="just">
              <a:buFont typeface="+mj-lt"/>
              <a:buAutoNum type="arabicPeriod" startAt="7"/>
            </a:pPr>
            <a:r>
              <a:rPr lang="en-US" sz="2800" dirty="0"/>
              <a:t>One common solution is for the server to maintain both the input and output queues of requests. </a:t>
            </a:r>
          </a:p>
          <a:p>
            <a:pPr marL="457200" indent="-457200" algn="just">
              <a:buFont typeface="+mj-lt"/>
              <a:buAutoNum type="arabicPeriod" startAt="7"/>
            </a:pPr>
            <a:r>
              <a:rPr lang="en-US" sz="2800" dirty="0"/>
              <a:t>When a request is submitted for processing, it is removed from the input queue and inserted on the output queue. </a:t>
            </a:r>
          </a:p>
          <a:p>
            <a:pPr marL="457200" indent="-457200" algn="just">
              <a:buFont typeface="+mj-lt"/>
              <a:buAutoNum type="arabicPeriod" startAt="7"/>
            </a:pPr>
            <a:r>
              <a:rPr lang="en-US" sz="2800" dirty="0"/>
              <a:t>Once the processing is complete, the request is marked for release, but it remains on the output queue while at least one of its predecessors is still there. </a:t>
            </a:r>
          </a:p>
          <a:p>
            <a:pPr marL="457200" indent="-457200" algn="just">
              <a:buFont typeface="+mj-lt"/>
              <a:buAutoNum type="arabicPeriod" startAt="7"/>
            </a:pPr>
            <a:r>
              <a:rPr lang="en-US" sz="2800" dirty="0"/>
              <a:t>When all of its predecessors have gone from the output queue it is released, and its associated response is sent back to the browser either directly or through a proxy.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46038"/>
            <a:ext cx="8229600" cy="792162"/>
          </a:xfrm>
        </p:spPr>
        <p:txBody>
          <a:bodyPr>
            <a:normAutofit/>
          </a:bodyPr>
          <a:lstStyle/>
          <a:p>
            <a:pPr algn="l"/>
            <a:r>
              <a:rPr lang="en-US" b="1" u="sng" dirty="0">
                <a:solidFill>
                  <a:srgbClr val="C00000"/>
                </a:solidFill>
              </a:rPr>
              <a:t>Cookie Coordination </a:t>
            </a:r>
            <a:endParaRPr lang="en-US" u="sng" dirty="0">
              <a:solidFill>
                <a:srgbClr val="C00000"/>
              </a:solidFill>
            </a:endParaRPr>
          </a:p>
        </p:txBody>
      </p:sp>
      <p:sp>
        <p:nvSpPr>
          <p:cNvPr id="3" name="Content Placeholder 2"/>
          <p:cNvSpPr>
            <a:spLocks noGrp="1"/>
          </p:cNvSpPr>
          <p:nvPr>
            <p:ph idx="1"/>
          </p:nvPr>
        </p:nvSpPr>
        <p:spPr>
          <a:xfrm>
            <a:off x="76200" y="762000"/>
            <a:ext cx="8991600" cy="5943600"/>
          </a:xfrm>
        </p:spPr>
        <p:txBody>
          <a:bodyPr>
            <a:noAutofit/>
          </a:bodyPr>
          <a:lstStyle/>
          <a:p>
            <a:pPr algn="just"/>
            <a:r>
              <a:rPr lang="en-US" sz="2400" dirty="0"/>
              <a:t>Cookie is a small text file that a Web server automatically sends to client computer when you browse certain Web sites. </a:t>
            </a:r>
          </a:p>
          <a:p>
            <a:pPr algn="just"/>
            <a:r>
              <a:rPr lang="en-US" sz="2400" dirty="0">
                <a:hlinkClick r:id="rId2"/>
              </a:rPr>
              <a:t>Servers</a:t>
            </a:r>
            <a:r>
              <a:rPr lang="en-US" sz="2400" dirty="0"/>
              <a:t> can </a:t>
            </a:r>
            <a:r>
              <a:rPr lang="en-US" sz="2400" dirty="0">
                <a:hlinkClick r:id="rId3"/>
              </a:rPr>
              <a:t>access</a:t>
            </a:r>
            <a:r>
              <a:rPr lang="en-US" sz="2400" dirty="0"/>
              <a:t> them when you return to </a:t>
            </a:r>
            <a:r>
              <a:rPr lang="en-US" sz="2400" u="sng" dirty="0">
                <a:hlinkClick r:id="rId4"/>
              </a:rPr>
              <a:t>Web sites</a:t>
            </a:r>
            <a:r>
              <a:rPr lang="en-US" sz="2400" dirty="0"/>
              <a:t>  you've visited before. </a:t>
            </a:r>
          </a:p>
          <a:p>
            <a:pPr algn="just"/>
            <a:r>
              <a:rPr lang="en-US" sz="2400" dirty="0"/>
              <a:t>Cookies contain information that identifies each user, for example: </a:t>
            </a:r>
            <a:r>
              <a:rPr lang="en-US" sz="2400" u="sng" dirty="0">
                <a:hlinkClick r:id="rId5"/>
              </a:rPr>
              <a:t>login</a:t>
            </a:r>
            <a:r>
              <a:rPr lang="en-US" sz="2400" dirty="0"/>
              <a:t> or </a:t>
            </a:r>
            <a:r>
              <a:rPr lang="en-US" sz="2400" u="sng" dirty="0">
                <a:hlinkClick r:id="rId6"/>
              </a:rPr>
              <a:t>username</a:t>
            </a:r>
            <a:r>
              <a:rPr lang="en-US" sz="2400" dirty="0"/>
              <a:t>, </a:t>
            </a:r>
            <a:r>
              <a:rPr lang="en-US" sz="2400" u="sng" dirty="0">
                <a:hlinkClick r:id="rId7"/>
              </a:rPr>
              <a:t>passwords</a:t>
            </a:r>
            <a:r>
              <a:rPr lang="en-US" sz="2400" dirty="0"/>
              <a:t>, </a:t>
            </a:r>
            <a:r>
              <a:rPr lang="en-US" sz="2400" u="sng" dirty="0">
                <a:hlinkClick r:id="rId8"/>
              </a:rPr>
              <a:t>shopping cart</a:t>
            </a:r>
            <a:r>
              <a:rPr lang="en-US" sz="2400" dirty="0"/>
              <a:t>  information, preferences, and so on.</a:t>
            </a:r>
          </a:p>
          <a:p>
            <a:pPr algn="just"/>
            <a:r>
              <a:rPr lang="en-US" sz="2400" dirty="0"/>
              <a:t>Cookies are also used to rotate the banner ads that a site sends so that it doesn’t keep sending the same again and again.</a:t>
            </a:r>
          </a:p>
          <a:p>
            <a:pPr lvl="0" algn="just">
              <a:buNone/>
            </a:pPr>
            <a:r>
              <a:rPr lang="en-US" sz="2800" b="1" i="1" dirty="0">
                <a:solidFill>
                  <a:srgbClr val="0000FF"/>
                </a:solidFill>
              </a:rPr>
              <a:t>Cookie Types:</a:t>
            </a:r>
          </a:p>
          <a:p>
            <a:pPr lvl="0" algn="just"/>
            <a:r>
              <a:rPr lang="en-US" sz="2400" u="sng" dirty="0"/>
              <a:t>By time duration:</a:t>
            </a:r>
            <a:endParaRPr lang="en-US" sz="2400" dirty="0"/>
          </a:p>
          <a:p>
            <a:pPr lvl="1" algn="just"/>
            <a:r>
              <a:rPr lang="en-US" sz="2400" b="1" dirty="0">
                <a:solidFill>
                  <a:srgbClr val="C00000"/>
                </a:solidFill>
              </a:rPr>
              <a:t>Session Cookies</a:t>
            </a:r>
            <a:r>
              <a:rPr lang="en-US" sz="2400" dirty="0"/>
              <a:t> which exist until the web client ends the connection “session” .</a:t>
            </a:r>
          </a:p>
          <a:p>
            <a:pPr lvl="1" algn="just"/>
            <a:r>
              <a:rPr lang="en-US" sz="2400" b="1" dirty="0">
                <a:solidFill>
                  <a:srgbClr val="C00000"/>
                </a:solidFill>
              </a:rPr>
              <a:t>Persistent cookies</a:t>
            </a:r>
            <a:r>
              <a:rPr lang="en-US" sz="2400" dirty="0"/>
              <a:t> which remain on the client computer indefinitely.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46038"/>
            <a:ext cx="8229600" cy="792162"/>
          </a:xfrm>
        </p:spPr>
        <p:txBody>
          <a:bodyPr>
            <a:normAutofit/>
          </a:bodyPr>
          <a:lstStyle/>
          <a:p>
            <a:pPr algn="l"/>
            <a:r>
              <a:rPr lang="en-US" b="1" u="sng" dirty="0">
                <a:solidFill>
                  <a:srgbClr val="C00000"/>
                </a:solidFill>
              </a:rPr>
              <a:t>Cookie Coordination </a:t>
            </a:r>
            <a:endParaRPr lang="en-US" u="sng" dirty="0">
              <a:solidFill>
                <a:srgbClr val="C00000"/>
              </a:solidFill>
            </a:endParaRPr>
          </a:p>
        </p:txBody>
      </p:sp>
      <p:sp>
        <p:nvSpPr>
          <p:cNvPr id="3" name="Content Placeholder 2"/>
          <p:cNvSpPr>
            <a:spLocks noGrp="1"/>
          </p:cNvSpPr>
          <p:nvPr>
            <p:ph idx="1"/>
          </p:nvPr>
        </p:nvSpPr>
        <p:spPr>
          <a:xfrm>
            <a:off x="152400" y="914400"/>
            <a:ext cx="8991600" cy="5943600"/>
          </a:xfrm>
        </p:spPr>
        <p:txBody>
          <a:bodyPr>
            <a:noAutofit/>
          </a:bodyPr>
          <a:lstStyle/>
          <a:p>
            <a:pPr lvl="0" algn="just"/>
            <a:r>
              <a:rPr lang="en-US" sz="2400" b="1" u="sng" dirty="0"/>
              <a:t>By source:</a:t>
            </a:r>
            <a:endParaRPr lang="en-US" sz="2400" b="1" dirty="0"/>
          </a:p>
          <a:p>
            <a:pPr lvl="1" algn="just"/>
            <a:r>
              <a:rPr lang="en-US" sz="2400" dirty="0"/>
              <a:t>These cookies can be placed on the client computer by the web server site (</a:t>
            </a:r>
            <a:r>
              <a:rPr lang="en-US" sz="2400" b="1" i="1" dirty="0"/>
              <a:t>first party cookie</a:t>
            </a:r>
            <a:r>
              <a:rPr lang="en-US" sz="2400" dirty="0"/>
              <a:t>), or they can be placed by a different web site (</a:t>
            </a:r>
            <a:r>
              <a:rPr lang="en-US" sz="2400" b="1" i="1" dirty="0"/>
              <a:t>third party-cookie</a:t>
            </a:r>
            <a:r>
              <a:rPr lang="en-US" sz="2400" dirty="0"/>
              <a:t>). </a:t>
            </a:r>
          </a:p>
          <a:p>
            <a:pPr algn="just"/>
            <a:r>
              <a:rPr lang="en-US" sz="2400" dirty="0"/>
              <a:t>Servers transmit cookies to browsers via the "</a:t>
            </a:r>
            <a:r>
              <a:rPr lang="en-US" sz="2400" b="1" i="1" dirty="0"/>
              <a:t>Set-Cookie</a:t>
            </a:r>
            <a:r>
              <a:rPr lang="en-US" sz="2400" dirty="0"/>
              <a:t>" response header</a:t>
            </a:r>
          </a:p>
          <a:p>
            <a:pPr algn="just">
              <a:buNone/>
            </a:pPr>
            <a:r>
              <a:rPr lang="en-US" sz="2400" dirty="0"/>
              <a:t>	</a:t>
            </a:r>
            <a:r>
              <a:rPr lang="en-US" sz="2400" b="1" dirty="0">
                <a:solidFill>
                  <a:srgbClr val="0000FF"/>
                </a:solidFill>
              </a:rPr>
              <a:t>Set-Cookie: </a:t>
            </a:r>
          </a:p>
          <a:p>
            <a:pPr algn="just">
              <a:buNone/>
            </a:pPr>
            <a:r>
              <a:rPr lang="en-US" sz="2400" b="1" dirty="0">
                <a:solidFill>
                  <a:srgbClr val="0000FF"/>
                </a:solidFill>
              </a:rPr>
              <a:t>	&lt;name&gt;=&lt;value&gt;[; expires=&lt;date&gt;][; path=&lt;path&gt;]</a:t>
            </a:r>
          </a:p>
          <a:p>
            <a:pPr algn="just">
              <a:buNone/>
            </a:pPr>
            <a:r>
              <a:rPr lang="en-US" sz="2400" b="1" dirty="0">
                <a:solidFill>
                  <a:srgbClr val="0000FF"/>
                </a:solidFill>
              </a:rPr>
              <a:t>				[; domain=&lt;domain name&gt;][; secure]</a:t>
            </a:r>
          </a:p>
          <a:p>
            <a:pPr algn="just"/>
            <a:r>
              <a:rPr lang="en-US" sz="2400" dirty="0"/>
              <a:t>The cookie typically includes </a:t>
            </a:r>
            <a:r>
              <a:rPr lang="en-US" sz="2400" b="1" dirty="0">
                <a:solidFill>
                  <a:srgbClr val="C00000"/>
                </a:solidFill>
              </a:rPr>
              <a:t>a name, a unique ID number</a:t>
            </a:r>
            <a:r>
              <a:rPr lang="en-US" sz="2400" dirty="0"/>
              <a:t> for each visitor that is stored on the user’s computer, </a:t>
            </a:r>
            <a:r>
              <a:rPr lang="en-US" sz="2400" b="1" dirty="0">
                <a:solidFill>
                  <a:srgbClr val="C00000"/>
                </a:solidFill>
              </a:rPr>
              <a:t>the domain name</a:t>
            </a:r>
            <a:r>
              <a:rPr lang="en-US" sz="2400" dirty="0"/>
              <a:t>, </a:t>
            </a:r>
            <a:r>
              <a:rPr lang="en-US" sz="2400" b="1" dirty="0">
                <a:solidFill>
                  <a:srgbClr val="C00000"/>
                </a:solidFill>
              </a:rPr>
              <a:t>a path</a:t>
            </a:r>
            <a:r>
              <a:rPr lang="en-US" sz="2400" dirty="0"/>
              <a:t> (if a cookie comes from another page other than home page of the web site), </a:t>
            </a:r>
            <a:r>
              <a:rPr lang="en-US" sz="2400" b="1" dirty="0">
                <a:solidFill>
                  <a:srgbClr val="C00000"/>
                </a:solidFill>
              </a:rPr>
              <a:t>a security setting</a:t>
            </a:r>
            <a:r>
              <a:rPr lang="en-US" sz="2400" dirty="0"/>
              <a:t> that provides whether the cookie can only be transmitted  by a secure server, and </a:t>
            </a:r>
            <a:r>
              <a:rPr lang="en-US" sz="2400" b="1" dirty="0">
                <a:solidFill>
                  <a:srgbClr val="C00000"/>
                </a:solidFill>
              </a:rPr>
              <a:t>an expiration date</a:t>
            </a:r>
            <a:r>
              <a:rPr lang="en-US" sz="2400"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06362"/>
            <a:ext cx="8229600" cy="792162"/>
          </a:xfrm>
        </p:spPr>
        <p:txBody>
          <a:bodyPr>
            <a:normAutofit/>
          </a:bodyPr>
          <a:lstStyle/>
          <a:p>
            <a:pPr algn="l"/>
            <a:r>
              <a:rPr lang="en-US" b="1" u="sng" dirty="0">
                <a:solidFill>
                  <a:srgbClr val="C00000"/>
                </a:solidFill>
              </a:rPr>
              <a:t>Privacy and P3P: </a:t>
            </a:r>
            <a:endParaRPr lang="en-US" u="sng" dirty="0">
              <a:solidFill>
                <a:srgbClr val="C00000"/>
              </a:solidFill>
            </a:endParaRPr>
          </a:p>
        </p:txBody>
      </p:sp>
      <p:sp>
        <p:nvSpPr>
          <p:cNvPr id="3" name="Content Placeholder 2"/>
          <p:cNvSpPr>
            <a:spLocks noGrp="1"/>
          </p:cNvSpPr>
          <p:nvPr>
            <p:ph idx="1"/>
          </p:nvPr>
        </p:nvSpPr>
        <p:spPr>
          <a:xfrm>
            <a:off x="76200" y="609600"/>
            <a:ext cx="8991600" cy="5943600"/>
          </a:xfrm>
        </p:spPr>
        <p:txBody>
          <a:bodyPr>
            <a:noAutofit/>
          </a:bodyPr>
          <a:lstStyle/>
          <a:p>
            <a:pPr lvl="0" algn="just"/>
            <a:r>
              <a:rPr lang="en-US" sz="2400" dirty="0"/>
              <a:t>Due to the nature of Internet technology, it is possible for web sites to collect information about page viewing habits of visitors, product selection and demographic information (age, sex etc.) about the customers. </a:t>
            </a:r>
          </a:p>
          <a:p>
            <a:pPr lvl="0" algn="just"/>
            <a:r>
              <a:rPr lang="en-US" sz="2400" dirty="0"/>
              <a:t>This may threaten informational privacy rights of such visitors/customers. The companies have adopted two different approaches in this regard:</a:t>
            </a:r>
          </a:p>
          <a:p>
            <a:pPr lvl="1" algn="just"/>
            <a:r>
              <a:rPr lang="en-US" sz="2000" dirty="0"/>
              <a:t>opt-out approach (most commonly used)</a:t>
            </a:r>
          </a:p>
          <a:p>
            <a:pPr lvl="1" algn="just"/>
            <a:r>
              <a:rPr lang="en-US" sz="2000" dirty="0"/>
              <a:t>opt-in approach (Less commonly used)</a:t>
            </a:r>
          </a:p>
          <a:p>
            <a:r>
              <a:rPr lang="en-US" sz="2400" dirty="0"/>
              <a:t>Four guiding principles to form the basis of any privacy legislation</a:t>
            </a:r>
            <a:r>
              <a:rPr lang="en-US" sz="1100" dirty="0"/>
              <a:t>(rule)</a:t>
            </a:r>
            <a:r>
              <a:rPr lang="en-US" sz="2400" dirty="0"/>
              <a:t>. </a:t>
            </a:r>
          </a:p>
          <a:p>
            <a:pPr lvl="1"/>
            <a:r>
              <a:rPr lang="en-US" sz="2000" dirty="0"/>
              <a:t>Collected data may be used for improved customer service; </a:t>
            </a:r>
          </a:p>
          <a:p>
            <a:pPr lvl="1"/>
            <a:r>
              <a:rPr lang="en-US" sz="2000" dirty="0"/>
              <a:t>Sharing of personal data with outside firms/persons should not be allowed unless the customer consents to that; </a:t>
            </a:r>
          </a:p>
          <a:p>
            <a:pPr lvl="1"/>
            <a:r>
              <a:rPr lang="en-US" sz="2000" dirty="0"/>
              <a:t>Customers should have the right to receive information about what type of data has been collected from them and in what manner has it been used; </a:t>
            </a:r>
          </a:p>
          <a:p>
            <a:pPr lvl="1"/>
            <a:r>
              <a:rPr lang="en-US" sz="2000" dirty="0"/>
              <a:t>Customers should have the right to ask for the deletion of any of their data collected by the company.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46038"/>
            <a:ext cx="8229600" cy="792162"/>
          </a:xfrm>
        </p:spPr>
        <p:txBody>
          <a:bodyPr>
            <a:normAutofit/>
          </a:bodyPr>
          <a:lstStyle/>
          <a:p>
            <a:pPr algn="l"/>
            <a:r>
              <a:rPr lang="en-US" b="1" u="sng" dirty="0">
                <a:solidFill>
                  <a:srgbClr val="C00000"/>
                </a:solidFill>
              </a:rPr>
              <a:t>P3P and its Working: </a:t>
            </a:r>
            <a:endParaRPr lang="en-US" u="sng" dirty="0">
              <a:solidFill>
                <a:srgbClr val="C00000"/>
              </a:solidFill>
            </a:endParaRPr>
          </a:p>
        </p:txBody>
      </p:sp>
      <p:sp>
        <p:nvSpPr>
          <p:cNvPr id="3" name="Content Placeholder 2"/>
          <p:cNvSpPr>
            <a:spLocks noGrp="1"/>
          </p:cNvSpPr>
          <p:nvPr>
            <p:ph idx="1"/>
          </p:nvPr>
        </p:nvSpPr>
        <p:spPr>
          <a:xfrm>
            <a:off x="76200" y="838200"/>
            <a:ext cx="8991600" cy="5943600"/>
          </a:xfrm>
        </p:spPr>
        <p:txBody>
          <a:bodyPr>
            <a:noAutofit/>
          </a:bodyPr>
          <a:lstStyle/>
          <a:p>
            <a:pPr algn="just"/>
            <a:r>
              <a:rPr lang="en-US" sz="2400" dirty="0"/>
              <a:t>The </a:t>
            </a:r>
            <a:r>
              <a:rPr lang="en-US" sz="2400" b="1" dirty="0"/>
              <a:t>Platform for Privacy Preferences Project</a:t>
            </a:r>
            <a:r>
              <a:rPr lang="en-US" sz="2400" dirty="0"/>
              <a:t> (P3P) is a protocol allowing websites to declare their intended use of information they collect about web browser users. </a:t>
            </a:r>
          </a:p>
          <a:p>
            <a:pPr algn="just"/>
            <a:r>
              <a:rPr lang="en-US" sz="2400" dirty="0"/>
              <a:t>Designed to give users more control of their personal information when browsing the websites.</a:t>
            </a:r>
          </a:p>
          <a:p>
            <a:pPr algn="just"/>
            <a:r>
              <a:rPr lang="en-US" sz="2400" dirty="0"/>
              <a:t>P3P was developed by the </a:t>
            </a:r>
            <a:r>
              <a:rPr lang="en-US" sz="2400" b="1" dirty="0"/>
              <a:t>World Wide Web Consortium </a:t>
            </a:r>
            <a:r>
              <a:rPr lang="en-US" sz="2400" dirty="0"/>
              <a:t>(W3C).</a:t>
            </a:r>
          </a:p>
          <a:p>
            <a:pPr algn="just"/>
            <a:r>
              <a:rPr lang="en-US" sz="2400" dirty="0"/>
              <a:t>Microsoft Internet Explorer is the only major browser to support P3P. </a:t>
            </a:r>
          </a:p>
          <a:p>
            <a:pPr algn="just"/>
            <a:r>
              <a:rPr lang="en-US" sz="2400" dirty="0"/>
              <a:t>Companies use this information to provide specifically targeted advertisements. </a:t>
            </a:r>
          </a:p>
          <a:p>
            <a:pPr algn="just"/>
            <a:r>
              <a:rPr lang="en-US" sz="2400" dirty="0"/>
              <a:t>According to the W3C the main goal of P3P is to increase user trust and confidence in the Web through technical empowerment.</a:t>
            </a:r>
          </a:p>
          <a:p>
            <a:pPr algn="just"/>
            <a:r>
              <a:rPr lang="en-US" sz="2400" dirty="0"/>
              <a:t>P3P manages information through privacy policies. </a:t>
            </a:r>
          </a:p>
          <a:p>
            <a:pPr algn="just"/>
            <a:r>
              <a:rPr lang="en-US" sz="2400" dirty="0"/>
              <a:t>When a website uses P3P, they set up a set of policies.</a:t>
            </a:r>
          </a:p>
          <a:p>
            <a:pPr algn="just"/>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46038"/>
            <a:ext cx="8229600" cy="792162"/>
          </a:xfrm>
        </p:spPr>
        <p:txBody>
          <a:bodyPr>
            <a:normAutofit/>
          </a:bodyPr>
          <a:lstStyle/>
          <a:p>
            <a:pPr algn="l"/>
            <a:r>
              <a:rPr lang="en-US" b="1" u="sng" dirty="0">
                <a:solidFill>
                  <a:srgbClr val="C00000"/>
                </a:solidFill>
              </a:rPr>
              <a:t>P3P and its Working:</a:t>
            </a:r>
            <a:endParaRPr lang="en-US" u="sng" dirty="0">
              <a:solidFill>
                <a:srgbClr val="C00000"/>
              </a:solidFill>
            </a:endParaRPr>
          </a:p>
        </p:txBody>
      </p:sp>
      <p:sp>
        <p:nvSpPr>
          <p:cNvPr id="3" name="Content Placeholder 2"/>
          <p:cNvSpPr>
            <a:spLocks noGrp="1"/>
          </p:cNvSpPr>
          <p:nvPr>
            <p:ph idx="1"/>
          </p:nvPr>
        </p:nvSpPr>
        <p:spPr>
          <a:xfrm>
            <a:off x="76200" y="838200"/>
            <a:ext cx="8991600" cy="5943600"/>
          </a:xfrm>
        </p:spPr>
        <p:txBody>
          <a:bodyPr>
            <a:noAutofit/>
          </a:bodyPr>
          <a:lstStyle/>
          <a:p>
            <a:pPr algn="just"/>
            <a:r>
              <a:rPr lang="en-US" sz="2400" dirty="0"/>
              <a:t>When a user decides to use P3P, they set their own set of policies and state what personal information they will allow to be seen by the sites that they visit.</a:t>
            </a:r>
          </a:p>
          <a:p>
            <a:pPr algn="just"/>
            <a:r>
              <a:rPr lang="en-US" sz="2400" dirty="0"/>
              <a:t>Then when a user visits a site, P3P will compare what personal information the user is willing to release, and what information the server wants to get – if the two do not match, P3P will inform the user and ask if he/she is willing to proceed to the site, and risk giving up more personal information.</a:t>
            </a:r>
          </a:p>
          <a:p>
            <a:r>
              <a:rPr lang="en-US" sz="2400" dirty="0"/>
              <a:t>The privacy policy can be retrieved as an XML file or can be included, in compact form, in the HTTP header. </a:t>
            </a:r>
          </a:p>
          <a:p>
            <a:r>
              <a:rPr lang="en-US" sz="2400" dirty="0"/>
              <a:t>The location of the XML policy file that applies to a given document can be:</a:t>
            </a:r>
          </a:p>
          <a:p>
            <a:r>
              <a:rPr lang="en-US" sz="2400" dirty="0"/>
              <a:t> 	specified in the HTTP header of the document</a:t>
            </a:r>
          </a:p>
          <a:p>
            <a:r>
              <a:rPr lang="en-US" sz="2400" dirty="0"/>
              <a:t> 	specified in the HTML head of the document</a:t>
            </a:r>
          </a:p>
          <a:p>
            <a:pPr algn="just"/>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46038"/>
            <a:ext cx="8229600" cy="792162"/>
          </a:xfrm>
        </p:spPr>
        <p:txBody>
          <a:bodyPr>
            <a:normAutofit/>
          </a:bodyPr>
          <a:lstStyle/>
          <a:p>
            <a:pPr algn="l"/>
            <a:r>
              <a:rPr lang="en-US" b="1" u="sng" dirty="0">
                <a:solidFill>
                  <a:srgbClr val="C00000"/>
                </a:solidFill>
              </a:rPr>
              <a:t>P3P Example Code:</a:t>
            </a:r>
            <a:endParaRPr lang="en-US" u="sng" dirty="0">
              <a:solidFill>
                <a:srgbClr val="C00000"/>
              </a:solidFill>
            </a:endParaRPr>
          </a:p>
        </p:txBody>
      </p:sp>
      <p:sp>
        <p:nvSpPr>
          <p:cNvPr id="3" name="Content Placeholder 2"/>
          <p:cNvSpPr>
            <a:spLocks noGrp="1"/>
          </p:cNvSpPr>
          <p:nvPr>
            <p:ph idx="1"/>
          </p:nvPr>
        </p:nvSpPr>
        <p:spPr>
          <a:xfrm>
            <a:off x="76200" y="838200"/>
            <a:ext cx="8991600" cy="5943600"/>
          </a:xfrm>
        </p:spPr>
        <p:txBody>
          <a:bodyPr>
            <a:noAutofit/>
          </a:bodyPr>
          <a:lstStyle/>
          <a:p>
            <a:pPr>
              <a:buNone/>
            </a:pPr>
            <a:r>
              <a:rPr lang="en-US" sz="2400" dirty="0"/>
              <a:t>For example, P3P allows to specify a max-age for caching.  A dummy /w3c/p3p.xml file could use this feature:</a:t>
            </a:r>
          </a:p>
          <a:p>
            <a:pPr>
              <a:buNone/>
            </a:pPr>
            <a:r>
              <a:rPr lang="en-US" sz="2400" dirty="0"/>
              <a:t> </a:t>
            </a:r>
          </a:p>
          <a:p>
            <a:pPr>
              <a:buNone/>
            </a:pPr>
            <a:r>
              <a:rPr lang="en-US" sz="2400" dirty="0"/>
              <a:t>	&lt;META </a:t>
            </a:r>
            <a:r>
              <a:rPr lang="en-US" sz="2400" dirty="0" err="1"/>
              <a:t>xmlns</a:t>
            </a:r>
            <a:r>
              <a:rPr lang="en-US" sz="2400" dirty="0"/>
              <a:t>="http://www.w3.org/2002/01/P3Pv1"&gt;</a:t>
            </a:r>
          </a:p>
          <a:p>
            <a:pPr>
              <a:buNone/>
            </a:pPr>
            <a:r>
              <a:rPr lang="en-US" sz="2400" dirty="0"/>
              <a:t>  		&lt;POLICY-REFERENCES&gt;</a:t>
            </a:r>
          </a:p>
          <a:p>
            <a:pPr>
              <a:buNone/>
            </a:pPr>
            <a:r>
              <a:rPr lang="en-US" sz="2400" dirty="0"/>
              <a:t>    		&lt;EXPIRY max-age="10000000"/&gt;&lt;!-- about four months --&gt;</a:t>
            </a:r>
          </a:p>
          <a:p>
            <a:pPr>
              <a:buNone/>
            </a:pPr>
            <a:r>
              <a:rPr lang="en-US" sz="2400" dirty="0"/>
              <a:t>  		&lt;/POLICY-REFERENCES&gt;</a:t>
            </a:r>
          </a:p>
          <a:p>
            <a:pPr>
              <a:buNone/>
            </a:pPr>
            <a:r>
              <a:rPr lang="en-US" sz="2400" dirty="0"/>
              <a:t>	&lt;/META&gt;</a:t>
            </a:r>
          </a:p>
          <a:p>
            <a:pPr algn="just"/>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464</TotalTime>
  <Words>1378</Words>
  <Application>Microsoft Office PowerPoint</Application>
  <PresentationFormat>On-screen Show (4:3)</PresentationFormat>
  <Paragraphs>137</Paragraphs>
  <Slides>15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Arial Black</vt:lpstr>
      <vt:lpstr>Calibri</vt:lpstr>
      <vt:lpstr>Wingdings</vt:lpstr>
      <vt:lpstr>Office Theme</vt:lpstr>
      <vt:lpstr>Web Server Operations </vt:lpstr>
      <vt:lpstr>PowerPoint Presentation</vt:lpstr>
      <vt:lpstr>PowerPoint Presentation</vt:lpstr>
      <vt:lpstr>HTTP Request processing</vt:lpstr>
      <vt:lpstr>HTTP Request processing (An Example Explanation)</vt:lpstr>
      <vt:lpstr>Simple HTML page</vt:lpstr>
      <vt:lpstr>Server Response to an request</vt:lpstr>
      <vt:lpstr>Server Connection Procedure:</vt:lpstr>
      <vt:lpstr>Server Connection Procedure:</vt:lpstr>
      <vt:lpstr>Cookie Coordination </vt:lpstr>
      <vt:lpstr>Cookie Coordination </vt:lpstr>
      <vt:lpstr>Privacy and P3P: </vt:lpstr>
      <vt:lpstr>P3P and its Working: </vt:lpstr>
      <vt:lpstr>P3P and its Working:</vt:lpstr>
      <vt:lpstr>P3P Example Code: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Administrator</dc:creator>
  <cp:lastModifiedBy>Microsoft account</cp:lastModifiedBy>
  <cp:revision>111</cp:revision>
  <dcterms:created xsi:type="dcterms:W3CDTF">2007-05-20T19:49:17Z</dcterms:created>
  <dcterms:modified xsi:type="dcterms:W3CDTF">2020-04-02T10:39:07Z</dcterms:modified>
</cp:coreProperties>
</file>
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61" d="100"/>
          <a:sy n="61" d="100"/>
        </p:scale>
        <p:origin x="72" y="18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DI-322 </a:t>
            </a:r>
            <a:r>
              <a:rPr lang="en-US" b="1" dirty="0"/>
              <a:t>Web Technologies</a:t>
            </a:r>
            <a:r>
              <a:rPr lang="en-US" dirty="0"/>
              <a:t/>
            </a:r>
            <a:br>
              <a:rPr lang="en-US" dirty="0"/>
            </a:br>
            <a:r>
              <a:rPr lang="en-US" dirty="0"/>
              <a:t/>
            </a:r>
            <a:br>
              <a:rPr lang="en-US" dirty="0"/>
            </a:br>
            <a:endParaRPr lang="en-US" dirty="0"/>
          </a:p>
        </p:txBody>
      </p:sp>
      <p:sp>
        <p:nvSpPr>
          <p:cNvPr id="3" name="Subtitle 2"/>
          <p:cNvSpPr>
            <a:spLocks noGrp="1"/>
          </p:cNvSpPr>
          <p:nvPr>
            <p:ph type="subTitle" idx="1"/>
          </p:nvPr>
        </p:nvSpPr>
        <p:spPr/>
        <p:txBody>
          <a:bodyPr/>
          <a:lstStyle/>
          <a:p>
            <a:pPr fontAlgn="base"/>
            <a:r>
              <a:rPr lang="en-US" dirty="0" smtClean="0"/>
              <a:t>Web Services:</a:t>
            </a:r>
            <a:endParaRPr lang="en-US" dirty="0"/>
          </a:p>
        </p:txBody>
      </p:sp>
    </p:spTree>
    <p:extLst>
      <p:ext uri="{BB962C8B-B14F-4D97-AF65-F5344CB8AC3E}">
        <p14:creationId xmlns:p14="http://schemas.microsoft.com/office/powerpoint/2010/main" val="297761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endParaRPr lang="en-US" dirty="0"/>
          </a:p>
        </p:txBody>
      </p:sp>
      <p:sp>
        <p:nvSpPr>
          <p:cNvPr id="3" name="Content Placeholder 2"/>
          <p:cNvSpPr>
            <a:spLocks noGrp="1"/>
          </p:cNvSpPr>
          <p:nvPr>
            <p:ph idx="1"/>
          </p:nvPr>
        </p:nvSpPr>
        <p:spPr>
          <a:xfrm>
            <a:off x="1497724" y="640445"/>
            <a:ext cx="10815145" cy="4590392"/>
          </a:xfrm>
        </p:spPr>
        <p:txBody>
          <a:bodyPr/>
          <a:lstStyle/>
          <a:p>
            <a:pPr marL="0" indent="0">
              <a:buNone/>
            </a:pPr>
            <a:r>
              <a:rPr lang="en-US" b="1" dirty="0"/>
              <a:t>Basic Operation</a:t>
            </a:r>
            <a:r>
              <a:rPr lang="en-US" dirty="0"/>
              <a:t>:</a:t>
            </a:r>
          </a:p>
          <a:p>
            <a:r>
              <a:rPr lang="en-US" dirty="0" smtClean="0"/>
              <a:t>Definition: </a:t>
            </a:r>
            <a:r>
              <a:rPr lang="en-US" dirty="0"/>
              <a:t>Web services are software systems designed to support </a:t>
            </a:r>
            <a:endParaRPr lang="en-US" dirty="0" smtClean="0"/>
          </a:p>
          <a:p>
            <a:pPr lvl="1"/>
            <a:r>
              <a:rPr lang="en-US" dirty="0" smtClean="0"/>
              <a:t>interoperable </a:t>
            </a:r>
            <a:r>
              <a:rPr lang="en-US" dirty="0"/>
              <a:t>machine-to-machine interaction over a network. </a:t>
            </a:r>
            <a:endParaRPr lang="en-US" dirty="0" smtClean="0"/>
          </a:p>
          <a:p>
            <a:pPr lvl="1"/>
            <a:r>
              <a:rPr lang="en-US" dirty="0" smtClean="0"/>
              <a:t>They </a:t>
            </a:r>
            <a:r>
              <a:rPr lang="en-US" dirty="0"/>
              <a:t>enable communication between various applications or systems regardless of the programming languages or platforms they are built on</a:t>
            </a:r>
            <a:r>
              <a:rPr lang="en-US" dirty="0" smtClean="0"/>
              <a:t>.</a:t>
            </a:r>
          </a:p>
          <a:p>
            <a:pPr lvl="1"/>
            <a:r>
              <a:rPr lang="en-US" dirty="0"/>
              <a:t>They typically use standard protocols like HTTP, XML, and JSON for communication and data representation</a:t>
            </a:r>
            <a:r>
              <a:rPr lang="en-US" dirty="0" smtClean="0"/>
              <a:t>.</a:t>
            </a:r>
          </a:p>
          <a:p>
            <a:pPr lvl="1"/>
            <a:r>
              <a:rPr lang="en-US" dirty="0" smtClean="0"/>
              <a:t>Example: </a:t>
            </a:r>
            <a:r>
              <a:rPr lang="en-US" dirty="0"/>
              <a:t>An example of a web service is a weather service that provides weather forecasts to various applications or websites.</a:t>
            </a:r>
          </a:p>
          <a:p>
            <a:pPr marL="457200" lvl="1" indent="0">
              <a:buNone/>
            </a:pPr>
            <a:endParaRPr lang="en-US" dirty="0"/>
          </a:p>
        </p:txBody>
      </p:sp>
      <p:pic>
        <p:nvPicPr>
          <p:cNvPr id="5" name="Picture 4"/>
          <p:cNvPicPr>
            <a:picLocks noChangeAspect="1"/>
          </p:cNvPicPr>
          <p:nvPr/>
        </p:nvPicPr>
        <p:blipFill>
          <a:blip r:embed="rId2"/>
          <a:stretch>
            <a:fillRect/>
          </a:stretch>
        </p:blipFill>
        <p:spPr>
          <a:xfrm>
            <a:off x="535370" y="4205764"/>
            <a:ext cx="4709793" cy="2050145"/>
          </a:xfrm>
          <a:prstGeom prst="rect">
            <a:avLst/>
          </a:prstGeom>
        </p:spPr>
      </p:pic>
      <p:pic>
        <p:nvPicPr>
          <p:cNvPr id="6" name="Picture 5"/>
          <p:cNvPicPr>
            <a:picLocks noChangeAspect="1"/>
          </p:cNvPicPr>
          <p:nvPr/>
        </p:nvPicPr>
        <p:blipFill>
          <a:blip r:embed="rId3"/>
          <a:stretch>
            <a:fillRect/>
          </a:stretch>
        </p:blipFill>
        <p:spPr>
          <a:xfrm>
            <a:off x="6087072" y="3293005"/>
            <a:ext cx="6005348" cy="3391575"/>
          </a:xfrm>
          <a:prstGeom prst="rect">
            <a:avLst/>
          </a:prstGeom>
        </p:spPr>
      </p:pic>
    </p:spTree>
    <p:extLst>
      <p:ext uri="{BB962C8B-B14F-4D97-AF65-F5344CB8AC3E}">
        <p14:creationId xmlns:p14="http://schemas.microsoft.com/office/powerpoint/2010/main" val="245308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b="1" dirty="0" smtClean="0"/>
              <a:t>:</a:t>
            </a:r>
            <a:r>
              <a:rPr lang="en-US" dirty="0"/>
              <a:t> SOAP</a:t>
            </a:r>
            <a:endParaRPr lang="en-US" dirty="0"/>
          </a:p>
        </p:txBody>
      </p:sp>
      <p:sp>
        <p:nvSpPr>
          <p:cNvPr id="3" name="Content Placeholder 2"/>
          <p:cNvSpPr>
            <a:spLocks noGrp="1"/>
          </p:cNvSpPr>
          <p:nvPr>
            <p:ph idx="1"/>
          </p:nvPr>
        </p:nvSpPr>
        <p:spPr>
          <a:xfrm>
            <a:off x="1497724" y="640445"/>
            <a:ext cx="10815145" cy="5981072"/>
          </a:xfrm>
        </p:spPr>
        <p:txBody>
          <a:bodyPr/>
          <a:lstStyle/>
          <a:p>
            <a:r>
              <a:rPr lang="en-US" dirty="0" smtClean="0"/>
              <a:t>SOAP </a:t>
            </a:r>
            <a:r>
              <a:rPr lang="en-US" dirty="0"/>
              <a:t>stands for Simple Object Access Protocol. </a:t>
            </a:r>
            <a:endParaRPr lang="en-US" dirty="0" smtClean="0"/>
          </a:p>
          <a:p>
            <a:r>
              <a:rPr lang="en-US" dirty="0" smtClean="0"/>
              <a:t>It </a:t>
            </a:r>
            <a:r>
              <a:rPr lang="en-US" dirty="0"/>
              <a:t>is a XML-based protocol for accessing web services.</a:t>
            </a:r>
          </a:p>
          <a:p>
            <a:r>
              <a:rPr lang="en-US" dirty="0"/>
              <a:t>SOAP is a W3C recommendation for communication between two applications.</a:t>
            </a:r>
          </a:p>
          <a:p>
            <a:r>
              <a:rPr lang="en-US" dirty="0"/>
              <a:t>SOAP is XML based protocol. It is platform independent and language independent. By using SOAP, you will be able to interact with other programming language applications</a:t>
            </a:r>
            <a:r>
              <a:rPr lang="en-US" dirty="0" smtClean="0"/>
              <a:t>.</a:t>
            </a:r>
          </a:p>
          <a:p>
            <a:pPr marL="0" indent="0">
              <a:buNone/>
            </a:pPr>
            <a:r>
              <a:rPr lang="en-US" b="1" dirty="0"/>
              <a:t>Advantages of Soap Web Services</a:t>
            </a:r>
          </a:p>
          <a:p>
            <a:pPr lvl="1"/>
            <a:r>
              <a:rPr lang="en-US" b="1" dirty="0"/>
              <a:t>WS Security</a:t>
            </a:r>
            <a:r>
              <a:rPr lang="en-US" dirty="0"/>
              <a:t>: SOAP defines its own security known as WS Security.</a:t>
            </a:r>
          </a:p>
          <a:p>
            <a:pPr lvl="1"/>
            <a:r>
              <a:rPr lang="en-US" b="1" dirty="0"/>
              <a:t>Language and Platform independent</a:t>
            </a:r>
            <a:r>
              <a:rPr lang="en-US" dirty="0"/>
              <a:t>: SOAP web services can be written in any programming language and executed in any platform</a:t>
            </a:r>
            <a:r>
              <a:rPr lang="en-US" dirty="0" smtClean="0"/>
              <a:t>.</a:t>
            </a:r>
          </a:p>
          <a:p>
            <a:pPr marL="0" indent="0">
              <a:buNone/>
            </a:pPr>
            <a:r>
              <a:rPr lang="en-US" b="1" dirty="0"/>
              <a:t>Disadvantages of Soap Web Services</a:t>
            </a:r>
          </a:p>
          <a:p>
            <a:pPr lvl="1"/>
            <a:r>
              <a:rPr lang="en-US" b="1" dirty="0"/>
              <a:t>Slow</a:t>
            </a:r>
            <a:r>
              <a:rPr lang="en-US" dirty="0"/>
              <a:t>: SOAP uses XML format that must be parsed to be read. It defines many standards that must be followed while developing the SOAP applications. So it is slow and consumes more bandwidth and resource</a:t>
            </a:r>
            <a:r>
              <a:rPr lang="en-US" dirty="0" smtClean="0"/>
              <a:t>.</a:t>
            </a:r>
            <a:endParaRPr lang="en-US" dirty="0"/>
          </a:p>
          <a:p>
            <a:pPr marL="0" indent="0">
              <a:buNone/>
            </a:pPr>
            <a:endParaRPr lang="en-US" dirty="0"/>
          </a:p>
          <a:p>
            <a:pPr marL="457200" lvl="1" indent="0">
              <a:buNone/>
            </a:pPr>
            <a:endParaRPr lang="en-US" dirty="0"/>
          </a:p>
        </p:txBody>
      </p:sp>
      <p:pic>
        <p:nvPicPr>
          <p:cNvPr id="4" name="Picture 3"/>
          <p:cNvPicPr>
            <a:picLocks noChangeAspect="1"/>
          </p:cNvPicPr>
          <p:nvPr/>
        </p:nvPicPr>
        <p:blipFill>
          <a:blip r:embed="rId2"/>
          <a:stretch>
            <a:fillRect/>
          </a:stretch>
        </p:blipFill>
        <p:spPr>
          <a:xfrm>
            <a:off x="3958556" y="4822769"/>
            <a:ext cx="5153032" cy="2035231"/>
          </a:xfrm>
          <a:prstGeom prst="rect">
            <a:avLst/>
          </a:prstGeom>
        </p:spPr>
      </p:pic>
    </p:spTree>
    <p:extLst>
      <p:ext uri="{BB962C8B-B14F-4D97-AF65-F5344CB8AC3E}">
        <p14:creationId xmlns:p14="http://schemas.microsoft.com/office/powerpoint/2010/main" val="169444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b="1" dirty="0" smtClean="0"/>
              <a:t>:</a:t>
            </a:r>
            <a:r>
              <a:rPr lang="en-US" dirty="0"/>
              <a:t> </a:t>
            </a:r>
            <a:r>
              <a:rPr lang="en-US" dirty="0"/>
              <a:t>RESTful</a:t>
            </a:r>
          </a:p>
        </p:txBody>
      </p:sp>
      <p:sp>
        <p:nvSpPr>
          <p:cNvPr id="3" name="Content Placeholder 2"/>
          <p:cNvSpPr>
            <a:spLocks noGrp="1"/>
          </p:cNvSpPr>
          <p:nvPr>
            <p:ph idx="1"/>
          </p:nvPr>
        </p:nvSpPr>
        <p:spPr>
          <a:xfrm>
            <a:off x="1497724" y="640445"/>
            <a:ext cx="10815145" cy="5981072"/>
          </a:xfrm>
        </p:spPr>
        <p:txBody>
          <a:bodyPr/>
          <a:lstStyle/>
          <a:p>
            <a:r>
              <a:rPr lang="en-US" dirty="0"/>
              <a:t>REST stands for </a:t>
            </a:r>
            <a:r>
              <a:rPr lang="en-US" dirty="0" err="1"/>
              <a:t>REpresentational</a:t>
            </a:r>
            <a:r>
              <a:rPr lang="en-US" dirty="0"/>
              <a:t> State Transfer.</a:t>
            </a:r>
          </a:p>
          <a:p>
            <a:r>
              <a:rPr lang="en-US" dirty="0"/>
              <a:t>REST is an architectural style not a protocol</a:t>
            </a:r>
          </a:p>
          <a:p>
            <a:pPr marL="0" indent="0">
              <a:buNone/>
            </a:pPr>
            <a:r>
              <a:rPr lang="en-US" b="1" dirty="0" smtClean="0"/>
              <a:t>Advantages </a:t>
            </a:r>
            <a:r>
              <a:rPr lang="en-US" b="1" dirty="0"/>
              <a:t>of Soap Web Services</a:t>
            </a:r>
          </a:p>
          <a:p>
            <a:pPr lvl="1"/>
            <a:r>
              <a:rPr lang="en-US" b="1" dirty="0"/>
              <a:t>Fast</a:t>
            </a:r>
            <a:r>
              <a:rPr lang="en-US" dirty="0"/>
              <a:t>: RESTful Web Services are fast because there is no strict specification like SOAP. It consumes less bandwidth and resource. </a:t>
            </a:r>
            <a:endParaRPr lang="en-US" dirty="0" smtClean="0"/>
          </a:p>
          <a:p>
            <a:pPr lvl="1"/>
            <a:r>
              <a:rPr lang="en-US" b="1" dirty="0" smtClean="0"/>
              <a:t>Language </a:t>
            </a:r>
            <a:r>
              <a:rPr lang="en-US" b="1" dirty="0"/>
              <a:t>and Platform independent</a:t>
            </a:r>
            <a:r>
              <a:rPr lang="en-US" dirty="0"/>
              <a:t>: RESTful </a:t>
            </a:r>
            <a:r>
              <a:rPr lang="en-US" dirty="0" smtClean="0"/>
              <a:t> </a:t>
            </a:r>
            <a:r>
              <a:rPr lang="en-US" dirty="0"/>
              <a:t>web services can be written in any programming language and executed in any platform</a:t>
            </a:r>
            <a:r>
              <a:rPr lang="en-US" dirty="0" smtClean="0"/>
              <a:t>.</a:t>
            </a:r>
          </a:p>
          <a:p>
            <a:pPr lvl="1"/>
            <a:r>
              <a:rPr lang="en-US" b="1" dirty="0"/>
              <a:t>Permits different data format</a:t>
            </a:r>
            <a:r>
              <a:rPr lang="en-US" dirty="0"/>
              <a:t>: RESTful web service permits different data format such as Plain Text, HTML, XML and JSON</a:t>
            </a:r>
            <a:endParaRPr lang="en-US" dirty="0" smtClean="0"/>
          </a:p>
          <a:p>
            <a:pPr marL="0" indent="0">
              <a:buNone/>
            </a:pPr>
            <a:endParaRPr lang="en-US" dirty="0"/>
          </a:p>
          <a:p>
            <a:pPr marL="457200" lvl="1" indent="0">
              <a:buNone/>
            </a:pPr>
            <a:endParaRPr lang="en-US" dirty="0"/>
          </a:p>
        </p:txBody>
      </p:sp>
      <p:pic>
        <p:nvPicPr>
          <p:cNvPr id="5" name="Picture 4"/>
          <p:cNvPicPr>
            <a:picLocks noChangeAspect="1"/>
          </p:cNvPicPr>
          <p:nvPr/>
        </p:nvPicPr>
        <p:blipFill>
          <a:blip r:embed="rId2"/>
          <a:stretch>
            <a:fillRect/>
          </a:stretch>
        </p:blipFill>
        <p:spPr>
          <a:xfrm>
            <a:off x="472655" y="3812278"/>
            <a:ext cx="5614417" cy="2659460"/>
          </a:xfrm>
          <a:prstGeom prst="rect">
            <a:avLst/>
          </a:prstGeom>
        </p:spPr>
      </p:pic>
      <p:pic>
        <p:nvPicPr>
          <p:cNvPr id="7" name="Picture 6"/>
          <p:cNvPicPr>
            <a:picLocks noChangeAspect="1"/>
          </p:cNvPicPr>
          <p:nvPr/>
        </p:nvPicPr>
        <p:blipFill>
          <a:blip r:embed="rId3"/>
          <a:stretch>
            <a:fillRect/>
          </a:stretch>
        </p:blipFill>
        <p:spPr>
          <a:xfrm>
            <a:off x="6463862" y="3431121"/>
            <a:ext cx="5517931" cy="3421774"/>
          </a:xfrm>
          <a:prstGeom prst="rect">
            <a:avLst/>
          </a:prstGeom>
        </p:spPr>
      </p:pic>
    </p:spTree>
    <p:extLst>
      <p:ext uri="{BB962C8B-B14F-4D97-AF65-F5344CB8AC3E}">
        <p14:creationId xmlns:p14="http://schemas.microsoft.com/office/powerpoint/2010/main" val="335399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b="1" dirty="0" smtClean="0"/>
              <a:t>:</a:t>
            </a:r>
            <a:r>
              <a:rPr lang="en-US" dirty="0"/>
              <a:t> </a:t>
            </a:r>
            <a:r>
              <a:rPr lang="en-US" dirty="0" smtClean="0"/>
              <a:t>SOAP vs RESTful</a:t>
            </a:r>
            <a:endParaRPr lang="en-US" dirty="0"/>
          </a:p>
        </p:txBody>
      </p:sp>
      <p:sp>
        <p:nvSpPr>
          <p:cNvPr id="3" name="Content Placeholder 2"/>
          <p:cNvSpPr>
            <a:spLocks noGrp="1"/>
          </p:cNvSpPr>
          <p:nvPr>
            <p:ph idx="1"/>
          </p:nvPr>
        </p:nvSpPr>
        <p:spPr>
          <a:xfrm>
            <a:off x="1497724" y="640445"/>
            <a:ext cx="10815145" cy="5981072"/>
          </a:xfrm>
        </p:spPr>
        <p:txBody>
          <a:bodyPr/>
          <a:lstStyle/>
          <a:p>
            <a:pPr marL="0" indent="0">
              <a:buNone/>
            </a:pPr>
            <a:endParaRPr lang="en-US" dirty="0"/>
          </a:p>
          <a:p>
            <a:pPr marL="457200" lvl="1" indent="0">
              <a:buNone/>
            </a:pPr>
            <a:endParaRPr lang="en-US" dirty="0"/>
          </a:p>
        </p:txBody>
      </p:sp>
      <p:pic>
        <p:nvPicPr>
          <p:cNvPr id="8" name="Picture 7"/>
          <p:cNvPicPr>
            <a:picLocks noChangeAspect="1"/>
          </p:cNvPicPr>
          <p:nvPr/>
        </p:nvPicPr>
        <p:blipFill>
          <a:blip r:embed="rId2"/>
          <a:stretch>
            <a:fillRect/>
          </a:stretch>
        </p:blipFill>
        <p:spPr>
          <a:xfrm>
            <a:off x="1749571" y="835765"/>
            <a:ext cx="10083435" cy="5785752"/>
          </a:xfrm>
          <a:prstGeom prst="rect">
            <a:avLst/>
          </a:prstGeom>
        </p:spPr>
      </p:pic>
    </p:spTree>
    <p:extLst>
      <p:ext uri="{BB962C8B-B14F-4D97-AF65-F5344CB8AC3E}">
        <p14:creationId xmlns:p14="http://schemas.microsoft.com/office/powerpoint/2010/main" val="1291299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b="1" dirty="0" smtClean="0"/>
              <a:t>:</a:t>
            </a:r>
            <a:r>
              <a:rPr lang="en-US" dirty="0"/>
              <a:t> </a:t>
            </a:r>
            <a:r>
              <a:rPr lang="en-US" dirty="0" smtClean="0"/>
              <a:t>WML</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WML (Wireless Markup Language</a:t>
            </a:r>
            <a:r>
              <a:rPr lang="en-US" b="1" dirty="0" smtClean="0"/>
              <a:t>)</a:t>
            </a:r>
          </a:p>
          <a:p>
            <a:r>
              <a:rPr lang="en-US" dirty="0"/>
              <a:t>used for designing web pages intended for wireless devices such as mobile </a:t>
            </a:r>
            <a:r>
              <a:rPr lang="en-US" dirty="0" smtClean="0"/>
              <a:t>phones</a:t>
            </a:r>
            <a:endParaRPr lang="en-US" dirty="0"/>
          </a:p>
          <a:p>
            <a:r>
              <a:rPr lang="en-US" dirty="0"/>
              <a:t>It is based on XML and is used to create lightweight and efficient web content for mobile browsers</a:t>
            </a:r>
          </a:p>
          <a:p>
            <a:pPr marL="0" indent="0">
              <a:buNone/>
            </a:pPr>
            <a:r>
              <a:rPr lang="en-US" b="1" dirty="0"/>
              <a:t>Explanation:</a:t>
            </a:r>
            <a:r>
              <a:rPr lang="en-US" dirty="0"/>
              <a:t> WML is specifically designed for devices with limited processing power, memory, and display capabilities. It allows developers to create mobile-friendly web pages by defining elements like decks, cards, and menus optimized for small screens and limited input </a:t>
            </a:r>
            <a:r>
              <a:rPr lang="en-US" dirty="0" smtClean="0"/>
              <a:t>methods.</a:t>
            </a:r>
            <a:endParaRPr lang="en-US" dirty="0"/>
          </a:p>
          <a:p>
            <a:pPr marL="457200" lvl="1" indent="0">
              <a:buNone/>
            </a:pPr>
            <a:endParaRPr lang="en-US" dirty="0"/>
          </a:p>
        </p:txBody>
      </p:sp>
      <p:pic>
        <p:nvPicPr>
          <p:cNvPr id="4" name="Picture 3"/>
          <p:cNvPicPr>
            <a:picLocks noChangeAspect="1"/>
          </p:cNvPicPr>
          <p:nvPr/>
        </p:nvPicPr>
        <p:blipFill>
          <a:blip r:embed="rId2"/>
          <a:stretch>
            <a:fillRect/>
          </a:stretch>
        </p:blipFill>
        <p:spPr>
          <a:xfrm>
            <a:off x="2270025" y="3231603"/>
            <a:ext cx="8552345" cy="3200728"/>
          </a:xfrm>
          <a:prstGeom prst="rect">
            <a:avLst/>
          </a:prstGeom>
        </p:spPr>
      </p:pic>
    </p:spTree>
    <p:extLst>
      <p:ext uri="{BB962C8B-B14F-4D97-AF65-F5344CB8AC3E}">
        <p14:creationId xmlns:p14="http://schemas.microsoft.com/office/powerpoint/2010/main" val="3003353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29" y="0"/>
            <a:ext cx="8911687" cy="1280890"/>
          </a:xfrm>
        </p:spPr>
        <p:txBody>
          <a:bodyPr/>
          <a:lstStyle/>
          <a:p>
            <a:r>
              <a:rPr lang="en-US" b="1" dirty="0" smtClean="0"/>
              <a:t>8. Web Services </a:t>
            </a:r>
            <a:r>
              <a:rPr lang="en-US" b="1" dirty="0" smtClean="0"/>
              <a:t>:</a:t>
            </a:r>
            <a:r>
              <a:rPr lang="en-US" dirty="0"/>
              <a:t> </a:t>
            </a:r>
            <a:r>
              <a:rPr lang="en-US" dirty="0" smtClean="0"/>
              <a:t>XSL</a:t>
            </a:r>
            <a:endParaRPr lang="en-US" dirty="0"/>
          </a:p>
        </p:txBody>
      </p:sp>
      <p:sp>
        <p:nvSpPr>
          <p:cNvPr id="3" name="Content Placeholder 2"/>
          <p:cNvSpPr>
            <a:spLocks noGrp="1"/>
          </p:cNvSpPr>
          <p:nvPr>
            <p:ph idx="1"/>
          </p:nvPr>
        </p:nvSpPr>
        <p:spPr>
          <a:xfrm>
            <a:off x="1497724" y="640445"/>
            <a:ext cx="10694276" cy="5981072"/>
          </a:xfrm>
        </p:spPr>
        <p:txBody>
          <a:bodyPr/>
          <a:lstStyle/>
          <a:p>
            <a:r>
              <a:rPr lang="en-US" b="1" dirty="0"/>
              <a:t>XSL (Extensible Stylesheet Language)</a:t>
            </a:r>
          </a:p>
          <a:p>
            <a:r>
              <a:rPr lang="en-US" dirty="0"/>
              <a:t>XSL is a family of languages used to transform and render XML documents into different formats such as HTML, PDF, or plain </a:t>
            </a:r>
            <a:r>
              <a:rPr lang="en-US" dirty="0" smtClean="0"/>
              <a:t>text.</a:t>
            </a:r>
          </a:p>
          <a:p>
            <a:r>
              <a:rPr lang="en-US" dirty="0"/>
              <a:t>It consists of three parts: </a:t>
            </a:r>
            <a:endParaRPr lang="en-US" dirty="0" smtClean="0"/>
          </a:p>
          <a:p>
            <a:pPr lvl="1"/>
            <a:r>
              <a:rPr lang="en-US" dirty="0" smtClean="0"/>
              <a:t>XSLT </a:t>
            </a:r>
            <a:r>
              <a:rPr lang="en-US" dirty="0"/>
              <a:t>for transforming XML documents, </a:t>
            </a:r>
            <a:endParaRPr lang="en-US" dirty="0"/>
          </a:p>
          <a:p>
            <a:pPr lvl="1"/>
            <a:r>
              <a:rPr lang="en-US" dirty="0" smtClean="0"/>
              <a:t>XPath </a:t>
            </a:r>
            <a:r>
              <a:rPr lang="en-US" dirty="0"/>
              <a:t>for navigating XML documents, and </a:t>
            </a:r>
            <a:endParaRPr lang="en-US" dirty="0" smtClean="0"/>
          </a:p>
          <a:p>
            <a:pPr lvl="1"/>
            <a:r>
              <a:rPr lang="en-US" dirty="0" smtClean="0"/>
              <a:t>XSL-FO </a:t>
            </a:r>
            <a:r>
              <a:rPr lang="en-US" dirty="0"/>
              <a:t>for formatting XML documents</a:t>
            </a:r>
            <a:r>
              <a:rPr lang="en-US" dirty="0" smtClean="0"/>
              <a:t>.</a:t>
            </a:r>
            <a:endParaRPr lang="en-US" dirty="0"/>
          </a:p>
          <a:p>
            <a:pPr marL="457200" lvl="1" indent="0">
              <a:buNone/>
            </a:pPr>
            <a:endParaRPr lang="en-US" dirty="0" smtClean="0"/>
          </a:p>
        </p:txBody>
      </p:sp>
      <p:pic>
        <p:nvPicPr>
          <p:cNvPr id="5" name="Picture 4"/>
          <p:cNvPicPr>
            <a:picLocks noChangeAspect="1"/>
          </p:cNvPicPr>
          <p:nvPr/>
        </p:nvPicPr>
        <p:blipFill>
          <a:blip r:embed="rId2"/>
          <a:stretch>
            <a:fillRect/>
          </a:stretch>
        </p:blipFill>
        <p:spPr>
          <a:xfrm>
            <a:off x="7110248" y="1313451"/>
            <a:ext cx="3641836" cy="2043320"/>
          </a:xfrm>
          <a:prstGeom prst="rect">
            <a:avLst/>
          </a:prstGeom>
        </p:spPr>
      </p:pic>
      <p:pic>
        <p:nvPicPr>
          <p:cNvPr id="6" name="Picture 5"/>
          <p:cNvPicPr>
            <a:picLocks noChangeAspect="1"/>
          </p:cNvPicPr>
          <p:nvPr/>
        </p:nvPicPr>
        <p:blipFill>
          <a:blip r:embed="rId3"/>
          <a:stretch>
            <a:fillRect/>
          </a:stretch>
        </p:blipFill>
        <p:spPr>
          <a:xfrm>
            <a:off x="2038947" y="3358172"/>
            <a:ext cx="8713137" cy="3295905"/>
          </a:xfrm>
          <a:prstGeom prst="rect">
            <a:avLst/>
          </a:prstGeom>
        </p:spPr>
      </p:pic>
    </p:spTree>
    <p:extLst>
      <p:ext uri="{BB962C8B-B14F-4D97-AF65-F5344CB8AC3E}">
        <p14:creationId xmlns:p14="http://schemas.microsoft.com/office/powerpoint/2010/main" val="717387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222</TotalTime>
  <Words>454</Words>
  <Application>Microsoft Office PowerPoint</Application>
  <PresentationFormat>Widescreen</PresentationFormat>
  <Paragraphs>39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Wisp</vt:lpstr>
      <vt:lpstr>DI-322 Web Technologies  </vt:lpstr>
      <vt:lpstr>8. Web Services :</vt:lpstr>
      <vt:lpstr>8. Web Services : SOAP</vt:lpstr>
      <vt:lpstr>8. Web Services : RESTful</vt:lpstr>
      <vt:lpstr>8. Web Services : SOAP vs RESTful</vt:lpstr>
      <vt:lpstr>8. Web Services : WML</vt:lpstr>
      <vt:lpstr>8. Web Services : XSL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DI-322 Web Technologies</dc:title>
  <dc:creator>Kamran</dc:creator>
  <cp:lastModifiedBy>Kamran</cp:lastModifiedBy>
  <cp:revision>17</cp:revision>
  <dcterms:created xsi:type="dcterms:W3CDTF">2024-03-18T23:56:23Z</dcterms:created>
  <dcterms:modified xsi:type="dcterms:W3CDTF">2024-03-22T00:40:07Z</dcterms:modified>
</cp:coreProperties>
</file>
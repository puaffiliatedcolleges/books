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1" r:id="rId3"/>
    <p:sldId id="272" r:id="rId4"/>
    <p:sldId id="274" r:id="rId5"/>
    <p:sldId id="273" r:id="rId6"/>
    <p:sldId id="275" r:id="rId7"/>
    <p:sldId id="276" r:id="rId8"/>
    <p:sldId id="257" r:id="rId9"/>
    <p:sldId id="258" r:id="rId10"/>
    <p:sldId id="259" r:id="rId11"/>
    <p:sldId id="280" r:id="rId12"/>
    <p:sldId id="260" r:id="rId13"/>
    <p:sldId id="261" r:id="rId14"/>
    <p:sldId id="270" r:id="rId15"/>
    <p:sldId id="277" r:id="rId16"/>
    <p:sldId id="278" r:id="rId17"/>
    <p:sldId id="279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66" autoAdjust="0"/>
    <p:restoredTop sz="86535" autoAdjust="0"/>
  </p:normalViewPr>
  <p:slideViewPr>
    <p:cSldViewPr>
      <p:cViewPr varScale="1">
        <p:scale>
          <a:sx n="64" d="100"/>
          <a:sy n="64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81607-62AA-4D0E-A49B-4FD95EA41E80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E7D253-DC45-42F0-B83C-AAF39C38C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54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Get around: </a:t>
            </a:r>
            <a:r>
              <a:rPr lang="ur-PK" dirty="0" smtClean="0"/>
              <a:t>پاس جانے کی اجازت دینا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E7D253-DC45-42F0-B83C-AAF39C38CE7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59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9273B-891A-46E3-B4D3-525D7D40B71B}" type="datetimeFigureOut">
              <a:rPr lang="en-US" smtClean="0"/>
              <a:pPr/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E383-1A60-42BC-8AD3-471D3A7AF7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9273B-891A-46E3-B4D3-525D7D40B71B}" type="datetimeFigureOut">
              <a:rPr lang="en-US" smtClean="0"/>
              <a:pPr/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E383-1A60-42BC-8AD3-471D3A7AF7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9273B-891A-46E3-B4D3-525D7D40B71B}" type="datetimeFigureOut">
              <a:rPr lang="en-US" smtClean="0"/>
              <a:pPr/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E383-1A60-42BC-8AD3-471D3A7AF7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9273B-891A-46E3-B4D3-525D7D40B71B}" type="datetimeFigureOut">
              <a:rPr lang="en-US" smtClean="0"/>
              <a:pPr/>
              <a:t>9/28/2020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E383-1A60-42BC-8AD3-471D3A7AF7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9273B-891A-46E3-B4D3-525D7D40B71B}" type="datetimeFigureOut">
              <a:rPr lang="en-US" smtClean="0"/>
              <a:pPr/>
              <a:t>9/28/2020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E383-1A60-42BC-8AD3-471D3A7AF7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9273B-891A-46E3-B4D3-525D7D40B71B}" type="datetimeFigureOut">
              <a:rPr lang="en-US" smtClean="0"/>
              <a:pPr/>
              <a:t>9/28/2020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E383-1A60-42BC-8AD3-471D3A7AF7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9273B-891A-46E3-B4D3-525D7D40B71B}" type="datetimeFigureOut">
              <a:rPr lang="en-US" smtClean="0"/>
              <a:pPr/>
              <a:t>9/28/2020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E383-1A60-42BC-8AD3-471D3A7AF7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9273B-891A-46E3-B4D3-525D7D40B71B}" type="datetimeFigureOut">
              <a:rPr lang="en-US" smtClean="0"/>
              <a:pPr/>
              <a:t>9/28/2020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E383-1A60-42BC-8AD3-471D3A7AF7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9273B-891A-46E3-B4D3-525D7D40B71B}" type="datetimeFigureOut">
              <a:rPr lang="en-US" smtClean="0"/>
              <a:pPr/>
              <a:t>9/28/2020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E383-1A60-42BC-8AD3-471D3A7AF7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9273B-891A-46E3-B4D3-525D7D40B71B}" type="datetimeFigureOut">
              <a:rPr lang="en-US" smtClean="0"/>
              <a:pPr/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E383-1A60-42BC-8AD3-471D3A7AF7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9273B-891A-46E3-B4D3-525D7D40B71B}" type="datetimeFigureOut">
              <a:rPr lang="en-US" smtClean="0"/>
              <a:pPr/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1E383-1A60-42BC-8AD3-471D3A7AF7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9273B-891A-46E3-B4D3-525D7D40B71B}" type="datetimeFigureOut">
              <a:rPr lang="en-US" smtClean="0"/>
              <a:pPr/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1E383-1A60-42BC-8AD3-471D3A7AF7C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2001/12/soap-encoding" TargetMode="External"/><Relationship Id="rId2" Type="http://schemas.openxmlformats.org/officeDocument/2006/relationships/hyperlink" Target="http://www.w3.org/2001/12/soap-envelop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rpc.geocoder.us/service/csv?address=1600+Pennsylvania+Ave,+Washington+DC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1470025"/>
          </a:xfrm>
        </p:spPr>
        <p:txBody>
          <a:bodyPr>
            <a:normAutofit/>
          </a:bodyPr>
          <a:lstStyle/>
          <a:p>
            <a:r>
              <a:rPr lang="en-US" sz="5400" b="1" i="1" dirty="0">
                <a:solidFill>
                  <a:schemeClr val="accent6">
                    <a:lumMod val="75000"/>
                  </a:schemeClr>
                </a:solidFill>
              </a:rPr>
              <a:t>WEB SERVICES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286000"/>
            <a:ext cx="7620000" cy="3657600"/>
          </a:xfrm>
        </p:spPr>
        <p:txBody>
          <a:bodyPr/>
          <a:lstStyle/>
          <a:p>
            <a:pPr algn="l">
              <a:buFont typeface="Wingdings" pitchFamily="2" charset="2"/>
              <a:buChar char="q"/>
            </a:pPr>
            <a:r>
              <a:rPr lang="en-US" b="1" i="1">
                <a:solidFill>
                  <a:srgbClr val="0070C0"/>
                </a:solidFill>
              </a:rPr>
              <a:t>     </a:t>
            </a:r>
            <a:r>
              <a:rPr lang="en-US" b="1" i="1" smtClean="0">
                <a:solidFill>
                  <a:srgbClr val="0070C0"/>
                </a:solidFill>
              </a:rPr>
              <a:t>XSL </a:t>
            </a:r>
            <a:r>
              <a:rPr lang="en-US" b="1" i="1" dirty="0">
                <a:solidFill>
                  <a:srgbClr val="0070C0"/>
                </a:solidFill>
              </a:rPr>
              <a:t>/ XSLT</a:t>
            </a:r>
            <a:r>
              <a:rPr lang="en-US" dirty="0"/>
              <a:t>  (</a:t>
            </a:r>
            <a:r>
              <a:rPr lang="en-US" dirty="0" err="1"/>
              <a:t>E</a:t>
            </a:r>
            <a:r>
              <a:rPr lang="en-US" b="1" dirty="0" err="1"/>
              <a:t>X</a:t>
            </a:r>
            <a:r>
              <a:rPr lang="en-US" dirty="0" err="1"/>
              <a:t>tensible</a:t>
            </a:r>
            <a:r>
              <a:rPr lang="en-US" dirty="0"/>
              <a:t> </a:t>
            </a:r>
            <a:r>
              <a:rPr lang="en-US" b="1" dirty="0"/>
              <a:t>S</a:t>
            </a:r>
            <a:r>
              <a:rPr lang="en-US" dirty="0"/>
              <a:t>tylesheet 			</a:t>
            </a:r>
            <a:r>
              <a:rPr lang="en-US" b="1" dirty="0"/>
              <a:t>L</a:t>
            </a:r>
            <a:r>
              <a:rPr lang="en-US" dirty="0"/>
              <a:t>anguage )  </a:t>
            </a:r>
            <a:endParaRPr lang="en-US" b="1" i="1" dirty="0">
              <a:solidFill>
                <a:srgbClr val="0070C0"/>
              </a:solidFill>
            </a:endParaRPr>
          </a:p>
          <a:p>
            <a:pPr algn="l">
              <a:buFont typeface="Wingdings" pitchFamily="2" charset="2"/>
              <a:buChar char="q"/>
            </a:pPr>
            <a:r>
              <a:rPr lang="en-US" b="1" i="1" dirty="0">
                <a:solidFill>
                  <a:srgbClr val="0070C0"/>
                </a:solidFill>
              </a:rPr>
              <a:t>     SOAP ( </a:t>
            </a:r>
            <a:r>
              <a:rPr lang="en-US" b="1" dirty="0"/>
              <a:t>Simple Object Access Protocol)</a:t>
            </a:r>
            <a:endParaRPr lang="en-US" b="1" i="1" dirty="0">
              <a:solidFill>
                <a:srgbClr val="0070C0"/>
              </a:solidFill>
            </a:endParaRPr>
          </a:p>
          <a:p>
            <a:pPr algn="l">
              <a:buFont typeface="Wingdings" pitchFamily="2" charset="2"/>
              <a:buChar char="q"/>
            </a:pPr>
            <a:r>
              <a:rPr lang="en-US" b="1" i="1" dirty="0">
                <a:solidFill>
                  <a:srgbClr val="0070C0"/>
                </a:solidFill>
              </a:rPr>
              <a:t>     REST  (</a:t>
            </a:r>
            <a:r>
              <a:rPr lang="en-US" b="1" i="1" u="sng" dirty="0" err="1">
                <a:solidFill>
                  <a:srgbClr val="C00000"/>
                </a:solidFill>
              </a:rPr>
              <a:t>REpresentational</a:t>
            </a:r>
            <a:r>
              <a:rPr lang="en-US" b="1" i="1" u="sng" dirty="0">
                <a:solidFill>
                  <a:srgbClr val="C00000"/>
                </a:solidFill>
              </a:rPr>
              <a:t> State Transfer </a:t>
            </a:r>
            <a:endParaRPr lang="en-US" b="1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8749" y="76200"/>
            <a:ext cx="8221851" cy="697424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What Is XSL?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13922" cy="581057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XSL stands for </a:t>
            </a:r>
            <a:r>
              <a:rPr lang="en-US" dirty="0" err="1"/>
              <a:t>E</a:t>
            </a:r>
            <a:r>
              <a:rPr lang="en-US" b="1" dirty="0" err="1"/>
              <a:t>X</a:t>
            </a:r>
            <a:r>
              <a:rPr lang="en-US" dirty="0" err="1"/>
              <a:t>tensible</a:t>
            </a:r>
            <a:r>
              <a:rPr lang="en-US" dirty="0"/>
              <a:t> </a:t>
            </a:r>
            <a:r>
              <a:rPr lang="en-US" b="1" dirty="0" err="1"/>
              <a:t>S</a:t>
            </a:r>
            <a:r>
              <a:rPr lang="en-US" dirty="0" err="1"/>
              <a:t>tylesheet</a:t>
            </a:r>
            <a:r>
              <a:rPr lang="en-US" dirty="0"/>
              <a:t> </a:t>
            </a:r>
            <a:r>
              <a:rPr lang="en-US" b="1" dirty="0"/>
              <a:t>L</a:t>
            </a:r>
            <a:r>
              <a:rPr lang="en-US" dirty="0"/>
              <a:t>anguage.</a:t>
            </a:r>
          </a:p>
          <a:p>
            <a:pPr algn="just"/>
            <a:r>
              <a:rPr lang="en-US" dirty="0"/>
              <a:t>XSL describes how the XML document should be displayed!</a:t>
            </a:r>
          </a:p>
          <a:p>
            <a:pPr algn="just"/>
            <a:r>
              <a:rPr lang="en-US" dirty="0"/>
              <a:t>XSL originally consisted of three parts:</a:t>
            </a:r>
          </a:p>
          <a:p>
            <a:pPr lvl="1" algn="just"/>
            <a:r>
              <a:rPr lang="en-US" dirty="0"/>
              <a:t>XSLT - a language for transforming XML documents</a:t>
            </a:r>
          </a:p>
          <a:p>
            <a:pPr lvl="1" algn="just"/>
            <a:r>
              <a:rPr lang="en-US" dirty="0" err="1"/>
              <a:t>XPath</a:t>
            </a:r>
            <a:r>
              <a:rPr lang="en-US" dirty="0"/>
              <a:t> - a language for navigating in XML documents</a:t>
            </a:r>
          </a:p>
          <a:p>
            <a:pPr lvl="1" algn="just"/>
            <a:r>
              <a:rPr lang="en-US" dirty="0"/>
              <a:t>XSL-FO - a language for formatting XML documents</a:t>
            </a:r>
          </a:p>
          <a:p>
            <a:pPr algn="just"/>
            <a:r>
              <a:rPr lang="en-US" dirty="0"/>
              <a:t>XSLT is the most important part of XSL</a:t>
            </a:r>
          </a:p>
          <a:p>
            <a:pPr lvl="0" algn="just"/>
            <a:r>
              <a:rPr lang="en-US" dirty="0"/>
              <a:t>XSLT transforms an XML document into another XML document.</a:t>
            </a:r>
          </a:p>
          <a:p>
            <a:pPr lvl="0" algn="just"/>
            <a:r>
              <a:rPr lang="en-US" dirty="0"/>
              <a:t>You can also rearrange and </a:t>
            </a:r>
            <a:r>
              <a:rPr lang="en-US" dirty="0">
                <a:solidFill>
                  <a:srgbClr val="C00000"/>
                </a:solidFill>
              </a:rPr>
              <a:t>sort</a:t>
            </a:r>
            <a:r>
              <a:rPr lang="en-US" dirty="0"/>
              <a:t> elements, </a:t>
            </a:r>
            <a:r>
              <a:rPr lang="en-US" dirty="0">
                <a:solidFill>
                  <a:srgbClr val="C00000"/>
                </a:solidFill>
              </a:rPr>
              <a:t>perform tests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make decisions</a:t>
            </a:r>
            <a:r>
              <a:rPr lang="en-US" dirty="0"/>
              <a:t> about which elements to hide and display, and a lot more.</a:t>
            </a:r>
          </a:p>
          <a:p>
            <a:endParaRPr lang="en-US" dirty="0"/>
          </a:p>
          <a:p>
            <a:endParaRPr lang="en-US" dirty="0"/>
          </a:p>
          <a:p>
            <a:pPr lvl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221851" cy="697424"/>
          </a:xfrm>
        </p:spPr>
        <p:txBody>
          <a:bodyPr>
            <a:normAutofit fontScale="90000"/>
          </a:bodyPr>
          <a:lstStyle/>
          <a:p>
            <a:pPr algn="l"/>
            <a:r>
              <a:rPr lang="en-US" i="1" u="sng" dirty="0">
                <a:solidFill>
                  <a:srgbClr val="C00000"/>
                </a:solidFill>
              </a:rPr>
              <a:t>Create an XSL Style Sheet</a:t>
            </a:r>
            <a:r>
              <a:rPr lang="en-US" dirty="0"/>
              <a:t> (Cdstock.xsl):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13922" cy="5810573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sz="6800" dirty="0"/>
              <a:t>&lt;?xml version="1.0" encoding="UTF-8"?&gt;</a:t>
            </a:r>
          </a:p>
          <a:p>
            <a:pPr>
              <a:buNone/>
            </a:pPr>
            <a:r>
              <a:rPr lang="en-US" sz="6800" dirty="0"/>
              <a:t>&lt;</a:t>
            </a:r>
            <a:r>
              <a:rPr lang="en-US" sz="6800" dirty="0" err="1"/>
              <a:t>xsl:stylesheet</a:t>
            </a:r>
            <a:r>
              <a:rPr lang="en-US" sz="6800" dirty="0"/>
              <a:t> version="1.0“  </a:t>
            </a:r>
            <a:r>
              <a:rPr lang="en-US" sz="6800" dirty="0" err="1"/>
              <a:t>xmlns:xsl</a:t>
            </a:r>
            <a:r>
              <a:rPr lang="en-US" sz="6800" dirty="0"/>
              <a:t>="http://www.w3.org/1999/XSL/Transform"&gt;</a:t>
            </a:r>
          </a:p>
          <a:p>
            <a:pPr>
              <a:buNone/>
            </a:pPr>
            <a:r>
              <a:rPr lang="en-US" sz="6800" dirty="0"/>
              <a:t>&lt;</a:t>
            </a:r>
            <a:r>
              <a:rPr lang="en-US" sz="6800" dirty="0" err="1"/>
              <a:t>xsl:template</a:t>
            </a:r>
            <a:r>
              <a:rPr lang="en-US" sz="6800" dirty="0"/>
              <a:t> match="/"&gt;</a:t>
            </a:r>
            <a:br>
              <a:rPr lang="en-US" sz="6800" dirty="0"/>
            </a:br>
            <a:r>
              <a:rPr lang="en-US" sz="6800" dirty="0"/>
              <a:t>  &lt;html&gt; &lt;body&gt;</a:t>
            </a:r>
            <a:br>
              <a:rPr lang="en-US" sz="6800" dirty="0"/>
            </a:br>
            <a:r>
              <a:rPr lang="en-US" sz="6800" dirty="0"/>
              <a:t>  	&lt;h2&gt;My CD Collection&lt;/h2&gt;</a:t>
            </a:r>
            <a:br>
              <a:rPr lang="en-US" sz="6800" dirty="0"/>
            </a:br>
            <a:r>
              <a:rPr lang="en-US" sz="6800" dirty="0"/>
              <a:t>  &lt;table border="1"&gt;</a:t>
            </a:r>
            <a:br>
              <a:rPr lang="en-US" sz="6800" dirty="0"/>
            </a:br>
            <a:r>
              <a:rPr lang="en-US" sz="6800" dirty="0"/>
              <a:t>    &lt;</a:t>
            </a:r>
            <a:r>
              <a:rPr lang="en-US" sz="6800" dirty="0" err="1"/>
              <a:t>tr</a:t>
            </a:r>
            <a:r>
              <a:rPr lang="en-US" sz="6800" dirty="0"/>
              <a:t> </a:t>
            </a:r>
            <a:r>
              <a:rPr lang="en-US" sz="6800" dirty="0" err="1"/>
              <a:t>bgcolor</a:t>
            </a:r>
            <a:r>
              <a:rPr lang="en-US" sz="6800" dirty="0"/>
              <a:t>="#9acd32"&gt;</a:t>
            </a:r>
            <a:br>
              <a:rPr lang="en-US" sz="6800" dirty="0"/>
            </a:br>
            <a:r>
              <a:rPr lang="en-US" sz="6800" dirty="0"/>
              <a:t>      &lt;</a:t>
            </a:r>
            <a:r>
              <a:rPr lang="en-US" sz="6800" dirty="0" err="1"/>
              <a:t>th</a:t>
            </a:r>
            <a:r>
              <a:rPr lang="en-US" sz="6800" dirty="0"/>
              <a:t>&gt;Title&lt;/</a:t>
            </a:r>
            <a:r>
              <a:rPr lang="en-US" sz="6800" dirty="0" err="1"/>
              <a:t>th</a:t>
            </a:r>
            <a:r>
              <a:rPr lang="en-US" sz="6800" dirty="0"/>
              <a:t>&gt; &lt;</a:t>
            </a:r>
            <a:r>
              <a:rPr lang="en-US" sz="6800" dirty="0" err="1"/>
              <a:t>th</a:t>
            </a:r>
            <a:r>
              <a:rPr lang="en-US" sz="6800" dirty="0"/>
              <a:t>&gt;Artist&lt;/</a:t>
            </a:r>
            <a:r>
              <a:rPr lang="en-US" sz="6800" dirty="0" err="1"/>
              <a:t>th</a:t>
            </a:r>
            <a:r>
              <a:rPr lang="en-US" sz="6800" dirty="0"/>
              <a:t>&gt;</a:t>
            </a:r>
            <a:br>
              <a:rPr lang="en-US" sz="6800" dirty="0"/>
            </a:br>
            <a:r>
              <a:rPr lang="en-US" sz="6800" dirty="0"/>
              <a:t>    &lt;/</a:t>
            </a:r>
            <a:r>
              <a:rPr lang="en-US" sz="6800" dirty="0" err="1"/>
              <a:t>tr</a:t>
            </a:r>
            <a:r>
              <a:rPr lang="en-US" sz="6800" dirty="0"/>
              <a:t>&gt;</a:t>
            </a:r>
            <a:br>
              <a:rPr lang="en-US" sz="6800" dirty="0"/>
            </a:br>
            <a:r>
              <a:rPr lang="en-US" sz="6800" dirty="0"/>
              <a:t>    &lt;</a:t>
            </a:r>
            <a:r>
              <a:rPr lang="en-US" sz="6800" dirty="0" err="1"/>
              <a:t>xsl:for</a:t>
            </a:r>
            <a:r>
              <a:rPr lang="en-US" sz="6800" dirty="0"/>
              <a:t>-each select="catalog/</a:t>
            </a:r>
            <a:r>
              <a:rPr lang="en-US" sz="6800" dirty="0" err="1"/>
              <a:t>cd</a:t>
            </a:r>
            <a:r>
              <a:rPr lang="en-US" sz="6800" dirty="0"/>
              <a:t>"&gt;</a:t>
            </a:r>
            <a:br>
              <a:rPr lang="en-US" sz="6800" dirty="0"/>
            </a:br>
            <a:r>
              <a:rPr lang="en-US" sz="6800" dirty="0"/>
              <a:t>    &lt;</a:t>
            </a:r>
            <a:r>
              <a:rPr lang="en-US" sz="6800" dirty="0" err="1"/>
              <a:t>tr</a:t>
            </a:r>
            <a:r>
              <a:rPr lang="en-US" sz="6800" dirty="0"/>
              <a:t>&gt;</a:t>
            </a:r>
            <a:br>
              <a:rPr lang="en-US" sz="6800" dirty="0"/>
            </a:br>
            <a:r>
              <a:rPr lang="en-US" sz="6800" dirty="0"/>
              <a:t>      &lt;td&gt;&lt;</a:t>
            </a:r>
            <a:r>
              <a:rPr lang="en-US" sz="6800" dirty="0" err="1"/>
              <a:t>xsl:value</a:t>
            </a:r>
            <a:r>
              <a:rPr lang="en-US" sz="6800" dirty="0"/>
              <a:t>-of select="title"/&gt;&lt;/td&gt;</a:t>
            </a:r>
            <a:br>
              <a:rPr lang="en-US" sz="6800" dirty="0"/>
            </a:br>
            <a:r>
              <a:rPr lang="en-US" sz="6800" dirty="0"/>
              <a:t>      &lt;td&gt;&lt;</a:t>
            </a:r>
            <a:r>
              <a:rPr lang="en-US" sz="6800" dirty="0" err="1"/>
              <a:t>xsl:value</a:t>
            </a:r>
            <a:r>
              <a:rPr lang="en-US" sz="6800" dirty="0"/>
              <a:t>-of select="artist"/&gt;&lt;/td&gt;</a:t>
            </a:r>
            <a:br>
              <a:rPr lang="en-US" sz="6800" dirty="0"/>
            </a:br>
            <a:r>
              <a:rPr lang="en-US" sz="6800" dirty="0"/>
              <a:t>    &lt;/</a:t>
            </a:r>
            <a:r>
              <a:rPr lang="en-US" sz="6800" dirty="0" err="1"/>
              <a:t>tr</a:t>
            </a:r>
            <a:r>
              <a:rPr lang="en-US" sz="6800" dirty="0"/>
              <a:t>&gt;</a:t>
            </a:r>
            <a:br>
              <a:rPr lang="en-US" sz="6800" dirty="0"/>
            </a:br>
            <a:r>
              <a:rPr lang="en-US" sz="6800" dirty="0"/>
              <a:t>    &lt;/</a:t>
            </a:r>
            <a:r>
              <a:rPr lang="en-US" sz="6800" dirty="0" err="1"/>
              <a:t>xsl:for</a:t>
            </a:r>
            <a:r>
              <a:rPr lang="en-US" sz="6800" dirty="0"/>
              <a:t>-each&gt;</a:t>
            </a:r>
            <a:br>
              <a:rPr lang="en-US" sz="6800" dirty="0"/>
            </a:br>
            <a:r>
              <a:rPr lang="en-US" sz="6800" dirty="0"/>
              <a:t>  &lt;/table&gt;</a:t>
            </a:r>
            <a:br>
              <a:rPr lang="en-US" sz="6800" dirty="0"/>
            </a:br>
            <a:r>
              <a:rPr lang="en-US" sz="6800" dirty="0"/>
              <a:t>  &lt;/body&gt; &lt;/html&gt;</a:t>
            </a:r>
          </a:p>
          <a:p>
            <a:pPr>
              <a:buNone/>
            </a:pPr>
            <a:r>
              <a:rPr lang="en-US" sz="6800" dirty="0"/>
              <a:t>&lt;/</a:t>
            </a:r>
            <a:r>
              <a:rPr lang="en-US" sz="6800" dirty="0" err="1"/>
              <a:t>xsl:template</a:t>
            </a:r>
            <a:r>
              <a:rPr lang="en-US" sz="6800" dirty="0"/>
              <a:t>&gt;</a:t>
            </a:r>
          </a:p>
          <a:p>
            <a:pPr>
              <a:buNone/>
            </a:pPr>
            <a:r>
              <a:rPr lang="en-US" sz="6800" dirty="0"/>
              <a:t>&lt;/</a:t>
            </a:r>
            <a:r>
              <a:rPr lang="en-US" sz="6800" dirty="0" err="1"/>
              <a:t>xsl:stylesheet</a:t>
            </a:r>
            <a:r>
              <a:rPr lang="en-US" sz="6800" dirty="0"/>
              <a:t>&gt; 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pPr lvl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221851" cy="697424"/>
          </a:xfrm>
        </p:spPr>
        <p:txBody>
          <a:bodyPr>
            <a:normAutofit fontScale="90000"/>
          </a:bodyPr>
          <a:lstStyle/>
          <a:p>
            <a:pPr algn="l"/>
            <a:r>
              <a:rPr lang="en-US" i="1" u="sng" dirty="0">
                <a:solidFill>
                  <a:srgbClr val="C00000"/>
                </a:solidFill>
              </a:rPr>
              <a:t>Example </a:t>
            </a:r>
            <a:r>
              <a:rPr lang="en-US" dirty="0"/>
              <a:t>(Cdstock.xsl) </a:t>
            </a:r>
            <a:r>
              <a:rPr lang="en-US" u="sng" dirty="0">
                <a:solidFill>
                  <a:srgbClr val="C00000"/>
                </a:solidFill>
              </a:rPr>
              <a:t>Explanation: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8600" y="1047427"/>
            <a:ext cx="8713922" cy="581057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The &lt;</a:t>
            </a:r>
            <a:r>
              <a:rPr lang="en-US" dirty="0" err="1">
                <a:solidFill>
                  <a:srgbClr val="0000FF"/>
                </a:solidFill>
              </a:rPr>
              <a:t>xsl:template</a:t>
            </a:r>
            <a:r>
              <a:rPr lang="en-US" dirty="0">
                <a:solidFill>
                  <a:srgbClr val="0000FF"/>
                </a:solidFill>
              </a:rPr>
              <a:t> match=“/”&gt; Element</a:t>
            </a:r>
          </a:p>
          <a:p>
            <a:pPr lvl="1"/>
            <a:r>
              <a:rPr lang="en-US" dirty="0"/>
              <a:t>used to build templates and The </a:t>
            </a:r>
            <a:r>
              <a:rPr lang="en-US" dirty="0">
                <a:solidFill>
                  <a:srgbClr val="C00000"/>
                </a:solidFill>
              </a:rPr>
              <a:t>match</a:t>
            </a:r>
            <a:r>
              <a:rPr lang="en-US" dirty="0"/>
              <a:t> attribute can also be used to define a template for the entire XML document. </a:t>
            </a:r>
          </a:p>
          <a:p>
            <a:r>
              <a:rPr lang="en-US" dirty="0">
                <a:solidFill>
                  <a:srgbClr val="0000FF"/>
                </a:solidFill>
              </a:rPr>
              <a:t>The &lt;</a:t>
            </a:r>
            <a:r>
              <a:rPr lang="en-US" dirty="0" err="1">
                <a:solidFill>
                  <a:srgbClr val="0000FF"/>
                </a:solidFill>
              </a:rPr>
              <a:t>xsl:for</a:t>
            </a:r>
            <a:r>
              <a:rPr lang="en-US" dirty="0">
                <a:solidFill>
                  <a:srgbClr val="0000FF"/>
                </a:solidFill>
              </a:rPr>
              <a:t>-each&gt; Element</a:t>
            </a:r>
          </a:p>
          <a:p>
            <a:pPr lvl="1"/>
            <a:r>
              <a:rPr lang="en-US" dirty="0"/>
              <a:t>used to select every XML element of a specified node-set.</a:t>
            </a:r>
          </a:p>
          <a:p>
            <a:r>
              <a:rPr lang="en-US" dirty="0">
                <a:solidFill>
                  <a:srgbClr val="0000FF"/>
                </a:solidFill>
              </a:rPr>
              <a:t>The &lt;</a:t>
            </a:r>
            <a:r>
              <a:rPr lang="en-US" dirty="0" err="1">
                <a:solidFill>
                  <a:srgbClr val="0000FF"/>
                </a:solidFill>
              </a:rPr>
              <a:t>xsl:value</a:t>
            </a:r>
            <a:r>
              <a:rPr lang="en-US" dirty="0">
                <a:solidFill>
                  <a:srgbClr val="0000FF"/>
                </a:solidFill>
              </a:rPr>
              <a:t>-of&gt; Element</a:t>
            </a:r>
          </a:p>
          <a:p>
            <a:pPr lvl="1"/>
            <a:r>
              <a:rPr lang="en-US" dirty="0"/>
              <a:t>used to extract the value of an XML element and add it to the output stream of the transformation.</a:t>
            </a:r>
          </a:p>
          <a:p>
            <a:pPr lvl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221851" cy="697424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u="sng" dirty="0">
                <a:solidFill>
                  <a:srgbClr val="C00000"/>
                </a:solidFill>
              </a:rPr>
              <a:t>Link the XSL Style Sheet to the XML Document (CdStock.xml)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13922" cy="581057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400" dirty="0"/>
              <a:t>&lt;?xml version="1.0" encoding="UTF-8"?&gt;</a:t>
            </a:r>
            <a:br>
              <a:rPr lang="en-US" sz="2400" dirty="0"/>
            </a:br>
            <a:r>
              <a:rPr lang="en-US" sz="2400" dirty="0"/>
              <a:t>&lt;?xml-</a:t>
            </a:r>
            <a:r>
              <a:rPr lang="en-US" sz="2400" dirty="0" err="1"/>
              <a:t>stylesheet</a:t>
            </a:r>
            <a:r>
              <a:rPr lang="en-US" sz="2400" dirty="0"/>
              <a:t> type="text/</a:t>
            </a:r>
            <a:r>
              <a:rPr lang="en-US" sz="2400" dirty="0" err="1"/>
              <a:t>xsl</a:t>
            </a:r>
            <a:r>
              <a:rPr lang="en-US" sz="2400" dirty="0"/>
              <a:t>" </a:t>
            </a:r>
            <a:r>
              <a:rPr lang="en-US" sz="2400" dirty="0" err="1"/>
              <a:t>href</a:t>
            </a:r>
            <a:r>
              <a:rPr lang="en-US" sz="2400" dirty="0"/>
              <a:t>=“CdStock.xsl"?&gt;</a:t>
            </a:r>
            <a:br>
              <a:rPr lang="en-US" sz="2400" dirty="0"/>
            </a:br>
            <a:r>
              <a:rPr lang="en-US" sz="2400" dirty="0"/>
              <a:t>&lt;catalog&gt;</a:t>
            </a:r>
            <a:br>
              <a:rPr lang="en-US" sz="2400" dirty="0"/>
            </a:br>
            <a:r>
              <a:rPr lang="en-US" sz="2400" dirty="0"/>
              <a:t>  &lt;</a:t>
            </a:r>
            <a:r>
              <a:rPr lang="en-US" sz="2400" dirty="0" err="1"/>
              <a:t>cd</a:t>
            </a:r>
            <a:r>
              <a:rPr lang="en-US" sz="2400" dirty="0"/>
              <a:t>&gt;</a:t>
            </a:r>
            <a:br>
              <a:rPr lang="en-US" sz="2400" dirty="0"/>
            </a:br>
            <a:r>
              <a:rPr lang="en-US" sz="2400" dirty="0"/>
              <a:t>    	&lt;title&gt;Empire Burlesque&lt;/title&gt;</a:t>
            </a:r>
            <a:br>
              <a:rPr lang="en-US" sz="2400" dirty="0"/>
            </a:br>
            <a:r>
              <a:rPr lang="en-US" sz="2400" dirty="0"/>
              <a:t>    	&lt;artist&gt;Bob Dylan&lt;/artist&gt;</a:t>
            </a:r>
            <a:br>
              <a:rPr lang="en-US" sz="2400" dirty="0"/>
            </a:br>
            <a:r>
              <a:rPr lang="en-US" sz="2400" dirty="0"/>
              <a:t>    	&lt;country&gt;USA&lt;/country&gt;</a:t>
            </a:r>
            <a:br>
              <a:rPr lang="en-US" sz="2400" dirty="0"/>
            </a:br>
            <a:r>
              <a:rPr lang="en-US" sz="2400" dirty="0"/>
              <a:t>    	&lt;company&gt;Columbia&lt;/company&gt;</a:t>
            </a:r>
            <a:br>
              <a:rPr lang="en-US" sz="2400" dirty="0"/>
            </a:br>
            <a:r>
              <a:rPr lang="en-US" sz="2400" dirty="0"/>
              <a:t>    	&lt;price&gt;10.90&lt;/price&gt;</a:t>
            </a:r>
            <a:br>
              <a:rPr lang="en-US" sz="2400" dirty="0"/>
            </a:br>
            <a:r>
              <a:rPr lang="en-US" sz="2400" dirty="0"/>
              <a:t>    	&lt;year&gt;1985&lt;/year&gt;</a:t>
            </a:r>
            <a:br>
              <a:rPr lang="en-US" sz="2400" dirty="0"/>
            </a:br>
            <a:r>
              <a:rPr lang="en-US" sz="2400" dirty="0"/>
              <a:t>  &lt;/</a:t>
            </a:r>
            <a:r>
              <a:rPr lang="en-US" sz="2400" dirty="0" err="1"/>
              <a:t>cd</a:t>
            </a:r>
            <a:r>
              <a:rPr lang="en-US" sz="2400" dirty="0"/>
              <a:t>&gt;</a:t>
            </a:r>
          </a:p>
          <a:p>
            <a:pPr>
              <a:buNone/>
            </a:pPr>
            <a:r>
              <a:rPr lang="en-US" sz="2400" dirty="0"/>
              <a:t>	  &lt;</a:t>
            </a:r>
            <a:r>
              <a:rPr lang="en-US" sz="2400" dirty="0" err="1"/>
              <a:t>cd</a:t>
            </a:r>
            <a:r>
              <a:rPr lang="en-US" sz="2400" dirty="0"/>
              <a:t>&gt;</a:t>
            </a:r>
            <a:br>
              <a:rPr lang="en-US" sz="2400" dirty="0"/>
            </a:br>
            <a:r>
              <a:rPr lang="en-US" sz="2400" dirty="0"/>
              <a:t>    	&lt;title&gt;P.K.&lt;/title&gt;</a:t>
            </a:r>
            <a:br>
              <a:rPr lang="en-US" sz="2400" dirty="0"/>
            </a:br>
            <a:r>
              <a:rPr lang="en-US" sz="2400" dirty="0"/>
              <a:t>    	&lt;artist&gt;</a:t>
            </a:r>
            <a:r>
              <a:rPr lang="en-US" sz="2400" dirty="0" err="1"/>
              <a:t>Aamir</a:t>
            </a:r>
            <a:r>
              <a:rPr lang="en-US" sz="2400" dirty="0"/>
              <a:t> Khan&lt;/artist&gt;</a:t>
            </a:r>
            <a:br>
              <a:rPr lang="en-US" sz="2400" dirty="0"/>
            </a:br>
            <a:r>
              <a:rPr lang="en-US" sz="2400" dirty="0"/>
              <a:t>    	&lt;country&gt;India&lt;/country&gt;</a:t>
            </a:r>
            <a:br>
              <a:rPr lang="en-US" sz="2400" dirty="0"/>
            </a:br>
            <a:r>
              <a:rPr lang="en-US" sz="2400" dirty="0"/>
              <a:t>    	&lt;company&gt;DJ Group&lt;/company&gt;</a:t>
            </a:r>
            <a:br>
              <a:rPr lang="en-US" sz="2400" dirty="0"/>
            </a:br>
            <a:r>
              <a:rPr lang="en-US" sz="2400" dirty="0"/>
              <a:t>    	&lt;price&gt;18.90&lt;/price&gt;</a:t>
            </a:r>
            <a:br>
              <a:rPr lang="en-US" sz="2400" dirty="0"/>
            </a:br>
            <a:r>
              <a:rPr lang="en-US" sz="2400" dirty="0"/>
              <a:t>    	&lt;year&gt;2015&lt;/year&gt;</a:t>
            </a:r>
            <a:br>
              <a:rPr lang="en-US" sz="2400" dirty="0"/>
            </a:br>
            <a:r>
              <a:rPr lang="en-US" sz="2400" dirty="0"/>
              <a:t>  &lt;/</a:t>
            </a:r>
            <a:r>
              <a:rPr lang="en-US" sz="2400" dirty="0" err="1"/>
              <a:t>cd</a:t>
            </a:r>
            <a:r>
              <a:rPr lang="en-US" sz="2400" dirty="0"/>
              <a:t>&gt;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&lt;/catalog&gt; 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pPr lvl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2549" y="76200"/>
            <a:ext cx="8221851" cy="697424"/>
          </a:xfrm>
        </p:spPr>
        <p:txBody>
          <a:bodyPr>
            <a:normAutofit/>
          </a:bodyPr>
          <a:lstStyle/>
          <a:p>
            <a:pPr algn="l"/>
            <a:r>
              <a:rPr lang="en-US" sz="3200" b="1" u="sng" dirty="0">
                <a:solidFill>
                  <a:srgbClr val="C00000"/>
                </a:solidFill>
              </a:rPr>
              <a:t>XSLT &lt;</a:t>
            </a:r>
            <a:r>
              <a:rPr lang="en-US" sz="3200" b="1" u="sng" dirty="0" err="1">
                <a:solidFill>
                  <a:srgbClr val="C00000"/>
                </a:solidFill>
              </a:rPr>
              <a:t>xsl</a:t>
            </a:r>
            <a:r>
              <a:rPr lang="en-US" sz="3200" b="1" u="sng" dirty="0">
                <a:solidFill>
                  <a:srgbClr val="C00000"/>
                </a:solidFill>
              </a:rPr>
              <a:t>: sort&gt; Element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13922" cy="581057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2400" dirty="0"/>
              <a:t>&lt;?xml version="1.0" encoding="UTF-8"?&gt;</a:t>
            </a:r>
            <a:br>
              <a:rPr lang="en-US" sz="2400" dirty="0"/>
            </a:br>
            <a:r>
              <a:rPr lang="en-US" sz="2400" dirty="0"/>
              <a:t>&lt;</a:t>
            </a:r>
            <a:r>
              <a:rPr lang="en-US" sz="2400" dirty="0" err="1"/>
              <a:t>xsl:stylesheet</a:t>
            </a:r>
            <a:r>
              <a:rPr lang="en-US" sz="2400" dirty="0"/>
              <a:t> version="1.0"</a:t>
            </a:r>
            <a:br>
              <a:rPr lang="en-US" sz="2400" dirty="0"/>
            </a:br>
            <a:r>
              <a:rPr lang="en-US" sz="2400" dirty="0" err="1"/>
              <a:t>xmlns:xsl</a:t>
            </a:r>
            <a:r>
              <a:rPr lang="en-US" sz="2400" dirty="0"/>
              <a:t>="http://www.w3.org/1999/XSL/Transform"&gt;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&lt;</a:t>
            </a:r>
            <a:r>
              <a:rPr lang="en-US" sz="2400" dirty="0" err="1"/>
              <a:t>xsl:template</a:t>
            </a:r>
            <a:r>
              <a:rPr lang="en-US" sz="2400" dirty="0"/>
              <a:t> match="/"&gt;</a:t>
            </a:r>
            <a:br>
              <a:rPr lang="en-US" sz="2400" dirty="0"/>
            </a:br>
            <a:r>
              <a:rPr lang="en-US" sz="2400" dirty="0"/>
              <a:t>  &lt;html&gt;</a:t>
            </a:r>
            <a:br>
              <a:rPr lang="en-US" sz="2400" dirty="0"/>
            </a:br>
            <a:r>
              <a:rPr lang="en-US" sz="2400" dirty="0"/>
              <a:t>  &lt;body&gt;</a:t>
            </a:r>
            <a:br>
              <a:rPr lang="en-US" sz="2400" dirty="0"/>
            </a:br>
            <a:r>
              <a:rPr lang="en-US" sz="2400" dirty="0"/>
              <a:t>  &lt;h2&gt;My CD Collection&lt;/h2&gt;</a:t>
            </a:r>
            <a:br>
              <a:rPr lang="en-US" sz="2400" dirty="0"/>
            </a:br>
            <a:r>
              <a:rPr lang="en-US" sz="2400" dirty="0"/>
              <a:t>  &lt;table border="1"&gt;</a:t>
            </a:r>
            <a:br>
              <a:rPr lang="en-US" sz="2400" dirty="0"/>
            </a:br>
            <a:r>
              <a:rPr lang="en-US" sz="2400" dirty="0"/>
              <a:t>    &lt;</a:t>
            </a:r>
            <a:r>
              <a:rPr lang="en-US" sz="2400" dirty="0" err="1"/>
              <a:t>tr</a:t>
            </a:r>
            <a:r>
              <a:rPr lang="en-US" sz="2400" dirty="0"/>
              <a:t> </a:t>
            </a:r>
            <a:r>
              <a:rPr lang="en-US" sz="2400" dirty="0" err="1"/>
              <a:t>bgcolor</a:t>
            </a:r>
            <a:r>
              <a:rPr lang="en-US" sz="2400" dirty="0"/>
              <a:t>="#9acd32"&gt;</a:t>
            </a:r>
            <a:br>
              <a:rPr lang="en-US" sz="2400" dirty="0"/>
            </a:br>
            <a:r>
              <a:rPr lang="en-US" sz="2400" dirty="0"/>
              <a:t>      &lt;</a:t>
            </a:r>
            <a:r>
              <a:rPr lang="en-US" sz="2400" dirty="0" err="1"/>
              <a:t>th</a:t>
            </a:r>
            <a:r>
              <a:rPr lang="en-US" sz="2400" dirty="0"/>
              <a:t>&gt;Title&lt;/</a:t>
            </a:r>
            <a:r>
              <a:rPr lang="en-US" sz="2400" dirty="0" err="1"/>
              <a:t>th</a:t>
            </a:r>
            <a:r>
              <a:rPr lang="en-US" sz="2400" dirty="0"/>
              <a:t>&gt;</a:t>
            </a:r>
            <a:br>
              <a:rPr lang="en-US" sz="2400" dirty="0"/>
            </a:br>
            <a:r>
              <a:rPr lang="en-US" sz="2400" dirty="0"/>
              <a:t>      &lt;</a:t>
            </a:r>
            <a:r>
              <a:rPr lang="en-US" sz="2400" dirty="0" err="1"/>
              <a:t>th</a:t>
            </a:r>
            <a:r>
              <a:rPr lang="en-US" sz="2400" dirty="0"/>
              <a:t>&gt;Artist&lt;/</a:t>
            </a:r>
            <a:r>
              <a:rPr lang="en-US" sz="2400" dirty="0" err="1"/>
              <a:t>th</a:t>
            </a:r>
            <a:r>
              <a:rPr lang="en-US" sz="2400" dirty="0"/>
              <a:t>&gt;</a:t>
            </a:r>
            <a:br>
              <a:rPr lang="en-US" sz="2400" dirty="0"/>
            </a:br>
            <a:r>
              <a:rPr lang="en-US" sz="2400" dirty="0"/>
              <a:t>    &lt;/</a:t>
            </a:r>
            <a:r>
              <a:rPr lang="en-US" sz="2400" dirty="0" err="1"/>
              <a:t>tr</a:t>
            </a:r>
            <a:r>
              <a:rPr lang="en-US" sz="2400" dirty="0"/>
              <a:t>&gt;</a:t>
            </a:r>
            <a:br>
              <a:rPr lang="en-US" sz="2400" dirty="0"/>
            </a:br>
            <a:r>
              <a:rPr lang="en-US" sz="2400" dirty="0"/>
              <a:t>  </a:t>
            </a:r>
            <a:r>
              <a:rPr lang="en-US" sz="3400" dirty="0">
                <a:solidFill>
                  <a:srgbClr val="0000FF"/>
                </a:solidFill>
              </a:rPr>
              <a:t>  &lt;</a:t>
            </a:r>
            <a:r>
              <a:rPr lang="en-US" sz="3400" dirty="0" err="1">
                <a:solidFill>
                  <a:srgbClr val="0000FF"/>
                </a:solidFill>
              </a:rPr>
              <a:t>xsl:for</a:t>
            </a:r>
            <a:r>
              <a:rPr lang="en-US" sz="3400" dirty="0">
                <a:solidFill>
                  <a:srgbClr val="0000FF"/>
                </a:solidFill>
              </a:rPr>
              <a:t>-each select="catalog/</a:t>
            </a:r>
            <a:r>
              <a:rPr lang="en-US" sz="3400" dirty="0" err="1">
                <a:solidFill>
                  <a:srgbClr val="0000FF"/>
                </a:solidFill>
              </a:rPr>
              <a:t>cd</a:t>
            </a:r>
            <a:r>
              <a:rPr lang="en-US" sz="3400" dirty="0">
                <a:solidFill>
                  <a:srgbClr val="0000FF"/>
                </a:solidFill>
              </a:rPr>
              <a:t>"&gt;</a:t>
            </a:r>
            <a:br>
              <a:rPr lang="en-US" sz="3400" dirty="0">
                <a:solidFill>
                  <a:srgbClr val="0000FF"/>
                </a:solidFill>
              </a:rPr>
            </a:br>
            <a:r>
              <a:rPr lang="en-US" sz="3400" dirty="0">
                <a:solidFill>
                  <a:srgbClr val="0000FF"/>
                </a:solidFill>
              </a:rPr>
              <a:t>      &lt;</a:t>
            </a:r>
            <a:r>
              <a:rPr lang="en-US" sz="3400" dirty="0" err="1">
                <a:solidFill>
                  <a:srgbClr val="0000FF"/>
                </a:solidFill>
              </a:rPr>
              <a:t>xsl:sort</a:t>
            </a:r>
            <a:r>
              <a:rPr lang="en-US" sz="3400" dirty="0">
                <a:solidFill>
                  <a:srgbClr val="0000FF"/>
                </a:solidFill>
              </a:rPr>
              <a:t> select="artist"/&gt;</a:t>
            </a:r>
            <a:br>
              <a:rPr lang="en-US" sz="3400" dirty="0">
                <a:solidFill>
                  <a:srgbClr val="0000FF"/>
                </a:solidFill>
              </a:rPr>
            </a:br>
            <a:r>
              <a:rPr lang="en-US" sz="3400" dirty="0">
                <a:solidFill>
                  <a:srgbClr val="0000FF"/>
                </a:solidFill>
              </a:rPr>
              <a:t>  </a:t>
            </a:r>
            <a:r>
              <a:rPr lang="en-US" sz="2400" dirty="0"/>
              <a:t>    &lt;</a:t>
            </a:r>
            <a:r>
              <a:rPr lang="en-US" sz="2400" dirty="0" err="1"/>
              <a:t>tr</a:t>
            </a:r>
            <a:r>
              <a:rPr lang="en-US" sz="2400" dirty="0"/>
              <a:t>&gt;</a:t>
            </a:r>
            <a:br>
              <a:rPr lang="en-US" sz="2400" dirty="0"/>
            </a:br>
            <a:r>
              <a:rPr lang="en-US" sz="2400" dirty="0"/>
              <a:t>        &lt;td&gt;&lt;</a:t>
            </a:r>
            <a:r>
              <a:rPr lang="en-US" sz="2400" dirty="0" err="1"/>
              <a:t>xsl:value</a:t>
            </a:r>
            <a:r>
              <a:rPr lang="en-US" sz="2400" dirty="0"/>
              <a:t>-of select="title"/&gt;&lt;/td&gt;</a:t>
            </a:r>
            <a:br>
              <a:rPr lang="en-US" sz="2400" dirty="0"/>
            </a:br>
            <a:r>
              <a:rPr lang="en-US" sz="2400" dirty="0"/>
              <a:t>        &lt;td&gt;&lt;</a:t>
            </a:r>
            <a:r>
              <a:rPr lang="en-US" sz="2400" dirty="0" err="1"/>
              <a:t>xsl:value</a:t>
            </a:r>
            <a:r>
              <a:rPr lang="en-US" sz="2400" dirty="0"/>
              <a:t>-of select="artist"/&gt;&lt;/td&gt;</a:t>
            </a:r>
            <a:br>
              <a:rPr lang="en-US" sz="2400" dirty="0"/>
            </a:br>
            <a:r>
              <a:rPr lang="en-US" sz="2400" dirty="0"/>
              <a:t>      &lt;/</a:t>
            </a:r>
            <a:r>
              <a:rPr lang="en-US" sz="2400" dirty="0" err="1"/>
              <a:t>tr</a:t>
            </a:r>
            <a:r>
              <a:rPr lang="en-US" sz="2400" dirty="0"/>
              <a:t>&gt;</a:t>
            </a:r>
            <a:br>
              <a:rPr lang="en-US" sz="2400" dirty="0"/>
            </a:br>
            <a:r>
              <a:rPr lang="en-US" sz="2400" dirty="0"/>
              <a:t>    &lt;/</a:t>
            </a:r>
            <a:r>
              <a:rPr lang="en-US" sz="2400" dirty="0" err="1"/>
              <a:t>xsl:for</a:t>
            </a:r>
            <a:r>
              <a:rPr lang="en-US" sz="2400" dirty="0"/>
              <a:t>-each&gt;</a:t>
            </a:r>
            <a:br>
              <a:rPr lang="en-US" sz="2400" dirty="0"/>
            </a:br>
            <a:r>
              <a:rPr lang="en-US" sz="2400" dirty="0"/>
              <a:t>  &lt;/table&gt;</a:t>
            </a:r>
            <a:br>
              <a:rPr lang="en-US" sz="2400" dirty="0"/>
            </a:br>
            <a:r>
              <a:rPr lang="en-US" sz="2400" dirty="0"/>
              <a:t>  &lt;/body&gt;</a:t>
            </a:r>
            <a:br>
              <a:rPr lang="en-US" sz="2400" dirty="0"/>
            </a:br>
            <a:r>
              <a:rPr lang="en-US" sz="2400" dirty="0"/>
              <a:t>  &lt;/html&gt;</a:t>
            </a:r>
            <a:br>
              <a:rPr lang="en-US" sz="2400" dirty="0"/>
            </a:br>
            <a:r>
              <a:rPr lang="en-US" sz="2400" dirty="0"/>
              <a:t>&lt;/</a:t>
            </a:r>
            <a:r>
              <a:rPr lang="en-US" sz="2400" dirty="0" err="1"/>
              <a:t>xsl:template</a:t>
            </a:r>
            <a:r>
              <a:rPr lang="en-US" sz="2400" dirty="0"/>
              <a:t>&gt;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&lt;/</a:t>
            </a:r>
            <a:r>
              <a:rPr lang="en-US" sz="2400" dirty="0" err="1"/>
              <a:t>xsl:stylesheet</a:t>
            </a:r>
            <a:r>
              <a:rPr lang="en-US" sz="2400" dirty="0"/>
              <a:t>&gt;</a:t>
            </a:r>
            <a:endParaRPr lang="en-US" dirty="0"/>
          </a:p>
          <a:p>
            <a:endParaRPr lang="en-US" dirty="0"/>
          </a:p>
          <a:p>
            <a:pPr lvl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2549" y="76200"/>
            <a:ext cx="8221851" cy="697424"/>
          </a:xfrm>
        </p:spPr>
        <p:txBody>
          <a:bodyPr>
            <a:normAutofit/>
          </a:bodyPr>
          <a:lstStyle/>
          <a:p>
            <a:pPr algn="l"/>
            <a:r>
              <a:rPr lang="en-US" sz="3200" b="1" u="sng" dirty="0">
                <a:solidFill>
                  <a:srgbClr val="C00000"/>
                </a:solidFill>
              </a:rPr>
              <a:t>The &lt;</a:t>
            </a:r>
            <a:r>
              <a:rPr lang="en-US" sz="3200" b="1" u="sng" dirty="0" err="1">
                <a:solidFill>
                  <a:srgbClr val="C00000"/>
                </a:solidFill>
              </a:rPr>
              <a:t>xsl:if</a:t>
            </a:r>
            <a:r>
              <a:rPr lang="en-US" sz="3200" b="1" u="sng" dirty="0">
                <a:solidFill>
                  <a:srgbClr val="C00000"/>
                </a:solidFill>
              </a:rPr>
              <a:t>&gt; Element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13922" cy="5810573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1800" dirty="0"/>
              <a:t>&lt;?xml version="1.0" encoding="UTF-8"?&gt;</a:t>
            </a:r>
            <a:br>
              <a:rPr lang="en-US" sz="1800" dirty="0"/>
            </a:br>
            <a:r>
              <a:rPr lang="en-US" sz="1800" dirty="0"/>
              <a:t>&lt;</a:t>
            </a:r>
            <a:r>
              <a:rPr lang="en-US" sz="1800" dirty="0" err="1"/>
              <a:t>xsl:stylesheet</a:t>
            </a:r>
            <a:r>
              <a:rPr lang="en-US" sz="1800" dirty="0"/>
              <a:t> version="1.0"</a:t>
            </a:r>
            <a:br>
              <a:rPr lang="en-US" sz="1800" dirty="0"/>
            </a:br>
            <a:r>
              <a:rPr lang="en-US" sz="1800" dirty="0" err="1"/>
              <a:t>xmlns:xsl</a:t>
            </a:r>
            <a:r>
              <a:rPr lang="en-US" sz="1800" dirty="0"/>
              <a:t>="http://www.w3.org/1999/XSL/Transform"&gt;</a:t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&lt;</a:t>
            </a:r>
            <a:r>
              <a:rPr lang="en-US" sz="1800" dirty="0" err="1"/>
              <a:t>xsl:template</a:t>
            </a:r>
            <a:r>
              <a:rPr lang="en-US" sz="1800" dirty="0"/>
              <a:t> match="/"&gt;</a:t>
            </a:r>
            <a:br>
              <a:rPr lang="en-US" sz="1800" dirty="0"/>
            </a:br>
            <a:r>
              <a:rPr lang="en-US" sz="1800" dirty="0"/>
              <a:t>  &lt;html&gt;</a:t>
            </a:r>
            <a:br>
              <a:rPr lang="en-US" sz="1800" dirty="0"/>
            </a:br>
            <a:r>
              <a:rPr lang="en-US" sz="1800" dirty="0"/>
              <a:t>  &lt;body&gt;</a:t>
            </a:r>
            <a:br>
              <a:rPr lang="en-US" sz="1800" dirty="0"/>
            </a:br>
            <a:r>
              <a:rPr lang="en-US" sz="1800" dirty="0"/>
              <a:t>  &lt;h2&gt;My CD Collection&lt;/h2&gt;</a:t>
            </a:r>
            <a:br>
              <a:rPr lang="en-US" sz="1800" dirty="0"/>
            </a:br>
            <a:r>
              <a:rPr lang="en-US" sz="1800" dirty="0"/>
              <a:t>  &lt;table border="1"&gt;</a:t>
            </a:r>
            <a:br>
              <a:rPr lang="en-US" sz="1800" dirty="0"/>
            </a:br>
            <a:r>
              <a:rPr lang="en-US" sz="1800" dirty="0"/>
              <a:t>    &lt;</a:t>
            </a:r>
            <a:r>
              <a:rPr lang="en-US" sz="1800" dirty="0" err="1"/>
              <a:t>tr</a:t>
            </a:r>
            <a:r>
              <a:rPr lang="en-US" sz="1800" dirty="0"/>
              <a:t> </a:t>
            </a:r>
            <a:r>
              <a:rPr lang="en-US" sz="1800" dirty="0" err="1"/>
              <a:t>bgcolor</a:t>
            </a:r>
            <a:r>
              <a:rPr lang="en-US" sz="1800" dirty="0"/>
              <a:t>="#9acd32"&gt;</a:t>
            </a:r>
            <a:br>
              <a:rPr lang="en-US" sz="1800" dirty="0"/>
            </a:br>
            <a:r>
              <a:rPr lang="en-US" sz="1800" dirty="0"/>
              <a:t>      &lt;</a:t>
            </a:r>
            <a:r>
              <a:rPr lang="en-US" sz="1800" dirty="0" err="1"/>
              <a:t>th</a:t>
            </a:r>
            <a:r>
              <a:rPr lang="en-US" sz="1800" dirty="0"/>
              <a:t>&gt;Title&lt;/</a:t>
            </a:r>
            <a:r>
              <a:rPr lang="en-US" sz="1800" dirty="0" err="1"/>
              <a:t>th</a:t>
            </a:r>
            <a:r>
              <a:rPr lang="en-US" sz="1800" dirty="0"/>
              <a:t>&gt;</a:t>
            </a:r>
            <a:br>
              <a:rPr lang="en-US" sz="1800" dirty="0"/>
            </a:br>
            <a:r>
              <a:rPr lang="en-US" sz="1800" dirty="0"/>
              <a:t>      &lt;</a:t>
            </a:r>
            <a:r>
              <a:rPr lang="en-US" sz="1800" dirty="0" err="1"/>
              <a:t>th</a:t>
            </a:r>
            <a:r>
              <a:rPr lang="en-US" sz="1800" dirty="0"/>
              <a:t>&gt;Artist&lt;/</a:t>
            </a:r>
            <a:r>
              <a:rPr lang="en-US" sz="1800" dirty="0" err="1"/>
              <a:t>th</a:t>
            </a:r>
            <a:r>
              <a:rPr lang="en-US" sz="1800" dirty="0"/>
              <a:t>&gt;</a:t>
            </a:r>
            <a:br>
              <a:rPr lang="en-US" sz="1800" dirty="0"/>
            </a:br>
            <a:r>
              <a:rPr lang="en-US" sz="1800" dirty="0"/>
              <a:t>      &lt;</a:t>
            </a:r>
            <a:r>
              <a:rPr lang="en-US" sz="1800" dirty="0" err="1"/>
              <a:t>th</a:t>
            </a:r>
            <a:r>
              <a:rPr lang="en-US" sz="1800" dirty="0"/>
              <a:t>&gt;Price&lt;/</a:t>
            </a:r>
            <a:r>
              <a:rPr lang="en-US" sz="1800" dirty="0" err="1"/>
              <a:t>th</a:t>
            </a:r>
            <a:r>
              <a:rPr lang="en-US" sz="1800" dirty="0"/>
              <a:t>&gt;</a:t>
            </a:r>
            <a:br>
              <a:rPr lang="en-US" sz="1800" dirty="0"/>
            </a:br>
            <a:r>
              <a:rPr lang="en-US" sz="1800" dirty="0"/>
              <a:t>    &lt;/</a:t>
            </a:r>
            <a:r>
              <a:rPr lang="en-US" sz="1800" dirty="0" err="1"/>
              <a:t>tr</a:t>
            </a:r>
            <a:r>
              <a:rPr lang="en-US" sz="1800" dirty="0"/>
              <a:t>&gt;</a:t>
            </a:r>
            <a:br>
              <a:rPr lang="en-US" sz="1800" dirty="0"/>
            </a:br>
            <a:r>
              <a:rPr lang="en-US" sz="1800" dirty="0"/>
              <a:t>    &lt;</a:t>
            </a:r>
            <a:r>
              <a:rPr lang="en-US" sz="1800" dirty="0" err="1"/>
              <a:t>xsl:for</a:t>
            </a:r>
            <a:r>
              <a:rPr lang="en-US" sz="1800" dirty="0"/>
              <a:t>-each select="catalog/</a:t>
            </a:r>
            <a:r>
              <a:rPr lang="en-US" sz="1800" dirty="0" err="1"/>
              <a:t>cd</a:t>
            </a:r>
            <a:r>
              <a:rPr lang="en-US" sz="1800" dirty="0"/>
              <a:t>"&gt;</a:t>
            </a:r>
            <a:br>
              <a:rPr lang="en-US" sz="1800" dirty="0"/>
            </a:br>
            <a:r>
              <a:rPr lang="en-US" sz="1800" dirty="0"/>
              <a:t>     </a:t>
            </a:r>
            <a:r>
              <a:rPr lang="en-US" sz="4000" dirty="0">
                <a:solidFill>
                  <a:srgbClr val="0000FF"/>
                </a:solidFill>
              </a:rPr>
              <a:t> &lt;</a:t>
            </a:r>
            <a:r>
              <a:rPr lang="en-US" sz="4000" dirty="0" err="1">
                <a:solidFill>
                  <a:srgbClr val="0000FF"/>
                </a:solidFill>
              </a:rPr>
              <a:t>xsl:if</a:t>
            </a:r>
            <a:r>
              <a:rPr lang="en-US" sz="4000" dirty="0">
                <a:solidFill>
                  <a:srgbClr val="0000FF"/>
                </a:solidFill>
              </a:rPr>
              <a:t> test="price &amp;</a:t>
            </a:r>
            <a:r>
              <a:rPr lang="en-US" sz="4000" dirty="0" err="1">
                <a:solidFill>
                  <a:srgbClr val="0000FF"/>
                </a:solidFill>
              </a:rPr>
              <a:t>gt</a:t>
            </a:r>
            <a:r>
              <a:rPr lang="en-US" sz="4000" dirty="0">
                <a:solidFill>
                  <a:srgbClr val="0000FF"/>
                </a:solidFill>
              </a:rPr>
              <a:t>; 10"&gt;</a:t>
            </a:r>
            <a:br>
              <a:rPr lang="en-US" sz="4000" dirty="0">
                <a:solidFill>
                  <a:srgbClr val="0000FF"/>
                </a:solidFill>
              </a:rPr>
            </a:br>
            <a:r>
              <a:rPr lang="en-US" sz="4000" dirty="0">
                <a:solidFill>
                  <a:srgbClr val="0000FF"/>
                </a:solidFill>
              </a:rPr>
              <a:t>        &lt;</a:t>
            </a:r>
            <a:r>
              <a:rPr lang="en-US" sz="4000" dirty="0" err="1">
                <a:solidFill>
                  <a:srgbClr val="0000FF"/>
                </a:solidFill>
              </a:rPr>
              <a:t>tr</a:t>
            </a:r>
            <a:r>
              <a:rPr lang="en-US" sz="4000" dirty="0">
                <a:solidFill>
                  <a:srgbClr val="0000FF"/>
                </a:solidFill>
              </a:rPr>
              <a:t>&gt;</a:t>
            </a:r>
            <a:br>
              <a:rPr lang="en-US" sz="4000" dirty="0">
                <a:solidFill>
                  <a:srgbClr val="0000FF"/>
                </a:solidFill>
              </a:rPr>
            </a:br>
            <a:r>
              <a:rPr lang="en-US" sz="4000" dirty="0">
                <a:solidFill>
                  <a:srgbClr val="0000FF"/>
                </a:solidFill>
              </a:rPr>
              <a:t>          &lt;td&gt;&lt;</a:t>
            </a:r>
            <a:r>
              <a:rPr lang="en-US" sz="4000" dirty="0" err="1">
                <a:solidFill>
                  <a:srgbClr val="0000FF"/>
                </a:solidFill>
              </a:rPr>
              <a:t>xsl:value</a:t>
            </a:r>
            <a:r>
              <a:rPr lang="en-US" sz="4000" dirty="0">
                <a:solidFill>
                  <a:srgbClr val="0000FF"/>
                </a:solidFill>
              </a:rPr>
              <a:t>-of select="title"/&gt;&lt;/td&gt;</a:t>
            </a:r>
            <a:br>
              <a:rPr lang="en-US" sz="4000" dirty="0">
                <a:solidFill>
                  <a:srgbClr val="0000FF"/>
                </a:solidFill>
              </a:rPr>
            </a:br>
            <a:r>
              <a:rPr lang="en-US" sz="4000" dirty="0">
                <a:solidFill>
                  <a:srgbClr val="0000FF"/>
                </a:solidFill>
              </a:rPr>
              <a:t>          &lt;td&gt;&lt;</a:t>
            </a:r>
            <a:r>
              <a:rPr lang="en-US" sz="4000" dirty="0" err="1">
                <a:solidFill>
                  <a:srgbClr val="0000FF"/>
                </a:solidFill>
              </a:rPr>
              <a:t>xsl:value</a:t>
            </a:r>
            <a:r>
              <a:rPr lang="en-US" sz="4000" dirty="0">
                <a:solidFill>
                  <a:srgbClr val="0000FF"/>
                </a:solidFill>
              </a:rPr>
              <a:t>-of select="artist"/&gt;&lt;/td&gt;</a:t>
            </a:r>
            <a:br>
              <a:rPr lang="en-US" sz="4000" dirty="0">
                <a:solidFill>
                  <a:srgbClr val="0000FF"/>
                </a:solidFill>
              </a:rPr>
            </a:br>
            <a:r>
              <a:rPr lang="en-US" sz="4000" dirty="0">
                <a:solidFill>
                  <a:srgbClr val="0000FF"/>
                </a:solidFill>
              </a:rPr>
              <a:t>          &lt;td&gt;&lt;</a:t>
            </a:r>
            <a:r>
              <a:rPr lang="en-US" sz="4000" dirty="0" err="1">
                <a:solidFill>
                  <a:srgbClr val="0000FF"/>
                </a:solidFill>
              </a:rPr>
              <a:t>xsl:value</a:t>
            </a:r>
            <a:r>
              <a:rPr lang="en-US" sz="4000" dirty="0">
                <a:solidFill>
                  <a:srgbClr val="0000FF"/>
                </a:solidFill>
              </a:rPr>
              <a:t>-of select="price"/&gt;&lt;/td&gt;</a:t>
            </a:r>
            <a:br>
              <a:rPr lang="en-US" sz="4000" dirty="0">
                <a:solidFill>
                  <a:srgbClr val="0000FF"/>
                </a:solidFill>
              </a:rPr>
            </a:br>
            <a:r>
              <a:rPr lang="en-US" sz="4000" dirty="0">
                <a:solidFill>
                  <a:srgbClr val="0000FF"/>
                </a:solidFill>
              </a:rPr>
              <a:t>        &lt;/</a:t>
            </a:r>
            <a:r>
              <a:rPr lang="en-US" sz="4000" dirty="0" err="1">
                <a:solidFill>
                  <a:srgbClr val="0000FF"/>
                </a:solidFill>
              </a:rPr>
              <a:t>tr</a:t>
            </a:r>
            <a:r>
              <a:rPr lang="en-US" sz="4000" dirty="0">
                <a:solidFill>
                  <a:srgbClr val="0000FF"/>
                </a:solidFill>
              </a:rPr>
              <a:t>&gt;</a:t>
            </a:r>
            <a:br>
              <a:rPr lang="en-US" sz="4000" dirty="0">
                <a:solidFill>
                  <a:srgbClr val="0000FF"/>
                </a:solidFill>
              </a:rPr>
            </a:br>
            <a:r>
              <a:rPr lang="en-US" sz="4000" dirty="0">
                <a:solidFill>
                  <a:srgbClr val="0000FF"/>
                </a:solidFill>
              </a:rPr>
              <a:t>      &lt;/</a:t>
            </a:r>
            <a:r>
              <a:rPr lang="en-US" sz="4000" dirty="0" err="1">
                <a:solidFill>
                  <a:srgbClr val="0000FF"/>
                </a:solidFill>
              </a:rPr>
              <a:t>xsl:if</a:t>
            </a:r>
            <a:r>
              <a:rPr lang="en-US" sz="4000" dirty="0">
                <a:solidFill>
                  <a:srgbClr val="0000FF"/>
                </a:solidFill>
              </a:rPr>
              <a:t>&gt;</a:t>
            </a:r>
            <a:r>
              <a:rPr lang="en-US" sz="2800" dirty="0">
                <a:solidFill>
                  <a:srgbClr val="0000FF"/>
                </a:solidFill>
              </a:rPr>
              <a:t/>
            </a:r>
            <a:br>
              <a:rPr lang="en-US" sz="2800" dirty="0">
                <a:solidFill>
                  <a:srgbClr val="0000FF"/>
                </a:solidFill>
              </a:rPr>
            </a:br>
            <a:r>
              <a:rPr lang="en-US" sz="2800" dirty="0">
                <a:solidFill>
                  <a:srgbClr val="0000FF"/>
                </a:solidFill>
              </a:rPr>
              <a:t>    </a:t>
            </a:r>
            <a:r>
              <a:rPr lang="en-US" sz="1800" dirty="0"/>
              <a:t>&lt;/</a:t>
            </a:r>
            <a:r>
              <a:rPr lang="en-US" sz="1800" dirty="0" err="1"/>
              <a:t>xsl:for</a:t>
            </a:r>
            <a:r>
              <a:rPr lang="en-US" sz="1800" dirty="0"/>
              <a:t>-each&gt;</a:t>
            </a:r>
            <a:br>
              <a:rPr lang="en-US" sz="1800" dirty="0"/>
            </a:br>
            <a:r>
              <a:rPr lang="en-US" sz="1800" dirty="0"/>
              <a:t>  &lt;/table&gt;</a:t>
            </a:r>
            <a:br>
              <a:rPr lang="en-US" sz="1800" dirty="0"/>
            </a:br>
            <a:r>
              <a:rPr lang="en-US" sz="1800" dirty="0"/>
              <a:t>  &lt;/body&gt;</a:t>
            </a:r>
            <a:br>
              <a:rPr lang="en-US" sz="1800" dirty="0"/>
            </a:br>
            <a:r>
              <a:rPr lang="en-US" sz="1800" dirty="0"/>
              <a:t>  &lt;/html&gt;</a:t>
            </a:r>
            <a:br>
              <a:rPr lang="en-US" sz="1800" dirty="0"/>
            </a:br>
            <a:r>
              <a:rPr lang="en-US" sz="1800" dirty="0"/>
              <a:t>&lt;/</a:t>
            </a:r>
            <a:r>
              <a:rPr lang="en-US" sz="1800" dirty="0" err="1"/>
              <a:t>xsl:template</a:t>
            </a:r>
            <a:r>
              <a:rPr lang="en-US" sz="1800" dirty="0"/>
              <a:t>&gt;</a:t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&lt;/</a:t>
            </a:r>
            <a:r>
              <a:rPr lang="en-US" sz="1800" dirty="0" err="1"/>
              <a:t>xsl:stylesheet</a:t>
            </a:r>
            <a:r>
              <a:rPr lang="en-US" sz="1800" dirty="0"/>
              <a:t>&gt;</a:t>
            </a:r>
            <a:endParaRPr lang="en-US" dirty="0"/>
          </a:p>
          <a:p>
            <a:pPr lvl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749" y="76200"/>
            <a:ext cx="8221851" cy="697424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What Is SOAP?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13922" cy="581057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SOAP stands for Simple Object Access Protocol</a:t>
            </a:r>
          </a:p>
          <a:p>
            <a:pPr lvl="0"/>
            <a:r>
              <a:rPr lang="en-US" dirty="0"/>
              <a:t>SOAP is a Internet communication protocol</a:t>
            </a:r>
          </a:p>
          <a:p>
            <a:pPr lvl="0"/>
            <a:r>
              <a:rPr lang="en-US" dirty="0"/>
              <a:t>SOAP is for communication between applications</a:t>
            </a:r>
          </a:p>
          <a:p>
            <a:pPr lvl="0"/>
            <a:r>
              <a:rPr lang="en-US" dirty="0"/>
              <a:t>SOAP is platform  &amp; language independent</a:t>
            </a:r>
          </a:p>
          <a:p>
            <a:pPr lvl="0"/>
            <a:r>
              <a:rPr lang="en-US" dirty="0"/>
              <a:t>SOAP is based on XML and provides format for sending messages</a:t>
            </a:r>
          </a:p>
          <a:p>
            <a:pPr lvl="0"/>
            <a:r>
              <a:rPr lang="en-US" dirty="0"/>
              <a:t>SOAP allows you to get around firewalls</a:t>
            </a:r>
          </a:p>
          <a:p>
            <a:pPr lvl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749" y="76200"/>
            <a:ext cx="8221851" cy="697424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solidFill>
                  <a:srgbClr val="C00000"/>
                </a:solidFill>
              </a:rPr>
              <a:t>Why SOAP?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13922" cy="581057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It is important for application development to allow Internet communication between programs.</a:t>
            </a:r>
          </a:p>
          <a:p>
            <a:r>
              <a:rPr lang="en-US" dirty="0"/>
              <a:t>Today's applications communicate using Remote Procedure Calls (RPC) between objects, but HTTP was not designed for this. </a:t>
            </a:r>
          </a:p>
          <a:p>
            <a:r>
              <a:rPr lang="en-US" dirty="0"/>
              <a:t>A better way to communicate between applications is over HTTP, because HTTP is supported by all Internet browsers and servers. SOAP was created to accomplish this.</a:t>
            </a:r>
          </a:p>
          <a:p>
            <a:r>
              <a:rPr lang="en-US" dirty="0"/>
              <a:t>SOAP provides a way to communicate between applications running on different operating systems, with different technologies and programming languages.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749" y="76200"/>
            <a:ext cx="8221851" cy="697424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solidFill>
                  <a:srgbClr val="C00000"/>
                </a:solidFill>
              </a:rPr>
              <a:t>SOAP Building Blocks: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13922" cy="581057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SOAP message is an ordinary XML document containing the following elements:</a:t>
            </a:r>
          </a:p>
          <a:p>
            <a:pPr lvl="1"/>
            <a:r>
              <a:rPr lang="en-US" dirty="0"/>
              <a:t>An </a:t>
            </a:r>
            <a:r>
              <a:rPr lang="en-US" b="1" dirty="0"/>
              <a:t>Envelope</a:t>
            </a:r>
            <a:r>
              <a:rPr lang="en-US" dirty="0"/>
              <a:t> element that identifies the XML document as a SOAP message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Header</a:t>
            </a:r>
            <a:r>
              <a:rPr lang="en-US" dirty="0"/>
              <a:t> element that contains header information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Body</a:t>
            </a:r>
            <a:r>
              <a:rPr lang="en-US" dirty="0"/>
              <a:t> element that contains call and response information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Fault</a:t>
            </a:r>
            <a:r>
              <a:rPr lang="en-US" dirty="0"/>
              <a:t> element containing errors and status information</a:t>
            </a:r>
          </a:p>
          <a:p>
            <a:r>
              <a:rPr lang="en-US" dirty="0"/>
              <a:t>All the elements above are declared in the default </a:t>
            </a:r>
            <a:r>
              <a:rPr lang="en-US" i="1" u="sng" dirty="0">
                <a:solidFill>
                  <a:srgbClr val="00B050"/>
                </a:solidFill>
              </a:rPr>
              <a:t>namespace</a:t>
            </a:r>
            <a:r>
              <a:rPr lang="en-US" dirty="0"/>
              <a:t> for the SOAP envelope:</a:t>
            </a:r>
          </a:p>
          <a:p>
            <a:pPr lvl="1">
              <a:buNone/>
            </a:pPr>
            <a:r>
              <a:rPr lang="en-US" dirty="0">
                <a:hlinkClick r:id="rId2"/>
              </a:rPr>
              <a:t>http://www.w3.org/2001/12/soap-envelope</a:t>
            </a:r>
            <a:endParaRPr lang="en-US" dirty="0"/>
          </a:p>
          <a:p>
            <a:r>
              <a:rPr lang="en-US" dirty="0"/>
              <a:t>and the default namespace for SOAP encoding and data types is:</a:t>
            </a:r>
          </a:p>
          <a:p>
            <a:pPr lvl="1">
              <a:buNone/>
            </a:pPr>
            <a:r>
              <a:rPr lang="en-US" dirty="0">
                <a:hlinkClick r:id="rId3"/>
              </a:rPr>
              <a:t>http://www.w3.org/2001/12/soap-encoding</a:t>
            </a:r>
            <a:endParaRPr lang="en-US" dirty="0"/>
          </a:p>
          <a:p>
            <a:pPr lvl="1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3F2A25E-05B1-4A3C-A35E-A8BB0FCF8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A SOAP message is an ordinary XML document containing the following elements: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E6BD2855-39CE-4108-ACDE-02CF36ED53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2426890"/>
            <a:ext cx="9144000" cy="211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317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749" y="76200"/>
            <a:ext cx="8221851" cy="697424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Skeleton SOAP Message: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13922" cy="599526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&lt;?xml version="1.0"?&gt;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&lt;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soap:Envelope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xmlns:soap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="http://www.w3.org/2001/12/soap-envelope"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soap:encodingStyle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="http://www.w3.org/2001/12/soap-encoding"&gt;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/>
              <a:t>	</a:t>
            </a:r>
            <a:r>
              <a:rPr lang="en-US" dirty="0">
                <a:solidFill>
                  <a:srgbClr val="00B050"/>
                </a:solidFill>
              </a:rPr>
              <a:t>&lt;</a:t>
            </a:r>
            <a:r>
              <a:rPr lang="en-US" dirty="0" err="1">
                <a:solidFill>
                  <a:srgbClr val="00B050"/>
                </a:solidFill>
              </a:rPr>
              <a:t>soap:Header</a:t>
            </a:r>
            <a:r>
              <a:rPr lang="en-US" dirty="0">
                <a:solidFill>
                  <a:srgbClr val="00B050"/>
                </a:solidFill>
              </a:rPr>
              <a:t>&gt;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		...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	&lt;/</a:t>
            </a:r>
            <a:r>
              <a:rPr lang="en-US" dirty="0" err="1">
                <a:solidFill>
                  <a:srgbClr val="00B050"/>
                </a:solidFill>
              </a:rPr>
              <a:t>soap:Header</a:t>
            </a:r>
            <a:r>
              <a:rPr lang="en-US" dirty="0">
                <a:solidFill>
                  <a:srgbClr val="00B050"/>
                </a:solidFill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FF"/>
                </a:solidFill>
              </a:rPr>
              <a:t>&lt;</a:t>
            </a:r>
            <a:r>
              <a:rPr lang="en-US" dirty="0" err="1">
                <a:solidFill>
                  <a:srgbClr val="0000FF"/>
                </a:solidFill>
              </a:rPr>
              <a:t>soap:Body</a:t>
            </a:r>
            <a:r>
              <a:rPr lang="en-US" dirty="0">
                <a:solidFill>
                  <a:srgbClr val="0000FF"/>
                </a:solidFill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	...</a:t>
            </a:r>
            <a:br>
              <a:rPr lang="en-US" dirty="0"/>
            </a:br>
            <a:r>
              <a:rPr lang="en-US" dirty="0"/>
              <a:t>  		&lt;</a:t>
            </a:r>
            <a:r>
              <a:rPr lang="en-US" dirty="0" err="1"/>
              <a:t>soap:Fault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	 	 ...</a:t>
            </a:r>
            <a:br>
              <a:rPr lang="en-US" dirty="0"/>
            </a:br>
            <a:r>
              <a:rPr lang="en-US" dirty="0"/>
              <a:t> 		&lt;/</a:t>
            </a:r>
            <a:r>
              <a:rPr lang="en-US" dirty="0" err="1"/>
              <a:t>soap:Fault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FF"/>
                </a:solidFill>
              </a:rPr>
              <a:t>&lt;/</a:t>
            </a:r>
            <a:r>
              <a:rPr lang="en-US" dirty="0" err="1">
                <a:solidFill>
                  <a:srgbClr val="0000FF"/>
                </a:solidFill>
              </a:rPr>
              <a:t>soap:Body</a:t>
            </a:r>
            <a:r>
              <a:rPr lang="en-US" dirty="0">
                <a:solidFill>
                  <a:srgbClr val="0000FF"/>
                </a:solidFill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&lt;/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soap:Envelope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&gt;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438400"/>
            <a:ext cx="4724400" cy="4062651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i="1" dirty="0"/>
              <a:t>The namespace defines the  Envelope as a SOAP Envelope.</a:t>
            </a:r>
          </a:p>
          <a:p>
            <a:pPr>
              <a:buFont typeface="Wingdings" pitchFamily="2" charset="2"/>
              <a:buChar char="Ø"/>
            </a:pPr>
            <a:r>
              <a:rPr lang="en-US" sz="2400" i="1" dirty="0"/>
              <a:t>The encoding-Style attribute is used to define the data types used in the document. </a:t>
            </a:r>
          </a:p>
          <a:p>
            <a:pPr>
              <a:buFont typeface="Wingdings" pitchFamily="2" charset="2"/>
              <a:buChar char="Ø"/>
            </a:pPr>
            <a:r>
              <a:rPr lang="en-US" sz="2400" i="1" dirty="0"/>
              <a:t>The optional SOAP Header element contains application-specific information (like authentication, payment, etc) about the SOAP message.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749" y="76200"/>
            <a:ext cx="8221851" cy="697424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solidFill>
                  <a:srgbClr val="C00000"/>
                </a:solidFill>
              </a:rPr>
              <a:t>SOAP Request 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13922" cy="5995261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The required SOAP Body element contains the actual SOAP message intended for the ultimate endpoint of the message.</a:t>
            </a:r>
            <a:r>
              <a:rPr lang="en-US" dirty="0">
                <a:solidFill>
                  <a:srgbClr val="0000FF"/>
                </a:solidFill>
              </a:rPr>
              <a:t> </a:t>
            </a:r>
          </a:p>
          <a:p>
            <a:pPr>
              <a:buNone/>
            </a:pPr>
            <a:r>
              <a:rPr lang="en-US" b="1" dirty="0">
                <a:solidFill>
                  <a:srgbClr val="0000FF"/>
                </a:solidFill>
              </a:rPr>
              <a:t>Example</a:t>
            </a:r>
          </a:p>
          <a:p>
            <a:pPr>
              <a:buNone/>
            </a:pPr>
            <a:endParaRPr lang="en-US" b="1" dirty="0"/>
          </a:p>
          <a:p>
            <a:r>
              <a:rPr lang="en-US" dirty="0"/>
              <a:t>&lt;?xml version="1.0"?&gt;</a:t>
            </a:r>
            <a:br>
              <a:rPr lang="en-US" dirty="0"/>
            </a:br>
            <a:r>
              <a:rPr lang="en-US" dirty="0"/>
              <a:t>&lt;</a:t>
            </a:r>
            <a:r>
              <a:rPr lang="en-US" dirty="0" err="1"/>
              <a:t>soap:Envelope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xmlns:soap</a:t>
            </a:r>
            <a:r>
              <a:rPr lang="en-US" dirty="0"/>
              <a:t>="http://www.w3.org/2001/12/soap-envelope"</a:t>
            </a:r>
            <a:br>
              <a:rPr lang="en-US" dirty="0"/>
            </a:br>
            <a:r>
              <a:rPr lang="en-US" dirty="0" err="1"/>
              <a:t>soap:encodingStyle</a:t>
            </a:r>
            <a:r>
              <a:rPr lang="en-US" dirty="0"/>
              <a:t>="http://www.w3.org/2001/12/soap-encoding"&gt;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&lt;</a:t>
            </a:r>
            <a:r>
              <a:rPr lang="en-US" dirty="0" err="1"/>
              <a:t>soap:Body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  &lt;m:GetPrice </a:t>
            </a:r>
            <a:r>
              <a:rPr lang="en-US" dirty="0" err="1"/>
              <a:t>xmlns:m</a:t>
            </a:r>
            <a:r>
              <a:rPr lang="en-US" dirty="0"/>
              <a:t>="http://www.w3schools.com/prices"&gt;</a:t>
            </a:r>
            <a:br>
              <a:rPr lang="en-US" dirty="0"/>
            </a:br>
            <a:r>
              <a:rPr lang="en-US" dirty="0"/>
              <a:t>    &lt;m:Item&gt;Apples&lt;/m:Item&gt;</a:t>
            </a:r>
            <a:br>
              <a:rPr lang="en-US" dirty="0"/>
            </a:br>
            <a:r>
              <a:rPr lang="en-US" dirty="0"/>
              <a:t>  &lt;/m:GetPrice&gt;</a:t>
            </a:r>
            <a:br>
              <a:rPr lang="en-US" dirty="0"/>
            </a:br>
            <a:r>
              <a:rPr lang="en-US" dirty="0"/>
              <a:t>&lt;/</a:t>
            </a:r>
            <a:r>
              <a:rPr lang="en-US" dirty="0" err="1"/>
              <a:t>soap:Body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&lt;/</a:t>
            </a:r>
            <a:r>
              <a:rPr lang="en-US" dirty="0" err="1"/>
              <a:t>soap:Envelope</a:t>
            </a:r>
            <a:r>
              <a:rPr lang="en-US" dirty="0"/>
              <a:t>&gt; </a:t>
            </a:r>
          </a:p>
          <a:p>
            <a:pPr>
              <a:buNone/>
            </a:pPr>
            <a:endParaRPr lang="en-US" dirty="0"/>
          </a:p>
          <a:p>
            <a:pPr fontAlgn="t">
              <a:buNone/>
            </a:pPr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b="1" i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749" y="76200"/>
            <a:ext cx="8221851" cy="697424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solidFill>
                  <a:srgbClr val="C00000"/>
                </a:solidFill>
              </a:rPr>
              <a:t>SOAP Response 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13922" cy="599526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SOAP response could look something like this:</a:t>
            </a:r>
          </a:p>
          <a:p>
            <a:pPr>
              <a:buNone/>
            </a:pPr>
            <a:r>
              <a:rPr lang="en-US" dirty="0"/>
              <a:t>&lt;?xml version="1.0"?&gt;</a:t>
            </a:r>
          </a:p>
          <a:p>
            <a:pPr>
              <a:buNone/>
            </a:pPr>
            <a:r>
              <a:rPr lang="en-US" dirty="0"/>
              <a:t>&lt;</a:t>
            </a:r>
            <a:r>
              <a:rPr lang="en-US" dirty="0" err="1"/>
              <a:t>soap:Envelope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xmlns:soap</a:t>
            </a:r>
            <a:r>
              <a:rPr lang="en-US" dirty="0"/>
              <a:t>="http://www.w3.org/2001/12/soap-envelope"</a:t>
            </a:r>
            <a:br>
              <a:rPr lang="en-US" dirty="0"/>
            </a:br>
            <a:r>
              <a:rPr lang="en-US" dirty="0" err="1"/>
              <a:t>soap:encodingStyle</a:t>
            </a:r>
            <a:r>
              <a:rPr lang="en-US" dirty="0"/>
              <a:t>="http://www.w3.org/2001/12/soap-encoding"&gt;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&lt;</a:t>
            </a:r>
            <a:r>
              <a:rPr lang="en-US" dirty="0" err="1"/>
              <a:t>soap:Body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  &lt;m:GetPriceResponse 		</a:t>
            </a:r>
            <a:r>
              <a:rPr lang="en-US" dirty="0" err="1"/>
              <a:t>xmlns:m</a:t>
            </a:r>
            <a:r>
              <a:rPr lang="en-US" dirty="0"/>
              <a:t>="http://www.w3schools.com/prices"&gt;</a:t>
            </a:r>
            <a:br>
              <a:rPr lang="en-US" dirty="0"/>
            </a:br>
            <a:r>
              <a:rPr lang="en-US" dirty="0"/>
              <a:t>   	 &lt;m:Price&gt;1.90&lt;/m:Price&gt;</a:t>
            </a:r>
            <a:br>
              <a:rPr lang="en-US" dirty="0"/>
            </a:br>
            <a:r>
              <a:rPr lang="en-US" dirty="0"/>
              <a:t>  &lt;/m:GetPriceResponse&gt;</a:t>
            </a:r>
            <a:br>
              <a:rPr lang="en-US" dirty="0"/>
            </a:br>
            <a:r>
              <a:rPr lang="en-US" dirty="0"/>
              <a:t>&lt;/</a:t>
            </a:r>
            <a:r>
              <a:rPr lang="en-US" dirty="0" err="1"/>
              <a:t>soap:Body</a:t>
            </a:r>
            <a:r>
              <a:rPr lang="en-US" dirty="0"/>
              <a:t>&gt;</a:t>
            </a:r>
          </a:p>
          <a:p>
            <a:pPr>
              <a:buNone/>
            </a:pPr>
            <a:r>
              <a:rPr lang="en-US" dirty="0"/>
              <a:t>&lt;/</a:t>
            </a:r>
            <a:r>
              <a:rPr lang="en-US" dirty="0" err="1"/>
              <a:t>soap:Envelope</a:t>
            </a:r>
            <a:r>
              <a:rPr lang="en-US" dirty="0"/>
              <a:t>&gt; </a:t>
            </a:r>
          </a:p>
          <a:p>
            <a:pPr>
              <a:buNone/>
            </a:pPr>
            <a:endParaRPr lang="en-US" dirty="0"/>
          </a:p>
          <a:p>
            <a:pPr fontAlgn="t">
              <a:buNone/>
            </a:pPr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b="1" i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749" y="76200"/>
            <a:ext cx="8221851" cy="697424"/>
          </a:xfrm>
        </p:spPr>
        <p:txBody>
          <a:bodyPr>
            <a:normAutofit/>
          </a:bodyPr>
          <a:lstStyle/>
          <a:p>
            <a:pPr algn="l"/>
            <a:r>
              <a:rPr lang="en-US" sz="3600" b="1" i="1" u="sng" dirty="0" err="1">
                <a:solidFill>
                  <a:srgbClr val="C00000"/>
                </a:solidFill>
              </a:rPr>
              <a:t>REpresentational</a:t>
            </a:r>
            <a:r>
              <a:rPr lang="en-US" sz="3600" b="1" i="1" u="sng" dirty="0">
                <a:solidFill>
                  <a:srgbClr val="C00000"/>
                </a:solidFill>
              </a:rPr>
              <a:t> State Transfer (REST):</a:t>
            </a:r>
            <a:endParaRPr lang="en-US" sz="3600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13922" cy="5995261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REST is the newcomer to the blocks. </a:t>
            </a:r>
          </a:p>
          <a:p>
            <a:pPr algn="just"/>
            <a:r>
              <a:rPr lang="en-US" dirty="0"/>
              <a:t>Many developers found SOAP bulky and hard to use. </a:t>
            </a:r>
            <a:r>
              <a:rPr lang="en-US" dirty="0">
                <a:solidFill>
                  <a:srgbClr val="0000FF"/>
                </a:solidFill>
              </a:rPr>
              <a:t>For example</a:t>
            </a:r>
            <a:r>
              <a:rPr lang="en-US" dirty="0"/>
              <a:t>, working with SOAP in JavaScript means writing a lot of code to perform extremely simple tasks because you must create the required XML structure absolutely every time.</a:t>
            </a:r>
          </a:p>
          <a:p>
            <a:pPr algn="just"/>
            <a:r>
              <a:rPr lang="en-US" dirty="0"/>
              <a:t>REST provides a lighter weight alternative. </a:t>
            </a:r>
          </a:p>
          <a:p>
            <a:pPr algn="just"/>
            <a:r>
              <a:rPr lang="en-US" dirty="0"/>
              <a:t>Instead of using XML to make a request, REST relies on a simple URL in many cases. </a:t>
            </a:r>
          </a:p>
          <a:p>
            <a:pPr algn="just"/>
            <a:r>
              <a:rPr lang="en-US" dirty="0"/>
              <a:t>Both SOAP and REST rely on well-established rules that everyone has agreed to abide by in the interest of exchanging information.</a:t>
            </a:r>
          </a:p>
          <a:p>
            <a:pPr algn="just"/>
            <a:r>
              <a:rPr lang="en-US" dirty="0"/>
              <a:t>REST can use four different HTTP 1.1 verbs (</a:t>
            </a:r>
            <a:r>
              <a:rPr lang="en-US" dirty="0">
                <a:solidFill>
                  <a:srgbClr val="0000FF"/>
                </a:solidFill>
              </a:rPr>
              <a:t>GET, POST, PUT, and DELETE</a:t>
            </a:r>
            <a:r>
              <a:rPr lang="en-US" dirty="0"/>
              <a:t>) to perform tasks.</a:t>
            </a:r>
          </a:p>
          <a:p>
            <a:pPr algn="jus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b="1" i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b="1" u="sng" dirty="0"/>
              <a:t>Viewing the REST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229600" cy="4525963"/>
          </a:xfrm>
        </p:spPr>
        <p:txBody>
          <a:bodyPr/>
          <a:lstStyle/>
          <a:p>
            <a:r>
              <a:rPr lang="en-US" sz="2400" dirty="0"/>
              <a:t>Sometimes, simple is best. In this case, REST is about as simple as it gets because all you need is an URL:</a:t>
            </a:r>
          </a:p>
          <a:p>
            <a:pPr lvl="1"/>
            <a:r>
              <a:rPr lang="en-US" sz="2400" dirty="0"/>
              <a:t>Open your browser and type</a:t>
            </a:r>
          </a:p>
          <a:p>
            <a:pPr lvl="1"/>
            <a:r>
              <a:rPr lang="en-US" sz="2400" dirty="0">
                <a:hlinkClick r:id="rId2"/>
              </a:rPr>
              <a:t>http://rpc.geocoder.us/service/csv?address=1600+Pennsylvania+Ave,+Washington+DC</a:t>
            </a:r>
            <a:r>
              <a:rPr lang="en-US" sz="2400" dirty="0"/>
              <a:t>                             address field. </a:t>
            </a:r>
          </a:p>
          <a:p>
            <a:pPr lvl="1"/>
            <a:r>
              <a:rPr lang="en-US" sz="2400" dirty="0"/>
              <a:t>Press Enter. You’ll see the output in your browser in CSV format:</a:t>
            </a:r>
          </a:p>
          <a:p>
            <a:endParaRPr lang="en-US" dirty="0"/>
          </a:p>
        </p:txBody>
      </p:sp>
      <p:pic>
        <p:nvPicPr>
          <p:cNvPr id="4" name="img-1357154064360" descr="GeoCoder REST example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3686175"/>
            <a:ext cx="8153400" cy="301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949" y="216976"/>
            <a:ext cx="8221851" cy="697424"/>
          </a:xfrm>
        </p:spPr>
        <p:txBody>
          <a:bodyPr>
            <a:normAutofit/>
          </a:bodyPr>
          <a:lstStyle/>
          <a:p>
            <a:pPr algn="l"/>
            <a:r>
              <a:rPr lang="en-US" sz="3600" b="1" u="sng" dirty="0">
                <a:solidFill>
                  <a:srgbClr val="C00000"/>
                </a:solidFill>
              </a:rPr>
              <a:t>SOAP vs REST Differences: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38939"/>
            <a:ext cx="8713922" cy="599526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REST is more dynamic, no need for creating and updating UDDI. </a:t>
            </a:r>
            <a:r>
              <a:rPr lang="en-US" sz="2000" dirty="0"/>
              <a:t>(</a:t>
            </a:r>
            <a:r>
              <a:rPr lang="en-US" sz="1400" b="1" dirty="0"/>
              <a:t>UDDI</a:t>
            </a:r>
            <a:r>
              <a:rPr lang="en-US" sz="1400" dirty="0"/>
              <a:t> is an XML-based standard for describing, publishing, and finding web services. </a:t>
            </a:r>
            <a:r>
              <a:rPr lang="en-US" sz="1400" b="1" dirty="0"/>
              <a:t>UDDI</a:t>
            </a:r>
            <a:r>
              <a:rPr lang="en-US" sz="1400" dirty="0"/>
              <a:t> stands for Universal Description, Discovery, and Integration.</a:t>
            </a:r>
            <a:r>
              <a:rPr lang="en-US" sz="2000" dirty="0"/>
              <a:t>)</a:t>
            </a:r>
            <a:endParaRPr lang="en-US" dirty="0"/>
          </a:p>
          <a:p>
            <a:pPr lvl="0"/>
            <a:r>
              <a:rPr lang="en-US" dirty="0"/>
              <a:t>REST is not restricted to XML format. REST web services can send plain text.</a:t>
            </a:r>
          </a:p>
          <a:p>
            <a:pPr fontAlgn="t"/>
            <a:r>
              <a:rPr lang="en-US" dirty="0"/>
              <a:t>REST, unlike SOAP is </a:t>
            </a:r>
            <a:r>
              <a:rPr lang="en-US" b="1" i="1" dirty="0"/>
              <a:t>not</a:t>
            </a:r>
            <a:r>
              <a:rPr lang="en-US" dirty="0"/>
              <a:t> a protocol.</a:t>
            </a:r>
          </a:p>
          <a:p>
            <a:pPr fontAlgn="t"/>
            <a:r>
              <a:rPr lang="en-US" dirty="0"/>
              <a:t>REST is protocol independent. A </a:t>
            </a:r>
            <a:r>
              <a:rPr lang="en-US" dirty="0" err="1"/>
              <a:t>RESTful</a:t>
            </a:r>
            <a:r>
              <a:rPr lang="en-US" dirty="0"/>
              <a:t> architecture may use HTTP, FTP or SOAP as the underlying communication protocol.</a:t>
            </a:r>
          </a:p>
          <a:p>
            <a:pPr fontAlgn="t"/>
            <a:r>
              <a:rPr lang="en-US" dirty="0"/>
              <a:t>REST is an </a:t>
            </a:r>
            <a:r>
              <a:rPr lang="en-US" i="1" dirty="0"/>
              <a:t>architectural style</a:t>
            </a:r>
            <a:r>
              <a:rPr lang="en-US" dirty="0"/>
              <a:t> and a </a:t>
            </a:r>
            <a:r>
              <a:rPr lang="en-US" i="1" dirty="0"/>
              <a:t>design</a:t>
            </a:r>
            <a:r>
              <a:rPr lang="en-US" dirty="0"/>
              <a:t> for network-based software architectures.</a:t>
            </a:r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b="1" i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820</Words>
  <Application>Microsoft Office PowerPoint</Application>
  <PresentationFormat>On-screen Show (4:3)</PresentationFormat>
  <Paragraphs>137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Office Theme</vt:lpstr>
      <vt:lpstr>WEB SERVICES</vt:lpstr>
      <vt:lpstr>What Is XSL?</vt:lpstr>
      <vt:lpstr>Create an XSL Style Sheet (Cdstock.xsl):</vt:lpstr>
      <vt:lpstr>Example (Cdstock.xsl) Explanation:</vt:lpstr>
      <vt:lpstr>Link the XSL Style Sheet to the XML Document (CdStock.xml)</vt:lpstr>
      <vt:lpstr>XSLT &lt;xsl: sort&gt; Element</vt:lpstr>
      <vt:lpstr>The &lt;xsl:if&gt; Element</vt:lpstr>
      <vt:lpstr>What Is SOAP?</vt:lpstr>
      <vt:lpstr>Why SOAP?</vt:lpstr>
      <vt:lpstr>SOAP Building Blocks:</vt:lpstr>
      <vt:lpstr>A SOAP message is an ordinary XML document containing the following elements:</vt:lpstr>
      <vt:lpstr>Skeleton SOAP Message:</vt:lpstr>
      <vt:lpstr>SOAP Request Example:</vt:lpstr>
      <vt:lpstr>SOAP Response Example:</vt:lpstr>
      <vt:lpstr>REpresentational State Transfer (REST):</vt:lpstr>
      <vt:lpstr>Viewing the REST Example</vt:lpstr>
      <vt:lpstr>SOAP vs REST Differences: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XHTML &amp; WML</dc:title>
  <dc:creator>Administrator</dc:creator>
  <cp:lastModifiedBy>Microsoft account</cp:lastModifiedBy>
  <cp:revision>107</cp:revision>
  <dcterms:created xsi:type="dcterms:W3CDTF">2007-05-20T19:07:59Z</dcterms:created>
  <dcterms:modified xsi:type="dcterms:W3CDTF">2020-09-28T04:04:38Z</dcterms:modified>
</cp:coreProperties>
</file>
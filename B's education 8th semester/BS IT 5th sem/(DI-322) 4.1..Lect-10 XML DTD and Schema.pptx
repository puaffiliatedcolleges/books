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71" r:id="rId6"/>
    <p:sldId id="272" r:id="rId7"/>
    <p:sldId id="261" r:id="rId8"/>
    <p:sldId id="262" r:id="rId9"/>
    <p:sldId id="273" r:id="rId10"/>
    <p:sldId id="274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08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05D3F4-B91E-4737-AD1F-F4F3C689C397}" type="datetimeFigureOut">
              <a:rPr lang="en-US" smtClean="0"/>
              <a:t>20-Apr-21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390B9F-BF70-4C0E-9442-9423D9C2B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723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390B9F-BF70-4C0E-9442-9423D9C2B1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39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PCDATA means </a:t>
            </a:r>
            <a:r>
              <a:rPr lang="en-US" sz="12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parsed character</a:t>
            </a:r>
            <a:r>
              <a:rPr lang="en-US" sz="12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390B9F-BF70-4C0E-9442-9423D9C2B1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457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3B6454B6-BB5D-4F97-8870-6DB9E9C8A379}" type="datetimeFigureOut">
              <a:rPr lang="en-US" smtClean="0"/>
              <a:t>20-Apr-21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0EA2EB43-B443-4017-BFE5-69F441B68042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3B6454B6-BB5D-4F97-8870-6DB9E9C8A379}" type="datetimeFigureOut">
              <a:rPr lang="en-US" smtClean="0"/>
              <a:t>20-Apr-21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EA2EB43-B443-4017-BFE5-69F441B6804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3B6454B6-BB5D-4F97-8870-6DB9E9C8A379}" type="datetimeFigureOut">
              <a:rPr lang="en-US" smtClean="0"/>
              <a:t>20-Apr-21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0EA2EB43-B443-4017-BFE5-69F441B68042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54B6-BB5D-4F97-8870-6DB9E9C8A379}" type="datetimeFigureOut">
              <a:rPr lang="en-US" smtClean="0"/>
              <a:t>20-Apr-21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2EB43-B443-4017-BFE5-69F441B6804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54B6-BB5D-4F97-8870-6DB9E9C8A379}" type="datetimeFigureOut">
              <a:rPr lang="en-US" smtClean="0"/>
              <a:t>20-Apr-21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2EB43-B443-4017-BFE5-69F441B6804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B6454B6-BB5D-4F97-8870-6DB9E9C8A379}" type="datetimeFigureOut">
              <a:rPr lang="en-US" smtClean="0"/>
              <a:t>20-Apr-21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EA2EB43-B443-4017-BFE5-69F441B6804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54B6-BB5D-4F97-8870-6DB9E9C8A379}" type="datetimeFigureOut">
              <a:rPr lang="en-US" smtClean="0"/>
              <a:t>20-Apr-21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2EB43-B443-4017-BFE5-69F441B680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3B6454B6-BB5D-4F97-8870-6DB9E9C8A379}" type="datetimeFigureOut">
              <a:rPr lang="en-US" smtClean="0"/>
              <a:t>20-Apr-21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EA2EB43-B443-4017-BFE5-69F441B68042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B6454B6-BB5D-4F97-8870-6DB9E9C8A379}" type="datetimeFigureOut">
              <a:rPr lang="en-US" smtClean="0"/>
              <a:t>20-Apr-21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EA2EB43-B443-4017-BFE5-69F441B68042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54B6-BB5D-4F97-8870-6DB9E9C8A379}" type="datetimeFigureOut">
              <a:rPr lang="en-US" smtClean="0"/>
              <a:t>20-Apr-21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2EB43-B443-4017-BFE5-69F441B680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54B6-BB5D-4F97-8870-6DB9E9C8A379}" type="datetimeFigureOut">
              <a:rPr lang="en-US" smtClean="0"/>
              <a:t>20-Apr-21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2EB43-B443-4017-BFE5-69F441B680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3B6454B6-BB5D-4F97-8870-6DB9E9C8A379}" type="datetimeFigureOut">
              <a:rPr lang="en-US" smtClean="0"/>
              <a:t>20-Apr-21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EA2EB43-B443-4017-BFE5-69F441B6804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 panose="05000000000000000000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 panose="05000000000000000000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 panose="05000000000000000000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 panose="05020102010507070707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 panose="05000000000000000000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5000" y="1052001"/>
            <a:ext cx="7772400" cy="2224599"/>
          </a:xfrm>
        </p:spPr>
        <p:txBody>
          <a:bodyPr>
            <a:normAutofit/>
          </a:bodyPr>
          <a:lstStyle/>
          <a:p>
            <a:r>
              <a:rPr lang="en-US" sz="5400" dirty="0"/>
              <a:t>XML FILES &amp; CSS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3886200"/>
            <a:ext cx="8153400" cy="1752600"/>
          </a:xfrm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4400" b="1" i="1" dirty="0">
                <a:solidFill>
                  <a:srgbClr val="C00000"/>
                </a:solidFill>
              </a:rPr>
              <a:t>  Simple Files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400" i="1" dirty="0">
                <a:solidFill>
                  <a:srgbClr val="C00000"/>
                </a:solidFill>
              </a:rPr>
              <a:t>  Collaboration to CSS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400" i="1" dirty="0">
                <a:solidFill>
                  <a:srgbClr val="C00000"/>
                </a:solidFill>
              </a:rPr>
              <a:t>  DTD Files</a:t>
            </a:r>
            <a:endParaRPr lang="en-US" sz="24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-207479"/>
            <a:ext cx="7467600" cy="1045679"/>
          </a:xfrm>
        </p:spPr>
        <p:txBody>
          <a:bodyPr>
            <a:normAutofit/>
          </a:bodyPr>
          <a:lstStyle/>
          <a:p>
            <a:r>
              <a:rPr lang="en-US" sz="4000" b="1" dirty="0"/>
              <a:t>Viewing XML Files</a:t>
            </a:r>
            <a:endParaRPr lang="en-US" sz="4000" u="sng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914400"/>
            <a:ext cx="8326464" cy="5765369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800" dirty="0"/>
              <a:t>Don't expect XML files to be displayed as HTML pages.</a:t>
            </a:r>
          </a:p>
          <a:p>
            <a:pPr algn="just"/>
            <a:r>
              <a:rPr lang="en-US" sz="2800" dirty="0"/>
              <a:t>The XML document will be displayed with color-coded root and child elements. </a:t>
            </a:r>
          </a:p>
          <a:p>
            <a:pPr algn="just"/>
            <a:r>
              <a:rPr lang="en-US" sz="2800" dirty="0"/>
              <a:t>A plus (+) or minus sign (-) to the left of the elements can be clicked to expand or collapse the element structure. </a:t>
            </a:r>
          </a:p>
          <a:p>
            <a:pPr algn="just"/>
            <a:r>
              <a:rPr lang="en-US" sz="2800" dirty="0"/>
              <a:t>To view the raw XML source, select "View Page Source“ from the browser menu.</a:t>
            </a:r>
          </a:p>
          <a:p>
            <a:pPr algn="just">
              <a:buNone/>
            </a:pPr>
            <a:r>
              <a:rPr lang="en-US" sz="2800" b="1" dirty="0"/>
              <a:t>	</a:t>
            </a:r>
            <a:r>
              <a:rPr lang="en-US" sz="2800" b="1" u="sng" dirty="0">
                <a:solidFill>
                  <a:srgbClr val="0070C0"/>
                </a:solidFill>
              </a:rPr>
              <a:t>Why Does XML Display Like This?</a:t>
            </a:r>
          </a:p>
          <a:p>
            <a:pPr algn="just"/>
            <a:r>
              <a:rPr lang="en-US" sz="2800" dirty="0"/>
              <a:t>Since XML tags are "invented" by the author of the XML document, browsers do not know if a tag like &lt;table&gt; describes an HTML table or a dining table.</a:t>
            </a:r>
          </a:p>
          <a:p>
            <a:pPr algn="just"/>
            <a:r>
              <a:rPr lang="en-US" sz="2800" dirty="0"/>
              <a:t>Without any information about how to display the data, most browsers will just display the XML document as it is.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7467600" cy="1143000"/>
          </a:xfrm>
        </p:spPr>
        <p:txBody>
          <a:bodyPr/>
          <a:lstStyle/>
          <a:p>
            <a:r>
              <a:rPr lang="en-US" sz="3200" b="1" dirty="0"/>
              <a:t>Viewing XML File’s OUTPUT:</a:t>
            </a:r>
            <a:br>
              <a:rPr lang="en-US" sz="3200" b="1" dirty="0"/>
            </a:br>
            <a:r>
              <a:rPr lang="en-US" sz="3200" b="1" u="sng" dirty="0"/>
              <a:t>(Collapse code)</a:t>
            </a:r>
            <a:endParaRPr lang="en-US" u="sng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295401"/>
            <a:ext cx="8717118" cy="2895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349" y="4785102"/>
            <a:ext cx="8216467" cy="1006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533400" y="4126468"/>
            <a:ext cx="41472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(Expandable code)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609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600" u="sng" dirty="0">
                <a:solidFill>
                  <a:srgbClr val="C00000"/>
                </a:solidFill>
              </a:rPr>
              <a:t>Displaying your XML Files with CSS?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457200"/>
            <a:ext cx="8318500" cy="6377305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/>
              <a:t>&lt;?xml version="1.0" encoding="UTF-8</a:t>
            </a:r>
            <a:r>
              <a:rPr lang="en-US" sz="2000" b="1" dirty="0"/>
              <a:t>"</a:t>
            </a:r>
            <a:r>
              <a:rPr lang="en-US" sz="2000" dirty="0"/>
              <a:t>?&gt;</a:t>
            </a:r>
          </a:p>
          <a:p>
            <a:pPr>
              <a:buNone/>
            </a:pPr>
            <a:r>
              <a:rPr lang="en-US" sz="2000" dirty="0"/>
              <a:t>&lt;?xml-</a:t>
            </a:r>
            <a:r>
              <a:rPr lang="en-US" sz="2000" dirty="0" err="1"/>
              <a:t>stylesheet</a:t>
            </a:r>
            <a:r>
              <a:rPr lang="en-US" sz="2000" dirty="0"/>
              <a:t> type="text/</a:t>
            </a:r>
            <a:r>
              <a:rPr lang="en-US" sz="2000" dirty="0" err="1"/>
              <a:t>css</a:t>
            </a:r>
            <a:r>
              <a:rPr lang="en-US" sz="2000" dirty="0"/>
              <a:t>" </a:t>
            </a:r>
            <a:r>
              <a:rPr lang="en-US" sz="2000" dirty="0" err="1"/>
              <a:t>href</a:t>
            </a:r>
            <a:r>
              <a:rPr lang="en-US" sz="2000" dirty="0"/>
              <a:t>="cd_catalog.css"?&gt;</a:t>
            </a:r>
          </a:p>
          <a:p>
            <a:pPr>
              <a:buNone/>
            </a:pPr>
            <a:r>
              <a:rPr lang="en-US" sz="1800" dirty="0"/>
              <a:t>&lt;CATALOG&gt;		</a:t>
            </a:r>
          </a:p>
          <a:p>
            <a:pPr>
              <a:buNone/>
            </a:pPr>
            <a:r>
              <a:rPr lang="en-US" sz="1800" dirty="0"/>
              <a:t>	&lt;CD&gt;</a:t>
            </a:r>
            <a:br>
              <a:rPr lang="en-US" sz="1800" dirty="0"/>
            </a:br>
            <a:r>
              <a:rPr lang="en-US" sz="1800" dirty="0"/>
              <a:t>	&lt;TITLE&gt;Empire Burlesque&lt;/TITLE&gt;</a:t>
            </a:r>
            <a:br>
              <a:rPr lang="en-US" sz="1800" dirty="0"/>
            </a:br>
            <a:r>
              <a:rPr lang="en-US" sz="1800" dirty="0"/>
              <a:t>    	&lt;ARTIST&gt;Bob Dylan&lt;/ARTIST&gt;</a:t>
            </a:r>
            <a:br>
              <a:rPr lang="en-US" sz="1800" dirty="0"/>
            </a:br>
            <a:r>
              <a:rPr lang="en-US" sz="1800" dirty="0"/>
              <a:t>    	&lt;COUNTRY&gt;USA&lt;/COUNTRY&gt;</a:t>
            </a:r>
            <a:br>
              <a:rPr lang="en-US" sz="1800" dirty="0"/>
            </a:br>
            <a:r>
              <a:rPr lang="en-US" sz="1800" dirty="0"/>
              <a:t>    	&lt;COMPANY&gt;Columbia&lt;/COMPANY&gt;</a:t>
            </a:r>
            <a:br>
              <a:rPr lang="en-US" sz="1800" dirty="0"/>
            </a:br>
            <a:r>
              <a:rPr lang="en-US" sz="1800" dirty="0"/>
              <a:t>    	&lt;PRICE&gt;10.90&lt;/PRICE&gt;</a:t>
            </a:r>
            <a:br>
              <a:rPr lang="en-US" sz="1800" dirty="0"/>
            </a:br>
            <a:r>
              <a:rPr lang="en-US" sz="1800" dirty="0"/>
              <a:t>    	&lt;YEAR&gt;1985&lt;/YEAR&gt;</a:t>
            </a:r>
            <a:br>
              <a:rPr lang="en-US" sz="1800" dirty="0"/>
            </a:br>
            <a:r>
              <a:rPr lang="en-US" sz="1800" dirty="0"/>
              <a:t>&lt;/CD&gt;		</a:t>
            </a:r>
          </a:p>
          <a:p>
            <a:pPr>
              <a:buNone/>
            </a:pPr>
            <a:r>
              <a:rPr lang="en-US" sz="1800" dirty="0"/>
              <a:t>	&lt;CD&gt;</a:t>
            </a:r>
            <a:br>
              <a:rPr lang="en-US" sz="1800" dirty="0"/>
            </a:br>
            <a:r>
              <a:rPr lang="en-US" sz="1800" dirty="0"/>
              <a:t>    	&lt;TITLE&gt;Hide your heart&lt;/TITLE&gt;</a:t>
            </a:r>
            <a:br>
              <a:rPr lang="en-US" sz="1800" dirty="0"/>
            </a:br>
            <a:r>
              <a:rPr lang="en-US" sz="1800" dirty="0"/>
              <a:t>    	&lt;ARTIST&gt;Bonnie Tyler&lt;/ARTIST&gt;</a:t>
            </a:r>
            <a:br>
              <a:rPr lang="en-US" sz="1800" dirty="0"/>
            </a:br>
            <a:r>
              <a:rPr lang="en-US" sz="1800" dirty="0"/>
              <a:t>    	&lt;COUNTRY&gt;UK&lt;/COUNTRY&gt;</a:t>
            </a:r>
            <a:br>
              <a:rPr lang="en-US" sz="1800" dirty="0"/>
            </a:br>
            <a:r>
              <a:rPr lang="en-US" sz="1800" dirty="0"/>
              <a:t>    	&lt;COMPANY&gt;CBS Records&lt;/COMPANY&gt;</a:t>
            </a:r>
            <a:br>
              <a:rPr lang="en-US" sz="1800" dirty="0"/>
            </a:br>
            <a:r>
              <a:rPr lang="en-US" sz="1800" dirty="0"/>
              <a:t>    	&lt;PRICE&gt;9.90&lt;/PRICE&gt;</a:t>
            </a:r>
            <a:br>
              <a:rPr lang="en-US" sz="1800" dirty="0"/>
            </a:br>
            <a:r>
              <a:rPr lang="en-US" sz="1800" dirty="0"/>
              <a:t>    	&lt;YEAR&gt;1988&lt;/YEAR&gt;</a:t>
            </a:r>
            <a:br>
              <a:rPr lang="en-US" sz="1800" dirty="0"/>
            </a:br>
            <a:r>
              <a:rPr lang="en-US" sz="1800" dirty="0"/>
              <a:t>&lt;/CD&gt;		</a:t>
            </a:r>
          </a:p>
          <a:p>
            <a:pPr>
              <a:buNone/>
            </a:pPr>
            <a:r>
              <a:rPr lang="en-US" sz="1800" dirty="0"/>
              <a:t>&lt;/CATALOG&gt;</a:t>
            </a:r>
          </a:p>
        </p:txBody>
      </p:sp>
      <p:sp>
        <p:nvSpPr>
          <p:cNvPr id="4" name="Rectangle 3"/>
          <p:cNvSpPr/>
          <p:nvPr/>
        </p:nvSpPr>
        <p:spPr>
          <a:xfrm rot="3108937">
            <a:off x="3334552" y="3416969"/>
            <a:ext cx="781268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An xml file “CDBOOK.xml”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246" y="348712"/>
            <a:ext cx="7831455" cy="647065"/>
          </a:xfrm>
        </p:spPr>
        <p:txBody>
          <a:bodyPr>
            <a:normAutofit fontScale="90000"/>
          </a:bodyPr>
          <a:lstStyle/>
          <a:p>
            <a:r>
              <a:rPr lang="en-US" sz="3600" u="sng" dirty="0">
                <a:solidFill>
                  <a:srgbClr val="C00000"/>
                </a:solidFill>
              </a:rPr>
              <a:t>Displaying your XML Files with CSS?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2"/>
          </p:nvPr>
        </p:nvSpPr>
        <p:spPr>
          <a:xfrm>
            <a:off x="304800" y="1837827"/>
            <a:ext cx="3975735" cy="480935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/>
              <a:t>CATALOG </a:t>
            </a:r>
          </a:p>
          <a:p>
            <a:pPr>
              <a:buNone/>
            </a:pPr>
            <a:r>
              <a:rPr lang="en-US" sz="2000" dirty="0"/>
              <a:t>{ background-color: #00ff44;</a:t>
            </a:r>
          </a:p>
          <a:p>
            <a:pPr>
              <a:buNone/>
            </a:pPr>
            <a:r>
              <a:rPr lang="en-US" sz="2000" dirty="0"/>
              <a:t>	width: 100%;</a:t>
            </a:r>
          </a:p>
          <a:p>
            <a:pPr>
              <a:buNone/>
            </a:pPr>
            <a:r>
              <a:rPr lang="en-US" sz="2000" dirty="0"/>
              <a:t>}</a:t>
            </a:r>
          </a:p>
          <a:p>
            <a:pPr>
              <a:buNone/>
            </a:pPr>
            <a:r>
              <a:rPr lang="en-US" sz="2000" dirty="0"/>
              <a:t>CD{</a:t>
            </a:r>
          </a:p>
          <a:p>
            <a:pPr>
              <a:buNone/>
            </a:pPr>
            <a:r>
              <a:rPr lang="en-US" sz="2000" dirty="0"/>
              <a:t>	display: block;</a:t>
            </a:r>
          </a:p>
          <a:p>
            <a:pPr>
              <a:buNone/>
            </a:pPr>
            <a:r>
              <a:rPr lang="en-US" sz="2000" dirty="0"/>
              <a:t>	margin-bottom: 30pt;</a:t>
            </a:r>
          </a:p>
          <a:p>
            <a:pPr>
              <a:buNone/>
            </a:pPr>
            <a:r>
              <a:rPr lang="en-US" sz="2000" dirty="0"/>
              <a:t>	margin-left: 0;</a:t>
            </a:r>
          </a:p>
          <a:p>
            <a:pPr>
              <a:buNone/>
            </a:pPr>
            <a:r>
              <a:rPr lang="en-US" sz="2000" dirty="0"/>
              <a:t>}</a:t>
            </a:r>
          </a:p>
          <a:p>
            <a:pPr>
              <a:buNone/>
            </a:pPr>
            <a:r>
              <a:rPr lang="en-US" sz="2000" dirty="0"/>
              <a:t>TITLE {</a:t>
            </a:r>
          </a:p>
          <a:p>
            <a:pPr>
              <a:buNone/>
            </a:pPr>
            <a:r>
              <a:rPr lang="en-US" sz="2000" dirty="0"/>
              <a:t>	color: #FF0000;</a:t>
            </a:r>
          </a:p>
          <a:p>
            <a:pPr>
              <a:buNone/>
            </a:pPr>
            <a:r>
              <a:rPr lang="en-US" sz="2000" dirty="0"/>
              <a:t>	</a:t>
            </a:r>
            <a:r>
              <a:rPr lang="en-US" sz="2000" dirty="0">
                <a:sym typeface="+mn-ea"/>
              </a:rPr>
              <a:t>font-size: 20pt;</a:t>
            </a:r>
            <a:endParaRPr lang="en-US" sz="2000" dirty="0"/>
          </a:p>
          <a:p>
            <a:pPr>
              <a:buNone/>
            </a:pPr>
            <a:r>
              <a:rPr lang="en-US" sz="2000" dirty="0">
                <a:sym typeface="+mn-ea"/>
              </a:rPr>
              <a:t>}</a:t>
            </a:r>
            <a:endParaRPr lang="en-US" sz="2000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4371974" y="1828800"/>
            <a:ext cx="4183089" cy="4680488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ARTIST</a:t>
            </a:r>
          </a:p>
          <a:p>
            <a:pPr>
              <a:buNone/>
            </a:pPr>
            <a:r>
              <a:rPr lang="en-US" dirty="0"/>
              <a:t>{</a:t>
            </a:r>
          </a:p>
          <a:p>
            <a:pPr>
              <a:buNone/>
            </a:pPr>
            <a:r>
              <a:rPr lang="en-US" dirty="0"/>
              <a:t>color: #0000FF;</a:t>
            </a:r>
          </a:p>
          <a:p>
            <a:pPr>
              <a:buNone/>
            </a:pPr>
            <a:r>
              <a:rPr lang="en-US" dirty="0"/>
              <a:t>font-size: 20pt;</a:t>
            </a:r>
          </a:p>
          <a:p>
            <a:pPr>
              <a:buNone/>
            </a:pPr>
            <a:r>
              <a:rPr lang="en-US" dirty="0"/>
              <a:t>}</a:t>
            </a:r>
          </a:p>
          <a:p>
            <a:pPr>
              <a:buNone/>
            </a:pPr>
            <a:r>
              <a:rPr lang="en-US" dirty="0"/>
              <a:t>COUNTRY,PRICE,YEAR,COMPANY</a:t>
            </a:r>
          </a:p>
          <a:p>
            <a:pPr>
              <a:buNone/>
            </a:pPr>
            <a:r>
              <a:rPr lang="en-US" dirty="0"/>
              <a:t>{</a:t>
            </a:r>
          </a:p>
          <a:p>
            <a:pPr>
              <a:buNone/>
            </a:pPr>
            <a:r>
              <a:rPr lang="en-US" dirty="0"/>
              <a:t>display: block;</a:t>
            </a:r>
          </a:p>
          <a:p>
            <a:pPr>
              <a:buNone/>
            </a:pPr>
            <a:r>
              <a:rPr lang="en-US" dirty="0"/>
              <a:t>color: #000000;</a:t>
            </a:r>
          </a:p>
          <a:p>
            <a:pPr>
              <a:buNone/>
            </a:pPr>
            <a:r>
              <a:rPr lang="en-US" dirty="0"/>
              <a:t>margin-left: 20pt;</a:t>
            </a:r>
          </a:p>
          <a:p>
            <a:pPr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1752600" y="1034161"/>
            <a:ext cx="4953000" cy="658368"/>
          </a:xfrm>
        </p:spPr>
        <p:txBody>
          <a:bodyPr/>
          <a:lstStyle/>
          <a:p>
            <a:r>
              <a:rPr lang="en-US" dirty="0"/>
              <a:t>A CSS file “cd_catalog.css”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1752600" y="228600"/>
            <a:ext cx="4953000" cy="658368"/>
          </a:xfrm>
        </p:spPr>
        <p:txBody>
          <a:bodyPr/>
          <a:lstStyle/>
          <a:p>
            <a:r>
              <a:rPr lang="en-US" dirty="0"/>
              <a:t>Browser output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524000"/>
            <a:ext cx="6421728" cy="4967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381000"/>
            <a:ext cx="7467600" cy="1143000"/>
          </a:xfrm>
        </p:spPr>
        <p:txBody>
          <a:bodyPr>
            <a:normAutofit/>
          </a:bodyPr>
          <a:lstStyle/>
          <a:p>
            <a:r>
              <a:rPr lang="en-US" sz="3600" b="1" u="sng" dirty="0"/>
              <a:t>XML Document Types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914399"/>
            <a:ext cx="8419454" cy="5749871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rgbClr val="0000FF"/>
                </a:solidFill>
              </a:rPr>
              <a:t>An XML document with correct syntax is called "Well Formed".  </a:t>
            </a:r>
            <a:r>
              <a:rPr lang="en-US" sz="2800" dirty="0" smtClean="0">
                <a:solidFill>
                  <a:srgbClr val="0000FF"/>
                </a:solidFill>
              </a:rPr>
              <a:t>i.e. </a:t>
            </a:r>
            <a:endParaRPr lang="en-US" sz="2800" dirty="0">
              <a:solidFill>
                <a:srgbClr val="0000FF"/>
              </a:solidFill>
            </a:endParaRPr>
          </a:p>
          <a:p>
            <a:pPr lvl="1"/>
            <a:r>
              <a:rPr lang="en-US" dirty="0"/>
              <a:t>XML document must have a root element, a closing tag, case sensitive, properly nested and values must be quoted.</a:t>
            </a:r>
          </a:p>
          <a:p>
            <a:pPr lvl="0"/>
            <a:r>
              <a:rPr lang="en-US" sz="3200" dirty="0">
                <a:solidFill>
                  <a:srgbClr val="0000FF"/>
                </a:solidFill>
              </a:rPr>
              <a:t>When to Use a Document Definition?</a:t>
            </a:r>
          </a:p>
          <a:p>
            <a:pPr lvl="1"/>
            <a:r>
              <a:rPr lang="en-US" sz="2700" dirty="0"/>
              <a:t>A document definition is the easiest way to provide a reference to the legal elements and attributes of a document.</a:t>
            </a:r>
          </a:p>
          <a:p>
            <a:pPr lvl="1"/>
            <a:r>
              <a:rPr lang="en-US" sz="2700" dirty="0"/>
              <a:t>A document definition also provides a common reference that many users (developers) can share.</a:t>
            </a:r>
          </a:p>
          <a:p>
            <a:pPr lvl="1"/>
            <a:r>
              <a:rPr lang="en-US" sz="2700" dirty="0"/>
              <a:t>A document definition provides a standardization that makes life easier.</a:t>
            </a:r>
          </a:p>
          <a:p>
            <a:endParaRPr lang="en-US" sz="3100" dirty="0"/>
          </a:p>
          <a:p>
            <a:pPr lvl="1"/>
            <a:endParaRPr lang="en-US" sz="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381000"/>
            <a:ext cx="7467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Document Definitions: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09873" y="990600"/>
            <a:ext cx="8419454" cy="5749871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There are different types of document definitions that can be used with XML:</a:t>
            </a:r>
          </a:p>
          <a:p>
            <a:pPr lvl="1"/>
            <a:r>
              <a:rPr lang="en-US" sz="2500" dirty="0"/>
              <a:t>The original Document Type Definition (</a:t>
            </a:r>
            <a:r>
              <a:rPr lang="en-US" sz="2500" dirty="0">
                <a:solidFill>
                  <a:srgbClr val="0000FF"/>
                </a:solidFill>
              </a:rPr>
              <a:t>DTD</a:t>
            </a:r>
            <a:r>
              <a:rPr lang="en-US" sz="2500" dirty="0"/>
              <a:t>)</a:t>
            </a:r>
          </a:p>
          <a:p>
            <a:pPr lvl="1"/>
            <a:r>
              <a:rPr lang="en-US" sz="2500" dirty="0"/>
              <a:t>The newer, and XML based, </a:t>
            </a:r>
            <a:r>
              <a:rPr lang="en-US" sz="2500" dirty="0">
                <a:solidFill>
                  <a:srgbClr val="0000FF"/>
                </a:solidFill>
              </a:rPr>
              <a:t>XML Schema</a:t>
            </a:r>
          </a:p>
          <a:p>
            <a:pPr>
              <a:buNone/>
            </a:pPr>
            <a:r>
              <a:rPr lang="en-US" sz="2800" b="1" u="sng" dirty="0">
                <a:solidFill>
                  <a:srgbClr val="C00000"/>
                </a:solidFill>
              </a:rPr>
              <a:t>Valid XML Documents</a:t>
            </a:r>
          </a:p>
          <a:p>
            <a:pPr>
              <a:buNone/>
            </a:pPr>
            <a:r>
              <a:rPr lang="en-US" sz="2800" dirty="0"/>
              <a:t>&lt;?xml version="1.0" encoding="UTF-8"?&gt;</a:t>
            </a:r>
          </a:p>
          <a:p>
            <a:pPr>
              <a:buNone/>
            </a:pPr>
            <a:r>
              <a:rPr lang="en-US" sz="2800" dirty="0"/>
              <a:t>&lt;!DOCTYPE note SYSTEM "Note.dtd"&gt;</a:t>
            </a:r>
          </a:p>
          <a:p>
            <a:pPr>
              <a:buNone/>
            </a:pPr>
            <a:r>
              <a:rPr lang="en-US" sz="2800" dirty="0"/>
              <a:t>&lt;note&gt;</a:t>
            </a:r>
            <a:br>
              <a:rPr lang="en-US" sz="2800" dirty="0"/>
            </a:br>
            <a:r>
              <a:rPr lang="en-US" sz="2800" dirty="0"/>
              <a:t>&lt;to&gt;</a:t>
            </a:r>
            <a:r>
              <a:rPr lang="en-US" sz="2800" dirty="0" err="1"/>
              <a:t>Tove</a:t>
            </a:r>
            <a:r>
              <a:rPr lang="en-US" sz="2800" dirty="0"/>
              <a:t>&lt;/to&gt;</a:t>
            </a:r>
            <a:br>
              <a:rPr lang="en-US" sz="2800" dirty="0"/>
            </a:br>
            <a:r>
              <a:rPr lang="en-US" sz="2800" dirty="0"/>
              <a:t>&lt;from&gt;</a:t>
            </a:r>
            <a:r>
              <a:rPr lang="en-US" sz="2800" dirty="0" err="1"/>
              <a:t>Jani</a:t>
            </a:r>
            <a:r>
              <a:rPr lang="en-US" sz="2800" dirty="0"/>
              <a:t>&lt;/from&gt;</a:t>
            </a:r>
            <a:br>
              <a:rPr lang="en-US" sz="2800" dirty="0"/>
            </a:br>
            <a:r>
              <a:rPr lang="en-US" sz="2800" dirty="0"/>
              <a:t>&lt;heading&gt;Reminder&lt;/heading&gt;</a:t>
            </a:r>
            <a:br>
              <a:rPr lang="en-US" sz="2800" dirty="0"/>
            </a:br>
            <a:r>
              <a:rPr lang="en-US" sz="2800" dirty="0"/>
              <a:t>&lt;body&gt;Don't forget me this weekend!&lt;/body&gt;</a:t>
            </a:r>
          </a:p>
          <a:p>
            <a:pPr>
              <a:buNone/>
            </a:pPr>
            <a:r>
              <a:rPr lang="en-US" sz="2800" dirty="0"/>
              <a:t>&lt;/note&gt;</a:t>
            </a:r>
          </a:p>
          <a:p>
            <a:r>
              <a:rPr lang="en-US" sz="2800" i="1" dirty="0">
                <a:solidFill>
                  <a:srgbClr val="0000FF"/>
                </a:solidFill>
              </a:rPr>
              <a:t>The DOCTYPE declaration, in the example above, is a reference to an external DTD file. The content of the file is shown in the next slide.</a:t>
            </a:r>
          </a:p>
          <a:p>
            <a:endParaRPr lang="en-US" sz="28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1752600" y="228600"/>
            <a:ext cx="4953000" cy="658368"/>
          </a:xfrm>
        </p:spPr>
        <p:txBody>
          <a:bodyPr/>
          <a:lstStyle/>
          <a:p>
            <a:r>
              <a:rPr lang="en-US" dirty="0"/>
              <a:t>XML DTD file “Note.dtd”</a:t>
            </a:r>
          </a:p>
        </p:txBody>
      </p:sp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0" y="1066800"/>
            <a:ext cx="9128502" cy="41549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 purpose of a DTD is to define the structure of an XML document. It defines the structure with a list of legal elements: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	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&lt;!DOCTYPE note</a:t>
            </a:r>
            <a:b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</a:b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	[</a:t>
            </a:r>
            <a:b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</a:b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		&lt;!ELEMENT note (</a:t>
            </a:r>
            <a:r>
              <a:rPr kumimoji="0" lang="en-US" sz="2400" b="1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to,from,heading,body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)&gt;</a:t>
            </a:r>
            <a:b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</a:b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		&lt;!ELEMENT to (#PCDATA)&gt;</a:t>
            </a:r>
            <a:b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</a:b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		&lt;!ELEMENT from (#PCDATA)&gt;</a:t>
            </a:r>
            <a:b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</a:b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		&lt;!ELEMENT heading (#PCDATA)&gt;</a:t>
            </a:r>
            <a:b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</a:b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		&lt;!ELEMENT body (#PCDATA)&gt;</a:t>
            </a:r>
            <a:b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</a:b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	]&gt;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1752600" y="228600"/>
            <a:ext cx="4953000" cy="658368"/>
          </a:xfrm>
        </p:spPr>
        <p:txBody>
          <a:bodyPr/>
          <a:lstStyle/>
          <a:p>
            <a:r>
              <a:rPr lang="en-US" dirty="0"/>
              <a:t>XML DTD file “Note.dtd”</a:t>
            </a:r>
          </a:p>
        </p:txBody>
      </p:sp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244098" y="990600"/>
            <a:ext cx="9128502" cy="489364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US" sz="2400" dirty="0">
                <a:solidFill>
                  <a:srgbClr val="C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 DTD above is interpreted like this:</a:t>
            </a:r>
            <a:endParaRPr 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US" sz="2400" dirty="0">
                <a:solidFill>
                  <a:srgbClr val="40404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!DOCTYPE note defines that the root element of the document is </a:t>
            </a:r>
            <a:r>
              <a:rPr lang="en-US" sz="2400" b="1" dirty="0">
                <a:solidFill>
                  <a:srgbClr val="0000FF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note</a:t>
            </a:r>
            <a:endParaRPr lang="en-US" sz="24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US" sz="2400" dirty="0">
                <a:solidFill>
                  <a:srgbClr val="40404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!ELEMENT note defines that the note element contains four elements: </a:t>
            </a:r>
            <a:r>
              <a:rPr lang="en-US" sz="2400" b="1" dirty="0">
                <a:solidFill>
                  <a:srgbClr val="0000FF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"to, from, heading, body"</a:t>
            </a:r>
            <a:endParaRPr lang="en-US" sz="24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US" sz="2400" dirty="0">
                <a:solidFill>
                  <a:srgbClr val="40404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!ELEMENT to defines the to element to be of type </a:t>
            </a:r>
            <a:r>
              <a:rPr lang="en-US" sz="2400" b="1" dirty="0">
                <a:solidFill>
                  <a:srgbClr val="0000FF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"#PCDATA"</a:t>
            </a:r>
            <a:endParaRPr lang="en-US" sz="24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US" sz="2400" dirty="0">
                <a:solidFill>
                  <a:srgbClr val="40404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!ELEMENT from defines the from element to be of type</a:t>
            </a:r>
            <a:r>
              <a:rPr lang="en-US" sz="2400" b="1" dirty="0">
                <a:solidFill>
                  <a:srgbClr val="0000FF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"#PCDATA"</a:t>
            </a:r>
            <a:endParaRPr lang="en-US" sz="24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US" sz="2400" dirty="0">
                <a:solidFill>
                  <a:srgbClr val="40404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!ELEMENT heading defines the heading element to be of type </a:t>
            </a:r>
            <a:r>
              <a:rPr lang="en-US" sz="2400" b="1" dirty="0">
                <a:solidFill>
                  <a:srgbClr val="0000FF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"#PCDATA"</a:t>
            </a:r>
            <a:endParaRPr lang="en-US" sz="24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US" sz="2400" dirty="0">
                <a:solidFill>
                  <a:srgbClr val="40404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!ELEMENT body defines the body element to be of type </a:t>
            </a:r>
            <a:r>
              <a:rPr lang="en-US" sz="2400" b="1" dirty="0">
                <a:solidFill>
                  <a:srgbClr val="0000FF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"#PCDATA"</a:t>
            </a:r>
            <a:endParaRPr lang="en-US" sz="24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28</TotalTime>
  <Words>475</Words>
  <Application>Microsoft Office PowerPoint</Application>
  <PresentationFormat>On-screen Show (4:3)</PresentationFormat>
  <Paragraphs>81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Century Schoolbook</vt:lpstr>
      <vt:lpstr>Consolas</vt:lpstr>
      <vt:lpstr>Times New Roman</vt:lpstr>
      <vt:lpstr>Verdana</vt:lpstr>
      <vt:lpstr>Wingdings</vt:lpstr>
      <vt:lpstr>Wingdings 2</vt:lpstr>
      <vt:lpstr>Oriel</vt:lpstr>
      <vt:lpstr>XML FILES &amp; CSS</vt:lpstr>
      <vt:lpstr>Viewing XML Files</vt:lpstr>
      <vt:lpstr>Viewing XML File’s OUTPUT: (Collapse code)</vt:lpstr>
      <vt:lpstr>Displaying your XML Files with CSS?</vt:lpstr>
      <vt:lpstr>Displaying your XML Files with CSS?</vt:lpstr>
      <vt:lpstr>PowerPoint Presentation</vt:lpstr>
      <vt:lpstr>XML Document Types</vt:lpstr>
      <vt:lpstr>Document Definitions: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XML Languages &amp; Applications</dc:title>
  <dc:creator>Administrator</dc:creator>
  <cp:lastModifiedBy>Microsoft account</cp:lastModifiedBy>
  <cp:revision>72</cp:revision>
  <dcterms:created xsi:type="dcterms:W3CDTF">2007-05-20T19:02:00Z</dcterms:created>
  <dcterms:modified xsi:type="dcterms:W3CDTF">2021-04-19T19:43:31Z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1033-10.2.0.5965</vt:lpwstr>
  </property>
</Properties>
</file>
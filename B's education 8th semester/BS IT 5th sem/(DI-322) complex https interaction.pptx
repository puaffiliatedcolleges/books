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7" r:id="rId5"/>
    <p:sldId id="259" r:id="rId6"/>
    <p:sldId id="258" r:id="rId7"/>
    <p:sldId id="260" r:id="rId8"/>
    <p:sldId id="261" r:id="rId9"/>
    <p:sldId id="262" r:id="rId10"/>
    <p:sldId id="263" r:id="rId11"/>
    <p:sldId id="264" r:id="rId12"/>
    <p:sldId id="265" r:id="rId13"/>
    <p:sldId id="266"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p:cViewPr varScale="1">
        <p:scale>
          <a:sx n="53" d="100"/>
          <a:sy n="53" d="100"/>
        </p:scale>
        <p:origin x="18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9" Type="http://schemas.openxmlformats.org/officeDocument/2006/relationships/tableStyles" Target="tableStyles.xml"/><Relationship Id="rId28" Type="http://schemas.openxmlformats.org/officeDocument/2006/relationships/viewProps" Target="viewProps.xml"/><Relationship Id="rId27" Type="http://schemas.openxmlformats.org/officeDocument/2006/relationships/presProps" Target="presProps.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bg>
      <p:bgPr>
        <a:solidFill>
          <a:schemeClr val="bg1"/>
        </a:solidFill>
        <a:effectLst/>
      </p:bgPr>
    </p:bg>
    <p:spTree>
      <p:nvGrpSpPr>
        <p:cNvPr id="1" name=""/>
        <p:cNvGrpSpPr/>
        <p:nvPr/>
      </p:nvGrpSpPr>
      <p:grpSpPr>
        <a:xfrm>
          <a:off x="0" y="0"/>
          <a:ext cx="0" cy="0"/>
          <a:chOff x="0" y="0"/>
          <a:chExt cx="0" cy="0"/>
        </a:xfrm>
      </p:grpSpPr>
      <p:pic>
        <p:nvPicPr>
          <p:cNvPr id="2050" name="Picture 2"/>
          <p:cNvPicPr>
            <a:picLocks noChangeAspect="1"/>
          </p:cNvPicPr>
          <p:nvPr/>
        </p:nvPicPr>
        <p:blipFill>
          <a:blip r:embed="rId2"/>
          <a:srcRect b="3795"/>
          <a:stretch>
            <a:fillRect/>
          </a:stretch>
        </p:blipFill>
        <p:spPr>
          <a:xfrm>
            <a:off x="0" y="260350"/>
            <a:ext cx="12192000" cy="6597650"/>
          </a:xfrm>
          <a:prstGeom prst="rect">
            <a:avLst/>
          </a:prstGeom>
          <a:noFill/>
          <a:ln w="9525">
            <a:noFill/>
          </a:ln>
        </p:spPr>
      </p:pic>
      <p:sp>
        <p:nvSpPr>
          <p:cNvPr id="2051" name="Rectangle 3"/>
          <p:cNvSpPr>
            <a:spLocks noGrp="1" noChangeArrowheads="1"/>
          </p:cNvSpPr>
          <p:nvPr>
            <p:ph type="ctrTitle"/>
          </p:nvPr>
        </p:nvSpPr>
        <p:spPr>
          <a:xfrm>
            <a:off x="624417" y="620713"/>
            <a:ext cx="10943167" cy="1082675"/>
          </a:xfrm>
        </p:spPr>
        <p:txBody>
          <a:bodyPr/>
          <a:lstStyle>
            <a:lvl1pPr>
              <a:defRPr/>
            </a:lvl1pPr>
          </a:lstStyle>
          <a:p>
            <a:pPr lvl="0"/>
            <a:r>
              <a:rPr lang="en-US" altLang="zh-CN" noProof="0" smtClean="0"/>
              <a:t>Click to edit Master title style</a:t>
            </a:r>
            <a:endParaRPr lang="en-US" altLang="zh-CN" noProof="0" smtClean="0"/>
          </a:p>
        </p:txBody>
      </p:sp>
      <p:sp>
        <p:nvSpPr>
          <p:cNvPr id="2052" name="Rectangle 4"/>
          <p:cNvSpPr>
            <a:spLocks noGrp="1" noChangeArrowheads="1"/>
          </p:cNvSpPr>
          <p:nvPr>
            <p:ph type="subTitle" idx="1"/>
          </p:nvPr>
        </p:nvSpPr>
        <p:spPr>
          <a:xfrm>
            <a:off x="626533" y="1843088"/>
            <a:ext cx="10949517" cy="981075"/>
          </a:xfrm>
        </p:spPr>
        <p:txBody>
          <a:bodyPr/>
          <a:lstStyle>
            <a:lvl1pPr marL="0" indent="0">
              <a:buFontTx/>
              <a:buNone/>
              <a:defRPr/>
            </a:lvl1pPr>
          </a:lstStyle>
          <a:p>
            <a:pPr lvl="0"/>
            <a:r>
              <a:rPr lang="en-US" altLang="zh-CN" noProof="0" smtClean="0"/>
              <a:t>Click to edit Master subtitle style</a:t>
            </a:r>
            <a:endParaRPr lang="en-US" altLang="zh-CN" noProof="0" smtClean="0"/>
          </a:p>
        </p:txBody>
      </p:sp>
      <p:sp>
        <p:nvSpPr>
          <p:cNvPr id="9" name="Rectangle 5"/>
          <p:cNvSpPr>
            <a:spLocks noGrp="1" noChangeArrowheads="1"/>
          </p:cNvSpPr>
          <p:nvPr>
            <p:ph type="dt" sz="half" idx="2"/>
          </p:nvPr>
        </p:nvSpPr>
        <p:spPr bwMode="auto">
          <a:xfrm>
            <a:off x="609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63A1C593-65D0-4073-BCC9-577B9352EA97}" type="datetimeFigureOut">
              <a:rPr lang="en-US" smtClean="0"/>
            </a:fld>
            <a:endParaRPr lang="en-US"/>
          </a:p>
        </p:txBody>
      </p:sp>
      <p:sp>
        <p:nvSpPr>
          <p:cNvPr id="10" name="Rectangle 6"/>
          <p:cNvSpPr>
            <a:spLocks noGrp="1" noChangeArrowheads="1"/>
          </p:cNvSpPr>
          <p:nvPr>
            <p:ph type="ftr" sz="quarter" idx="3"/>
          </p:nvPr>
        </p:nvSpPr>
        <p:spPr bwMode="auto">
          <a:xfrm>
            <a:off x="4165600" y="6245225"/>
            <a:ext cx="3860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endParaRPr lang="en-US"/>
          </a:p>
        </p:txBody>
      </p:sp>
      <p:sp>
        <p:nvSpPr>
          <p:cNvPr id="11" name="Rectangle 7"/>
          <p:cNvSpPr>
            <a:spLocks noGrp="1" noChangeArrowheads="1"/>
          </p:cNvSpPr>
          <p:nvPr>
            <p:ph type="sldNum" sz="quarter" idx="4"/>
          </p:nvPr>
        </p:nvSpPr>
        <p:spPr bwMode="auto">
          <a:xfrm>
            <a:off x="8737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9B618960-8005-486C-9A75-10CB2AAC16F9}" type="slidenum">
              <a:rPr lang="en-US" smtClean="0"/>
            </a:fld>
            <a:endParaRPr lang="en-US"/>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1" y="4589463"/>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174750"/>
            <a:ext cx="5384800" cy="49530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97600" y="1174750"/>
            <a:ext cx="5384800" cy="49530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40317"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40317" y="2505075"/>
            <a:ext cx="5158316"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71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p>
            <a:endParaRPr lang="en-US"/>
          </a:p>
        </p:txBody>
      </p:sp>
      <p:sp>
        <p:nvSpPr>
          <p:cNvPr id="9" name="Slide Number Placeholder 8"/>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p>
            <a:endParaRPr lang="en-US"/>
          </a:p>
        </p:txBody>
      </p:sp>
      <p:sp>
        <p:nvSpPr>
          <p:cNvPr id="5" name="Slide Number Placeholder 4"/>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p>
            <a:endParaRPr lang="en-US"/>
          </a:p>
        </p:txBody>
      </p:sp>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717"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717" y="987425"/>
            <a:ext cx="617220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en-US" sz="3200" b="0" i="0" u="none" strike="noStrike" kern="1200" cap="none" spc="0" normalizeH="0" baseline="0" noProof="0" smtClean="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190500"/>
            <a:ext cx="2743200" cy="593725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190500"/>
            <a:ext cx="8026400" cy="5937250"/>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2.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pic>
        <p:nvPicPr>
          <p:cNvPr id="1026" name="Picture 2"/>
          <p:cNvPicPr>
            <a:picLocks noChangeAspect="1"/>
          </p:cNvPicPr>
          <p:nvPr/>
        </p:nvPicPr>
        <p:blipFill>
          <a:blip r:embed="rId12"/>
          <a:stretch>
            <a:fillRect/>
          </a:stretch>
        </p:blipFill>
        <p:spPr>
          <a:xfrm>
            <a:off x="0" y="0"/>
            <a:ext cx="12192000" cy="6858000"/>
          </a:xfrm>
          <a:prstGeom prst="rect">
            <a:avLst/>
          </a:prstGeom>
          <a:noFill/>
          <a:ln w="9525">
            <a:noFill/>
          </a:ln>
        </p:spPr>
      </p:pic>
      <p:sp>
        <p:nvSpPr>
          <p:cNvPr id="1027" name="Rectangle 3"/>
          <p:cNvSpPr>
            <a:spLocks noGrp="1"/>
          </p:cNvSpPr>
          <p:nvPr>
            <p:ph type="title"/>
          </p:nvPr>
        </p:nvSpPr>
        <p:spPr>
          <a:xfrm>
            <a:off x="609600" y="190500"/>
            <a:ext cx="10972800" cy="582613"/>
          </a:xfrm>
          <a:prstGeom prst="rect">
            <a:avLst/>
          </a:prstGeom>
          <a:noFill/>
          <a:ln w="9525">
            <a:noFill/>
          </a:ln>
        </p:spPr>
        <p:txBody>
          <a:bodyPr anchor="ctr" anchorCtr="0"/>
          <a:p>
            <a:pPr lvl="0"/>
            <a:r>
              <a:rPr lang="en-US" altLang="zh-CN" dirty="0"/>
              <a:t>Click to edit Master title style</a:t>
            </a:r>
            <a:endParaRPr lang="en-US" altLang="zh-CN" dirty="0"/>
          </a:p>
        </p:txBody>
      </p:sp>
      <p:sp>
        <p:nvSpPr>
          <p:cNvPr id="1028" name="Rectangle 4"/>
          <p:cNvSpPr>
            <a:spLocks noGrp="1"/>
          </p:cNvSpPr>
          <p:nvPr>
            <p:ph type="body" idx="1"/>
          </p:nvPr>
        </p:nvSpPr>
        <p:spPr>
          <a:xfrm>
            <a:off x="609600" y="1174750"/>
            <a:ext cx="10972800" cy="4953000"/>
          </a:xfrm>
          <a:prstGeom prst="rect">
            <a:avLst/>
          </a:prstGeom>
          <a:noFill/>
          <a:ln w="9525">
            <a:noFill/>
          </a:ln>
        </p:spPr>
        <p:txBody>
          <a:bodyPr/>
          <a:p>
            <a:pPr lvl="0"/>
            <a:r>
              <a:rPr lang="en-US" altLang="zh-CN" dirty="0"/>
              <a:t>Click to 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en-US" altLang="zh-CN" dirty="0"/>
          </a:p>
        </p:txBody>
      </p:sp>
      <p:sp>
        <p:nvSpPr>
          <p:cNvPr id="1029" name="Rectangle 5"/>
          <p:cNvSpPr>
            <a:spLocks noGrp="1" noChangeArrowheads="1"/>
          </p:cNvSpPr>
          <p:nvPr>
            <p:ph type="dt" sz="half" idx="2"/>
          </p:nvPr>
        </p:nvSpPr>
        <p:spPr bwMode="auto">
          <a:xfrm>
            <a:off x="609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400"/>
            </a:lvl1pPr>
          </a:lstStyle>
          <a:p>
            <a:fld id="{63A1C593-65D0-4073-BCC9-577B9352EA97}" type="datetimeFigureOut">
              <a:rPr lang="en-US" smtClean="0"/>
            </a:fld>
            <a:endParaRPr lang="en-US"/>
          </a:p>
        </p:txBody>
      </p:sp>
      <p:sp>
        <p:nvSpPr>
          <p:cNvPr id="1030" name="Rectangle 6"/>
          <p:cNvSpPr>
            <a:spLocks noGrp="1" noChangeArrowheads="1"/>
          </p:cNvSpPr>
          <p:nvPr>
            <p:ph type="ftr" sz="quarter" idx="3"/>
          </p:nvPr>
        </p:nvSpPr>
        <p:spPr bwMode="auto">
          <a:xfrm>
            <a:off x="4165600" y="6245225"/>
            <a:ext cx="3860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400"/>
            </a:lvl1pPr>
          </a:lstStyle>
          <a:p>
            <a:endParaRPr lang="en-US"/>
          </a:p>
        </p:txBody>
      </p:sp>
      <p:sp>
        <p:nvSpPr>
          <p:cNvPr id="1031" name="Rectangle 7"/>
          <p:cNvSpPr>
            <a:spLocks noGrp="1" noChangeArrowheads="1"/>
          </p:cNvSpPr>
          <p:nvPr>
            <p:ph type="sldNum" sz="quarter" idx="4"/>
          </p:nvPr>
        </p:nvSpPr>
        <p:spPr bwMode="auto">
          <a:xfrm>
            <a:off x="8737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400"/>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fontAlgn="base">
        <a:spcBef>
          <a:spcPct val="0"/>
        </a:spcBef>
        <a:spcAft>
          <a:spcPct val="0"/>
        </a:spcAft>
        <a:defRPr sz="3600" kern="1200">
          <a:solidFill>
            <a:schemeClr val="tx1"/>
          </a:solidFill>
          <a:latin typeface="+mj-lt"/>
          <a:ea typeface="+mj-ea"/>
          <a:cs typeface="+mj-cs"/>
        </a:defRPr>
      </a:lvl1pPr>
      <a:lvl2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2pPr>
      <a:lvl3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3pPr>
      <a:lvl4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4pPr>
      <a:lvl5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5pPr>
      <a:lvl6pPr marL="4572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6pPr>
      <a:lvl7pPr marL="9144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7pPr>
      <a:lvl8pPr marL="13716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8pPr>
      <a:lvl9pPr marL="18288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GROUP 07</a:t>
            </a:r>
            <a:br>
              <a:rPr lang="en-US" b="1" dirty="0"/>
            </a:br>
            <a:br>
              <a:rPr lang="en-US" b="1" dirty="0"/>
            </a:br>
            <a:r>
              <a:rPr lang="en-US" b="1"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rPr>
              <a:t>WEB TECHNOLOGIES </a:t>
            </a:r>
            <a:br>
              <a:rPr lang="en-US" b="1"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rPr>
            </a:br>
            <a:r>
              <a:rPr lang="en-US" b="1"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rPr>
              <a:t>PRESENTATION</a:t>
            </a:r>
            <a:endParaRPr lang="en-US" b="1"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endParaRPr>
          </a:p>
        </p:txBody>
      </p:sp>
      <p:sp>
        <p:nvSpPr>
          <p:cNvPr id="3" name="Subtitle 2"/>
          <p:cNvSpPr>
            <a:spLocks noGrp="1"/>
          </p:cNvSpPr>
          <p:nvPr>
            <p:ph type="subTitle" idx="1"/>
          </p:nvPr>
        </p:nvSpPr>
        <p:spPr/>
        <p:txBody>
          <a:bodyPr>
            <a:noAutofit/>
          </a:bodyPr>
          <a:lstStyle/>
          <a:p>
            <a:endParaRPr lang="en-US" sz="2700" b="1">
              <a:solidFill>
                <a:srgbClr val="00B0F0"/>
              </a:solidFill>
            </a:endParaRPr>
          </a:p>
          <a:p>
            <a:r>
              <a:rPr lang="en-US" sz="3200" b="1">
                <a:solidFill>
                  <a:srgbClr val="00B0F0"/>
                </a:solidFill>
              </a:rPr>
              <a:t>TOPIC:  COMPLEX HTTP INTERACTIONS</a:t>
            </a:r>
            <a:endParaRPr lang="en-US" sz="2700" b="1">
              <a:solidFill>
                <a:srgbClr val="00B0F0"/>
              </a:solidFill>
            </a:endParaRPr>
          </a:p>
          <a:p>
            <a:r>
              <a:rPr lang="en-US" sz="2700" b="1">
                <a:solidFill>
                  <a:srgbClr val="00B0F0"/>
                </a:solidFill>
              </a:rPr>
              <a:t>FROM:  MALAIKA ALI  &amp;  AYESHA ALTAF  </a:t>
            </a:r>
            <a:endParaRPr lang="en-US" sz="2700" b="1">
              <a:solidFill>
                <a:srgbClr val="00B0F0"/>
              </a:solidFill>
            </a:endParaRPr>
          </a:p>
          <a:p>
            <a:r>
              <a:rPr lang="en-US" sz="2700" b="1">
                <a:solidFill>
                  <a:srgbClr val="00B0F0"/>
                </a:solidFill>
              </a:rPr>
              <a:t>SUBMITTED TO:  MISS AREEJ ALI</a:t>
            </a:r>
            <a:endParaRPr lang="en-US" sz="2700" b="1">
              <a:solidFill>
                <a:srgbClr val="00B0F0"/>
              </a:solidFill>
            </a:endParaRPr>
          </a:p>
          <a:p>
            <a:r>
              <a:rPr lang="en-US" sz="2700">
                <a:solidFill>
                  <a:srgbClr val="00B0F0"/>
                </a:solidFill>
              </a:rPr>
              <a:t> </a:t>
            </a:r>
            <a:endParaRPr lang="en-US" sz="2700">
              <a:solidFill>
                <a:srgbClr val="00B0F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idx="4294967295"/>
          </p:nvPr>
        </p:nvSpPr>
        <p:spPr>
          <a:xfrm>
            <a:off x="0" y="365125"/>
            <a:ext cx="10515600" cy="1325880"/>
          </a:xfrm>
        </p:spPr>
        <p:txBody>
          <a:bodyPr/>
          <a:p>
            <a:r>
              <a:rPr lang="en-US"/>
              <a:t>       </a:t>
            </a:r>
            <a:r>
              <a:rPr lang="en-US" b="1"/>
              <a:t>What is HTTP?</a:t>
            </a:r>
            <a:endParaRPr lang="en-US" b="1"/>
          </a:p>
        </p:txBody>
      </p:sp>
      <p:sp>
        <p:nvSpPr>
          <p:cNvPr id="3" name="Text Box 2"/>
          <p:cNvSpPr txBox="1"/>
          <p:nvPr/>
        </p:nvSpPr>
        <p:spPr>
          <a:xfrm>
            <a:off x="969645" y="1602105"/>
            <a:ext cx="8174355" cy="2703195"/>
          </a:xfrm>
          <a:prstGeom prst="rect">
            <a:avLst/>
          </a:prstGeom>
          <a:noFill/>
        </p:spPr>
        <p:txBody>
          <a:bodyPr wrap="square" rtlCol="0" anchor="t">
            <a:noAutofit/>
          </a:bodyPr>
          <a:p>
            <a:r>
              <a:rPr lang="en-US" sz="2400"/>
              <a:t>HTTP stands for HyperText Transfer Protocol. Tim Berner invents it. HyperText is the type of text that is specially coded with the help of some standard coding language called HyperText Markup Language (HTML). HTTP/2 is the new version of HTTP. HTTP/3 is the latest version of HTTP, which is published in 2022.</a:t>
            </a:r>
            <a:endParaRPr lang="en-US" sz="2400"/>
          </a:p>
          <a:p>
            <a:endParaRPr lang="en-US" sz="2400"/>
          </a:p>
        </p:txBody>
      </p:sp>
      <p:sp>
        <p:nvSpPr>
          <p:cNvPr id="5" name="Text Box 4"/>
          <p:cNvSpPr txBox="1"/>
          <p:nvPr/>
        </p:nvSpPr>
        <p:spPr>
          <a:xfrm>
            <a:off x="969645" y="3856990"/>
            <a:ext cx="8345170" cy="2612390"/>
          </a:xfrm>
          <a:prstGeom prst="rect">
            <a:avLst/>
          </a:prstGeom>
          <a:noFill/>
        </p:spPr>
        <p:txBody>
          <a:bodyPr wrap="square" rtlCol="0" anchor="t">
            <a:noAutofit/>
          </a:bodyPr>
          <a:p>
            <a:r>
              <a:rPr lang="en-US" sz="2400"/>
              <a:t>HTTP provides a standard between a web browser and a web server to establish communication. It is a set of rules for transferring data from one computer to another. Data such as text, images, and other multimedia files are shared on the World Wide Web. Whenever a web user opens their web browser, the user indirectly uses HTTP.</a:t>
            </a:r>
            <a:endParaRPr lang="en-US" sz="24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269875" y="530860"/>
            <a:ext cx="11144885" cy="5382895"/>
          </a:xfrm>
          <a:prstGeom prst="rect">
            <a:avLst/>
          </a:prstGeom>
          <a:noFill/>
        </p:spPr>
        <p:txBody>
          <a:bodyPr wrap="square" rtlCol="0" anchor="t">
            <a:noAutofit/>
          </a:bodyPr>
          <a:p>
            <a:r>
              <a:rPr lang="en-US" sz="3200" b="1"/>
              <a:t>History of HTTP:</a:t>
            </a:r>
            <a:endParaRPr lang="en-US" sz="3200" b="1"/>
          </a:p>
          <a:p>
            <a:r>
              <a:rPr lang="en-US" sz="2400"/>
              <a:t>        Tim Berners Lee and his team at CERN get credit for inventing original HTTP and associated technologies. </a:t>
            </a:r>
            <a:endParaRPr lang="en-US" sz="2400"/>
          </a:p>
          <a:p>
            <a:endParaRPr lang="en-US" sz="2400"/>
          </a:p>
          <a:p>
            <a:r>
              <a:rPr lang="en-US" sz="2400"/>
              <a:t>HTTP version 0.9: This was the first version of HTTP which was introduced in 1991. </a:t>
            </a:r>
            <a:endParaRPr lang="en-US" sz="2400"/>
          </a:p>
          <a:p>
            <a:r>
              <a:rPr lang="en-US" sz="2400"/>
              <a:t>HTTP version 1.0: In 1996, RFC 1945 (Request For Comments) was introduced in HTTP version 1.0. </a:t>
            </a:r>
            <a:endParaRPr lang="en-US" sz="2400"/>
          </a:p>
          <a:p>
            <a:r>
              <a:rPr lang="en-US" sz="2400"/>
              <a:t>HTTP version 1.1: In January 1997, RFC 2068 was introduced in HTTP version 1.1. Improvements and updates to the HTTP version 1.1 standard were released under RFC 2616 in June 1999. </a:t>
            </a:r>
            <a:endParaRPr lang="en-US" sz="2400"/>
          </a:p>
          <a:p>
            <a:r>
              <a:rPr lang="en-US" sz="2400"/>
              <a:t>HTTP version 2.0: The HTTP version 2.0 specification was published as RFC 7540 on May 14, 2015. </a:t>
            </a:r>
            <a:endParaRPr lang="en-US" sz="2400"/>
          </a:p>
          <a:p>
            <a:r>
              <a:rPr lang="en-US" sz="2400"/>
              <a:t>HTTP version 3.0: HTTP version 3.0 is based on the previous RFC draft. It is renamed as Hyper-Text Transfer Protocol QUIC which is a transport layer network protocol developed by Google.</a:t>
            </a:r>
            <a:endParaRPr lang="en-US" sz="24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555625" y="708660"/>
            <a:ext cx="10645140" cy="5106035"/>
          </a:xfrm>
          <a:prstGeom prst="rect">
            <a:avLst/>
          </a:prstGeom>
          <a:noFill/>
        </p:spPr>
        <p:txBody>
          <a:bodyPr wrap="square" rtlCol="0" anchor="t">
            <a:noAutofit/>
          </a:bodyPr>
          <a:p>
            <a:r>
              <a:rPr lang="en-US" sz="3200" b="1"/>
              <a:t>How does HTTP work?</a:t>
            </a:r>
            <a:endParaRPr lang="en-US" sz="3200" b="1"/>
          </a:p>
          <a:p>
            <a:endParaRPr lang="en-US" sz="3200"/>
          </a:p>
          <a:p>
            <a:pPr algn="l"/>
            <a:r>
              <a:rPr lang="en-US" sz="2000"/>
              <a:t>           </a:t>
            </a:r>
            <a:r>
              <a:rPr lang="en-US" sz="2400"/>
              <a:t>  First of all, whenever we want to open any website then first open a web browser after that we will type the URL of that website (e.g., www.facebook.com ). This URL is now sent to the Domain Name Server (DNS). Then DNS first check records for this URL in their database, then DNS will return the IP address to the web browser corresponding to this URL. Now the browser is able to send requests to the actual server. </a:t>
            </a:r>
            <a:endParaRPr lang="en-US" sz="2400"/>
          </a:p>
          <a:p>
            <a:pPr algn="l"/>
            <a:endParaRPr lang="en-US" sz="2400"/>
          </a:p>
          <a:p>
            <a:pPr algn="l"/>
            <a:r>
              <a:rPr lang="en-US" sz="2400"/>
              <a:t>After the server sends data to the client, the connection will be closed. If we want something else from the server we should have to re-establish the connection between the client and the server. </a:t>
            </a:r>
            <a:endParaRPr lang="en-US" sz="2400"/>
          </a:p>
          <a:p>
            <a:pPr algn="l"/>
            <a:endParaRPr lang="en-US" sz="24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418465" y="264795"/>
            <a:ext cx="10800715" cy="3970020"/>
          </a:xfrm>
          <a:prstGeom prst="rect">
            <a:avLst/>
          </a:prstGeom>
          <a:noFill/>
        </p:spPr>
        <p:txBody>
          <a:bodyPr wrap="square" rtlCol="0" anchor="t">
            <a:noAutofit/>
          </a:bodyPr>
          <a:p>
            <a:pPr indent="0">
              <a:buFont typeface="Arial" panose="020B0604020202020204" pitchFamily="34" charset="0"/>
              <a:buNone/>
            </a:pPr>
            <a:r>
              <a:rPr lang="en-US" sz="2800" b="1"/>
              <a:t>Characteristics of HTTP</a:t>
            </a:r>
            <a:endParaRPr lang="en-US" sz="2800" b="1"/>
          </a:p>
          <a:p>
            <a:pPr indent="0">
              <a:buFont typeface="Arial" panose="020B0604020202020204" pitchFamily="34" charset="0"/>
              <a:buNone/>
            </a:pPr>
            <a:endParaRPr lang="en-US" sz="2800" b="1"/>
          </a:p>
          <a:p>
            <a:pPr marL="571500" indent="-571500">
              <a:buFont typeface="Arial" panose="020B0604020202020204" pitchFamily="34" charset="0"/>
              <a:buChar char="•"/>
            </a:pPr>
            <a:r>
              <a:rPr lang="en-US" sz="2400"/>
              <a:t>HTTP is IP based communication protocol that is used to deliver data from server to client or vice-versa. </a:t>
            </a:r>
            <a:endParaRPr lang="en-US" sz="2400"/>
          </a:p>
          <a:p>
            <a:pPr marL="571500" indent="-571500">
              <a:buFont typeface="Arial" panose="020B0604020202020204" pitchFamily="34" charset="0"/>
              <a:buChar char="•"/>
            </a:pPr>
            <a:endParaRPr lang="en-US" sz="2400"/>
          </a:p>
          <a:p>
            <a:pPr marL="571500" indent="-571500">
              <a:buFont typeface="Arial" panose="020B0604020202020204" pitchFamily="34" charset="0"/>
              <a:buChar char="•"/>
            </a:pPr>
            <a:r>
              <a:rPr lang="en-US" sz="2400"/>
              <a:t>The server processes a request, which is raised by the client, and also server and client know each other only during the current bid and response period. </a:t>
            </a:r>
            <a:endParaRPr lang="en-US" sz="2400"/>
          </a:p>
          <a:p>
            <a:pPr marL="571500" indent="-571500">
              <a:buFont typeface="Arial" panose="020B0604020202020204" pitchFamily="34" charset="0"/>
              <a:buChar char="•"/>
            </a:pPr>
            <a:r>
              <a:rPr lang="en-US" sz="2400"/>
              <a:t>Any type of content can be exchanged as long as the server and client are compatible with it. </a:t>
            </a:r>
            <a:endParaRPr lang="en-US" sz="2400"/>
          </a:p>
          <a:p>
            <a:pPr marL="571500" indent="-571500">
              <a:buFont typeface="Arial" panose="020B0604020202020204" pitchFamily="34" charset="0"/>
              <a:buChar char="•"/>
            </a:pPr>
            <a:r>
              <a:rPr lang="en-US" sz="2400"/>
              <a:t>Once data is exchanged, servers and clients are no longer connected. </a:t>
            </a:r>
            <a:endParaRPr lang="en-US" sz="2400"/>
          </a:p>
          <a:p>
            <a:pPr marL="571500" indent="-571500">
              <a:buFont typeface="Arial" panose="020B0604020202020204" pitchFamily="34" charset="0"/>
              <a:buChar char="•"/>
            </a:pPr>
            <a:r>
              <a:rPr lang="en-US" sz="2400"/>
              <a:t>It is a request and response protocol based on client and server requirements. </a:t>
            </a:r>
            <a:endParaRPr lang="en-US" sz="2400"/>
          </a:p>
          <a:p>
            <a:pPr marL="571500" indent="-571500">
              <a:buFont typeface="Arial" panose="020B0604020202020204" pitchFamily="34" charset="0"/>
              <a:buChar char="•"/>
            </a:pPr>
            <a:r>
              <a:rPr lang="en-US" sz="2400"/>
              <a:t>It is a connection-less protocol because after the connection is closed, the server does not remember anything about the client and the client does not remember anything about the server. </a:t>
            </a:r>
            <a:endParaRPr lang="en-US" sz="2400"/>
          </a:p>
          <a:p>
            <a:pPr marL="571500" indent="-571500">
              <a:buFont typeface="Arial" panose="020B0604020202020204" pitchFamily="34" charset="0"/>
              <a:buChar char="•"/>
            </a:pPr>
            <a:r>
              <a:rPr lang="en-US" sz="2400"/>
              <a:t>It is a stateless protocol because both client and server do not expect anything from each other but they are still able to communicate. </a:t>
            </a:r>
            <a:endParaRPr lang="en-US" sz="24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marL="571500" indent="-571500">
              <a:buFont typeface="Arial" panose="020B0604020202020204" pitchFamily="34" charset="0"/>
              <a:buChar char="•"/>
            </a:pPr>
            <a:r>
              <a:rPr lang="en-US" b="1"/>
              <a:t>What is complex HTTP interactions?</a:t>
            </a:r>
            <a:endParaRPr lang="en-US" b="1"/>
          </a:p>
        </p:txBody>
      </p:sp>
      <p:sp>
        <p:nvSpPr>
          <p:cNvPr id="4" name="Content Placeholder 3"/>
          <p:cNvSpPr>
            <a:spLocks noGrp="1"/>
          </p:cNvSpPr>
          <p:nvPr>
            <p:ph idx="1"/>
          </p:nvPr>
        </p:nvSpPr>
        <p:spPr/>
        <p:txBody>
          <a:bodyPr/>
          <a:p>
            <a:pPr marL="0" indent="0">
              <a:buNone/>
            </a:pPr>
            <a:r>
              <a:rPr lang="en-US"/>
              <a:t>      Complex HTTP interactions typically refers to the dynamic and multifaceted communications between a client  and a server over a HTTP. This  can involve various HTTP methods(e.g; GET, POST, PUT, DELETE), headers  parametters and status codes. It may also include handling authentication, cookies, sessions, and dealing with various types of data formats like JSON or XML. Complex interactons often occur in  web applications. APIs, and other distributed systems where multiple requests and responses are exchanged to accomplish specific tasks and retrieve data. </a:t>
            </a: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idx="4294967295"/>
          </p:nvPr>
        </p:nvSpPr>
        <p:spPr>
          <a:xfrm>
            <a:off x="0" y="86360"/>
            <a:ext cx="10515600" cy="1664970"/>
          </a:xfrm>
        </p:spPr>
        <p:txBody>
          <a:bodyPr>
            <a:normAutofit/>
          </a:bodyPr>
          <a:p>
            <a:pPr marL="571500" indent="-571500">
              <a:buFont typeface="Arial" panose="020B0604020202020204" pitchFamily="34" charset="0"/>
              <a:buChar char="•"/>
            </a:pPr>
            <a:r>
              <a:rPr lang="en-US" sz="3600" b="1"/>
              <a:t>FACTORS CONTRIBUTE IN COMPLEX HTTP INTERACTIONS:</a:t>
            </a:r>
            <a:endParaRPr lang="en-US" sz="3600" b="1"/>
          </a:p>
        </p:txBody>
      </p:sp>
      <p:sp>
        <p:nvSpPr>
          <p:cNvPr id="3" name="Text Placeholder 2"/>
          <p:cNvSpPr>
            <a:spLocks noGrp="1"/>
          </p:cNvSpPr>
          <p:nvPr>
            <p:ph type="body" orient="vert" idx="4294967295"/>
          </p:nvPr>
        </p:nvSpPr>
        <p:spPr>
          <a:xfrm>
            <a:off x="598805" y="1461770"/>
            <a:ext cx="9926320" cy="4715510"/>
          </a:xfrm>
        </p:spPr>
        <p:txBody>
          <a:bodyPr>
            <a:noAutofit/>
          </a:bodyPr>
          <a:p>
            <a:pPr marL="0" indent="0">
              <a:buFont typeface="+mj-lt"/>
              <a:buNone/>
            </a:pPr>
            <a:r>
              <a:rPr lang="en-US" sz="2300"/>
              <a:t>In complex HTTP interactions, several factors contribute to the intricacy of communications between clients and servers. this include:</a:t>
            </a:r>
            <a:endParaRPr lang="en-US" sz="2300"/>
          </a:p>
          <a:p>
            <a:pPr marL="0" indent="0">
              <a:buFont typeface="+mj-lt"/>
              <a:buNone/>
            </a:pPr>
            <a:r>
              <a:rPr lang="en-US" sz="2300" b="1"/>
              <a:t>1. Authentication and Authorization</a:t>
            </a:r>
            <a:endParaRPr lang="en-US" sz="2300"/>
          </a:p>
          <a:p>
            <a:pPr marL="0" indent="0">
              <a:buFont typeface="+mj-lt"/>
              <a:buNone/>
            </a:pPr>
            <a:r>
              <a:rPr lang="en-US" sz="2300" b="1"/>
              <a:t>2. Session Management</a:t>
            </a:r>
            <a:endParaRPr lang="en-US" sz="2300" b="1"/>
          </a:p>
          <a:p>
            <a:pPr marL="0" indent="0">
              <a:buFont typeface="+mj-lt"/>
              <a:buNone/>
            </a:pPr>
            <a:r>
              <a:rPr lang="en-US" sz="2300" b="1"/>
              <a:t>3. Error Handling</a:t>
            </a:r>
            <a:endParaRPr lang="en-US" sz="2300" b="1"/>
          </a:p>
          <a:p>
            <a:pPr marL="0" indent="0">
              <a:buFont typeface="+mj-lt"/>
              <a:buNone/>
            </a:pPr>
            <a:r>
              <a:rPr lang="en-US" sz="2300" b="1"/>
              <a:t>4. Asynchronous Operations</a:t>
            </a:r>
            <a:endParaRPr lang="en-US" sz="2300" b="1"/>
          </a:p>
          <a:p>
            <a:pPr marL="0" indent="0">
              <a:buFont typeface="+mj-lt"/>
              <a:buNone/>
            </a:pPr>
            <a:r>
              <a:rPr lang="en-US" sz="2300" b="1"/>
              <a:t>5. Caching and Performance Optimization</a:t>
            </a:r>
            <a:endParaRPr lang="en-US" sz="2300" b="1"/>
          </a:p>
          <a:p>
            <a:pPr marL="0" indent="0">
              <a:buFont typeface="+mj-lt"/>
              <a:buNone/>
            </a:pPr>
            <a:r>
              <a:rPr lang="en-US" sz="2300" b="1"/>
              <a:t>6. Webhooks and Callbacks</a:t>
            </a:r>
            <a:endParaRPr lang="en-US" sz="2300" b="1"/>
          </a:p>
          <a:p>
            <a:pPr marL="0" indent="0">
              <a:buFont typeface="+mj-lt"/>
              <a:buNone/>
            </a:pPr>
            <a:r>
              <a:rPr lang="en-US" sz="2300" b="1"/>
              <a:t>7. RESTful APIs or GraphQL</a:t>
            </a:r>
            <a:endParaRPr lang="en-US" sz="2300" b="1"/>
          </a:p>
          <a:p>
            <a:pPr marL="0" indent="0">
              <a:buFont typeface="+mj-lt"/>
              <a:buNone/>
            </a:pPr>
            <a:r>
              <a:rPr lang="en-US" sz="2300" b="1"/>
              <a:t>8. Compressions and Content Negotiation</a:t>
            </a:r>
            <a:endParaRPr lang="en-US" sz="2300" b="1"/>
          </a:p>
          <a:p>
            <a:pPr marL="0" indent="0">
              <a:buFont typeface="+mj-lt"/>
              <a:buNone/>
            </a:pPr>
            <a:r>
              <a:rPr lang="en-US" sz="2300" b="1"/>
              <a:t>9. Rate Limiting </a:t>
            </a:r>
            <a:endParaRPr lang="en-US" sz="2300" b="1"/>
          </a:p>
          <a:p>
            <a:pPr marL="0" indent="0">
              <a:buFont typeface="+mj-lt"/>
              <a:buNone/>
            </a:pPr>
            <a:r>
              <a:rPr lang="en-US" sz="2300" b="1"/>
              <a:t>10. Cross-Origin Resource Sharing(CORS)</a:t>
            </a:r>
            <a:endParaRPr lang="en-US" sz="2300" b="1"/>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sz="3600" b="1"/>
              <a:t>WORKING OF COMPLEX HTTP INTERACTIONS:</a:t>
            </a:r>
            <a:endParaRPr lang="en-US" sz="3600" b="1"/>
          </a:p>
        </p:txBody>
      </p:sp>
      <p:sp>
        <p:nvSpPr>
          <p:cNvPr id="7" name="Text Placeholder 6"/>
          <p:cNvSpPr>
            <a:spLocks noGrp="1"/>
          </p:cNvSpPr>
          <p:nvPr>
            <p:ph type="body" orient="vert" idx="1"/>
          </p:nvPr>
        </p:nvSpPr>
        <p:spPr>
          <a:xfrm>
            <a:off x="609600" y="773430"/>
            <a:ext cx="10972800" cy="4963160"/>
          </a:xfrm>
        </p:spPr>
        <p:txBody>
          <a:bodyPr/>
          <a:p>
            <a:pPr marL="0" indent="0">
              <a:buNone/>
            </a:pPr>
            <a:r>
              <a:rPr lang="en-US"/>
              <a:t>     </a:t>
            </a:r>
            <a:endParaRPr lang="en-US" sz="3600"/>
          </a:p>
        </p:txBody>
      </p:sp>
      <p:sp>
        <p:nvSpPr>
          <p:cNvPr id="4" name="Text Box 3"/>
          <p:cNvSpPr txBox="1"/>
          <p:nvPr/>
        </p:nvSpPr>
        <p:spPr>
          <a:xfrm>
            <a:off x="3048000" y="-4372610"/>
            <a:ext cx="6096000" cy="3481070"/>
          </a:xfrm>
          <a:prstGeom prst="rect">
            <a:avLst/>
          </a:prstGeom>
          <a:noFill/>
        </p:spPr>
        <p:txBody>
          <a:bodyPr wrap="square" rtlCol="0" anchor="t">
            <a:noAutofit/>
          </a:bodyPr>
          <a:p>
            <a:endParaRPr lang="en-US"/>
          </a:p>
          <a:p>
            <a:r>
              <a:rPr lang="en-US"/>
              <a:t>1</a:t>
            </a:r>
            <a:endParaRPr lang="en-US"/>
          </a:p>
          <a:p>
            <a:r>
              <a:rPr lang="en-US"/>
              <a:t>Define your goals</a:t>
            </a:r>
            <a:endParaRPr lang="en-US"/>
          </a:p>
          <a:p>
            <a:r>
              <a:rPr lang="en-US"/>
              <a:t>Before you start designing complex web interactions, you need to have a clear idea of what you want to achieve and why. What are the user needs, expectations, and motivations? What are the business objectives and requirements? How do you measure the success and value of the interactions? Having a well-defined goal will help you focus on the essential features and functions, and avoid unnecessary complexity and clutter.</a:t>
            </a:r>
            <a:endParaRPr lang="en-US"/>
          </a:p>
        </p:txBody>
      </p:sp>
      <p:sp>
        <p:nvSpPr>
          <p:cNvPr id="3" name="Text Box 2"/>
          <p:cNvSpPr txBox="1"/>
          <p:nvPr/>
        </p:nvSpPr>
        <p:spPr>
          <a:xfrm>
            <a:off x="511810" y="917575"/>
            <a:ext cx="10847070" cy="5940425"/>
          </a:xfrm>
          <a:prstGeom prst="rect">
            <a:avLst/>
          </a:prstGeom>
          <a:noFill/>
        </p:spPr>
        <p:txBody>
          <a:bodyPr wrap="square" rtlCol="0">
            <a:noAutofit/>
          </a:bodyPr>
          <a:p>
            <a:r>
              <a:rPr lang="en-US" sz="2400"/>
              <a:t>The working of complex HTTP interactions involves a series of steps and components that enables communication  between clients and servers.</a:t>
            </a:r>
            <a:endParaRPr lang="en-US" sz="2400"/>
          </a:p>
          <a:p>
            <a:r>
              <a:rPr lang="en-US" sz="2400" b="1"/>
              <a:t>1. Client Requests:</a:t>
            </a:r>
            <a:endParaRPr lang="en-US" sz="2400" b="1"/>
          </a:p>
          <a:p>
            <a:r>
              <a:rPr lang="en-US" sz="2400"/>
              <a:t>    The interactions begind with a client(e.g; web browser or another application) initiating an HTTP requests. This requests includes information like the HTTP method( GET, POST, etc) , headers, parameters, and sometimes a payload.</a:t>
            </a:r>
            <a:endParaRPr lang="en-US" sz="2400"/>
          </a:p>
          <a:p>
            <a:r>
              <a:rPr lang="en-US" sz="2400" b="1"/>
              <a:t>2. Server Processing:</a:t>
            </a:r>
            <a:endParaRPr lang="en-US" sz="2400"/>
          </a:p>
          <a:p>
            <a:r>
              <a:rPr lang="en-US" sz="2400"/>
              <a:t>    The server receives the HTTP request and processes it based on the specified route or end point. This process involves  authentication, auhtorization and other validation  steps to ensure the client has the necessary permissions.</a:t>
            </a:r>
            <a:endParaRPr lang="en-US" sz="2400"/>
          </a:p>
          <a:p>
            <a:r>
              <a:rPr lang="en-US" sz="2400" b="1"/>
              <a:t>3. Database Interactions:</a:t>
            </a:r>
            <a:endParaRPr lang="en-US" sz="2400"/>
          </a:p>
          <a:p>
            <a:r>
              <a:rPr lang="en-US" sz="2400"/>
              <a:t>     If necessary, the server may interact with database to fetch or modify data. This step is common in applications that store and retrieve informatiion from the database backend.</a:t>
            </a:r>
            <a:endParaRPr lang="en-US" sz="24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a:xfrm>
            <a:off x="546735" y="330200"/>
            <a:ext cx="10121265" cy="5643880"/>
          </a:xfrm>
        </p:spPr>
        <p:txBody>
          <a:bodyPr>
            <a:normAutofit fontScale="90000"/>
          </a:bodyPr>
          <a:p>
            <a:pPr algn="l"/>
            <a:r>
              <a:rPr lang="en-US" sz="2800" b="1"/>
              <a:t>4. Response Generation:</a:t>
            </a:r>
            <a:br>
              <a:rPr lang="en-US" sz="2800" b="1"/>
            </a:br>
            <a:r>
              <a:rPr lang="en-US" sz="2800"/>
              <a:t>      Based on the results of the business logic and any database interactions, the server generates an HTTP response. This includes status codes, headers and a response body containing the requested data and relevant information.</a:t>
            </a:r>
            <a:br>
              <a:rPr lang="en-US" sz="2800"/>
            </a:br>
            <a:r>
              <a:rPr lang="en-US" sz="2800" b="1"/>
              <a:t>5. Data Tranmission:</a:t>
            </a:r>
            <a:br>
              <a:rPr lang="en-US" sz="2800" b="1"/>
            </a:br>
            <a:r>
              <a:rPr lang="en-US" sz="2800"/>
              <a:t>     The server sends the HTTP response back to the client over the network. This  transmission may involve encryption(e.g; using HTTPS) to ensure secure data transfer.</a:t>
            </a:r>
            <a:br>
              <a:rPr lang="en-US" sz="2800"/>
            </a:br>
            <a:r>
              <a:rPr lang="en-US" sz="2800" b="1"/>
              <a:t>6. Client Processing:</a:t>
            </a:r>
            <a:br>
              <a:rPr lang="en-US" sz="2800" b="1"/>
            </a:br>
            <a:r>
              <a:rPr lang="en-US" sz="2800"/>
              <a:t>      The client receives the HTTP response and processes it. This typically involves parsing the response , handling any errors , and extracting the relevant data.</a:t>
            </a:r>
            <a:br>
              <a:rPr lang="en-US" sz="2800"/>
            </a:br>
            <a:br>
              <a:rPr lang="en-US" sz="2800"/>
            </a:br>
            <a:br>
              <a:rPr lang="en-US" sz="2800"/>
            </a:br>
            <a:endParaRPr lang="en-US" sz="2800"/>
          </a:p>
        </p:txBody>
      </p:sp>
      <p:sp>
        <p:nvSpPr>
          <p:cNvPr id="3" name="Subtitle 2"/>
          <p:cNvSpPr>
            <a:spLocks noGrp="1"/>
          </p:cNvSpPr>
          <p:nvPr>
            <p:ph type="subTitle" idx="1"/>
          </p:nvPr>
        </p:nvSpPr>
        <p:spPr>
          <a:xfrm>
            <a:off x="547370" y="4970145"/>
            <a:ext cx="9925685" cy="1429385"/>
          </a:xfrm>
        </p:spPr>
        <p:txBody>
          <a:bodyPr/>
          <a:p>
            <a:r>
              <a:rPr lang="en-US"/>
              <a:t>The complexity arises from the combination of these steps , specially when dealing with authentication , authorization and error handling. </a:t>
            </a:r>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Uses Of Complex HTTP Interaction</a:t>
            </a:r>
            <a:endParaRPr lang="en-US"/>
          </a:p>
        </p:txBody>
      </p:sp>
      <p:sp>
        <p:nvSpPr>
          <p:cNvPr id="3" name="Content Placeholder 2"/>
          <p:cNvSpPr>
            <a:spLocks noGrp="1"/>
          </p:cNvSpPr>
          <p:nvPr>
            <p:ph idx="1"/>
          </p:nvPr>
        </p:nvSpPr>
        <p:spPr/>
        <p:txBody>
          <a:bodyPr>
            <a:noAutofit/>
          </a:bodyPr>
          <a:p>
            <a:r>
              <a:rPr lang="en-US" sz="2000"/>
              <a:t>Complex HTTP interactions encompass a variety of scenarios where the HTTP protocol is leveraged in intricate ways to facilitate communication and data exchange between clients and servers. Some common types include:</a:t>
            </a:r>
            <a:endParaRPr lang="en-US" sz="2000"/>
          </a:p>
          <a:p>
            <a:endParaRPr lang="en-US" sz="2000"/>
          </a:p>
          <a:p>
            <a:r>
              <a:rPr lang="en-US" sz="2000" b="1"/>
              <a:t>Authentication and Authorization: </a:t>
            </a:r>
            <a:r>
              <a:rPr lang="en-US" sz="2000"/>
              <a:t>Using HTTP headers (e.g., Authorization header with bearer tokens or Basic Authentication), cookies, or custom authentication schemes to authenticate users and authorize access to resources.</a:t>
            </a:r>
            <a:endParaRPr lang="en-US" sz="2000"/>
          </a:p>
          <a:p>
            <a:endParaRPr lang="en-US" sz="2000"/>
          </a:p>
          <a:p>
            <a:r>
              <a:rPr lang="en-US" sz="2000" b="1"/>
              <a:t>Session Management: </a:t>
            </a:r>
            <a:r>
              <a:rPr lang="en-US" sz="2000"/>
              <a:t>Maintaining session state across multiple HTTP requests using cookies or session identifiers passed in headers, enabling personalized user experiences and access control.</a:t>
            </a:r>
            <a:endParaRPr lang="en-US" sz="2000"/>
          </a:p>
          <a:p>
            <a:endParaRPr lang="en-US" sz="2000"/>
          </a:p>
          <a:p>
            <a:r>
              <a:rPr lang="en-US" sz="2000" b="1"/>
              <a:t>Pagination and Filtering:</a:t>
            </a:r>
            <a:r>
              <a:rPr lang="en-US" sz="2000"/>
              <a:t> Implementing pagination and filtering mechanisms in API responses using query parameters or custom headers to efficiently manage large datasets and optimize performance.</a:t>
            </a:r>
            <a:endParaRPr lang="en-US" sz="20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a:xfrm>
            <a:off x="302260" y="-118110"/>
            <a:ext cx="11051540" cy="6494145"/>
          </a:xfrm>
        </p:spPr>
        <p:txBody>
          <a:bodyPr>
            <a:normAutofit/>
          </a:bodyPr>
          <a:p>
            <a:pPr marL="0" indent="0">
              <a:buFont typeface="Arial" panose="020B0604020202020204" pitchFamily="34" charset="0"/>
            </a:pPr>
            <a:r>
              <a:rPr lang="en-US" sz="2220" b="1"/>
              <a:t>Caching:</a:t>
            </a:r>
            <a:r>
              <a:rPr lang="en-US" sz="2220"/>
              <a:t> Leveraging HTTP caching mechanisms (e.g., caching headers like Cache-Control and ETag) to reduce server load and improve response times by caching frequently accessed resources in client browsers or intermediate caches.</a:t>
            </a:r>
            <a:br>
              <a:rPr lang="en-US" sz="2220"/>
            </a:br>
            <a:br>
              <a:rPr lang="en-US" sz="2220"/>
            </a:br>
            <a:r>
              <a:rPr lang="en-US" sz="2220" b="1"/>
              <a:t>Compression: </a:t>
            </a:r>
            <a:r>
              <a:rPr lang="en-US" sz="2220"/>
              <a:t>Compressing HTTP responses using gzip or deflate encoding to minimize data transfer size and improve performance, especially for large payloads like images, documents, or API responses.</a:t>
            </a:r>
            <a:br>
              <a:rPr lang="en-US" sz="2220"/>
            </a:br>
            <a:br>
              <a:rPr lang="en-US" sz="2220"/>
            </a:br>
            <a:r>
              <a:rPr lang="en-US" sz="2220" b="1"/>
              <a:t>Content Negotiation:</a:t>
            </a:r>
            <a:r>
              <a:rPr lang="en-US" sz="2220"/>
              <a:t> Negotiating content types and formats between clients and servers using the Accept and Content-Type headers to support multiple data representations (e.g., JSON, XML, HTML) and language preferences.</a:t>
            </a:r>
            <a:br>
              <a:rPr lang="en-US" sz="2220"/>
            </a:br>
            <a:br>
              <a:rPr lang="en-US" sz="2220"/>
            </a:br>
            <a:r>
              <a:rPr lang="en-US" sz="2220" b="1"/>
              <a:t>Conditional Requests: </a:t>
            </a:r>
            <a:r>
              <a:rPr lang="en-US" sz="2220"/>
              <a:t>Employing conditional request headers (e.g., If-Modified-Since, If-None-Match) to optimize bandwidth usage and reduce server load by allowing clients to validate cached responses and avoid unnecessary data transfers.</a:t>
            </a:r>
            <a:endParaRPr lang="en-US" sz="2220"/>
          </a:p>
        </p:txBody>
      </p:sp>
      <p:sp>
        <p:nvSpPr>
          <p:cNvPr id="5" name="Text Box 4"/>
          <p:cNvSpPr txBox="1"/>
          <p:nvPr/>
        </p:nvSpPr>
        <p:spPr>
          <a:xfrm>
            <a:off x="659130" y="2146300"/>
            <a:ext cx="8474710" cy="2851785"/>
          </a:xfrm>
          <a:prstGeom prst="rect">
            <a:avLst/>
          </a:prstGeom>
          <a:noFill/>
        </p:spPr>
        <p:txBody>
          <a:bodyPr wrap="square" rtlCol="0" anchor="t">
            <a:noAutofit/>
          </a:bodyPr>
          <a:p>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6247130"/>
          </a:xfrm>
        </p:spPr>
        <p:txBody>
          <a:bodyPr>
            <a:normAutofit fontScale="90000"/>
          </a:bodyPr>
          <a:p>
            <a:pPr marL="0" indent="0">
              <a:buFont typeface="Wingdings" panose="05000000000000000000" charset="0"/>
            </a:pPr>
            <a:r>
              <a:rPr lang="en-US" sz="2800" b="1"/>
              <a:t>CONNECTIONS IN COMPLEX HTTP INTERACTIONS:</a:t>
            </a:r>
            <a:br>
              <a:rPr lang="en-US" sz="2800" b="1"/>
            </a:br>
            <a:br>
              <a:rPr lang="en-US" sz="2800" b="1"/>
            </a:br>
            <a:r>
              <a:rPr lang="en-US" sz="2220"/>
              <a:t>In complex HTTP interactions, such as those in web applications or APIs, the terms "persistent" and "non-persistent" refer to the behavior of the underlying TCP connections.</a:t>
            </a:r>
            <a:br>
              <a:rPr lang="en-US" sz="2220"/>
            </a:br>
            <a:br>
              <a:rPr lang="en-US" sz="2220"/>
            </a:br>
            <a:r>
              <a:rPr lang="en-US" sz="2400" b="1"/>
              <a:t>Persistent (Keep-Alive) Connections:</a:t>
            </a:r>
            <a:br>
              <a:rPr lang="en-US" sz="2220"/>
            </a:br>
            <a:r>
              <a:rPr lang="en-US" sz="2220"/>
              <a:t>Persistent connections, also known as "Keep-Alive" connections, allow multiple HTTP requests and responses to be sent and received over a single TCP connection.</a:t>
            </a:r>
            <a:br>
              <a:rPr lang="en-US" sz="2220"/>
            </a:br>
            <a:r>
              <a:rPr lang="en-US" sz="2220"/>
              <a:t>With persistent connections, the TCP connection remains open after the initial request-response cycle, allowing subsequent requests to be sent without the overhead of establishing a new connection each time.</a:t>
            </a:r>
            <a:br>
              <a:rPr lang="en-US" sz="2220"/>
            </a:br>
            <a:r>
              <a:rPr lang="en-US" sz="2220"/>
              <a:t>This reduces latency and improves performance, especially for applications that require multiple resources to be fetched from the same server.</a:t>
            </a:r>
            <a:br>
              <a:rPr lang="en-US" sz="2220"/>
            </a:br>
            <a:r>
              <a:rPr lang="en-US" sz="2400" b="1"/>
              <a:t>Non-Persistent Connections:</a:t>
            </a:r>
            <a:br>
              <a:rPr lang="en-US" sz="2400"/>
            </a:br>
            <a:r>
              <a:rPr lang="en-US" sz="2220"/>
              <a:t>Non-persistent connections, on the other hand, involve opening a new TCP connection for each HTTP request-response cycle.</a:t>
            </a:r>
            <a:br>
              <a:rPr lang="en-US" sz="2220"/>
            </a:br>
            <a:r>
              <a:rPr lang="en-US" sz="2220"/>
              <a:t>After each request-response exchange, the TCP connection is closed, and a new connection is established for the next request.</a:t>
            </a:r>
            <a:br>
              <a:rPr lang="en-US" sz="2220"/>
            </a:br>
            <a:r>
              <a:rPr lang="en-US" sz="2220"/>
              <a:t>Non-persistent connections are simpler in terms of implementation but can result in higher latency and increased overhead due to the repeated TCP connection setup and teardown.</a:t>
            </a:r>
            <a:endParaRPr lang="en-US" sz="222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47725" y="-292735"/>
            <a:ext cx="10506075" cy="7275830"/>
          </a:xfrm>
        </p:spPr>
        <p:txBody>
          <a:bodyPr>
            <a:normAutofit/>
          </a:bodyPr>
          <a:p>
            <a:r>
              <a:rPr lang="en-US" sz="4000" b="1"/>
              <a:t>Main Concepts In Complex HTTP Interactions:</a:t>
            </a:r>
            <a:br>
              <a:rPr lang="en-US" sz="4000" b="1"/>
            </a:br>
            <a:br>
              <a:rPr lang="en-US" sz="4000" b="1"/>
            </a:br>
            <a:r>
              <a:rPr lang="en-US" sz="2400"/>
              <a:t>In complex HTTP interactions, several key concepts play a significant role in understanding and managing the behavior of web applications and APIs. Here are some of the main concepts:</a:t>
            </a:r>
            <a:br>
              <a:rPr lang="en-US" sz="2400"/>
            </a:br>
            <a:r>
              <a:rPr lang="en-US" sz="2400"/>
              <a:t>1. </a:t>
            </a:r>
            <a:r>
              <a:rPr lang="en-US" sz="2400" b="1"/>
              <a:t>HTTP Methods (Verbs):</a:t>
            </a:r>
            <a:r>
              <a:rPr lang="en-US" sz="2400"/>
              <a:t> HTTP defines several methods (or verbs) that indicate the desired action to be performed on a resource. The most commonly used methods are:</a:t>
            </a:r>
            <a:br>
              <a:rPr lang="en-US" sz="2400"/>
            </a:br>
            <a:br>
              <a:rPr lang="en-US" sz="2400"/>
            </a:br>
            <a:r>
              <a:rPr lang="en-US" sz="2400" b="1"/>
              <a:t>GET:</a:t>
            </a:r>
            <a:r>
              <a:rPr lang="en-US" sz="2400"/>
              <a:t> Retrieves data from the server.</a:t>
            </a:r>
            <a:br>
              <a:rPr lang="en-US" sz="2400"/>
            </a:br>
            <a:r>
              <a:rPr lang="en-US" sz="2400" b="1"/>
              <a:t>POST:</a:t>
            </a:r>
            <a:r>
              <a:rPr lang="en-US" sz="2400"/>
              <a:t> Submits data to the server to create a new resource.</a:t>
            </a:r>
            <a:br>
              <a:rPr lang="en-US" sz="2400"/>
            </a:br>
            <a:r>
              <a:rPr lang="en-US" sz="2400" b="1"/>
              <a:t>PUT:</a:t>
            </a:r>
            <a:r>
              <a:rPr lang="en-US" sz="2400"/>
              <a:t> Submits data to the server to update an existing resource.</a:t>
            </a:r>
            <a:br>
              <a:rPr lang="en-US" sz="2400"/>
            </a:br>
            <a:r>
              <a:rPr lang="en-US" sz="2400" b="1"/>
              <a:t>DELETE:</a:t>
            </a:r>
            <a:r>
              <a:rPr lang="en-US" sz="2400"/>
              <a:t> Deletes a resource on the server.</a:t>
            </a:r>
            <a:br>
              <a:rPr lang="en-US" sz="2400"/>
            </a:br>
            <a:r>
              <a:rPr lang="en-US" sz="2400" b="1"/>
              <a:t>PATCH:</a:t>
            </a:r>
            <a:r>
              <a:rPr lang="en-US" sz="2400"/>
              <a:t> Partially updates a resource.</a:t>
            </a:r>
            <a:br>
              <a:rPr lang="en-US" sz="2400"/>
            </a:br>
            <a:r>
              <a:rPr lang="en-US" sz="2400" b="1"/>
              <a:t>HEAD:</a:t>
            </a:r>
            <a:r>
              <a:rPr lang="en-US" sz="2400"/>
              <a:t> Similar to GET but retrieves only the headers, not the body.</a:t>
            </a:r>
            <a:endParaRPr lang="en-US" sz="24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67360" y="-483235"/>
            <a:ext cx="11379835" cy="7211695"/>
          </a:xfrm>
        </p:spPr>
        <p:txBody>
          <a:bodyPr>
            <a:normAutofit/>
          </a:bodyPr>
          <a:p>
            <a:r>
              <a:rPr lang="en-US" sz="2665" b="1"/>
              <a:t>2. HTTP Headers:</a:t>
            </a:r>
            <a:r>
              <a:rPr lang="en-US" sz="2665"/>
              <a:t> HTTP headers are additional pieces of information sent between the client and the server alongside the main request or response body. They provide metadata about the request or response, such as content type, caching directives, authentication tokens, etc.</a:t>
            </a:r>
            <a:br>
              <a:rPr lang="en-US" sz="2665"/>
            </a:br>
            <a:r>
              <a:rPr lang="en-US" sz="2665"/>
              <a:t>3. </a:t>
            </a:r>
            <a:r>
              <a:rPr lang="en-US" sz="2665" b="1"/>
              <a:t>HTTP Status Codes:</a:t>
            </a:r>
            <a:r>
              <a:rPr lang="en-US" sz="2665"/>
              <a:t> HTTP status codes are three-digit numbers included in responses to indicate the outcome of the request. They are categorized into different ranges, such as 1xx (Informational), 2xx (Success), 3xx (Redirection), 4xx (Client Error), and 5xx (Server Error). Examples include 200 OK, 404 Not Found, and 500 Internal Server Error.</a:t>
            </a:r>
            <a:br>
              <a:rPr lang="en-US" sz="2665"/>
            </a:br>
            <a:r>
              <a:rPr lang="en-US" sz="2665"/>
              <a:t>4. </a:t>
            </a:r>
            <a:r>
              <a:rPr lang="en-US" sz="2665" b="1"/>
              <a:t>RESTful APIs: </a:t>
            </a:r>
            <a:r>
              <a:rPr lang="en-US" sz="2665"/>
              <a:t>Representational State Transfer (REST) is an architectural style for designing networked applications. RESTful APIs use HTTP methods to perform CRUD (Create, Read, Update, Delete) operations on resources represented as URIs (Uniform Resource Identifiers). They often follow principles such as statelessness, uniform interface, and resource-based interactions.</a:t>
            </a:r>
            <a:endParaRPr lang="en-US" sz="2665"/>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252095" y="365125"/>
            <a:ext cx="11781790" cy="6329680"/>
          </a:xfrm>
        </p:spPr>
        <p:txBody>
          <a:bodyPr/>
          <a:p>
            <a:r>
              <a:rPr lang="en-US" sz="2800" b="1"/>
              <a:t>5. Statelessness:</a:t>
            </a:r>
            <a:r>
              <a:rPr lang="en-US" sz="2800"/>
              <a:t> HTTP is inherently stateless, meaning each request from a client to a server is independent and contains all the information needed for the server to fulfill the request. To maintain application state, techniques like cookies, sessions, or tokens are often used.</a:t>
            </a:r>
            <a:br>
              <a:rPr lang="en-US" sz="2800"/>
            </a:br>
            <a:br>
              <a:rPr lang="en-US" sz="2800"/>
            </a:br>
            <a:r>
              <a:rPr lang="en-US" sz="2800" b="1"/>
              <a:t>6. Cookies and Sessions:</a:t>
            </a:r>
            <a:r>
              <a:rPr lang="en-US" sz="2800"/>
              <a:t> Cookies are small pieces of data stored in the client's browser and sent with every subsequent request to the same domain. Sessions are server-side data structures used to store user-specific information across multiple HTTP requests.</a:t>
            </a:r>
            <a:br>
              <a:rPr lang="en-US" sz="2800"/>
            </a:br>
            <a:br>
              <a:rPr lang="en-US" sz="2800"/>
            </a:br>
            <a:r>
              <a:rPr lang="en-US" sz="2800" b="1"/>
              <a:t>7. Caching:</a:t>
            </a:r>
            <a:r>
              <a:rPr lang="en-US" sz="2800"/>
              <a:t> Caching mechanisms allow for the temporary storage of HTTP responses to reduce the need for repeated requests to the server. Common caching mechanisms include client-side caching (e.g., browser cache) and server-side caching (e.g., reverse proxies, CDNs).</a:t>
            </a:r>
            <a:endParaRPr lang="en-US" sz="28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241935" y="365125"/>
            <a:ext cx="11812270" cy="6247765"/>
          </a:xfrm>
        </p:spPr>
        <p:txBody>
          <a:bodyPr/>
          <a:p>
            <a:r>
              <a:rPr lang="en-US" sz="4000" b="1"/>
              <a:t>USES OF HTTP INTERACTIONS:</a:t>
            </a:r>
            <a:br>
              <a:rPr lang="en-US" sz="4000" b="1"/>
            </a:br>
            <a:r>
              <a:rPr lang="en-US" sz="2800"/>
              <a:t>Here are the main uses of complex HTTP interactions summarized in point form:</a:t>
            </a:r>
            <a:br>
              <a:rPr lang="en-US" sz="2800"/>
            </a:br>
            <a:br>
              <a:rPr lang="en-US" sz="2800" b="1"/>
            </a:br>
            <a:r>
              <a:rPr lang="en-US" sz="2800" b="1"/>
              <a:t>1. User Authentication and Authorization:</a:t>
            </a:r>
            <a:br>
              <a:rPr lang="en-US" sz="2800" b="1"/>
            </a:br>
            <a:r>
              <a:rPr lang="en-US" sz="2800" b="1"/>
              <a:t>       </a:t>
            </a:r>
            <a:r>
              <a:rPr lang="en-US" sz="2800"/>
              <a:t>Securely authenticate users and manage access to resources.</a:t>
            </a:r>
            <a:br>
              <a:rPr lang="en-US" sz="2800"/>
            </a:br>
            <a:r>
              <a:rPr lang="en-US" sz="2800"/>
              <a:t>Utilize tokens or session cookies for authorization.</a:t>
            </a:r>
            <a:br>
              <a:rPr lang="en-US" sz="2800"/>
            </a:br>
            <a:br>
              <a:rPr lang="en-US" sz="2800"/>
            </a:br>
            <a:r>
              <a:rPr lang="en-US" sz="2800"/>
              <a:t>2. </a:t>
            </a:r>
            <a:r>
              <a:rPr lang="en-US" sz="2800" b="1"/>
              <a:t>Fetching Data from External APIs:</a:t>
            </a:r>
            <a:br>
              <a:rPr lang="en-US" sz="2800" b="1"/>
            </a:br>
            <a:r>
              <a:rPr lang="en-US" sz="2800" b="1"/>
              <a:t>       </a:t>
            </a:r>
            <a:r>
              <a:rPr lang="en-US" sz="2800"/>
              <a:t>Integrate third-party services by fetching data via GET requests.</a:t>
            </a:r>
            <a:br>
              <a:rPr lang="en-US" sz="2800"/>
            </a:br>
            <a:r>
              <a:rPr lang="en-US" sz="2800"/>
              <a:t>Process JSON or XML responses for display on the website. </a:t>
            </a:r>
            <a:br>
              <a:rPr lang="en-US" sz="2800"/>
            </a:br>
            <a:br>
              <a:rPr lang="en-US" sz="2800"/>
            </a:br>
            <a:r>
              <a:rPr lang="en-US" sz="2800"/>
              <a:t>3. </a:t>
            </a:r>
            <a:r>
              <a:rPr lang="en-US" sz="2800" b="1"/>
              <a:t>Handling AJAX Requests:</a:t>
            </a:r>
            <a:br>
              <a:rPr lang="en-US" sz="2800" b="1"/>
            </a:br>
            <a:r>
              <a:rPr lang="en-US" sz="2800" b="1"/>
              <a:t>       </a:t>
            </a:r>
            <a:r>
              <a:rPr lang="en-US" sz="2800"/>
              <a:t>Dynamically update parts of a web page without full reloads.</a:t>
            </a:r>
            <a:br>
              <a:rPr lang="en-US" sz="2800"/>
            </a:br>
            <a:r>
              <a:rPr lang="en-US" sz="2800"/>
              <a:t>Send asynchronous GET or POST requests using JavaScript.</a:t>
            </a:r>
            <a:endParaRPr lang="en-US" sz="28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313055" y="160020"/>
            <a:ext cx="11597005" cy="6525260"/>
          </a:xfrm>
        </p:spPr>
        <p:txBody>
          <a:bodyPr>
            <a:normAutofit fontScale="90000"/>
          </a:bodyPr>
          <a:p>
            <a:r>
              <a:rPr lang="en-US" sz="2800" b="1"/>
              <a:t>4. File Uploads:</a:t>
            </a:r>
            <a:br>
              <a:rPr lang="en-US" sz="2800"/>
            </a:br>
            <a:r>
              <a:rPr lang="en-US" sz="2800"/>
              <a:t>       Allow users to upload images, documents, or other files.</a:t>
            </a:r>
            <a:br>
              <a:rPr lang="en-US" sz="2800"/>
            </a:br>
            <a:r>
              <a:rPr lang="en-US" sz="2800"/>
              <a:t>Process multipart/form-data POST requests for file handling.</a:t>
            </a:r>
            <a:br>
              <a:rPr lang="en-US" sz="2800"/>
            </a:br>
            <a:br>
              <a:rPr lang="en-US" sz="2800"/>
            </a:br>
            <a:r>
              <a:rPr lang="en-US" sz="2800" b="1"/>
              <a:t>5. Implementing Webhooks:</a:t>
            </a:r>
            <a:br>
              <a:rPr lang="en-US" sz="2800"/>
            </a:br>
            <a:r>
              <a:rPr lang="en-US" sz="2800"/>
              <a:t>     Enable server-to-server communication for event-driven actions.</a:t>
            </a:r>
            <a:br>
              <a:rPr lang="en-US" sz="2800"/>
            </a:br>
            <a:r>
              <a:rPr lang="en-US" sz="2800"/>
              <a:t>Configure server endpoints to receive HTTP POST requests from external services.</a:t>
            </a:r>
            <a:br>
              <a:rPr lang="en-US" sz="2800"/>
            </a:br>
            <a:br>
              <a:rPr lang="en-US" sz="2800"/>
            </a:br>
            <a:r>
              <a:rPr lang="en-US" sz="2800" b="1"/>
              <a:t>6. Implementing Basic CRUD Operations:</a:t>
            </a:r>
            <a:br>
              <a:rPr lang="en-US" sz="2800" b="1"/>
            </a:br>
            <a:r>
              <a:rPr lang="en-US" sz="2800" b="1"/>
              <a:t>     </a:t>
            </a:r>
            <a:r>
              <a:rPr lang="en-US" sz="2800"/>
              <a:t>Perform Create, Read, Update, and Delete operations on resources.</a:t>
            </a:r>
            <a:br>
              <a:rPr lang="en-US" sz="2800"/>
            </a:br>
            <a:r>
              <a:rPr lang="en-US" sz="2800"/>
              <a:t>Use HTTP methods (POST, GET, PUT, DELETE) for data manipulation.</a:t>
            </a:r>
            <a:br>
              <a:rPr lang="en-US" sz="2800"/>
            </a:br>
            <a:br>
              <a:rPr lang="en-US" sz="2800"/>
            </a:br>
            <a:r>
              <a:rPr lang="en-US" sz="2800" b="1"/>
              <a:t>7. Implementing Search Functionality:</a:t>
            </a:r>
            <a:br>
              <a:rPr lang="en-US" sz="2800" b="1"/>
            </a:br>
            <a:r>
              <a:rPr lang="en-US" sz="2800" b="1"/>
              <a:t>      </a:t>
            </a:r>
            <a:r>
              <a:rPr lang="en-US" sz="2800"/>
              <a:t>Enable users to search for specific information within the application.</a:t>
            </a:r>
            <a:br>
              <a:rPr lang="en-US" sz="2800"/>
            </a:br>
            <a:r>
              <a:rPr lang="en-US" sz="2800"/>
              <a:t>Process GET requests with query parameters for search queries.</a:t>
            </a:r>
            <a:endParaRPr lang="en-US" sz="28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323850" y="422910"/>
            <a:ext cx="11720195" cy="6011545"/>
          </a:xfrm>
        </p:spPr>
        <p:txBody>
          <a:bodyPr/>
          <a:p>
            <a:r>
              <a:rPr lang="en-US" sz="2800" b="1"/>
              <a:t>8. Handling Form Submissions with AJAX:</a:t>
            </a:r>
            <a:br>
              <a:rPr lang="en-US" sz="2800" b="1"/>
            </a:br>
            <a:r>
              <a:rPr lang="en-US" sz="2800" b="1"/>
              <a:t>         </a:t>
            </a:r>
            <a:r>
              <a:rPr lang="en-US" sz="2800"/>
              <a:t>Submit form data asynchronously without full page reloads.</a:t>
            </a:r>
            <a:br>
              <a:rPr lang="en-US" sz="2800"/>
            </a:br>
            <a:r>
              <a:rPr lang="en-US" sz="2800"/>
              <a:t>Intercept form submission events and send data via AJAX POST requests. </a:t>
            </a:r>
            <a:br>
              <a:rPr lang="en-US" sz="2800"/>
            </a:br>
            <a:br>
              <a:rPr lang="en-US" sz="2800"/>
            </a:br>
            <a:r>
              <a:rPr lang="en-US" sz="2800" b="1"/>
              <a:t>9. Implementing Pagination:</a:t>
            </a:r>
            <a:br>
              <a:rPr lang="en-US" sz="2800"/>
            </a:br>
            <a:r>
              <a:rPr lang="en-US" sz="2800"/>
              <a:t>        Improve performance by displaying large datasets in manageable chunks.</a:t>
            </a:r>
            <a:br>
              <a:rPr lang="en-US" sz="2800"/>
            </a:br>
            <a:r>
              <a:rPr lang="en-US" sz="2800"/>
              <a:t>Send GET requests with parameters specifying page number and size.</a:t>
            </a:r>
            <a:br>
              <a:rPr lang="en-US" sz="2800"/>
            </a:br>
            <a:br>
              <a:rPr lang="en-US" sz="2800"/>
            </a:br>
            <a:r>
              <a:rPr lang="en-US" sz="2800" b="1"/>
              <a:t>10. Real-time Communication:</a:t>
            </a:r>
            <a:br>
              <a:rPr lang="en-US" sz="2800" b="1"/>
            </a:br>
            <a:r>
              <a:rPr lang="en-US" sz="2800" b="1"/>
              <a:t>      </a:t>
            </a:r>
            <a:r>
              <a:rPr lang="en-US" sz="2800"/>
              <a:t>Implement chat, notifications, or live updates using WebSocket connections.</a:t>
            </a:r>
            <a:br>
              <a:rPr lang="en-US" sz="2800"/>
            </a:br>
            <a:r>
              <a:rPr lang="en-US" sz="2800"/>
              <a:t>Establish and maintain persistent connections between clients and servers.</a:t>
            </a:r>
            <a:endParaRPr lang="en-US" sz="28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250825" y="-162560"/>
            <a:ext cx="11689080" cy="7183120"/>
          </a:xfrm>
        </p:spPr>
        <p:txBody>
          <a:bodyPr>
            <a:normAutofit fontScale="90000"/>
          </a:bodyPr>
          <a:p>
            <a:r>
              <a:rPr lang="en-US" sz="2665" b="1"/>
              <a:t>ADVANTAGES:</a:t>
            </a:r>
            <a:br>
              <a:rPr lang="en-US" sz="2665" b="1"/>
            </a:br>
            <a:r>
              <a:rPr lang="en-US" sz="2665"/>
              <a:t>Here are some of the key advantages:</a:t>
            </a:r>
            <a:br>
              <a:rPr lang="en-US" sz="2665"/>
            </a:br>
            <a:r>
              <a:rPr lang="en-US" sz="2665"/>
              <a:t>1. </a:t>
            </a:r>
            <a:r>
              <a:rPr lang="en-US" sz="2665" b="1"/>
              <a:t>Enhanced Functionality:</a:t>
            </a:r>
            <a:r>
              <a:rPr lang="en-US" sz="2665"/>
              <a:t> Complex HTTP interactions enable the implementation of advanced features such as user authentication, real-time communication, file uploads, and asynchronous data retrieval. This enhances the functionality and interactivity of web applications, leading to a better user experience.</a:t>
            </a:r>
            <a:br>
              <a:rPr lang="en-US" sz="2665"/>
            </a:br>
            <a:br>
              <a:rPr lang="en-US" sz="2665"/>
            </a:br>
            <a:r>
              <a:rPr lang="en-US" sz="2665"/>
              <a:t>2. </a:t>
            </a:r>
            <a:r>
              <a:rPr lang="en-US" sz="2665" b="1"/>
              <a:t>Scalability: </a:t>
            </a:r>
            <a:r>
              <a:rPr lang="en-US" sz="2665"/>
              <a:t>By allowing asynchronous and parallel processing of requests, complex HTTP interactions contribute to the scalability of web applications. Techniques such as AJAX requests, WebSockets, and asynchronous task processing enable efficient handling of concurrent user interactions and high traffic loads.</a:t>
            </a:r>
            <a:br>
              <a:rPr lang="en-US" sz="2665"/>
            </a:br>
            <a:br>
              <a:rPr lang="en-US" sz="2665"/>
            </a:br>
            <a:r>
              <a:rPr lang="en-US" sz="2665"/>
              <a:t>3. </a:t>
            </a:r>
            <a:r>
              <a:rPr lang="en-US" sz="2665" b="1"/>
              <a:t>Modular Design: </a:t>
            </a:r>
            <a:r>
              <a:rPr lang="en-US" sz="2665"/>
              <a:t>Complex HTTP interactions facilitate a modular design approach, where different components of a web application can communicate with each other via HTTP requests and responses. This allows for better separation of concerns, easier maintenance, and the ability to scale and update individual components independently.</a:t>
            </a:r>
            <a:endParaRPr lang="en-US" sz="2665"/>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220980" y="365125"/>
            <a:ext cx="11771630" cy="6278245"/>
          </a:xfrm>
        </p:spPr>
        <p:txBody>
          <a:bodyPr/>
          <a:p>
            <a:r>
              <a:rPr lang="en-US" sz="2800" b="1"/>
              <a:t>4. Flexibility:</a:t>
            </a:r>
            <a:r>
              <a:rPr lang="en-US" sz="2800"/>
              <a:t> HTTP interactions provide a flexible communication protocol that supports various data formats (such as JSON, XML, HTML) and allows for customization of headers and request parameters. This flexibility enables developers to tailor interactions to specific use cases and requirements.</a:t>
            </a:r>
            <a:br>
              <a:rPr lang="en-US" sz="2800"/>
            </a:br>
            <a:br>
              <a:rPr lang="en-US" sz="2800"/>
            </a:br>
            <a:r>
              <a:rPr lang="en-US" sz="2800" b="1"/>
              <a:t>5. Statelessness:</a:t>
            </a:r>
            <a:r>
              <a:rPr lang="en-US" sz="2800"/>
              <a:t> HTTP interactions are inherently stateless, meaning each request is independent and contains all the information necessary for processing. This simplifies server-side development and scaling, as there is no need to maintain session state on the server between requests.</a:t>
            </a:r>
            <a:br>
              <a:rPr lang="en-US" sz="2800"/>
            </a:br>
            <a:br>
              <a:rPr lang="en-US" sz="2800"/>
            </a:br>
            <a:r>
              <a:rPr lang="en-US" sz="2800" b="1"/>
              <a:t>6. Compatibility:</a:t>
            </a:r>
            <a:r>
              <a:rPr lang="en-US" sz="2800"/>
              <a:t> HTTP interactions are supported by virtually all modern web browsers and platforms, making them a widely compatible choice for building web applications and APIs. This ensures broad accessibility and usability across different devices and environments.</a:t>
            </a:r>
            <a:endParaRPr lang="en-US" sz="28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49225" y="365125"/>
            <a:ext cx="11894185" cy="6371590"/>
          </a:xfrm>
        </p:spPr>
        <p:txBody>
          <a:bodyPr/>
          <a:p>
            <a:r>
              <a:rPr lang="en-US" sz="4000" b="1"/>
              <a:t>DISADVANTAGES:</a:t>
            </a:r>
            <a:br>
              <a:rPr lang="en-US" sz="4000" b="1"/>
            </a:br>
            <a:r>
              <a:rPr lang="en-US" sz="2800"/>
              <a:t>Here are some of the key disadvantages:</a:t>
            </a:r>
            <a:br>
              <a:rPr lang="en-US" sz="2800"/>
            </a:br>
            <a:br>
              <a:rPr lang="en-US" sz="2800"/>
            </a:br>
            <a:r>
              <a:rPr lang="en-US" sz="2800" b="1"/>
              <a:t>1. Increased Complexity: </a:t>
            </a:r>
            <a:r>
              <a:rPr lang="en-US" sz="2800"/>
              <a:t>Complex HTTP interactions can lead to increased system complexity, making it harder to understand, develop, and maintain code. As interactions involve multiple requests, responses, and potentially asynchronous operations, the overall system architecture may become more intricate and challenging to manage.</a:t>
            </a:r>
            <a:br>
              <a:rPr lang="en-US" sz="2800"/>
            </a:br>
            <a:br>
              <a:rPr lang="en-US" sz="2800"/>
            </a:br>
            <a:r>
              <a:rPr lang="en-US" sz="2800" b="1"/>
              <a:t>2. Performance Overhead: </a:t>
            </a:r>
            <a:r>
              <a:rPr lang="en-US" sz="2800"/>
              <a:t>Complex HTTP interactions often involve multiple round-trips between the client and server, which can result in performance overhead, especially when dealing with high-latency networks or large volumes of concurrent requests. Additionally, processing and handling complex interactions may consume more server resources, impacting overall system performance.</a:t>
            </a:r>
            <a:endParaRPr lang="en-US" sz="28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251460" y="163830"/>
            <a:ext cx="11853545" cy="7342505"/>
          </a:xfrm>
        </p:spPr>
        <p:txBody>
          <a:bodyPr/>
          <a:p>
            <a:r>
              <a:rPr lang="en-US" sz="2400" b="1"/>
              <a:t>3. Higher Bandwidth Usage:</a:t>
            </a:r>
            <a:r>
              <a:rPr lang="en-US" sz="2400"/>
              <a:t> Advanced features such as real-time communication or large file transfers, which are enabled by complex HTTP interactions, can lead to higher bandwidth usage. This can be a concern for users with limited network bandwidth or in scenarios where bandwidth costs are significant.</a:t>
            </a:r>
            <a:br>
              <a:rPr lang="en-US" sz="2400"/>
            </a:br>
            <a:br>
              <a:rPr lang="en-US" sz="2400"/>
            </a:br>
            <a:r>
              <a:rPr lang="en-US" sz="2400" b="1"/>
              <a:t>4. Security Risks:</a:t>
            </a:r>
            <a:r>
              <a:rPr lang="en-US" sz="2400"/>
              <a:t> Complex HTTP interactions introduce additional security risks, such as Cross-Site Scripting (XSS), Cross-Site Request Forgery (CSRF), and Injection attacks. As interactions involve multiple components and potential vulnerabilities, securing the entire system becomes more challenging and requires careful consideration of security measures.</a:t>
            </a:r>
            <a:br>
              <a:rPr lang="en-US" sz="2400"/>
            </a:br>
            <a:br>
              <a:rPr lang="en-US" sz="2400"/>
            </a:br>
            <a:r>
              <a:rPr lang="en-US" sz="2400" b="1"/>
              <a:t>5. Dependency on External Services:</a:t>
            </a:r>
            <a:r>
              <a:rPr lang="en-US" sz="2400"/>
              <a:t> Integrating with external APIs and services, which is facilitated by complex HTTP interactions, introduces dependencies on those services. Changes or downtime in external services can affect the functionality and reliability of the application, leading to potential service disruptions or degraded performance.</a:t>
            </a:r>
            <a:endParaRPr lang="en-US" sz="24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5835650"/>
          </a:xfrm>
        </p:spPr>
        <p:txBody>
          <a:bodyPr>
            <a:normAutofit/>
          </a:bodyPr>
          <a:p>
            <a:r>
              <a:rPr lang="en-US"/>
              <a:t>        </a:t>
            </a:r>
            <a:r>
              <a:rPr lang="en-US" sz="9600"/>
              <a:t>THANK YOU!!!</a:t>
            </a:r>
            <a:endParaRPr lang="en-US" sz="9600"/>
          </a:p>
        </p:txBody>
      </p:sp>
    </p:spTree>
  </p:cSld>
  <p:clrMapOvr>
    <a:masterClrMapping/>
  </p:clrMapOvr>
</p:sld>
</file>

<file path=ppt/theme/theme1.xml><?xml version="1.0" encoding="utf-8"?>
<a:theme xmlns:a="http://schemas.openxmlformats.org/drawingml/2006/main" name="Orange Waves">
  <a:themeElements>
    <a:clrScheme name="Orange Waves 13">
      <a:dk1>
        <a:srgbClr val="000000"/>
      </a:dk1>
      <a:lt1>
        <a:srgbClr val="FFFFFF"/>
      </a:lt1>
      <a:dk2>
        <a:srgbClr val="000000"/>
      </a:dk2>
      <a:lt2>
        <a:srgbClr val="969696"/>
      </a:lt2>
      <a:accent1>
        <a:srgbClr val="C73109"/>
      </a:accent1>
      <a:accent2>
        <a:srgbClr val="FF5050"/>
      </a:accent2>
      <a:accent3>
        <a:srgbClr val="FFFFFF"/>
      </a:accent3>
      <a:accent4>
        <a:srgbClr val="000000"/>
      </a:accent4>
      <a:accent5>
        <a:srgbClr val="E0ADAA"/>
      </a:accent5>
      <a:accent6>
        <a:srgbClr val="E74848"/>
      </a:accent6>
      <a:hlink>
        <a:srgbClr val="4D4D4D"/>
      </a:hlink>
      <a:folHlink>
        <a:srgbClr val="777777"/>
      </a:folHlink>
    </a:clrScheme>
    <a:fontScheme name="Orange Waves">
      <a:majorFont>
        <a:latin typeface="Arial"/>
        <a:ea typeface="SimSun"/>
        <a:cs typeface=""/>
      </a:majorFont>
      <a:minorFont>
        <a:latin typeface="Arial"/>
        <a:ea typeface="SimSun"/>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spDef>
    <a:ln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lnDef>
  </a:objectDefaults>
  <a:extraClrSchemeLst>
    <a:extraClrScheme>
      <a:clrScheme name="Orange Wave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Orange Waves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Orange Waves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Orange Waves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Orange Waves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Orange Waves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Orange Waves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Orange Waves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Orange Waves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Orange Waves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Orange Waves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Orange Waves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Orange Waves 13">
        <a:dk1>
          <a:srgbClr val="000000"/>
        </a:dk1>
        <a:lt1>
          <a:srgbClr val="FFFFFF"/>
        </a:lt1>
        <a:dk2>
          <a:srgbClr val="000000"/>
        </a:dk2>
        <a:lt2>
          <a:srgbClr val="969696"/>
        </a:lt2>
        <a:accent1>
          <a:srgbClr val="C73109"/>
        </a:accent1>
        <a:accent2>
          <a:srgbClr val="FF5050"/>
        </a:accent2>
        <a:accent3>
          <a:srgbClr val="FFFFFF"/>
        </a:accent3>
        <a:accent4>
          <a:srgbClr val="000000"/>
        </a:accent4>
        <a:accent5>
          <a:srgbClr val="E0ADAA"/>
        </a:accent5>
        <a:accent6>
          <a:srgbClr val="E74848"/>
        </a:accent6>
        <a:hlink>
          <a:srgbClr val="4D4D4D"/>
        </a:hlink>
        <a:folHlink>
          <a:srgbClr val="777777"/>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17189</Words>
  <Application>WPS Presentation</Application>
  <PresentationFormat>Widescreen</PresentationFormat>
  <Paragraphs>115</Paragraphs>
  <Slides>23</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23</vt:i4>
      </vt:variant>
    </vt:vector>
  </HeadingPairs>
  <TitlesOfParts>
    <vt:vector size="32" baseType="lpstr">
      <vt:lpstr>Arial</vt:lpstr>
      <vt:lpstr>SimSun</vt:lpstr>
      <vt:lpstr>Wingdings</vt:lpstr>
      <vt:lpstr>Calibri Light</vt:lpstr>
      <vt:lpstr>Calibri</vt:lpstr>
      <vt:lpstr>Microsoft YaHei</vt:lpstr>
      <vt:lpstr>Arial Unicode MS</vt:lpstr>
      <vt:lpstr>Wingdings</vt:lpstr>
      <vt:lpstr>Orange Waves</vt:lpstr>
      <vt:lpstr>GROUP 07  WEB TECHNOLOGIES  PRESENTATION</vt:lpstr>
      <vt:lpstr>       What is HTTPS?</vt:lpstr>
      <vt:lpstr>PowerPoint 演示文稿</vt:lpstr>
      <vt:lpstr>PowerPoint 演示文稿</vt:lpstr>
      <vt:lpstr>PowerPoint 演示文稿</vt:lpstr>
      <vt:lpstr>What is complex HTTP interactions?</vt:lpstr>
      <vt:lpstr>HOW DO YOU MANAGE COMPLEX WEB INTERACTIONS?</vt:lpstr>
      <vt:lpstr>1. DEFINE YOUR GOALS?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GROUP 07  WEB TECHNOLOGIES  PRESENTATION</dc:title>
  <dc:creator/>
  <cp:lastModifiedBy>lenovo</cp:lastModifiedBy>
  <cp:revision>42</cp:revision>
  <dcterms:created xsi:type="dcterms:W3CDTF">2024-02-28T12:13:00Z</dcterms:created>
  <dcterms:modified xsi:type="dcterms:W3CDTF">2024-03-06T14:11:47Z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C88D824D65464D329FBFA3B866D2C43D_11</vt:lpwstr>
  </property>
  <property fmtid="{D5CDD505-2E9C-101B-9397-08002B2CF9AE}" pid="3" name="KSOProductBuildVer">
    <vt:lpwstr>1033-12.2.0.13431</vt:lpwstr>
  </property>
</Properties>
</file>
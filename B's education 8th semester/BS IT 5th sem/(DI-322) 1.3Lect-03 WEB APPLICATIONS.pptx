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7" r:id="rId4"/>
    <p:sldId id="260" r:id="rId5"/>
    <p:sldId id="261" r:id="rId6"/>
    <p:sldId id="262" r:id="rId7"/>
    <p:sldId id="263" r:id="rId8"/>
    <p:sldId id="264" r:id="rId9"/>
    <p:sldId id="265" r:id="rId10"/>
    <p:sldId id="267"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1666527-D892-4649-8080-9668E1E94BC3}" type="datetimeFigureOut">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666527-D892-4649-8080-9668E1E94BC3}" type="datetimeFigureOut">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1666527-D892-4649-8080-9668E1E94BC3}" type="datetimeFigureOut">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1666527-D892-4649-8080-9668E1E94BC3}" type="datetimeFigureOut">
              <a:rPr lang="en-US" smtClean="0"/>
              <a:t>3/30/2021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1666527-D892-4649-8080-9668E1E94BC3}" type="datetimeFigureOut">
              <a:rPr lang="en-US" smtClean="0"/>
              <a:t>3/30/2021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1666527-D892-4649-8080-9668E1E94BC3}" type="datetimeFigureOut">
              <a:rPr lang="en-US" smtClean="0"/>
              <a:t>3/30/2021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666527-D892-4649-8080-9668E1E94BC3}" type="datetimeFigureOut">
              <a:rPr lang="en-US" smtClean="0"/>
              <a:t>3/30/2021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666527-D892-4649-8080-9668E1E94BC3}" type="datetimeFigureOut">
              <a:rPr lang="en-US" smtClean="0"/>
              <a:t>3/30/2021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666527-D892-4649-8080-9668E1E94BC3}" type="datetimeFigureOut">
              <a:rPr lang="en-US" smtClean="0"/>
              <a:t>3/30/2021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666527-D892-4649-8080-9668E1E94BC3}" type="datetimeFigureOut">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666527-D892-4649-8080-9668E1E94BC3}" type="datetimeFigureOut">
              <a:rPr lang="en-US" smtClean="0"/>
              <a:t>3/30/2021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94F570-5984-435B-8A80-D5869AD2D344}"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74638"/>
            <a:ext cx="8229600" cy="1143000"/>
          </a:xfrm>
          <a:prstGeom prst="rect">
            <a:avLst/>
          </a:prstGeom>
          <a:noFill/>
          <a:ln w="9525">
            <a:noFill/>
          </a:ln>
        </p:spPr>
        <p:txBody>
          <a:bodyPr anchor="ctr"/>
          <a:lstStyle/>
          <a:p>
            <a:pPr lvl="0"/>
            <a:r>
              <a:t>Click to edit Master title style</a:t>
            </a:r>
          </a:p>
        </p:txBody>
      </p:sp>
      <p:sp>
        <p:nvSpPr>
          <p:cNvPr id="1027" name="Text Placeholder 1026"/>
          <p:cNvSpPr>
            <a:spLocks noGrp="1"/>
          </p:cNvSpPr>
          <p:nvPr>
            <p:ph type="body" idx="1"/>
          </p:nvPr>
        </p:nvSpPr>
        <p:spPr>
          <a:xfrm>
            <a:off x="457200" y="1600200"/>
            <a:ext cx="82296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fld id="{B1666527-D892-4649-8080-9668E1E94BC3}" type="datetimeFigureOut">
              <a:rPr lang="en-US" smtClean="0"/>
              <a:t>3/30/2021</a:t>
            </a:fld>
            <a:endParaRPr lang="en-US"/>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endParaRPr lang="en-US"/>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5894F570-5984-435B-8A80-D5869AD2D34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Arial" panose="020B0604020202020204" pitchFamily="34" charset="0"/>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Arial" panose="020B0604020202020204" pitchFamily="34" charset="0"/>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Arial" panose="020B0604020202020204" pitchFamily="34" charset="0"/>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Arial" panose="020B0604020202020204" pitchFamily="34" charset="0"/>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Arial" panose="020B0604020202020204" pitchFamily="34" charset="0"/>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en.wikipedia.org/wiki/Web_browser" TargetMode="External"/><Relationship Id="rId2" Type="http://schemas.openxmlformats.org/officeDocument/2006/relationships/hyperlink" Target="http://en.wikipedia.org/wiki/Software" TargetMode="External"/><Relationship Id="rId1" Type="http://schemas.openxmlformats.org/officeDocument/2006/relationships/slideLayout" Target="../slideLayouts/slideLayout2.xml"/><Relationship Id="rId4" Type="http://schemas.openxmlformats.org/officeDocument/2006/relationships/hyperlink" Target="http://searchsoftwarequality.techtarget.com/definition/application-progra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en.wikipedia.org/wiki/Active_Server_Pages" TargetMode="External"/><Relationship Id="rId2" Type="http://schemas.openxmlformats.org/officeDocument/2006/relationships/hyperlink" Target="http://en.wikipedia.org/wiki/Three-tier_(computing)" TargetMode="External"/><Relationship Id="rId1" Type="http://schemas.openxmlformats.org/officeDocument/2006/relationships/slideLayout" Target="../slideLayouts/slideLayout2.xml"/><Relationship Id="rId6" Type="http://schemas.openxmlformats.org/officeDocument/2006/relationships/hyperlink" Target="http://en.wikipedia.org/wiki/PHP" TargetMode="External"/><Relationship Id="rId5" Type="http://schemas.openxmlformats.org/officeDocument/2006/relationships/hyperlink" Target="http://en.wikipedia.org/wiki/Java_Servlet" TargetMode="External"/><Relationship Id="rId4" Type="http://schemas.openxmlformats.org/officeDocument/2006/relationships/hyperlink" Target="http://en.wikipedia.org/wiki/ColdFusion"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en.wikipedia.org/wiki/Internet" TargetMode="External"/><Relationship Id="rId2" Type="http://schemas.openxmlformats.org/officeDocument/2006/relationships/hyperlink" Target="http://en.wikipedia.org/wiki/Computer_network" TargetMode="External"/><Relationship Id="rId1" Type="http://schemas.openxmlformats.org/officeDocument/2006/relationships/slideLayout" Target="../slideLayouts/slideLayout2.xml"/><Relationship Id="rId4" Type="http://schemas.openxmlformats.org/officeDocument/2006/relationships/hyperlink" Target="http://en.wikipedia.org/wiki/Internet_Engineering_Task_Force"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en.wikipedia.org/wiki/Internet_layer"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en.wikipedia.org/wiki/Application_laye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WEB APPLICATIONS</a:t>
            </a:r>
            <a:endParaRPr lang="en-US" dirty="0"/>
          </a:p>
        </p:txBody>
      </p:sp>
      <p:sp>
        <p:nvSpPr>
          <p:cNvPr id="3" name="Subtitle 2"/>
          <p:cNvSpPr>
            <a:spLocks noGrp="1"/>
          </p:cNvSpPr>
          <p:nvPr>
            <p:ph type="subTitle" idx="1"/>
          </p:nvPr>
        </p:nvSpPr>
        <p:spPr/>
        <p:txBody>
          <a:bodyPr/>
          <a:lstStyle/>
          <a:p>
            <a:r>
              <a:rPr lang="en-US" dirty="0" smtClean="0"/>
              <a:t>Introduction, Structure, Examples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935" y="739775"/>
            <a:ext cx="8169910" cy="5836920"/>
          </a:xfrm>
        </p:spPr>
        <p:txBody>
          <a:bodyPr>
            <a:normAutofit/>
          </a:bodyPr>
          <a:lstStyle/>
          <a:p>
            <a:pPr algn="just"/>
            <a:r>
              <a:rPr lang="en-US" sz="2800" dirty="0" smtClean="0"/>
              <a:t>Web browsers are software applications that allow users to retrieve data and interact with content located on web pages within a website.</a:t>
            </a:r>
          </a:p>
          <a:p>
            <a:pPr algn="just"/>
            <a:r>
              <a:rPr lang="en-US" sz="2800" dirty="0" smtClean="0"/>
              <a:t>Modern web pages allow personalized dynamic content to be pulled down by users according to individual parameters, tracked user behavior, preferences and security considerations.</a:t>
            </a:r>
          </a:p>
          <a:p>
            <a:pPr algn="just"/>
            <a:r>
              <a:rPr lang="en-US" sz="2800" dirty="0" smtClean="0"/>
              <a:t>Most importantly, modern web sites allow the capture, processing, storage and transmission of sensitive customer data (e.g., personal details, credit card numbers, social security information, etc.) for immediate and recurrent use. And, this is done through web applications</a:t>
            </a:r>
            <a:r>
              <a:rPr lang="en-US" sz="2400" dirty="0" smtClean="0"/>
              <a:t>. </a:t>
            </a:r>
            <a:endParaRPr lang="en-US" sz="2400" dirty="0"/>
          </a:p>
        </p:txBody>
      </p:sp>
      <p:sp>
        <p:nvSpPr>
          <p:cNvPr id="3" name="Title 2"/>
          <p:cNvSpPr>
            <a:spLocks noGrp="1"/>
          </p:cNvSpPr>
          <p:nvPr>
            <p:ph type="title"/>
          </p:nvPr>
        </p:nvSpPr>
        <p:spPr>
          <a:xfrm>
            <a:off x="367665" y="34925"/>
            <a:ext cx="8229600" cy="538480"/>
          </a:xfrm>
        </p:spPr>
        <p:txBody>
          <a:bodyPr/>
          <a:lstStyle/>
          <a:p>
            <a:r>
              <a:rPr lang="en-US" dirty="0" smtClean="0"/>
              <a:t>Introduction:</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868045"/>
            <a:ext cx="8221980" cy="4600575"/>
          </a:xfrm>
        </p:spPr>
        <p:txBody>
          <a:bodyPr>
            <a:normAutofit fontScale="82500" lnSpcReduction="20000"/>
          </a:bodyPr>
          <a:lstStyle/>
          <a:p>
            <a:pPr algn="just"/>
            <a:r>
              <a:rPr lang="en-US" dirty="0" smtClean="0"/>
              <a:t>A web application or web app is any </a:t>
            </a:r>
            <a:r>
              <a:rPr lang="en-US" u="sng" dirty="0" smtClean="0">
                <a:hlinkClick r:id="rId2" tooltip="Software"/>
              </a:rPr>
              <a:t>software</a:t>
            </a:r>
            <a:r>
              <a:rPr lang="en-US" dirty="0" smtClean="0"/>
              <a:t> that runs in a </a:t>
            </a:r>
            <a:r>
              <a:rPr lang="en-US" u="sng" dirty="0" smtClean="0">
                <a:hlinkClick r:id="rId3" tooltip="Web browser"/>
              </a:rPr>
              <a:t>web browser</a:t>
            </a:r>
            <a:r>
              <a:rPr lang="en-US" dirty="0" smtClean="0"/>
              <a:t>.			OR</a:t>
            </a:r>
          </a:p>
          <a:p>
            <a:pPr algn="just"/>
            <a:r>
              <a:rPr lang="en-US" dirty="0" smtClean="0"/>
              <a:t>A Web application (Web app) is an </a:t>
            </a:r>
            <a:r>
              <a:rPr lang="en-US" dirty="0" smtClean="0">
                <a:hlinkClick r:id="rId4"/>
              </a:rPr>
              <a:t>application program</a:t>
            </a:r>
            <a:r>
              <a:rPr lang="en-US" dirty="0" smtClean="0"/>
              <a:t> that is stored on a remote server and delivered over the Internet through a browser interface.					OR</a:t>
            </a:r>
          </a:p>
          <a:p>
            <a:pPr algn="just"/>
            <a:r>
              <a:rPr lang="en-US" i="1" dirty="0" smtClean="0">
                <a:solidFill>
                  <a:srgbClr val="0070C0"/>
                </a:solidFill>
              </a:rPr>
              <a:t>Web applications query the content server and dynamically generate web documents to serve to the client.</a:t>
            </a:r>
            <a:r>
              <a:rPr lang="en-US" i="1" dirty="0" smtClean="0"/>
              <a:t> 					OR</a:t>
            </a:r>
            <a:endParaRPr lang="en-US" dirty="0" smtClean="0"/>
          </a:p>
          <a:p>
            <a:pPr algn="just"/>
            <a:r>
              <a:rPr lang="en-US" dirty="0" smtClean="0"/>
              <a:t>It is a </a:t>
            </a:r>
            <a:r>
              <a:rPr lang="en-US" i="1" dirty="0" smtClean="0"/>
              <a:t>client/server </a:t>
            </a:r>
            <a:r>
              <a:rPr lang="en-US" dirty="0" smtClean="0"/>
              <a:t>application that uses a Web browser as its client program, and performs an interactive service by connecting with servers over the Internet (or Intranet). </a:t>
            </a:r>
            <a:endParaRPr lang="en-US" dirty="0"/>
          </a:p>
        </p:txBody>
      </p:sp>
      <p:sp>
        <p:nvSpPr>
          <p:cNvPr id="3" name="Title 2"/>
          <p:cNvSpPr>
            <a:spLocks noGrp="1"/>
          </p:cNvSpPr>
          <p:nvPr>
            <p:ph type="title"/>
          </p:nvPr>
        </p:nvSpPr>
        <p:spPr>
          <a:xfrm>
            <a:off x="381000" y="152400"/>
            <a:ext cx="8229600" cy="715962"/>
          </a:xfrm>
        </p:spPr>
        <p:txBody>
          <a:bodyPr>
            <a:normAutofit fontScale="90000"/>
          </a:bodyPr>
          <a:lstStyle/>
          <a:p>
            <a:r>
              <a:rPr lang="en-US" dirty="0" smtClean="0"/>
              <a:t>Web Applications: </a:t>
            </a:r>
            <a:r>
              <a:rPr lang="en-US" sz="3600" dirty="0" smtClean="0"/>
              <a:t>(Definitions)</a:t>
            </a:r>
            <a:endParaRPr lang="en-US" sz="36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304290"/>
            <a:ext cx="8229600" cy="5121275"/>
          </a:xfrm>
        </p:spPr>
        <p:txBody>
          <a:bodyPr>
            <a:normAutofit lnSpcReduction="10000"/>
          </a:bodyPr>
          <a:lstStyle/>
          <a:p>
            <a:r>
              <a:rPr lang="en-US" dirty="0" smtClean="0"/>
              <a:t>Reduces website size.</a:t>
            </a:r>
          </a:p>
          <a:p>
            <a:r>
              <a:rPr lang="en-US" dirty="0" smtClean="0"/>
              <a:t>Generates updated and customized information</a:t>
            </a:r>
          </a:p>
          <a:p>
            <a:r>
              <a:rPr lang="en-US" dirty="0" smtClean="0"/>
              <a:t>They perform their function irrespective of the operating system</a:t>
            </a:r>
          </a:p>
          <a:p>
            <a:r>
              <a:rPr lang="en-US" dirty="0" smtClean="0"/>
              <a:t>Quickly deployed anywhere at no cost.</a:t>
            </a:r>
          </a:p>
          <a:p>
            <a:r>
              <a:rPr lang="en-US" dirty="0" smtClean="0"/>
              <a:t>No installation requirements at the user’s end.</a:t>
            </a:r>
          </a:p>
          <a:p>
            <a:r>
              <a:rPr lang="en-US" dirty="0" smtClean="0"/>
              <a:t>Allows visitors to submit and retrieve data to/from a database over the Internet.</a:t>
            </a:r>
            <a:endParaRPr lang="en-US" dirty="0"/>
          </a:p>
        </p:txBody>
      </p:sp>
      <p:sp>
        <p:nvSpPr>
          <p:cNvPr id="3" name="Title 2"/>
          <p:cNvSpPr>
            <a:spLocks noGrp="1"/>
          </p:cNvSpPr>
          <p:nvPr>
            <p:ph type="title"/>
          </p:nvPr>
        </p:nvSpPr>
        <p:spPr>
          <a:xfrm>
            <a:off x="457200" y="304800"/>
            <a:ext cx="8229600" cy="737870"/>
          </a:xfrm>
        </p:spPr>
        <p:txBody>
          <a:bodyPr>
            <a:normAutofit fontScale="90000"/>
          </a:bodyPr>
          <a:lstStyle/>
          <a:p>
            <a:r>
              <a:rPr lang="en-US" dirty="0" smtClean="0"/>
              <a:t>Advantages of Web Applications: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7170" y="685800"/>
            <a:ext cx="8801735" cy="5180330"/>
          </a:xfrm>
        </p:spPr>
        <p:txBody>
          <a:bodyPr>
            <a:normAutofit fontScale="67500" lnSpcReduction="20000"/>
          </a:bodyPr>
          <a:lstStyle/>
          <a:p>
            <a:r>
              <a:rPr lang="en-US" dirty="0" smtClean="0"/>
              <a:t>Applications are usually broken into logical chunks called "tiers”.</a:t>
            </a:r>
          </a:p>
          <a:p>
            <a:r>
              <a:rPr lang="en-US" dirty="0" smtClean="0"/>
              <a:t>Every tier is assigned a role.</a:t>
            </a:r>
          </a:p>
          <a:p>
            <a:r>
              <a:rPr lang="en-US" dirty="0" smtClean="0"/>
              <a:t>Traditional applications consist only of 1 tier and resides on the client machine.(when offline)</a:t>
            </a:r>
          </a:p>
          <a:p>
            <a:r>
              <a:rPr lang="en-US" dirty="0" smtClean="0"/>
              <a:t>Web applications lend themselves to an n-tiered approach by nature.</a:t>
            </a:r>
          </a:p>
          <a:p>
            <a:r>
              <a:rPr lang="en-US" dirty="0" smtClean="0"/>
              <a:t>Many variations are possible, the most common structure is the </a:t>
            </a:r>
            <a:r>
              <a:rPr lang="en-US" u="sng" dirty="0" smtClean="0">
                <a:hlinkClick r:id="rId2" tooltip="Three-tier (computing)"/>
              </a:rPr>
              <a:t>three-tiered</a:t>
            </a:r>
            <a:r>
              <a:rPr lang="en-US" u="sng" dirty="0" smtClean="0"/>
              <a:t> </a:t>
            </a:r>
            <a:r>
              <a:rPr lang="en-US" dirty="0" smtClean="0"/>
              <a:t>applications such as </a:t>
            </a:r>
            <a:r>
              <a:rPr lang="en-US" i="1" dirty="0" smtClean="0"/>
              <a:t>presentation</a:t>
            </a:r>
            <a:r>
              <a:rPr lang="en-US" dirty="0" smtClean="0"/>
              <a:t>, </a:t>
            </a:r>
            <a:r>
              <a:rPr lang="en-US" i="1" dirty="0" smtClean="0"/>
              <a:t>application</a:t>
            </a:r>
            <a:r>
              <a:rPr lang="en-US" dirty="0" smtClean="0"/>
              <a:t> </a:t>
            </a:r>
          </a:p>
          <a:p>
            <a:pPr>
              <a:buNone/>
            </a:pPr>
            <a:r>
              <a:rPr lang="en-US" dirty="0" smtClean="0"/>
              <a:t>	and </a:t>
            </a:r>
            <a:r>
              <a:rPr lang="en-US" i="1" dirty="0" smtClean="0"/>
              <a:t>storage</a:t>
            </a:r>
          </a:p>
          <a:p>
            <a:r>
              <a:rPr lang="en-US" dirty="0" smtClean="0"/>
              <a:t>In this order. A web browser is the first tier (presentation.</a:t>
            </a:r>
          </a:p>
          <a:p>
            <a:r>
              <a:rPr lang="en-US" dirty="0" smtClean="0"/>
              <a:t>An engine using some dynamic Web content technology (such as </a:t>
            </a:r>
            <a:r>
              <a:rPr lang="en-US" u="sng" dirty="0" smtClean="0">
                <a:hlinkClick r:id="rId3" tooltip="Active Server Pages"/>
              </a:rPr>
              <a:t>ASP</a:t>
            </a:r>
            <a:r>
              <a:rPr lang="en-US" dirty="0" smtClean="0"/>
              <a:t>, </a:t>
            </a:r>
            <a:r>
              <a:rPr lang="en-US" u="sng" dirty="0" smtClean="0">
                <a:hlinkClick r:id="rId4" tooltip="ColdFusion"/>
              </a:rPr>
              <a:t>ColdFusion</a:t>
            </a:r>
            <a:r>
              <a:rPr lang="en-US" dirty="0" smtClean="0"/>
              <a:t>, </a:t>
            </a:r>
            <a:r>
              <a:rPr lang="en-US" u="sng" dirty="0" smtClean="0">
                <a:hlinkClick r:id="rId5" tooltip="Java Servlet"/>
              </a:rPr>
              <a:t>JSP/Java</a:t>
            </a:r>
            <a:r>
              <a:rPr lang="en-US" dirty="0" smtClean="0"/>
              <a:t>, </a:t>
            </a:r>
            <a:r>
              <a:rPr lang="en-US" u="sng" dirty="0" smtClean="0">
                <a:hlinkClick r:id="rId6" tooltip="PHP"/>
              </a:rPr>
              <a:t>PHP</a:t>
            </a:r>
            <a:r>
              <a:rPr lang="en-US" dirty="0" smtClean="0"/>
              <a:t>) is the middle tier (application logic).</a:t>
            </a:r>
          </a:p>
          <a:p>
            <a:r>
              <a:rPr lang="en-US" dirty="0" smtClean="0"/>
              <a:t>And a database is the third tier (storage).</a:t>
            </a:r>
          </a:p>
        </p:txBody>
      </p:sp>
      <p:sp>
        <p:nvSpPr>
          <p:cNvPr id="3" name="Title 2"/>
          <p:cNvSpPr>
            <a:spLocks noGrp="1"/>
          </p:cNvSpPr>
          <p:nvPr>
            <p:ph type="title"/>
          </p:nvPr>
        </p:nvSpPr>
        <p:spPr>
          <a:xfrm>
            <a:off x="533400" y="-152400"/>
            <a:ext cx="8229600" cy="1143000"/>
          </a:xfrm>
        </p:spPr>
        <p:txBody>
          <a:bodyPr>
            <a:normAutofit fontScale="90000"/>
          </a:bodyPr>
          <a:lstStyle/>
          <a:p>
            <a:r>
              <a:rPr lang="en-US" dirty="0" smtClean="0"/>
              <a:t>Structure &amp; Working of Web-App</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1" y="838200"/>
            <a:ext cx="8991601" cy="3928872"/>
          </a:xfrm>
        </p:spPr>
        <p:txBody>
          <a:bodyPr>
            <a:normAutofit/>
          </a:bodyPr>
          <a:lstStyle/>
          <a:p>
            <a:pPr algn="just"/>
            <a:r>
              <a:rPr lang="en-US" sz="2400" dirty="0" smtClean="0"/>
              <a:t>The web browser sends requests to the middle tier, which services them by making queries and updates against the database and generates a user interface.</a:t>
            </a:r>
            <a:endParaRPr lang="en-US" sz="2400" dirty="0"/>
          </a:p>
        </p:txBody>
      </p:sp>
      <p:sp>
        <p:nvSpPr>
          <p:cNvPr id="3" name="Title 2"/>
          <p:cNvSpPr>
            <a:spLocks noGrp="1"/>
          </p:cNvSpPr>
          <p:nvPr>
            <p:ph type="title"/>
          </p:nvPr>
        </p:nvSpPr>
        <p:spPr>
          <a:xfrm>
            <a:off x="533400" y="-76200"/>
            <a:ext cx="8229600" cy="1143000"/>
          </a:xfrm>
        </p:spPr>
        <p:txBody>
          <a:bodyPr>
            <a:normAutofit fontScale="90000"/>
          </a:bodyPr>
          <a:lstStyle/>
          <a:p>
            <a:r>
              <a:rPr lang="en-US" dirty="0" smtClean="0"/>
              <a:t>Structure &amp; Working of Web-App</a:t>
            </a:r>
            <a:endParaRPr lang="en-US" dirty="0"/>
          </a:p>
        </p:txBody>
      </p:sp>
      <p:pic>
        <p:nvPicPr>
          <p:cNvPr id="1026" name="Picture 2" descr="web-apps"/>
          <p:cNvPicPr>
            <a:picLocks noChangeAspect="1" noChangeArrowheads="1"/>
          </p:cNvPicPr>
          <p:nvPr/>
        </p:nvPicPr>
        <p:blipFill>
          <a:blip r:embed="rId2"/>
          <a:srcRect/>
          <a:stretch>
            <a:fillRect/>
          </a:stretch>
        </p:blipFill>
        <p:spPr bwMode="auto">
          <a:xfrm>
            <a:off x="381000" y="2152649"/>
            <a:ext cx="8236058" cy="431821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76200"/>
            <a:ext cx="8866322" cy="3200400"/>
          </a:xfrm>
        </p:spPr>
        <p:txBody>
          <a:bodyPr/>
          <a:lstStyle/>
          <a:p>
            <a:pPr algn="just"/>
            <a:r>
              <a:rPr lang="en-US" sz="2400" dirty="0" smtClean="0"/>
              <a:t>The figure below shows how the initial request is triggered by the user through the browser over the Internet to the web application server. The web application accesses the databases servers to perform the requested task updating and retrieving the information lying within the database. The web application then presents the information to the user through the browser.</a:t>
            </a:r>
          </a:p>
          <a:p>
            <a:endParaRPr lang="en-US" dirty="0"/>
          </a:p>
        </p:txBody>
      </p:sp>
      <p:pic>
        <p:nvPicPr>
          <p:cNvPr id="2050" name="Picture 2" descr="How Web Apps Access Database Servers"/>
          <p:cNvPicPr>
            <a:picLocks noChangeAspect="1" noChangeArrowheads="1"/>
          </p:cNvPicPr>
          <p:nvPr/>
        </p:nvPicPr>
        <p:blipFill>
          <a:blip r:embed="rId2"/>
          <a:srcRect/>
          <a:stretch>
            <a:fillRect/>
          </a:stretch>
        </p:blipFill>
        <p:spPr bwMode="auto">
          <a:xfrm>
            <a:off x="157566" y="2651502"/>
            <a:ext cx="8849532" cy="419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838200"/>
            <a:ext cx="8811895" cy="5238115"/>
          </a:xfrm>
        </p:spPr>
        <p:txBody>
          <a:bodyPr>
            <a:normAutofit fontScale="87500" lnSpcReduction="20000"/>
          </a:bodyPr>
          <a:lstStyle/>
          <a:p>
            <a:pPr algn="just"/>
            <a:r>
              <a:rPr lang="en-US" b="1" dirty="0" smtClean="0"/>
              <a:t>A protocol suite</a:t>
            </a:r>
            <a:r>
              <a:rPr lang="en-US" dirty="0" smtClean="0"/>
              <a:t> developed in 1980s to manage and control </a:t>
            </a:r>
            <a:r>
              <a:rPr lang="en-US" dirty="0" smtClean="0">
                <a:hlinkClick r:id="rId2" tooltip="Computer network"/>
              </a:rPr>
              <a:t>computer networking</a:t>
            </a:r>
            <a:r>
              <a:rPr lang="en-US" dirty="0" smtClean="0"/>
              <a:t> on the </a:t>
            </a:r>
            <a:r>
              <a:rPr lang="en-US" dirty="0" smtClean="0">
                <a:hlinkClick r:id="rId3" tooltip="Internet"/>
              </a:rPr>
              <a:t>Internet</a:t>
            </a:r>
            <a:r>
              <a:rPr lang="en-US" dirty="0" smtClean="0"/>
              <a:t> and similar computer </a:t>
            </a:r>
            <a:r>
              <a:rPr lang="en-US" b="1" u="sng" dirty="0" smtClean="0">
                <a:solidFill>
                  <a:schemeClr val="accent3">
                    <a:lumMod val="60000"/>
                    <a:lumOff val="40000"/>
                  </a:schemeClr>
                </a:solidFill>
              </a:rPr>
              <a:t>networks</a:t>
            </a:r>
            <a:r>
              <a:rPr lang="en-US" dirty="0" smtClean="0"/>
              <a:t>. </a:t>
            </a:r>
          </a:p>
          <a:p>
            <a:pPr algn="just"/>
            <a:r>
              <a:rPr lang="en-US" dirty="0" smtClean="0"/>
              <a:t>TCP/IP provides end-to-end connectivity specifying how data should be </a:t>
            </a:r>
            <a:r>
              <a:rPr lang="en-US" dirty="0" smtClean="0">
                <a:solidFill>
                  <a:srgbClr val="7030A0"/>
                </a:solidFill>
              </a:rPr>
              <a:t>packetized, addressed, transmitted, routed </a:t>
            </a:r>
            <a:r>
              <a:rPr lang="en-US" dirty="0" smtClean="0"/>
              <a:t> and </a:t>
            </a:r>
            <a:r>
              <a:rPr lang="en-US" dirty="0" smtClean="0">
                <a:solidFill>
                  <a:srgbClr val="7030A0"/>
                </a:solidFill>
              </a:rPr>
              <a:t>received</a:t>
            </a:r>
            <a:r>
              <a:rPr lang="en-US" dirty="0" smtClean="0"/>
              <a:t> at the destination.</a:t>
            </a:r>
          </a:p>
          <a:p>
            <a:pPr algn="just"/>
            <a:r>
              <a:rPr lang="en-US" dirty="0" smtClean="0"/>
              <a:t>TCP/IP functionality is organized into four </a:t>
            </a:r>
            <a:r>
              <a:rPr lang="en-US" dirty="0" smtClean="0">
                <a:solidFill>
                  <a:srgbClr val="7030A0"/>
                </a:solidFill>
              </a:rPr>
              <a:t>abstraction layers</a:t>
            </a:r>
            <a:r>
              <a:rPr lang="en-US" dirty="0" smtClean="0"/>
              <a:t>, used to sort all related protocols (as a </a:t>
            </a:r>
            <a:r>
              <a:rPr lang="en-US" i="1" dirty="0" smtClean="0"/>
              <a:t>protocol stack)</a:t>
            </a:r>
            <a:r>
              <a:rPr lang="en-US" dirty="0" smtClean="0"/>
              <a:t> according to the scope of networking involved.</a:t>
            </a:r>
          </a:p>
          <a:p>
            <a:pPr algn="just"/>
            <a:r>
              <a:rPr lang="en-US" dirty="0" smtClean="0"/>
              <a:t>The TCP/IP model and other protocol models are maintained by the </a:t>
            </a:r>
            <a:r>
              <a:rPr lang="en-US" dirty="0" smtClean="0">
                <a:hlinkClick r:id="rId4" tooltip="Internet Engineering Task Force"/>
              </a:rPr>
              <a:t>Internet Engineering Task Force</a:t>
            </a:r>
            <a:r>
              <a:rPr lang="en-US" dirty="0" smtClean="0"/>
              <a:t> (IETF).</a:t>
            </a:r>
          </a:p>
        </p:txBody>
      </p:sp>
      <p:sp>
        <p:nvSpPr>
          <p:cNvPr id="3" name="Title 2"/>
          <p:cNvSpPr>
            <a:spLocks noGrp="1"/>
          </p:cNvSpPr>
          <p:nvPr>
            <p:ph type="title"/>
          </p:nvPr>
        </p:nvSpPr>
        <p:spPr>
          <a:xfrm>
            <a:off x="228600" y="152400"/>
            <a:ext cx="2819400" cy="762000"/>
          </a:xfrm>
        </p:spPr>
        <p:txBody>
          <a:bodyPr/>
          <a:lstStyle/>
          <a:p>
            <a:r>
              <a:rPr lang="en-US" dirty="0" smtClean="0"/>
              <a:t>TCP/IP</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914400"/>
            <a:ext cx="8735060" cy="4831080"/>
          </a:xfrm>
        </p:spPr>
        <p:txBody>
          <a:bodyPr>
            <a:normAutofit fontScale="80000" lnSpcReduction="10000"/>
          </a:bodyPr>
          <a:lstStyle/>
          <a:p>
            <a:r>
              <a:rPr lang="en-US" dirty="0" smtClean="0"/>
              <a:t>From lowest to highest, the </a:t>
            </a:r>
            <a:r>
              <a:rPr lang="en-US" b="1" u="sng" dirty="0" smtClean="0">
                <a:solidFill>
                  <a:schemeClr val="accent3">
                    <a:lumMod val="60000"/>
                    <a:lumOff val="40000"/>
                  </a:schemeClr>
                </a:solidFill>
              </a:rPr>
              <a:t>Network Interface layer</a:t>
            </a:r>
            <a:r>
              <a:rPr lang="en-US" dirty="0" smtClean="0"/>
              <a:t> , containing communication technologies for a single network segment (link), </a:t>
            </a:r>
          </a:p>
          <a:p>
            <a:pPr algn="just"/>
            <a:r>
              <a:rPr lang="en-US" dirty="0" smtClean="0"/>
              <a:t>The </a:t>
            </a:r>
            <a:r>
              <a:rPr lang="en-US" dirty="0" smtClean="0">
                <a:hlinkClick r:id="rId2" tooltip="Internet layer"/>
              </a:rPr>
              <a:t>internet layer</a:t>
            </a:r>
            <a:r>
              <a:rPr lang="en-US" dirty="0" smtClean="0"/>
              <a:t>, connecting hosts across independent networks, thus establishing Inter-networking, The </a:t>
            </a:r>
            <a:r>
              <a:rPr lang="en-US" i="1" dirty="0" smtClean="0"/>
              <a:t>Internet layer </a:t>
            </a:r>
            <a:r>
              <a:rPr lang="en-US" dirty="0" smtClean="0"/>
              <a:t>provides the mechanisms for controlling </a:t>
            </a:r>
            <a:r>
              <a:rPr lang="en-US" dirty="0" smtClean="0">
                <a:solidFill>
                  <a:srgbClr val="7030A0"/>
                </a:solidFill>
              </a:rPr>
              <a:t>message routing, validity checking,</a:t>
            </a:r>
            <a:r>
              <a:rPr lang="en-US" dirty="0" smtClean="0"/>
              <a:t> and </a:t>
            </a:r>
            <a:r>
              <a:rPr lang="en-US" dirty="0" smtClean="0">
                <a:solidFill>
                  <a:srgbClr val="7030A0"/>
                </a:solidFill>
              </a:rPr>
              <a:t>message header </a:t>
            </a:r>
            <a:r>
              <a:rPr lang="en-US" dirty="0" smtClean="0"/>
              <a:t>composition/ decomposition. The protocol known as IP (which stands, oddly enough, for Internet Protocol) operates on this layer, as does </a:t>
            </a:r>
            <a:r>
              <a:rPr lang="en-US" i="1" dirty="0" smtClean="0"/>
              <a:t>ICMP  </a:t>
            </a:r>
            <a:r>
              <a:rPr lang="en-US" dirty="0" smtClean="0"/>
              <a:t>(the </a:t>
            </a:r>
            <a:r>
              <a:rPr lang="en-US" i="1" dirty="0" smtClean="0"/>
              <a:t>Internet Control Message Protocol</a:t>
            </a:r>
            <a:r>
              <a:rPr lang="en-US" dirty="0" smtClean="0"/>
              <a:t>)  which handles the transmission of control and error messages between systems. </a:t>
            </a:r>
          </a:p>
        </p:txBody>
      </p:sp>
      <p:sp>
        <p:nvSpPr>
          <p:cNvPr id="3" name="Title 2"/>
          <p:cNvSpPr>
            <a:spLocks noGrp="1"/>
          </p:cNvSpPr>
          <p:nvPr>
            <p:ph type="title"/>
          </p:nvPr>
        </p:nvSpPr>
        <p:spPr>
          <a:xfrm>
            <a:off x="381000" y="152400"/>
            <a:ext cx="8229600" cy="868362"/>
          </a:xfrm>
        </p:spPr>
        <p:txBody>
          <a:bodyPr>
            <a:normAutofit/>
          </a:bodyPr>
          <a:lstStyle/>
          <a:p>
            <a:r>
              <a:rPr lang="en-US" dirty="0" smtClean="0"/>
              <a:t>04 Abstraction Layers of TCP/IP</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914400"/>
            <a:ext cx="8763000" cy="5181600"/>
          </a:xfrm>
        </p:spPr>
        <p:txBody>
          <a:bodyPr>
            <a:normAutofit lnSpcReduction="10000"/>
          </a:bodyPr>
          <a:lstStyle/>
          <a:p>
            <a:r>
              <a:rPr lang="en-US" smtClean="0"/>
              <a:t>The </a:t>
            </a:r>
            <a:r>
              <a:rPr lang="en-US" smtClean="0">
                <a:hlinkClick r:id="rId2" tooltip="Application layer"/>
              </a:rPr>
              <a:t>transport layer</a:t>
            </a:r>
            <a:r>
              <a:rPr lang="en-US" dirty="0" smtClean="0"/>
              <a:t>,</a:t>
            </a:r>
            <a:r>
              <a:rPr lang="en-US" dirty="0" smtClean="0">
                <a:solidFill>
                  <a:schemeClr val="accent3">
                    <a:lumMod val="60000"/>
                    <a:lumOff val="40000"/>
                  </a:schemeClr>
                </a:solidFill>
              </a:rPr>
              <a:t> </a:t>
            </a:r>
            <a:r>
              <a:rPr lang="en-US" dirty="0" smtClean="0"/>
              <a:t>provides message transport services between applications running on remote systems. This is the layer in which TCP (the </a:t>
            </a:r>
            <a:r>
              <a:rPr lang="en-US" i="1" dirty="0" smtClean="0"/>
              <a:t>Transmission Control Protocol</a:t>
            </a:r>
            <a:r>
              <a:rPr lang="en-US" dirty="0" smtClean="0"/>
              <a:t>) operates. TCP provides reliable, connection-oriented message transport.</a:t>
            </a:r>
          </a:p>
          <a:p>
            <a:r>
              <a:rPr lang="en-US" dirty="0" smtClean="0"/>
              <a:t> The </a:t>
            </a:r>
            <a:r>
              <a:rPr lang="en-US" dirty="0" smtClean="0">
                <a:hlinkClick r:id="rId2" tooltip="Application layer"/>
              </a:rPr>
              <a:t>application layer</a:t>
            </a:r>
            <a:r>
              <a:rPr lang="en-US" dirty="0" smtClean="0"/>
              <a:t>, which provides process-to-process application data exchange. It means that within this layer the most of the services we associate with ‘the Internet’ operate.</a:t>
            </a:r>
          </a:p>
        </p:txBody>
      </p:sp>
      <p:sp>
        <p:nvSpPr>
          <p:cNvPr id="3" name="Title 2"/>
          <p:cNvSpPr>
            <a:spLocks noGrp="1"/>
          </p:cNvSpPr>
          <p:nvPr>
            <p:ph type="title"/>
          </p:nvPr>
        </p:nvSpPr>
        <p:spPr>
          <a:xfrm>
            <a:off x="381000" y="152400"/>
            <a:ext cx="8229600" cy="868362"/>
          </a:xfrm>
        </p:spPr>
        <p:txBody>
          <a:bodyPr>
            <a:normAutofit/>
          </a:bodyPr>
          <a:lstStyle/>
          <a:p>
            <a:r>
              <a:rPr lang="en-US" dirty="0" smtClean="0"/>
              <a:t>04 Abstraction Layers of TCP/IP</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0" y="1066800"/>
            <a:ext cx="5845175" cy="5243830"/>
          </a:xfrm>
        </p:spPr>
        <p:txBody>
          <a:bodyPr>
            <a:normAutofit fontScale="80000" lnSpcReduction="20000"/>
          </a:bodyPr>
          <a:lstStyle/>
          <a:p>
            <a:pPr algn="just">
              <a:buNone/>
            </a:pPr>
            <a:r>
              <a:rPr lang="en-US" dirty="0" smtClean="0"/>
              <a:t>	Following are the names of Internet layers that map with the OSI model’s layers: </a:t>
            </a:r>
          </a:p>
          <a:p>
            <a:pPr algn="just">
              <a:buNone/>
            </a:pPr>
            <a:endParaRPr lang="en-US" dirty="0" smtClean="0"/>
          </a:p>
          <a:p>
            <a:pPr marL="624205" lvl="0" indent="-514350" algn="just">
              <a:buFont typeface="+mj-lt"/>
              <a:buAutoNum type="arabicPeriod"/>
            </a:pPr>
            <a:r>
              <a:rPr lang="en-US" dirty="0" smtClean="0">
                <a:solidFill>
                  <a:srgbClr val="7030A0"/>
                </a:solidFill>
              </a:rPr>
              <a:t>Application layer </a:t>
            </a:r>
            <a:r>
              <a:rPr lang="en-US" dirty="0" smtClean="0"/>
              <a:t>is equivalent to OSI model’s Application, Presentation and Session layers</a:t>
            </a:r>
          </a:p>
          <a:p>
            <a:pPr marL="624205" lvl="0" indent="-514350" algn="just">
              <a:buFont typeface="+mj-lt"/>
              <a:buAutoNum type="arabicPeriod"/>
            </a:pPr>
            <a:r>
              <a:rPr lang="en-US" dirty="0" smtClean="0">
                <a:solidFill>
                  <a:srgbClr val="7030A0"/>
                </a:solidFill>
              </a:rPr>
              <a:t>Transport Layer </a:t>
            </a:r>
            <a:r>
              <a:rPr lang="en-US" dirty="0" smtClean="0"/>
              <a:t>is equivalent to OSI model’s Transport layer</a:t>
            </a:r>
          </a:p>
          <a:p>
            <a:pPr marL="624205" lvl="0" indent="-514350" algn="just">
              <a:buFont typeface="+mj-lt"/>
              <a:buAutoNum type="arabicPeriod"/>
            </a:pPr>
            <a:r>
              <a:rPr lang="en-US" dirty="0" smtClean="0">
                <a:solidFill>
                  <a:srgbClr val="7030A0"/>
                </a:solidFill>
              </a:rPr>
              <a:t>Internet layer </a:t>
            </a:r>
            <a:r>
              <a:rPr lang="en-US" dirty="0" smtClean="0"/>
              <a:t>is equivalent to OSI model’s Network layer</a:t>
            </a:r>
          </a:p>
          <a:p>
            <a:pPr marL="624205" lvl="0" indent="-514350" algn="just">
              <a:buFont typeface="+mj-lt"/>
              <a:buAutoNum type="arabicPeriod"/>
            </a:pPr>
            <a:r>
              <a:rPr lang="en-US" dirty="0" smtClean="0">
                <a:solidFill>
                  <a:srgbClr val="7030A0"/>
                </a:solidFill>
              </a:rPr>
              <a:t>Network Interface layer </a:t>
            </a:r>
            <a:r>
              <a:rPr lang="en-US" dirty="0" smtClean="0"/>
              <a:t>is equivalent to OSI model’s data link layer </a:t>
            </a:r>
          </a:p>
          <a:p>
            <a:endParaRPr lang="en-US" dirty="0"/>
          </a:p>
        </p:txBody>
      </p:sp>
      <p:sp>
        <p:nvSpPr>
          <p:cNvPr id="3" name="Title 2"/>
          <p:cNvSpPr>
            <a:spLocks noGrp="1"/>
          </p:cNvSpPr>
          <p:nvPr>
            <p:ph type="title"/>
          </p:nvPr>
        </p:nvSpPr>
        <p:spPr>
          <a:xfrm>
            <a:off x="457200" y="198438"/>
            <a:ext cx="8229600" cy="715962"/>
          </a:xfrm>
        </p:spPr>
        <p:txBody>
          <a:bodyPr>
            <a:normAutofit fontScale="90000"/>
          </a:bodyPr>
          <a:lstStyle/>
          <a:p>
            <a:r>
              <a:rPr lang="en-US" sz="3600" u="sng" dirty="0" smtClean="0">
                <a:solidFill>
                  <a:schemeClr val="accent3">
                    <a:lumMod val="60000"/>
                    <a:lumOff val="40000"/>
                  </a:schemeClr>
                </a:solidFill>
              </a:rPr>
              <a:t>Comparison of TCP/IP and OSI layering</a:t>
            </a:r>
            <a:endParaRPr lang="en-US" u="sng" dirty="0">
              <a:solidFill>
                <a:schemeClr val="accent3">
                  <a:lumMod val="60000"/>
                  <a:lumOff val="40000"/>
                </a:schemeClr>
              </a:solidFill>
            </a:endParaRPr>
          </a:p>
        </p:txBody>
      </p:sp>
      <p:pic>
        <p:nvPicPr>
          <p:cNvPr id="2050" name="Picture 2" descr="http://www.hardwaresecrets.com/imageview.php?image=6731"/>
          <p:cNvPicPr>
            <a:picLocks noChangeAspect="1" noChangeArrowheads="1"/>
          </p:cNvPicPr>
          <p:nvPr/>
        </p:nvPicPr>
        <p:blipFill>
          <a:blip r:embed="rId2"/>
          <a:srcRect/>
          <a:stretch>
            <a:fillRect/>
          </a:stretch>
        </p:blipFill>
        <p:spPr bwMode="auto">
          <a:xfrm>
            <a:off x="76200" y="990600"/>
            <a:ext cx="3124200" cy="48768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11</TotalTime>
  <Words>598</Words>
  <Application>Microsoft Office PowerPoint</Application>
  <PresentationFormat>On-screen Show (4:3)</PresentationFormat>
  <Paragraphs>49</Paragraphs>
  <Slides>11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Default Design</vt:lpstr>
      <vt:lpstr>WEB APPLICATIONS</vt:lpstr>
      <vt:lpstr>Introduction:</vt:lpstr>
      <vt:lpstr>Web Applications: (Definitions)</vt:lpstr>
      <vt:lpstr>Advantages of Web Applications:</vt:lpstr>
      <vt:lpstr>Structure &amp; Working of Web-App</vt:lpstr>
      <vt:lpstr>Structure &amp; Working of Web-App</vt:lpstr>
      <vt:lpstr>PowerPoint Presentation</vt:lpstr>
      <vt:lpstr>TCP/IP</vt:lpstr>
      <vt:lpstr>04 Abstraction Layers of TCP/IP</vt:lpstr>
      <vt:lpstr>04 Abstraction Layers of TCP/IP</vt:lpstr>
      <vt:lpstr>Comparison of TCP/IP and OSI layering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APPLICATIONS</dc:title>
  <dc:creator>Power by Gmc</dc:creator>
  <cp:lastModifiedBy>Microsoft account</cp:lastModifiedBy>
  <cp:revision>48</cp:revision>
  <dcterms:created xsi:type="dcterms:W3CDTF">2014-11-27T07:46:00Z</dcterms:created>
  <dcterms:modified xsi:type="dcterms:W3CDTF">2021-03-30T06:55:27Z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1033-10.2.0.5965</vt:lpwstr>
  </property>
</Properties>
</file>
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  <p:sldId id="261" r:id="rId7"/>
    <p:sldId id="258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1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DI-322 </a:t>
            </a:r>
            <a:r>
              <a:rPr lang="en-US" b="1" dirty="0"/>
              <a:t>Web Technologies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Introduction:</a:t>
            </a:r>
            <a:br>
              <a:rPr lang="en-US" dirty="0" smtClean="0"/>
            </a:br>
            <a:r>
              <a:rPr lang="en-US" dirty="0" smtClean="0"/>
              <a:t>	Web </a:t>
            </a:r>
            <a:r>
              <a:rPr lang="en-US" dirty="0"/>
              <a:t>Applications</a:t>
            </a:r>
          </a:p>
          <a:p>
            <a:pPr fontAlgn="base"/>
            <a:r>
              <a:rPr lang="en-US" dirty="0" smtClean="0"/>
              <a:t>	TCP/IP </a:t>
            </a:r>
            <a:r>
              <a:rPr lang="en-US" dirty="0"/>
              <a:t>Application Services</a:t>
            </a:r>
          </a:p>
        </p:txBody>
      </p:sp>
    </p:spTree>
    <p:extLst>
      <p:ext uri="{BB962C8B-B14F-4D97-AF65-F5344CB8AC3E}">
        <p14:creationId xmlns:p14="http://schemas.microsoft.com/office/powerpoint/2010/main" val="2977619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Web Servers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1621222"/>
            <a:ext cx="10815145" cy="459039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Basic Operation</a:t>
            </a:r>
            <a:r>
              <a:rPr lang="en-US" dirty="0"/>
              <a:t>:</a:t>
            </a:r>
          </a:p>
          <a:p>
            <a:r>
              <a:rPr lang="en-US" dirty="0" smtClean="0"/>
              <a:t>Definition: Web </a:t>
            </a:r>
            <a:r>
              <a:rPr lang="en-US" dirty="0"/>
              <a:t>servers are software applications or hardware devices that deliver content, such as web pages, to users over the internet.</a:t>
            </a:r>
          </a:p>
          <a:p>
            <a:r>
              <a:rPr lang="en-US" dirty="0" smtClean="0"/>
              <a:t>Explanation:</a:t>
            </a:r>
          </a:p>
          <a:p>
            <a:pPr lvl="1"/>
            <a:r>
              <a:rPr lang="en-US" dirty="0" smtClean="0"/>
              <a:t>Web </a:t>
            </a:r>
            <a:r>
              <a:rPr lang="en-US" dirty="0"/>
              <a:t>servers receive requests from clients (such as web browsers) for web resources (like HTML pages, images, etc.).</a:t>
            </a:r>
          </a:p>
          <a:p>
            <a:pPr lvl="1"/>
            <a:r>
              <a:rPr lang="en-US" dirty="0"/>
              <a:t>They process these requests, fetching the requested resources from the file system or generating them dynamically through applications.</a:t>
            </a:r>
          </a:p>
          <a:p>
            <a:pPr lvl="1"/>
            <a:r>
              <a:rPr lang="en-US" dirty="0"/>
              <a:t>Finally, they send the resources back to the client over the internet.</a:t>
            </a:r>
          </a:p>
          <a:p>
            <a:r>
              <a:rPr lang="en-US" dirty="0"/>
              <a:t>Example: Apache HTTP Server, Nginx, Microsoft IIS.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572" y="5092262"/>
            <a:ext cx="6132785" cy="159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8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Web Servers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1621222"/>
            <a:ext cx="10815145" cy="459039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Virtual Hosting</a:t>
            </a:r>
            <a:r>
              <a:rPr lang="en-US" dirty="0"/>
              <a:t>:</a:t>
            </a:r>
          </a:p>
          <a:p>
            <a:r>
              <a:rPr lang="en-US" dirty="0"/>
              <a:t>Definition: Virtual hosting is a method where a single web server hosts multiple domain names on the same physical machine, distinguishing between them based on their domain names.</a:t>
            </a:r>
          </a:p>
          <a:p>
            <a:r>
              <a:rPr lang="en-US" dirty="0"/>
              <a:t>Explanation:</a:t>
            </a:r>
          </a:p>
          <a:p>
            <a:pPr lvl="1"/>
            <a:r>
              <a:rPr lang="en-US" dirty="0"/>
              <a:t>With virtual hosting, one physical server can serve multiple websites with different domain names.</a:t>
            </a:r>
          </a:p>
          <a:p>
            <a:pPr lvl="1"/>
            <a:r>
              <a:rPr lang="en-US" dirty="0"/>
              <a:t>The server uses the HTTP Host header to determine which website's content to serve in response to a request.</a:t>
            </a:r>
          </a:p>
          <a:p>
            <a:r>
              <a:rPr lang="en-US" dirty="0"/>
              <a:t>Example: A single web server hosting example.com, example.net, and example.org on the same machine.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715" y="4715146"/>
            <a:ext cx="6217526" cy="202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7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Web Servers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1621222"/>
            <a:ext cx="10815145" cy="4590392"/>
          </a:xfrm>
        </p:spPr>
        <p:txBody>
          <a:bodyPr/>
          <a:lstStyle/>
          <a:p>
            <a:r>
              <a:rPr lang="en-US" b="1" dirty="0"/>
              <a:t>Chunked Transfers</a:t>
            </a:r>
            <a:r>
              <a:rPr lang="en-US" dirty="0"/>
              <a:t>:</a:t>
            </a:r>
          </a:p>
          <a:p>
            <a:r>
              <a:rPr lang="en-US" dirty="0"/>
              <a:t>Definition: Chunked transfer encoding is a method in which data is sent in a series of chunks instead of being sent all at once.</a:t>
            </a:r>
          </a:p>
          <a:p>
            <a:r>
              <a:rPr lang="en-US" dirty="0"/>
              <a:t>Explanation:</a:t>
            </a:r>
          </a:p>
          <a:p>
            <a:pPr lvl="1"/>
            <a:r>
              <a:rPr lang="en-US" dirty="0"/>
              <a:t>Chunked transfers allow the server to start sending a response before it knows the total size of the resource being requested.</a:t>
            </a:r>
          </a:p>
          <a:p>
            <a:pPr lvl="1"/>
            <a:r>
              <a:rPr lang="en-US" dirty="0"/>
              <a:t>This is useful for dynamically generated content or for transmitting large files where the size may not be known in advance.</a:t>
            </a:r>
          </a:p>
          <a:p>
            <a:r>
              <a:rPr lang="en-US" dirty="0"/>
              <a:t>Example: Streaming video or audio content over HTTP.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752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Web Servers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9710" y="1211318"/>
            <a:ext cx="10815145" cy="4590392"/>
          </a:xfrm>
        </p:spPr>
        <p:txBody>
          <a:bodyPr/>
          <a:lstStyle/>
          <a:p>
            <a:r>
              <a:rPr lang="en-US" b="1" dirty="0"/>
              <a:t>Caching Support</a:t>
            </a:r>
            <a:r>
              <a:rPr lang="en-US" dirty="0"/>
              <a:t>:</a:t>
            </a:r>
          </a:p>
          <a:p>
            <a:r>
              <a:rPr lang="en-US" dirty="0"/>
              <a:t>Definition: Caching is the process of storing copies of web resources temporarily to reduce bandwidth usage, server load, and latency.</a:t>
            </a:r>
          </a:p>
          <a:p>
            <a:r>
              <a:rPr lang="en-US" dirty="0"/>
              <a:t>Explanation:</a:t>
            </a:r>
          </a:p>
          <a:p>
            <a:pPr lvl="1"/>
            <a:r>
              <a:rPr lang="en-US" dirty="0"/>
              <a:t>Web servers can specify caching directives in HTTP headers to instruct browsers or intermediary servers to cache certain resources.</a:t>
            </a:r>
          </a:p>
          <a:p>
            <a:pPr lvl="1"/>
            <a:r>
              <a:rPr lang="en-US" dirty="0"/>
              <a:t>Cached resources can be reused without fetching them again from the origin server if they haven't expired.</a:t>
            </a:r>
          </a:p>
          <a:p>
            <a:r>
              <a:rPr lang="en-US" dirty="0"/>
              <a:t>Example: Browsers caching images, stylesheets, and scripts to speed up subsequent page loads.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011" y="4288221"/>
            <a:ext cx="6645823" cy="256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Web Servers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1621222"/>
            <a:ext cx="10815145" cy="4590392"/>
          </a:xfrm>
        </p:spPr>
        <p:txBody>
          <a:bodyPr/>
          <a:lstStyle/>
          <a:p>
            <a:r>
              <a:rPr lang="en-US" b="1" dirty="0"/>
              <a:t>Extensibility</a:t>
            </a:r>
            <a:r>
              <a:rPr lang="en-US" dirty="0"/>
              <a:t>:</a:t>
            </a:r>
          </a:p>
          <a:p>
            <a:r>
              <a:rPr lang="en-US" dirty="0"/>
              <a:t>Definition: Extensibility refers to the ability of a web server to be easily customized or extended with additional functionality.</a:t>
            </a:r>
          </a:p>
          <a:p>
            <a:r>
              <a:rPr lang="en-US" dirty="0"/>
              <a:t>Explanation:</a:t>
            </a:r>
          </a:p>
          <a:p>
            <a:pPr lvl="1"/>
            <a:r>
              <a:rPr lang="en-US" dirty="0"/>
              <a:t>Web servers often support plugins, modules, or scripting languages that allow developers to add new features or customize existing behavior.</a:t>
            </a:r>
          </a:p>
          <a:p>
            <a:pPr lvl="1"/>
            <a:r>
              <a:rPr lang="en-US" dirty="0"/>
              <a:t>This enables the server to adapt to different requirements or integrate with other systems.</a:t>
            </a:r>
          </a:p>
          <a:p>
            <a:r>
              <a:rPr lang="en-US" dirty="0"/>
              <a:t>Example: Apache HTTP Server's module system allows developers to extend its functionality with modules for authentication, </a:t>
            </a:r>
            <a:r>
              <a:rPr lang="en-US" dirty="0" smtClean="0"/>
              <a:t>adjusting software changes, </a:t>
            </a:r>
            <a:r>
              <a:rPr lang="en-US" dirty="0"/>
              <a:t>and more.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46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25" y="340332"/>
            <a:ext cx="10334799" cy="1280890"/>
          </a:xfrm>
        </p:spPr>
        <p:txBody>
          <a:bodyPr/>
          <a:lstStyle/>
          <a:p>
            <a:r>
              <a:rPr lang="en-US" b="1" dirty="0" smtClean="0"/>
              <a:t>3. SGML</a:t>
            </a:r>
            <a:br>
              <a:rPr lang="en-US" b="1" dirty="0" smtClean="0"/>
            </a:br>
            <a:r>
              <a:rPr lang="en-US" b="1" dirty="0" smtClean="0"/>
              <a:t> </a:t>
            </a:r>
            <a:r>
              <a:rPr lang="en-US" b="1" dirty="0"/>
              <a:t>(Standard Generalized Markup Language)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1621222"/>
            <a:ext cx="10815145" cy="4590392"/>
          </a:xfrm>
        </p:spPr>
        <p:txBody>
          <a:bodyPr/>
          <a:lstStyle/>
          <a:p>
            <a:r>
              <a:rPr lang="en-US" dirty="0"/>
              <a:t>SGML is a markup language used for defining the structure and semantics of documents.</a:t>
            </a:r>
          </a:p>
          <a:p>
            <a:r>
              <a:rPr lang="en-US" dirty="0"/>
              <a:t>It's a standard for how to specify a document markup language or tag set.</a:t>
            </a:r>
          </a:p>
          <a:p>
            <a:r>
              <a:rPr lang="en-US" dirty="0"/>
              <a:t>SGML provides a framework for defining markup languages for documents, allowing for the separation of content and presentation.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553" y="4058471"/>
            <a:ext cx="4004771" cy="15377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029" y="3236668"/>
            <a:ext cx="54006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17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25" y="340332"/>
            <a:ext cx="10334799" cy="1280890"/>
          </a:xfrm>
        </p:spPr>
        <p:txBody>
          <a:bodyPr/>
          <a:lstStyle/>
          <a:p>
            <a:r>
              <a:rPr lang="en-US" b="1" dirty="0" smtClean="0"/>
              <a:t>4. HTML5 </a:t>
            </a:r>
            <a:br>
              <a:rPr lang="en-US" b="1" dirty="0" smtClean="0"/>
            </a:br>
            <a:r>
              <a:rPr lang="en-US" b="1" dirty="0" smtClean="0"/>
              <a:t>(</a:t>
            </a:r>
            <a:r>
              <a:rPr lang="en-US" b="1" dirty="0"/>
              <a:t>Hypertext Markup Language version 5)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1621222"/>
            <a:ext cx="10815145" cy="4590392"/>
          </a:xfrm>
        </p:spPr>
        <p:txBody>
          <a:bodyPr/>
          <a:lstStyle/>
          <a:p>
            <a:r>
              <a:rPr lang="en-US" dirty="0"/>
              <a:t>HTML5 is the latest version of the HTML standard, used for structuring and presenting content on the World Wide Web.</a:t>
            </a:r>
          </a:p>
          <a:p>
            <a:r>
              <a:rPr lang="en-US" dirty="0"/>
              <a:t>It includes new features such as semantic elements (like &lt;header&gt;, &lt;footer&gt;, &lt;</a:t>
            </a:r>
            <a:r>
              <a:rPr lang="en-US" dirty="0" err="1"/>
              <a:t>nav</a:t>
            </a:r>
            <a:r>
              <a:rPr lang="en-US" dirty="0"/>
              <a:t>&gt;), audio and video elements, canvas for drawing graphics, and support for local storage.</a:t>
            </a:r>
          </a:p>
          <a:p>
            <a:r>
              <a:rPr lang="en-US" dirty="0"/>
              <a:t>HTML5 provides better support for multimedia, offline web applications, and improved accessibility compared to previous versions.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48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25" y="340332"/>
            <a:ext cx="10334799" cy="1280890"/>
          </a:xfrm>
        </p:spPr>
        <p:txBody>
          <a:bodyPr/>
          <a:lstStyle/>
          <a:p>
            <a:r>
              <a:rPr lang="en-US" b="1" dirty="0" smtClean="0"/>
              <a:t>5. </a:t>
            </a:r>
            <a:r>
              <a:rPr lang="en-US" b="1" dirty="0"/>
              <a:t>CSS3 (Cascading Style Sheets version 3)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1621222"/>
            <a:ext cx="10815145" cy="4590392"/>
          </a:xfrm>
        </p:spPr>
        <p:txBody>
          <a:bodyPr/>
          <a:lstStyle/>
          <a:p>
            <a:r>
              <a:rPr lang="en-US" dirty="0"/>
              <a:t>CSS3 is the latest version of the CSS standard, used for styling the presentation of HTML and XML documents.</a:t>
            </a:r>
          </a:p>
          <a:p>
            <a:r>
              <a:rPr lang="en-US" dirty="0"/>
              <a:t>It introduces new features such as rounded corners, gradients, animations, transitions, and media queries.</a:t>
            </a:r>
          </a:p>
          <a:p>
            <a:r>
              <a:rPr lang="en-US" dirty="0"/>
              <a:t>CSS3 allows for more sophisticated and visually appealing designs without the need for additional scripting or images.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69" y="3745271"/>
            <a:ext cx="7677808" cy="311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6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25" y="340332"/>
            <a:ext cx="10334799" cy="1280890"/>
          </a:xfrm>
        </p:spPr>
        <p:txBody>
          <a:bodyPr>
            <a:normAutofit/>
          </a:bodyPr>
          <a:lstStyle/>
          <a:p>
            <a:r>
              <a:rPr lang="en-US" b="1" dirty="0" smtClean="0"/>
              <a:t>7. XML </a:t>
            </a:r>
            <a:r>
              <a:rPr lang="en-US" b="1" dirty="0"/>
              <a:t>Languages and Applications: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Core </a:t>
            </a:r>
            <a:r>
              <a:rPr lang="en-US" b="1" dirty="0"/>
              <a:t>XML</a:t>
            </a:r>
            <a:r>
              <a:rPr lang="en-US" dirty="0"/>
              <a:t>, XHTML, XHTM MP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1621222"/>
            <a:ext cx="10815145" cy="45903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Core XML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Definition: </a:t>
            </a:r>
            <a:r>
              <a:rPr lang="en-US" dirty="0" err="1" smtClean="0"/>
              <a:t>eXtensible</a:t>
            </a:r>
            <a:r>
              <a:rPr lang="en-US" dirty="0" smtClean="0"/>
              <a:t> </a:t>
            </a:r>
            <a:r>
              <a:rPr lang="en-US" dirty="0"/>
              <a:t>Markup </a:t>
            </a:r>
            <a:r>
              <a:rPr lang="en-US" dirty="0" smtClean="0"/>
              <a:t>Language, defines </a:t>
            </a:r>
            <a:r>
              <a:rPr lang="en-US" dirty="0"/>
              <a:t>a set of rules for encoding documents in a format that is both human-readable and machine-readable.</a:t>
            </a:r>
          </a:p>
          <a:p>
            <a:r>
              <a:rPr lang="en-US" dirty="0"/>
              <a:t>Explanation:</a:t>
            </a:r>
          </a:p>
          <a:p>
            <a:r>
              <a:rPr lang="en-US" dirty="0"/>
              <a:t>Core XML provides a framework for defining custom markup languages tailored to specific needs.</a:t>
            </a:r>
          </a:p>
          <a:p>
            <a:r>
              <a:rPr lang="en-US" dirty="0"/>
              <a:t>It uses tags to define elements and attributes to provide additional information about those elements.</a:t>
            </a:r>
          </a:p>
          <a:p>
            <a:r>
              <a:rPr lang="en-US" dirty="0"/>
              <a:t>Core XML facilitates the exchange of structured data between different systems, platforms, and applications.</a:t>
            </a:r>
          </a:p>
          <a:p>
            <a:r>
              <a:rPr lang="en-US" dirty="0"/>
              <a:t>Applications: Core XML is used in a wide range of applications such as:</a:t>
            </a:r>
          </a:p>
          <a:p>
            <a:r>
              <a:rPr lang="en-US" dirty="0"/>
              <a:t>Data interchange between different software systems and platforms.</a:t>
            </a:r>
          </a:p>
          <a:p>
            <a:r>
              <a:rPr lang="en-US" dirty="0"/>
              <a:t>Configuration files for software applications.</a:t>
            </a:r>
          </a:p>
          <a:p>
            <a:r>
              <a:rPr lang="en-US" dirty="0"/>
              <a:t>Representing structured data in web services and APIs.</a:t>
            </a:r>
          </a:p>
          <a:p>
            <a:r>
              <a:rPr lang="en-US" dirty="0"/>
              <a:t>Storing and exchanging data in databases and document repositories.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469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25" y="340332"/>
            <a:ext cx="10334799" cy="1280890"/>
          </a:xfrm>
        </p:spPr>
        <p:txBody>
          <a:bodyPr>
            <a:normAutofit/>
          </a:bodyPr>
          <a:lstStyle/>
          <a:p>
            <a:r>
              <a:rPr lang="en-US" b="1" dirty="0" smtClean="0"/>
              <a:t>7. XML </a:t>
            </a:r>
            <a:r>
              <a:rPr lang="en-US" b="1" dirty="0"/>
              <a:t>Languages and Applications: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Core </a:t>
            </a:r>
            <a:r>
              <a:rPr lang="en-US" dirty="0"/>
              <a:t>XML, </a:t>
            </a:r>
            <a:r>
              <a:rPr lang="en-US" b="1" dirty="0"/>
              <a:t>XHTML</a:t>
            </a:r>
            <a:r>
              <a:rPr lang="en-US" dirty="0"/>
              <a:t>, XHTM MP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1621222"/>
            <a:ext cx="10815145" cy="459039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D0D0D"/>
                </a:solidFill>
                <a:latin typeface="Söhne"/>
              </a:rPr>
              <a:t>XHTML (Extensible Hypertext Markup Language)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Definition: XHTML is a stricter and cleaner version of HTML, reformulated in XML syntax.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Explanation: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XHTML combines the flexibility of HTML with the stricter syntax rules of XML.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It follows XML rules, such as requiring all elements to be properly nested and closed, making it more consistent and easier to process by XML parsers.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XHTML documents are written using XML syntax, which makes them compatible with other XML-based technologies and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Applications: XHTML is commonly used in: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Web development, especially for creating well-structured and semantic web pages.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Mobile web development, as it facilitates the creation of web pages that are compatible with various devices and platforms.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Integration with XML-based technologies and tools for processing and manipulating web content.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257261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25" y="340332"/>
            <a:ext cx="10334799" cy="1280890"/>
          </a:xfrm>
        </p:spPr>
        <p:txBody>
          <a:bodyPr>
            <a:normAutofit/>
          </a:bodyPr>
          <a:lstStyle/>
          <a:p>
            <a:r>
              <a:rPr lang="en-US" b="1" dirty="0" smtClean="0"/>
              <a:t>7. XML </a:t>
            </a:r>
            <a:r>
              <a:rPr lang="en-US" b="1" dirty="0"/>
              <a:t>Languages and Applications: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Core </a:t>
            </a:r>
            <a:r>
              <a:rPr lang="en-US" dirty="0"/>
              <a:t>XML, XHTML, </a:t>
            </a:r>
            <a:r>
              <a:rPr lang="en-US" b="1" dirty="0"/>
              <a:t>XHTM MP </a:t>
            </a:r>
            <a:r>
              <a:rPr lang="en-US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1621222"/>
            <a:ext cx="10815145" cy="504759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XHTML MP (XHTML Mobile Profile)</a:t>
            </a:r>
            <a:r>
              <a:rPr lang="en-US" dirty="0"/>
              <a:t>:</a:t>
            </a:r>
          </a:p>
          <a:p>
            <a:r>
              <a:rPr lang="en-US" dirty="0"/>
              <a:t>Definition: XHTML MP is a mobile-specific version of XHTML designed for mobile devices with limited resources and capabilities.</a:t>
            </a:r>
          </a:p>
          <a:p>
            <a:r>
              <a:rPr lang="en-US" dirty="0"/>
              <a:t>Explanation:</a:t>
            </a:r>
          </a:p>
          <a:p>
            <a:pPr lvl="1"/>
            <a:r>
              <a:rPr lang="en-US" dirty="0"/>
              <a:t>XHTML MP is optimized for mobile browsing, offering a lightweight and simplified markup language tailored to the constraints of mobile devices.</a:t>
            </a:r>
          </a:p>
          <a:p>
            <a:pPr lvl="1"/>
            <a:r>
              <a:rPr lang="en-US" dirty="0"/>
              <a:t>It includes features such as support for small screens, limited bandwidth, and simplified navigation.</a:t>
            </a:r>
          </a:p>
          <a:p>
            <a:pPr lvl="1"/>
            <a:r>
              <a:rPr lang="en-US" dirty="0"/>
              <a:t>XHTML MP is designed to provide a consistent user experience across different mobile devices and platforms.</a:t>
            </a:r>
          </a:p>
          <a:p>
            <a:r>
              <a:rPr lang="en-US" dirty="0"/>
              <a:t>Applications: XHTML MP is used in:</a:t>
            </a:r>
          </a:p>
          <a:p>
            <a:pPr lvl="1"/>
            <a:r>
              <a:rPr lang="en-US" dirty="0"/>
              <a:t>Mobile web development, enabling the creation of web pages that are optimized for viewing on mobile devices.</a:t>
            </a:r>
          </a:p>
          <a:p>
            <a:pPr lvl="1"/>
            <a:r>
              <a:rPr lang="en-US" dirty="0"/>
              <a:t>Mobile applications and services, providing a standard markup language for delivering content to mobile users.</a:t>
            </a:r>
          </a:p>
          <a:p>
            <a:pPr lvl="1"/>
            <a:r>
              <a:rPr lang="en-US" dirty="0"/>
              <a:t>Integration with mobile browsers and platforms, ensuring compatibility and consistency in rendering web content on various mobile devices.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0204189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124</TotalTime>
  <Words>1115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Söhne</vt:lpstr>
      <vt:lpstr>Wingdings 3</vt:lpstr>
      <vt:lpstr>Wisp</vt:lpstr>
      <vt:lpstr>DI-322 Web Technologies  </vt:lpstr>
      <vt:lpstr>2. Web Servers :</vt:lpstr>
      <vt:lpstr>2. Web Servers :</vt:lpstr>
      <vt:lpstr>2. Web Servers :</vt:lpstr>
      <vt:lpstr>2. Web Servers :</vt:lpstr>
      <vt:lpstr>2. Web Servers :</vt:lpstr>
      <vt:lpstr>3. SGML  (Standard Generalized Markup Language):</vt:lpstr>
      <vt:lpstr>4. HTML5  (Hypertext Markup Language version 5):</vt:lpstr>
      <vt:lpstr>5. CSS3 (Cascading Style Sheets version 3):</vt:lpstr>
      <vt:lpstr>7. XML Languages and Applications:  Core XML, XHTML, XHTM MP  </vt:lpstr>
      <vt:lpstr>7. XML Languages and Applications:  Core XML, XHTML, XHTM MP  </vt:lpstr>
      <vt:lpstr>7. XML Languages and Applications:  Core XML, XHTML, XHTM MP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DI-322 Web Technologies</dc:title>
  <dc:creator>Kamran</dc:creator>
  <cp:lastModifiedBy>Kamran</cp:lastModifiedBy>
  <cp:revision>10</cp:revision>
  <dcterms:created xsi:type="dcterms:W3CDTF">2024-03-18T23:56:23Z</dcterms:created>
  <dcterms:modified xsi:type="dcterms:W3CDTF">2024-03-20T00:32:43Z</dcterms:modified>
</cp:coreProperties>
</file>
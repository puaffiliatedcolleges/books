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57" r:id="rId4"/>
    <p:sldId id="270" r:id="rId5"/>
    <p:sldId id="271" r:id="rId6"/>
    <p:sldId id="272" r:id="rId7"/>
    <p:sldId id="273" r:id="rId8"/>
    <p:sldId id="274" r:id="rId9"/>
    <p:sldId id="275" r:id="rId10"/>
    <p:sldId id="276" r:id="rId11"/>
    <p:sldId id="277" r:id="rId12"/>
    <p:sldId id="258" r:id="rId13"/>
    <p:sldId id="259" r:id="rId14"/>
    <p:sldId id="260" r:id="rId15"/>
    <p:sldId id="261" r:id="rId16"/>
    <p:sldId id="262" r:id="rId17"/>
    <p:sldId id="263" r:id="rId18"/>
    <p:sldId id="264" r:id="rId19"/>
    <p:sldId id="265" r:id="rId20"/>
    <p:sldId id="266" r:id="rId21"/>
    <p:sldId id="267" r:id="rId22"/>
    <p:sldId id="268"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C9941CE-1F31-4F11-A181-72C224094677}"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097B92-3000-4977-9470-380DB20046B4}" type="slidenum">
              <a:rPr lang="en-US" smtClean="0"/>
              <a:t>‹#›</a:t>
            </a:fld>
            <a:endParaRPr lang="en-US"/>
          </a:p>
        </p:txBody>
      </p:sp>
    </p:spTree>
    <p:extLst>
      <p:ext uri="{BB962C8B-B14F-4D97-AF65-F5344CB8AC3E}">
        <p14:creationId xmlns:p14="http://schemas.microsoft.com/office/powerpoint/2010/main" val="1255891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9941CE-1F31-4F11-A181-72C224094677}"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097B92-3000-4977-9470-380DB20046B4}" type="slidenum">
              <a:rPr lang="en-US" smtClean="0"/>
              <a:t>‹#›</a:t>
            </a:fld>
            <a:endParaRPr lang="en-US"/>
          </a:p>
        </p:txBody>
      </p:sp>
    </p:spTree>
    <p:extLst>
      <p:ext uri="{BB962C8B-B14F-4D97-AF65-F5344CB8AC3E}">
        <p14:creationId xmlns:p14="http://schemas.microsoft.com/office/powerpoint/2010/main" val="1416810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C9941CE-1F31-4F11-A181-72C224094677}"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097B92-3000-4977-9470-380DB20046B4}" type="slidenum">
              <a:rPr lang="en-US" smtClean="0"/>
              <a:t>‹#›</a:t>
            </a:fld>
            <a:endParaRPr lang="en-US"/>
          </a:p>
        </p:txBody>
      </p:sp>
    </p:spTree>
    <p:extLst>
      <p:ext uri="{BB962C8B-B14F-4D97-AF65-F5344CB8AC3E}">
        <p14:creationId xmlns:p14="http://schemas.microsoft.com/office/powerpoint/2010/main" val="3945455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C9941CE-1F31-4F11-A181-72C224094677}" type="datetimeFigureOut">
              <a:rPr lang="en-US" smtClean="0"/>
              <a:t>3/5/2024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097B92-3000-4977-9470-380DB20046B4}" type="slidenum">
              <a:rPr lang="en-US" smtClean="0"/>
              <a:t>‹#›</a:t>
            </a:fld>
            <a:endParaRPr lang="en-US"/>
          </a:p>
        </p:txBody>
      </p:sp>
    </p:spTree>
    <p:extLst>
      <p:ext uri="{BB962C8B-B14F-4D97-AF65-F5344CB8AC3E}">
        <p14:creationId xmlns:p14="http://schemas.microsoft.com/office/powerpoint/2010/main" val="249501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9941CE-1F31-4F11-A181-72C224094677}" type="datetimeFigureOut">
              <a:rPr lang="en-US" smtClean="0"/>
              <a:t>3/5/2024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0097B92-3000-4977-9470-380DB20046B4}" type="slidenum">
              <a:rPr lang="en-US" smtClean="0"/>
              <a:t>‹#›</a:t>
            </a:fld>
            <a:endParaRPr lang="en-US"/>
          </a:p>
        </p:txBody>
      </p:sp>
    </p:spTree>
    <p:extLst>
      <p:ext uri="{BB962C8B-B14F-4D97-AF65-F5344CB8AC3E}">
        <p14:creationId xmlns:p14="http://schemas.microsoft.com/office/powerpoint/2010/main" val="3841410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C9941CE-1F31-4F11-A181-72C224094677}" type="datetimeFigureOut">
              <a:rPr lang="en-US" smtClean="0"/>
              <a:t>3/5/2024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097B92-3000-4977-9470-380DB20046B4}" type="slidenum">
              <a:rPr lang="en-US" smtClean="0"/>
              <a:t>‹#›</a:t>
            </a:fld>
            <a:endParaRPr lang="en-US"/>
          </a:p>
        </p:txBody>
      </p:sp>
    </p:spTree>
    <p:extLst>
      <p:ext uri="{BB962C8B-B14F-4D97-AF65-F5344CB8AC3E}">
        <p14:creationId xmlns:p14="http://schemas.microsoft.com/office/powerpoint/2010/main" val="4094906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9941CE-1F31-4F11-A181-72C224094677}" type="datetimeFigureOut">
              <a:rPr lang="en-US" smtClean="0"/>
              <a:t>3/5/2024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0097B92-3000-4977-9470-380DB20046B4}" type="slidenum">
              <a:rPr lang="en-US" smtClean="0"/>
              <a:t>‹#›</a:t>
            </a:fld>
            <a:endParaRPr lang="en-US"/>
          </a:p>
        </p:txBody>
      </p:sp>
    </p:spTree>
    <p:extLst>
      <p:ext uri="{BB962C8B-B14F-4D97-AF65-F5344CB8AC3E}">
        <p14:creationId xmlns:p14="http://schemas.microsoft.com/office/powerpoint/2010/main" val="1347797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C9941CE-1F31-4F11-A181-72C224094677}" type="datetimeFigureOut">
              <a:rPr lang="en-US" smtClean="0"/>
              <a:t>3/5/2024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097B92-3000-4977-9470-380DB20046B4}" type="slidenum">
              <a:rPr lang="en-US" smtClean="0"/>
              <a:t>‹#›</a:t>
            </a:fld>
            <a:endParaRPr lang="en-US"/>
          </a:p>
        </p:txBody>
      </p:sp>
    </p:spTree>
    <p:extLst>
      <p:ext uri="{BB962C8B-B14F-4D97-AF65-F5344CB8AC3E}">
        <p14:creationId xmlns:p14="http://schemas.microsoft.com/office/powerpoint/2010/main" val="2446311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BC9941CE-1F31-4F11-A181-72C224094677}" type="datetimeFigureOut">
              <a:rPr lang="en-US" smtClean="0"/>
              <a:t>3/5/2024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097B92-3000-4977-9470-380DB20046B4}" type="slidenum">
              <a:rPr lang="en-US" smtClean="0"/>
              <a:t>‹#›</a:t>
            </a:fld>
            <a:endParaRPr lang="en-US"/>
          </a:p>
        </p:txBody>
      </p:sp>
    </p:spTree>
    <p:extLst>
      <p:ext uri="{BB962C8B-B14F-4D97-AF65-F5344CB8AC3E}">
        <p14:creationId xmlns:p14="http://schemas.microsoft.com/office/powerpoint/2010/main" val="3761109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9941CE-1F31-4F11-A181-72C224094677}"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097B92-3000-4977-9470-380DB20046B4}" type="slidenum">
              <a:rPr lang="en-US" smtClean="0"/>
              <a:t>‹#›</a:t>
            </a:fld>
            <a:endParaRPr lang="en-US"/>
          </a:p>
        </p:txBody>
      </p:sp>
    </p:spTree>
    <p:extLst>
      <p:ext uri="{BB962C8B-B14F-4D97-AF65-F5344CB8AC3E}">
        <p14:creationId xmlns:p14="http://schemas.microsoft.com/office/powerpoint/2010/main" val="1008757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C9941CE-1F31-4F11-A181-72C224094677}"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097B92-3000-4977-9470-380DB20046B4}" type="slidenum">
              <a:rPr lang="en-US" smtClean="0"/>
              <a:t>‹#›</a:t>
            </a:fld>
            <a:endParaRPr lang="en-US"/>
          </a:p>
        </p:txBody>
      </p:sp>
    </p:spTree>
    <p:extLst>
      <p:ext uri="{BB962C8B-B14F-4D97-AF65-F5344CB8AC3E}">
        <p14:creationId xmlns:p14="http://schemas.microsoft.com/office/powerpoint/2010/main" val="1931311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9941CE-1F31-4F11-A181-72C224094677}" type="datetimeFigureOut">
              <a:rPr lang="en-US" smtClean="0"/>
              <a:t>3/5/2024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097B92-3000-4977-9470-380DB20046B4}" type="slidenum">
              <a:rPr lang="en-US" smtClean="0"/>
              <a:t>‹#›</a:t>
            </a:fld>
            <a:endParaRPr lang="en-US"/>
          </a:p>
        </p:txBody>
      </p:sp>
    </p:spTree>
    <p:extLst>
      <p:ext uri="{BB962C8B-B14F-4D97-AF65-F5344CB8AC3E}">
        <p14:creationId xmlns:p14="http://schemas.microsoft.com/office/powerpoint/2010/main" val="9026672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12036" y="457200"/>
            <a:ext cx="6691538" cy="3916018"/>
          </a:xfrm>
        </p:spPr>
        <p:txBody>
          <a:bodyPr>
            <a:noAutofit/>
          </a:bodyPr>
          <a:lstStyle/>
          <a:p>
            <a:pPr algn="ctr"/>
            <a:r>
              <a:rPr lang="en-US" sz="7200" i="1" dirty="0" smtClean="0">
                <a:solidFill>
                  <a:srgbClr val="002060"/>
                </a:solidFill>
                <a:effectLst>
                  <a:outerShdw blurRad="38100" dist="38100" dir="2700000" algn="tl">
                    <a:srgbClr val="000000">
                      <a:alpha val="43137"/>
                    </a:srgbClr>
                  </a:outerShdw>
                </a:effectLst>
                <a:latin typeface="Algerian" panose="04020705040A02060702" pitchFamily="82" charset="0"/>
              </a:rPr>
              <a:t>WEB SERVICES OPERATIONS</a:t>
            </a:r>
            <a:br>
              <a:rPr lang="en-US" sz="7200" i="1" dirty="0" smtClean="0">
                <a:solidFill>
                  <a:srgbClr val="002060"/>
                </a:solidFill>
                <a:effectLst>
                  <a:outerShdw blurRad="38100" dist="38100" dir="2700000" algn="tl">
                    <a:srgbClr val="000000">
                      <a:alpha val="43137"/>
                    </a:srgbClr>
                  </a:outerShdw>
                </a:effectLst>
                <a:latin typeface="Algerian" panose="04020705040A02060702" pitchFamily="82" charset="0"/>
              </a:rPr>
            </a:br>
            <a:r>
              <a:rPr lang="en-US" sz="4800" i="1" dirty="0">
                <a:solidFill>
                  <a:srgbClr val="002060"/>
                </a:solidFill>
                <a:effectLst>
                  <a:outerShdw blurRad="38100" dist="38100" dir="2700000" algn="tl">
                    <a:srgbClr val="000000">
                      <a:alpha val="43137"/>
                    </a:srgbClr>
                  </a:outerShdw>
                </a:effectLst>
                <a:latin typeface="Algerian" panose="04020705040A02060702" pitchFamily="82" charset="0"/>
              </a:rPr>
              <a:t/>
            </a:r>
            <a:br>
              <a:rPr lang="en-US" sz="4800" i="1" dirty="0">
                <a:solidFill>
                  <a:srgbClr val="002060"/>
                </a:solidFill>
                <a:effectLst>
                  <a:outerShdw blurRad="38100" dist="38100" dir="2700000" algn="tl">
                    <a:srgbClr val="000000">
                      <a:alpha val="43137"/>
                    </a:srgbClr>
                  </a:outerShdw>
                </a:effectLst>
                <a:latin typeface="Algerian" panose="04020705040A02060702" pitchFamily="82" charset="0"/>
              </a:rPr>
            </a:br>
            <a:endParaRPr lang="en-US" sz="4800" i="1" dirty="0">
              <a:solidFill>
                <a:srgbClr val="002060"/>
              </a:solidFill>
              <a:effectLst>
                <a:outerShdw blurRad="38100" dist="38100" dir="2700000" algn="tl">
                  <a:srgbClr val="000000">
                    <a:alpha val="43137"/>
                  </a:srgbClr>
                </a:outerShdw>
              </a:effectLst>
              <a:latin typeface="Algerian" panose="04020705040A02060702" pitchFamily="82" charset="0"/>
            </a:endParaRPr>
          </a:p>
        </p:txBody>
      </p:sp>
      <p:sp>
        <p:nvSpPr>
          <p:cNvPr id="6" name="Text Placeholder 5"/>
          <p:cNvSpPr>
            <a:spLocks noGrp="1"/>
          </p:cNvSpPr>
          <p:nvPr>
            <p:ph type="body" sz="half" idx="2"/>
          </p:nvPr>
        </p:nvSpPr>
        <p:spPr>
          <a:xfrm>
            <a:off x="212035" y="3445566"/>
            <a:ext cx="6374295" cy="3207026"/>
          </a:xfrm>
        </p:spPr>
        <p:txBody>
          <a:bodyPr>
            <a:normAutofit/>
          </a:bodyPr>
          <a:lstStyle/>
          <a:p>
            <a:endParaRPr lang="en-US" sz="1800" dirty="0" smtClean="0"/>
          </a:p>
          <a:p>
            <a:r>
              <a:rPr lang="en-US" sz="2400" b="1" dirty="0" smtClean="0">
                <a:latin typeface="Times New Roman" panose="02020603050405020304" pitchFamily="18" charset="0"/>
                <a:cs typeface="Times New Roman" panose="02020603050405020304" pitchFamily="18" charset="0"/>
              </a:rPr>
              <a:t>Made By: ISHA EMAN &amp; KAINAT ZAFFAR</a:t>
            </a:r>
          </a:p>
          <a:p>
            <a:r>
              <a:rPr lang="en-US" sz="2400" b="1" dirty="0" smtClean="0">
                <a:latin typeface="Times New Roman" panose="02020603050405020304" pitchFamily="18" charset="0"/>
                <a:cs typeface="Times New Roman" panose="02020603050405020304" pitchFamily="18" charset="0"/>
              </a:rPr>
              <a:t>Submitted To: Miss AREEJ ALI</a:t>
            </a:r>
          </a:p>
          <a:p>
            <a:r>
              <a:rPr lang="en-US" sz="2400" b="1" dirty="0" smtClean="0">
                <a:latin typeface="Times New Roman" panose="02020603050405020304" pitchFamily="18" charset="0"/>
                <a:cs typeface="Times New Roman" panose="02020603050405020304" pitchFamily="18" charset="0"/>
              </a:rPr>
              <a:t>(Group- 4)</a:t>
            </a:r>
            <a:endParaRPr lang="en-US" sz="2400" b="1" dirty="0">
              <a:latin typeface="Times New Roman" panose="02020603050405020304" pitchFamily="18" charset="0"/>
              <a:cs typeface="Times New Roman" panose="02020603050405020304" pitchFamily="18" charset="0"/>
            </a:endParaRPr>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903574" y="1"/>
            <a:ext cx="5288426" cy="6858000"/>
          </a:xfrm>
        </p:spPr>
      </p:pic>
    </p:spTree>
    <p:extLst>
      <p:ext uri="{BB962C8B-B14F-4D97-AF65-F5344CB8AC3E}">
        <p14:creationId xmlns:p14="http://schemas.microsoft.com/office/powerpoint/2010/main" val="35025073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40000"/>
                <a:lumOff val="60000"/>
              </a:schemeClr>
            </a:gs>
            <a:gs pos="46000">
              <a:schemeClr val="accent5">
                <a:lumMod val="95000"/>
                <a:lumOff val="5000"/>
              </a:schemeClr>
            </a:gs>
            <a:gs pos="100000">
              <a:schemeClr val="accent5">
                <a:lumMod val="60000"/>
              </a:schemeClr>
            </a:gs>
          </a:gsLst>
          <a:lin ang="2700000" scaled="1"/>
        </a:gra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0" y="0"/>
            <a:ext cx="4929809" cy="1126435"/>
          </a:xfrm>
        </p:spPr>
        <p:txBody>
          <a:bodyPr>
            <a:normAutofit/>
          </a:bodyPr>
          <a:lstStyle/>
          <a:p>
            <a:r>
              <a:rPr lang="en-US" sz="4800" b="1" i="1" dirty="0" smtClean="0">
                <a:solidFill>
                  <a:schemeClr val="bg1"/>
                </a:solidFill>
                <a:latin typeface="Times New Roman" panose="02020603050405020304" pitchFamily="18" charset="0"/>
                <a:cs typeface="Times New Roman" panose="02020603050405020304" pitchFamily="18" charset="0"/>
              </a:rPr>
              <a:t>Table Of Content</a:t>
            </a:r>
            <a:endParaRPr lang="en-US" sz="4800" b="1" i="1" dirty="0">
              <a:solidFill>
                <a:schemeClr val="bg1"/>
              </a:solidFill>
              <a:latin typeface="Times New Roman" panose="02020603050405020304" pitchFamily="18" charset="0"/>
              <a:cs typeface="Times New Roman" panose="02020603050405020304" pitchFamily="18" charset="0"/>
            </a:endParaRPr>
          </a:p>
        </p:txBody>
      </p:sp>
      <p:sp>
        <p:nvSpPr>
          <p:cNvPr id="7" name="Text Placeholder 6"/>
          <p:cNvSpPr>
            <a:spLocks noGrp="1"/>
          </p:cNvSpPr>
          <p:nvPr>
            <p:ph type="body" sz="half" idx="2"/>
          </p:nvPr>
        </p:nvSpPr>
        <p:spPr>
          <a:xfrm>
            <a:off x="0" y="1378226"/>
            <a:ext cx="4929809" cy="5479774"/>
          </a:xfrm>
        </p:spPr>
        <p:txBody>
          <a:bodyPr/>
          <a:lstStyle/>
          <a:p>
            <a:pPr marL="285750" indent="-285750">
              <a:buFont typeface="Wingdings" panose="05000000000000000000" pitchFamily="2" charset="2"/>
              <a:buChar char="ü"/>
            </a:pPr>
            <a:r>
              <a:rPr lang="en-US" sz="2400" b="1" dirty="0" smtClean="0">
                <a:latin typeface="Times New Roman" panose="02020603050405020304" pitchFamily="18" charset="0"/>
                <a:cs typeface="Times New Roman" panose="02020603050405020304" pitchFamily="18" charset="0"/>
              </a:rPr>
              <a:t>What is Web Services?</a:t>
            </a:r>
          </a:p>
          <a:p>
            <a:pPr marL="285750" indent="-285750">
              <a:buFont typeface="Wingdings" panose="05000000000000000000" pitchFamily="2" charset="2"/>
              <a:buChar char="ü"/>
            </a:pPr>
            <a:r>
              <a:rPr lang="en-US" sz="2400" b="1" dirty="0" smtClean="0">
                <a:latin typeface="Times New Roman" panose="02020603050405020304" pitchFamily="18" charset="0"/>
                <a:cs typeface="Times New Roman" panose="02020603050405020304" pitchFamily="18" charset="0"/>
              </a:rPr>
              <a:t>Architecture of Web Services:</a:t>
            </a:r>
          </a:p>
          <a:p>
            <a:pPr marL="285750" indent="-28575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Roles in a Web Service Architecture</a:t>
            </a:r>
          </a:p>
          <a:p>
            <a:pPr marL="285750" indent="-28575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Operations in Web Service Architecture</a:t>
            </a:r>
          </a:p>
          <a:p>
            <a:pPr marL="285750" indent="-285750">
              <a:buFont typeface="Wingdings" panose="05000000000000000000" pitchFamily="2" charset="2"/>
              <a:buChar char="ü"/>
            </a:pPr>
            <a:r>
              <a:rPr lang="en-US" sz="2400" b="1" dirty="0" smtClean="0">
                <a:latin typeface="Times New Roman" panose="02020603050405020304" pitchFamily="18" charset="0"/>
                <a:cs typeface="Times New Roman" panose="02020603050405020304" pitchFamily="18" charset="0"/>
              </a:rPr>
              <a:t>Web Service Operations:</a:t>
            </a:r>
          </a:p>
          <a:p>
            <a:pPr marL="342900" indent="-342900">
              <a:buFont typeface="+mj-lt"/>
              <a:buAutoNum type="arabicPeriod"/>
            </a:pPr>
            <a:r>
              <a:rPr lang="en-US" sz="2400" dirty="0" smtClean="0">
                <a:latin typeface="Times New Roman" panose="02020603050405020304" pitchFamily="18" charset="0"/>
                <a:cs typeface="Times New Roman" panose="02020603050405020304" pitchFamily="18" charset="0"/>
              </a:rPr>
              <a:t>Get</a:t>
            </a:r>
          </a:p>
          <a:p>
            <a:pPr marL="342900" indent="-342900">
              <a:buFont typeface="+mj-lt"/>
              <a:buAutoNum type="arabicPeriod"/>
            </a:pPr>
            <a:r>
              <a:rPr lang="en-US" sz="2400" dirty="0" smtClean="0">
                <a:latin typeface="Times New Roman" panose="02020603050405020304" pitchFamily="18" charset="0"/>
                <a:cs typeface="Times New Roman" panose="02020603050405020304" pitchFamily="18" charset="0"/>
              </a:rPr>
              <a:t>Post </a:t>
            </a:r>
          </a:p>
          <a:p>
            <a:pPr marL="342900" indent="-342900">
              <a:buFont typeface="+mj-lt"/>
              <a:buAutoNum type="arabicPeriod"/>
            </a:pPr>
            <a:r>
              <a:rPr lang="en-US" sz="2400" dirty="0" smtClean="0">
                <a:latin typeface="Times New Roman" panose="02020603050405020304" pitchFamily="18" charset="0"/>
                <a:cs typeface="Times New Roman" panose="02020603050405020304" pitchFamily="18" charset="0"/>
              </a:rPr>
              <a:t>Put</a:t>
            </a:r>
          </a:p>
          <a:p>
            <a:pPr marL="342900" indent="-342900">
              <a:buFont typeface="+mj-lt"/>
              <a:buAutoNum type="arabicPeriod"/>
            </a:pPr>
            <a:r>
              <a:rPr lang="en-US" sz="2400" dirty="0" smtClean="0">
                <a:latin typeface="Times New Roman" panose="02020603050405020304" pitchFamily="18" charset="0"/>
                <a:cs typeface="Times New Roman" panose="02020603050405020304" pitchFamily="18" charset="0"/>
              </a:rPr>
              <a:t>Delete</a:t>
            </a:r>
          </a:p>
          <a:p>
            <a:pPr marL="342900" indent="-342900">
              <a:buFont typeface="+mj-lt"/>
              <a:buAutoNum type="arabicPeriod"/>
            </a:pPr>
            <a:r>
              <a:rPr lang="en-US" sz="2400" dirty="0" smtClean="0">
                <a:latin typeface="Times New Roman" panose="02020603050405020304" pitchFamily="18" charset="0"/>
                <a:cs typeface="Times New Roman" panose="02020603050405020304" pitchFamily="18" charset="0"/>
              </a:rPr>
              <a:t>Search</a:t>
            </a:r>
          </a:p>
          <a:p>
            <a:endParaRPr lang="en-US" dirty="0"/>
          </a:p>
        </p:txBody>
      </p:sp>
      <p:pic>
        <p:nvPicPr>
          <p:cNvPr id="10" name="Content Placeholder 9"/>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29809" y="0"/>
            <a:ext cx="7262191" cy="6858000"/>
          </a:xfrm>
        </p:spPr>
      </p:pic>
    </p:spTree>
    <p:extLst>
      <p:ext uri="{BB962C8B-B14F-4D97-AF65-F5344CB8AC3E}">
        <p14:creationId xmlns:p14="http://schemas.microsoft.com/office/powerpoint/2010/main" val="19197757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accent5">
                <a:lumMod val="60000"/>
              </a:schemeClr>
            </a:gs>
          </a:gsLst>
          <a:lin ang="27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199" y="119270"/>
            <a:ext cx="10515600" cy="3193773"/>
          </a:xfrm>
        </p:spPr>
        <p:txBody>
          <a:bodyPr>
            <a:noAutofit/>
          </a:bodyPr>
          <a:lstStyle/>
          <a:p>
            <a:pPr algn="ctr"/>
            <a:r>
              <a:rPr lang="en-US" sz="4000" b="1" u="sng" dirty="0">
                <a:solidFill>
                  <a:schemeClr val="bg1"/>
                </a:solidFill>
                <a:latin typeface="Times New Roman" panose="02020603050405020304" pitchFamily="18" charset="0"/>
                <a:cs typeface="Times New Roman" panose="02020603050405020304" pitchFamily="18" charset="0"/>
              </a:rPr>
              <a:t>What is Web Services</a:t>
            </a:r>
            <a:r>
              <a:rPr lang="en-US" sz="4000" b="1" u="sng" dirty="0" smtClean="0">
                <a:solidFill>
                  <a:schemeClr val="bg1"/>
                </a:solidFill>
                <a:latin typeface="Times New Roman" panose="02020603050405020304" pitchFamily="18" charset="0"/>
                <a:cs typeface="Times New Roman" panose="02020603050405020304" pitchFamily="18" charset="0"/>
              </a:rPr>
              <a:t>?</a:t>
            </a:r>
            <a:br>
              <a:rPr lang="en-US" sz="4000" b="1" u="sng" dirty="0" smtClean="0">
                <a:solidFill>
                  <a:schemeClr val="bg1"/>
                </a:solidFill>
                <a:latin typeface="Times New Roman" panose="02020603050405020304" pitchFamily="18" charset="0"/>
                <a:cs typeface="Times New Roman" panose="02020603050405020304" pitchFamily="18" charset="0"/>
              </a:rPr>
            </a:br>
            <a:r>
              <a:rPr lang="en-US" sz="4000" b="1" u="sng" dirty="0">
                <a:solidFill>
                  <a:schemeClr val="bg1"/>
                </a:solidFill>
                <a:latin typeface="Times New Roman" panose="02020603050405020304" pitchFamily="18" charset="0"/>
                <a:cs typeface="Times New Roman" panose="02020603050405020304" pitchFamily="18" charset="0"/>
              </a:rPr>
              <a:t/>
            </a:r>
            <a:br>
              <a:rPr lang="en-US" sz="4000" b="1" u="sng" dirty="0">
                <a:solidFill>
                  <a:schemeClr val="bg1"/>
                </a:solidFill>
                <a:latin typeface="Times New Roman" panose="02020603050405020304" pitchFamily="18" charset="0"/>
                <a:cs typeface="Times New Roman" panose="02020603050405020304" pitchFamily="18" charset="0"/>
              </a:rPr>
            </a:br>
            <a:r>
              <a:rPr lang="en-US" sz="2400" dirty="0">
                <a:solidFill>
                  <a:schemeClr val="accent4">
                    <a:lumMod val="60000"/>
                    <a:lumOff val="40000"/>
                  </a:schemeClr>
                </a:solidFill>
                <a:latin typeface="Times New Roman" panose="02020603050405020304" pitchFamily="18" charset="0"/>
                <a:cs typeface="Times New Roman" panose="02020603050405020304" pitchFamily="18" charset="0"/>
              </a:rPr>
              <a:t>Web services are the types of internet software that uses standardized messaging protocol over the distributed environment. It integrates the web-based application using the </a:t>
            </a:r>
            <a:r>
              <a:rPr lang="en-US" sz="2400" b="1" dirty="0">
                <a:solidFill>
                  <a:schemeClr val="accent4">
                    <a:lumMod val="60000"/>
                    <a:lumOff val="40000"/>
                  </a:schemeClr>
                </a:solidFill>
                <a:latin typeface="Times New Roman" panose="02020603050405020304" pitchFamily="18" charset="0"/>
                <a:cs typeface="Times New Roman" panose="02020603050405020304" pitchFamily="18" charset="0"/>
              </a:rPr>
              <a:t>REST, SOAP, WSDL,</a:t>
            </a:r>
            <a:r>
              <a:rPr lang="en-US" sz="2400" dirty="0">
                <a:solidFill>
                  <a:schemeClr val="accent4">
                    <a:lumMod val="60000"/>
                    <a:lumOff val="40000"/>
                  </a:schemeClr>
                </a:solidFill>
                <a:latin typeface="Times New Roman" panose="02020603050405020304" pitchFamily="18" charset="0"/>
                <a:cs typeface="Times New Roman" panose="02020603050405020304" pitchFamily="18" charset="0"/>
              </a:rPr>
              <a:t> and </a:t>
            </a:r>
            <a:r>
              <a:rPr lang="en-US" sz="2400" b="1" dirty="0">
                <a:solidFill>
                  <a:schemeClr val="accent4">
                    <a:lumMod val="60000"/>
                    <a:lumOff val="40000"/>
                  </a:schemeClr>
                </a:solidFill>
                <a:latin typeface="Times New Roman" panose="02020603050405020304" pitchFamily="18" charset="0"/>
                <a:cs typeface="Times New Roman" panose="02020603050405020304" pitchFamily="18" charset="0"/>
              </a:rPr>
              <a:t>UDDI</a:t>
            </a:r>
            <a:r>
              <a:rPr lang="en-US" sz="2400" dirty="0">
                <a:solidFill>
                  <a:schemeClr val="accent4">
                    <a:lumMod val="60000"/>
                    <a:lumOff val="40000"/>
                  </a:schemeClr>
                </a:solidFill>
                <a:latin typeface="Times New Roman" panose="02020603050405020304" pitchFamily="18" charset="0"/>
                <a:cs typeface="Times New Roman" panose="02020603050405020304" pitchFamily="18" charset="0"/>
              </a:rPr>
              <a:t> over the network. For example, Java web service can communicate with </a:t>
            </a:r>
            <a:r>
              <a:rPr lang="en-US" sz="2400" dirty="0" err="1">
                <a:solidFill>
                  <a:schemeClr val="accent4">
                    <a:lumMod val="60000"/>
                    <a:lumOff val="40000"/>
                  </a:schemeClr>
                </a:solidFill>
                <a:latin typeface="Times New Roman" panose="02020603050405020304" pitchFamily="18" charset="0"/>
                <a:cs typeface="Times New Roman" panose="02020603050405020304" pitchFamily="18" charset="0"/>
              </a:rPr>
              <a:t>.Net</a:t>
            </a:r>
            <a:r>
              <a:rPr lang="en-US" sz="2400" dirty="0">
                <a:solidFill>
                  <a:schemeClr val="accent4">
                    <a:lumMod val="60000"/>
                    <a:lumOff val="40000"/>
                  </a:schemeClr>
                </a:solidFill>
                <a:latin typeface="Times New Roman" panose="02020603050405020304" pitchFamily="18" charset="0"/>
                <a:cs typeface="Times New Roman" panose="02020603050405020304" pitchFamily="18" charset="0"/>
              </a:rPr>
              <a:t> application.</a:t>
            </a:r>
            <a:r>
              <a:rPr lang="en-US" sz="5400" dirty="0">
                <a:solidFill>
                  <a:schemeClr val="accent4">
                    <a:lumMod val="60000"/>
                    <a:lumOff val="40000"/>
                  </a:schemeClr>
                </a:solidFill>
                <a:latin typeface="Times New Roman" panose="02020603050405020304" pitchFamily="18" charset="0"/>
                <a:cs typeface="Times New Roman" panose="02020603050405020304" pitchFamily="18" charset="0"/>
              </a:rPr>
              <a:t/>
            </a:r>
            <a:br>
              <a:rPr lang="en-US" sz="5400" dirty="0">
                <a:solidFill>
                  <a:schemeClr val="accent4">
                    <a:lumMod val="60000"/>
                    <a:lumOff val="40000"/>
                  </a:schemeClr>
                </a:solidFill>
                <a:latin typeface="Times New Roman" panose="02020603050405020304" pitchFamily="18" charset="0"/>
                <a:cs typeface="Times New Roman" panose="02020603050405020304" pitchFamily="18" charset="0"/>
              </a:rPr>
            </a:br>
            <a:endParaRPr lang="en-US" sz="5400" dirty="0">
              <a:solidFill>
                <a:schemeClr val="accent4">
                  <a:lumMod val="60000"/>
                  <a:lumOff val="40000"/>
                </a:schemeClr>
              </a:solidFill>
              <a:latin typeface="Times New Roman" panose="02020603050405020304" pitchFamily="18" charset="0"/>
              <a:cs typeface="Times New Roman" panose="02020603050405020304" pitchFamily="18" charset="0"/>
            </a:endParaRPr>
          </a:p>
        </p:txBody>
      </p:sp>
      <p:pic>
        <p:nvPicPr>
          <p:cNvPr id="1028" name="Picture 4" descr="What is Web Servic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199" y="3313042"/>
            <a:ext cx="10515600" cy="3008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904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40000"/>
                <a:lumOff val="60000"/>
              </a:schemeClr>
            </a:gs>
            <a:gs pos="46000">
              <a:schemeClr val="accent5">
                <a:lumMod val="95000"/>
                <a:lumOff val="5000"/>
              </a:schemeClr>
            </a:gs>
            <a:gs pos="100000">
              <a:schemeClr val="accent5">
                <a:lumMod val="60000"/>
              </a:schemeClr>
            </a:gs>
          </a:gsLst>
          <a:lin ang="2700000" scaled="1"/>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1"/>
            <a:ext cx="10515600" cy="821634"/>
          </a:xfrm>
        </p:spPr>
        <p:txBody>
          <a:bodyPr anchor="t">
            <a:normAutofit fontScale="90000"/>
          </a:bodyPr>
          <a:lstStyle/>
          <a:p>
            <a:pPr algn="ctr"/>
            <a:r>
              <a:rPr lang="en-US" b="1" u="sng" dirty="0">
                <a:latin typeface="Times New Roman" panose="02020603050405020304" pitchFamily="18" charset="0"/>
                <a:cs typeface="Times New Roman" panose="02020603050405020304" pitchFamily="18" charset="0"/>
              </a:rPr>
              <a:t>Architecture of Web Services</a:t>
            </a:r>
            <a:br>
              <a:rPr lang="en-US" b="1" u="sng" dirty="0">
                <a:latin typeface="Times New Roman" panose="02020603050405020304" pitchFamily="18" charset="0"/>
                <a:cs typeface="Times New Roman" panose="02020603050405020304" pitchFamily="18" charset="0"/>
              </a:rPr>
            </a:br>
            <a:endParaRPr lang="en-US" b="1" u="sng"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498573" y="5212109"/>
            <a:ext cx="11039061" cy="369332"/>
          </a:xfrm>
          <a:prstGeom prst="rect">
            <a:avLst/>
          </a:prstGeom>
          <a:noFill/>
        </p:spPr>
        <p:txBody>
          <a:bodyPr wrap="square" rtlCol="0">
            <a:spAutoFit/>
          </a:bodyPr>
          <a:lstStyle/>
          <a:p>
            <a:endParaRPr lang="en-US" dirty="0"/>
          </a:p>
        </p:txBody>
      </p:sp>
      <p:pic>
        <p:nvPicPr>
          <p:cNvPr id="2050" name="Picture 2" descr="What are Web Services? Architecture, Types, Exa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954157"/>
            <a:ext cx="10515600" cy="5486400"/>
          </a:xfrm>
          <a:prstGeom prst="rect">
            <a:avLst/>
          </a:prstGeom>
          <a:gradFill flip="none" rotWithShape="1">
            <a:gsLst>
              <a:gs pos="0">
                <a:schemeClr val="accent3">
                  <a:lumMod val="0"/>
                  <a:lumOff val="100000"/>
                </a:schemeClr>
              </a:gs>
              <a:gs pos="35000">
                <a:schemeClr val="accent3">
                  <a:lumMod val="0"/>
                  <a:lumOff val="100000"/>
                </a:schemeClr>
              </a:gs>
              <a:gs pos="100000">
                <a:schemeClr val="accent3">
                  <a:lumMod val="100000"/>
                </a:schemeClr>
              </a:gs>
            </a:gsLst>
            <a:lin ang="2700000" scaled="1"/>
            <a:tileRect/>
          </a:gradFill>
        </p:spPr>
      </p:pic>
    </p:spTree>
    <p:extLst>
      <p:ext uri="{BB962C8B-B14F-4D97-AF65-F5344CB8AC3E}">
        <p14:creationId xmlns:p14="http://schemas.microsoft.com/office/powerpoint/2010/main" val="32730511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40000"/>
                <a:lumOff val="60000"/>
              </a:schemeClr>
            </a:gs>
            <a:gs pos="46000">
              <a:schemeClr val="accent5">
                <a:lumMod val="95000"/>
                <a:lumOff val="5000"/>
              </a:schemeClr>
            </a:gs>
            <a:gs pos="100000">
              <a:schemeClr val="accent5">
                <a:lumMod val="60000"/>
              </a:schemeClr>
            </a:gs>
          </a:gsLst>
          <a:lin ang="27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12035"/>
            <a:ext cx="10515600" cy="675860"/>
          </a:xfrm>
        </p:spPr>
        <p:txBody>
          <a:bodyPr anchor="t">
            <a:normAutofit fontScale="90000"/>
          </a:bodyPr>
          <a:lstStyle/>
          <a:p>
            <a:pPr algn="ctr"/>
            <a:r>
              <a:rPr lang="en-US" b="1" u="sng" dirty="0">
                <a:latin typeface="Times New Roman" panose="02020603050405020304" pitchFamily="18" charset="0"/>
                <a:cs typeface="Times New Roman" panose="02020603050405020304" pitchFamily="18" charset="0"/>
              </a:rPr>
              <a:t>Architecture of Web Services</a:t>
            </a:r>
            <a:endParaRPr lang="en-US" dirty="0"/>
          </a:p>
        </p:txBody>
      </p:sp>
      <p:sp>
        <p:nvSpPr>
          <p:cNvPr id="3" name="TextBox 2"/>
          <p:cNvSpPr txBox="1"/>
          <p:nvPr/>
        </p:nvSpPr>
        <p:spPr>
          <a:xfrm>
            <a:off x="838200" y="1656521"/>
            <a:ext cx="10760765"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The Web Services architecture describes how to instantiate the elements and implement the operations in an interoperable manner</a:t>
            </a:r>
            <a:r>
              <a:rPr lang="en-US" sz="2400" dirty="0" smtClean="0">
                <a:solidFill>
                  <a:schemeClr val="accent4">
                    <a:lumMod val="40000"/>
                    <a:lumOff val="60000"/>
                  </a:schemeClr>
                </a:solidFill>
                <a:latin typeface="Times New Roman" panose="02020603050405020304" pitchFamily="18" charset="0"/>
                <a:cs typeface="Times New Roman" panose="02020603050405020304" pitchFamily="18" charset="0"/>
              </a:rPr>
              <a:t>.</a:t>
            </a:r>
          </a:p>
          <a:p>
            <a:endParaRPr lang="en-US" sz="2400" dirty="0" smtClean="0">
              <a:solidFill>
                <a:schemeClr val="accent4">
                  <a:lumMod val="40000"/>
                  <a:lumOff val="60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The architecture of web service interacts among three roles: </a:t>
            </a:r>
            <a:r>
              <a:rPr lang="en-US" sz="2400" b="1" dirty="0">
                <a:solidFill>
                  <a:schemeClr val="accent4">
                    <a:lumMod val="40000"/>
                    <a:lumOff val="60000"/>
                  </a:schemeClr>
                </a:solidFill>
                <a:latin typeface="Times New Roman" panose="02020603050405020304" pitchFamily="18" charset="0"/>
                <a:cs typeface="Times New Roman" panose="02020603050405020304" pitchFamily="18" charset="0"/>
              </a:rPr>
              <a:t>service provider, service requester,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and </a:t>
            </a:r>
            <a:r>
              <a:rPr lang="en-US" sz="2400" b="1" dirty="0">
                <a:solidFill>
                  <a:schemeClr val="accent4">
                    <a:lumMod val="40000"/>
                    <a:lumOff val="60000"/>
                  </a:schemeClr>
                </a:solidFill>
                <a:latin typeface="Times New Roman" panose="02020603050405020304" pitchFamily="18" charset="0"/>
                <a:cs typeface="Times New Roman" panose="02020603050405020304" pitchFamily="18" charset="0"/>
              </a:rPr>
              <a:t>service registry</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endParaRPr lang="en-US" sz="2400" dirty="0" smtClean="0">
              <a:solidFill>
                <a:schemeClr val="accent4">
                  <a:lumMod val="40000"/>
                  <a:lumOff val="60000"/>
                </a:schemeClr>
              </a:solidFill>
              <a:latin typeface="Times New Roman" panose="02020603050405020304" pitchFamily="18" charset="0"/>
              <a:cs typeface="Times New Roman" panose="02020603050405020304" pitchFamily="18" charset="0"/>
            </a:endParaRPr>
          </a:p>
          <a:p>
            <a:endParaRPr lang="en-US" sz="2400" dirty="0" smtClean="0">
              <a:solidFill>
                <a:schemeClr val="accent4">
                  <a:lumMod val="40000"/>
                  <a:lumOff val="60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The interaction involves the three operations: </a:t>
            </a:r>
            <a:r>
              <a:rPr lang="en-US" sz="2400" b="1" dirty="0">
                <a:solidFill>
                  <a:schemeClr val="accent4">
                    <a:lumMod val="40000"/>
                    <a:lumOff val="60000"/>
                  </a:schemeClr>
                </a:solidFill>
                <a:latin typeface="Times New Roman" panose="02020603050405020304" pitchFamily="18" charset="0"/>
                <a:cs typeface="Times New Roman" panose="02020603050405020304" pitchFamily="18" charset="0"/>
              </a:rPr>
              <a:t>publish, find,</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and </a:t>
            </a:r>
            <a:r>
              <a:rPr lang="en-US" sz="2400" b="1" dirty="0">
                <a:solidFill>
                  <a:schemeClr val="accent4">
                    <a:lumMod val="40000"/>
                    <a:lumOff val="60000"/>
                  </a:schemeClr>
                </a:solidFill>
                <a:latin typeface="Times New Roman" panose="02020603050405020304" pitchFamily="18" charset="0"/>
                <a:cs typeface="Times New Roman" panose="02020603050405020304" pitchFamily="18" charset="0"/>
              </a:rPr>
              <a:t>bind</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These operations and roles act upon the </a:t>
            </a:r>
            <a:r>
              <a:rPr lang="en-US" sz="2400" b="1" dirty="0">
                <a:solidFill>
                  <a:schemeClr val="accent4">
                    <a:lumMod val="40000"/>
                    <a:lumOff val="60000"/>
                  </a:schemeClr>
                </a:solidFill>
                <a:latin typeface="Times New Roman" panose="02020603050405020304" pitchFamily="18" charset="0"/>
                <a:cs typeface="Times New Roman" panose="02020603050405020304" pitchFamily="18" charset="0"/>
              </a:rPr>
              <a:t>web services artifacts</a:t>
            </a:r>
            <a:r>
              <a:rPr lang="en-US" dirty="0">
                <a:solidFill>
                  <a:schemeClr val="accent4">
                    <a:lumMod val="40000"/>
                    <a:lumOff val="60000"/>
                  </a:schemeClr>
                </a:solidFill>
              </a:rPr>
              <a:t>. </a:t>
            </a:r>
            <a:endParaRPr lang="en-US" dirty="0">
              <a:solidFill>
                <a:schemeClr val="accent4">
                  <a:lumMod val="40000"/>
                  <a:lumOff val="60000"/>
                </a:schemeClr>
              </a:solidFill>
            </a:endParaRPr>
          </a:p>
        </p:txBody>
      </p:sp>
    </p:spTree>
    <p:extLst>
      <p:ext uri="{BB962C8B-B14F-4D97-AF65-F5344CB8AC3E}">
        <p14:creationId xmlns:p14="http://schemas.microsoft.com/office/powerpoint/2010/main" val="18014279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40000"/>
                <a:lumOff val="60000"/>
              </a:schemeClr>
            </a:gs>
            <a:gs pos="46000">
              <a:schemeClr val="accent5">
                <a:lumMod val="95000"/>
                <a:lumOff val="5000"/>
              </a:schemeClr>
            </a:gs>
            <a:gs pos="100000">
              <a:schemeClr val="accent5">
                <a:lumMod val="60000"/>
              </a:schemeClr>
            </a:gs>
          </a:gsLst>
          <a:lin ang="27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65043"/>
            <a:ext cx="10515600" cy="516835"/>
          </a:xfrm>
        </p:spPr>
        <p:txBody>
          <a:bodyPr anchor="t">
            <a:normAutofit fontScale="90000"/>
          </a:bodyPr>
          <a:lstStyle/>
          <a:p>
            <a:pPr algn="ctr"/>
            <a:r>
              <a:rPr lang="en-US" b="1" u="sng" dirty="0">
                <a:latin typeface="Times New Roman" panose="02020603050405020304" pitchFamily="18" charset="0"/>
                <a:cs typeface="Times New Roman" panose="02020603050405020304" pitchFamily="18" charset="0"/>
              </a:rPr>
              <a:t>Architecture of Web Services</a:t>
            </a:r>
            <a:endParaRPr lang="en-US" dirty="0"/>
          </a:p>
        </p:txBody>
      </p:sp>
      <p:sp>
        <p:nvSpPr>
          <p:cNvPr id="3" name="TextBox 2"/>
          <p:cNvSpPr txBox="1"/>
          <p:nvPr/>
        </p:nvSpPr>
        <p:spPr>
          <a:xfrm>
            <a:off x="1020417" y="1643270"/>
            <a:ext cx="10333383" cy="3693319"/>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The </a:t>
            </a:r>
            <a:r>
              <a:rPr lang="en-US" sz="2400" b="1" dirty="0">
                <a:solidFill>
                  <a:schemeClr val="accent4">
                    <a:lumMod val="40000"/>
                    <a:lumOff val="60000"/>
                  </a:schemeClr>
                </a:solidFill>
                <a:latin typeface="Times New Roman" panose="02020603050405020304" pitchFamily="18" charset="0"/>
                <a:cs typeface="Times New Roman" panose="02020603050405020304" pitchFamily="18" charset="0"/>
              </a:rPr>
              <a:t>service provider </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hosts a network-associable module (web service). It defines a service description for the web service and publishes it to a service requestor or service registry</a:t>
            </a:r>
            <a:r>
              <a:rPr lang="en-US" sz="2400" dirty="0" smtClean="0">
                <a:solidFill>
                  <a:schemeClr val="accent4">
                    <a:lumMod val="40000"/>
                    <a:lumOff val="60000"/>
                  </a:schemeClr>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endParaRPr lang="en-US" sz="2400" dirty="0" smtClean="0">
              <a:solidFill>
                <a:schemeClr val="accent4">
                  <a:lumMod val="40000"/>
                  <a:lumOff val="60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These </a:t>
            </a:r>
            <a:r>
              <a:rPr lang="en-US" sz="2400" b="1" dirty="0">
                <a:solidFill>
                  <a:schemeClr val="accent4">
                    <a:lumMod val="40000"/>
                    <a:lumOff val="60000"/>
                  </a:schemeClr>
                </a:solidFill>
                <a:latin typeface="Times New Roman" panose="02020603050405020304" pitchFamily="18" charset="0"/>
                <a:cs typeface="Times New Roman" panose="02020603050405020304" pitchFamily="18" charset="0"/>
              </a:rPr>
              <a:t>service requestor </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uses a find operation to retrieve the service description locally or from the </a:t>
            </a:r>
            <a:r>
              <a:rPr lang="en-US" sz="2400" b="1" dirty="0">
                <a:solidFill>
                  <a:schemeClr val="accent4">
                    <a:lumMod val="40000"/>
                    <a:lumOff val="60000"/>
                  </a:schemeClr>
                </a:solidFill>
                <a:latin typeface="Times New Roman" panose="02020603050405020304" pitchFamily="18" charset="0"/>
                <a:cs typeface="Times New Roman" panose="02020603050405020304" pitchFamily="18" charset="0"/>
              </a:rPr>
              <a:t>service registry</a:t>
            </a:r>
            <a:r>
              <a:rPr lang="en-US" sz="2400" b="1" dirty="0" smtClean="0">
                <a:solidFill>
                  <a:schemeClr val="accent4">
                    <a:lumMod val="40000"/>
                    <a:lumOff val="60000"/>
                  </a:schemeClr>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2400" b="1" dirty="0" smtClean="0">
              <a:solidFill>
                <a:schemeClr val="accent4">
                  <a:lumMod val="40000"/>
                  <a:lumOff val="60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It uses the service description to bind with the service provider and invoke with the web service implementation.</a:t>
            </a:r>
            <a:endParaRPr lang="en-US" sz="2400" dirty="0" smtClean="0">
              <a:solidFill>
                <a:schemeClr val="accent4">
                  <a:lumMod val="40000"/>
                  <a:lumOff val="60000"/>
                </a:schemeClr>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444042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40000"/>
                <a:lumOff val="60000"/>
              </a:schemeClr>
            </a:gs>
            <a:gs pos="46000">
              <a:schemeClr val="accent5">
                <a:lumMod val="95000"/>
                <a:lumOff val="5000"/>
              </a:schemeClr>
            </a:gs>
            <a:gs pos="100000">
              <a:schemeClr val="accent5">
                <a:lumMod val="60000"/>
              </a:schemeClr>
            </a:gs>
          </a:gsLst>
          <a:lin ang="27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690688"/>
          </a:xfrm>
        </p:spPr>
        <p:txBody>
          <a:bodyPr anchor="t"/>
          <a:lstStyle/>
          <a:p>
            <a:pPr algn="ctr"/>
            <a:r>
              <a:rPr lang="en-US" b="1" u="sng" dirty="0">
                <a:latin typeface="Times New Roman" panose="02020603050405020304" pitchFamily="18" charset="0"/>
                <a:cs typeface="Times New Roman" panose="02020603050405020304" pitchFamily="18" charset="0"/>
              </a:rPr>
              <a:t>Architecture of Web Services</a:t>
            </a:r>
            <a:endParaRPr lang="en-US" dirty="0"/>
          </a:p>
        </p:txBody>
      </p:sp>
      <p:pic>
        <p:nvPicPr>
          <p:cNvPr id="3074" name="Picture 2" descr="Architecture of Web Servi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285461"/>
            <a:ext cx="10515599" cy="5446643"/>
          </a:xfrm>
          <a:prstGeom prst="rect">
            <a:avLst/>
          </a:prstGeom>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p:spPr>
      </p:pic>
    </p:spTree>
    <p:extLst>
      <p:ext uri="{BB962C8B-B14F-4D97-AF65-F5344CB8AC3E}">
        <p14:creationId xmlns:p14="http://schemas.microsoft.com/office/powerpoint/2010/main" val="14878432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accent5">
                <a:lumMod val="60000"/>
              </a:schemeClr>
            </a:gs>
          </a:gsLst>
          <a:lin ang="27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61390"/>
          </a:xfrm>
        </p:spPr>
        <p:txBody>
          <a:bodyPr anchor="t"/>
          <a:lstStyle/>
          <a:p>
            <a:pPr algn="ctr"/>
            <a:r>
              <a:rPr lang="en-US" b="1" u="sng" dirty="0">
                <a:latin typeface="Times New Roman" panose="02020603050405020304" pitchFamily="18" charset="0"/>
                <a:cs typeface="Times New Roman" panose="02020603050405020304" pitchFamily="18" charset="0"/>
              </a:rPr>
              <a:t>Architecture of Web Services</a:t>
            </a:r>
            <a:endParaRPr lang="en-US" dirty="0"/>
          </a:p>
        </p:txBody>
      </p:sp>
      <p:sp>
        <p:nvSpPr>
          <p:cNvPr id="3" name="TextBox 2"/>
          <p:cNvSpPr txBox="1"/>
          <p:nvPr/>
        </p:nvSpPr>
        <p:spPr>
          <a:xfrm flipH="1">
            <a:off x="344557" y="1325217"/>
            <a:ext cx="11009243" cy="4185761"/>
          </a:xfrm>
          <a:prstGeom prst="rect">
            <a:avLst/>
          </a:prstGeom>
          <a:noFill/>
        </p:spPr>
        <p:txBody>
          <a:bodyPr wrap="square" rtlCol="0">
            <a:spAutoFit/>
          </a:bodyPr>
          <a:lstStyle/>
          <a:p>
            <a:pPr marL="571500" indent="-571500">
              <a:buFont typeface="Wingdings" panose="05000000000000000000" pitchFamily="2" charset="2"/>
              <a:buChar char="ü"/>
            </a:pPr>
            <a:r>
              <a:rPr lang="en-US" sz="4000" b="1" i="1" u="sng" dirty="0" smtClean="0">
                <a:solidFill>
                  <a:srgbClr val="FFFF00"/>
                </a:solidFill>
                <a:latin typeface="Times New Roman" panose="02020603050405020304" pitchFamily="18" charset="0"/>
                <a:cs typeface="Times New Roman" panose="02020603050405020304" pitchFamily="18" charset="0"/>
              </a:rPr>
              <a:t> Roles </a:t>
            </a:r>
            <a:r>
              <a:rPr lang="en-US" sz="4000" b="1" i="1" u="sng" dirty="0">
                <a:solidFill>
                  <a:srgbClr val="FFFF00"/>
                </a:solidFill>
                <a:latin typeface="Times New Roman" panose="02020603050405020304" pitchFamily="18" charset="0"/>
                <a:cs typeface="Times New Roman" panose="02020603050405020304" pitchFamily="18" charset="0"/>
              </a:rPr>
              <a:t>in a Web Service </a:t>
            </a:r>
            <a:r>
              <a:rPr lang="en-US" sz="4000" b="1" i="1" u="sng" dirty="0" smtClean="0">
                <a:solidFill>
                  <a:srgbClr val="FFFF00"/>
                </a:solidFill>
                <a:latin typeface="Times New Roman" panose="02020603050405020304" pitchFamily="18" charset="0"/>
                <a:cs typeface="Times New Roman" panose="02020603050405020304" pitchFamily="18" charset="0"/>
              </a:rPr>
              <a:t>Architecture:</a:t>
            </a:r>
          </a:p>
          <a:p>
            <a:endParaRPr lang="en-US" sz="4000" b="1" i="1" u="sng" dirty="0">
              <a:latin typeface="Times New Roman" panose="02020603050405020304" pitchFamily="18" charset="0"/>
              <a:cs typeface="Times New Roman" panose="02020603050405020304" pitchFamily="18" charset="0"/>
            </a:endParaRPr>
          </a:p>
          <a:p>
            <a:r>
              <a:rPr lang="en-US" sz="2400" dirty="0">
                <a:solidFill>
                  <a:schemeClr val="bg1"/>
                </a:solidFill>
                <a:latin typeface="Times New Roman" panose="02020603050405020304" pitchFamily="18" charset="0"/>
                <a:cs typeface="Times New Roman" panose="02020603050405020304" pitchFamily="18" charset="0"/>
              </a:rPr>
              <a:t>There are three roles in web service architecture</a:t>
            </a:r>
            <a:r>
              <a:rPr lang="en-US" sz="2400" dirty="0" smtClean="0">
                <a:solidFill>
                  <a:schemeClr val="bg1"/>
                </a:solidFill>
                <a:latin typeface="Times New Roman" panose="02020603050405020304" pitchFamily="18" charset="0"/>
                <a:cs typeface="Times New Roman" panose="02020603050405020304" pitchFamily="18" charset="0"/>
              </a:rPr>
              <a:t>:</a:t>
            </a:r>
          </a:p>
          <a:p>
            <a:endParaRPr lang="en-US" sz="2400"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Service </a:t>
            </a:r>
            <a:r>
              <a:rPr lang="en-US" sz="2400" dirty="0" smtClean="0">
                <a:solidFill>
                  <a:schemeClr val="bg1"/>
                </a:solidFill>
                <a:latin typeface="Times New Roman" panose="02020603050405020304" pitchFamily="18" charset="0"/>
                <a:cs typeface="Times New Roman" panose="02020603050405020304" pitchFamily="18" charset="0"/>
              </a:rPr>
              <a:t>Provider</a:t>
            </a:r>
          </a:p>
          <a:p>
            <a:endParaRPr lang="en-US" sz="2400"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Service </a:t>
            </a:r>
            <a:r>
              <a:rPr lang="en-US" sz="2400" dirty="0" smtClean="0">
                <a:solidFill>
                  <a:schemeClr val="bg1"/>
                </a:solidFill>
                <a:latin typeface="Times New Roman" panose="02020603050405020304" pitchFamily="18" charset="0"/>
                <a:cs typeface="Times New Roman" panose="02020603050405020304" pitchFamily="18" charset="0"/>
              </a:rPr>
              <a:t>Requestor</a:t>
            </a:r>
          </a:p>
          <a:p>
            <a:endParaRPr lang="en-US" sz="2400"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Service Registry</a:t>
            </a:r>
          </a:p>
          <a:p>
            <a:endParaRPr lang="en-US" dirty="0"/>
          </a:p>
        </p:txBody>
      </p:sp>
    </p:spTree>
    <p:extLst>
      <p:ext uri="{BB962C8B-B14F-4D97-AF65-F5344CB8AC3E}">
        <p14:creationId xmlns:p14="http://schemas.microsoft.com/office/powerpoint/2010/main" val="30137578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40000"/>
                <a:lumOff val="60000"/>
              </a:schemeClr>
            </a:gs>
            <a:gs pos="46000">
              <a:schemeClr val="accent5">
                <a:lumMod val="95000"/>
                <a:lumOff val="5000"/>
              </a:schemeClr>
            </a:gs>
            <a:gs pos="100000">
              <a:schemeClr val="accent5">
                <a:lumMod val="60000"/>
              </a:schemeClr>
            </a:gs>
          </a:gsLst>
          <a:lin ang="27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34886"/>
          </a:xfrm>
        </p:spPr>
        <p:txBody>
          <a:bodyPr anchor="t"/>
          <a:lstStyle/>
          <a:p>
            <a:pPr algn="ctr"/>
            <a:r>
              <a:rPr lang="en-US" b="1" u="sng" dirty="0">
                <a:latin typeface="Times New Roman" panose="02020603050405020304" pitchFamily="18" charset="0"/>
                <a:cs typeface="Times New Roman" panose="02020603050405020304" pitchFamily="18" charset="0"/>
              </a:rPr>
              <a:t>Architecture of Web Services</a:t>
            </a:r>
            <a:endParaRPr lang="en-US" dirty="0"/>
          </a:p>
        </p:txBody>
      </p:sp>
      <p:sp>
        <p:nvSpPr>
          <p:cNvPr id="4" name="TextBox 3"/>
          <p:cNvSpPr txBox="1"/>
          <p:nvPr/>
        </p:nvSpPr>
        <p:spPr>
          <a:xfrm flipH="1">
            <a:off x="0" y="689113"/>
            <a:ext cx="11059603" cy="707886"/>
          </a:xfrm>
          <a:prstGeom prst="rect">
            <a:avLst/>
          </a:prstGeom>
          <a:noFill/>
        </p:spPr>
        <p:txBody>
          <a:bodyPr wrap="square" rtlCol="0">
            <a:spAutoFit/>
          </a:bodyPr>
          <a:lstStyle/>
          <a:p>
            <a:pPr marL="571500" indent="-571500">
              <a:buFont typeface="Wingdings" panose="05000000000000000000" pitchFamily="2" charset="2"/>
              <a:buChar char="ü"/>
            </a:pPr>
            <a:r>
              <a:rPr lang="en-US" sz="4000" b="1" i="1" u="sng" dirty="0">
                <a:solidFill>
                  <a:srgbClr val="FFFF00"/>
                </a:solidFill>
                <a:latin typeface="Times New Roman" panose="02020603050405020304" pitchFamily="18" charset="0"/>
                <a:cs typeface="Times New Roman" panose="02020603050405020304" pitchFamily="18" charset="0"/>
              </a:rPr>
              <a:t>Roles in a Web Service Architecture:</a:t>
            </a:r>
          </a:p>
        </p:txBody>
      </p:sp>
      <p:sp>
        <p:nvSpPr>
          <p:cNvPr id="6" name="Rectangle 1"/>
          <p:cNvSpPr>
            <a:spLocks noChangeArrowheads="1"/>
          </p:cNvSpPr>
          <p:nvPr/>
        </p:nvSpPr>
        <p:spPr bwMode="auto">
          <a:xfrm>
            <a:off x="450574" y="1708665"/>
            <a:ext cx="11290852" cy="4708981"/>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514350" marR="0" lvl="0" indent="-514350" algn="justLow" defTabSz="914400" rtl="0" eaLnBrk="0" fontAlgn="base" latinLnBrk="0" hangingPunct="0">
              <a:lnSpc>
                <a:spcPct val="100000"/>
              </a:lnSpc>
              <a:spcBef>
                <a:spcPct val="0"/>
              </a:spcBef>
              <a:spcAft>
                <a:spcPct val="0"/>
              </a:spcAft>
              <a:buClrTx/>
              <a:buSzTx/>
              <a:buFont typeface="+mj-lt"/>
              <a:buAutoNum type="arabicPeriod"/>
              <a:tabLst/>
            </a:pPr>
            <a:r>
              <a:rPr kumimoji="0" lang="en-US" altLang="en-US" sz="2800" b="1" i="0" u="none" strike="noStrike" cap="none" normalizeH="0" baseline="0" dirty="0" smtClean="0">
                <a:ln>
                  <a:noFill/>
                </a:ln>
                <a:solidFill>
                  <a:srgbClr val="333333"/>
                </a:solidFill>
                <a:effectLst/>
                <a:latin typeface="inter-bold"/>
              </a:rPr>
              <a:t>Service Provider:</a:t>
            </a:r>
          </a:p>
          <a:p>
            <a:pPr marR="0" lvl="0" algn="justLow"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smtClean="0">
              <a:ln>
                <a:noFill/>
              </a:ln>
              <a:solidFill>
                <a:schemeClr val="tx1"/>
              </a:solidFill>
              <a:effectLst/>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333333"/>
                </a:solidFill>
                <a:effectLst/>
                <a:latin typeface="inter-regular"/>
              </a:rPr>
              <a:t>                From an architectural perspective, it is the platform that hosts the services</a:t>
            </a:r>
            <a:r>
              <a:rPr kumimoji="0" lang="en-US" altLang="en-US" sz="2400" b="0" i="0" u="none" strike="noStrike" cap="none" normalizeH="0" baseline="0" dirty="0" smtClean="0">
                <a:ln>
                  <a:noFill/>
                </a:ln>
                <a:solidFill>
                  <a:srgbClr val="333333"/>
                </a:solidFill>
                <a:effectLst/>
                <a:latin typeface="inter-regular"/>
              </a:rPr>
              <a:t>.</a:t>
            </a:r>
            <a:endParaRPr kumimoji="0" lang="en-US" altLang="en-US" sz="2000" b="0" i="0" u="none" strike="noStrike" cap="none" normalizeH="0" baseline="0" dirty="0" smtClean="0">
              <a:ln>
                <a:noFill/>
              </a:ln>
              <a:solidFill>
                <a:schemeClr val="tx1"/>
              </a:solidFill>
              <a:effectLst/>
            </a:endParaRPr>
          </a:p>
          <a:p>
            <a:pPr marR="0" lvl="0" algn="justLow"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smtClean="0">
                <a:ln>
                  <a:noFill/>
                </a:ln>
                <a:solidFill>
                  <a:srgbClr val="333333"/>
                </a:solidFill>
                <a:effectLst/>
                <a:latin typeface="inter-bold"/>
              </a:rPr>
              <a:t>2. Service Requestor:</a:t>
            </a:r>
          </a:p>
          <a:p>
            <a:pPr marR="0" lvl="0" algn="justLow"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smtClean="0">
              <a:ln>
                <a:noFill/>
              </a:ln>
              <a:solidFill>
                <a:schemeClr val="tx1"/>
              </a:solidFill>
              <a:effectLst/>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333333"/>
                </a:solidFill>
                <a:effectLst/>
                <a:latin typeface="inter-regular"/>
              </a:rPr>
              <a:t>                  Service requestor is the application that is looking for and invoking or initiating an interaction with a service. The browser plays the requester role, driven by a consumer or a program </a:t>
            </a: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333333"/>
                </a:solidFill>
                <a:effectLst/>
                <a:latin typeface="inter-regular"/>
              </a:rPr>
              <a:t>without a user interface.</a:t>
            </a:r>
            <a:endParaRPr kumimoji="0" lang="en-US" altLang="en-US" sz="2400" b="0" i="0" u="none" strike="noStrike" cap="none" normalizeH="0" baseline="0" dirty="0" smtClean="0">
              <a:ln>
                <a:noFill/>
              </a:ln>
              <a:solidFill>
                <a:schemeClr val="tx1"/>
              </a:solidFill>
              <a:effectLst/>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smtClean="0">
                <a:ln>
                  <a:noFill/>
                </a:ln>
                <a:solidFill>
                  <a:srgbClr val="333333"/>
                </a:solidFill>
                <a:effectLst/>
                <a:latin typeface="inter-bold"/>
              </a:rPr>
              <a:t>3. Service Registry:</a:t>
            </a:r>
          </a:p>
          <a:p>
            <a:pPr marL="0" marR="0" lvl="0" indent="0" algn="justLow"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endParaRPr>
          </a:p>
          <a:p>
            <a:pPr marL="0" marR="0" lvl="0" indent="0" algn="justLow"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333333"/>
                </a:solidFill>
                <a:effectLst/>
                <a:latin typeface="inter-regular"/>
              </a:rPr>
              <a:t>                   Service requestors find service and obtain binding information for services during development.</a:t>
            </a:r>
            <a:endParaRPr kumimoji="0" lang="en-US" altLang="en-US" sz="32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685887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accent5">
                <a:lumMod val="60000"/>
              </a:schemeClr>
            </a:gs>
          </a:gsLst>
          <a:lin ang="27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914399"/>
          </a:xfrm>
        </p:spPr>
        <p:txBody>
          <a:bodyPr anchor="t"/>
          <a:lstStyle/>
          <a:p>
            <a:pPr algn="ctr"/>
            <a:r>
              <a:rPr lang="en-US" b="1" u="sng" dirty="0">
                <a:latin typeface="Times New Roman" panose="02020603050405020304" pitchFamily="18" charset="0"/>
                <a:cs typeface="Times New Roman" panose="02020603050405020304" pitchFamily="18" charset="0"/>
              </a:rPr>
              <a:t>Architecture of Web Services</a:t>
            </a:r>
            <a:endParaRPr lang="en-US" dirty="0"/>
          </a:p>
        </p:txBody>
      </p:sp>
      <p:sp>
        <p:nvSpPr>
          <p:cNvPr id="3" name="TextBox 2"/>
          <p:cNvSpPr txBox="1"/>
          <p:nvPr/>
        </p:nvSpPr>
        <p:spPr>
          <a:xfrm flipH="1">
            <a:off x="-1" y="914400"/>
            <a:ext cx="11542643" cy="4893647"/>
          </a:xfrm>
          <a:prstGeom prst="rect">
            <a:avLst/>
          </a:prstGeom>
          <a:noFill/>
        </p:spPr>
        <p:txBody>
          <a:bodyPr wrap="square" rtlCol="0">
            <a:spAutoFit/>
          </a:bodyPr>
          <a:lstStyle/>
          <a:p>
            <a:pPr marL="571500" indent="-571500">
              <a:buFont typeface="Wingdings" panose="05000000000000000000" pitchFamily="2" charset="2"/>
              <a:buChar char="ü"/>
            </a:pPr>
            <a:endParaRPr lang="en-US" sz="4000" b="1" i="1" u="sng" dirty="0" smtClean="0">
              <a:solidFill>
                <a:srgbClr val="FFFF00"/>
              </a:solidFill>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ü"/>
            </a:pPr>
            <a:r>
              <a:rPr lang="en-US" sz="4000" b="1" i="1" u="sng" dirty="0" smtClean="0">
                <a:solidFill>
                  <a:srgbClr val="FFFF00"/>
                </a:solidFill>
                <a:latin typeface="Times New Roman" panose="02020603050405020304" pitchFamily="18" charset="0"/>
                <a:cs typeface="Times New Roman" panose="02020603050405020304" pitchFamily="18" charset="0"/>
              </a:rPr>
              <a:t>Operations </a:t>
            </a:r>
            <a:r>
              <a:rPr lang="en-US" sz="4000" b="1" i="1" u="sng" dirty="0">
                <a:solidFill>
                  <a:srgbClr val="FFFF00"/>
                </a:solidFill>
                <a:latin typeface="Times New Roman" panose="02020603050405020304" pitchFamily="18" charset="0"/>
                <a:cs typeface="Times New Roman" panose="02020603050405020304" pitchFamily="18" charset="0"/>
              </a:rPr>
              <a:t>in a Web Service </a:t>
            </a:r>
            <a:r>
              <a:rPr lang="en-US" sz="4000" b="1" i="1" u="sng" dirty="0" smtClean="0">
                <a:solidFill>
                  <a:srgbClr val="FFFF00"/>
                </a:solidFill>
                <a:latin typeface="Times New Roman" panose="02020603050405020304" pitchFamily="18" charset="0"/>
                <a:cs typeface="Times New Roman" panose="02020603050405020304" pitchFamily="18" charset="0"/>
              </a:rPr>
              <a:t>Architecture:</a:t>
            </a:r>
          </a:p>
          <a:p>
            <a:endParaRPr lang="en-US" sz="4000" b="1" i="1" u="sng" dirty="0">
              <a:solidFill>
                <a:srgbClr val="FFFF00"/>
              </a:solidFill>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    </a:t>
            </a:r>
            <a:r>
              <a:rPr lang="en-US" sz="2400" dirty="0" smtClean="0">
                <a:solidFill>
                  <a:schemeClr val="bg1"/>
                </a:solidFill>
                <a:latin typeface="Times New Roman" panose="02020603050405020304" pitchFamily="18" charset="0"/>
                <a:cs typeface="Times New Roman" panose="02020603050405020304" pitchFamily="18" charset="0"/>
              </a:rPr>
              <a:t>Three </a:t>
            </a:r>
            <a:r>
              <a:rPr lang="en-US" sz="2400" dirty="0">
                <a:solidFill>
                  <a:schemeClr val="bg1"/>
                </a:solidFill>
                <a:latin typeface="Times New Roman" panose="02020603050405020304" pitchFamily="18" charset="0"/>
                <a:cs typeface="Times New Roman" panose="02020603050405020304" pitchFamily="18" charset="0"/>
              </a:rPr>
              <a:t>behaviors that take place in the </a:t>
            </a:r>
            <a:r>
              <a:rPr lang="en-US" sz="2400" dirty="0" err="1">
                <a:solidFill>
                  <a:schemeClr val="bg1"/>
                </a:solidFill>
                <a:latin typeface="Times New Roman" panose="02020603050405020304" pitchFamily="18" charset="0"/>
                <a:cs typeface="Times New Roman" panose="02020603050405020304" pitchFamily="18" charset="0"/>
              </a:rPr>
              <a:t>microservices</a:t>
            </a:r>
            <a:r>
              <a:rPr lang="en-US" sz="2400" dirty="0" smtClean="0">
                <a:solidFill>
                  <a:schemeClr val="bg1"/>
                </a:solidFill>
                <a:latin typeface="Times New Roman" panose="02020603050405020304" pitchFamily="18" charset="0"/>
                <a:cs typeface="Times New Roman" panose="02020603050405020304" pitchFamily="18" charset="0"/>
              </a:rPr>
              <a:t>:</a:t>
            </a:r>
          </a:p>
          <a:p>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solidFill>
                  <a:schemeClr val="bg1"/>
                </a:solidFill>
                <a:latin typeface="Times New Roman" panose="02020603050405020304" pitchFamily="18" charset="0"/>
                <a:cs typeface="Times New Roman" panose="02020603050405020304" pitchFamily="18" charset="0"/>
              </a:rPr>
              <a:t>    Publication </a:t>
            </a:r>
            <a:r>
              <a:rPr lang="en-US" sz="2400" dirty="0">
                <a:solidFill>
                  <a:schemeClr val="bg1"/>
                </a:solidFill>
                <a:latin typeface="Times New Roman" panose="02020603050405020304" pitchFamily="18" charset="0"/>
                <a:cs typeface="Times New Roman" panose="02020603050405020304" pitchFamily="18" charset="0"/>
              </a:rPr>
              <a:t>of service descriptions </a:t>
            </a:r>
            <a:r>
              <a:rPr lang="en-US" sz="2400" b="1" dirty="0">
                <a:solidFill>
                  <a:schemeClr val="bg1"/>
                </a:solidFill>
                <a:latin typeface="Times New Roman" panose="02020603050405020304" pitchFamily="18" charset="0"/>
                <a:cs typeface="Times New Roman" panose="02020603050405020304" pitchFamily="18" charset="0"/>
              </a:rPr>
              <a:t>(Publish</a:t>
            </a:r>
            <a:r>
              <a:rPr lang="en-US" sz="2400" b="1" dirty="0" smtClean="0">
                <a:solidFill>
                  <a:schemeClr val="bg1"/>
                </a:solidFill>
                <a:latin typeface="Times New Roman" panose="02020603050405020304" pitchFamily="18" charset="0"/>
                <a:cs typeface="Times New Roman" panose="02020603050405020304" pitchFamily="18" charset="0"/>
              </a:rPr>
              <a:t>)</a:t>
            </a:r>
          </a:p>
          <a:p>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solidFill>
                  <a:schemeClr val="bg1"/>
                </a:solidFill>
                <a:latin typeface="Times New Roman" panose="02020603050405020304" pitchFamily="18" charset="0"/>
                <a:cs typeface="Times New Roman" panose="02020603050405020304" pitchFamily="18" charset="0"/>
              </a:rPr>
              <a:t>    Finding </a:t>
            </a:r>
            <a:r>
              <a:rPr lang="en-US" sz="2400" dirty="0">
                <a:solidFill>
                  <a:schemeClr val="bg1"/>
                </a:solidFill>
                <a:latin typeface="Times New Roman" panose="02020603050405020304" pitchFamily="18" charset="0"/>
                <a:cs typeface="Times New Roman" panose="02020603050405020304" pitchFamily="18" charset="0"/>
              </a:rPr>
              <a:t>of services descriptions </a:t>
            </a:r>
            <a:r>
              <a:rPr lang="en-US" sz="2400" b="1" dirty="0">
                <a:solidFill>
                  <a:schemeClr val="bg1"/>
                </a:solidFill>
                <a:latin typeface="Times New Roman" panose="02020603050405020304" pitchFamily="18" charset="0"/>
                <a:cs typeface="Times New Roman" panose="02020603050405020304" pitchFamily="18" charset="0"/>
              </a:rPr>
              <a:t>(Find</a:t>
            </a:r>
            <a:r>
              <a:rPr lang="en-US" sz="2400" b="1" dirty="0" smtClean="0">
                <a:solidFill>
                  <a:schemeClr val="bg1"/>
                </a:solidFill>
                <a:latin typeface="Times New Roman" panose="02020603050405020304" pitchFamily="18" charset="0"/>
                <a:cs typeface="Times New Roman" panose="02020603050405020304" pitchFamily="18" charset="0"/>
              </a:rPr>
              <a:t>)</a:t>
            </a:r>
          </a:p>
          <a:p>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smtClean="0">
                <a:solidFill>
                  <a:schemeClr val="bg1"/>
                </a:solidFill>
                <a:latin typeface="Times New Roman" panose="02020603050405020304" pitchFamily="18" charset="0"/>
                <a:cs typeface="Times New Roman" panose="02020603050405020304" pitchFamily="18" charset="0"/>
              </a:rPr>
              <a:t>    Invoking </a:t>
            </a:r>
            <a:r>
              <a:rPr lang="en-US" sz="2400" dirty="0">
                <a:solidFill>
                  <a:schemeClr val="bg1"/>
                </a:solidFill>
                <a:latin typeface="Times New Roman" panose="02020603050405020304" pitchFamily="18" charset="0"/>
                <a:cs typeface="Times New Roman" panose="02020603050405020304" pitchFamily="18" charset="0"/>
              </a:rPr>
              <a:t>of service based on service descriptions </a:t>
            </a:r>
            <a:r>
              <a:rPr lang="en-US" sz="2400" b="1" dirty="0">
                <a:solidFill>
                  <a:schemeClr val="bg1"/>
                </a:solidFill>
                <a:latin typeface="Times New Roman" panose="02020603050405020304" pitchFamily="18" charset="0"/>
                <a:cs typeface="Times New Roman" panose="02020603050405020304" pitchFamily="18" charset="0"/>
              </a:rPr>
              <a:t>(Bind</a:t>
            </a:r>
            <a:r>
              <a:rPr lang="en-US" sz="2400" b="1" dirty="0" smtClean="0">
                <a:solidFill>
                  <a:schemeClr val="bg1"/>
                </a:solidFill>
                <a:latin typeface="Times New Roman" panose="02020603050405020304" pitchFamily="18" charset="0"/>
                <a:cs typeface="Times New Roman" panose="02020603050405020304" pitchFamily="18" charset="0"/>
              </a:rPr>
              <a:t>)</a:t>
            </a:r>
          </a:p>
          <a:p>
            <a:endParaRPr lang="en-US"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88660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40000"/>
                <a:lumOff val="60000"/>
              </a:schemeClr>
            </a:gs>
            <a:gs pos="46000">
              <a:schemeClr val="accent5">
                <a:lumMod val="95000"/>
                <a:lumOff val="5000"/>
              </a:schemeClr>
            </a:gs>
            <a:gs pos="100000">
              <a:schemeClr val="accent5">
                <a:lumMod val="60000"/>
              </a:schemeClr>
            </a:gs>
          </a:gsLst>
          <a:lin ang="27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08382"/>
          </a:xfrm>
        </p:spPr>
        <p:txBody>
          <a:bodyPr anchor="t"/>
          <a:lstStyle/>
          <a:p>
            <a:pPr algn="ctr"/>
            <a:r>
              <a:rPr lang="en-US" b="1" u="sng" dirty="0">
                <a:latin typeface="Times New Roman" panose="02020603050405020304" pitchFamily="18" charset="0"/>
                <a:cs typeface="Times New Roman" panose="02020603050405020304" pitchFamily="18" charset="0"/>
              </a:rPr>
              <a:t>Architecture of Web Services</a:t>
            </a:r>
            <a:endParaRPr lang="en-US" dirty="0"/>
          </a:p>
        </p:txBody>
      </p:sp>
      <p:sp>
        <p:nvSpPr>
          <p:cNvPr id="4" name="TextBox 3"/>
          <p:cNvSpPr txBox="1"/>
          <p:nvPr/>
        </p:nvSpPr>
        <p:spPr>
          <a:xfrm>
            <a:off x="251791" y="927652"/>
            <a:ext cx="10946296" cy="707886"/>
          </a:xfrm>
          <a:prstGeom prst="rect">
            <a:avLst/>
          </a:prstGeom>
          <a:noFill/>
        </p:spPr>
        <p:txBody>
          <a:bodyPr wrap="square" rtlCol="0">
            <a:spAutoFit/>
          </a:bodyPr>
          <a:lstStyle/>
          <a:p>
            <a:pPr marL="571500" indent="-571500">
              <a:buFont typeface="Wingdings" panose="05000000000000000000" pitchFamily="2" charset="2"/>
              <a:buChar char="ü"/>
            </a:pPr>
            <a:r>
              <a:rPr lang="en-US" sz="4000" b="1" i="1" u="sng" dirty="0">
                <a:solidFill>
                  <a:srgbClr val="FFFF00"/>
                </a:solidFill>
                <a:latin typeface="Times New Roman" panose="02020603050405020304" pitchFamily="18" charset="0"/>
                <a:cs typeface="Times New Roman" panose="02020603050405020304" pitchFamily="18" charset="0"/>
              </a:rPr>
              <a:t>Operations in a Web Service Architecture:</a:t>
            </a:r>
          </a:p>
        </p:txBody>
      </p:sp>
      <p:sp>
        <p:nvSpPr>
          <p:cNvPr id="5" name="TextBox 4"/>
          <p:cNvSpPr txBox="1"/>
          <p:nvPr/>
        </p:nvSpPr>
        <p:spPr>
          <a:xfrm>
            <a:off x="838200" y="1733823"/>
            <a:ext cx="10995991" cy="4893647"/>
          </a:xfrm>
          <a:prstGeom prst="rect">
            <a:avLst/>
          </a:prstGeom>
          <a:noFill/>
        </p:spPr>
        <p:txBody>
          <a:bodyPr wrap="square" rtlCol="0">
            <a:spAutoFit/>
          </a:bodyPr>
          <a:lstStyle/>
          <a:p>
            <a:pPr marL="285750" indent="-285750">
              <a:buFont typeface="Arial" panose="020B0604020202020204" pitchFamily="34" charset="0"/>
              <a:buChar char="•"/>
            </a:pPr>
            <a:r>
              <a:rPr lang="en-US" sz="2400" b="1" dirty="0">
                <a:solidFill>
                  <a:schemeClr val="bg1"/>
                </a:solidFill>
                <a:latin typeface="Times New Roman" panose="02020603050405020304" pitchFamily="18" charset="0"/>
                <a:cs typeface="Times New Roman" panose="02020603050405020304" pitchFamily="18" charset="0"/>
              </a:rPr>
              <a:t>Publish:</a:t>
            </a:r>
            <a:r>
              <a:rPr lang="en-US" sz="2400" dirty="0">
                <a:solidFill>
                  <a:schemeClr val="bg1"/>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 the publish operation, a service description must be published so that a service requester can find the </a:t>
            </a:r>
            <a:r>
              <a:rPr lang="en-US" sz="2400" dirty="0" smtClean="0">
                <a:latin typeface="Times New Roman" panose="02020603050405020304" pitchFamily="18" charset="0"/>
                <a:cs typeface="Times New Roman" panose="02020603050405020304" pitchFamily="18" charset="0"/>
              </a:rPr>
              <a:t>service</a:t>
            </a:r>
          </a:p>
          <a:p>
            <a:pPr marL="285750" indent="-28575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b="1" dirty="0">
                <a:solidFill>
                  <a:schemeClr val="bg1"/>
                </a:solidFill>
                <a:latin typeface="Times New Roman" panose="02020603050405020304" pitchFamily="18" charset="0"/>
                <a:cs typeface="Times New Roman" panose="02020603050405020304" pitchFamily="18" charset="0"/>
              </a:rPr>
              <a:t>Find:</a:t>
            </a:r>
            <a:r>
              <a:rPr lang="en-US" sz="2400" dirty="0">
                <a:latin typeface="Times New Roman" panose="02020603050405020304" pitchFamily="18" charset="0"/>
                <a:cs typeface="Times New Roman" panose="02020603050405020304" pitchFamily="18" charset="0"/>
              </a:rPr>
              <a:t> In the find operation, the service requestor retrieves the service description directly. It can be involved in two different lifecycle phases for the service requestor:</a:t>
            </a:r>
          </a:p>
          <a:p>
            <a:r>
              <a:rPr lang="en-US" sz="2400" dirty="0" smtClean="0">
                <a:latin typeface="Times New Roman" panose="02020603050405020304" pitchFamily="18" charset="0"/>
                <a:cs typeface="Times New Roman" panose="02020603050405020304" pitchFamily="18" charset="0"/>
              </a:rPr>
              <a:t>1. At </a:t>
            </a:r>
            <a:r>
              <a:rPr lang="en-US" sz="2400" dirty="0">
                <a:latin typeface="Times New Roman" panose="02020603050405020304" pitchFamily="18" charset="0"/>
                <a:cs typeface="Times New Roman" panose="02020603050405020304" pitchFamily="18" charset="0"/>
              </a:rPr>
              <a:t>design, time to retrieve the service's interface description for program development.</a:t>
            </a:r>
          </a:p>
          <a:p>
            <a:r>
              <a:rPr lang="en-US" sz="2400" dirty="0" smtClean="0">
                <a:latin typeface="Times New Roman" panose="02020603050405020304" pitchFamily="18" charset="0"/>
                <a:cs typeface="Times New Roman" panose="02020603050405020304" pitchFamily="18" charset="0"/>
              </a:rPr>
              <a:t>2. And</a:t>
            </a:r>
            <a:r>
              <a:rPr lang="en-US" sz="2400" dirty="0">
                <a:latin typeface="Times New Roman" panose="02020603050405020304" pitchFamily="18" charset="0"/>
                <a:cs typeface="Times New Roman" panose="02020603050405020304" pitchFamily="18" charset="0"/>
              </a:rPr>
              <a:t>, at the runtime to retrieve the service's binding and location description for invocation</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400" b="1" dirty="0">
                <a:solidFill>
                  <a:schemeClr val="bg1"/>
                </a:solidFill>
                <a:latin typeface="Times New Roman" panose="02020603050405020304" pitchFamily="18" charset="0"/>
                <a:cs typeface="Times New Roman" panose="02020603050405020304" pitchFamily="18" charset="0"/>
              </a:rPr>
              <a:t>Bind:</a:t>
            </a:r>
            <a:r>
              <a:rPr lang="en-US" sz="2400" dirty="0">
                <a:latin typeface="Times New Roman" panose="02020603050405020304" pitchFamily="18" charset="0"/>
                <a:cs typeface="Times New Roman" panose="02020603050405020304" pitchFamily="18" charset="0"/>
              </a:rPr>
              <a:t> In the bind operation, the service requestor invokes or initiates an interaction with the service at runtime using the binding details in the service description to locate, contact, and invoke the service.</a:t>
            </a:r>
          </a:p>
        </p:txBody>
      </p:sp>
    </p:spTree>
    <p:extLst>
      <p:ext uri="{BB962C8B-B14F-4D97-AF65-F5344CB8AC3E}">
        <p14:creationId xmlns:p14="http://schemas.microsoft.com/office/powerpoint/2010/main" val="13201452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accent5">
                <a:lumMod val="60000"/>
              </a:schemeClr>
            </a:gs>
          </a:gsLst>
          <a:lin ang="2700000" scaled="1"/>
          <a:tileRect/>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0" y="-2555"/>
            <a:ext cx="12192000" cy="13615313"/>
          </a:xfrm>
        </p:spPr>
        <p:txBody>
          <a:bodyPr anchor="t">
            <a:normAutofit/>
          </a:bodyPr>
          <a:lstStyle/>
          <a:p>
            <a:pPr algn="ctr">
              <a:lnSpc>
                <a:spcPct val="100000"/>
              </a:lnSpc>
            </a:pPr>
            <a:r>
              <a:rPr lang="en-US" sz="4000" b="1" u="sng" dirty="0" smtClean="0">
                <a:latin typeface="Times New Roman" panose="02020603050405020304" pitchFamily="18" charset="0"/>
                <a:cs typeface="Times New Roman" panose="02020603050405020304" pitchFamily="18" charset="0"/>
              </a:rPr>
              <a:t>Web Service Operations</a:t>
            </a:r>
            <a:br>
              <a:rPr lang="en-US" sz="4000" b="1" u="sng" dirty="0" smtClean="0">
                <a:latin typeface="Times New Roman" panose="02020603050405020304" pitchFamily="18" charset="0"/>
                <a:cs typeface="Times New Roman" panose="02020603050405020304" pitchFamily="18" charset="0"/>
              </a:rPr>
            </a:br>
            <a:r>
              <a:rPr lang="en-US" sz="4000" b="1" u="sng" dirty="0" smtClean="0">
                <a:latin typeface="Times New Roman" panose="02020603050405020304" pitchFamily="18" charset="0"/>
                <a:cs typeface="Times New Roman" panose="02020603050405020304" pitchFamily="18" charset="0"/>
              </a:rPr>
              <a:t/>
            </a:r>
            <a:br>
              <a:rPr lang="en-US" sz="4000" b="1" u="sng" dirty="0" smtClean="0">
                <a:latin typeface="Times New Roman" panose="02020603050405020304" pitchFamily="18" charset="0"/>
                <a:cs typeface="Times New Roman" panose="02020603050405020304" pitchFamily="18" charset="0"/>
              </a:rPr>
            </a:br>
            <a:r>
              <a:rPr lang="en-US" sz="2400" dirty="0" smtClean="0">
                <a:solidFill>
                  <a:srgbClr val="FFFF00"/>
                </a:solidFill>
                <a:latin typeface="Times New Roman" panose="02020603050405020304" pitchFamily="18" charset="0"/>
                <a:cs typeface="Times New Roman" panose="02020603050405020304" pitchFamily="18" charset="0"/>
              </a:rPr>
              <a:t>Web </a:t>
            </a:r>
            <a:r>
              <a:rPr lang="en-US" sz="2400" dirty="0">
                <a:solidFill>
                  <a:srgbClr val="FFFF00"/>
                </a:solidFill>
                <a:latin typeface="Times New Roman" panose="02020603050405020304" pitchFamily="18" charset="0"/>
                <a:cs typeface="Times New Roman" panose="02020603050405020304" pitchFamily="18" charset="0"/>
              </a:rPr>
              <a:t>service operations refer to the methods or functions provided by a web service that can be accessed and invoked remotely using standard web protocols such as HTTP or SOAP. </a:t>
            </a:r>
            <a:r>
              <a:rPr lang="en-US" sz="2400" dirty="0" smtClean="0">
                <a:solidFill>
                  <a:srgbClr val="FFFF00"/>
                </a:solidFill>
                <a:latin typeface="Times New Roman" panose="02020603050405020304" pitchFamily="18" charset="0"/>
                <a:cs typeface="Times New Roman" panose="02020603050405020304" pitchFamily="18" charset="0"/>
              </a:rPr>
              <a:t>These operations </a:t>
            </a:r>
            <a:r>
              <a:rPr lang="en-US" sz="2400" dirty="0">
                <a:solidFill>
                  <a:srgbClr val="FFFF00"/>
                </a:solidFill>
                <a:latin typeface="Times New Roman" panose="02020603050405020304" pitchFamily="18" charset="0"/>
                <a:cs typeface="Times New Roman" panose="02020603050405020304" pitchFamily="18" charset="0"/>
              </a:rPr>
              <a:t>allow clients to interact with and request data from the web service, making it a powerful tool for sharing and exchanging information between different systems and applications</a:t>
            </a:r>
            <a:r>
              <a:rPr lang="en-US" sz="2400" dirty="0" smtClean="0">
                <a:solidFill>
                  <a:srgbClr val="FFFF00"/>
                </a:solidFill>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4000" b="1" u="sng" dirty="0" smtClean="0">
                <a:latin typeface="Times New Roman" panose="02020603050405020304" pitchFamily="18" charset="0"/>
                <a:cs typeface="Times New Roman" panose="02020603050405020304" pitchFamily="18" charset="0"/>
              </a:rPr>
              <a:t/>
            </a:r>
            <a:br>
              <a:rPr lang="en-US" sz="4000" b="1" u="sng" dirty="0" smtClean="0">
                <a:latin typeface="Times New Roman" panose="02020603050405020304" pitchFamily="18" charset="0"/>
                <a:cs typeface="Times New Roman" panose="02020603050405020304" pitchFamily="18" charset="0"/>
              </a:rPr>
            </a:br>
            <a:endParaRPr lang="en-US" sz="4000" b="1" u="sng" dirty="0">
              <a:latin typeface="Times New Roman" panose="02020603050405020304" pitchFamily="18" charset="0"/>
              <a:cs typeface="Times New Roman" panose="02020603050405020304" pitchFamily="18" charset="0"/>
            </a:endParaRPr>
          </a:p>
        </p:txBody>
      </p:sp>
      <p:pic>
        <p:nvPicPr>
          <p:cNvPr id="1026" name="Picture 2" descr="Create a crud operation based apps and api,s by Malikbilal823 | Fiver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324" y="2957391"/>
            <a:ext cx="5315641" cy="351348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What Is CRUD? Definition, Meaning, and Operation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4968" y="2957391"/>
            <a:ext cx="5486400" cy="3505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8459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accent5">
                <a:lumMod val="60000"/>
              </a:schemeClr>
            </a:gs>
          </a:gsLst>
          <a:lin ang="2700000" scaled="1"/>
          <a:tileRect/>
        </a:gra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p:txBody>
          <a:bodyPr anchor="t">
            <a:normAutofit/>
          </a:bodyPr>
          <a:lstStyle/>
          <a:p>
            <a:pPr algn="ctr"/>
            <a:r>
              <a:rPr lang="en-US" sz="4000" b="1" u="sng" dirty="0" smtClean="0">
                <a:latin typeface="Times New Roman" panose="02020603050405020304" pitchFamily="18" charset="0"/>
                <a:cs typeface="Times New Roman" panose="02020603050405020304" pitchFamily="18" charset="0"/>
              </a:rPr>
              <a:t>Web Service Operations</a:t>
            </a:r>
            <a:endParaRPr lang="en-US" sz="4000" b="1" u="sng" dirty="0">
              <a:latin typeface="Times New Roman" panose="02020603050405020304" pitchFamily="18" charset="0"/>
              <a:cs typeface="Times New Roman" panose="02020603050405020304" pitchFamily="18" charset="0"/>
            </a:endParaRPr>
          </a:p>
        </p:txBody>
      </p:sp>
      <p:sp>
        <p:nvSpPr>
          <p:cNvPr id="12" name="Content Placeholder 11"/>
          <p:cNvSpPr>
            <a:spLocks noGrp="1"/>
          </p:cNvSpPr>
          <p:nvPr>
            <p:ph sz="half" idx="2"/>
          </p:nvPr>
        </p:nvSpPr>
        <p:spPr>
          <a:xfrm>
            <a:off x="251790" y="3281287"/>
            <a:ext cx="11103598" cy="3384556"/>
          </a:xfrm>
        </p:spPr>
        <p:txBody>
          <a:bodyPr>
            <a:normAutofit/>
          </a:bodyPr>
          <a:lstStyle/>
          <a:p>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import java.net.*;</a:t>
            </a:r>
          </a:p>
          <a:p>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import java.io.*;</a:t>
            </a:r>
          </a:p>
          <a:p>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public class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WeatherServiceClient</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p>
          <a:p>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public static void main(String[]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args</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throws Exception {</a:t>
            </a:r>
          </a:p>
          <a:p>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URL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url</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 new URL("http://weather.com/</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gettemp?location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NewYork</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HttpURLConnection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con =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HttpURLConnection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url.openConnection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endParaRPr lang="en-US" dirty="0"/>
          </a:p>
        </p:txBody>
      </p:sp>
      <p:sp>
        <p:nvSpPr>
          <p:cNvPr id="7" name="Rectangle 6"/>
          <p:cNvSpPr/>
          <p:nvPr/>
        </p:nvSpPr>
        <p:spPr>
          <a:xfrm>
            <a:off x="384311" y="1099931"/>
            <a:ext cx="11582401" cy="1446550"/>
          </a:xfrm>
          <a:prstGeom prst="rect">
            <a:avLst/>
          </a:prstGeom>
        </p:spPr>
        <p:txBody>
          <a:bodyPr wrap="square">
            <a:spAutoFit/>
          </a:bodyPr>
          <a:lstStyle/>
          <a:p>
            <a:r>
              <a:rPr lang="en-US" sz="4000" b="1" i="1" u="sng" dirty="0" smtClean="0">
                <a:solidFill>
                  <a:srgbClr val="FFFF00"/>
                </a:solidFill>
                <a:latin typeface="Times New Roman" panose="02020603050405020304" pitchFamily="18" charset="0"/>
                <a:cs typeface="Times New Roman" panose="02020603050405020304" pitchFamily="18" charset="0"/>
              </a:rPr>
              <a:t>1</a:t>
            </a:r>
            <a:r>
              <a:rPr lang="en-US" sz="4000" b="1" i="1" u="sng" dirty="0">
                <a:solidFill>
                  <a:srgbClr val="FFFF00"/>
                </a:solidFill>
                <a:latin typeface="Times New Roman" panose="02020603050405020304" pitchFamily="18" charset="0"/>
                <a:cs typeface="Times New Roman" panose="02020603050405020304" pitchFamily="18" charset="0"/>
              </a:rPr>
              <a:t>. Get: </a:t>
            </a:r>
            <a:r>
              <a:rPr lang="en-US" sz="2400" dirty="0">
                <a:latin typeface="Times New Roman" panose="02020603050405020304" pitchFamily="18" charset="0"/>
                <a:cs typeface="Times New Roman" panose="02020603050405020304" pitchFamily="18" charset="0"/>
              </a:rPr>
              <a:t>This operation is used to retrieve data or information from a web service. The client sends a request to the web service, specifying the data to be retrieved and the web service returns the requested data in response.</a:t>
            </a:r>
          </a:p>
        </p:txBody>
      </p:sp>
      <p:sp>
        <p:nvSpPr>
          <p:cNvPr id="9" name="TextBox 8"/>
          <p:cNvSpPr txBox="1"/>
          <p:nvPr/>
        </p:nvSpPr>
        <p:spPr>
          <a:xfrm>
            <a:off x="384311" y="2546481"/>
            <a:ext cx="2610680" cy="523220"/>
          </a:xfrm>
          <a:prstGeom prst="rect">
            <a:avLst/>
          </a:prstGeom>
          <a:noFill/>
        </p:spPr>
        <p:txBody>
          <a:bodyPr wrap="square" rtlCol="0">
            <a:spAutoFit/>
          </a:bodyPr>
          <a:lstStyle/>
          <a:p>
            <a:r>
              <a:rPr lang="en-US" sz="2800" b="1" dirty="0" smtClean="0">
                <a:solidFill>
                  <a:schemeClr val="bg1"/>
                </a:solidFill>
              </a:rPr>
              <a:t>Example:</a:t>
            </a:r>
            <a:endParaRPr lang="en-US" sz="2800" b="1" dirty="0">
              <a:solidFill>
                <a:schemeClr val="bg1"/>
              </a:solidFill>
            </a:endParaRPr>
          </a:p>
        </p:txBody>
      </p:sp>
    </p:spTree>
    <p:extLst>
      <p:ext uri="{BB962C8B-B14F-4D97-AF65-F5344CB8AC3E}">
        <p14:creationId xmlns:p14="http://schemas.microsoft.com/office/powerpoint/2010/main" val="242693067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accent5">
                <a:lumMod val="60000"/>
              </a:schemeClr>
            </a:gs>
          </a:gsLst>
          <a:lin ang="2700000" scaled="1"/>
          <a:tileRect/>
        </a:gra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38200" y="0"/>
            <a:ext cx="10515600" cy="689113"/>
          </a:xfrm>
        </p:spPr>
        <p:txBody>
          <a:bodyPr anchor="t">
            <a:normAutofit/>
          </a:bodyPr>
          <a:lstStyle/>
          <a:p>
            <a:pPr algn="ctr"/>
            <a:r>
              <a:rPr lang="en-US" sz="4000" b="1" u="sng" dirty="0" smtClean="0">
                <a:latin typeface="Times New Roman" panose="02020603050405020304" pitchFamily="18" charset="0"/>
                <a:cs typeface="Times New Roman" panose="02020603050405020304" pitchFamily="18" charset="0"/>
              </a:rPr>
              <a:t>Web Service Operations</a:t>
            </a:r>
            <a:endParaRPr lang="en-US" sz="4000" b="1" u="sng" dirty="0">
              <a:latin typeface="Times New Roman" panose="02020603050405020304" pitchFamily="18" charset="0"/>
              <a:cs typeface="Times New Roman" panose="02020603050405020304" pitchFamily="18" charset="0"/>
            </a:endParaRPr>
          </a:p>
        </p:txBody>
      </p:sp>
      <p:sp>
        <p:nvSpPr>
          <p:cNvPr id="8" name="TextBox 7"/>
          <p:cNvSpPr txBox="1"/>
          <p:nvPr/>
        </p:nvSpPr>
        <p:spPr>
          <a:xfrm>
            <a:off x="838200" y="1046922"/>
            <a:ext cx="2461591" cy="369332"/>
          </a:xfrm>
          <a:prstGeom prst="rect">
            <a:avLst/>
          </a:prstGeom>
          <a:noFill/>
        </p:spPr>
        <p:txBody>
          <a:bodyPr wrap="square" rtlCol="0">
            <a:spAutoFit/>
          </a:bodyPr>
          <a:lstStyle/>
          <a:p>
            <a:endParaRPr lang="en-US" dirty="0"/>
          </a:p>
        </p:txBody>
      </p:sp>
      <p:sp>
        <p:nvSpPr>
          <p:cNvPr id="9" name="TextBox 8"/>
          <p:cNvSpPr txBox="1"/>
          <p:nvPr/>
        </p:nvSpPr>
        <p:spPr>
          <a:xfrm flipH="1">
            <a:off x="708328" y="862256"/>
            <a:ext cx="10645472" cy="4524315"/>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con.setRequestMethod</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("GET");</a:t>
            </a: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BufferedReader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in = new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BufferedReader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(new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InputStreamReader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con.getInputStream</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String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StringBuffer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response = new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StringBuffer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while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in.readLine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 null) {</a:t>
            </a: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response.append</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in.close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System.out.println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response.toString</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973835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accent5">
                <a:lumMod val="60000"/>
              </a:schemeClr>
            </a:gs>
          </a:gsLst>
          <a:lin ang="27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83095" y="1"/>
            <a:ext cx="11608905" cy="728870"/>
          </a:xfrm>
        </p:spPr>
        <p:txBody>
          <a:bodyPr anchor="t">
            <a:normAutofit/>
          </a:bodyPr>
          <a:lstStyle/>
          <a:p>
            <a:pPr algn="ctr"/>
            <a:r>
              <a:rPr lang="en-US" sz="4000" b="1" u="sng" dirty="0" smtClean="0">
                <a:latin typeface="Times New Roman" panose="02020603050405020304" pitchFamily="18" charset="0"/>
                <a:cs typeface="Times New Roman" panose="02020603050405020304" pitchFamily="18" charset="0"/>
              </a:rPr>
              <a:t>Web Service Operations</a:t>
            </a:r>
            <a:endParaRPr lang="en-US" sz="4000" b="1" u="sng" dirty="0">
              <a:latin typeface="Times New Roman" panose="02020603050405020304" pitchFamily="18" charset="0"/>
              <a:cs typeface="Times New Roman" panose="02020603050405020304" pitchFamily="18" charset="0"/>
            </a:endParaRPr>
          </a:p>
        </p:txBody>
      </p:sp>
      <p:sp>
        <p:nvSpPr>
          <p:cNvPr id="6" name="Text Placeholder 5"/>
          <p:cNvSpPr>
            <a:spLocks noGrp="1"/>
          </p:cNvSpPr>
          <p:nvPr>
            <p:ph type="body" sz="half" idx="2"/>
          </p:nvPr>
        </p:nvSpPr>
        <p:spPr>
          <a:xfrm>
            <a:off x="675861" y="3264356"/>
            <a:ext cx="10933043" cy="3414739"/>
          </a:xfrm>
        </p:spPr>
        <p:txBody>
          <a:bodyPr>
            <a:normAutofit/>
          </a:bodyPr>
          <a:lstStyle/>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import java.net.*;</a:t>
            </a: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import java.io.*;</a:t>
            </a: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public class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ShoppingCartClient</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public static void main(String[]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args</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throws Exception {</a:t>
            </a: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URL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url</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 new URL("https://example.com/add-to-cart");</a:t>
            </a: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HttpURLConnection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con =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HttpURLConnection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url.openConnection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con.setRequestMethod</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("POST");</a:t>
            </a:r>
          </a:p>
        </p:txBody>
      </p:sp>
      <p:sp>
        <p:nvSpPr>
          <p:cNvPr id="3" name="TextBox 2"/>
          <p:cNvSpPr txBox="1"/>
          <p:nvPr/>
        </p:nvSpPr>
        <p:spPr>
          <a:xfrm>
            <a:off x="583095" y="1007165"/>
            <a:ext cx="11025809" cy="1446550"/>
          </a:xfrm>
          <a:prstGeom prst="rect">
            <a:avLst/>
          </a:prstGeom>
          <a:noFill/>
        </p:spPr>
        <p:txBody>
          <a:bodyPr wrap="square" rtlCol="0">
            <a:spAutoFit/>
          </a:bodyPr>
          <a:lstStyle/>
          <a:p>
            <a:r>
              <a:rPr lang="en-US" sz="4000" b="1" i="1" u="sng" dirty="0">
                <a:solidFill>
                  <a:srgbClr val="FFFF00"/>
                </a:solidFill>
                <a:latin typeface="Times New Roman" panose="02020603050405020304" pitchFamily="18" charset="0"/>
                <a:cs typeface="Times New Roman" panose="02020603050405020304" pitchFamily="18" charset="0"/>
              </a:rPr>
              <a:t>2. Post: </a:t>
            </a:r>
            <a:r>
              <a:rPr lang="en-US" sz="2400" dirty="0">
                <a:latin typeface="Times New Roman" panose="02020603050405020304" pitchFamily="18" charset="0"/>
                <a:cs typeface="Times New Roman" panose="02020603050405020304" pitchFamily="18" charset="0"/>
              </a:rPr>
              <a:t>This operation is used to submit or create new data in a web service. The client sends data to a web service using the HTTP Post method, and the web service creates a new record or object in response.</a:t>
            </a:r>
          </a:p>
        </p:txBody>
      </p:sp>
      <p:sp>
        <p:nvSpPr>
          <p:cNvPr id="4" name="TextBox 3"/>
          <p:cNvSpPr txBox="1"/>
          <p:nvPr/>
        </p:nvSpPr>
        <p:spPr>
          <a:xfrm>
            <a:off x="675861" y="2597426"/>
            <a:ext cx="1736035" cy="523220"/>
          </a:xfrm>
          <a:prstGeom prst="rect">
            <a:avLst/>
          </a:prstGeom>
          <a:noFill/>
        </p:spPr>
        <p:txBody>
          <a:bodyPr wrap="square" rtlCol="0">
            <a:spAutoFit/>
          </a:bodyPr>
          <a:lstStyle/>
          <a:p>
            <a:r>
              <a:rPr lang="en-US" sz="2800" b="1" dirty="0" smtClean="0">
                <a:solidFill>
                  <a:schemeClr val="bg1"/>
                </a:solidFill>
                <a:latin typeface="Times New Roman" panose="02020603050405020304" pitchFamily="18" charset="0"/>
                <a:cs typeface="Times New Roman" panose="02020603050405020304" pitchFamily="18" charset="0"/>
              </a:rPr>
              <a:t>Example:</a:t>
            </a:r>
            <a:endParaRPr lang="en-US"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36703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accent5">
                <a:lumMod val="60000"/>
              </a:schemeClr>
            </a:gs>
          </a:gsLst>
          <a:lin ang="2700000" scaled="1"/>
          <a:tileRect/>
        </a:grad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a:xfrm>
            <a:off x="838200" y="0"/>
            <a:ext cx="10515600" cy="689113"/>
          </a:xfrm>
        </p:spPr>
        <p:txBody>
          <a:bodyPr anchor="t">
            <a:normAutofit/>
          </a:bodyPr>
          <a:lstStyle/>
          <a:p>
            <a:pPr algn="ctr"/>
            <a:r>
              <a:rPr lang="en-US" sz="4000" b="1" u="sng" dirty="0" smtClean="0">
                <a:latin typeface="Times New Roman" panose="02020603050405020304" pitchFamily="18" charset="0"/>
                <a:cs typeface="Times New Roman" panose="02020603050405020304" pitchFamily="18" charset="0"/>
              </a:rPr>
              <a:t>Web Service Operations</a:t>
            </a:r>
            <a:endParaRPr lang="en-US" sz="4000" b="1" u="sng" dirty="0">
              <a:latin typeface="Times New Roman" panose="02020603050405020304" pitchFamily="18" charset="0"/>
              <a:cs typeface="Times New Roman" panose="02020603050405020304" pitchFamily="18" charset="0"/>
            </a:endParaRPr>
          </a:p>
        </p:txBody>
      </p:sp>
      <p:sp>
        <p:nvSpPr>
          <p:cNvPr id="7" name="TextBox 6"/>
          <p:cNvSpPr txBox="1"/>
          <p:nvPr/>
        </p:nvSpPr>
        <p:spPr>
          <a:xfrm>
            <a:off x="838200" y="1020417"/>
            <a:ext cx="10515600" cy="6247864"/>
          </a:xfrm>
          <a:prstGeom prst="rect">
            <a:avLst/>
          </a:prstGeom>
          <a:noFill/>
        </p:spPr>
        <p:txBody>
          <a:bodyPr wrap="square" rtlCol="0">
            <a:spAutoFit/>
          </a:bodyPr>
          <a:lstStyle/>
          <a:p>
            <a:pPr marL="342900" indent="-342900">
              <a:buFont typeface="Arial" panose="020B0604020202020204" pitchFamily="34" charset="0"/>
              <a:buChar char="•"/>
            </a:pP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con.setDoOutput</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(true);</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String data =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product_id</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=123&amp;quantity=2";</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OutputStream</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os</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con.getOutputStream</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os.write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data.getBytes</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os.flush</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os.close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BufferedReader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in = new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BufferedReader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(new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InputStreamReader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con.getInputStream</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String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StringBuffer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response = new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StringBuffer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while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in.readLine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 null) {</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response.append</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in.close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System.out.println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response.toString</a:t>
            </a:r>
            <a:r>
              <a:rPr lang="en-US" sz="2400" dirty="0" smtClean="0">
                <a:solidFill>
                  <a:schemeClr val="accent4">
                    <a:lumMod val="40000"/>
                    <a:lumOff val="60000"/>
                  </a:schemeClr>
                </a:solidFill>
                <a:latin typeface="Times New Roman" panose="02020603050405020304" pitchFamily="18" charset="0"/>
                <a:cs typeface="Times New Roman" panose="02020603050405020304" pitchFamily="18" charset="0"/>
              </a:rPr>
              <a:t>());}}</a:t>
            </a:r>
            <a:endParaRPr lang="en-US" sz="2400" dirty="0">
              <a:solidFill>
                <a:schemeClr val="accent4">
                  <a:lumMod val="40000"/>
                  <a:lumOff val="60000"/>
                </a:schemeClr>
              </a:solidFill>
              <a:latin typeface="Times New Roman" panose="02020603050405020304" pitchFamily="18" charset="0"/>
              <a:cs typeface="Times New Roman" panose="02020603050405020304" pitchFamily="18" charset="0"/>
            </a:endParaRPr>
          </a:p>
          <a:p>
            <a:endParaRPr lang="en-US" sz="2000" dirty="0" smtClean="0">
              <a:solidFill>
                <a:schemeClr val="accent4">
                  <a:lumMod val="40000"/>
                  <a:lumOff val="60000"/>
                </a:schemeClr>
              </a:solidFill>
              <a:latin typeface="Times New Roman" panose="02020603050405020304" pitchFamily="18" charset="0"/>
              <a:cs typeface="Times New Roman" panose="02020603050405020304" pitchFamily="18" charset="0"/>
            </a:endParaRPr>
          </a:p>
          <a:p>
            <a:endParaRPr lang="en-US" sz="2000" dirty="0">
              <a:solidFill>
                <a:schemeClr val="accent4">
                  <a:lumMod val="40000"/>
                  <a:lumOff val="6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44845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5">
                <a:lumMod val="40000"/>
                <a:lumOff val="60000"/>
              </a:schemeClr>
            </a:gs>
            <a:gs pos="46000">
              <a:schemeClr val="accent5">
                <a:lumMod val="95000"/>
                <a:lumOff val="5000"/>
              </a:schemeClr>
            </a:gs>
            <a:gs pos="100000">
              <a:schemeClr val="accent5">
                <a:lumMod val="60000"/>
              </a:schemeClr>
            </a:gs>
          </a:gsLst>
          <a:lin ang="27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0"/>
            <a:ext cx="10848629" cy="901148"/>
          </a:xfrm>
        </p:spPr>
        <p:txBody>
          <a:bodyPr anchor="t">
            <a:noAutofit/>
          </a:bodyPr>
          <a:lstStyle/>
          <a:p>
            <a:pPr algn="ctr"/>
            <a:r>
              <a:rPr lang="en-US" sz="4000" b="1" u="sng" dirty="0" smtClean="0">
                <a:latin typeface="Times New Roman" panose="02020603050405020304" pitchFamily="18" charset="0"/>
                <a:cs typeface="Times New Roman" panose="02020603050405020304" pitchFamily="18" charset="0"/>
              </a:rPr>
              <a:t>Web Service Operations</a:t>
            </a:r>
            <a:endParaRPr lang="en-US" sz="4000" b="1" u="sng" dirty="0">
              <a:latin typeface="Times New Roman" panose="02020603050405020304" pitchFamily="18" charset="0"/>
              <a:cs typeface="Times New Roman" panose="02020603050405020304" pitchFamily="18" charset="0"/>
            </a:endParaRPr>
          </a:p>
        </p:txBody>
      </p:sp>
      <p:sp>
        <p:nvSpPr>
          <p:cNvPr id="6" name="Text Placeholder 5"/>
          <p:cNvSpPr>
            <a:spLocks noGrp="1"/>
          </p:cNvSpPr>
          <p:nvPr>
            <p:ph type="body" sz="half" idx="2"/>
          </p:nvPr>
        </p:nvSpPr>
        <p:spPr>
          <a:xfrm>
            <a:off x="838199" y="3027881"/>
            <a:ext cx="10850218" cy="3689246"/>
          </a:xfrm>
        </p:spPr>
        <p:txBody>
          <a:bodyPr>
            <a:normAutofit/>
          </a:bodyPr>
          <a:lstStyle/>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import java.net.*;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import java.io.*;</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public class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ReservationClient</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public static void main(String[]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args</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throws Exception {</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URL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url</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 new URL("https://example.com/update-reservation");</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HttpURLConnection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con =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HttpURLConnection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url.openConnection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con.setRequestMethod</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("PUT");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con.setDoOutput</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(true);</a:t>
            </a:r>
          </a:p>
        </p:txBody>
      </p:sp>
      <p:sp>
        <p:nvSpPr>
          <p:cNvPr id="3" name="TextBox 2"/>
          <p:cNvSpPr txBox="1"/>
          <p:nvPr/>
        </p:nvSpPr>
        <p:spPr>
          <a:xfrm>
            <a:off x="838200" y="901148"/>
            <a:ext cx="10850217" cy="1446550"/>
          </a:xfrm>
          <a:prstGeom prst="rect">
            <a:avLst/>
          </a:prstGeom>
          <a:noFill/>
        </p:spPr>
        <p:txBody>
          <a:bodyPr wrap="square" rtlCol="0">
            <a:spAutoFit/>
          </a:bodyPr>
          <a:lstStyle/>
          <a:p>
            <a:r>
              <a:rPr lang="en-US" sz="4000" b="1" i="1" u="sng" dirty="0">
                <a:solidFill>
                  <a:srgbClr val="FFFF00"/>
                </a:solidFill>
                <a:latin typeface="Times New Roman" panose="02020603050405020304" pitchFamily="18" charset="0"/>
                <a:cs typeface="Times New Roman" panose="02020603050405020304" pitchFamily="18" charset="0"/>
              </a:rPr>
              <a:t>3. Put: </a:t>
            </a:r>
            <a:r>
              <a:rPr lang="en-US" sz="2400" dirty="0">
                <a:latin typeface="Times New Roman" panose="02020603050405020304" pitchFamily="18" charset="0"/>
                <a:cs typeface="Times New Roman" panose="02020603050405020304" pitchFamily="18" charset="0"/>
              </a:rPr>
              <a:t>This operation is used to update existing data or records in a web service. The client sends updated data to a web service using the HTTP PUT method, and the web service updates the records accordingly.</a:t>
            </a:r>
          </a:p>
        </p:txBody>
      </p:sp>
      <p:sp>
        <p:nvSpPr>
          <p:cNvPr id="4" name="TextBox 3"/>
          <p:cNvSpPr txBox="1"/>
          <p:nvPr/>
        </p:nvSpPr>
        <p:spPr>
          <a:xfrm flipH="1">
            <a:off x="838199" y="2504661"/>
            <a:ext cx="2421835" cy="523220"/>
          </a:xfrm>
          <a:prstGeom prst="rect">
            <a:avLst/>
          </a:prstGeom>
          <a:noFill/>
        </p:spPr>
        <p:txBody>
          <a:bodyPr wrap="square" rtlCol="0">
            <a:spAutoFit/>
          </a:bodyPr>
          <a:lstStyle/>
          <a:p>
            <a:r>
              <a:rPr lang="en-US" sz="2800" b="1" dirty="0" smtClean="0">
                <a:solidFill>
                  <a:schemeClr val="bg1"/>
                </a:solidFill>
                <a:latin typeface="Times New Roman" panose="02020603050405020304" pitchFamily="18" charset="0"/>
                <a:cs typeface="Times New Roman" panose="02020603050405020304" pitchFamily="18" charset="0"/>
              </a:rPr>
              <a:t>Example:</a:t>
            </a:r>
            <a:endParaRPr lang="en-US"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99287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40000"/>
                <a:lumOff val="60000"/>
              </a:schemeClr>
            </a:gs>
            <a:gs pos="46000">
              <a:schemeClr val="accent5">
                <a:lumMod val="95000"/>
                <a:lumOff val="5000"/>
              </a:schemeClr>
            </a:gs>
            <a:gs pos="100000">
              <a:schemeClr val="accent5">
                <a:lumMod val="60000"/>
              </a:schemeClr>
            </a:gs>
          </a:gsLst>
          <a:lin ang="2700000" scaled="1"/>
        </a:gra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838200" y="1"/>
            <a:ext cx="10515600" cy="742121"/>
          </a:xfrm>
        </p:spPr>
        <p:txBody>
          <a:bodyPr anchor="t"/>
          <a:lstStyle/>
          <a:p>
            <a:pPr algn="ctr"/>
            <a:r>
              <a:rPr lang="en-US" b="1" u="sng" dirty="0">
                <a:latin typeface="Times New Roman" panose="02020603050405020304" pitchFamily="18" charset="0"/>
                <a:cs typeface="Times New Roman" panose="02020603050405020304" pitchFamily="18" charset="0"/>
              </a:rPr>
              <a:t>Web Service Operations</a:t>
            </a:r>
            <a:endParaRPr lang="en-US" dirty="0"/>
          </a:p>
        </p:txBody>
      </p:sp>
      <p:sp>
        <p:nvSpPr>
          <p:cNvPr id="7" name="TextBox 6"/>
          <p:cNvSpPr txBox="1"/>
          <p:nvPr/>
        </p:nvSpPr>
        <p:spPr>
          <a:xfrm flipH="1">
            <a:off x="838200" y="742122"/>
            <a:ext cx="10913828" cy="6001643"/>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String data =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reservation_id</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=123&amp;checkin_date=2022-01-15&amp;room_type=deluxe";</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OutputStream</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os</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con.getOutputStream</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os.write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data.getBytes</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os.flush</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os.close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BufferedReader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in = new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BufferedReader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(new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InputStreamReader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con.getInputStream</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String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StringBuffer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response = new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StringBuffer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while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in.readLine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 null) {</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response.append</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in.close</a:t>
            </a:r>
            <a:r>
              <a:rPr lang="en-US" sz="2400" dirty="0" smtClean="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System.out.println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response.toString</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3360093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40000"/>
                <a:lumOff val="60000"/>
              </a:schemeClr>
            </a:gs>
            <a:gs pos="46000">
              <a:schemeClr val="accent5">
                <a:lumMod val="95000"/>
                <a:lumOff val="5000"/>
              </a:schemeClr>
            </a:gs>
            <a:gs pos="100000">
              <a:schemeClr val="accent5">
                <a:lumMod val="60000"/>
              </a:schemeClr>
            </a:gs>
          </a:gsLst>
          <a:lin ang="27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pPr algn="ctr"/>
            <a:r>
              <a:rPr lang="en-US" b="1" u="sng" dirty="0">
                <a:latin typeface="Times New Roman" panose="02020603050405020304" pitchFamily="18" charset="0"/>
                <a:cs typeface="Times New Roman" panose="02020603050405020304" pitchFamily="18" charset="0"/>
              </a:rPr>
              <a:t>Web Service Operations</a:t>
            </a:r>
            <a:endParaRPr lang="en-US" dirty="0"/>
          </a:p>
        </p:txBody>
      </p:sp>
      <p:sp>
        <p:nvSpPr>
          <p:cNvPr id="8" name="Content Placeholder 7"/>
          <p:cNvSpPr>
            <a:spLocks noGrp="1"/>
          </p:cNvSpPr>
          <p:nvPr>
            <p:ph sz="half" idx="2"/>
          </p:nvPr>
        </p:nvSpPr>
        <p:spPr>
          <a:xfrm>
            <a:off x="839788" y="3415493"/>
            <a:ext cx="11232942" cy="3263602"/>
          </a:xfrm>
        </p:spPr>
        <p:txBody>
          <a:bodyPr/>
          <a:lstStyle/>
          <a:p>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import java.net.*;</a:t>
            </a:r>
          </a:p>
          <a:p>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import java.io.*;</a:t>
            </a:r>
          </a:p>
          <a:p>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public class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DeletePostClient</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p>
          <a:p>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public static void main(String[]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args</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throws Exception {</a:t>
            </a:r>
          </a:p>
          <a:p>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URL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url</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 new URL("https://example.com/delete-post");</a:t>
            </a:r>
          </a:p>
          <a:p>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HttpURLConnection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con =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HttpURLConnection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url.openConnection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endParaRPr lang="en-US" dirty="0"/>
          </a:p>
        </p:txBody>
      </p:sp>
      <p:sp>
        <p:nvSpPr>
          <p:cNvPr id="3" name="TextBox 2"/>
          <p:cNvSpPr txBox="1"/>
          <p:nvPr/>
        </p:nvSpPr>
        <p:spPr>
          <a:xfrm>
            <a:off x="838201" y="1019183"/>
            <a:ext cx="10810461" cy="1446550"/>
          </a:xfrm>
          <a:prstGeom prst="rect">
            <a:avLst/>
          </a:prstGeom>
          <a:noFill/>
        </p:spPr>
        <p:txBody>
          <a:bodyPr wrap="square" rtlCol="0">
            <a:spAutoFit/>
          </a:bodyPr>
          <a:lstStyle/>
          <a:p>
            <a:r>
              <a:rPr lang="en-US" sz="4000" b="1" i="1" u="sng" dirty="0">
                <a:solidFill>
                  <a:srgbClr val="FFFF00"/>
                </a:solidFill>
                <a:latin typeface="Times New Roman" panose="02020603050405020304" pitchFamily="18" charset="0"/>
                <a:cs typeface="Times New Roman" panose="02020603050405020304" pitchFamily="18" charset="0"/>
              </a:rPr>
              <a:t>4. Delete: </a:t>
            </a:r>
            <a:r>
              <a:rPr lang="en-US" sz="2400" dirty="0">
                <a:latin typeface="Times New Roman" panose="02020603050405020304" pitchFamily="18" charset="0"/>
                <a:cs typeface="Times New Roman" panose="02020603050405020304" pitchFamily="18" charset="0"/>
              </a:rPr>
              <a:t>This operation is used to remove or delete records or data from a web service. The client sends a request to the web service using the HTTP DELETE method and the web service removes the requested data.</a:t>
            </a:r>
          </a:p>
        </p:txBody>
      </p:sp>
      <p:sp>
        <p:nvSpPr>
          <p:cNvPr id="4" name="TextBox 3"/>
          <p:cNvSpPr txBox="1"/>
          <p:nvPr/>
        </p:nvSpPr>
        <p:spPr>
          <a:xfrm>
            <a:off x="838201" y="2679003"/>
            <a:ext cx="2792896" cy="523220"/>
          </a:xfrm>
          <a:prstGeom prst="rect">
            <a:avLst/>
          </a:prstGeom>
          <a:noFill/>
        </p:spPr>
        <p:txBody>
          <a:bodyPr wrap="square" rtlCol="0">
            <a:spAutoFit/>
          </a:bodyPr>
          <a:lstStyle/>
          <a:p>
            <a:r>
              <a:rPr lang="en-US" sz="2800" b="1" dirty="0" smtClean="0">
                <a:solidFill>
                  <a:schemeClr val="bg1"/>
                </a:solidFill>
                <a:latin typeface="Times New Roman" panose="02020603050405020304" pitchFamily="18" charset="0"/>
                <a:cs typeface="Times New Roman" panose="02020603050405020304" pitchFamily="18" charset="0"/>
              </a:rPr>
              <a:t>Example:</a:t>
            </a:r>
            <a:endParaRPr lang="en-US"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363298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40000"/>
                <a:lumOff val="60000"/>
              </a:schemeClr>
            </a:gs>
            <a:gs pos="46000">
              <a:schemeClr val="accent5">
                <a:lumMod val="95000"/>
                <a:lumOff val="5000"/>
              </a:schemeClr>
            </a:gs>
            <a:gs pos="100000">
              <a:schemeClr val="accent5">
                <a:lumMod val="60000"/>
              </a:schemeClr>
            </a:gs>
          </a:gsLst>
          <a:lin ang="2700000" scaled="1"/>
        </a:gra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38200" y="1"/>
            <a:ext cx="10515600" cy="861390"/>
          </a:xfrm>
        </p:spPr>
        <p:txBody>
          <a:bodyPr anchor="t">
            <a:normAutofit/>
          </a:bodyPr>
          <a:lstStyle/>
          <a:p>
            <a:pPr algn="ctr"/>
            <a:r>
              <a:rPr lang="en-US" b="1" u="sng" dirty="0">
                <a:latin typeface="Times New Roman" panose="02020603050405020304" pitchFamily="18" charset="0"/>
                <a:cs typeface="Times New Roman" panose="02020603050405020304" pitchFamily="18" charset="0"/>
              </a:rPr>
              <a:t>Web Service Operations</a:t>
            </a:r>
            <a:endParaRPr lang="en-US" dirty="0"/>
          </a:p>
        </p:txBody>
      </p:sp>
      <p:sp>
        <p:nvSpPr>
          <p:cNvPr id="8" name="TextBox 7"/>
          <p:cNvSpPr txBox="1"/>
          <p:nvPr/>
        </p:nvSpPr>
        <p:spPr>
          <a:xfrm flipH="1">
            <a:off x="1092640" y="1139687"/>
            <a:ext cx="10741550" cy="4524315"/>
          </a:xfrm>
          <a:prstGeom prst="rect">
            <a:avLst/>
          </a:prstGeom>
          <a:noFill/>
        </p:spPr>
        <p:txBody>
          <a:bodyPr wrap="square" rtlCol="0">
            <a:spAutoFit/>
          </a:bodyPr>
          <a:lstStyle/>
          <a:p>
            <a:pPr marL="342900" indent="-342900">
              <a:buFont typeface="Arial" panose="020B0604020202020204" pitchFamily="34" charset="0"/>
              <a:buChar char="•"/>
            </a:pP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con.setRequestMethod</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("DELETE");</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BufferedReader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in = new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BufferedReader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(new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InputStreamReader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con.getInputStream</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String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StringBuffer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response = new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StringBuffer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while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in.readLine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 null) {</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response.append</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in.close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System.out.println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response.toString</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8119827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40000"/>
                <a:lumOff val="60000"/>
              </a:schemeClr>
            </a:gs>
            <a:gs pos="46000">
              <a:schemeClr val="accent5">
                <a:lumMod val="95000"/>
                <a:lumOff val="5000"/>
              </a:schemeClr>
            </a:gs>
            <a:gs pos="100000">
              <a:schemeClr val="accent5">
                <a:lumMod val="60000"/>
              </a:schemeClr>
            </a:gs>
          </a:gsLst>
          <a:lin ang="27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63123"/>
            <a:ext cx="10515600" cy="1627565"/>
          </a:xfrm>
        </p:spPr>
        <p:txBody>
          <a:bodyPr anchor="t"/>
          <a:lstStyle/>
          <a:p>
            <a:pPr algn="ctr"/>
            <a:r>
              <a:rPr lang="en-US" b="1" u="sng" dirty="0">
                <a:latin typeface="Times New Roman" panose="02020603050405020304" pitchFamily="18" charset="0"/>
                <a:cs typeface="Times New Roman" panose="02020603050405020304" pitchFamily="18" charset="0"/>
              </a:rPr>
              <a:t>Web Service Operations</a:t>
            </a:r>
            <a:endParaRPr lang="en-US" dirty="0"/>
          </a:p>
        </p:txBody>
      </p:sp>
      <p:sp>
        <p:nvSpPr>
          <p:cNvPr id="6" name="Content Placeholder 5"/>
          <p:cNvSpPr>
            <a:spLocks noGrp="1"/>
          </p:cNvSpPr>
          <p:nvPr>
            <p:ph sz="half" idx="2"/>
          </p:nvPr>
        </p:nvSpPr>
        <p:spPr>
          <a:xfrm>
            <a:off x="839788" y="3318245"/>
            <a:ext cx="10822125" cy="3413858"/>
          </a:xfrm>
        </p:spPr>
        <p:txBody>
          <a:bodyPr>
            <a:normAutofit/>
          </a:bodyPr>
          <a:lstStyle/>
          <a:p>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import java.net.*;</a:t>
            </a:r>
          </a:p>
          <a:p>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import java.io.*;</a:t>
            </a:r>
          </a:p>
          <a:p>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public class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SearchProductsClient</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p>
          <a:p>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public static void main(String[]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args</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throws Exception {</a:t>
            </a:r>
          </a:p>
          <a:p>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URL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url</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 new URL("https://example.com/</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search-products?category</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electronics&amp;price_range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=$100-$500</a:t>
            </a:r>
            <a:r>
              <a:rPr lang="en-US" sz="2400" dirty="0" smtClean="0">
                <a:solidFill>
                  <a:schemeClr val="accent4">
                    <a:lumMod val="40000"/>
                    <a:lumOff val="60000"/>
                  </a:schemeClr>
                </a:solidFill>
                <a:latin typeface="Times New Roman" panose="02020603050405020304" pitchFamily="18" charset="0"/>
                <a:cs typeface="Times New Roman" panose="02020603050405020304" pitchFamily="18" charset="0"/>
              </a:rPr>
              <a:t>");</a:t>
            </a:r>
          </a:p>
          <a:p>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HttpURLConnection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con =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HttpURLConnection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url.openConnection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endParaRPr lang="en-US" sz="2400" dirty="0">
              <a:solidFill>
                <a:schemeClr val="accent4">
                  <a:lumMod val="40000"/>
                  <a:lumOff val="60000"/>
                </a:schemeClr>
              </a:solidFill>
              <a:latin typeface="Times New Roman" panose="02020603050405020304" pitchFamily="18" charset="0"/>
              <a:cs typeface="Times New Roman" panose="02020603050405020304" pitchFamily="18" charset="0"/>
            </a:endParaRPr>
          </a:p>
          <a:p>
            <a:endParaRPr lang="en-US" sz="2400" dirty="0">
              <a:solidFill>
                <a:schemeClr val="accent4">
                  <a:lumMod val="40000"/>
                  <a:lumOff val="60000"/>
                </a:schemeClr>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838200" y="967409"/>
            <a:ext cx="10823713" cy="1446550"/>
          </a:xfrm>
          <a:prstGeom prst="rect">
            <a:avLst/>
          </a:prstGeom>
          <a:noFill/>
        </p:spPr>
        <p:txBody>
          <a:bodyPr wrap="square" rtlCol="0">
            <a:spAutoFit/>
          </a:bodyPr>
          <a:lstStyle/>
          <a:p>
            <a:r>
              <a:rPr lang="en-US" sz="4000" b="1" i="1" u="sng" dirty="0">
                <a:solidFill>
                  <a:srgbClr val="FFFF00"/>
                </a:solidFill>
                <a:latin typeface="Times New Roman" panose="02020603050405020304" pitchFamily="18" charset="0"/>
                <a:cs typeface="Times New Roman" panose="02020603050405020304" pitchFamily="18" charset="0"/>
              </a:rPr>
              <a:t>5. Search: </a:t>
            </a:r>
            <a:r>
              <a:rPr lang="en-US" sz="2400" dirty="0">
                <a:latin typeface="Times New Roman" panose="02020603050405020304" pitchFamily="18" charset="0"/>
                <a:cs typeface="Times New Roman" panose="02020603050405020304" pitchFamily="18" charset="0"/>
              </a:rPr>
              <a:t>This operation is used to search for specific data or records within a web service. The client sends a search request to the web service, specifying the search criteria, and the web service returns matching records or data.</a:t>
            </a:r>
          </a:p>
        </p:txBody>
      </p:sp>
      <p:sp>
        <p:nvSpPr>
          <p:cNvPr id="4" name="TextBox 3"/>
          <p:cNvSpPr txBox="1"/>
          <p:nvPr/>
        </p:nvSpPr>
        <p:spPr>
          <a:xfrm>
            <a:off x="838200" y="2604492"/>
            <a:ext cx="2461591" cy="523220"/>
          </a:xfrm>
          <a:prstGeom prst="rect">
            <a:avLst/>
          </a:prstGeom>
          <a:noFill/>
        </p:spPr>
        <p:txBody>
          <a:bodyPr wrap="square" rtlCol="0">
            <a:spAutoFit/>
          </a:bodyPr>
          <a:lstStyle/>
          <a:p>
            <a:r>
              <a:rPr lang="en-US" sz="2800" b="1" dirty="0" smtClean="0">
                <a:solidFill>
                  <a:schemeClr val="bg1"/>
                </a:solidFill>
                <a:latin typeface="Times New Roman" panose="02020603050405020304" pitchFamily="18" charset="0"/>
                <a:cs typeface="Times New Roman" panose="02020603050405020304" pitchFamily="18" charset="0"/>
              </a:rPr>
              <a:t>Example:</a:t>
            </a:r>
            <a:endParaRPr lang="en-US"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549546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40000"/>
                <a:lumOff val="60000"/>
              </a:schemeClr>
            </a:gs>
            <a:gs pos="46000">
              <a:schemeClr val="accent5">
                <a:lumMod val="95000"/>
                <a:lumOff val="5000"/>
              </a:schemeClr>
            </a:gs>
            <a:gs pos="100000">
              <a:schemeClr val="accent5">
                <a:lumMod val="60000"/>
              </a:schemeClr>
            </a:gs>
          </a:gsLst>
          <a:lin ang="2700000" scaled="1"/>
        </a:gradFill>
        <a:effectLst/>
      </p:bgPr>
    </p:bg>
    <p:spTree>
      <p:nvGrpSpPr>
        <p:cNvPr id="1" name=""/>
        <p:cNvGrpSpPr/>
        <p:nvPr/>
      </p:nvGrpSpPr>
      <p:grpSpPr>
        <a:xfrm>
          <a:off x="0" y="0"/>
          <a:ext cx="0" cy="0"/>
          <a:chOff x="0" y="0"/>
          <a:chExt cx="0" cy="0"/>
        </a:xfrm>
      </p:grpSpPr>
      <p:sp>
        <p:nvSpPr>
          <p:cNvPr id="7" name="Title 6"/>
          <p:cNvSpPr>
            <a:spLocks noGrp="1"/>
          </p:cNvSpPr>
          <p:nvPr>
            <p:ph type="title"/>
          </p:nvPr>
        </p:nvSpPr>
        <p:spPr>
          <a:xfrm>
            <a:off x="838200" y="1"/>
            <a:ext cx="10515600" cy="781877"/>
          </a:xfrm>
        </p:spPr>
        <p:txBody>
          <a:bodyPr anchor="t"/>
          <a:lstStyle/>
          <a:p>
            <a:pPr algn="ctr"/>
            <a:r>
              <a:rPr lang="en-US" b="1" u="sng" dirty="0">
                <a:latin typeface="Times New Roman" panose="02020603050405020304" pitchFamily="18" charset="0"/>
                <a:cs typeface="Times New Roman" panose="02020603050405020304" pitchFamily="18" charset="0"/>
              </a:rPr>
              <a:t>Web Service Operations</a:t>
            </a:r>
            <a:endParaRPr lang="en-US" dirty="0"/>
          </a:p>
        </p:txBody>
      </p:sp>
      <p:sp>
        <p:nvSpPr>
          <p:cNvPr id="8" name="TextBox 7"/>
          <p:cNvSpPr txBox="1"/>
          <p:nvPr/>
        </p:nvSpPr>
        <p:spPr>
          <a:xfrm>
            <a:off x="1007165" y="1033670"/>
            <a:ext cx="10747513" cy="4524315"/>
          </a:xfrm>
          <a:prstGeom prst="rect">
            <a:avLst/>
          </a:prstGeom>
          <a:noFill/>
        </p:spPr>
        <p:txBody>
          <a:bodyPr wrap="square" rtlCol="0">
            <a:spAutoFit/>
          </a:bodyPr>
          <a:lstStyle/>
          <a:p>
            <a:pPr marL="342900" indent="-342900">
              <a:buFont typeface="Arial" panose="020B0604020202020204" pitchFamily="34" charset="0"/>
              <a:buChar char="•"/>
            </a:pP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con.setRequestMethod</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("GET");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BufferedReader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in = new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BufferedReader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(new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InputStreamReader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con.getInputStream</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String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StringBuffer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response = new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StringBuffer</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while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in.readLine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 null) {</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response.append</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inputLine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in.close</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System.out.println</a:t>
            </a: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r>
              <a:rPr lang="en-US" sz="2400" dirty="0" err="1">
                <a:solidFill>
                  <a:schemeClr val="accent4">
                    <a:lumMod val="40000"/>
                    <a:lumOff val="60000"/>
                  </a:schemeClr>
                </a:solidFill>
                <a:latin typeface="Times New Roman" panose="02020603050405020304" pitchFamily="18" charset="0"/>
                <a:cs typeface="Times New Roman" panose="02020603050405020304" pitchFamily="18" charset="0"/>
              </a:rPr>
              <a:t>response.toString</a:t>
            </a:r>
            <a:r>
              <a:rPr lang="en-US" sz="2400" dirty="0" smtClean="0">
                <a:solidFill>
                  <a:schemeClr val="accent4">
                    <a:lumMod val="40000"/>
                    <a:lumOff val="60000"/>
                  </a:schemeClr>
                </a:solidFill>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400" dirty="0">
                <a:solidFill>
                  <a:schemeClr val="accent4">
                    <a:lumMod val="40000"/>
                    <a:lumOff val="60000"/>
                  </a:schemeClr>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179949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
        <p:nvSpPr>
          <p:cNvPr id="4" name="TextBox 3"/>
          <p:cNvSpPr txBox="1"/>
          <p:nvPr/>
        </p:nvSpPr>
        <p:spPr>
          <a:xfrm rot="900000" flipH="1">
            <a:off x="998368" y="2200076"/>
            <a:ext cx="10514752" cy="1862048"/>
          </a:xfrm>
          <a:prstGeom prst="rect">
            <a:avLst/>
          </a:prstGeom>
          <a:noFill/>
          <a:ln>
            <a:noFill/>
          </a:ln>
          <a:effectLst>
            <a:glow rad="101600">
              <a:schemeClr val="accent1">
                <a:satMod val="175000"/>
                <a:alpha val="40000"/>
              </a:schemeClr>
            </a:glow>
            <a:outerShdw blurRad="149987" dist="250190" dir="8460000" algn="ctr">
              <a:srgbClr val="000000">
                <a:alpha val="28000"/>
              </a:srgbClr>
            </a:outerShdw>
          </a:effectLst>
          <a:scene3d>
            <a:camera prst="perspectiveAbove"/>
            <a:lightRig rig="contrasting" dir="t">
              <a:rot lat="0" lon="0" rev="1500000"/>
            </a:lightRig>
          </a:scene3d>
          <a:sp3d prstMaterial="metal">
            <a:bevelT w="88900" h="88900"/>
          </a:sp3d>
        </p:spPr>
        <p:txBody>
          <a:bodyPr wrap="square" rtlCol="0">
            <a:spAutoFit/>
          </a:bodyPr>
          <a:lstStyle/>
          <a:p>
            <a:pPr algn="ctr"/>
            <a:r>
              <a:rPr lang="en-US" sz="11500" dirty="0" smtClean="0">
                <a:solidFill>
                  <a:srgbClr val="FFFF00"/>
                </a:solidFill>
                <a:latin typeface="Algerian" panose="04020705040A02060702" pitchFamily="82" charset="0"/>
              </a:rPr>
              <a:t>Thank you</a:t>
            </a:r>
            <a:endParaRPr lang="en-US" sz="11500" dirty="0">
              <a:solidFill>
                <a:srgbClr val="FFFF00"/>
              </a:solidFill>
              <a:latin typeface="Algerian" panose="04020705040A02060702" pitchFamily="82" charset="0"/>
            </a:endParaRPr>
          </a:p>
        </p:txBody>
      </p:sp>
    </p:spTree>
    <p:extLst>
      <p:ext uri="{BB962C8B-B14F-4D97-AF65-F5344CB8AC3E}">
        <p14:creationId xmlns:p14="http://schemas.microsoft.com/office/powerpoint/2010/main" val="165337472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304</TotalTime>
  <Words>1057</Words>
  <Application>Microsoft Office PowerPoint</Application>
  <PresentationFormat>Widescreen</PresentationFormat>
  <Paragraphs>190</Paragraphs>
  <Slides>23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Algerian</vt:lpstr>
      <vt:lpstr>Arial</vt:lpstr>
      <vt:lpstr>Calibri</vt:lpstr>
      <vt:lpstr>Calibri Light</vt:lpstr>
      <vt:lpstr>inter-bold</vt:lpstr>
      <vt:lpstr>inter-regular</vt:lpstr>
      <vt:lpstr>Times New Roman</vt:lpstr>
      <vt:lpstr>Wingdings</vt:lpstr>
      <vt:lpstr>Office Theme</vt:lpstr>
      <vt:lpstr>WEB SERVICES OPERATIONS  </vt:lpstr>
      <vt:lpstr>Table Of Content</vt:lpstr>
      <vt:lpstr>What is Web Services?  Web services are the types of internet software that uses standardized messaging protocol over the distributed environment. It integrates the web-based application using the REST, SOAP, WSDL, and UDDI over the network. For example, Java web service can communicate with .Net application. </vt:lpstr>
      <vt:lpstr>Architecture of Web Services </vt:lpstr>
      <vt:lpstr>Architecture of Web Services</vt:lpstr>
      <vt:lpstr>Architecture of Web Services</vt:lpstr>
      <vt:lpstr>Architecture of Web Services</vt:lpstr>
      <vt:lpstr>Architecture of Web Services</vt:lpstr>
      <vt:lpstr>Architecture of Web Services</vt:lpstr>
      <vt:lpstr>Architecture of Web Services</vt:lpstr>
      <vt:lpstr>Architecture of Web Services</vt:lpstr>
      <vt:lpstr>Web Service Operations  Web service operations refer to the methods or functions provided by a web service that can be accessed and invoked remotely using standard web protocols such as HTTP or SOAP. These operations allow clients to interact with and request data from the web service, making it a powerful tool for sharing and exchanging information between different systems and applications.    </vt:lpstr>
      <vt:lpstr>Web Service Operations</vt:lpstr>
      <vt:lpstr>Web Service Operations</vt:lpstr>
      <vt:lpstr>Web Service Operations</vt:lpstr>
      <vt:lpstr>Web Service Operations</vt:lpstr>
      <vt:lpstr>Web Service Operations</vt:lpstr>
      <vt:lpstr>Web Service Operations</vt:lpstr>
      <vt:lpstr>Web Service Operations</vt:lpstr>
      <vt:lpstr>Web Service Operations</vt:lpstr>
      <vt:lpstr>Web Service Operations</vt:lpstr>
      <vt:lpstr>Web Service Operations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SERVICES OPERATIONS</dc:title>
  <dc:creator>ashahrukhali321@hotmail.com</dc:creator>
  <cp:lastModifiedBy>ashahrukhali321@hotmail.com</cp:lastModifiedBy>
  <cp:revision>29</cp:revision>
  <dcterms:created xsi:type="dcterms:W3CDTF">2024-03-04T05:47:49Z</dcterms:created>
  <dcterms:modified xsi:type="dcterms:W3CDTF">2024-03-05T09:15:26Z</dcterms:modified>
</cp:coreProperties>
</file>
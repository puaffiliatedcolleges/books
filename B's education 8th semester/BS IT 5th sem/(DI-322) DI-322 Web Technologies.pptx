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59"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39" autoAdjust="0"/>
    <p:restoredTop sz="94660"/>
  </p:normalViewPr>
  <p:slideViewPr>
    <p:cSldViewPr snapToGrid="0">
      <p:cViewPr varScale="1">
        <p:scale>
          <a:sx n="61" d="100"/>
          <a:sy n="61" d="100"/>
        </p:scale>
        <p:origin x="72" y="18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3/19/2024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t>DI-322 </a:t>
            </a:r>
            <a:r>
              <a:rPr lang="en-US" b="1" dirty="0"/>
              <a:t>Web Technologies</a:t>
            </a:r>
            <a:r>
              <a:rPr lang="en-US" dirty="0"/>
              <a:t/>
            </a:r>
            <a:br>
              <a:rPr lang="en-US" dirty="0"/>
            </a:br>
            <a:r>
              <a:rPr lang="en-US" dirty="0"/>
              <a:t/>
            </a:r>
            <a:br>
              <a:rPr lang="en-US" dirty="0"/>
            </a:br>
            <a:endParaRPr lang="en-US" dirty="0"/>
          </a:p>
        </p:txBody>
      </p:sp>
      <p:sp>
        <p:nvSpPr>
          <p:cNvPr id="3" name="Subtitle 2"/>
          <p:cNvSpPr>
            <a:spLocks noGrp="1"/>
          </p:cNvSpPr>
          <p:nvPr>
            <p:ph type="subTitle" idx="1"/>
          </p:nvPr>
        </p:nvSpPr>
        <p:spPr/>
        <p:txBody>
          <a:bodyPr/>
          <a:lstStyle/>
          <a:p>
            <a:pPr fontAlgn="base"/>
            <a:r>
              <a:rPr lang="en-US" dirty="0" smtClean="0"/>
              <a:t>Introduction:</a:t>
            </a:r>
            <a:br>
              <a:rPr lang="en-US" dirty="0" smtClean="0"/>
            </a:br>
            <a:r>
              <a:rPr lang="en-US" dirty="0" smtClean="0"/>
              <a:t>	Web </a:t>
            </a:r>
            <a:r>
              <a:rPr lang="en-US" dirty="0"/>
              <a:t>Applications</a:t>
            </a:r>
          </a:p>
          <a:p>
            <a:pPr fontAlgn="base"/>
            <a:r>
              <a:rPr lang="en-US" dirty="0" smtClean="0"/>
              <a:t>	TCP/IP </a:t>
            </a:r>
            <a:r>
              <a:rPr lang="en-US" dirty="0"/>
              <a:t>Application Services</a:t>
            </a:r>
          </a:p>
        </p:txBody>
      </p:sp>
    </p:spTree>
    <p:extLst>
      <p:ext uri="{BB962C8B-B14F-4D97-AF65-F5344CB8AC3E}">
        <p14:creationId xmlns:p14="http://schemas.microsoft.com/office/powerpoint/2010/main" val="2977619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Web Applications:</a:t>
            </a:r>
            <a:endParaRPr lang="en-US" dirty="0"/>
          </a:p>
        </p:txBody>
      </p:sp>
      <p:sp>
        <p:nvSpPr>
          <p:cNvPr id="3" name="Content Placeholder 2"/>
          <p:cNvSpPr>
            <a:spLocks noGrp="1"/>
          </p:cNvSpPr>
          <p:nvPr>
            <p:ph idx="1"/>
          </p:nvPr>
        </p:nvSpPr>
        <p:spPr/>
        <p:txBody>
          <a:bodyPr/>
          <a:lstStyle/>
          <a:p>
            <a:r>
              <a:rPr lang="en-US" b="1" dirty="0"/>
              <a:t>Definition:</a:t>
            </a:r>
            <a:r>
              <a:rPr lang="en-US" dirty="0"/>
              <a:t/>
            </a:r>
            <a:br>
              <a:rPr lang="en-US" dirty="0"/>
            </a:br>
            <a:r>
              <a:rPr lang="en-US" dirty="0"/>
              <a:t>Web applications are software applications that run on web servers and are accessed by users over a network, typically the internet, through a web browser.</a:t>
            </a:r>
            <a:endParaRPr lang="en-US" dirty="0"/>
          </a:p>
        </p:txBody>
      </p:sp>
    </p:spTree>
    <p:extLst>
      <p:ext uri="{BB962C8B-B14F-4D97-AF65-F5344CB8AC3E}">
        <p14:creationId xmlns:p14="http://schemas.microsoft.com/office/powerpoint/2010/main" val="2453084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Web Applications:</a:t>
            </a:r>
            <a:endParaRPr lang="en-US" dirty="0"/>
          </a:p>
        </p:txBody>
      </p:sp>
      <p:sp>
        <p:nvSpPr>
          <p:cNvPr id="3" name="Content Placeholder 2"/>
          <p:cNvSpPr>
            <a:spLocks noGrp="1"/>
          </p:cNvSpPr>
          <p:nvPr>
            <p:ph idx="1"/>
          </p:nvPr>
        </p:nvSpPr>
        <p:spPr>
          <a:xfrm>
            <a:off x="1655379" y="1481959"/>
            <a:ext cx="10011104" cy="4698124"/>
          </a:xfrm>
        </p:spPr>
        <p:txBody>
          <a:bodyPr>
            <a:normAutofit/>
          </a:bodyPr>
          <a:lstStyle/>
          <a:p>
            <a:pPr marL="0" indent="0">
              <a:buNone/>
            </a:pPr>
            <a:r>
              <a:rPr lang="en-US" b="1" u="sng" dirty="0"/>
              <a:t>Components of a Web Application:</a:t>
            </a:r>
            <a:endParaRPr lang="en-US" u="sng" dirty="0"/>
          </a:p>
          <a:p>
            <a:r>
              <a:rPr lang="en-US" b="1" dirty="0"/>
              <a:t>Client-side scripting:</a:t>
            </a:r>
            <a:r>
              <a:rPr lang="en-US" dirty="0"/>
              <a:t> The code that executes in the user's browser. Typically written in languages like HTML, CSS, and JavaScript.</a:t>
            </a:r>
          </a:p>
          <a:p>
            <a:r>
              <a:rPr lang="en-US" b="1" dirty="0"/>
              <a:t>Server-side scripting:</a:t>
            </a:r>
            <a:r>
              <a:rPr lang="en-US" dirty="0"/>
              <a:t> The code that executes on the server. It handles requests from clients, interacts with databases, and generates dynamic content. Common server-side scripting languages include PHP, Python, Ruby, and Java.</a:t>
            </a:r>
          </a:p>
          <a:p>
            <a:r>
              <a:rPr lang="en-US" b="1" dirty="0"/>
              <a:t>Database:</a:t>
            </a:r>
            <a:r>
              <a:rPr lang="en-US" dirty="0"/>
              <a:t> Web applications often interact with databases to store and retrieve data. Common databases include MySQL, PostgreSQL, MongoDB, etc.</a:t>
            </a:r>
          </a:p>
          <a:p>
            <a:r>
              <a:rPr lang="en-US" b="1" dirty="0"/>
              <a:t>Web Server:</a:t>
            </a:r>
            <a:r>
              <a:rPr lang="en-US" dirty="0"/>
              <a:t> The server that hosts the web application and serves web pages to clients. Popular web servers include Apache, Nginx, and Microsoft IIS.</a:t>
            </a:r>
          </a:p>
        </p:txBody>
      </p:sp>
    </p:spTree>
    <p:extLst>
      <p:ext uri="{BB962C8B-B14F-4D97-AF65-F5344CB8AC3E}">
        <p14:creationId xmlns:p14="http://schemas.microsoft.com/office/powerpoint/2010/main" val="1129069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Web Applications:</a:t>
            </a:r>
            <a:endParaRPr lang="en-US" dirty="0"/>
          </a:p>
        </p:txBody>
      </p:sp>
      <p:pic>
        <p:nvPicPr>
          <p:cNvPr id="6" name="Picture 5"/>
          <p:cNvPicPr>
            <a:picLocks noChangeAspect="1"/>
          </p:cNvPicPr>
          <p:nvPr/>
        </p:nvPicPr>
        <p:blipFill>
          <a:blip r:embed="rId2"/>
          <a:stretch>
            <a:fillRect/>
          </a:stretch>
        </p:blipFill>
        <p:spPr>
          <a:xfrm>
            <a:off x="1187964" y="1466193"/>
            <a:ext cx="10316648" cy="4713890"/>
          </a:xfrm>
          <a:prstGeom prst="rect">
            <a:avLst/>
          </a:prstGeom>
        </p:spPr>
      </p:pic>
    </p:spTree>
    <p:extLst>
      <p:ext uri="{BB962C8B-B14F-4D97-AF65-F5344CB8AC3E}">
        <p14:creationId xmlns:p14="http://schemas.microsoft.com/office/powerpoint/2010/main" val="790183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Web Applications:</a:t>
            </a:r>
            <a:endParaRPr lang="en-US" dirty="0"/>
          </a:p>
        </p:txBody>
      </p:sp>
      <p:sp>
        <p:nvSpPr>
          <p:cNvPr id="3" name="Content Placeholder 2"/>
          <p:cNvSpPr>
            <a:spLocks noGrp="1"/>
          </p:cNvSpPr>
          <p:nvPr>
            <p:ph idx="1"/>
          </p:nvPr>
        </p:nvSpPr>
        <p:spPr>
          <a:xfrm>
            <a:off x="1655379" y="1481959"/>
            <a:ext cx="10011104" cy="4698124"/>
          </a:xfrm>
        </p:spPr>
        <p:txBody>
          <a:bodyPr>
            <a:normAutofit/>
          </a:bodyPr>
          <a:lstStyle/>
          <a:p>
            <a:pPr marL="0" indent="0">
              <a:buNone/>
            </a:pPr>
            <a:r>
              <a:rPr lang="en-US" b="1" u="sng" dirty="0"/>
              <a:t>Types of Web Applications:</a:t>
            </a:r>
            <a:endParaRPr lang="en-US" u="sng" dirty="0"/>
          </a:p>
          <a:p>
            <a:r>
              <a:rPr lang="en-US" b="1" dirty="0"/>
              <a:t>Static Web Applications:</a:t>
            </a:r>
            <a:r>
              <a:rPr lang="en-US" dirty="0"/>
              <a:t> Content remains fixed and does not change unless manually updated.</a:t>
            </a:r>
          </a:p>
          <a:p>
            <a:r>
              <a:rPr lang="en-US" b="1" dirty="0"/>
              <a:t>Dynamic Web Applications:</a:t>
            </a:r>
            <a:r>
              <a:rPr lang="en-US" dirty="0"/>
              <a:t> Content is generated dynamically based on user input, interactions, or other external factors.</a:t>
            </a:r>
          </a:p>
          <a:p>
            <a:pPr marL="0" indent="0">
              <a:buNone/>
            </a:pPr>
            <a:r>
              <a:rPr lang="en-US" b="1" u="sng" dirty="0"/>
              <a:t>Examples of Web Applications:</a:t>
            </a:r>
            <a:endParaRPr lang="en-US" u="sng" dirty="0"/>
          </a:p>
          <a:p>
            <a:r>
              <a:rPr lang="en-US" dirty="0"/>
              <a:t>Social media platforms like Facebook, Twitter</a:t>
            </a:r>
          </a:p>
          <a:p>
            <a:r>
              <a:rPr lang="en-US" dirty="0"/>
              <a:t>E-commerce websites like Amazon, eBay</a:t>
            </a:r>
          </a:p>
          <a:p>
            <a:r>
              <a:rPr lang="en-US" dirty="0"/>
              <a:t>Productivity tools like Google </a:t>
            </a:r>
            <a:r>
              <a:rPr lang="en-US" dirty="0" smtClean="0"/>
              <a:t>Docs</a:t>
            </a:r>
            <a:endParaRPr lang="en-US" dirty="0"/>
          </a:p>
          <a:p>
            <a:r>
              <a:rPr lang="en-US" dirty="0"/>
              <a:t>Online banking systems</a:t>
            </a:r>
          </a:p>
          <a:p>
            <a:r>
              <a:rPr lang="en-US" dirty="0"/>
              <a:t>Web-based email services like Gmail, Outlook</a:t>
            </a:r>
          </a:p>
        </p:txBody>
      </p:sp>
      <p:pic>
        <p:nvPicPr>
          <p:cNvPr id="4" name="Picture 3"/>
          <p:cNvPicPr>
            <a:picLocks noChangeAspect="1"/>
          </p:cNvPicPr>
          <p:nvPr/>
        </p:nvPicPr>
        <p:blipFill>
          <a:blip r:embed="rId2"/>
          <a:stretch>
            <a:fillRect/>
          </a:stretch>
        </p:blipFill>
        <p:spPr>
          <a:xfrm>
            <a:off x="7568582" y="2975741"/>
            <a:ext cx="4314402" cy="3204342"/>
          </a:xfrm>
          <a:prstGeom prst="rect">
            <a:avLst/>
          </a:prstGeom>
        </p:spPr>
      </p:pic>
    </p:spTree>
    <p:extLst>
      <p:ext uri="{BB962C8B-B14F-4D97-AF65-F5344CB8AC3E}">
        <p14:creationId xmlns:p14="http://schemas.microsoft.com/office/powerpoint/2010/main" val="3912325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Web Applications:</a:t>
            </a:r>
            <a:endParaRPr lang="en-US" dirty="0"/>
          </a:p>
        </p:txBody>
      </p:sp>
      <p:pic>
        <p:nvPicPr>
          <p:cNvPr id="5" name="Picture 4"/>
          <p:cNvPicPr>
            <a:picLocks noChangeAspect="1"/>
          </p:cNvPicPr>
          <p:nvPr/>
        </p:nvPicPr>
        <p:blipFill>
          <a:blip r:embed="rId2"/>
          <a:stretch>
            <a:fillRect/>
          </a:stretch>
        </p:blipFill>
        <p:spPr>
          <a:xfrm>
            <a:off x="2422768" y="1264555"/>
            <a:ext cx="9251999" cy="5204249"/>
          </a:xfrm>
          <a:prstGeom prst="rect">
            <a:avLst/>
          </a:prstGeom>
        </p:spPr>
      </p:pic>
    </p:spTree>
    <p:extLst>
      <p:ext uri="{BB962C8B-B14F-4D97-AF65-F5344CB8AC3E}">
        <p14:creationId xmlns:p14="http://schemas.microsoft.com/office/powerpoint/2010/main" val="3670961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138006"/>
            <a:ext cx="8911687" cy="1280890"/>
          </a:xfrm>
        </p:spPr>
        <p:txBody>
          <a:bodyPr/>
          <a:lstStyle/>
          <a:p>
            <a:r>
              <a:rPr lang="en-US" b="1" dirty="0"/>
              <a:t>1. Web Applications:</a:t>
            </a:r>
            <a:endParaRPr lang="en-US" dirty="0"/>
          </a:p>
        </p:txBody>
      </p:sp>
      <p:pic>
        <p:nvPicPr>
          <p:cNvPr id="3" name="Picture 2"/>
          <p:cNvPicPr>
            <a:picLocks noChangeAspect="1"/>
          </p:cNvPicPr>
          <p:nvPr/>
        </p:nvPicPr>
        <p:blipFill>
          <a:blip r:embed="rId2"/>
          <a:stretch>
            <a:fillRect/>
          </a:stretch>
        </p:blipFill>
        <p:spPr>
          <a:xfrm>
            <a:off x="1459678" y="1014933"/>
            <a:ext cx="10600942" cy="5732708"/>
          </a:xfrm>
          <a:prstGeom prst="rect">
            <a:avLst/>
          </a:prstGeom>
        </p:spPr>
      </p:pic>
    </p:spTree>
    <p:extLst>
      <p:ext uri="{BB962C8B-B14F-4D97-AF65-F5344CB8AC3E}">
        <p14:creationId xmlns:p14="http://schemas.microsoft.com/office/powerpoint/2010/main" val="579871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Web Applications:</a:t>
            </a:r>
            <a:endParaRPr lang="en-US" dirty="0"/>
          </a:p>
        </p:txBody>
      </p:sp>
      <p:sp>
        <p:nvSpPr>
          <p:cNvPr id="3" name="Content Placeholder 2"/>
          <p:cNvSpPr>
            <a:spLocks noGrp="1"/>
          </p:cNvSpPr>
          <p:nvPr>
            <p:ph idx="1"/>
          </p:nvPr>
        </p:nvSpPr>
        <p:spPr>
          <a:xfrm>
            <a:off x="1655379" y="1481959"/>
            <a:ext cx="10011104" cy="4698124"/>
          </a:xfrm>
        </p:spPr>
        <p:txBody>
          <a:bodyPr>
            <a:normAutofit/>
          </a:bodyPr>
          <a:lstStyle/>
          <a:p>
            <a:pPr marL="0" indent="0">
              <a:buNone/>
            </a:pPr>
            <a:r>
              <a:rPr lang="en-US" b="1" u="sng" dirty="0"/>
              <a:t>Protocols for Running Web Applications:</a:t>
            </a:r>
            <a:endParaRPr lang="en-US" u="sng" dirty="0"/>
          </a:p>
          <a:p>
            <a:pPr marL="0" indent="0">
              <a:buNone/>
            </a:pPr>
            <a:r>
              <a:rPr lang="en-US" b="1" dirty="0"/>
              <a:t>a. Hypertext Transfer Protocol (HTTP):</a:t>
            </a:r>
            <a:endParaRPr lang="en-US" dirty="0"/>
          </a:p>
          <a:p>
            <a:r>
              <a:rPr lang="en-US" b="1" dirty="0"/>
              <a:t>Description:</a:t>
            </a:r>
            <a:r>
              <a:rPr lang="en-US" dirty="0"/>
              <a:t> HTTP is the foundation of data communication on the World Wide Web. It defines how messages are formatted and transmitted between web servers and clients.</a:t>
            </a:r>
          </a:p>
          <a:p>
            <a:r>
              <a:rPr lang="en-US" b="1" dirty="0"/>
              <a:t>Usage:</a:t>
            </a:r>
            <a:r>
              <a:rPr lang="en-US" dirty="0"/>
              <a:t> HTTP is used by web browsers to request web pages from servers and by servers to send responses back to clients. It supports various methods such as GET, POST, PUT, DELETE, etc., for different types of interactions.</a:t>
            </a:r>
          </a:p>
          <a:p>
            <a:pPr marL="0" indent="0">
              <a:buNone/>
            </a:pPr>
            <a:r>
              <a:rPr lang="en-US" b="1" dirty="0"/>
              <a:t>b. Secure Hypertext Transfer Protocol (HTTPS):</a:t>
            </a:r>
            <a:endParaRPr lang="en-US" dirty="0"/>
          </a:p>
          <a:p>
            <a:r>
              <a:rPr lang="en-US" b="1" dirty="0"/>
              <a:t>Description:</a:t>
            </a:r>
            <a:r>
              <a:rPr lang="en-US" dirty="0"/>
              <a:t> HTTPS is an extension of HTTP that adds a layer of encryption using SSL/TLS protocols to secure data transmission between clients and servers.</a:t>
            </a:r>
          </a:p>
          <a:p>
            <a:r>
              <a:rPr lang="en-US" b="1" dirty="0"/>
              <a:t>Usage:</a:t>
            </a:r>
            <a:r>
              <a:rPr lang="en-US" dirty="0"/>
              <a:t> HTTPS is essential for securing sensitive information transmitted over the internet, such as login credentials, payment details</a:t>
            </a:r>
          </a:p>
        </p:txBody>
      </p:sp>
      <p:sp>
        <p:nvSpPr>
          <p:cNvPr id="4" name="AutoShape 2" descr="HTTP vs HTTPS: What's the Difference? | Venaf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15037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Web Applications:</a:t>
            </a:r>
            <a:endParaRPr lang="en-US" dirty="0"/>
          </a:p>
        </p:txBody>
      </p:sp>
      <p:sp>
        <p:nvSpPr>
          <p:cNvPr id="4" name="AutoShape 2" descr="HTTP vs HTTPS: What's the Difference? | Venaf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stretch>
            <a:fillRect/>
          </a:stretch>
        </p:blipFill>
        <p:spPr>
          <a:xfrm>
            <a:off x="1273722" y="1450426"/>
            <a:ext cx="10771133" cy="4745421"/>
          </a:xfrm>
          <a:prstGeom prst="rect">
            <a:avLst/>
          </a:prstGeom>
        </p:spPr>
      </p:pic>
      <p:sp>
        <p:nvSpPr>
          <p:cNvPr id="7" name="AutoShape 2" descr="HTTP vs HTTPS: What's the Difference? | Venaf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HTTP vs HTTPS: What's the Difference? | Venaf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42267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a:t>
            </a:r>
            <a:r>
              <a:rPr lang="en-US" b="1" dirty="0"/>
              <a:t>TCP/IP Application Services</a:t>
            </a:r>
            <a:r>
              <a:rPr lang="en-US" b="1" dirty="0" smtClean="0"/>
              <a:t>:</a:t>
            </a:r>
            <a:endParaRPr lang="en-US" dirty="0"/>
          </a:p>
        </p:txBody>
      </p:sp>
      <p:sp>
        <p:nvSpPr>
          <p:cNvPr id="3" name="Content Placeholder 2"/>
          <p:cNvSpPr>
            <a:spLocks noGrp="1"/>
          </p:cNvSpPr>
          <p:nvPr>
            <p:ph idx="1"/>
          </p:nvPr>
        </p:nvSpPr>
        <p:spPr/>
        <p:txBody>
          <a:bodyPr/>
          <a:lstStyle/>
          <a:p>
            <a:pPr marL="0" indent="0">
              <a:buNone/>
            </a:pPr>
            <a:r>
              <a:rPr lang="en-US" b="1" dirty="0"/>
              <a:t>TCP/IP Protocol Suite:</a:t>
            </a:r>
            <a:endParaRPr lang="en-US" dirty="0"/>
          </a:p>
          <a:p>
            <a:r>
              <a:rPr lang="en-US" b="1" dirty="0"/>
              <a:t>Transmission Control Protocol (TCP):</a:t>
            </a:r>
            <a:r>
              <a:rPr lang="en-US" dirty="0"/>
              <a:t> Provides reliable, connection-oriented communication between applications.</a:t>
            </a:r>
          </a:p>
          <a:p>
            <a:r>
              <a:rPr lang="en-US" b="1" dirty="0"/>
              <a:t>Internet Protocol (IP):</a:t>
            </a:r>
            <a:r>
              <a:rPr lang="en-US" dirty="0"/>
              <a:t> Routes data packets across networks and provides addressing and routing functions.</a:t>
            </a:r>
          </a:p>
          <a:p>
            <a:r>
              <a:rPr lang="en-US" b="1" dirty="0"/>
              <a:t>Application Layer Protocols:</a:t>
            </a:r>
            <a:r>
              <a:rPr lang="en-US" dirty="0"/>
              <a:t> Protocols that operate at the highest layer of the TCP/IP model and enable communication between applications.</a:t>
            </a:r>
          </a:p>
        </p:txBody>
      </p:sp>
    </p:spTree>
    <p:extLst>
      <p:ext uri="{BB962C8B-B14F-4D97-AF65-F5344CB8AC3E}">
        <p14:creationId xmlns:p14="http://schemas.microsoft.com/office/powerpoint/2010/main" val="3597574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a:t>
            </a:r>
            <a:r>
              <a:rPr lang="en-US" b="1" dirty="0"/>
              <a:t>TCP/IP Application Services</a:t>
            </a:r>
            <a:r>
              <a:rPr lang="en-US" b="1" dirty="0" smtClean="0"/>
              <a:t>:</a:t>
            </a:r>
            <a:endParaRPr lang="en-US" dirty="0"/>
          </a:p>
        </p:txBody>
      </p:sp>
      <p:sp>
        <p:nvSpPr>
          <p:cNvPr id="3" name="Content Placeholder 2"/>
          <p:cNvSpPr>
            <a:spLocks noGrp="1"/>
          </p:cNvSpPr>
          <p:nvPr>
            <p:ph idx="1"/>
          </p:nvPr>
        </p:nvSpPr>
        <p:spPr>
          <a:xfrm>
            <a:off x="1529255" y="1723696"/>
            <a:ext cx="9975357" cy="4724400"/>
          </a:xfrm>
        </p:spPr>
        <p:txBody>
          <a:bodyPr/>
          <a:lstStyle/>
          <a:p>
            <a:pPr marL="0" indent="0">
              <a:buNone/>
            </a:pPr>
            <a:r>
              <a:rPr lang="en-US" b="1" dirty="0"/>
              <a:t>Common TCP/IP Application Layer </a:t>
            </a:r>
            <a:r>
              <a:rPr lang="en-US" b="1" dirty="0" smtClean="0"/>
              <a:t>Protocols and services:</a:t>
            </a:r>
            <a:endParaRPr lang="en-US" dirty="0"/>
          </a:p>
          <a:p>
            <a:r>
              <a:rPr lang="en-US" b="1" dirty="0"/>
              <a:t>Hypertext Transfer Protocol (HTTP):</a:t>
            </a:r>
            <a:r>
              <a:rPr lang="en-US" dirty="0"/>
              <a:t> Used for transferring hypertext documents on the World Wide Web.</a:t>
            </a:r>
          </a:p>
          <a:p>
            <a:r>
              <a:rPr lang="en-US" b="1" dirty="0"/>
              <a:t>File Transfer Protocol (FTP):</a:t>
            </a:r>
            <a:r>
              <a:rPr lang="en-US" dirty="0"/>
              <a:t> Used for transferring files between a client and a server on a computer network.</a:t>
            </a:r>
          </a:p>
          <a:p>
            <a:r>
              <a:rPr lang="en-US" b="1" dirty="0"/>
              <a:t>Simple Mail Transfer Protocol (SMTP):</a:t>
            </a:r>
            <a:r>
              <a:rPr lang="en-US" dirty="0"/>
              <a:t> Used for sending email messages between servers.</a:t>
            </a:r>
          </a:p>
          <a:p>
            <a:r>
              <a:rPr lang="en-US" b="1" dirty="0"/>
              <a:t>Post Office Protocol (POP3) and Internet Message Access Protocol (IMAP):</a:t>
            </a:r>
            <a:r>
              <a:rPr lang="en-US" dirty="0"/>
              <a:t> Used by email clients to retrieve emails from a mail server.</a:t>
            </a:r>
          </a:p>
          <a:p>
            <a:r>
              <a:rPr lang="en-US" b="1" dirty="0"/>
              <a:t>Domain Name System (DNS):</a:t>
            </a:r>
            <a:r>
              <a:rPr lang="en-US" dirty="0"/>
              <a:t> Translates domain names into IP addresses, enabling users to access websites using human-readable addresses.</a:t>
            </a:r>
          </a:p>
        </p:txBody>
      </p:sp>
    </p:spTree>
    <p:extLst>
      <p:ext uri="{BB962C8B-B14F-4D97-AF65-F5344CB8AC3E}">
        <p14:creationId xmlns:p14="http://schemas.microsoft.com/office/powerpoint/2010/main" val="61137230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57</TotalTime>
  <Words>566</Words>
  <Application>Microsoft Office PowerPoint</Application>
  <PresentationFormat>Widescreen</PresentationFormat>
  <Paragraphs>45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Century Gothic</vt:lpstr>
      <vt:lpstr>Wingdings 3</vt:lpstr>
      <vt:lpstr>Wisp</vt:lpstr>
      <vt:lpstr>DI-322 Web Technologies  </vt:lpstr>
      <vt:lpstr>1. Web Applications:</vt:lpstr>
      <vt:lpstr>1. Web Applications:</vt:lpstr>
      <vt:lpstr>1. Web Applications:</vt:lpstr>
      <vt:lpstr>1. Web Applications:</vt:lpstr>
      <vt:lpstr>1. Web Applications:</vt:lpstr>
      <vt:lpstr>1. Web Applications:</vt:lpstr>
      <vt:lpstr>1. Web Applications:</vt:lpstr>
      <vt:lpstr>1. Web Applications:</vt:lpstr>
      <vt:lpstr>2. TCP/IP Application Services:</vt:lpstr>
      <vt:lpstr>2. TCP/IP Application Services: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DI-322 Web Technologies</dc:title>
  <dc:creator>Kamran</dc:creator>
  <cp:lastModifiedBy>Kamran</cp:lastModifiedBy>
  <cp:revision>5</cp:revision>
  <dcterms:created xsi:type="dcterms:W3CDTF">2024-03-18T23:56:23Z</dcterms:created>
  <dcterms:modified xsi:type="dcterms:W3CDTF">2024-03-19T00:53:56Z</dcterms:modified>
</cp:coreProperties>
</file>
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9144000"/>
  <p:notesSz cx="6858000" cy="9144000"/>
  <p:embeddedFontLst>
    <p:embeddedFont>
      <p:font typeface="Arim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Arim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rimo-italic.fntdata"/><Relationship Id="rId50" Type="http://schemas.openxmlformats.org/officeDocument/2006/relationships/font" Target="fonts/Arimo-bold.fntdata"/><Relationship Id="rId52" Type="http://schemas.openxmlformats.org/officeDocument/2006/relationships/font" Target="fonts/Arim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64" name="Google Shape;36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5" name="Google Shape;36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Symmetric Encryption Technique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71" name="Google Shape;37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2" name="Google Shape;37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Have here the rules for filling in the 5x5 matrix, L to R, top to bottom, first with keyword after duplicate letters have been removed, and then with the remain letters, with I/J used as a single letter. This example comes from Dorothy Sayer's book "Have His Carcase", in which Lord Peter Wimsey solves this, and describes the use of a probably word attack.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78" name="Google Shape;37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9" name="Google Shape;37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Note the various rules, and how you wrap from right side back to left, or from bottom back to top. Decrypting of course works exactly in reverse. Can see this by working the example pairs shown, backwards.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91" name="Google Shape;39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2" name="Google Shape;39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Example message is: "meet me after the toga party" with a rail fence of depth 2.</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8" name="Google Shape;39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GERMAN -&gt; 326 415</a:t>
            </a:r>
            <a:endParaRPr/>
          </a:p>
          <a:p>
            <a:pPr indent="0" lvl="0" marL="0" rtl="0" algn="l">
              <a:spcBef>
                <a:spcPts val="0"/>
              </a:spcBef>
              <a:spcAft>
                <a:spcPts val="0"/>
              </a:spcAft>
              <a:buSzPts val="1800"/>
              <a:buNone/>
            </a:pPr>
            <a:r>
              <a:rPr lang="en-US"/>
              <a:t>Assign numbers alphabetically ascending order</a:t>
            </a:r>
            <a:endParaRPr/>
          </a:p>
        </p:txBody>
      </p:sp>
      <p:sp>
        <p:nvSpPr>
          <p:cNvPr id="399" name="Google Shape;399;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7" name="Google Shape;407;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any keyword repeats any letter, then first letter will be numbered first and repeating letter will be numbered very next</a:t>
            </a:r>
            <a:endParaRPr/>
          </a:p>
          <a:p>
            <a:pPr indent="0" lvl="0" marL="0" rtl="0" algn="l">
              <a:spcBef>
                <a:spcPts val="0"/>
              </a:spcBef>
              <a:spcAft>
                <a:spcPts val="0"/>
              </a:spcAft>
              <a:buSzPts val="1800"/>
              <a:buNone/>
            </a:pPr>
            <a:r>
              <a:rPr lang="en-US"/>
              <a:t>e.g. ADNAN   (1 3 4 2 5)</a:t>
            </a:r>
            <a:endParaRPr/>
          </a:p>
        </p:txBody>
      </p:sp>
      <p:sp>
        <p:nvSpPr>
          <p:cNvPr id="408" name="Google Shape;408;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
          <p:cNvSpPr txBox="1"/>
          <p:nvPr>
            <p:ph type="ctrTitle"/>
          </p:nvPr>
        </p:nvSpPr>
        <p:spPr>
          <a:xfrm>
            <a:off x="762000" y="1371600"/>
            <a:ext cx="7696200" cy="2057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 type="subTitle"/>
          </p:nvPr>
        </p:nvSpPr>
        <p:spPr>
          <a:xfrm>
            <a:off x="762000" y="3765550"/>
            <a:ext cx="7696200" cy="2057400"/>
          </a:xfrm>
          <a:prstGeom prst="rect">
            <a:avLst/>
          </a:prstGeom>
          <a:noFill/>
          <a:ln>
            <a:noFill/>
          </a:ln>
        </p:spPr>
        <p:txBody>
          <a:bodyPr anchorCtr="0" anchor="t" bIns="45700" lIns="91425" spcFirstLastPara="1" rIns="91425" wrap="square" tIns="45700">
            <a:noAutofit/>
          </a:bodyPr>
          <a:lstStyle>
            <a:lvl1pPr lvl="0" algn="l">
              <a:spcBef>
                <a:spcPts val="560"/>
              </a:spcBef>
              <a:spcAft>
                <a:spcPts val="0"/>
              </a:spcAft>
              <a:buSzPts val="1960"/>
              <a:buFont typeface="Noto Sans Symbols"/>
              <a:buNone/>
              <a:defRPr sz="2800">
                <a:latin typeface="Arial"/>
                <a:ea typeface="Arial"/>
                <a:cs typeface="Arial"/>
                <a:sym typeface="Arial"/>
              </a:defRPr>
            </a:lvl1pPr>
            <a:lvl2pPr lvl="1" algn="l">
              <a:spcBef>
                <a:spcPts val="360"/>
              </a:spcBef>
              <a:spcAft>
                <a:spcPts val="0"/>
              </a:spcAft>
              <a:buSzPts val="1350"/>
              <a:buChar char="■"/>
              <a:defRPr/>
            </a:lvl2pPr>
            <a:lvl3pPr lvl="2" algn="l">
              <a:spcBef>
                <a:spcPts val="360"/>
              </a:spcBef>
              <a:spcAft>
                <a:spcPts val="0"/>
              </a:spcAft>
              <a:buSzPts val="1170"/>
              <a:buChar char="□"/>
              <a:defRPr/>
            </a:lvl3pPr>
            <a:lvl4pPr lvl="3" algn="l">
              <a:spcBef>
                <a:spcPts val="360"/>
              </a:spcBef>
              <a:spcAft>
                <a:spcPts val="0"/>
              </a:spcAft>
              <a:buSzPts val="135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26" name="Google Shape;26;p2"/>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4"/>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14325" lvl="1" marL="914400" algn="l">
              <a:spcBef>
                <a:spcPts val="360"/>
              </a:spcBef>
              <a:spcAft>
                <a:spcPts val="0"/>
              </a:spcAft>
              <a:buSzPts val="1350"/>
              <a:buChar char="■"/>
              <a:defRPr/>
            </a:lvl2pPr>
            <a:lvl3pPr indent="-302894" lvl="2" marL="1371600" algn="l">
              <a:spcBef>
                <a:spcPts val="360"/>
              </a:spcBef>
              <a:spcAft>
                <a:spcPts val="0"/>
              </a:spcAft>
              <a:buSzPts val="1170"/>
              <a:buChar char="□"/>
              <a:defRPr/>
            </a:lvl3pPr>
            <a:lvl4pPr indent="-314325" lvl="3" marL="1828800" algn="l">
              <a:spcBef>
                <a:spcPts val="360"/>
              </a:spcBef>
              <a:spcAft>
                <a:spcPts val="0"/>
              </a:spcAft>
              <a:buSzPts val="135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44" name="Google Shape;44;p4"/>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5"/>
          <p:cNvSpPr txBox="1"/>
          <p:nvPr>
            <p:ph type="title"/>
          </p:nvPr>
        </p:nvSpPr>
        <p:spPr>
          <a:xfrm rot="5400000">
            <a:off x="4859338" y="2303463"/>
            <a:ext cx="5597525" cy="2057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 type="body"/>
          </p:nvPr>
        </p:nvSpPr>
        <p:spPr>
          <a:xfrm rot="5400000">
            <a:off x="668338" y="322262"/>
            <a:ext cx="5597525" cy="60198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14325" lvl="1" marL="914400" algn="l">
              <a:spcBef>
                <a:spcPts val="360"/>
              </a:spcBef>
              <a:spcAft>
                <a:spcPts val="0"/>
              </a:spcAft>
              <a:buSzPts val="1350"/>
              <a:buChar char="■"/>
              <a:defRPr/>
            </a:lvl2pPr>
            <a:lvl3pPr indent="-302894" lvl="2" marL="1371600" algn="l">
              <a:spcBef>
                <a:spcPts val="360"/>
              </a:spcBef>
              <a:spcAft>
                <a:spcPts val="0"/>
              </a:spcAft>
              <a:buSzPts val="1170"/>
              <a:buChar char="□"/>
              <a:defRPr/>
            </a:lvl3pPr>
            <a:lvl4pPr indent="-314325" lvl="3" marL="1828800" algn="l">
              <a:spcBef>
                <a:spcPts val="360"/>
              </a:spcBef>
              <a:spcAft>
                <a:spcPts val="0"/>
              </a:spcAft>
              <a:buSzPts val="135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50" name="Google Shape;50;p5"/>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6"/>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 type="body"/>
          </p:nvPr>
        </p:nvSpPr>
        <p:spPr>
          <a:xfrm rot="5400000">
            <a:off x="2420938" y="-134937"/>
            <a:ext cx="4302125" cy="8229600"/>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14325" lvl="1" marL="914400" algn="l">
              <a:spcBef>
                <a:spcPts val="360"/>
              </a:spcBef>
              <a:spcAft>
                <a:spcPts val="0"/>
              </a:spcAft>
              <a:buSzPts val="1350"/>
              <a:buChar char="■"/>
              <a:defRPr/>
            </a:lvl2pPr>
            <a:lvl3pPr indent="-302894" lvl="2" marL="1371600" algn="l">
              <a:spcBef>
                <a:spcPts val="360"/>
              </a:spcBef>
              <a:spcAft>
                <a:spcPts val="0"/>
              </a:spcAft>
              <a:buSzPts val="1170"/>
              <a:buChar char="□"/>
              <a:defRPr/>
            </a:lvl3pPr>
            <a:lvl4pPr indent="-314325" lvl="3" marL="1828800" algn="l">
              <a:spcBef>
                <a:spcPts val="360"/>
              </a:spcBef>
              <a:spcAft>
                <a:spcPts val="0"/>
              </a:spcAft>
              <a:buSzPts val="135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56" name="Google Shape;56;p6"/>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p:nvPr>
            <p:ph idx="2" type="pic"/>
          </p:nvPr>
        </p:nvSpPr>
        <p:spPr>
          <a:xfrm>
            <a:off x="1792288" y="612775"/>
            <a:ext cx="5486400" cy="4114800"/>
          </a:xfrm>
          <a:prstGeom prst="rect">
            <a:avLst/>
          </a:prstGeom>
          <a:noFill/>
          <a:ln>
            <a:noFill/>
          </a:ln>
        </p:spPr>
      </p:sp>
      <p:sp>
        <p:nvSpPr>
          <p:cNvPr id="62" name="Google Shape;62;p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63" name="Google Shape;63;p7"/>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l">
              <a:spcBef>
                <a:spcPts val="640"/>
              </a:spcBef>
              <a:spcAft>
                <a:spcPts val="0"/>
              </a:spcAft>
              <a:buSzPts val="2240"/>
              <a:buChar char="□"/>
              <a:defRPr sz="3200"/>
            </a:lvl1pPr>
            <a:lvl2pPr indent="-361950" lvl="1" marL="914400" algn="l">
              <a:spcBef>
                <a:spcPts val="560"/>
              </a:spcBef>
              <a:spcAft>
                <a:spcPts val="0"/>
              </a:spcAft>
              <a:buSzPts val="2100"/>
              <a:buChar char="■"/>
              <a:defRPr sz="2800"/>
            </a:lvl2pPr>
            <a:lvl3pPr indent="-327660" lvl="2" marL="1371600" algn="l">
              <a:spcBef>
                <a:spcPts val="480"/>
              </a:spcBef>
              <a:spcAft>
                <a:spcPts val="0"/>
              </a:spcAft>
              <a:buSzPts val="1560"/>
              <a:buChar char="□"/>
              <a:defRPr sz="2400"/>
            </a:lvl3pPr>
            <a:lvl4pPr indent="-323850" lvl="3" marL="1828800" algn="l">
              <a:spcBef>
                <a:spcPts val="400"/>
              </a:spcBef>
              <a:spcAft>
                <a:spcPts val="0"/>
              </a:spcAft>
              <a:buSzPts val="15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69" name="Google Shape;69;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80"/>
              <a:buNone/>
              <a:defRPr sz="1400"/>
            </a:lvl1pPr>
            <a:lvl2pPr indent="-228600" lvl="1" marL="914400" algn="l">
              <a:spcBef>
                <a:spcPts val="240"/>
              </a:spcBef>
              <a:spcAft>
                <a:spcPts val="0"/>
              </a:spcAft>
              <a:buSzPts val="900"/>
              <a:buNone/>
              <a:defRPr sz="1200"/>
            </a:lvl2pPr>
            <a:lvl3pPr indent="-228600" lvl="2" marL="1371600" algn="l">
              <a:spcBef>
                <a:spcPts val="200"/>
              </a:spcBef>
              <a:spcAft>
                <a:spcPts val="0"/>
              </a:spcAft>
              <a:buSzPts val="650"/>
              <a:buNone/>
              <a:defRPr sz="1000"/>
            </a:lvl3pPr>
            <a:lvl4pPr indent="-228600" lvl="3" marL="1828800" algn="l">
              <a:spcBef>
                <a:spcPts val="180"/>
              </a:spcBef>
              <a:spcAft>
                <a:spcPts val="0"/>
              </a:spcAft>
              <a:buSzPts val="67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70" name="Google Shape;70;p8"/>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9"/>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0"/>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0"/>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11"/>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85" name="Google Shape;85;p1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l">
              <a:spcBef>
                <a:spcPts val="480"/>
              </a:spcBef>
              <a:spcAft>
                <a:spcPts val="0"/>
              </a:spcAft>
              <a:buSzPts val="1680"/>
              <a:buChar char="□"/>
              <a:defRPr sz="2400"/>
            </a:lvl1pPr>
            <a:lvl2pPr indent="-323850" lvl="1" marL="914400" algn="l">
              <a:spcBef>
                <a:spcPts val="400"/>
              </a:spcBef>
              <a:spcAft>
                <a:spcPts val="0"/>
              </a:spcAft>
              <a:buSzPts val="1500"/>
              <a:buChar char="■"/>
              <a:defRPr sz="2000"/>
            </a:lvl2pPr>
            <a:lvl3pPr indent="-302894" lvl="2" marL="1371600" algn="l">
              <a:spcBef>
                <a:spcPts val="360"/>
              </a:spcBef>
              <a:spcAft>
                <a:spcPts val="0"/>
              </a:spcAft>
              <a:buSzPts val="1170"/>
              <a:buChar char="□"/>
              <a:defRPr sz="1800"/>
            </a:lvl3pPr>
            <a:lvl4pPr indent="-304800" lvl="3" marL="1828800" algn="l">
              <a:spcBef>
                <a:spcPts val="320"/>
              </a:spcBef>
              <a:spcAft>
                <a:spcPts val="0"/>
              </a:spcAft>
              <a:buSzPts val="120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86" name="Google Shape;86;p1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680"/>
              <a:buNone/>
              <a:defRPr b="1" sz="2400"/>
            </a:lvl1pPr>
            <a:lvl2pPr indent="-228600" lvl="1" marL="914400" algn="l">
              <a:spcBef>
                <a:spcPts val="400"/>
              </a:spcBef>
              <a:spcAft>
                <a:spcPts val="0"/>
              </a:spcAft>
              <a:buSzPts val="1500"/>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20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87" name="Google Shape;87;p1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l">
              <a:spcBef>
                <a:spcPts val="480"/>
              </a:spcBef>
              <a:spcAft>
                <a:spcPts val="0"/>
              </a:spcAft>
              <a:buSzPts val="1680"/>
              <a:buChar char="□"/>
              <a:defRPr sz="2400"/>
            </a:lvl1pPr>
            <a:lvl2pPr indent="-323850" lvl="1" marL="914400" algn="l">
              <a:spcBef>
                <a:spcPts val="400"/>
              </a:spcBef>
              <a:spcAft>
                <a:spcPts val="0"/>
              </a:spcAft>
              <a:buSzPts val="1500"/>
              <a:buChar char="■"/>
              <a:defRPr sz="2000"/>
            </a:lvl2pPr>
            <a:lvl3pPr indent="-302894" lvl="2" marL="1371600" algn="l">
              <a:spcBef>
                <a:spcPts val="360"/>
              </a:spcBef>
              <a:spcAft>
                <a:spcPts val="0"/>
              </a:spcAft>
              <a:buSzPts val="1170"/>
              <a:buChar char="□"/>
              <a:defRPr sz="1800"/>
            </a:lvl3pPr>
            <a:lvl4pPr indent="-304800" lvl="3" marL="1828800" algn="l">
              <a:spcBef>
                <a:spcPts val="320"/>
              </a:spcBef>
              <a:spcAft>
                <a:spcPts val="0"/>
              </a:spcAft>
              <a:buSzPts val="120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88" name="Google Shape;88;p11"/>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1" name="Shape 91"/>
        <p:cNvGrpSpPr/>
        <p:nvPr/>
      </p:nvGrpSpPr>
      <p:grpSpPr>
        <a:xfrm>
          <a:off x="0" y="0"/>
          <a:ext cx="0" cy="0"/>
          <a:chOff x="0" y="0"/>
          <a:chExt cx="0" cy="0"/>
        </a:xfrm>
      </p:grpSpPr>
      <p:sp>
        <p:nvSpPr>
          <p:cNvPr id="92" name="Google Shape;92;p12"/>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
          <p:cNvSpPr txBox="1"/>
          <p:nvPr>
            <p:ph idx="1" type="body"/>
          </p:nvPr>
        </p:nvSpPr>
        <p:spPr>
          <a:xfrm>
            <a:off x="457200" y="1828800"/>
            <a:ext cx="4038600" cy="4302125"/>
          </a:xfrm>
          <a:prstGeom prst="rect">
            <a:avLst/>
          </a:prstGeom>
          <a:noFill/>
          <a:ln>
            <a:noFill/>
          </a:ln>
        </p:spPr>
        <p:txBody>
          <a:bodyPr anchorCtr="0" anchor="t" bIns="45700" lIns="91425" spcFirstLastPara="1" rIns="91425" wrap="square" tIns="45700">
            <a:noAutofit/>
          </a:bodyPr>
          <a:lstStyle>
            <a:lvl1pPr indent="-353060" lvl="0" marL="457200" algn="l">
              <a:spcBef>
                <a:spcPts val="560"/>
              </a:spcBef>
              <a:spcAft>
                <a:spcPts val="0"/>
              </a:spcAft>
              <a:buSzPts val="1960"/>
              <a:buChar char="□"/>
              <a:defRPr sz="2800"/>
            </a:lvl1pPr>
            <a:lvl2pPr indent="-342900" lvl="1" marL="914400" algn="l">
              <a:spcBef>
                <a:spcPts val="480"/>
              </a:spcBef>
              <a:spcAft>
                <a:spcPts val="0"/>
              </a:spcAft>
              <a:buSzPts val="1800"/>
              <a:buChar char="■"/>
              <a:defRPr sz="2400"/>
            </a:lvl2pPr>
            <a:lvl3pPr indent="-311150" lvl="2" marL="1371600" algn="l">
              <a:spcBef>
                <a:spcPts val="400"/>
              </a:spcBef>
              <a:spcAft>
                <a:spcPts val="0"/>
              </a:spcAft>
              <a:buSzPts val="1300"/>
              <a:buChar char="□"/>
              <a:defRPr sz="2000"/>
            </a:lvl3pPr>
            <a:lvl4pPr indent="-314325" lvl="3" marL="1828800" algn="l">
              <a:spcBef>
                <a:spcPts val="360"/>
              </a:spcBef>
              <a:spcAft>
                <a:spcPts val="0"/>
              </a:spcAft>
              <a:buSzPts val="135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94" name="Google Shape;94;p12"/>
          <p:cNvSpPr txBox="1"/>
          <p:nvPr>
            <p:ph idx="2" type="body"/>
          </p:nvPr>
        </p:nvSpPr>
        <p:spPr>
          <a:xfrm>
            <a:off x="4648200" y="1828800"/>
            <a:ext cx="4038600" cy="4302125"/>
          </a:xfrm>
          <a:prstGeom prst="rect">
            <a:avLst/>
          </a:prstGeom>
          <a:noFill/>
          <a:ln>
            <a:noFill/>
          </a:ln>
        </p:spPr>
        <p:txBody>
          <a:bodyPr anchorCtr="0" anchor="t" bIns="45700" lIns="91425" spcFirstLastPara="1" rIns="91425" wrap="square" tIns="45700">
            <a:noAutofit/>
          </a:bodyPr>
          <a:lstStyle>
            <a:lvl1pPr indent="-353060" lvl="0" marL="457200" algn="l">
              <a:spcBef>
                <a:spcPts val="560"/>
              </a:spcBef>
              <a:spcAft>
                <a:spcPts val="0"/>
              </a:spcAft>
              <a:buSzPts val="1960"/>
              <a:buChar char="□"/>
              <a:defRPr sz="2800"/>
            </a:lvl1pPr>
            <a:lvl2pPr indent="-342900" lvl="1" marL="914400" algn="l">
              <a:spcBef>
                <a:spcPts val="480"/>
              </a:spcBef>
              <a:spcAft>
                <a:spcPts val="0"/>
              </a:spcAft>
              <a:buSzPts val="1800"/>
              <a:buChar char="■"/>
              <a:defRPr sz="2400"/>
            </a:lvl2pPr>
            <a:lvl3pPr indent="-311150" lvl="2" marL="1371600" algn="l">
              <a:spcBef>
                <a:spcPts val="400"/>
              </a:spcBef>
              <a:spcAft>
                <a:spcPts val="0"/>
              </a:spcAft>
              <a:buSzPts val="1300"/>
              <a:buChar char="□"/>
              <a:defRPr sz="2000"/>
            </a:lvl3pPr>
            <a:lvl4pPr indent="-314325" lvl="3" marL="1828800" algn="l">
              <a:spcBef>
                <a:spcPts val="360"/>
              </a:spcBef>
              <a:spcAft>
                <a:spcPts val="0"/>
              </a:spcAft>
              <a:buSzPts val="135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95" name="Google Shape;95;p12"/>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2"/>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400"/>
              <a:buNone/>
              <a:defRPr sz="2000"/>
            </a:lvl1pPr>
            <a:lvl2pPr indent="-228600" lvl="1" marL="914400" algn="l">
              <a:spcBef>
                <a:spcPts val="360"/>
              </a:spcBef>
              <a:spcAft>
                <a:spcPts val="0"/>
              </a:spcAft>
              <a:buSzPts val="1350"/>
              <a:buNone/>
              <a:defRPr sz="1800"/>
            </a:lvl2pPr>
            <a:lvl3pPr indent="-228600" lvl="2" marL="1371600" algn="l">
              <a:spcBef>
                <a:spcPts val="320"/>
              </a:spcBef>
              <a:spcAft>
                <a:spcPts val="0"/>
              </a:spcAft>
              <a:buSzPts val="1040"/>
              <a:buNone/>
              <a:defRPr sz="1600"/>
            </a:lvl3pPr>
            <a:lvl4pPr indent="-228600" lvl="3" marL="1828800" algn="l">
              <a:spcBef>
                <a:spcPts val="280"/>
              </a:spcBef>
              <a:spcAft>
                <a:spcPts val="0"/>
              </a:spcAft>
              <a:buSzPts val="105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101" name="Google Shape;101;p13"/>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3"/>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theme" Target="../theme/theme2.xml"/><Relationship Id="rId10" Type="http://schemas.openxmlformats.org/officeDocument/2006/relationships/slideLayout" Target="../slideLayouts/slideLayout1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381000" y="990600"/>
            <a:ext cx="76200" cy="5105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grpSp>
        <p:nvGrpSpPr>
          <p:cNvPr id="11" name="Google Shape;11;p1"/>
          <p:cNvGrpSpPr/>
          <p:nvPr/>
        </p:nvGrpSpPr>
        <p:grpSpPr>
          <a:xfrm>
            <a:off x="381000" y="304800"/>
            <a:ext cx="8391525" cy="5791200"/>
            <a:chOff x="240" y="192"/>
            <a:chExt cx="5286" cy="3648"/>
          </a:xfrm>
        </p:grpSpPr>
        <p:sp>
          <p:nvSpPr>
            <p:cNvPr id="12" name="Google Shape;12;p1"/>
            <p:cNvSpPr txBox="1"/>
            <p:nvPr/>
          </p:nvSpPr>
          <p:spPr>
            <a:xfrm flipH="1" rot="10800000">
              <a:off x="5236" y="192"/>
              <a:ext cx="288" cy="288"/>
            </a:xfrm>
            <a:prstGeom prst="rect">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13" name="Google Shape;13;p1"/>
            <p:cNvSpPr txBox="1"/>
            <p:nvPr/>
          </p:nvSpPr>
          <p:spPr>
            <a:xfrm flipH="1" rot="10800000">
              <a:off x="240" y="192"/>
              <a:ext cx="5004" cy="288"/>
            </a:xfrm>
            <a:prstGeom prst="rect">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14" name="Google Shape;14;p1"/>
            <p:cNvSpPr txBox="1"/>
            <p:nvPr/>
          </p:nvSpPr>
          <p:spPr>
            <a:xfrm flipH="1" rot="10800000">
              <a:off x="240" y="480"/>
              <a:ext cx="5004" cy="144"/>
            </a:xfrm>
            <a:prstGeom prst="rect">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15" name="Google Shape;15;p1"/>
            <p:cNvSpPr txBox="1"/>
            <p:nvPr/>
          </p:nvSpPr>
          <p:spPr>
            <a:xfrm flipH="1" rot="10800000">
              <a:off x="5242" y="480"/>
              <a:ext cx="282" cy="144"/>
            </a:xfrm>
            <a:prstGeom prst="rect">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cxnSp>
          <p:nvCxnSpPr>
            <p:cNvPr id="16" name="Google Shape;16;p1"/>
            <p:cNvCxnSpPr/>
            <p:nvPr/>
          </p:nvCxnSpPr>
          <p:spPr>
            <a:xfrm rot="10800000">
              <a:off x="480" y="2256"/>
              <a:ext cx="4848" cy="0"/>
            </a:xfrm>
            <a:prstGeom prst="straightConnector1">
              <a:avLst/>
            </a:prstGeom>
            <a:noFill/>
            <a:ln cap="flat" cmpd="sng" w="12700">
              <a:solidFill>
                <a:schemeClr val="dk1"/>
              </a:solidFill>
              <a:prstDash val="solid"/>
              <a:miter lim="800000"/>
              <a:headEnd len="med" w="med" type="none"/>
              <a:tailEnd len="med" w="med" type="none"/>
            </a:ln>
          </p:spPr>
        </p:cxnSp>
        <p:sp>
          <p:nvSpPr>
            <p:cNvPr id="17" name="Google Shape;17;p1"/>
            <p:cNvSpPr txBox="1"/>
            <p:nvPr/>
          </p:nvSpPr>
          <p:spPr>
            <a:xfrm>
              <a:off x="240" y="192"/>
              <a:ext cx="5286" cy="364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grpSp>
      <p:sp>
        <p:nvSpPr>
          <p:cNvPr id="18" name="Google Shape;18;p1"/>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9" name="Google Shape;19;p1"/>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640"/>
              </a:spcBef>
              <a:spcAft>
                <a:spcPts val="0"/>
              </a:spcAft>
              <a:buClr>
                <a:schemeClr val="lt2"/>
              </a:buClr>
              <a:buSzPts val="224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61950" lvl="1" marL="914400" marR="0" rtl="0" algn="l">
              <a:spcBef>
                <a:spcPts val="560"/>
              </a:spcBef>
              <a:spcAft>
                <a:spcPts val="0"/>
              </a:spcAft>
              <a:buClr>
                <a:schemeClr val="accent2"/>
              </a:buClr>
              <a:buSzPts val="210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27660" lvl="2" marL="1371600" marR="0" rtl="0" algn="l">
              <a:spcBef>
                <a:spcPts val="480"/>
              </a:spcBef>
              <a:spcAft>
                <a:spcPts val="0"/>
              </a:spcAft>
              <a:buClr>
                <a:schemeClr val="lt2"/>
              </a:buClr>
              <a:buSzPts val="156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23850" lvl="3" marL="1828800" marR="0" rtl="0" algn="l">
              <a:spcBef>
                <a:spcPts val="400"/>
              </a:spcBef>
              <a:spcAft>
                <a:spcPts val="0"/>
              </a:spcAft>
              <a:buClr>
                <a:schemeClr val="accent2"/>
              </a:buClr>
              <a:buSzPts val="15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0" name="Google Shape;20;p1"/>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21" name="Google Shape;21;p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0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22" name="Google Shape;22;p1"/>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1"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3"/>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31" name="Google Shape;31;p3"/>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640"/>
              </a:spcBef>
              <a:spcAft>
                <a:spcPts val="0"/>
              </a:spcAft>
              <a:buClr>
                <a:schemeClr val="lt2"/>
              </a:buClr>
              <a:buSzPts val="224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61950" lvl="1" marL="914400" marR="0" rtl="0" algn="l">
              <a:spcBef>
                <a:spcPts val="560"/>
              </a:spcBef>
              <a:spcAft>
                <a:spcPts val="0"/>
              </a:spcAft>
              <a:buClr>
                <a:schemeClr val="accent2"/>
              </a:buClr>
              <a:buSzPts val="210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27660" lvl="2" marL="1371600" marR="0" rtl="0" algn="l">
              <a:spcBef>
                <a:spcPts val="480"/>
              </a:spcBef>
              <a:spcAft>
                <a:spcPts val="0"/>
              </a:spcAft>
              <a:buClr>
                <a:schemeClr val="lt2"/>
              </a:buClr>
              <a:buSzPts val="156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23850" lvl="3" marL="1828800" marR="0" rtl="0" algn="l">
              <a:spcBef>
                <a:spcPts val="400"/>
              </a:spcBef>
              <a:spcAft>
                <a:spcPts val="0"/>
              </a:spcAft>
              <a:buClr>
                <a:schemeClr val="accent2"/>
              </a:buClr>
              <a:buSzPts val="15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2" name="Google Shape;32;p3"/>
          <p:cNvSpPr txBox="1"/>
          <p:nvPr>
            <p:ph idx="10" type="dt"/>
          </p:nvPr>
        </p:nvSpPr>
        <p:spPr>
          <a:xfrm>
            <a:off x="457200" y="6248400"/>
            <a:ext cx="16764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33" name="Google Shape;33;p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0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34" name="Google Shape;34;p3"/>
          <p:cNvSpPr txBox="1"/>
          <p:nvPr>
            <p:ph idx="12" type="sldNum"/>
          </p:nvPr>
        </p:nvSpPr>
        <p:spPr>
          <a:xfrm>
            <a:off x="67818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grpSp>
        <p:nvGrpSpPr>
          <p:cNvPr id="35" name="Google Shape;35;p3"/>
          <p:cNvGrpSpPr/>
          <p:nvPr/>
        </p:nvGrpSpPr>
        <p:grpSpPr>
          <a:xfrm>
            <a:off x="279400" y="152400"/>
            <a:ext cx="8686800" cy="1600200"/>
            <a:chOff x="176" y="96"/>
            <a:chExt cx="5472" cy="1008"/>
          </a:xfrm>
        </p:grpSpPr>
        <p:cxnSp>
          <p:nvCxnSpPr>
            <p:cNvPr id="36" name="Google Shape;36;p3"/>
            <p:cNvCxnSpPr/>
            <p:nvPr/>
          </p:nvCxnSpPr>
          <p:spPr>
            <a:xfrm rot="10800000">
              <a:off x="288" y="1104"/>
              <a:ext cx="5232" cy="0"/>
            </a:xfrm>
            <a:prstGeom prst="straightConnector1">
              <a:avLst/>
            </a:prstGeom>
            <a:noFill/>
            <a:ln cap="flat" cmpd="sng" w="12700">
              <a:solidFill>
                <a:schemeClr val="dk1"/>
              </a:solidFill>
              <a:prstDash val="solid"/>
              <a:miter lim="800000"/>
              <a:headEnd len="med" w="med" type="none"/>
              <a:tailEnd len="med" w="med" type="none"/>
            </a:ln>
          </p:spPr>
        </p:cxnSp>
        <p:sp>
          <p:nvSpPr>
            <p:cNvPr id="37" name="Google Shape;37;p3"/>
            <p:cNvSpPr txBox="1"/>
            <p:nvPr/>
          </p:nvSpPr>
          <p:spPr>
            <a:xfrm>
              <a:off x="5504" y="96"/>
              <a:ext cx="144" cy="144"/>
            </a:xfrm>
            <a:prstGeom prst="rect">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38" name="Google Shape;38;p3"/>
            <p:cNvSpPr txBox="1"/>
            <p:nvPr/>
          </p:nvSpPr>
          <p:spPr>
            <a:xfrm>
              <a:off x="176" y="96"/>
              <a:ext cx="5326" cy="144"/>
            </a:xfrm>
            <a:prstGeom prst="rect">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39" name="Google Shape;39;p3"/>
            <p:cNvSpPr txBox="1"/>
            <p:nvPr/>
          </p:nvSpPr>
          <p:spPr>
            <a:xfrm>
              <a:off x="176" y="240"/>
              <a:ext cx="5326" cy="88"/>
            </a:xfrm>
            <a:prstGeom prst="rect">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sp>
          <p:nvSpPr>
            <p:cNvPr id="40" name="Google Shape;40;p3"/>
            <p:cNvSpPr txBox="1"/>
            <p:nvPr/>
          </p:nvSpPr>
          <p:spPr>
            <a:xfrm>
              <a:off x="5504" y="241"/>
              <a:ext cx="144" cy="86"/>
            </a:xfrm>
            <a:prstGeom prst="rect">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en.wikipedia.org/wiki/Encryption" TargetMode="External"/><Relationship Id="rId4" Type="http://schemas.openxmlformats.org/officeDocument/2006/relationships/hyperlink" Target="https://en.wikipedia.org/wiki/Cryptanalysis" TargetMode="External"/><Relationship Id="rId5" Type="http://schemas.openxmlformats.org/officeDocument/2006/relationships/hyperlink" Target="https://en.wikipedia.org/wiki/Plaintext" TargetMode="External"/><Relationship Id="rId6" Type="http://schemas.openxmlformats.org/officeDocument/2006/relationships/hyperlink" Target="https://en.wikipedia.org/wiki/Key_%28cryptography%29" TargetMode="External"/><Relationship Id="rId7" Type="http://schemas.openxmlformats.org/officeDocument/2006/relationships/hyperlink" Target="https://en.wikipedia.org/wiki/Modular_additio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4"/>
          <p:cNvSpPr txBox="1"/>
          <p:nvPr>
            <p:ph type="ctrTitle"/>
          </p:nvPr>
        </p:nvSpPr>
        <p:spPr>
          <a:xfrm>
            <a:off x="762000" y="1371600"/>
            <a:ext cx="7696200" cy="20574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5400"/>
              <a:buFont typeface="Times New Roman"/>
              <a:buNone/>
            </a:pPr>
            <a:r>
              <a:rPr b="1" i="0" lang="en-US" sz="5400" u="none">
                <a:solidFill>
                  <a:schemeClr val="dk2"/>
                </a:solidFill>
                <a:latin typeface="Times New Roman"/>
                <a:ea typeface="Times New Roman"/>
                <a:cs typeface="Times New Roman"/>
                <a:sym typeface="Times New Roman"/>
              </a:rPr>
              <a:t>Cryptography</a:t>
            </a:r>
            <a:endParaRPr/>
          </a:p>
        </p:txBody>
      </p:sp>
      <p:sp>
        <p:nvSpPr>
          <p:cNvPr id="109" name="Google Shape;109;p1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Cryptography</a:t>
            </a:r>
            <a:endParaRPr/>
          </a:p>
        </p:txBody>
      </p:sp>
      <p:sp>
        <p:nvSpPr>
          <p:cNvPr id="115" name="Google Shape;115;p15"/>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80000"/>
              </a:lnSpc>
              <a:spcBef>
                <a:spcPts val="0"/>
              </a:spcBef>
              <a:spcAft>
                <a:spcPts val="0"/>
              </a:spcAft>
              <a:buClr>
                <a:schemeClr val="lt2"/>
              </a:buClr>
              <a:buSzPts val="1960"/>
              <a:buFont typeface="Noto Sans Symbols"/>
              <a:buChar char="□"/>
            </a:pPr>
            <a:r>
              <a:rPr b="0" i="1" lang="en-US" sz="2800" u="none">
                <a:solidFill>
                  <a:schemeClr val="dk1"/>
                </a:solidFill>
                <a:latin typeface="Times New Roman"/>
                <a:ea typeface="Times New Roman"/>
                <a:cs typeface="Times New Roman"/>
                <a:sym typeface="Times New Roman"/>
              </a:rPr>
              <a:t>Cryptography </a:t>
            </a:r>
            <a:r>
              <a:rPr b="0" i="0" lang="en-US" sz="2800" u="none">
                <a:solidFill>
                  <a:schemeClr val="dk1"/>
                </a:solidFill>
                <a:latin typeface="Times New Roman"/>
                <a:ea typeface="Times New Roman"/>
                <a:cs typeface="Times New Roman"/>
                <a:sym typeface="Times New Roman"/>
              </a:rPr>
              <a:t>is the science of writing or reading coded messages. </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Cryptography comes from the Greek words for </a:t>
            </a:r>
            <a:r>
              <a:rPr b="0" i="0" lang="en-US" sz="2800" u="none">
                <a:solidFill>
                  <a:srgbClr val="7030A0"/>
                </a:solidFill>
                <a:latin typeface="Times New Roman"/>
                <a:ea typeface="Times New Roman"/>
                <a:cs typeface="Times New Roman"/>
                <a:sym typeface="Times New Roman"/>
              </a:rPr>
              <a:t>“secret writing”</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Historically, four groups of people have contributed to the art of cryptography</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 The military</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 The diplomatic corps</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 The diarists</a:t>
            </a:r>
            <a:endParaRPr/>
          </a:p>
          <a:p>
            <a:pPr indent="-385762" lvl="2" marL="1377950" rtl="0" algn="l">
              <a:lnSpc>
                <a:spcPct val="80000"/>
              </a:lnSpc>
              <a:spcBef>
                <a:spcPts val="400"/>
              </a:spcBef>
              <a:spcAft>
                <a:spcPts val="0"/>
              </a:spcAft>
              <a:buClr>
                <a:schemeClr val="lt2"/>
              </a:buClr>
              <a:buSzPts val="1300"/>
              <a:buFont typeface="Noto Sans Symbols"/>
              <a:buNone/>
            </a:pPr>
            <a:r>
              <a:t/>
            </a:r>
            <a:endParaRPr b="0" i="0" sz="2000" u="none">
              <a:solidFill>
                <a:schemeClr val="dk1"/>
              </a:solidFill>
              <a:latin typeface="Times New Roman"/>
              <a:ea typeface="Times New Roman"/>
              <a:cs typeface="Times New Roman"/>
              <a:sym typeface="Times New Roman"/>
            </a:endParaRPr>
          </a:p>
          <a:p>
            <a:pPr indent="-468312" lvl="2" marL="1377950" rtl="0" algn="l">
              <a:lnSpc>
                <a:spcPct val="8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Of these, the military has had the most important role in this field</a:t>
            </a:r>
            <a:endParaRPr/>
          </a:p>
          <a:p>
            <a:pPr indent="-381000" lvl="0" marL="469900" rtl="0" algn="l">
              <a:spcBef>
                <a:spcPts val="400"/>
              </a:spcBef>
              <a:spcAft>
                <a:spcPts val="0"/>
              </a:spcAft>
              <a:buSzPts val="1400"/>
              <a:buNone/>
            </a:pPr>
            <a:r>
              <a:t/>
            </a:r>
            <a:endParaRPr b="0" i="0" sz="2000" u="none">
              <a:solidFill>
                <a:schemeClr val="dk1"/>
              </a:solidFill>
              <a:latin typeface="Times New Roman"/>
              <a:ea typeface="Times New Roman"/>
              <a:cs typeface="Times New Roman"/>
              <a:sym typeface="Times New Roman"/>
            </a:endParaRPr>
          </a:p>
        </p:txBody>
      </p:sp>
      <p:sp>
        <p:nvSpPr>
          <p:cNvPr id="116" name="Google Shape;116;p1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Encryption and Decryption</a:t>
            </a:r>
            <a:endParaRPr/>
          </a:p>
        </p:txBody>
      </p:sp>
      <p:sp>
        <p:nvSpPr>
          <p:cNvPr id="122" name="Google Shape;122;p16"/>
          <p:cNvSpPr txBox="1"/>
          <p:nvPr>
            <p:ph idx="1" type="body"/>
          </p:nvPr>
        </p:nvSpPr>
        <p:spPr>
          <a:xfrm>
            <a:off x="457200" y="1828800"/>
            <a:ext cx="8229600" cy="4191000"/>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Encryption</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The process for producing ciphertext from plaintext.</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Decryption</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The reverse Encryption is called Decryption.</a:t>
            </a:r>
            <a:endParaRPr/>
          </a:p>
          <a:p>
            <a:pPr indent="-345440" lvl="0" marL="469900" rtl="0" algn="l">
              <a:spcBef>
                <a:spcPts val="560"/>
              </a:spcBef>
              <a:spcAft>
                <a:spcPts val="0"/>
              </a:spcAft>
              <a:buSzPts val="1960"/>
              <a:buNone/>
            </a:pPr>
            <a:r>
              <a:t/>
            </a:r>
            <a:endParaRPr b="0" i="0" sz="2800" u="none">
              <a:solidFill>
                <a:schemeClr val="dk1"/>
              </a:solidFill>
              <a:latin typeface="Times New Roman"/>
              <a:ea typeface="Times New Roman"/>
              <a:cs typeface="Times New Roman"/>
              <a:sym typeface="Times New Roman"/>
            </a:endParaRPr>
          </a:p>
        </p:txBody>
      </p:sp>
      <p:sp>
        <p:nvSpPr>
          <p:cNvPr id="123" name="Google Shape;123;p16"/>
          <p:cNvSpPr txBox="1"/>
          <p:nvPr/>
        </p:nvSpPr>
        <p:spPr>
          <a:xfrm>
            <a:off x="762000" y="5029200"/>
            <a:ext cx="1524000" cy="376237"/>
          </a:xfrm>
          <a:prstGeom prst="rect">
            <a:avLst/>
          </a:prstGeom>
          <a:solidFill>
            <a:srgbClr val="99C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Plaintext</a:t>
            </a:r>
            <a:endParaRPr/>
          </a:p>
        </p:txBody>
      </p:sp>
      <p:sp>
        <p:nvSpPr>
          <p:cNvPr id="124" name="Google Shape;124;p16"/>
          <p:cNvSpPr txBox="1"/>
          <p:nvPr/>
        </p:nvSpPr>
        <p:spPr>
          <a:xfrm>
            <a:off x="7162800" y="4953000"/>
            <a:ext cx="1524000" cy="376237"/>
          </a:xfrm>
          <a:prstGeom prst="rect">
            <a:avLst/>
          </a:prstGeom>
          <a:solidFill>
            <a:srgbClr val="99C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Plaintext</a:t>
            </a:r>
            <a:endParaRPr/>
          </a:p>
        </p:txBody>
      </p:sp>
      <p:sp>
        <p:nvSpPr>
          <p:cNvPr id="125" name="Google Shape;125;p16"/>
          <p:cNvSpPr txBox="1"/>
          <p:nvPr/>
        </p:nvSpPr>
        <p:spPr>
          <a:xfrm>
            <a:off x="3962400" y="5029200"/>
            <a:ext cx="1524000" cy="376237"/>
          </a:xfrm>
          <a:prstGeom prst="rect">
            <a:avLst/>
          </a:prstGeom>
          <a:solidFill>
            <a:srgbClr val="99C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Ciphertext</a:t>
            </a:r>
            <a:endParaRPr/>
          </a:p>
        </p:txBody>
      </p:sp>
      <p:cxnSp>
        <p:nvCxnSpPr>
          <p:cNvPr id="126" name="Google Shape;126;p16"/>
          <p:cNvCxnSpPr/>
          <p:nvPr/>
        </p:nvCxnSpPr>
        <p:spPr>
          <a:xfrm>
            <a:off x="2286000" y="5257800"/>
            <a:ext cx="1676400" cy="0"/>
          </a:xfrm>
          <a:prstGeom prst="straightConnector1">
            <a:avLst/>
          </a:prstGeom>
          <a:noFill/>
          <a:ln cap="flat" cmpd="sng" w="28575">
            <a:solidFill>
              <a:schemeClr val="dk1"/>
            </a:solidFill>
            <a:prstDash val="solid"/>
            <a:miter lim="800000"/>
            <a:headEnd len="med" w="med" type="none"/>
            <a:tailEnd len="med" w="med" type="triangle"/>
          </a:ln>
        </p:spPr>
      </p:cxnSp>
      <p:cxnSp>
        <p:nvCxnSpPr>
          <p:cNvPr id="127" name="Google Shape;127;p16"/>
          <p:cNvCxnSpPr/>
          <p:nvPr/>
        </p:nvCxnSpPr>
        <p:spPr>
          <a:xfrm>
            <a:off x="5486400" y="5181600"/>
            <a:ext cx="1676400" cy="0"/>
          </a:xfrm>
          <a:prstGeom prst="straightConnector1">
            <a:avLst/>
          </a:prstGeom>
          <a:noFill/>
          <a:ln cap="flat" cmpd="sng" w="28575">
            <a:solidFill>
              <a:schemeClr val="dk1"/>
            </a:solidFill>
            <a:prstDash val="solid"/>
            <a:miter lim="800000"/>
            <a:headEnd len="med" w="med" type="none"/>
            <a:tailEnd len="med" w="med" type="triangle"/>
          </a:ln>
        </p:spPr>
      </p:cxnSp>
      <p:sp>
        <p:nvSpPr>
          <p:cNvPr id="128" name="Google Shape;128;p16"/>
          <p:cNvSpPr txBox="1"/>
          <p:nvPr/>
        </p:nvSpPr>
        <p:spPr>
          <a:xfrm>
            <a:off x="2438400" y="4953000"/>
            <a:ext cx="1295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Encryption</a:t>
            </a:r>
            <a:endParaRPr/>
          </a:p>
        </p:txBody>
      </p:sp>
      <p:sp>
        <p:nvSpPr>
          <p:cNvPr id="129" name="Google Shape;129;p16"/>
          <p:cNvSpPr txBox="1"/>
          <p:nvPr/>
        </p:nvSpPr>
        <p:spPr>
          <a:xfrm>
            <a:off x="5638800" y="4876800"/>
            <a:ext cx="12954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Decryption</a:t>
            </a:r>
            <a:endParaRPr/>
          </a:p>
        </p:txBody>
      </p:sp>
      <p:sp>
        <p:nvSpPr>
          <p:cNvPr id="130" name="Google Shape;130;p1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Common Cryptography Terms</a:t>
            </a:r>
            <a:endParaRPr/>
          </a:p>
        </p:txBody>
      </p:sp>
      <p:sp>
        <p:nvSpPr>
          <p:cNvPr id="136" name="Google Shape;136;p17"/>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Plain Text</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 Original message</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The message to be encrypted</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Cipher</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Secret method of writing (i.e. algorithm)</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Key</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Plain text is transformed by a function that is parameterized by a key</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Some critical information used by the cipher, known only to sender and/or receiver</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Ciphertext</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Transformed message</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The output of the encryption process</a:t>
            </a:r>
            <a:endParaRPr/>
          </a:p>
          <a:p>
            <a:pPr indent="-381000" lvl="0" marL="469900" rtl="0" algn="l">
              <a:spcBef>
                <a:spcPts val="400"/>
              </a:spcBef>
              <a:spcAft>
                <a:spcPts val="0"/>
              </a:spcAft>
              <a:buSzPts val="1400"/>
              <a:buNone/>
            </a:pPr>
            <a:r>
              <a:t/>
            </a:r>
            <a:endParaRPr b="0" i="0" sz="2000" u="none">
              <a:solidFill>
                <a:schemeClr val="dk1"/>
              </a:solidFill>
              <a:latin typeface="Times New Roman"/>
              <a:ea typeface="Times New Roman"/>
              <a:cs typeface="Times New Roman"/>
              <a:sym typeface="Times New Roman"/>
            </a:endParaRPr>
          </a:p>
        </p:txBody>
      </p:sp>
      <p:sp>
        <p:nvSpPr>
          <p:cNvPr id="137" name="Google Shape;137;p1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Common Cryptography Terms</a:t>
            </a:r>
            <a:endParaRPr/>
          </a:p>
        </p:txBody>
      </p:sp>
      <p:sp>
        <p:nvSpPr>
          <p:cNvPr id="143" name="Google Shape;143;p18"/>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Intruder</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An enemy who hears and accurately copies down the complete ciphertext, can be active or passive</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Cryptanalysis</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Attempting to discover plaintext or key or both</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The art of breaking ciphers</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Cryptography</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Science of secret writing</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The art of devising ciphers</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Cryptology</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Collection of Cryptanalysis and Cryptography</a:t>
            </a:r>
            <a:endParaRPr/>
          </a:p>
          <a:p>
            <a:pPr indent="-436562" lvl="1" marL="908050" rtl="0" algn="l">
              <a:lnSpc>
                <a:spcPct val="90000"/>
              </a:lnSpc>
              <a:spcBef>
                <a:spcPts val="400"/>
              </a:spcBef>
              <a:spcAft>
                <a:spcPts val="0"/>
              </a:spcAft>
              <a:buClr>
                <a:schemeClr val="accent2"/>
              </a:buClr>
              <a:buSzPts val="1500"/>
              <a:buFont typeface="Noto Sans Symbols"/>
              <a:buChar char="■"/>
            </a:pPr>
            <a:r>
              <a:rPr b="0" i="0" lang="en-US" sz="2000" u="none">
                <a:solidFill>
                  <a:schemeClr val="dk1"/>
                </a:solidFill>
                <a:latin typeface="Times New Roman"/>
                <a:ea typeface="Times New Roman"/>
                <a:cs typeface="Times New Roman"/>
                <a:sym typeface="Times New Roman"/>
              </a:rPr>
              <a:t>Study of both cryptography and cryptanalysis</a:t>
            </a:r>
            <a:endParaRPr/>
          </a:p>
          <a:p>
            <a:pPr indent="-381000" lvl="0" marL="469900" rtl="0" algn="l">
              <a:spcBef>
                <a:spcPts val="400"/>
              </a:spcBef>
              <a:spcAft>
                <a:spcPts val="0"/>
              </a:spcAft>
              <a:buSzPts val="1400"/>
              <a:buNone/>
            </a:pPr>
            <a:r>
              <a:t/>
            </a:r>
            <a:endParaRPr b="0" i="0" sz="2000" u="none">
              <a:solidFill>
                <a:schemeClr val="dk1"/>
              </a:solidFill>
              <a:latin typeface="Times New Roman"/>
              <a:ea typeface="Times New Roman"/>
              <a:cs typeface="Times New Roman"/>
              <a:sym typeface="Times New Roman"/>
            </a:endParaRPr>
          </a:p>
        </p:txBody>
      </p:sp>
      <p:sp>
        <p:nvSpPr>
          <p:cNvPr id="144" name="Google Shape;144;p1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Cryptography</a:t>
            </a:r>
            <a:endParaRPr/>
          </a:p>
        </p:txBody>
      </p:sp>
      <p:pic>
        <p:nvPicPr>
          <p:cNvPr id="150" name="Google Shape;150;p19"/>
          <p:cNvPicPr preferRelativeResize="0"/>
          <p:nvPr>
            <p:ph idx="1" type="body"/>
          </p:nvPr>
        </p:nvPicPr>
        <p:blipFill rotWithShape="1">
          <a:blip r:embed="rId3">
            <a:alphaModFix/>
          </a:blip>
          <a:srcRect b="0" l="0" r="0" t="0"/>
          <a:stretch/>
        </p:blipFill>
        <p:spPr>
          <a:xfrm rot="5400000">
            <a:off x="2620168" y="46831"/>
            <a:ext cx="3903662" cy="8686800"/>
          </a:xfrm>
          <a:prstGeom prst="rect">
            <a:avLst/>
          </a:prstGeom>
          <a:noFill/>
          <a:ln>
            <a:noFill/>
          </a:ln>
        </p:spPr>
      </p:pic>
      <p:sp>
        <p:nvSpPr>
          <p:cNvPr id="151" name="Google Shape;151;p19"/>
          <p:cNvSpPr txBox="1"/>
          <p:nvPr/>
        </p:nvSpPr>
        <p:spPr>
          <a:xfrm>
            <a:off x="2667000" y="1905000"/>
            <a:ext cx="34290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sng">
                <a:solidFill>
                  <a:schemeClr val="dk1"/>
                </a:solidFill>
                <a:latin typeface="Times New Roman"/>
                <a:ea typeface="Times New Roman"/>
                <a:cs typeface="Times New Roman"/>
                <a:sym typeface="Times New Roman"/>
              </a:rPr>
              <a:t>The encryption model</a:t>
            </a:r>
            <a:endParaRPr/>
          </a:p>
        </p:txBody>
      </p:sp>
      <p:sp>
        <p:nvSpPr>
          <p:cNvPr id="152" name="Google Shape;152;p1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Symbolic Notations for Encryption</a:t>
            </a:r>
            <a:endParaRPr/>
          </a:p>
        </p:txBody>
      </p:sp>
      <p:sp>
        <p:nvSpPr>
          <p:cNvPr id="158" name="Google Shape;158;p20"/>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C = E</a:t>
            </a:r>
            <a:r>
              <a:rPr b="0" baseline="-25000" i="0" lang="en-US" sz="2800" u="none">
                <a:solidFill>
                  <a:schemeClr val="dk1"/>
                </a:solidFill>
                <a:latin typeface="Times New Roman"/>
                <a:ea typeface="Times New Roman"/>
                <a:cs typeface="Times New Roman"/>
                <a:sym typeface="Times New Roman"/>
              </a:rPr>
              <a:t>K</a:t>
            </a:r>
            <a:r>
              <a:rPr b="0" i="0" lang="en-US" sz="2800" u="none">
                <a:solidFill>
                  <a:schemeClr val="dk1"/>
                </a:solidFill>
                <a:latin typeface="Times New Roman"/>
                <a:ea typeface="Times New Roman"/>
                <a:cs typeface="Times New Roman"/>
                <a:sym typeface="Times New Roman"/>
              </a:rPr>
              <a:t>(P)</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It means that the encryption of the plaintext P using key K gives ciphertext C</a:t>
            </a:r>
            <a:endParaRPr/>
          </a:p>
          <a:p>
            <a:pPr indent="-469900" lvl="0" marL="469900" rtl="0" algn="l">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P = D</a:t>
            </a:r>
            <a:r>
              <a:rPr b="0" baseline="-25000" i="0" lang="en-US" sz="2800" u="none">
                <a:solidFill>
                  <a:schemeClr val="dk1"/>
                </a:solidFill>
                <a:latin typeface="Times New Roman"/>
                <a:ea typeface="Times New Roman"/>
                <a:cs typeface="Times New Roman"/>
                <a:sym typeface="Times New Roman"/>
              </a:rPr>
              <a:t>K</a:t>
            </a:r>
            <a:r>
              <a:rPr b="0" i="0" lang="en-US" sz="2800" u="none">
                <a:solidFill>
                  <a:schemeClr val="dk1"/>
                </a:solidFill>
                <a:latin typeface="Times New Roman"/>
                <a:ea typeface="Times New Roman"/>
                <a:cs typeface="Times New Roman"/>
                <a:sym typeface="Times New Roman"/>
              </a:rPr>
              <a:t>(C)</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It represents the decryption of C to get the plaintext P again.</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It then follows that:</a:t>
            </a:r>
            <a:endParaRPr/>
          </a:p>
          <a:p>
            <a:pPr indent="-436562" lvl="1" marL="908050" rtl="0" algn="l">
              <a:lnSpc>
                <a:spcPct val="90000"/>
              </a:lnSpc>
              <a:spcBef>
                <a:spcPts val="480"/>
              </a:spcBef>
              <a:spcAft>
                <a:spcPts val="0"/>
              </a:spcAft>
              <a:buSzPts val="1800"/>
              <a:buNone/>
            </a:pPr>
            <a:r>
              <a:rPr b="0" i="0" lang="en-US" sz="2400" u="none">
                <a:solidFill>
                  <a:schemeClr val="dk1"/>
                </a:solidFill>
                <a:latin typeface="Times New Roman"/>
                <a:ea typeface="Times New Roman"/>
                <a:cs typeface="Times New Roman"/>
                <a:sym typeface="Times New Roman"/>
              </a:rPr>
              <a:t>			DK( (E</a:t>
            </a:r>
            <a:r>
              <a:rPr b="0" baseline="-25000" i="0" lang="en-US" sz="2400" u="none">
                <a:solidFill>
                  <a:schemeClr val="dk1"/>
                </a:solidFill>
                <a:latin typeface="Times New Roman"/>
                <a:ea typeface="Times New Roman"/>
                <a:cs typeface="Times New Roman"/>
                <a:sym typeface="Times New Roman"/>
              </a:rPr>
              <a:t>K</a:t>
            </a:r>
            <a:r>
              <a:rPr b="0" i="0" lang="en-US" sz="2400" u="none">
                <a:solidFill>
                  <a:schemeClr val="dk1"/>
                </a:solidFill>
                <a:latin typeface="Times New Roman"/>
                <a:ea typeface="Times New Roman"/>
                <a:cs typeface="Times New Roman"/>
                <a:sym typeface="Times New Roman"/>
              </a:rPr>
              <a:t>(P)) ) = P</a:t>
            </a:r>
            <a:endParaRPr/>
          </a:p>
          <a:p>
            <a:pPr indent="-469900" lvl="0" marL="469900" rtl="0" algn="l">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Note:</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E and D are just mathematical functions</a:t>
            </a:r>
            <a:endParaRPr/>
          </a:p>
        </p:txBody>
      </p:sp>
      <p:sp>
        <p:nvSpPr>
          <p:cNvPr id="159" name="Google Shape;159;p2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Two major techniques for encryption</a:t>
            </a:r>
            <a:endParaRPr/>
          </a:p>
        </p:txBody>
      </p:sp>
      <p:sp>
        <p:nvSpPr>
          <p:cNvPr id="165" name="Google Shape;165;p21"/>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Symmetric Encryption</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Sender and receiver use </a:t>
            </a:r>
            <a:r>
              <a:rPr b="0" i="0" lang="en-US" sz="2400" u="none">
                <a:solidFill>
                  <a:srgbClr val="7030A0"/>
                </a:solidFill>
                <a:latin typeface="Times New Roman"/>
                <a:ea typeface="Times New Roman"/>
                <a:cs typeface="Times New Roman"/>
                <a:sym typeface="Times New Roman"/>
              </a:rPr>
              <a:t>same key</a:t>
            </a:r>
            <a:r>
              <a:rPr b="0" i="0" lang="en-US" sz="2400" u="none">
                <a:solidFill>
                  <a:schemeClr val="dk1"/>
                </a:solidFill>
                <a:latin typeface="Times New Roman"/>
                <a:ea typeface="Times New Roman"/>
                <a:cs typeface="Times New Roman"/>
                <a:sym typeface="Times New Roman"/>
              </a:rPr>
              <a:t> (shared secret)</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Also known as:</a:t>
            </a:r>
            <a:endParaRPr/>
          </a:p>
          <a:p>
            <a:pPr indent="-468312" lvl="2" marL="1377950" rtl="0" algn="l">
              <a:lnSpc>
                <a:spcPct val="9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Conventional Encryption</a:t>
            </a:r>
            <a:endParaRPr/>
          </a:p>
          <a:p>
            <a:pPr indent="-468312" lvl="2" marL="1377950" rtl="0" algn="l">
              <a:lnSpc>
                <a:spcPct val="9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Secret Key Encryption</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Was the only method used prior to the 1970s</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Still most widely used</a:t>
            </a:r>
            <a:endParaRPr/>
          </a:p>
          <a:p>
            <a:pPr indent="-469900" lvl="0" marL="469900" rtl="0" algn="l">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Public Key (Asymmetric) Encryption</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Sender and receiver use </a:t>
            </a:r>
            <a:r>
              <a:rPr b="0" i="0" lang="en-US" sz="2400" u="none">
                <a:solidFill>
                  <a:srgbClr val="7030A0"/>
                </a:solidFill>
                <a:latin typeface="Times New Roman"/>
                <a:ea typeface="Times New Roman"/>
                <a:cs typeface="Times New Roman"/>
                <a:sym typeface="Times New Roman"/>
              </a:rPr>
              <a:t>different keys</a:t>
            </a:r>
            <a:endParaRPr/>
          </a:p>
          <a:p>
            <a:pPr indent="-436562" lvl="1" marL="908050" rtl="0" algn="l">
              <a:lnSpc>
                <a:spcPct val="9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Technique published in 1976</a:t>
            </a:r>
            <a:endParaRPr/>
          </a:p>
          <a:p>
            <a:pPr indent="-363220" lvl="0" marL="469900" rtl="0" algn="l">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p:txBody>
      </p:sp>
      <p:sp>
        <p:nvSpPr>
          <p:cNvPr id="166" name="Google Shape;166;p2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Simplified Model</a:t>
            </a:r>
            <a:br>
              <a:rPr b="0" i="0" lang="en-US" sz="4000" u="none">
                <a:solidFill>
                  <a:schemeClr val="dk2"/>
                </a:solidFill>
                <a:latin typeface="Times New Roman"/>
                <a:ea typeface="Times New Roman"/>
                <a:cs typeface="Times New Roman"/>
                <a:sym typeface="Times New Roman"/>
              </a:rPr>
            </a:br>
            <a:r>
              <a:rPr b="0" i="0" lang="en-US" sz="4000" u="none">
                <a:solidFill>
                  <a:schemeClr val="dk2"/>
                </a:solidFill>
                <a:latin typeface="Times New Roman"/>
                <a:ea typeface="Times New Roman"/>
                <a:cs typeface="Times New Roman"/>
                <a:sym typeface="Times New Roman"/>
              </a:rPr>
              <a:t>(Symmetric Encryption)</a:t>
            </a:r>
            <a:endParaRPr/>
          </a:p>
        </p:txBody>
      </p:sp>
      <p:pic>
        <p:nvPicPr>
          <p:cNvPr id="172" name="Google Shape;172;p22"/>
          <p:cNvPicPr preferRelativeResize="0"/>
          <p:nvPr>
            <p:ph idx="1" type="body"/>
          </p:nvPr>
        </p:nvPicPr>
        <p:blipFill rotWithShape="1">
          <a:blip r:embed="rId3">
            <a:alphaModFix/>
          </a:blip>
          <a:srcRect b="0" l="0" r="0" t="0"/>
          <a:stretch/>
        </p:blipFill>
        <p:spPr>
          <a:xfrm>
            <a:off x="762000" y="2155825"/>
            <a:ext cx="7543800" cy="3344862"/>
          </a:xfrm>
          <a:prstGeom prst="rect">
            <a:avLst/>
          </a:prstGeom>
          <a:noFill/>
          <a:ln>
            <a:noFill/>
          </a:ln>
        </p:spPr>
      </p:pic>
      <p:sp>
        <p:nvSpPr>
          <p:cNvPr id="173" name="Google Shape;173;p2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Conventional Encryption Ingredients</a:t>
            </a:r>
            <a:endParaRPr/>
          </a:p>
        </p:txBody>
      </p:sp>
      <p:sp>
        <p:nvSpPr>
          <p:cNvPr id="179" name="Google Shape;179;p23"/>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An encryption scheme has five ingredients:</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Plaintext</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Encryption algorithm</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Secret Key</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Cipher text</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Decryption algorithm</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Security depends on the secrecy of the </a:t>
            </a:r>
            <a:r>
              <a:rPr b="1" i="0" lang="en-US" sz="3200" u="none">
                <a:solidFill>
                  <a:schemeClr val="dk1"/>
                </a:solidFill>
                <a:latin typeface="Times New Roman"/>
                <a:ea typeface="Times New Roman"/>
                <a:cs typeface="Times New Roman"/>
                <a:sym typeface="Times New Roman"/>
              </a:rPr>
              <a:t>key</a:t>
            </a:r>
            <a:r>
              <a:rPr b="0" i="0" lang="en-US" sz="3200" u="none">
                <a:solidFill>
                  <a:schemeClr val="dk1"/>
                </a:solidFill>
                <a:latin typeface="Times New Roman"/>
                <a:ea typeface="Times New Roman"/>
                <a:cs typeface="Times New Roman"/>
                <a:sym typeface="Times New Roman"/>
              </a:rPr>
              <a:t>, not the secrecy of the algorithm</a:t>
            </a:r>
            <a:endParaRPr/>
          </a:p>
          <a:p>
            <a:pPr indent="-327660" lvl="0" marL="469900" rtl="0" algn="l">
              <a:spcBef>
                <a:spcPts val="640"/>
              </a:spcBef>
              <a:spcAft>
                <a:spcPts val="0"/>
              </a:spcAft>
              <a:buSzPts val="2240"/>
              <a:buNone/>
            </a:pPr>
            <a:r>
              <a:t/>
            </a:r>
            <a:endParaRPr b="0" i="0" sz="3200" u="none">
              <a:solidFill>
                <a:schemeClr val="dk1"/>
              </a:solidFill>
              <a:latin typeface="Times New Roman"/>
              <a:ea typeface="Times New Roman"/>
              <a:cs typeface="Times New Roman"/>
              <a:sym typeface="Times New Roman"/>
            </a:endParaRPr>
          </a:p>
        </p:txBody>
      </p:sp>
      <p:sp>
        <p:nvSpPr>
          <p:cNvPr id="180" name="Google Shape;180;p2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Strong Encryption</a:t>
            </a:r>
            <a:endParaRPr/>
          </a:p>
        </p:txBody>
      </p:sp>
      <p:sp>
        <p:nvSpPr>
          <p:cNvPr id="186" name="Google Shape;186;p24"/>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An encryption algorithm needs to be strong</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This means that an attacker who knows:</a:t>
            </a:r>
            <a:endParaRPr/>
          </a:p>
          <a:p>
            <a:pPr indent="-468312" lvl="2" marL="1377950" rtl="0" algn="l">
              <a:lnSpc>
                <a:spcPct val="100000"/>
              </a:lnSpc>
              <a:spcBef>
                <a:spcPts val="480"/>
              </a:spcBef>
              <a:spcAft>
                <a:spcPts val="0"/>
              </a:spcAft>
              <a:buClr>
                <a:schemeClr val="lt2"/>
              </a:buClr>
              <a:buSzPts val="1560"/>
              <a:buFont typeface="Noto Sans Symbols"/>
              <a:buChar char="□"/>
            </a:pPr>
            <a:r>
              <a:rPr b="0" i="0" lang="en-US" sz="2400" u="none">
                <a:solidFill>
                  <a:schemeClr val="dk1"/>
                </a:solidFill>
                <a:latin typeface="Times New Roman"/>
                <a:ea typeface="Times New Roman"/>
                <a:cs typeface="Times New Roman"/>
                <a:sym typeface="Times New Roman"/>
              </a:rPr>
              <a:t>the algorithm</a:t>
            </a:r>
            <a:endParaRPr/>
          </a:p>
          <a:p>
            <a:pPr indent="-468312" lvl="2" marL="1377950" rtl="0" algn="l">
              <a:lnSpc>
                <a:spcPct val="100000"/>
              </a:lnSpc>
              <a:spcBef>
                <a:spcPts val="480"/>
              </a:spcBef>
              <a:spcAft>
                <a:spcPts val="0"/>
              </a:spcAft>
              <a:buClr>
                <a:schemeClr val="lt2"/>
              </a:buClr>
              <a:buSzPts val="1560"/>
              <a:buFont typeface="Noto Sans Symbols"/>
              <a:buChar char="□"/>
            </a:pPr>
            <a:r>
              <a:rPr b="0" i="0" lang="en-US" sz="2400" u="none">
                <a:solidFill>
                  <a:schemeClr val="dk1"/>
                </a:solidFill>
                <a:latin typeface="Times New Roman"/>
                <a:ea typeface="Times New Roman"/>
                <a:cs typeface="Times New Roman"/>
                <a:sym typeface="Times New Roman"/>
              </a:rPr>
              <a:t>some pieces of ciphertext</a:t>
            </a:r>
            <a:endParaRPr/>
          </a:p>
          <a:p>
            <a:pPr indent="-468312" lvl="2" marL="1377950" rtl="0" algn="l">
              <a:lnSpc>
                <a:spcPct val="100000"/>
              </a:lnSpc>
              <a:spcBef>
                <a:spcPts val="480"/>
              </a:spcBef>
              <a:spcAft>
                <a:spcPts val="0"/>
              </a:spcAft>
              <a:buClr>
                <a:schemeClr val="lt2"/>
              </a:buClr>
              <a:buSzPts val="1560"/>
              <a:buFont typeface="Noto Sans Symbols"/>
              <a:buChar char="□"/>
            </a:pPr>
            <a:r>
              <a:rPr b="0" i="0" lang="en-US" sz="2400" u="none">
                <a:solidFill>
                  <a:schemeClr val="dk1"/>
                </a:solidFill>
                <a:latin typeface="Times New Roman"/>
                <a:ea typeface="Times New Roman"/>
                <a:cs typeface="Times New Roman"/>
                <a:sym typeface="Times New Roman"/>
              </a:rPr>
              <a:t>some plaintext-ciphertext pairs (possibly)</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cannot deduce:</a:t>
            </a:r>
            <a:endParaRPr/>
          </a:p>
          <a:p>
            <a:pPr indent="-468312" lvl="2" marL="1377950" rtl="0" algn="l">
              <a:lnSpc>
                <a:spcPct val="100000"/>
              </a:lnSpc>
              <a:spcBef>
                <a:spcPts val="480"/>
              </a:spcBef>
              <a:spcAft>
                <a:spcPts val="0"/>
              </a:spcAft>
              <a:buClr>
                <a:schemeClr val="lt2"/>
              </a:buClr>
              <a:buSzPts val="1560"/>
              <a:buFont typeface="Noto Sans Symbols"/>
              <a:buChar char="□"/>
            </a:pPr>
            <a:r>
              <a:rPr b="0" i="0" lang="en-US" sz="2400" u="none">
                <a:solidFill>
                  <a:schemeClr val="dk1"/>
                </a:solidFill>
                <a:latin typeface="Times New Roman"/>
                <a:ea typeface="Times New Roman"/>
                <a:cs typeface="Times New Roman"/>
                <a:sym typeface="Times New Roman"/>
              </a:rPr>
              <a:t>the plaintext, or</a:t>
            </a:r>
            <a:endParaRPr/>
          </a:p>
          <a:p>
            <a:pPr indent="-468312" lvl="2" marL="1377950" rtl="0" algn="l">
              <a:lnSpc>
                <a:spcPct val="100000"/>
              </a:lnSpc>
              <a:spcBef>
                <a:spcPts val="480"/>
              </a:spcBef>
              <a:spcAft>
                <a:spcPts val="0"/>
              </a:spcAft>
              <a:buClr>
                <a:schemeClr val="lt2"/>
              </a:buClr>
              <a:buSzPts val="1560"/>
              <a:buFont typeface="Noto Sans Symbols"/>
              <a:buChar char="□"/>
            </a:pPr>
            <a:r>
              <a:rPr b="0" i="0" lang="en-US" sz="2400" u="none">
                <a:solidFill>
                  <a:schemeClr val="dk1"/>
                </a:solidFill>
                <a:latin typeface="Times New Roman"/>
                <a:ea typeface="Times New Roman"/>
                <a:cs typeface="Times New Roman"/>
                <a:sym typeface="Times New Roman"/>
              </a:rPr>
              <a:t>the key</a:t>
            </a:r>
            <a:endParaRPr/>
          </a:p>
          <a:p>
            <a:pPr indent="-363220" lvl="0" marL="469900" rtl="0" algn="l">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p:txBody>
      </p:sp>
      <p:sp>
        <p:nvSpPr>
          <p:cNvPr id="187" name="Google Shape;187;p2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5"/>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Importance of Secret Key</a:t>
            </a:r>
            <a:endParaRPr/>
          </a:p>
        </p:txBody>
      </p:sp>
      <p:sp>
        <p:nvSpPr>
          <p:cNvPr id="193" name="Google Shape;193;p25"/>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8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Every encryption and decryption process has two aspects:</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The algorithm</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The key used for encryption and decryption</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In general, the algorithm used for encryption and decryption processes is usually known to everybody. However, it is the key used for encryption and decryption that makes the process of cryptography secure</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The greater the length of the key, the more difficult it will be to break it using brute-force attack</a:t>
            </a:r>
            <a:endParaRPr/>
          </a:p>
          <a:p>
            <a:pPr indent="-345440" lvl="0" marL="469900" rtl="0" algn="l">
              <a:spcBef>
                <a:spcPts val="560"/>
              </a:spcBef>
              <a:spcAft>
                <a:spcPts val="0"/>
              </a:spcAft>
              <a:buSzPts val="1960"/>
              <a:buNone/>
            </a:pPr>
            <a:r>
              <a:t/>
            </a:r>
            <a:endParaRPr b="0" i="0" sz="2800" u="none">
              <a:solidFill>
                <a:schemeClr val="dk1"/>
              </a:solidFill>
              <a:latin typeface="Times New Roman"/>
              <a:ea typeface="Times New Roman"/>
              <a:cs typeface="Times New Roman"/>
              <a:sym typeface="Times New Roman"/>
            </a:endParaRPr>
          </a:p>
        </p:txBody>
      </p:sp>
      <p:sp>
        <p:nvSpPr>
          <p:cNvPr id="194" name="Google Shape;194;p2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Key</a:t>
            </a:r>
            <a:endParaRPr/>
          </a:p>
        </p:txBody>
      </p:sp>
      <p:sp>
        <p:nvSpPr>
          <p:cNvPr id="200" name="Google Shape;200;p26"/>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A </a:t>
            </a:r>
            <a:r>
              <a:rPr b="0" i="1" lang="en-US" sz="2800" u="none">
                <a:solidFill>
                  <a:schemeClr val="dk1"/>
                </a:solidFill>
                <a:latin typeface="Times New Roman"/>
                <a:ea typeface="Times New Roman"/>
                <a:cs typeface="Times New Roman"/>
                <a:sym typeface="Times New Roman"/>
              </a:rPr>
              <a:t>key </a:t>
            </a:r>
            <a:r>
              <a:rPr b="0" i="0" lang="en-US" sz="2800" u="none">
                <a:solidFill>
                  <a:schemeClr val="dk1"/>
                </a:solidFill>
                <a:latin typeface="Times New Roman"/>
                <a:ea typeface="Times New Roman"/>
                <a:cs typeface="Times New Roman"/>
                <a:sym typeface="Times New Roman"/>
              </a:rPr>
              <a:t>is a digital code that can be used to encrypt, decrypt, and sign information.</a:t>
            </a:r>
            <a:endParaRPr/>
          </a:p>
          <a:p>
            <a:pPr indent="-469900" lvl="0" marL="469900" rtl="0" algn="l">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Some keys are kept private while others are shared and must be distributed in a secure manner.</a:t>
            </a:r>
            <a:endParaRPr/>
          </a:p>
          <a:p>
            <a:pPr indent="-469900" lvl="0" marL="469900" rtl="0" algn="l">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The area of key management has seen much progress in the past years; this is mainly because it makes key distribution secure and scaleable in an automated fashion.</a:t>
            </a:r>
            <a:endParaRPr/>
          </a:p>
          <a:p>
            <a:pPr indent="-469900" lvl="0" marL="469900" rtl="0" algn="l">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Important issues with key management are creating and distributing the keys securely.</a:t>
            </a:r>
            <a:endParaRPr/>
          </a:p>
        </p:txBody>
      </p:sp>
      <p:sp>
        <p:nvSpPr>
          <p:cNvPr id="201" name="Google Shape;201;p2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Importance of the Key</a:t>
            </a:r>
            <a:endParaRPr/>
          </a:p>
        </p:txBody>
      </p:sp>
      <p:sp>
        <p:nvSpPr>
          <p:cNvPr id="207" name="Google Shape;207;p27"/>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Usually, cryptographic mechanisms use both an </a:t>
            </a:r>
            <a:r>
              <a:rPr b="0" i="1" lang="en-US" sz="3200" u="none">
                <a:solidFill>
                  <a:schemeClr val="dk1"/>
                </a:solidFill>
                <a:latin typeface="Times New Roman"/>
                <a:ea typeface="Times New Roman"/>
                <a:cs typeface="Times New Roman"/>
                <a:sym typeface="Times New Roman"/>
              </a:rPr>
              <a:t>algorithm </a:t>
            </a:r>
            <a:r>
              <a:rPr b="0" i="0" lang="en-US" sz="3200" u="none">
                <a:solidFill>
                  <a:schemeClr val="dk1"/>
                </a:solidFill>
                <a:latin typeface="Times New Roman"/>
                <a:ea typeface="Times New Roman"/>
                <a:cs typeface="Times New Roman"/>
                <a:sym typeface="Times New Roman"/>
              </a:rPr>
              <a:t>(a mathematical function) and a secret value known as a </a:t>
            </a:r>
            <a:r>
              <a:rPr b="0" i="1" lang="en-US" sz="3200" u="none">
                <a:solidFill>
                  <a:schemeClr val="dk1"/>
                </a:solidFill>
                <a:latin typeface="Times New Roman"/>
                <a:ea typeface="Times New Roman"/>
                <a:cs typeface="Times New Roman"/>
                <a:sym typeface="Times New Roman"/>
              </a:rPr>
              <a:t>key</a:t>
            </a:r>
            <a:r>
              <a:rPr b="0" i="0" lang="en-US" sz="3200" u="none">
                <a:solidFill>
                  <a:schemeClr val="dk1"/>
                </a:solidFill>
                <a:latin typeface="Times New Roman"/>
                <a:ea typeface="Times New Roman"/>
                <a:cs typeface="Times New Roman"/>
                <a:sym typeface="Times New Roman"/>
              </a:rPr>
              <a:t>.</a:t>
            </a:r>
            <a:endParaRPr/>
          </a:p>
          <a:p>
            <a:pPr indent="-469900" lvl="0" marL="469900" rtl="0" algn="l">
              <a:lnSpc>
                <a:spcPct val="9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Most algorithms undergo years of scrutiny by the world's best cryptographers who validate the strength of the algorithm.</a:t>
            </a:r>
            <a:endParaRPr/>
          </a:p>
          <a:p>
            <a:pPr indent="-469900" lvl="0" marL="469900" rtl="0" algn="l">
              <a:lnSpc>
                <a:spcPct val="9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The algorithms are widely known and available; it is the key that is kept secret and provides the required </a:t>
            </a:r>
            <a:r>
              <a:rPr b="1" i="0" lang="en-US" sz="3200" u="none">
                <a:solidFill>
                  <a:schemeClr val="dk1"/>
                </a:solidFill>
                <a:latin typeface="Times New Roman"/>
                <a:ea typeface="Times New Roman"/>
                <a:cs typeface="Times New Roman"/>
                <a:sym typeface="Times New Roman"/>
              </a:rPr>
              <a:t>security</a:t>
            </a:r>
            <a:r>
              <a:rPr b="0" i="0" lang="en-US" sz="3200" u="none">
                <a:solidFill>
                  <a:schemeClr val="dk1"/>
                </a:solidFill>
                <a:latin typeface="Times New Roman"/>
                <a:ea typeface="Times New Roman"/>
                <a:cs typeface="Times New Roman"/>
                <a:sym typeface="Times New Roman"/>
              </a:rPr>
              <a:t>.</a:t>
            </a:r>
            <a:endParaRPr/>
          </a:p>
          <a:p>
            <a:pPr indent="-327660" lvl="0" marL="469900" rtl="0" algn="l">
              <a:spcBef>
                <a:spcPts val="640"/>
              </a:spcBef>
              <a:spcAft>
                <a:spcPts val="0"/>
              </a:spcAft>
              <a:buSzPts val="2240"/>
              <a:buNone/>
            </a:pPr>
            <a:r>
              <a:t/>
            </a:r>
            <a:endParaRPr b="0" i="0" sz="3200" u="none">
              <a:solidFill>
                <a:schemeClr val="dk1"/>
              </a:solidFill>
              <a:latin typeface="Times New Roman"/>
              <a:ea typeface="Times New Roman"/>
              <a:cs typeface="Times New Roman"/>
              <a:sym typeface="Times New Roman"/>
            </a:endParaRPr>
          </a:p>
        </p:txBody>
      </p:sp>
      <p:sp>
        <p:nvSpPr>
          <p:cNvPr id="208" name="Google Shape;208;p2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Importance of the Key</a:t>
            </a:r>
            <a:endParaRPr/>
          </a:p>
        </p:txBody>
      </p:sp>
      <p:sp>
        <p:nvSpPr>
          <p:cNvPr id="214" name="Google Shape;214;p28"/>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Analogy of Combination Lock</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The key is similar to the combination to a lock. Although the concept of a </a:t>
            </a:r>
            <a:r>
              <a:rPr b="0" i="0" lang="en-US" sz="2400" u="none">
                <a:solidFill>
                  <a:srgbClr val="7030A0"/>
                </a:solidFill>
                <a:latin typeface="Times New Roman"/>
                <a:ea typeface="Times New Roman"/>
                <a:cs typeface="Times New Roman"/>
                <a:sym typeface="Times New Roman"/>
              </a:rPr>
              <a:t>combination lock </a:t>
            </a:r>
            <a:r>
              <a:rPr b="0" i="0" lang="en-US" sz="2400" u="none">
                <a:solidFill>
                  <a:schemeClr val="dk1"/>
                </a:solidFill>
                <a:latin typeface="Times New Roman"/>
                <a:ea typeface="Times New Roman"/>
                <a:cs typeface="Times New Roman"/>
                <a:sym typeface="Times New Roman"/>
              </a:rPr>
              <a:t>is well known, you can't open a combination lock easily without knowing the combination.</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In addition, the more numbers a given combination has, the more work must be done to guess the combination---the same is true for cryptographic keys.</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The more bits that are in a key, the less susceptible a key is to being compromised by a third party.</a:t>
            </a:r>
            <a:endParaRPr/>
          </a:p>
          <a:p>
            <a:pPr indent="-363220" lvl="0" marL="469900" rtl="0" algn="l">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p:txBody>
      </p:sp>
      <p:sp>
        <p:nvSpPr>
          <p:cNvPr id="215" name="Google Shape;215;p2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Issue of Key Length</a:t>
            </a:r>
            <a:endParaRPr/>
          </a:p>
        </p:txBody>
      </p:sp>
      <p:sp>
        <p:nvSpPr>
          <p:cNvPr id="221" name="Google Shape;221;p29"/>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90000"/>
              </a:lnSpc>
              <a:spcBef>
                <a:spcPts val="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The number of bits required in a key to ensure secure encryption in a given environment can be controversial.</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The longer the </a:t>
            </a:r>
            <a:r>
              <a:rPr b="0" i="1" lang="en-US" sz="2400" u="none">
                <a:solidFill>
                  <a:srgbClr val="7030A0"/>
                </a:solidFill>
                <a:latin typeface="Times New Roman"/>
                <a:ea typeface="Times New Roman"/>
                <a:cs typeface="Times New Roman"/>
                <a:sym typeface="Times New Roman"/>
              </a:rPr>
              <a:t>key space</a:t>
            </a:r>
            <a:r>
              <a:rPr b="0" i="0" lang="en-US" sz="2400" u="none">
                <a:solidFill>
                  <a:srgbClr val="7030A0"/>
                </a:solidFill>
                <a:latin typeface="Times New Roman"/>
                <a:ea typeface="Times New Roman"/>
                <a:cs typeface="Times New Roman"/>
                <a:sym typeface="Times New Roman"/>
              </a:rPr>
              <a:t>---</a:t>
            </a:r>
            <a:r>
              <a:rPr b="0" i="0" lang="en-US" sz="2400" u="none">
                <a:solidFill>
                  <a:schemeClr val="dk1"/>
                </a:solidFill>
                <a:latin typeface="Times New Roman"/>
                <a:ea typeface="Times New Roman"/>
                <a:cs typeface="Times New Roman"/>
                <a:sym typeface="Times New Roman"/>
              </a:rPr>
              <a:t>the range of possible values of the key---the more difficult it is to break the key in a brute-force attack.</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In a </a:t>
            </a:r>
            <a:r>
              <a:rPr b="0" i="1" lang="en-US" sz="2400" u="none">
                <a:solidFill>
                  <a:srgbClr val="7030A0"/>
                </a:solidFill>
                <a:latin typeface="Times New Roman"/>
                <a:ea typeface="Times New Roman"/>
                <a:cs typeface="Times New Roman"/>
                <a:sym typeface="Times New Roman"/>
              </a:rPr>
              <a:t>brute-force attack</a:t>
            </a:r>
            <a:r>
              <a:rPr b="0" i="0" lang="en-US" sz="2400" u="none">
                <a:solidFill>
                  <a:srgbClr val="7030A0"/>
                </a:solidFill>
                <a:latin typeface="Times New Roman"/>
                <a:ea typeface="Times New Roman"/>
                <a:cs typeface="Times New Roman"/>
                <a:sym typeface="Times New Roman"/>
              </a:rPr>
              <a:t>, </a:t>
            </a:r>
            <a:r>
              <a:rPr b="0" i="0" lang="en-US" sz="2400" u="none">
                <a:solidFill>
                  <a:schemeClr val="dk1"/>
                </a:solidFill>
                <a:latin typeface="Times New Roman"/>
                <a:ea typeface="Times New Roman"/>
                <a:cs typeface="Times New Roman"/>
                <a:sym typeface="Times New Roman"/>
              </a:rPr>
              <a:t>you apply all combinations of a key to the algorithm until you succeed in deciphering the message.</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However, the longer the key, the more computationally expensive the encryption and decryption process can be.</a:t>
            </a:r>
            <a:endParaRPr/>
          </a:p>
          <a:p>
            <a:pPr indent="-469900" lvl="0" marL="469900" rtl="0" algn="l">
              <a:lnSpc>
                <a:spcPct val="9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The goal is to make </a:t>
            </a:r>
            <a:r>
              <a:rPr b="0" i="0" lang="en-US" sz="2400" u="none">
                <a:solidFill>
                  <a:srgbClr val="7030A0"/>
                </a:solidFill>
                <a:latin typeface="Times New Roman"/>
                <a:ea typeface="Times New Roman"/>
                <a:cs typeface="Times New Roman"/>
                <a:sym typeface="Times New Roman"/>
              </a:rPr>
              <a:t>breaking a key "cost" more </a:t>
            </a:r>
            <a:r>
              <a:rPr b="0" i="0" lang="en-US" sz="2400" u="none">
                <a:solidFill>
                  <a:schemeClr val="dk1"/>
                </a:solidFill>
                <a:latin typeface="Times New Roman"/>
                <a:ea typeface="Times New Roman"/>
                <a:cs typeface="Times New Roman"/>
                <a:sym typeface="Times New Roman"/>
              </a:rPr>
              <a:t>than the </a:t>
            </a:r>
            <a:r>
              <a:rPr b="0" i="0" lang="en-US" sz="2400" u="none">
                <a:solidFill>
                  <a:srgbClr val="7030A0"/>
                </a:solidFill>
                <a:latin typeface="Times New Roman"/>
                <a:ea typeface="Times New Roman"/>
                <a:cs typeface="Times New Roman"/>
                <a:sym typeface="Times New Roman"/>
              </a:rPr>
              <a:t>worth of the information </a:t>
            </a:r>
            <a:r>
              <a:rPr b="0" i="0" lang="en-US" sz="2400" u="none">
                <a:solidFill>
                  <a:schemeClr val="dk1"/>
                </a:solidFill>
                <a:latin typeface="Times New Roman"/>
                <a:ea typeface="Times New Roman"/>
                <a:cs typeface="Times New Roman"/>
                <a:sym typeface="Times New Roman"/>
              </a:rPr>
              <a:t>the key is protecting.</a:t>
            </a:r>
            <a:endParaRPr/>
          </a:p>
          <a:p>
            <a:pPr indent="-363220" lvl="0" marL="469900" rtl="0" algn="l">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p:txBody>
      </p:sp>
      <p:sp>
        <p:nvSpPr>
          <p:cNvPr id="222" name="Google Shape;222;p2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Number of Possible Combinations</a:t>
            </a:r>
            <a:endParaRPr/>
          </a:p>
        </p:txBody>
      </p:sp>
      <p:pic>
        <p:nvPicPr>
          <p:cNvPr id="228" name="Google Shape;228;p30"/>
          <p:cNvPicPr preferRelativeResize="0"/>
          <p:nvPr>
            <p:ph idx="1" type="body"/>
          </p:nvPr>
        </p:nvPicPr>
        <p:blipFill rotWithShape="1">
          <a:blip r:embed="rId3">
            <a:alphaModFix/>
          </a:blip>
          <a:srcRect b="0" l="0" r="0" t="0"/>
          <a:stretch/>
        </p:blipFill>
        <p:spPr>
          <a:xfrm>
            <a:off x="457200" y="1752600"/>
            <a:ext cx="8229600" cy="2362200"/>
          </a:xfrm>
          <a:prstGeom prst="rect">
            <a:avLst/>
          </a:prstGeom>
          <a:noFill/>
          <a:ln>
            <a:noFill/>
          </a:ln>
        </p:spPr>
      </p:pic>
      <p:pic>
        <p:nvPicPr>
          <p:cNvPr id="229" name="Google Shape;229;p30"/>
          <p:cNvPicPr preferRelativeResize="0"/>
          <p:nvPr/>
        </p:nvPicPr>
        <p:blipFill rotWithShape="1">
          <a:blip r:embed="rId4">
            <a:alphaModFix/>
          </a:blip>
          <a:srcRect b="0" l="0" r="0" t="0"/>
          <a:stretch/>
        </p:blipFill>
        <p:spPr>
          <a:xfrm rot="5400000">
            <a:off x="3886200" y="685800"/>
            <a:ext cx="1295400" cy="8153400"/>
          </a:xfrm>
          <a:prstGeom prst="rect">
            <a:avLst/>
          </a:prstGeom>
          <a:noFill/>
          <a:ln>
            <a:noFill/>
          </a:ln>
        </p:spPr>
      </p:pic>
      <p:sp>
        <p:nvSpPr>
          <p:cNvPr id="230" name="Google Shape;230;p3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Cryptanalysis</a:t>
            </a:r>
            <a:endParaRPr/>
          </a:p>
        </p:txBody>
      </p:sp>
      <p:sp>
        <p:nvSpPr>
          <p:cNvPr id="236" name="Google Shape;236;p31"/>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Cryptanalysis is the process of trying to find the plaintext or key</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Two main approaches</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Brute Force</a:t>
            </a:r>
            <a:endParaRPr/>
          </a:p>
          <a:p>
            <a:pPr indent="-468312" lvl="2" marL="1377950" rtl="0" algn="l">
              <a:lnSpc>
                <a:spcPct val="100000"/>
              </a:lnSpc>
              <a:spcBef>
                <a:spcPts val="480"/>
              </a:spcBef>
              <a:spcAft>
                <a:spcPts val="0"/>
              </a:spcAft>
              <a:buClr>
                <a:schemeClr val="lt2"/>
              </a:buClr>
              <a:buSzPts val="1560"/>
              <a:buFont typeface="Noto Sans Symbols"/>
              <a:buChar char="□"/>
            </a:pPr>
            <a:r>
              <a:rPr b="0" i="0" lang="en-US" sz="2400" u="none">
                <a:solidFill>
                  <a:schemeClr val="dk1"/>
                </a:solidFill>
                <a:latin typeface="Times New Roman"/>
                <a:ea typeface="Times New Roman"/>
                <a:cs typeface="Times New Roman"/>
                <a:sym typeface="Times New Roman"/>
              </a:rPr>
              <a:t>try all possible keys</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Exploit weaknesses in the algorithm or key</a:t>
            </a:r>
            <a:endParaRPr/>
          </a:p>
          <a:p>
            <a:pPr indent="-327660" lvl="0" marL="469900" rtl="0" algn="l">
              <a:spcBef>
                <a:spcPts val="640"/>
              </a:spcBef>
              <a:spcAft>
                <a:spcPts val="0"/>
              </a:spcAft>
              <a:buSzPts val="2240"/>
              <a:buNone/>
            </a:pPr>
            <a:r>
              <a:t/>
            </a:r>
            <a:endParaRPr b="0" i="0" sz="3200" u="none">
              <a:solidFill>
                <a:schemeClr val="dk1"/>
              </a:solidFill>
              <a:latin typeface="Times New Roman"/>
              <a:ea typeface="Times New Roman"/>
              <a:cs typeface="Times New Roman"/>
              <a:sym typeface="Times New Roman"/>
            </a:endParaRPr>
          </a:p>
        </p:txBody>
      </p:sp>
      <p:sp>
        <p:nvSpPr>
          <p:cNvPr id="237" name="Google Shape;237;p3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Cryptanalysis: Brute Force Attack</a:t>
            </a:r>
            <a:endParaRPr/>
          </a:p>
        </p:txBody>
      </p:sp>
      <p:sp>
        <p:nvSpPr>
          <p:cNvPr id="243" name="Google Shape;243;p32"/>
          <p:cNvSpPr txBox="1"/>
          <p:nvPr>
            <p:ph idx="1" type="body"/>
          </p:nvPr>
        </p:nvSpPr>
        <p:spPr>
          <a:xfrm>
            <a:off x="457200" y="1828800"/>
            <a:ext cx="8534400" cy="1752600"/>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Try all possible keys until code is broken</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On average, need to try </a:t>
            </a:r>
            <a:r>
              <a:rPr b="0" i="0" lang="en-US" sz="3200" u="none">
                <a:solidFill>
                  <a:srgbClr val="7030A0"/>
                </a:solidFill>
                <a:latin typeface="Times New Roman"/>
                <a:ea typeface="Times New Roman"/>
                <a:cs typeface="Times New Roman"/>
                <a:sym typeface="Times New Roman"/>
              </a:rPr>
              <a:t>half of all possible keys</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Infeasible if key length is sufficiently long</a:t>
            </a:r>
            <a:endParaRPr/>
          </a:p>
          <a:p>
            <a:pPr indent="-327660" lvl="0" marL="469900" rtl="0" algn="l">
              <a:spcBef>
                <a:spcPts val="640"/>
              </a:spcBef>
              <a:spcAft>
                <a:spcPts val="0"/>
              </a:spcAft>
              <a:buSzPts val="2240"/>
              <a:buNone/>
            </a:pPr>
            <a:r>
              <a:t/>
            </a:r>
            <a:endParaRPr b="0" i="0" sz="3200" u="none">
              <a:solidFill>
                <a:schemeClr val="dk1"/>
              </a:solidFill>
              <a:latin typeface="Times New Roman"/>
              <a:ea typeface="Times New Roman"/>
              <a:cs typeface="Times New Roman"/>
              <a:sym typeface="Times New Roman"/>
            </a:endParaRPr>
          </a:p>
        </p:txBody>
      </p:sp>
      <p:pic>
        <p:nvPicPr>
          <p:cNvPr id="244" name="Google Shape;244;p32"/>
          <p:cNvPicPr preferRelativeResize="0"/>
          <p:nvPr/>
        </p:nvPicPr>
        <p:blipFill rotWithShape="1">
          <a:blip r:embed="rId3">
            <a:alphaModFix/>
          </a:blip>
          <a:srcRect b="0" l="0" r="0" t="0"/>
          <a:stretch/>
        </p:blipFill>
        <p:spPr>
          <a:xfrm>
            <a:off x="533400" y="3657600"/>
            <a:ext cx="8153400" cy="2895600"/>
          </a:xfrm>
          <a:prstGeom prst="rect">
            <a:avLst/>
          </a:prstGeom>
          <a:noFill/>
          <a:ln>
            <a:noFill/>
          </a:ln>
        </p:spPr>
      </p:pic>
      <p:sp>
        <p:nvSpPr>
          <p:cNvPr id="245" name="Google Shape;245;p3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Three Basic Cryptographic Functions</a:t>
            </a:r>
            <a:endParaRPr/>
          </a:p>
        </p:txBody>
      </p:sp>
      <p:sp>
        <p:nvSpPr>
          <p:cNvPr id="251" name="Google Shape;251;p33"/>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1960"/>
              <a:buFont typeface="Noto Sans Symbols"/>
              <a:buChar char="□"/>
            </a:pPr>
            <a:r>
              <a:rPr b="0" i="1" lang="en-US" sz="2800" u="none">
                <a:solidFill>
                  <a:schemeClr val="dk1"/>
                </a:solidFill>
                <a:latin typeface="Times New Roman"/>
                <a:ea typeface="Times New Roman"/>
                <a:cs typeface="Times New Roman"/>
                <a:sym typeface="Times New Roman"/>
              </a:rPr>
              <a:t>Cryptography </a:t>
            </a:r>
            <a:r>
              <a:rPr b="0" i="0" lang="en-US" sz="2800" u="none">
                <a:solidFill>
                  <a:schemeClr val="dk1"/>
                </a:solidFill>
                <a:latin typeface="Times New Roman"/>
                <a:ea typeface="Times New Roman"/>
                <a:cs typeface="Times New Roman"/>
                <a:sym typeface="Times New Roman"/>
              </a:rPr>
              <a:t>is the basis for all secure communications; it is, therefore, important that you understand three basic cryptographic functions:</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Symmetric encryption</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Asymmetric encryption</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One-way hash functions.</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Most current authentication, integrity, and confidentiality technologies are derived from these three cryptographic functions.</a:t>
            </a:r>
            <a:endParaRPr/>
          </a:p>
          <a:p>
            <a:pPr indent="-345440" lvl="0" marL="469900" rtl="0" algn="l">
              <a:spcBef>
                <a:spcPts val="560"/>
              </a:spcBef>
              <a:spcAft>
                <a:spcPts val="0"/>
              </a:spcAft>
              <a:buSzPts val="1960"/>
              <a:buNone/>
            </a:pPr>
            <a:r>
              <a:t/>
            </a:r>
            <a:endParaRPr b="0" i="0" sz="2800" u="none">
              <a:solidFill>
                <a:schemeClr val="dk1"/>
              </a:solidFill>
              <a:latin typeface="Times New Roman"/>
              <a:ea typeface="Times New Roman"/>
              <a:cs typeface="Times New Roman"/>
              <a:sym typeface="Times New Roman"/>
            </a:endParaRPr>
          </a:p>
        </p:txBody>
      </p:sp>
      <p:sp>
        <p:nvSpPr>
          <p:cNvPr id="252" name="Google Shape;252;p3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Symmetric Key Encryption</a:t>
            </a:r>
            <a:endParaRPr/>
          </a:p>
        </p:txBody>
      </p:sp>
      <p:sp>
        <p:nvSpPr>
          <p:cNvPr id="258" name="Google Shape;258;p34"/>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8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Symmetric encryption, often referred to as </a:t>
            </a:r>
            <a:r>
              <a:rPr b="0" i="1" lang="en-US" sz="2800" u="none">
                <a:solidFill>
                  <a:schemeClr val="dk1"/>
                </a:solidFill>
                <a:latin typeface="Times New Roman"/>
                <a:ea typeface="Times New Roman"/>
                <a:cs typeface="Times New Roman"/>
                <a:sym typeface="Times New Roman"/>
              </a:rPr>
              <a:t>secret key encryption</a:t>
            </a:r>
            <a:r>
              <a:rPr b="0" i="0" lang="en-US" sz="2800" u="none">
                <a:solidFill>
                  <a:schemeClr val="dk1"/>
                </a:solidFill>
                <a:latin typeface="Times New Roman"/>
                <a:ea typeface="Times New Roman"/>
                <a:cs typeface="Times New Roman"/>
                <a:sym typeface="Times New Roman"/>
              </a:rPr>
              <a:t>, uses a common key and the same cryptographic algorithm to scramble and unscramble a message.</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rgbClr val="7030A0"/>
                </a:solidFill>
                <a:latin typeface="Times New Roman"/>
                <a:ea typeface="Times New Roman"/>
                <a:cs typeface="Times New Roman"/>
                <a:sym typeface="Times New Roman"/>
              </a:rPr>
              <a:t>Example:</a:t>
            </a:r>
            <a:r>
              <a:rPr b="0" i="0" lang="en-US" sz="2400" u="none">
                <a:solidFill>
                  <a:schemeClr val="dk1"/>
                </a:solidFill>
                <a:latin typeface="Times New Roman"/>
                <a:ea typeface="Times New Roman"/>
                <a:cs typeface="Times New Roman"/>
                <a:sym typeface="Times New Roman"/>
              </a:rPr>
              <a:t> Suppose we have two users, Alice and Bob, who want to communicate securely with each other.</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Both Alice and Bob have to agree on the same cryptographic algorithm to use for encrypting and decrypting data.</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They also have to agree on a common key--- the secret key---to use with their chosen encryption/decryption algorithm.</a:t>
            </a:r>
            <a:endParaRPr/>
          </a:p>
        </p:txBody>
      </p:sp>
      <p:sp>
        <p:nvSpPr>
          <p:cNvPr id="259" name="Google Shape;259;p3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Symmetric Key Encryption</a:t>
            </a:r>
            <a:endParaRPr/>
          </a:p>
        </p:txBody>
      </p:sp>
      <p:sp>
        <p:nvSpPr>
          <p:cNvPr id="265" name="Google Shape;265;p35"/>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8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A simplistic secret key algorithm is the Caesar Cipher.</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The </a:t>
            </a:r>
            <a:r>
              <a:rPr b="0" i="1" lang="en-US" sz="2800" u="none">
                <a:solidFill>
                  <a:srgbClr val="7030A0"/>
                </a:solidFill>
                <a:latin typeface="Times New Roman"/>
                <a:ea typeface="Times New Roman"/>
                <a:cs typeface="Times New Roman"/>
                <a:sym typeface="Times New Roman"/>
              </a:rPr>
              <a:t>Caesar Cipher </a:t>
            </a:r>
            <a:r>
              <a:rPr b="0" i="0" lang="en-US" sz="2800" u="none">
                <a:solidFill>
                  <a:schemeClr val="dk1"/>
                </a:solidFill>
                <a:latin typeface="Times New Roman"/>
                <a:ea typeface="Times New Roman"/>
                <a:cs typeface="Times New Roman"/>
                <a:sym typeface="Times New Roman"/>
              </a:rPr>
              <a:t>replaces each letter in the original message with the letter of the alphabet </a:t>
            </a:r>
            <a:r>
              <a:rPr b="0" i="1" lang="en-US" sz="2800" u="none">
                <a:solidFill>
                  <a:schemeClr val="dk1"/>
                </a:solidFill>
                <a:latin typeface="Times New Roman"/>
                <a:ea typeface="Times New Roman"/>
                <a:cs typeface="Times New Roman"/>
                <a:sym typeface="Times New Roman"/>
              </a:rPr>
              <a:t>n </a:t>
            </a:r>
            <a:r>
              <a:rPr b="0" i="0" lang="en-US" sz="2800" u="none">
                <a:solidFill>
                  <a:schemeClr val="dk1"/>
                </a:solidFill>
                <a:latin typeface="Times New Roman"/>
                <a:ea typeface="Times New Roman"/>
                <a:cs typeface="Times New Roman"/>
                <a:sym typeface="Times New Roman"/>
              </a:rPr>
              <a:t>places further down the alphabet.</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The algorithm shifts the letters to the right or left (depending on whether you are encrypting or decrypting).</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Figure shows two users, Alice and Bob communicating with a Caesar Cipher where the key, </a:t>
            </a:r>
            <a:r>
              <a:rPr b="0" i="1" lang="en-US" sz="2800" u="none">
                <a:solidFill>
                  <a:schemeClr val="dk1"/>
                </a:solidFill>
                <a:latin typeface="Times New Roman"/>
                <a:ea typeface="Times New Roman"/>
                <a:cs typeface="Times New Roman"/>
                <a:sym typeface="Times New Roman"/>
              </a:rPr>
              <a:t>n</a:t>
            </a:r>
            <a:r>
              <a:rPr b="0" i="0" lang="en-US" sz="2800" u="none">
                <a:solidFill>
                  <a:schemeClr val="dk1"/>
                </a:solidFill>
                <a:latin typeface="Times New Roman"/>
                <a:ea typeface="Times New Roman"/>
                <a:cs typeface="Times New Roman"/>
                <a:sym typeface="Times New Roman"/>
              </a:rPr>
              <a:t>, is three letters.</a:t>
            </a:r>
            <a:endParaRPr/>
          </a:p>
        </p:txBody>
      </p:sp>
      <p:sp>
        <p:nvSpPr>
          <p:cNvPr id="266" name="Google Shape;266;p3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6"/>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Caesar Cipher</a:t>
            </a:r>
            <a:endParaRPr/>
          </a:p>
        </p:txBody>
      </p:sp>
      <p:sp>
        <p:nvSpPr>
          <p:cNvPr id="272" name="Google Shape;272;p36"/>
          <p:cNvSpPr txBox="1"/>
          <p:nvPr>
            <p:ph idx="1" type="body"/>
          </p:nvPr>
        </p:nvSpPr>
        <p:spPr>
          <a:xfrm>
            <a:off x="457200" y="1828800"/>
            <a:ext cx="8229600" cy="3429000"/>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Alphabetic circular shift</a:t>
            </a:r>
            <a:endParaRPr/>
          </a:p>
          <a:p>
            <a:pPr indent="-469900" lvl="0" marL="469900" rtl="0" algn="l">
              <a:lnSpc>
                <a:spcPct val="10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For each letter </a:t>
            </a:r>
            <a:r>
              <a:rPr b="0" i="1" lang="en-US" sz="2400" u="none">
                <a:solidFill>
                  <a:schemeClr val="dk1"/>
                </a:solidFill>
                <a:latin typeface="Times New Roman"/>
                <a:ea typeface="Times New Roman"/>
                <a:cs typeface="Times New Roman"/>
                <a:sym typeface="Times New Roman"/>
              </a:rPr>
              <a:t>i </a:t>
            </a:r>
            <a:r>
              <a:rPr b="0" i="0" lang="en-US" sz="2400" u="none">
                <a:solidFill>
                  <a:schemeClr val="dk1"/>
                </a:solidFill>
                <a:latin typeface="Times New Roman"/>
                <a:ea typeface="Times New Roman"/>
                <a:cs typeface="Times New Roman"/>
                <a:sym typeface="Times New Roman"/>
              </a:rPr>
              <a:t>of text: let </a:t>
            </a:r>
            <a:r>
              <a:rPr b="0" i="1" lang="en-US" sz="2400" u="none">
                <a:solidFill>
                  <a:schemeClr val="dk1"/>
                </a:solidFill>
                <a:latin typeface="Times New Roman"/>
                <a:ea typeface="Times New Roman"/>
                <a:cs typeface="Times New Roman"/>
                <a:sym typeface="Times New Roman"/>
              </a:rPr>
              <a:t>pi</a:t>
            </a:r>
            <a:r>
              <a:rPr b="0" i="0" lang="en-US" sz="2400" u="none">
                <a:solidFill>
                  <a:schemeClr val="dk1"/>
                </a:solidFill>
                <a:latin typeface="Times New Roman"/>
                <a:ea typeface="Times New Roman"/>
                <a:cs typeface="Times New Roman"/>
                <a:sym typeface="Times New Roman"/>
              </a:rPr>
              <a:t>=0 if letter is a,</a:t>
            </a:r>
            <a:endParaRPr/>
          </a:p>
          <a:p>
            <a:pPr indent="-469900" lvl="0" marL="469900" rtl="0" algn="l">
              <a:lnSpc>
                <a:spcPct val="100000"/>
              </a:lnSpc>
              <a:spcBef>
                <a:spcPts val="480"/>
              </a:spcBef>
              <a:spcAft>
                <a:spcPts val="0"/>
              </a:spcAft>
              <a:buSzPts val="1680"/>
              <a:buNone/>
            </a:pPr>
            <a:r>
              <a:rPr b="0" i="0" lang="en-US" sz="2400" u="none">
                <a:solidFill>
                  <a:schemeClr val="dk1"/>
                </a:solidFill>
                <a:latin typeface="Times New Roman"/>
                <a:ea typeface="Times New Roman"/>
                <a:cs typeface="Times New Roman"/>
                <a:sym typeface="Times New Roman"/>
              </a:rPr>
              <a:t>	and </a:t>
            </a:r>
            <a:r>
              <a:rPr b="0" i="1" lang="en-US" sz="2400" u="none">
                <a:solidFill>
                  <a:schemeClr val="dk1"/>
                </a:solidFill>
                <a:latin typeface="Times New Roman"/>
                <a:ea typeface="Times New Roman"/>
                <a:cs typeface="Times New Roman"/>
                <a:sym typeface="Times New Roman"/>
              </a:rPr>
              <a:t>pi</a:t>
            </a:r>
            <a:r>
              <a:rPr b="0" i="0" lang="en-US" sz="2400" u="none">
                <a:solidFill>
                  <a:schemeClr val="dk1"/>
                </a:solidFill>
                <a:latin typeface="Times New Roman"/>
                <a:ea typeface="Times New Roman"/>
                <a:cs typeface="Times New Roman"/>
                <a:sym typeface="Times New Roman"/>
              </a:rPr>
              <a:t>=1 if letter is b, etc let key </a:t>
            </a:r>
            <a:r>
              <a:rPr b="0" i="1" lang="en-US" sz="2400" u="none">
                <a:solidFill>
                  <a:schemeClr val="dk1"/>
                </a:solidFill>
                <a:latin typeface="Times New Roman"/>
                <a:ea typeface="Times New Roman"/>
                <a:cs typeface="Times New Roman"/>
                <a:sym typeface="Times New Roman"/>
              </a:rPr>
              <a:t>k </a:t>
            </a:r>
            <a:r>
              <a:rPr b="0" i="0" lang="en-US" sz="2400" u="none">
                <a:solidFill>
                  <a:schemeClr val="dk1"/>
                </a:solidFill>
                <a:latin typeface="Times New Roman"/>
                <a:ea typeface="Times New Roman"/>
                <a:cs typeface="Times New Roman"/>
                <a:sym typeface="Times New Roman"/>
              </a:rPr>
              <a:t>be the size of the shift</a:t>
            </a:r>
            <a:endParaRPr/>
          </a:p>
          <a:p>
            <a:pPr indent="-469900" lvl="0" marL="469900" rtl="0" algn="l">
              <a:lnSpc>
                <a:spcPct val="10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Encryption: </a:t>
            </a:r>
            <a:r>
              <a:rPr b="0" i="1" lang="en-US" sz="2400" u="none">
                <a:solidFill>
                  <a:schemeClr val="dk1"/>
                </a:solidFill>
                <a:latin typeface="Times New Roman"/>
                <a:ea typeface="Times New Roman"/>
                <a:cs typeface="Times New Roman"/>
                <a:sym typeface="Times New Roman"/>
              </a:rPr>
              <a:t>ci </a:t>
            </a:r>
            <a:r>
              <a:rPr b="0" i="0" lang="en-US" sz="2400" u="none">
                <a:solidFill>
                  <a:schemeClr val="dk1"/>
                </a:solidFill>
                <a:latin typeface="Times New Roman"/>
                <a:ea typeface="Times New Roman"/>
                <a:cs typeface="Times New Roman"/>
                <a:sym typeface="Times New Roman"/>
              </a:rPr>
              <a:t>= E</a:t>
            </a:r>
            <a:r>
              <a:rPr b="0" i="1" lang="en-US" sz="2400" u="none">
                <a:solidFill>
                  <a:schemeClr val="dk1"/>
                </a:solidFill>
                <a:latin typeface="Times New Roman"/>
                <a:ea typeface="Times New Roman"/>
                <a:cs typeface="Times New Roman"/>
                <a:sym typeface="Times New Roman"/>
              </a:rPr>
              <a:t>k</a:t>
            </a:r>
            <a:r>
              <a:rPr b="0" i="0" lang="en-US" sz="2400" u="none">
                <a:solidFill>
                  <a:schemeClr val="dk1"/>
                </a:solidFill>
                <a:latin typeface="Times New Roman"/>
                <a:ea typeface="Times New Roman"/>
                <a:cs typeface="Times New Roman"/>
                <a:sym typeface="Times New Roman"/>
              </a:rPr>
              <a:t>(</a:t>
            </a:r>
            <a:r>
              <a:rPr b="0" i="1" lang="en-US" sz="2400" u="none">
                <a:solidFill>
                  <a:schemeClr val="dk1"/>
                </a:solidFill>
                <a:latin typeface="Times New Roman"/>
                <a:ea typeface="Times New Roman"/>
                <a:cs typeface="Times New Roman"/>
                <a:sym typeface="Times New Roman"/>
              </a:rPr>
              <a:t>pi</a:t>
            </a:r>
            <a:r>
              <a:rPr b="0" i="0" lang="en-US" sz="2400" u="none">
                <a:solidFill>
                  <a:schemeClr val="dk1"/>
                </a:solidFill>
                <a:latin typeface="Times New Roman"/>
                <a:ea typeface="Times New Roman"/>
                <a:cs typeface="Times New Roman"/>
                <a:sym typeface="Times New Roman"/>
              </a:rPr>
              <a:t>) = (</a:t>
            </a:r>
            <a:r>
              <a:rPr b="0" i="1" lang="en-US" sz="2400" u="none">
                <a:solidFill>
                  <a:schemeClr val="dk1"/>
                </a:solidFill>
                <a:latin typeface="Times New Roman"/>
                <a:ea typeface="Times New Roman"/>
                <a:cs typeface="Times New Roman"/>
                <a:sym typeface="Times New Roman"/>
              </a:rPr>
              <a:t>pi </a:t>
            </a:r>
            <a:r>
              <a:rPr b="0" i="0" lang="en-US" sz="2400" u="none">
                <a:solidFill>
                  <a:schemeClr val="dk1"/>
                </a:solidFill>
                <a:latin typeface="Times New Roman"/>
                <a:ea typeface="Times New Roman"/>
                <a:cs typeface="Times New Roman"/>
                <a:sym typeface="Times New Roman"/>
              </a:rPr>
              <a:t>+ </a:t>
            </a:r>
            <a:r>
              <a:rPr b="0" i="1" lang="en-US" sz="2400" u="none">
                <a:solidFill>
                  <a:schemeClr val="dk1"/>
                </a:solidFill>
                <a:latin typeface="Times New Roman"/>
                <a:ea typeface="Times New Roman"/>
                <a:cs typeface="Times New Roman"/>
                <a:sym typeface="Times New Roman"/>
              </a:rPr>
              <a:t>k</a:t>
            </a:r>
            <a:r>
              <a:rPr b="0" i="0" lang="en-US" sz="2400" u="none">
                <a:solidFill>
                  <a:schemeClr val="dk1"/>
                </a:solidFill>
                <a:latin typeface="Times New Roman"/>
                <a:ea typeface="Times New Roman"/>
                <a:cs typeface="Times New Roman"/>
                <a:sym typeface="Times New Roman"/>
              </a:rPr>
              <a:t>) mod 26</a:t>
            </a:r>
            <a:endParaRPr/>
          </a:p>
          <a:p>
            <a:pPr indent="-469900" lvl="0" marL="469900" rtl="0" algn="l">
              <a:lnSpc>
                <a:spcPct val="10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Decryption: </a:t>
            </a:r>
            <a:r>
              <a:rPr b="0" i="1" lang="en-US" sz="2400" u="none">
                <a:solidFill>
                  <a:schemeClr val="dk1"/>
                </a:solidFill>
                <a:latin typeface="Times New Roman"/>
                <a:ea typeface="Times New Roman"/>
                <a:cs typeface="Times New Roman"/>
                <a:sym typeface="Times New Roman"/>
              </a:rPr>
              <a:t>pi </a:t>
            </a:r>
            <a:r>
              <a:rPr b="0" i="0" lang="en-US" sz="2400" u="none">
                <a:solidFill>
                  <a:schemeClr val="dk1"/>
                </a:solidFill>
                <a:latin typeface="Times New Roman"/>
                <a:ea typeface="Times New Roman"/>
                <a:cs typeface="Times New Roman"/>
                <a:sym typeface="Times New Roman"/>
              </a:rPr>
              <a:t>= D</a:t>
            </a:r>
            <a:r>
              <a:rPr b="0" i="1" lang="en-US" sz="2400" u="none">
                <a:solidFill>
                  <a:schemeClr val="dk1"/>
                </a:solidFill>
                <a:latin typeface="Times New Roman"/>
                <a:ea typeface="Times New Roman"/>
                <a:cs typeface="Times New Roman"/>
                <a:sym typeface="Times New Roman"/>
              </a:rPr>
              <a:t>k</a:t>
            </a:r>
            <a:r>
              <a:rPr b="0" i="0" lang="en-US" sz="2400" u="none">
                <a:solidFill>
                  <a:schemeClr val="dk1"/>
                </a:solidFill>
                <a:latin typeface="Times New Roman"/>
                <a:ea typeface="Times New Roman"/>
                <a:cs typeface="Times New Roman"/>
                <a:sym typeface="Times New Roman"/>
              </a:rPr>
              <a:t>(</a:t>
            </a:r>
            <a:r>
              <a:rPr b="0" i="1" lang="en-US" sz="2400" u="none">
                <a:solidFill>
                  <a:schemeClr val="dk1"/>
                </a:solidFill>
                <a:latin typeface="Times New Roman"/>
                <a:ea typeface="Times New Roman"/>
                <a:cs typeface="Times New Roman"/>
                <a:sym typeface="Times New Roman"/>
              </a:rPr>
              <a:t>ci</a:t>
            </a:r>
            <a:r>
              <a:rPr b="0" i="0" lang="en-US" sz="2400" u="none">
                <a:solidFill>
                  <a:schemeClr val="dk1"/>
                </a:solidFill>
                <a:latin typeface="Times New Roman"/>
                <a:ea typeface="Times New Roman"/>
                <a:cs typeface="Times New Roman"/>
                <a:sym typeface="Times New Roman"/>
              </a:rPr>
              <a:t>) = (</a:t>
            </a:r>
            <a:r>
              <a:rPr b="0" i="1" lang="en-US" sz="2400" u="none">
                <a:solidFill>
                  <a:schemeClr val="dk1"/>
                </a:solidFill>
                <a:latin typeface="Times New Roman"/>
                <a:ea typeface="Times New Roman"/>
                <a:cs typeface="Times New Roman"/>
                <a:sym typeface="Times New Roman"/>
              </a:rPr>
              <a:t>ci – k</a:t>
            </a:r>
            <a:r>
              <a:rPr b="0" i="0" lang="en-US" sz="2400" u="none">
                <a:solidFill>
                  <a:schemeClr val="dk1"/>
                </a:solidFill>
                <a:latin typeface="Times New Roman"/>
                <a:ea typeface="Times New Roman"/>
                <a:cs typeface="Times New Roman"/>
                <a:sym typeface="Times New Roman"/>
              </a:rPr>
              <a:t>) mod 26</a:t>
            </a:r>
            <a:endParaRPr/>
          </a:p>
          <a:p>
            <a:pPr indent="-469900" lvl="0" marL="469900" rtl="0" algn="l">
              <a:lnSpc>
                <a:spcPct val="100000"/>
              </a:lnSpc>
              <a:spcBef>
                <a:spcPts val="480"/>
              </a:spcBef>
              <a:spcAft>
                <a:spcPts val="0"/>
              </a:spcAft>
              <a:buClr>
                <a:schemeClr val="lt2"/>
              </a:buClr>
              <a:buSzPts val="1680"/>
              <a:buFont typeface="Noto Sans Symbols"/>
              <a:buChar char="□"/>
            </a:pPr>
            <a:r>
              <a:rPr b="0" i="0" lang="en-US" sz="2400" u="none">
                <a:solidFill>
                  <a:schemeClr val="dk1"/>
                </a:solidFill>
                <a:latin typeface="Times New Roman"/>
                <a:ea typeface="Times New Roman"/>
                <a:cs typeface="Times New Roman"/>
                <a:sym typeface="Times New Roman"/>
              </a:rPr>
              <a:t>Example (setting </a:t>
            </a:r>
            <a:r>
              <a:rPr b="0" i="1" lang="en-US" sz="2400" u="none">
                <a:solidFill>
                  <a:schemeClr val="dk1"/>
                </a:solidFill>
                <a:latin typeface="Times New Roman"/>
                <a:ea typeface="Times New Roman"/>
                <a:cs typeface="Times New Roman"/>
                <a:sym typeface="Times New Roman"/>
              </a:rPr>
              <a:t>k </a:t>
            </a:r>
            <a:r>
              <a:rPr b="0" i="0" lang="en-US" sz="2400" u="none">
                <a:solidFill>
                  <a:schemeClr val="dk1"/>
                </a:solidFill>
                <a:latin typeface="Times New Roman"/>
                <a:ea typeface="Times New Roman"/>
                <a:cs typeface="Times New Roman"/>
                <a:sym typeface="Times New Roman"/>
              </a:rPr>
              <a:t>= 3)</a:t>
            </a:r>
            <a:endParaRPr/>
          </a:p>
          <a:p>
            <a:pPr indent="-436562" lvl="1" marL="908050" rtl="0" algn="l">
              <a:lnSpc>
                <a:spcPct val="100000"/>
              </a:lnSpc>
              <a:spcBef>
                <a:spcPts val="480"/>
              </a:spcBef>
              <a:spcAft>
                <a:spcPts val="0"/>
              </a:spcAft>
              <a:buSzPts val="1500"/>
              <a:buNone/>
            </a:pPr>
            <a:r>
              <a:rPr b="0" i="0" lang="en-US" sz="2000" u="none">
                <a:solidFill>
                  <a:schemeClr val="dk1"/>
                </a:solidFill>
                <a:latin typeface="Times New Roman"/>
                <a:ea typeface="Times New Roman"/>
                <a:cs typeface="Times New Roman"/>
                <a:sym typeface="Times New Roman"/>
              </a:rPr>
              <a:t>	</a:t>
            </a:r>
            <a:r>
              <a:rPr b="0" i="0" lang="en-US" sz="2400" u="none">
                <a:solidFill>
                  <a:srgbClr val="7030A0"/>
                </a:solidFill>
                <a:latin typeface="Times New Roman"/>
                <a:ea typeface="Times New Roman"/>
                <a:cs typeface="Times New Roman"/>
                <a:sym typeface="Times New Roman"/>
              </a:rPr>
              <a:t>attack at dawn</a:t>
            </a:r>
            <a:endParaRPr b="0" i="0" sz="2000" u="none">
              <a:solidFill>
                <a:srgbClr val="7030A0"/>
              </a:solidFill>
              <a:latin typeface="Times New Roman"/>
              <a:ea typeface="Times New Roman"/>
              <a:cs typeface="Times New Roman"/>
              <a:sym typeface="Times New Roman"/>
            </a:endParaRPr>
          </a:p>
          <a:p>
            <a:pPr indent="-469900" lvl="0" marL="469900" rtl="0" algn="l">
              <a:lnSpc>
                <a:spcPct val="100000"/>
              </a:lnSpc>
              <a:spcBef>
                <a:spcPts val="480"/>
              </a:spcBef>
              <a:spcAft>
                <a:spcPts val="0"/>
              </a:spcAft>
              <a:buSzPts val="1680"/>
              <a:buNone/>
            </a:pPr>
            <a:r>
              <a:rPr b="0" i="0" lang="en-US" sz="2400" u="none">
                <a:solidFill>
                  <a:schemeClr val="dk1"/>
                </a:solidFill>
                <a:latin typeface="Times New Roman"/>
                <a:ea typeface="Times New Roman"/>
                <a:cs typeface="Times New Roman"/>
                <a:sym typeface="Times New Roman"/>
              </a:rPr>
              <a:t>		DWWDFN DW GDZQ</a:t>
            </a:r>
            <a:endParaRPr/>
          </a:p>
          <a:p>
            <a:pPr indent="-327660" lvl="0" marL="469900" rtl="0" algn="l">
              <a:lnSpc>
                <a:spcPct val="100000"/>
              </a:lnSpc>
              <a:spcBef>
                <a:spcPts val="640"/>
              </a:spcBef>
              <a:spcAft>
                <a:spcPts val="0"/>
              </a:spcAft>
              <a:buClr>
                <a:schemeClr val="lt2"/>
              </a:buClr>
              <a:buSzPts val="2240"/>
              <a:buFont typeface="Noto Sans Symbols"/>
              <a:buNone/>
            </a:pPr>
            <a:r>
              <a:t/>
            </a:r>
            <a:endParaRPr b="0" i="0" sz="3200" u="none">
              <a:solidFill>
                <a:schemeClr val="dk1"/>
              </a:solidFill>
              <a:latin typeface="Times New Roman"/>
              <a:ea typeface="Times New Roman"/>
              <a:cs typeface="Times New Roman"/>
              <a:sym typeface="Times New Roman"/>
            </a:endParaRPr>
          </a:p>
          <a:p>
            <a:pPr indent="-327660" lvl="0" marL="469900" rtl="0" algn="l">
              <a:spcBef>
                <a:spcPts val="640"/>
              </a:spcBef>
              <a:spcAft>
                <a:spcPts val="0"/>
              </a:spcAft>
              <a:buSzPts val="2240"/>
              <a:buNone/>
            </a:pPr>
            <a:r>
              <a:t/>
            </a:r>
            <a:endParaRPr b="0" i="0" sz="3200" u="none">
              <a:solidFill>
                <a:schemeClr val="dk1"/>
              </a:solidFill>
              <a:latin typeface="Times New Roman"/>
              <a:ea typeface="Times New Roman"/>
              <a:cs typeface="Times New Roman"/>
              <a:sym typeface="Times New Roman"/>
            </a:endParaRPr>
          </a:p>
        </p:txBody>
      </p:sp>
      <p:pic>
        <p:nvPicPr>
          <p:cNvPr id="273" name="Google Shape;273;p36"/>
          <p:cNvPicPr preferRelativeResize="0"/>
          <p:nvPr/>
        </p:nvPicPr>
        <p:blipFill rotWithShape="1">
          <a:blip r:embed="rId3">
            <a:alphaModFix/>
          </a:blip>
          <a:srcRect b="0" l="0" r="0" t="0"/>
          <a:stretch/>
        </p:blipFill>
        <p:spPr>
          <a:xfrm>
            <a:off x="381000" y="5257800"/>
            <a:ext cx="8305800" cy="1249362"/>
          </a:xfrm>
          <a:prstGeom prst="rect">
            <a:avLst/>
          </a:prstGeom>
          <a:noFill/>
          <a:ln>
            <a:noFill/>
          </a:ln>
        </p:spPr>
      </p:pic>
      <p:sp>
        <p:nvSpPr>
          <p:cNvPr id="274" name="Google Shape;274;p36"/>
          <p:cNvSpPr txBox="1"/>
          <p:nvPr/>
        </p:nvSpPr>
        <p:spPr>
          <a:xfrm>
            <a:off x="3124200" y="6553200"/>
            <a:ext cx="28956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Attacking Caesar Cipher</a:t>
            </a:r>
            <a:endParaRPr/>
          </a:p>
        </p:txBody>
      </p:sp>
      <p:sp>
        <p:nvSpPr>
          <p:cNvPr id="280" name="Google Shape;280;p37"/>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Brute force</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Key is just one letter (or number between 1 and 25)</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Try all 25 keys</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Easy!</a:t>
            </a:r>
            <a:endParaRPr/>
          </a:p>
        </p:txBody>
      </p:sp>
      <p:sp>
        <p:nvSpPr>
          <p:cNvPr id="281" name="Google Shape;281;p3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Monoalphabetic substitution</a:t>
            </a:r>
            <a:endParaRPr/>
          </a:p>
        </p:txBody>
      </p:sp>
      <p:sp>
        <p:nvSpPr>
          <p:cNvPr id="287" name="Google Shape;287;p38"/>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Use arbitrary mapping of plaintext letters onto ciphertext</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e.g.</a:t>
            </a:r>
            <a:endParaRPr/>
          </a:p>
        </p:txBody>
      </p:sp>
      <p:pic>
        <p:nvPicPr>
          <p:cNvPr id="288" name="Google Shape;288;p38"/>
          <p:cNvPicPr preferRelativeResize="0"/>
          <p:nvPr/>
        </p:nvPicPr>
        <p:blipFill rotWithShape="1">
          <a:blip r:embed="rId3">
            <a:alphaModFix/>
          </a:blip>
          <a:srcRect b="0" l="0" r="0" t="0"/>
          <a:stretch/>
        </p:blipFill>
        <p:spPr>
          <a:xfrm>
            <a:off x="533400" y="3429000"/>
            <a:ext cx="8153400" cy="1181100"/>
          </a:xfrm>
          <a:prstGeom prst="rect">
            <a:avLst/>
          </a:prstGeom>
          <a:noFill/>
          <a:ln>
            <a:noFill/>
          </a:ln>
        </p:spPr>
      </p:pic>
      <p:sp>
        <p:nvSpPr>
          <p:cNvPr id="289" name="Google Shape;289;p38"/>
          <p:cNvSpPr txBox="1"/>
          <p:nvPr/>
        </p:nvSpPr>
        <p:spPr>
          <a:xfrm>
            <a:off x="609600" y="5029200"/>
            <a:ext cx="807720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Example:</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	attack  at  dawn</a:t>
            </a:r>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	XCCXQJ  XC  MXBF</a:t>
            </a:r>
            <a:endParaRPr/>
          </a:p>
        </p:txBody>
      </p:sp>
      <p:sp>
        <p:nvSpPr>
          <p:cNvPr id="290" name="Google Shape;290;p3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Attacking Monoalphabetic</a:t>
            </a:r>
            <a:endParaRPr/>
          </a:p>
        </p:txBody>
      </p:sp>
      <p:sp>
        <p:nvSpPr>
          <p:cNvPr id="296" name="Google Shape;296;p39"/>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8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Brute force</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Very difficult; Key is 26 letters long</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No. of possible keys = 26! = 4 x 1026</a:t>
            </a:r>
            <a:endParaRPr/>
          </a:p>
          <a:p>
            <a:pPr indent="-469900" lvl="0" marL="469900" rtl="0" algn="l">
              <a:lnSpc>
                <a:spcPct val="8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Algorithm weaknesses:</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Frequency of letters in English language is well known</a:t>
            </a:r>
            <a:endParaRPr/>
          </a:p>
          <a:p>
            <a:pPr indent="-468312" lvl="2" marL="1377950" rtl="0" algn="l">
              <a:lnSpc>
                <a:spcPct val="8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Can deduce plaintext-&gt;ciphertext mapping by analysing frequency of occurrence</a:t>
            </a:r>
            <a:endParaRPr/>
          </a:p>
          <a:p>
            <a:pPr indent="-468312" lvl="2" marL="1377950" rtl="0" algn="l">
              <a:lnSpc>
                <a:spcPct val="8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e.g. on analysing plenty of ciphertext, most frequent letter probably corresponds to ‘E’</a:t>
            </a:r>
            <a:endParaRPr/>
          </a:p>
          <a:p>
            <a:pPr indent="-436562" lvl="1" marL="908050" rtl="0" algn="l">
              <a:lnSpc>
                <a:spcPct val="8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Can spot digrams and trigrams</a:t>
            </a:r>
            <a:endParaRPr/>
          </a:p>
          <a:p>
            <a:pPr indent="-468312" lvl="2" marL="1377950" rtl="0" algn="l">
              <a:lnSpc>
                <a:spcPct val="8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Digram: common 2-letter sequence; e.g. ‘</a:t>
            </a:r>
            <a:r>
              <a:rPr b="0" i="1" lang="en-US" sz="2000" u="none">
                <a:solidFill>
                  <a:schemeClr val="dk1"/>
                </a:solidFill>
                <a:latin typeface="Times New Roman"/>
                <a:ea typeface="Times New Roman"/>
                <a:cs typeface="Times New Roman"/>
                <a:sym typeface="Times New Roman"/>
              </a:rPr>
              <a:t>th’</a:t>
            </a:r>
            <a:r>
              <a:rPr b="0" i="0" lang="en-US" sz="2000" u="none">
                <a:solidFill>
                  <a:schemeClr val="dk1"/>
                </a:solidFill>
                <a:latin typeface="Times New Roman"/>
                <a:ea typeface="Times New Roman"/>
                <a:cs typeface="Times New Roman"/>
                <a:sym typeface="Times New Roman"/>
              </a:rPr>
              <a:t>, ‘</a:t>
            </a:r>
            <a:r>
              <a:rPr b="0" i="1" lang="en-US" sz="2000" u="none">
                <a:solidFill>
                  <a:schemeClr val="dk1"/>
                </a:solidFill>
                <a:latin typeface="Times New Roman"/>
                <a:ea typeface="Times New Roman"/>
                <a:cs typeface="Times New Roman"/>
                <a:sym typeface="Times New Roman"/>
              </a:rPr>
              <a:t>an’, ‘ed’</a:t>
            </a:r>
            <a:endParaRPr/>
          </a:p>
          <a:p>
            <a:pPr indent="-468312" lvl="2" marL="1377950" rtl="0" algn="l">
              <a:lnSpc>
                <a:spcPct val="80000"/>
              </a:lnSpc>
              <a:spcBef>
                <a:spcPts val="400"/>
              </a:spcBef>
              <a:spcAft>
                <a:spcPts val="0"/>
              </a:spcAft>
              <a:buClr>
                <a:schemeClr val="lt2"/>
              </a:buClr>
              <a:buSzPts val="1300"/>
              <a:buFont typeface="Noto Sans Symbols"/>
              <a:buChar char="□"/>
            </a:pPr>
            <a:r>
              <a:rPr b="0" i="0" lang="en-US" sz="2000" u="none">
                <a:solidFill>
                  <a:schemeClr val="dk1"/>
                </a:solidFill>
                <a:latin typeface="Times New Roman"/>
                <a:ea typeface="Times New Roman"/>
                <a:cs typeface="Times New Roman"/>
                <a:sym typeface="Times New Roman"/>
              </a:rPr>
              <a:t>Trigram: common 3-letter sequence: </a:t>
            </a:r>
            <a:r>
              <a:rPr b="0" i="1" lang="en-US" sz="2000" u="none">
                <a:solidFill>
                  <a:schemeClr val="dk1"/>
                </a:solidFill>
                <a:latin typeface="Times New Roman"/>
                <a:ea typeface="Times New Roman"/>
                <a:cs typeface="Times New Roman"/>
                <a:sym typeface="Times New Roman"/>
              </a:rPr>
              <a:t>e.g. ‘ing’, ‘the’, ‘est’</a:t>
            </a:r>
            <a:endParaRPr/>
          </a:p>
        </p:txBody>
      </p:sp>
      <p:sp>
        <p:nvSpPr>
          <p:cNvPr id="297" name="Google Shape;297;p3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0"/>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English Letter Frequencies</a:t>
            </a:r>
            <a:endParaRPr/>
          </a:p>
        </p:txBody>
      </p:sp>
      <p:pic>
        <p:nvPicPr>
          <p:cNvPr id="303" name="Google Shape;303;p40"/>
          <p:cNvPicPr preferRelativeResize="0"/>
          <p:nvPr>
            <p:ph idx="1" type="body"/>
          </p:nvPr>
        </p:nvPicPr>
        <p:blipFill rotWithShape="1">
          <a:blip r:embed="rId3">
            <a:alphaModFix/>
          </a:blip>
          <a:srcRect b="0" l="0" r="0" t="0"/>
          <a:stretch/>
        </p:blipFill>
        <p:spPr>
          <a:xfrm>
            <a:off x="0" y="1828800"/>
            <a:ext cx="8915400" cy="4648200"/>
          </a:xfrm>
          <a:prstGeom prst="rect">
            <a:avLst/>
          </a:prstGeom>
          <a:noFill/>
          <a:ln>
            <a:noFill/>
          </a:ln>
        </p:spPr>
      </p:pic>
      <p:sp>
        <p:nvSpPr>
          <p:cNvPr id="304" name="Google Shape;304;p40"/>
          <p:cNvSpPr txBox="1"/>
          <p:nvPr/>
        </p:nvSpPr>
        <p:spPr>
          <a:xfrm>
            <a:off x="3124200" y="6553200"/>
            <a:ext cx="2895600" cy="381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1"/>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Vigenère Cipher</a:t>
            </a:r>
            <a:endParaRPr/>
          </a:p>
        </p:txBody>
      </p:sp>
      <p:sp>
        <p:nvSpPr>
          <p:cNvPr id="310" name="Google Shape;310;p41"/>
          <p:cNvSpPr txBox="1"/>
          <p:nvPr>
            <p:ph idx="1" type="body"/>
          </p:nvPr>
        </p:nvSpPr>
        <p:spPr>
          <a:xfrm>
            <a:off x="228600" y="1828800"/>
            <a:ext cx="8610600" cy="2209800"/>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Set of related monoalphabetic substitution rule is used.</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“Add” repeating keyword to plaintext</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In effect, 26 Caesar ciphers are used</a:t>
            </a:r>
            <a:endParaRPr/>
          </a:p>
          <a:p>
            <a:pPr indent="-436562" lvl="1" marL="908050" rtl="0" algn="l">
              <a:lnSpc>
                <a:spcPct val="100000"/>
              </a:lnSpc>
              <a:spcBef>
                <a:spcPts val="480"/>
              </a:spcBef>
              <a:spcAft>
                <a:spcPts val="0"/>
              </a:spcAft>
              <a:buClr>
                <a:schemeClr val="accent2"/>
              </a:buClr>
              <a:buSzPts val="1800"/>
              <a:buFont typeface="Noto Sans Symbols"/>
              <a:buChar char="■"/>
            </a:pPr>
            <a:r>
              <a:rPr b="0" i="0" lang="en-US" sz="2400" u="none">
                <a:solidFill>
                  <a:schemeClr val="dk1"/>
                </a:solidFill>
                <a:latin typeface="Times New Roman"/>
                <a:ea typeface="Times New Roman"/>
                <a:cs typeface="Times New Roman"/>
                <a:sym typeface="Times New Roman"/>
              </a:rPr>
              <a:t>Example:</a:t>
            </a:r>
            <a:endParaRPr/>
          </a:p>
        </p:txBody>
      </p:sp>
      <p:pic>
        <p:nvPicPr>
          <p:cNvPr id="311" name="Google Shape;311;p41"/>
          <p:cNvPicPr preferRelativeResize="0"/>
          <p:nvPr/>
        </p:nvPicPr>
        <p:blipFill rotWithShape="1">
          <a:blip r:embed="rId3">
            <a:alphaModFix/>
          </a:blip>
          <a:srcRect b="0" l="0" r="0" t="0"/>
          <a:stretch/>
        </p:blipFill>
        <p:spPr>
          <a:xfrm>
            <a:off x="228600" y="4419600"/>
            <a:ext cx="8618537" cy="1395412"/>
          </a:xfrm>
          <a:prstGeom prst="rect">
            <a:avLst/>
          </a:prstGeom>
          <a:noFill/>
          <a:ln>
            <a:noFill/>
          </a:ln>
        </p:spPr>
      </p:pic>
      <p:sp>
        <p:nvSpPr>
          <p:cNvPr id="312" name="Google Shape;312;p4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2"/>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Vigenère Cipher</a:t>
            </a:r>
            <a:endParaRPr/>
          </a:p>
        </p:txBody>
      </p:sp>
      <p:pic>
        <p:nvPicPr>
          <p:cNvPr descr="The Vigenère square or Vigenère table, also known as the tabula recta, can be used for encryption and decryption." id="318" name="Google Shape;318;p42"/>
          <p:cNvPicPr preferRelativeResize="0"/>
          <p:nvPr/>
        </p:nvPicPr>
        <p:blipFill rotWithShape="1">
          <a:blip r:embed="rId3">
            <a:alphaModFix/>
          </a:blip>
          <a:srcRect b="0" l="0" r="0" t="0"/>
          <a:stretch/>
        </p:blipFill>
        <p:spPr>
          <a:xfrm>
            <a:off x="1828800" y="1828800"/>
            <a:ext cx="5029200" cy="4746625"/>
          </a:xfrm>
          <a:prstGeom prst="rect">
            <a:avLst/>
          </a:prstGeom>
          <a:noFill/>
          <a:ln>
            <a:noFill/>
          </a:ln>
        </p:spPr>
      </p:pic>
      <p:sp>
        <p:nvSpPr>
          <p:cNvPr id="319" name="Google Shape;319;p42"/>
          <p:cNvSpPr txBox="1"/>
          <p:nvPr/>
        </p:nvSpPr>
        <p:spPr>
          <a:xfrm>
            <a:off x="3124200" y="6629400"/>
            <a:ext cx="2895600" cy="228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3"/>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Attacking Vigenère Cipher</a:t>
            </a:r>
            <a:endParaRPr/>
          </a:p>
        </p:txBody>
      </p:sp>
      <p:sp>
        <p:nvSpPr>
          <p:cNvPr id="325" name="Google Shape;325;p43"/>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Brute force</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More difficult; like password cracking</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The longer the key the harder brute force is</a:t>
            </a:r>
            <a:endParaRPr/>
          </a:p>
        </p:txBody>
      </p:sp>
      <p:sp>
        <p:nvSpPr>
          <p:cNvPr id="326" name="Google Shape;326;p4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4"/>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One-Time Pads</a:t>
            </a:r>
            <a:endParaRPr/>
          </a:p>
        </p:txBody>
      </p:sp>
      <p:sp>
        <p:nvSpPr>
          <p:cNvPr id="332" name="Google Shape;332;p44"/>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just">
              <a:lnSpc>
                <a:spcPct val="90000"/>
              </a:lnSpc>
              <a:spcBef>
                <a:spcPts val="0"/>
              </a:spcBef>
              <a:spcAft>
                <a:spcPts val="0"/>
              </a:spcAft>
              <a:buClr>
                <a:schemeClr val="lt2"/>
              </a:buClr>
              <a:buSzPts val="1960"/>
              <a:buFont typeface="Noto Sans Symbols"/>
              <a:buChar char="□"/>
            </a:pPr>
            <a:r>
              <a:rPr b="1" i="0" lang="en-US" sz="2800" u="none">
                <a:solidFill>
                  <a:schemeClr val="dk1"/>
                </a:solidFill>
                <a:latin typeface="Times New Roman"/>
                <a:ea typeface="Times New Roman"/>
                <a:cs typeface="Times New Roman"/>
                <a:sym typeface="Times New Roman"/>
              </a:rPr>
              <a:t>One-time pad</a:t>
            </a:r>
            <a:r>
              <a:rPr b="0" i="0" lang="en-US" sz="2800" u="none">
                <a:solidFill>
                  <a:schemeClr val="dk1"/>
                </a:solidFill>
                <a:latin typeface="Times New Roman"/>
                <a:ea typeface="Times New Roman"/>
                <a:cs typeface="Times New Roman"/>
                <a:sym typeface="Times New Roman"/>
              </a:rPr>
              <a:t> (</a:t>
            </a:r>
            <a:r>
              <a:rPr b="1" i="0" lang="en-US" sz="2800" u="none">
                <a:solidFill>
                  <a:schemeClr val="dk1"/>
                </a:solidFill>
                <a:latin typeface="Times New Roman"/>
                <a:ea typeface="Times New Roman"/>
                <a:cs typeface="Times New Roman"/>
                <a:sym typeface="Times New Roman"/>
              </a:rPr>
              <a:t>OTP</a:t>
            </a:r>
            <a:r>
              <a:rPr b="0" i="0" lang="en-US" sz="2800" u="none">
                <a:solidFill>
                  <a:schemeClr val="dk1"/>
                </a:solidFill>
                <a:latin typeface="Times New Roman"/>
                <a:ea typeface="Times New Roman"/>
                <a:cs typeface="Times New Roman"/>
                <a:sym typeface="Times New Roman"/>
              </a:rPr>
              <a:t>) is an </a:t>
            </a:r>
            <a:r>
              <a:rPr b="0" i="0" lang="en-US" sz="2800" u="sng">
                <a:solidFill>
                  <a:schemeClr val="hlink"/>
                </a:solidFill>
                <a:hlinkClick r:id="rId3"/>
              </a:rPr>
              <a:t>encryption</a:t>
            </a:r>
            <a:r>
              <a:rPr b="0" i="0" lang="en-US" sz="2800" u="none">
                <a:solidFill>
                  <a:schemeClr val="dk1"/>
                </a:solidFill>
                <a:latin typeface="Times New Roman"/>
                <a:ea typeface="Times New Roman"/>
                <a:cs typeface="Times New Roman"/>
                <a:sym typeface="Times New Roman"/>
              </a:rPr>
              <a:t>) is an encryption technique that cannot be </a:t>
            </a:r>
            <a:r>
              <a:rPr b="0" i="0" lang="en-US" sz="2800" u="sng">
                <a:solidFill>
                  <a:schemeClr val="hlink"/>
                </a:solidFill>
                <a:hlinkClick r:id="rId4"/>
              </a:rPr>
              <a:t>cracked</a:t>
            </a:r>
            <a:r>
              <a:rPr b="0" i="0" lang="en-US" sz="2800" u="none">
                <a:solidFill>
                  <a:schemeClr val="dk1"/>
                </a:solidFill>
                <a:latin typeface="Times New Roman"/>
                <a:ea typeface="Times New Roman"/>
                <a:cs typeface="Times New Roman"/>
                <a:sym typeface="Times New Roman"/>
              </a:rPr>
              <a:t>) is an encryption technique that cannot be cracked if used correctly. In this technique, a </a:t>
            </a:r>
            <a:r>
              <a:rPr b="0" i="0" lang="en-US" sz="2800" u="sng">
                <a:solidFill>
                  <a:schemeClr val="hlink"/>
                </a:solidFill>
                <a:hlinkClick r:id="rId5"/>
              </a:rPr>
              <a:t>plaintext</a:t>
            </a:r>
            <a:r>
              <a:rPr b="0" i="0" lang="en-US" sz="2800" u="none">
                <a:solidFill>
                  <a:schemeClr val="dk1"/>
                </a:solidFill>
                <a:latin typeface="Times New Roman"/>
                <a:ea typeface="Times New Roman"/>
                <a:cs typeface="Times New Roman"/>
                <a:sym typeface="Times New Roman"/>
              </a:rPr>
              <a:t>) is an encryption technique that cannot be cracked if used correctly. In this technique, a plaintext is paired with a random secret </a:t>
            </a:r>
            <a:r>
              <a:rPr b="0" i="0" lang="en-US" sz="2800" u="sng">
                <a:solidFill>
                  <a:schemeClr val="hlink"/>
                </a:solidFill>
                <a:hlinkClick r:id="rId6"/>
              </a:rPr>
              <a:t>key</a:t>
            </a:r>
            <a:r>
              <a:rPr b="0" i="0" lang="en-US" sz="2800" u="none">
                <a:solidFill>
                  <a:schemeClr val="dk1"/>
                </a:solidFill>
                <a:latin typeface="Times New Roman"/>
                <a:ea typeface="Times New Roman"/>
                <a:cs typeface="Times New Roman"/>
                <a:sym typeface="Times New Roman"/>
              </a:rPr>
              <a:t> (also referred to as </a:t>
            </a:r>
            <a:r>
              <a:rPr b="0" i="1" lang="en-US" sz="2800" u="none">
                <a:solidFill>
                  <a:schemeClr val="dk1"/>
                </a:solidFill>
                <a:latin typeface="Times New Roman"/>
                <a:ea typeface="Times New Roman"/>
                <a:cs typeface="Times New Roman"/>
                <a:sym typeface="Times New Roman"/>
              </a:rPr>
              <a:t>a one-time pad</a:t>
            </a:r>
            <a:r>
              <a:rPr b="0" i="0" lang="en-US" sz="2800" u="none">
                <a:solidFill>
                  <a:schemeClr val="dk1"/>
                </a:solidFill>
                <a:latin typeface="Times New Roman"/>
                <a:ea typeface="Times New Roman"/>
                <a:cs typeface="Times New Roman"/>
                <a:sym typeface="Times New Roman"/>
              </a:rPr>
              <a:t>). Then, each bit or character of the plaintext is encrypted by combining it with the corresponding bit or character from the pad using </a:t>
            </a:r>
            <a:r>
              <a:rPr b="0" i="0" lang="en-US" sz="2800" u="sng">
                <a:solidFill>
                  <a:schemeClr val="hlink"/>
                </a:solidFill>
                <a:hlinkClick r:id="rId7"/>
              </a:rPr>
              <a:t>modular addition</a:t>
            </a:r>
            <a:r>
              <a:rPr b="0" i="0" lang="en-US" sz="2800" u="none">
                <a:solidFill>
                  <a:schemeClr val="dk1"/>
                </a:solidFill>
                <a:latin typeface="Times New Roman"/>
                <a:ea typeface="Times New Roman"/>
                <a:cs typeface="Times New Roman"/>
                <a:sym typeface="Times New Roman"/>
              </a:rPr>
              <a:t>.</a:t>
            </a:r>
            <a:endParaRPr/>
          </a:p>
          <a:p>
            <a:pPr indent="-469900" lvl="0" marL="469900" rtl="0" algn="just">
              <a:lnSpc>
                <a:spcPct val="90000"/>
              </a:lnSpc>
              <a:spcBef>
                <a:spcPts val="560"/>
              </a:spcBef>
              <a:spcAft>
                <a:spcPts val="0"/>
              </a:spcAft>
              <a:buSzPts val="1960"/>
              <a:buNone/>
            </a:pPr>
            <a:r>
              <a:t/>
            </a:r>
            <a:endParaRPr b="0" i="0" sz="2800" u="none">
              <a:solidFill>
                <a:schemeClr val="dk1"/>
              </a:solidFill>
              <a:latin typeface="Times New Roman"/>
              <a:ea typeface="Times New Roman"/>
              <a:cs typeface="Times New Roman"/>
              <a:sym typeface="Times New Roman"/>
            </a:endParaRPr>
          </a:p>
          <a:p>
            <a:pPr indent="-469900" lvl="0" marL="469900" rtl="0" algn="just">
              <a:lnSpc>
                <a:spcPct val="90000"/>
              </a:lnSpc>
              <a:spcBef>
                <a:spcPts val="560"/>
              </a:spcBef>
              <a:spcAft>
                <a:spcPts val="0"/>
              </a:spcAft>
              <a:buSzPts val="1960"/>
              <a:buNone/>
            </a:pPr>
            <a:r>
              <a:rPr b="0" i="0" lang="en-US" sz="2800" u="none">
                <a:solidFill>
                  <a:schemeClr val="dk1"/>
                </a:solidFill>
                <a:latin typeface="Times New Roman"/>
                <a:ea typeface="Times New Roman"/>
                <a:cs typeface="Times New Roman"/>
                <a:sym typeface="Times New Roman"/>
              </a:rPr>
              <a:t>		</a:t>
            </a:r>
            <a:r>
              <a:rPr b="0" i="0" lang="en-US" sz="2800" u="sng">
                <a:solidFill>
                  <a:srgbClr val="FF0000"/>
                </a:solidFill>
                <a:latin typeface="Times New Roman"/>
                <a:ea typeface="Times New Roman"/>
                <a:cs typeface="Times New Roman"/>
                <a:sym typeface="Times New Roman"/>
              </a:rPr>
              <a:t>Cipher Text = message + key (mod 26)</a:t>
            </a:r>
            <a:endParaRPr/>
          </a:p>
        </p:txBody>
      </p:sp>
      <p:sp>
        <p:nvSpPr>
          <p:cNvPr id="333" name="Google Shape;333;p4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5"/>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One-Time Pads</a:t>
            </a:r>
            <a:endParaRPr/>
          </a:p>
        </p:txBody>
      </p:sp>
      <p:sp>
        <p:nvSpPr>
          <p:cNvPr id="339" name="Google Shape;339;p45"/>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just">
              <a:lnSpc>
                <a:spcPct val="9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An OTP is a list of numbers, in completely random order, that is used to encode a message</a:t>
            </a:r>
            <a:endParaRPr/>
          </a:p>
          <a:p>
            <a:pPr indent="-469900" lvl="0" marL="469900" rtl="0" algn="just">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If the numbers on OTP are truly random and OTP is only used once, then ciphertext provides no mechanism to recover the original key and the message</a:t>
            </a:r>
            <a:endParaRPr/>
          </a:p>
          <a:p>
            <a:pPr indent="-469900" lvl="0" marL="469900" rtl="0" algn="just">
              <a:lnSpc>
                <a:spcPct val="9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OTPs are used for short messages and in a very high security environment</a:t>
            </a:r>
            <a:endParaRPr/>
          </a:p>
        </p:txBody>
      </p:sp>
      <p:sp>
        <p:nvSpPr>
          <p:cNvPr id="340" name="Google Shape;340;p4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6"/>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One-Time Pad</a:t>
            </a:r>
            <a:endParaRPr/>
          </a:p>
        </p:txBody>
      </p:sp>
      <p:sp>
        <p:nvSpPr>
          <p:cNvPr id="346" name="Google Shape;346;p46"/>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Uses random key that is as long as the message</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Can use key only once One-Time Pad</a:t>
            </a:r>
            <a:endParaRPr/>
          </a:p>
          <a:p>
            <a:pPr indent="-327660" lvl="0" marL="469900" rtl="0" algn="l">
              <a:spcBef>
                <a:spcPts val="640"/>
              </a:spcBef>
              <a:spcAft>
                <a:spcPts val="0"/>
              </a:spcAft>
              <a:buSzPts val="2240"/>
              <a:buNone/>
            </a:pPr>
            <a:r>
              <a:t/>
            </a:r>
            <a:endParaRPr b="0" i="0" sz="3200" u="none">
              <a:solidFill>
                <a:schemeClr val="dk1"/>
              </a:solidFill>
              <a:latin typeface="Times New Roman"/>
              <a:ea typeface="Times New Roman"/>
              <a:cs typeface="Times New Roman"/>
              <a:sym typeface="Times New Roman"/>
            </a:endParaRPr>
          </a:p>
        </p:txBody>
      </p:sp>
      <p:sp>
        <p:nvSpPr>
          <p:cNvPr id="347" name="Google Shape;347;p4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7"/>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One-Time Pad Operation</a:t>
            </a:r>
            <a:endParaRPr/>
          </a:p>
        </p:txBody>
      </p:sp>
      <p:pic>
        <p:nvPicPr>
          <p:cNvPr id="353" name="Google Shape;353;p47"/>
          <p:cNvPicPr preferRelativeResize="0"/>
          <p:nvPr/>
        </p:nvPicPr>
        <p:blipFill rotWithShape="1">
          <a:blip r:embed="rId3">
            <a:alphaModFix/>
          </a:blip>
          <a:srcRect b="0" l="0" r="0" t="0"/>
          <a:stretch/>
        </p:blipFill>
        <p:spPr>
          <a:xfrm>
            <a:off x="457200" y="2209800"/>
            <a:ext cx="8229600" cy="3600450"/>
          </a:xfrm>
          <a:prstGeom prst="rect">
            <a:avLst/>
          </a:prstGeom>
          <a:noFill/>
          <a:ln>
            <a:noFill/>
          </a:ln>
        </p:spPr>
      </p:pic>
      <p:sp>
        <p:nvSpPr>
          <p:cNvPr id="354" name="Google Shape;354;p4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8"/>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One-Time Pads</a:t>
            </a:r>
            <a:endParaRPr/>
          </a:p>
        </p:txBody>
      </p:sp>
      <p:sp>
        <p:nvSpPr>
          <p:cNvPr id="360" name="Google Shape;360;p48"/>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Problems with OTPs</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Generation of truly random one-time pads</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Distribution of the one-time pads between communicating entities</a:t>
            </a:r>
            <a:endParaRPr/>
          </a:p>
          <a:p>
            <a:pPr indent="-436562" lvl="1" marL="908050" rtl="0" algn="l">
              <a:lnSpc>
                <a:spcPct val="100000"/>
              </a:lnSpc>
              <a:spcBef>
                <a:spcPts val="560"/>
              </a:spcBef>
              <a:spcAft>
                <a:spcPts val="0"/>
              </a:spcAft>
              <a:buClr>
                <a:schemeClr val="accent2"/>
              </a:buClr>
              <a:buSzPts val="2100"/>
              <a:buFont typeface="Noto Sans Symbols"/>
              <a:buChar char="■"/>
            </a:pPr>
            <a:r>
              <a:rPr b="0" i="0" lang="en-US" sz="2800" u="none">
                <a:solidFill>
                  <a:schemeClr val="dk1"/>
                </a:solidFill>
                <a:latin typeface="Times New Roman"/>
                <a:ea typeface="Times New Roman"/>
                <a:cs typeface="Times New Roman"/>
                <a:sym typeface="Times New Roman"/>
              </a:rPr>
              <a:t>Not feasible for use in high-traffic environments</a:t>
            </a:r>
            <a:endParaRPr/>
          </a:p>
        </p:txBody>
      </p:sp>
      <p:sp>
        <p:nvSpPr>
          <p:cNvPr id="361" name="Google Shape;361;p4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PU Gujranwala Campus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9"/>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Playfair Cipher</a:t>
            </a:r>
            <a:endParaRPr/>
          </a:p>
        </p:txBody>
      </p:sp>
      <p:sp>
        <p:nvSpPr>
          <p:cNvPr id="368" name="Google Shape;368;p49"/>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not even the large number of keys in a monoalphabetic cipher provides security </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one approach to improving security was to encrypt multiple letters </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the</a:t>
            </a:r>
            <a:r>
              <a:rPr b="1" i="0" lang="en-US" sz="3200" u="none">
                <a:solidFill>
                  <a:schemeClr val="dk1"/>
                </a:solidFill>
                <a:latin typeface="Times New Roman"/>
                <a:ea typeface="Times New Roman"/>
                <a:cs typeface="Times New Roman"/>
                <a:sym typeface="Times New Roman"/>
              </a:rPr>
              <a:t> Playfair Cipher</a:t>
            </a:r>
            <a:r>
              <a:rPr b="0" i="0" lang="en-US" sz="3200" u="none">
                <a:solidFill>
                  <a:schemeClr val="dk1"/>
                </a:solidFill>
                <a:latin typeface="Times New Roman"/>
                <a:ea typeface="Times New Roman"/>
                <a:cs typeface="Times New Roman"/>
                <a:sym typeface="Times New Roman"/>
              </a:rPr>
              <a:t> is an example </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invented by Charles Wheatstone in 1854, but named after his friend Baron Playfair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0"/>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Playfair Key Matrix</a:t>
            </a:r>
            <a:endParaRPr/>
          </a:p>
        </p:txBody>
      </p:sp>
      <p:sp>
        <p:nvSpPr>
          <p:cNvPr id="375" name="Google Shape;375;p50"/>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a 5X5 matrix of letters based on a keyword </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fill in letters of keyword (sans duplicates) </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fill rest of matrix with other letters</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eg. using the keyword MONARCHY</a:t>
            </a:r>
            <a:endParaRPr/>
          </a:p>
          <a:p>
            <a:pPr indent="-468312" lvl="2" marL="1377950" rtl="0" algn="l">
              <a:lnSpc>
                <a:spcPct val="100000"/>
              </a:lnSpc>
              <a:spcBef>
                <a:spcPts val="480"/>
              </a:spcBef>
              <a:spcAft>
                <a:spcPts val="0"/>
              </a:spcAft>
              <a:buSzPts val="1560"/>
              <a:buNone/>
            </a:pPr>
            <a:r>
              <a:rPr b="0" i="0" lang="en-US" sz="2400" u="none">
                <a:solidFill>
                  <a:schemeClr val="dk1"/>
                </a:solidFill>
                <a:latin typeface="Courier New"/>
                <a:ea typeface="Courier New"/>
                <a:cs typeface="Courier New"/>
                <a:sym typeface="Courier New"/>
              </a:rPr>
              <a:t>MONAR</a:t>
            </a:r>
            <a:endParaRPr/>
          </a:p>
          <a:p>
            <a:pPr indent="-468312" lvl="2" marL="1377950" rtl="0" algn="l">
              <a:lnSpc>
                <a:spcPct val="100000"/>
              </a:lnSpc>
              <a:spcBef>
                <a:spcPts val="480"/>
              </a:spcBef>
              <a:spcAft>
                <a:spcPts val="0"/>
              </a:spcAft>
              <a:buSzPts val="1560"/>
              <a:buNone/>
            </a:pPr>
            <a:r>
              <a:rPr b="0" i="0" lang="en-US" sz="2400" u="none">
                <a:solidFill>
                  <a:schemeClr val="dk1"/>
                </a:solidFill>
                <a:latin typeface="Courier New"/>
                <a:ea typeface="Courier New"/>
                <a:cs typeface="Courier New"/>
                <a:sym typeface="Courier New"/>
              </a:rPr>
              <a:t>CHYBD</a:t>
            </a:r>
            <a:endParaRPr/>
          </a:p>
          <a:p>
            <a:pPr indent="-468312" lvl="2" marL="1377950" rtl="0" algn="l">
              <a:lnSpc>
                <a:spcPct val="100000"/>
              </a:lnSpc>
              <a:spcBef>
                <a:spcPts val="480"/>
              </a:spcBef>
              <a:spcAft>
                <a:spcPts val="0"/>
              </a:spcAft>
              <a:buSzPts val="1560"/>
              <a:buNone/>
            </a:pPr>
            <a:r>
              <a:rPr b="0" i="0" lang="en-US" sz="2400" u="none">
                <a:solidFill>
                  <a:schemeClr val="dk1"/>
                </a:solidFill>
                <a:latin typeface="Courier New"/>
                <a:ea typeface="Courier New"/>
                <a:cs typeface="Courier New"/>
                <a:sym typeface="Courier New"/>
              </a:rPr>
              <a:t>EFGIK</a:t>
            </a:r>
            <a:endParaRPr/>
          </a:p>
          <a:p>
            <a:pPr indent="-468312" lvl="2" marL="1377950" rtl="0" algn="l">
              <a:lnSpc>
                <a:spcPct val="100000"/>
              </a:lnSpc>
              <a:spcBef>
                <a:spcPts val="480"/>
              </a:spcBef>
              <a:spcAft>
                <a:spcPts val="0"/>
              </a:spcAft>
              <a:buSzPts val="1560"/>
              <a:buNone/>
            </a:pPr>
            <a:r>
              <a:rPr b="0" i="0" lang="en-US" sz="2400" u="none">
                <a:solidFill>
                  <a:schemeClr val="dk1"/>
                </a:solidFill>
                <a:latin typeface="Courier New"/>
                <a:ea typeface="Courier New"/>
                <a:cs typeface="Courier New"/>
                <a:sym typeface="Courier New"/>
              </a:rPr>
              <a:t>LPQST</a:t>
            </a:r>
            <a:endParaRPr/>
          </a:p>
          <a:p>
            <a:pPr indent="-468312" lvl="2" marL="1377950" rtl="0" algn="l">
              <a:lnSpc>
                <a:spcPct val="100000"/>
              </a:lnSpc>
              <a:spcBef>
                <a:spcPts val="480"/>
              </a:spcBef>
              <a:spcAft>
                <a:spcPts val="0"/>
              </a:spcAft>
              <a:buSzPts val="1560"/>
              <a:buNone/>
            </a:pPr>
            <a:r>
              <a:rPr b="0" i="0" lang="en-US" sz="2400" u="none">
                <a:solidFill>
                  <a:schemeClr val="dk1"/>
                </a:solidFill>
                <a:latin typeface="Courier New"/>
                <a:ea typeface="Courier New"/>
                <a:cs typeface="Courier New"/>
                <a:sym typeface="Courier New"/>
              </a:rPr>
              <a:t>UVWXZ</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1"/>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Encrypting and Decrypting</a:t>
            </a:r>
            <a:endParaRPr/>
          </a:p>
        </p:txBody>
      </p:sp>
      <p:sp>
        <p:nvSpPr>
          <p:cNvPr id="382" name="Google Shape;382;p51"/>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533400" lvl="0" marL="533400" rtl="0" algn="l">
              <a:lnSpc>
                <a:spcPct val="8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plaintext encrypted two letters at a time: </a:t>
            </a:r>
            <a:endParaRPr/>
          </a:p>
          <a:p>
            <a:pPr indent="-457200" lvl="1" marL="914400" rtl="0" algn="l">
              <a:lnSpc>
                <a:spcPct val="80000"/>
              </a:lnSpc>
              <a:spcBef>
                <a:spcPts val="480"/>
              </a:spcBef>
              <a:spcAft>
                <a:spcPts val="0"/>
              </a:spcAft>
              <a:buClr>
                <a:schemeClr val="accent2"/>
              </a:buClr>
              <a:buSzPts val="1800"/>
              <a:buAutoNum type="arabicPeriod"/>
            </a:pPr>
            <a:r>
              <a:rPr b="0" i="0" lang="en-US" sz="2400" u="none">
                <a:solidFill>
                  <a:schemeClr val="dk1"/>
                </a:solidFill>
                <a:latin typeface="Times New Roman"/>
                <a:ea typeface="Times New Roman"/>
                <a:cs typeface="Times New Roman"/>
                <a:sym typeface="Times New Roman"/>
              </a:rPr>
              <a:t>if a pair is a repeated letter, insert a filler like 'X', 	eg. "balloon" encrypts as "ba lx lo on" </a:t>
            </a:r>
            <a:endParaRPr/>
          </a:p>
          <a:p>
            <a:pPr indent="-457200" lvl="1" marL="914400" rtl="0" algn="l">
              <a:lnSpc>
                <a:spcPct val="80000"/>
              </a:lnSpc>
              <a:spcBef>
                <a:spcPts val="480"/>
              </a:spcBef>
              <a:spcAft>
                <a:spcPts val="0"/>
              </a:spcAft>
              <a:buClr>
                <a:schemeClr val="accent2"/>
              </a:buClr>
              <a:buSzPts val="1800"/>
              <a:buAutoNum type="arabicPeriod"/>
            </a:pPr>
            <a:r>
              <a:rPr b="0" i="0" lang="en-US" sz="2400" u="none">
                <a:solidFill>
                  <a:schemeClr val="dk1"/>
                </a:solidFill>
                <a:latin typeface="Times New Roman"/>
                <a:ea typeface="Times New Roman"/>
                <a:cs typeface="Times New Roman"/>
                <a:sym typeface="Times New Roman"/>
              </a:rPr>
              <a:t>if both letters fall in the same row, replace each with letter to right (wrapping back to start from end), 	eg. “ar" encrypts as "RM" </a:t>
            </a:r>
            <a:endParaRPr/>
          </a:p>
          <a:p>
            <a:pPr indent="-457200" lvl="1" marL="914400" rtl="0" algn="l">
              <a:lnSpc>
                <a:spcPct val="80000"/>
              </a:lnSpc>
              <a:spcBef>
                <a:spcPts val="480"/>
              </a:spcBef>
              <a:spcAft>
                <a:spcPts val="0"/>
              </a:spcAft>
              <a:buClr>
                <a:schemeClr val="accent2"/>
              </a:buClr>
              <a:buSzPts val="1800"/>
              <a:buAutoNum type="arabicPeriod"/>
            </a:pPr>
            <a:r>
              <a:rPr b="0" i="0" lang="en-US" sz="2400" u="none">
                <a:solidFill>
                  <a:schemeClr val="dk1"/>
                </a:solidFill>
                <a:latin typeface="Times New Roman"/>
                <a:ea typeface="Times New Roman"/>
                <a:cs typeface="Times New Roman"/>
                <a:sym typeface="Times New Roman"/>
              </a:rPr>
              <a:t>if both letters fall in the same column, replace each with the letter below it (again wrapping to top from bottom), eg. “mu" encrypts to "CM" </a:t>
            </a:r>
            <a:endParaRPr/>
          </a:p>
          <a:p>
            <a:pPr indent="-457200" lvl="1" marL="914400" rtl="0" algn="l">
              <a:lnSpc>
                <a:spcPct val="80000"/>
              </a:lnSpc>
              <a:spcBef>
                <a:spcPts val="480"/>
              </a:spcBef>
              <a:spcAft>
                <a:spcPts val="0"/>
              </a:spcAft>
              <a:buClr>
                <a:schemeClr val="accent2"/>
              </a:buClr>
              <a:buSzPts val="1800"/>
              <a:buAutoNum type="arabicPeriod"/>
            </a:pPr>
            <a:r>
              <a:rPr b="0" i="0" lang="en-US" sz="2400" u="none">
                <a:solidFill>
                  <a:schemeClr val="dk1"/>
                </a:solidFill>
                <a:latin typeface="Times New Roman"/>
                <a:ea typeface="Times New Roman"/>
                <a:cs typeface="Times New Roman"/>
                <a:sym typeface="Times New Roman"/>
              </a:rPr>
              <a:t>otherwise each letter is replaced by the one in its row in the column of the other letter of the pair, eg. “hs" encrypts to "BP", and “ea" to "IM" or "JM" (as desired) </a:t>
            </a:r>
            <a:endParaRPr/>
          </a:p>
          <a:p>
            <a:pPr indent="-363220" lvl="0" marL="469900" rtl="0" algn="l">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2"/>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Security of the Playfair Cipher</a:t>
            </a:r>
            <a:endParaRPr/>
          </a:p>
        </p:txBody>
      </p:sp>
      <p:sp>
        <p:nvSpPr>
          <p:cNvPr id="388" name="Google Shape;388;p52"/>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security much improved over monoalphabetic</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since have 26 x 26 = 676 digrams </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was widely used for many years (eg. US &amp; British military in WW1) </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it </a:t>
            </a:r>
            <a:r>
              <a:rPr b="1" i="0" lang="en-US" sz="2800" u="none">
                <a:solidFill>
                  <a:schemeClr val="dk1"/>
                </a:solidFill>
                <a:latin typeface="Times New Roman"/>
                <a:ea typeface="Times New Roman"/>
                <a:cs typeface="Times New Roman"/>
                <a:sym typeface="Times New Roman"/>
              </a:rPr>
              <a:t>can</a:t>
            </a:r>
            <a:r>
              <a:rPr b="0" i="0" lang="en-US" sz="2800" u="none">
                <a:solidFill>
                  <a:schemeClr val="dk1"/>
                </a:solidFill>
                <a:latin typeface="Times New Roman"/>
                <a:ea typeface="Times New Roman"/>
                <a:cs typeface="Times New Roman"/>
                <a:sym typeface="Times New Roman"/>
              </a:rPr>
              <a:t> be broken, given a few hundred letters </a:t>
            </a:r>
            <a:endParaRPr/>
          </a:p>
          <a:p>
            <a:pPr indent="-469900" lvl="0" marL="469900" rtl="0" algn="l">
              <a:lnSpc>
                <a:spcPct val="100000"/>
              </a:lnSpc>
              <a:spcBef>
                <a:spcPts val="560"/>
              </a:spcBef>
              <a:spcAft>
                <a:spcPts val="0"/>
              </a:spcAft>
              <a:buClr>
                <a:schemeClr val="lt2"/>
              </a:buClr>
              <a:buSzPts val="1960"/>
              <a:buFont typeface="Noto Sans Symbols"/>
              <a:buChar char="□"/>
            </a:pPr>
            <a:r>
              <a:rPr b="0" i="0" lang="en-US" sz="2800" u="none">
                <a:solidFill>
                  <a:schemeClr val="dk1"/>
                </a:solidFill>
                <a:latin typeface="Times New Roman"/>
                <a:ea typeface="Times New Roman"/>
                <a:cs typeface="Times New Roman"/>
                <a:sym typeface="Times New Roman"/>
              </a:rPr>
              <a:t>since still has much of plaintext structure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Rail Fence cipher</a:t>
            </a:r>
            <a:endParaRPr/>
          </a:p>
        </p:txBody>
      </p:sp>
      <p:sp>
        <p:nvSpPr>
          <p:cNvPr id="395" name="Google Shape;395;p53"/>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10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write message letters out diagonally over a number of rows </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then read off cipher row by row</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eg. write message out as:</a:t>
            </a:r>
            <a:endParaRPr/>
          </a:p>
          <a:p>
            <a:pPr indent="-436562" lvl="1" marL="908050" rtl="0" algn="l">
              <a:lnSpc>
                <a:spcPct val="100000"/>
              </a:lnSpc>
              <a:spcBef>
                <a:spcPts val="480"/>
              </a:spcBef>
              <a:spcAft>
                <a:spcPts val="0"/>
              </a:spcAft>
              <a:buSzPts val="1800"/>
              <a:buNone/>
            </a:pPr>
            <a:r>
              <a:rPr b="0" i="0" lang="en-US" sz="2400" u="none">
                <a:solidFill>
                  <a:schemeClr val="dk1"/>
                </a:solidFill>
                <a:latin typeface="Courier New"/>
                <a:ea typeface="Courier New"/>
                <a:cs typeface="Courier New"/>
                <a:sym typeface="Courier New"/>
              </a:rPr>
              <a:t>m e m a t r h t g p r y</a:t>
            </a:r>
            <a:endParaRPr/>
          </a:p>
          <a:p>
            <a:pPr indent="-436562" lvl="1" marL="908050" rtl="0" algn="l">
              <a:lnSpc>
                <a:spcPct val="100000"/>
              </a:lnSpc>
              <a:spcBef>
                <a:spcPts val="480"/>
              </a:spcBef>
              <a:spcAft>
                <a:spcPts val="0"/>
              </a:spcAft>
              <a:buSzPts val="1800"/>
              <a:buNone/>
            </a:pPr>
            <a:r>
              <a:rPr b="0" i="0" lang="en-US" sz="2400" u="none">
                <a:solidFill>
                  <a:schemeClr val="dk1"/>
                </a:solidFill>
                <a:latin typeface="Courier New"/>
                <a:ea typeface="Courier New"/>
                <a:cs typeface="Courier New"/>
                <a:sym typeface="Courier New"/>
              </a:rPr>
              <a:t> e t e f e t e o a a t</a:t>
            </a:r>
            <a:endParaRPr/>
          </a:p>
          <a:p>
            <a:pPr indent="-469900" lvl="0" marL="469900" rtl="0" algn="l">
              <a:lnSpc>
                <a:spcPct val="10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giving ciphertext</a:t>
            </a:r>
            <a:endParaRPr/>
          </a:p>
          <a:p>
            <a:pPr indent="-436562" lvl="1" marL="908050" rtl="0" algn="l">
              <a:lnSpc>
                <a:spcPct val="100000"/>
              </a:lnSpc>
              <a:spcBef>
                <a:spcPts val="480"/>
              </a:spcBef>
              <a:spcAft>
                <a:spcPts val="0"/>
              </a:spcAft>
              <a:buSzPts val="1800"/>
              <a:buNone/>
            </a:pPr>
            <a:r>
              <a:rPr b="0" i="0" lang="en-US" sz="2400" u="none">
                <a:solidFill>
                  <a:srgbClr val="00B0F0"/>
                </a:solidFill>
                <a:latin typeface="Courier New"/>
                <a:ea typeface="Courier New"/>
                <a:cs typeface="Courier New"/>
                <a:sym typeface="Courier New"/>
              </a:rPr>
              <a:t>MEMATRHTGPRYETEFETEOAAT</a:t>
            </a:r>
            <a:endParaRPr/>
          </a:p>
          <a:p>
            <a:pPr indent="-436562" lvl="1" marL="908050" rtl="0" algn="l">
              <a:lnSpc>
                <a:spcPct val="100000"/>
              </a:lnSpc>
              <a:spcBef>
                <a:spcPts val="560"/>
              </a:spcBef>
              <a:spcAft>
                <a:spcPts val="0"/>
              </a:spcAft>
              <a:buSzPts val="2100"/>
              <a:buNone/>
            </a:pPr>
            <a:r>
              <a:t/>
            </a:r>
            <a:endParaRPr b="0" i="0" sz="2800" u="none">
              <a:solidFill>
                <a:schemeClr val="dk1"/>
              </a:solidFill>
              <a:latin typeface="Times New Roman"/>
              <a:ea typeface="Times New Roman"/>
              <a:cs typeface="Times New Roman"/>
              <a:sym typeface="Times New Roman"/>
            </a:endParaRPr>
          </a:p>
          <a:p>
            <a:pPr indent="-345440" lvl="0" marL="469900" rtl="0" algn="l">
              <a:spcBef>
                <a:spcPts val="560"/>
              </a:spcBef>
              <a:spcAft>
                <a:spcPts val="0"/>
              </a:spcAft>
              <a:buSzPts val="1960"/>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4"/>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Column Transposition Ciphers</a:t>
            </a:r>
            <a:endParaRPr/>
          </a:p>
        </p:txBody>
      </p:sp>
      <p:sp>
        <p:nvSpPr>
          <p:cNvPr id="402" name="Google Shape;402;p54"/>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469900" lvl="0" marL="469900" rtl="0" algn="l">
              <a:lnSpc>
                <a:spcPct val="80000"/>
              </a:lnSpc>
              <a:spcBef>
                <a:spcPts val="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In a columnar transposition, the message is written out in rows of a fixed length, and then read out again column by column</a:t>
            </a:r>
            <a:endParaRPr/>
          </a:p>
          <a:p>
            <a:pPr indent="-469900" lvl="0" marL="469900" rtl="0" algn="l">
              <a:lnSpc>
                <a:spcPct val="80000"/>
              </a:lnSpc>
              <a:spcBef>
                <a:spcPts val="640"/>
              </a:spcBef>
              <a:spcAft>
                <a:spcPts val="0"/>
              </a:spcAft>
              <a:buClr>
                <a:schemeClr val="lt2"/>
              </a:buClr>
              <a:buSzPts val="2240"/>
              <a:buFont typeface="Noto Sans Symbols"/>
              <a:buChar char="□"/>
            </a:pPr>
            <a:r>
              <a:rPr b="0" i="0" lang="en-US" sz="3200" u="none">
                <a:solidFill>
                  <a:schemeClr val="dk1"/>
                </a:solidFill>
                <a:latin typeface="Times New Roman"/>
                <a:ea typeface="Times New Roman"/>
                <a:cs typeface="Times New Roman"/>
                <a:sym typeface="Times New Roman"/>
              </a:rPr>
              <a:t>and the columns are chosen in some scrambled order. </a:t>
            </a:r>
            <a:endParaRPr/>
          </a:p>
          <a:p>
            <a:pPr indent="-469900" lvl="0" marL="469900" rtl="0" algn="l">
              <a:lnSpc>
                <a:spcPct val="80000"/>
              </a:lnSpc>
              <a:spcBef>
                <a:spcPts val="400"/>
              </a:spcBef>
              <a:spcAft>
                <a:spcPts val="0"/>
              </a:spcAft>
              <a:buClr>
                <a:schemeClr val="lt2"/>
              </a:buClr>
              <a:buSzPts val="1400"/>
              <a:buFont typeface="Noto Sans Symbols"/>
              <a:buChar char="□"/>
            </a:pPr>
            <a:r>
              <a:rPr b="0" i="0" lang="en-US" sz="2000" u="none">
                <a:solidFill>
                  <a:schemeClr val="dk1"/>
                </a:solidFill>
                <a:latin typeface="Courier New"/>
                <a:ea typeface="Courier New"/>
                <a:cs typeface="Courier New"/>
                <a:sym typeface="Courier New"/>
              </a:rPr>
              <a:t>Key: G E R M A N		</a:t>
            </a:r>
            <a:endParaRPr/>
          </a:p>
          <a:p>
            <a:pPr indent="-469900" lvl="0" marL="469900" rtl="0" algn="l">
              <a:lnSpc>
                <a:spcPct val="80000"/>
              </a:lnSpc>
              <a:spcBef>
                <a:spcPts val="400"/>
              </a:spcBef>
              <a:spcAft>
                <a:spcPts val="0"/>
              </a:spcAft>
              <a:buClr>
                <a:schemeClr val="lt2"/>
              </a:buClr>
              <a:buSzPts val="1400"/>
              <a:buFont typeface="Noto Sans Symbols"/>
              <a:buChar char="□"/>
            </a:pPr>
            <a:r>
              <a:rPr b="1" i="0" lang="en-US" sz="2000" u="sng">
                <a:solidFill>
                  <a:schemeClr val="dk1"/>
                </a:solidFill>
                <a:latin typeface="Courier New"/>
                <a:ea typeface="Courier New"/>
                <a:cs typeface="Courier New"/>
                <a:sym typeface="Courier New"/>
              </a:rPr>
              <a:t>G E R M A N</a:t>
            </a:r>
            <a:r>
              <a:rPr b="1" i="0" lang="en-US" sz="2000" u="none">
                <a:solidFill>
                  <a:schemeClr val="dk1"/>
                </a:solidFill>
                <a:latin typeface="Courier New"/>
                <a:ea typeface="Courier New"/>
                <a:cs typeface="Courier New"/>
                <a:sym typeface="Courier New"/>
              </a:rPr>
              <a:t>   (326415)</a:t>
            </a:r>
            <a:endParaRPr b="1" i="0" sz="2000" u="sng">
              <a:solidFill>
                <a:schemeClr val="dk1"/>
              </a:solidFill>
              <a:latin typeface="Courier New"/>
              <a:ea typeface="Courier New"/>
              <a:cs typeface="Courier New"/>
              <a:sym typeface="Courier New"/>
            </a:endParaRPr>
          </a:p>
          <a:p>
            <a:pPr indent="-436562" lvl="1" marL="908050" rtl="0" algn="l">
              <a:lnSpc>
                <a:spcPct val="80000"/>
              </a:lnSpc>
              <a:spcBef>
                <a:spcPts val="400"/>
              </a:spcBef>
              <a:spcAft>
                <a:spcPts val="0"/>
              </a:spcAft>
              <a:buSzPts val="1500"/>
              <a:buNone/>
            </a:pPr>
            <a:r>
              <a:rPr b="0" i="0" lang="en-US" sz="2000" u="none">
                <a:solidFill>
                  <a:schemeClr val="dk1"/>
                </a:solidFill>
                <a:latin typeface="Courier New"/>
                <a:ea typeface="Courier New"/>
                <a:cs typeface="Courier New"/>
                <a:sym typeface="Courier New"/>
              </a:rPr>
              <a:t>d e f e n d</a:t>
            </a:r>
            <a:endParaRPr/>
          </a:p>
          <a:p>
            <a:pPr indent="-436562" lvl="1" marL="908050" rtl="0" algn="l">
              <a:lnSpc>
                <a:spcPct val="80000"/>
              </a:lnSpc>
              <a:spcBef>
                <a:spcPts val="400"/>
              </a:spcBef>
              <a:spcAft>
                <a:spcPts val="0"/>
              </a:spcAft>
              <a:buSzPts val="1500"/>
              <a:buNone/>
            </a:pPr>
            <a:r>
              <a:rPr b="0" i="0" lang="en-US" sz="2000" u="none">
                <a:solidFill>
                  <a:schemeClr val="dk1"/>
                </a:solidFill>
                <a:latin typeface="Courier New"/>
                <a:ea typeface="Courier New"/>
                <a:cs typeface="Courier New"/>
                <a:sym typeface="Courier New"/>
              </a:rPr>
              <a:t>t h e e a s</a:t>
            </a:r>
            <a:endParaRPr/>
          </a:p>
          <a:p>
            <a:pPr indent="-436562" lvl="1" marL="908050" rtl="0" algn="l">
              <a:lnSpc>
                <a:spcPct val="80000"/>
              </a:lnSpc>
              <a:spcBef>
                <a:spcPts val="400"/>
              </a:spcBef>
              <a:spcAft>
                <a:spcPts val="0"/>
              </a:spcAft>
              <a:buSzPts val="1500"/>
              <a:buNone/>
            </a:pPr>
            <a:r>
              <a:rPr b="0" i="0" lang="en-US" sz="2000" u="none">
                <a:solidFill>
                  <a:schemeClr val="dk1"/>
                </a:solidFill>
                <a:latin typeface="Courier New"/>
                <a:ea typeface="Courier New"/>
                <a:cs typeface="Courier New"/>
                <a:sym typeface="Courier New"/>
              </a:rPr>
              <a:t>t w a l l o</a:t>
            </a:r>
            <a:endParaRPr/>
          </a:p>
          <a:p>
            <a:pPr indent="-436562" lvl="1" marL="908050" rtl="0" algn="l">
              <a:lnSpc>
                <a:spcPct val="80000"/>
              </a:lnSpc>
              <a:spcBef>
                <a:spcPts val="400"/>
              </a:spcBef>
              <a:spcAft>
                <a:spcPts val="0"/>
              </a:spcAft>
              <a:buSzPts val="1500"/>
              <a:buNone/>
            </a:pPr>
            <a:r>
              <a:rPr b="0" i="0" lang="en-US" sz="2000" u="none">
                <a:solidFill>
                  <a:schemeClr val="dk1"/>
                </a:solidFill>
                <a:latin typeface="Courier New"/>
                <a:ea typeface="Courier New"/>
                <a:cs typeface="Courier New"/>
                <a:sym typeface="Courier New"/>
              </a:rPr>
              <a:t>f t h e c a</a:t>
            </a:r>
            <a:endParaRPr/>
          </a:p>
          <a:p>
            <a:pPr indent="-436562" lvl="1" marL="908050" rtl="0" algn="l">
              <a:lnSpc>
                <a:spcPct val="80000"/>
              </a:lnSpc>
              <a:spcBef>
                <a:spcPts val="400"/>
              </a:spcBef>
              <a:spcAft>
                <a:spcPts val="0"/>
              </a:spcAft>
              <a:buSzPts val="1500"/>
              <a:buNone/>
            </a:pPr>
            <a:r>
              <a:rPr b="0" i="0" lang="en-US" sz="2000" u="none">
                <a:solidFill>
                  <a:schemeClr val="dk1"/>
                </a:solidFill>
                <a:latin typeface="Courier New"/>
                <a:ea typeface="Courier New"/>
                <a:cs typeface="Courier New"/>
                <a:sym typeface="Courier New"/>
              </a:rPr>
              <a:t>s t l e x x</a:t>
            </a:r>
            <a:endParaRPr/>
          </a:p>
          <a:p>
            <a:pPr indent="-436562" lvl="1" marL="908050" rtl="0" algn="l">
              <a:lnSpc>
                <a:spcPct val="80000"/>
              </a:lnSpc>
              <a:spcBef>
                <a:spcPts val="480"/>
              </a:spcBef>
              <a:spcAft>
                <a:spcPts val="0"/>
              </a:spcAft>
              <a:buSzPts val="1800"/>
              <a:buNone/>
            </a:pPr>
            <a:r>
              <a:rPr b="0" i="0" lang="en-US" sz="2400" u="none">
                <a:solidFill>
                  <a:schemeClr val="dk1"/>
                </a:solidFill>
                <a:latin typeface="Times New Roman"/>
                <a:ea typeface="Times New Roman"/>
                <a:cs typeface="Times New Roman"/>
                <a:sym typeface="Times New Roman"/>
              </a:rPr>
              <a:t> </a:t>
            </a:r>
            <a:endParaRPr/>
          </a:p>
        </p:txBody>
      </p:sp>
      <p:sp>
        <p:nvSpPr>
          <p:cNvPr id="403" name="Google Shape;403;p54"/>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mo"/>
              <a:buNone/>
            </a:pPr>
            <a:r>
              <a:rPr b="0" i="0" lang="en-US" sz="1000" u="sng">
                <a:solidFill>
                  <a:schemeClr val="dk1"/>
                </a:solidFill>
                <a:latin typeface="Arimo"/>
                <a:ea typeface="Arimo"/>
                <a:cs typeface="Arimo"/>
                <a:sym typeface="Arimo"/>
              </a:rPr>
              <a:t>G E R M A N</a:t>
            </a:r>
            <a:r>
              <a:rPr b="0" i="0" lang="en-US" sz="1000" u="none">
                <a:solidFill>
                  <a:schemeClr val="dk1"/>
                </a:solidFill>
                <a:latin typeface="Arimo"/>
                <a:ea typeface="Arimo"/>
                <a:cs typeface="Arimo"/>
                <a:sym typeface="Arimo"/>
              </a:rPr>
              <a:t> d e f e n d t h e e a s t w a l l o f t h e c a s t l e x x</a:t>
            </a:r>
            <a:r>
              <a:rPr b="0" i="0" lang="en-US" sz="900" u="none">
                <a:solidFill>
                  <a:schemeClr val="dk1"/>
                </a:solidFill>
                <a:latin typeface="Times New Roman"/>
                <a:ea typeface="Times New Roman"/>
                <a:cs typeface="Times New Roman"/>
                <a:sym typeface="Times New Roman"/>
              </a:rPr>
              <a:t> </a:t>
            </a:r>
            <a:endParaRPr/>
          </a:p>
        </p:txBody>
      </p:sp>
      <p:sp>
        <p:nvSpPr>
          <p:cNvPr id="404" name="Google Shape;404;p54"/>
          <p:cNvSpPr txBox="1"/>
          <p:nvPr/>
        </p:nvSpPr>
        <p:spPr>
          <a:xfrm>
            <a:off x="152400" y="15240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mo"/>
              <a:buNone/>
            </a:pPr>
            <a:r>
              <a:rPr b="0" i="0" lang="en-US" sz="1000" u="none">
                <a:solidFill>
                  <a:schemeClr val="dk1"/>
                </a:solidFill>
                <a:latin typeface="Arimo"/>
                <a:ea typeface="Arimo"/>
                <a:cs typeface="Arimo"/>
                <a:sym typeface="Arimo"/>
              </a:rPr>
              <a:t>n e d e d f a h t e s e l w t l o a c t f e a h x t s e x l</a:t>
            </a:r>
            <a:r>
              <a:rPr b="0" i="0" lang="en-US" sz="9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5"/>
          <p:cNvSpPr txBox="1"/>
          <p:nvPr>
            <p:ph type="title"/>
          </p:nvPr>
        </p:nvSpPr>
        <p:spPr>
          <a:xfrm>
            <a:off x="4572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Column Transposition Ciphers</a:t>
            </a:r>
            <a:endParaRPr/>
          </a:p>
        </p:txBody>
      </p:sp>
      <p:sp>
        <p:nvSpPr>
          <p:cNvPr id="411" name="Google Shape;411;p55"/>
          <p:cNvSpPr txBox="1"/>
          <p:nvPr>
            <p:ph idx="1" type="body"/>
          </p:nvPr>
        </p:nvSpPr>
        <p:spPr>
          <a:xfrm>
            <a:off x="457200" y="1828800"/>
            <a:ext cx="8229600" cy="4302125"/>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680"/>
              <a:buNone/>
            </a:pPr>
            <a:r>
              <a:rPr b="0" i="0" lang="en-US" sz="2400" u="none">
                <a:solidFill>
                  <a:schemeClr val="dk1"/>
                </a:solidFill>
                <a:latin typeface="Times New Roman"/>
                <a:ea typeface="Times New Roman"/>
                <a:cs typeface="Times New Roman"/>
                <a:sym typeface="Times New Roman"/>
              </a:rPr>
              <a:t>A E G M N R     (123456)</a:t>
            </a:r>
            <a:endParaRPr/>
          </a:p>
          <a:p>
            <a:pPr indent="0" lvl="0" marL="0" rtl="0" algn="l">
              <a:lnSpc>
                <a:spcPct val="80000"/>
              </a:lnSpc>
              <a:spcBef>
                <a:spcPts val="640"/>
              </a:spcBef>
              <a:spcAft>
                <a:spcPts val="0"/>
              </a:spcAft>
              <a:buSzPts val="2240"/>
              <a:buNone/>
            </a:pPr>
            <a:r>
              <a:rPr b="0" i="0" lang="en-US" sz="3200" u="none">
                <a:solidFill>
                  <a:schemeClr val="dk1"/>
                </a:solidFill>
                <a:latin typeface="Times New Roman"/>
                <a:ea typeface="Times New Roman"/>
                <a:cs typeface="Times New Roman"/>
                <a:sym typeface="Times New Roman"/>
              </a:rPr>
              <a:t>n e d e d f</a:t>
            </a:r>
            <a:endParaRPr/>
          </a:p>
          <a:p>
            <a:pPr indent="0" lvl="0" marL="0" rtl="0" algn="l">
              <a:lnSpc>
                <a:spcPct val="80000"/>
              </a:lnSpc>
              <a:spcBef>
                <a:spcPts val="640"/>
              </a:spcBef>
              <a:spcAft>
                <a:spcPts val="0"/>
              </a:spcAft>
              <a:buSzPts val="2240"/>
              <a:buNone/>
            </a:pPr>
            <a:r>
              <a:rPr b="0" i="0" lang="en-US" sz="3200" u="none">
                <a:solidFill>
                  <a:schemeClr val="dk1"/>
                </a:solidFill>
                <a:latin typeface="Times New Roman"/>
                <a:ea typeface="Times New Roman"/>
                <a:cs typeface="Times New Roman"/>
                <a:sym typeface="Times New Roman"/>
              </a:rPr>
              <a:t>a h t e s e</a:t>
            </a:r>
            <a:endParaRPr/>
          </a:p>
          <a:p>
            <a:pPr indent="0" lvl="0" marL="0" rtl="0" algn="l">
              <a:lnSpc>
                <a:spcPct val="80000"/>
              </a:lnSpc>
              <a:spcBef>
                <a:spcPts val="640"/>
              </a:spcBef>
              <a:spcAft>
                <a:spcPts val="0"/>
              </a:spcAft>
              <a:buSzPts val="2240"/>
              <a:buNone/>
            </a:pPr>
            <a:r>
              <a:rPr b="0" i="0" lang="en-US" sz="3200" u="none">
                <a:solidFill>
                  <a:schemeClr val="dk1"/>
                </a:solidFill>
                <a:latin typeface="Times New Roman"/>
                <a:ea typeface="Times New Roman"/>
                <a:cs typeface="Times New Roman"/>
                <a:sym typeface="Times New Roman"/>
              </a:rPr>
              <a:t>l w t l o a</a:t>
            </a:r>
            <a:endParaRPr/>
          </a:p>
          <a:p>
            <a:pPr indent="0" lvl="0" marL="0" rtl="0" algn="l">
              <a:lnSpc>
                <a:spcPct val="80000"/>
              </a:lnSpc>
              <a:spcBef>
                <a:spcPts val="640"/>
              </a:spcBef>
              <a:spcAft>
                <a:spcPts val="0"/>
              </a:spcAft>
              <a:buSzPts val="2240"/>
              <a:buNone/>
            </a:pPr>
            <a:r>
              <a:rPr b="0" i="0" lang="en-US" sz="3200" u="none">
                <a:solidFill>
                  <a:schemeClr val="dk1"/>
                </a:solidFill>
                <a:latin typeface="Times New Roman"/>
                <a:ea typeface="Times New Roman"/>
                <a:cs typeface="Times New Roman"/>
                <a:sym typeface="Times New Roman"/>
              </a:rPr>
              <a:t>c t f e a h</a:t>
            </a:r>
            <a:endParaRPr/>
          </a:p>
          <a:p>
            <a:pPr indent="0" lvl="0" marL="0" rtl="0" algn="l">
              <a:lnSpc>
                <a:spcPct val="80000"/>
              </a:lnSpc>
              <a:spcBef>
                <a:spcPts val="640"/>
              </a:spcBef>
              <a:spcAft>
                <a:spcPts val="0"/>
              </a:spcAft>
              <a:buSzPts val="2240"/>
              <a:buNone/>
            </a:pPr>
            <a:r>
              <a:rPr b="0" i="0" lang="en-US" sz="3200" u="none">
                <a:solidFill>
                  <a:schemeClr val="dk1"/>
                </a:solidFill>
                <a:latin typeface="Times New Roman"/>
                <a:ea typeface="Times New Roman"/>
                <a:cs typeface="Times New Roman"/>
                <a:sym typeface="Times New Roman"/>
              </a:rPr>
              <a:t>x t s e x l</a:t>
            </a:r>
            <a:endParaRPr/>
          </a:p>
          <a:p>
            <a:pPr indent="0" lvl="0" marL="0" rtl="0" algn="l">
              <a:lnSpc>
                <a:spcPct val="80000"/>
              </a:lnSpc>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a:p>
            <a:pPr indent="0" lvl="0" marL="0" rtl="0" algn="l">
              <a:lnSpc>
                <a:spcPct val="80000"/>
              </a:lnSpc>
              <a:spcBef>
                <a:spcPts val="480"/>
              </a:spcBef>
              <a:spcAft>
                <a:spcPts val="0"/>
              </a:spcAft>
              <a:buSzPts val="1680"/>
              <a:buNone/>
            </a:pPr>
            <a:r>
              <a:rPr b="0" i="0" lang="en-US" sz="2400" u="none">
                <a:solidFill>
                  <a:schemeClr val="dk1"/>
                </a:solidFill>
                <a:latin typeface="Times New Roman"/>
                <a:ea typeface="Times New Roman"/>
                <a:cs typeface="Times New Roman"/>
                <a:sym typeface="Times New Roman"/>
              </a:rPr>
              <a:t>The ciphertext is read off along the columns:</a:t>
            </a:r>
            <a:endParaRPr/>
          </a:p>
          <a:p>
            <a:pPr indent="0" lvl="0" marL="0" rtl="0" algn="l">
              <a:lnSpc>
                <a:spcPct val="80000"/>
              </a:lnSpc>
              <a:spcBef>
                <a:spcPts val="480"/>
              </a:spcBef>
              <a:spcAft>
                <a:spcPts val="0"/>
              </a:spcAft>
              <a:buSzPts val="1680"/>
              <a:buNone/>
            </a:pPr>
            <a:r>
              <a:t/>
            </a:r>
            <a:endParaRPr b="0" i="0" sz="2400" u="none">
              <a:solidFill>
                <a:schemeClr val="dk1"/>
              </a:solidFill>
              <a:latin typeface="Times New Roman"/>
              <a:ea typeface="Times New Roman"/>
              <a:cs typeface="Times New Roman"/>
              <a:sym typeface="Times New Roman"/>
            </a:endParaRPr>
          </a:p>
          <a:p>
            <a:pPr indent="0" lvl="0" marL="0" rtl="0" algn="l">
              <a:lnSpc>
                <a:spcPct val="80000"/>
              </a:lnSpc>
              <a:spcBef>
                <a:spcPts val="480"/>
              </a:spcBef>
              <a:spcAft>
                <a:spcPts val="0"/>
              </a:spcAft>
              <a:buSzPts val="1680"/>
              <a:buNone/>
            </a:pPr>
            <a:r>
              <a:rPr b="0" i="0" lang="en-US" sz="2400" u="none">
                <a:solidFill>
                  <a:schemeClr val="dk1"/>
                </a:solidFill>
                <a:latin typeface="Times New Roman"/>
                <a:ea typeface="Times New Roman"/>
                <a:cs typeface="Times New Roman"/>
                <a:sym typeface="Times New Roman"/>
              </a:rPr>
              <a:t>nalcxehwttdttfseeleedsoaxfeahl</a:t>
            </a:r>
            <a:endParaRPr/>
          </a:p>
        </p:txBody>
      </p:sp>
      <p:sp>
        <p:nvSpPr>
          <p:cNvPr id="412" name="Google Shape;412;p55"/>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mo"/>
              <a:buNone/>
            </a:pPr>
            <a:r>
              <a:rPr b="0" i="0" lang="en-US" sz="1000" u="sng">
                <a:solidFill>
                  <a:schemeClr val="dk1"/>
                </a:solidFill>
                <a:latin typeface="Arimo"/>
                <a:ea typeface="Arimo"/>
                <a:cs typeface="Arimo"/>
                <a:sym typeface="Arimo"/>
              </a:rPr>
              <a:t>G E R M A N</a:t>
            </a:r>
            <a:r>
              <a:rPr b="0" i="0" lang="en-US" sz="1000" u="none">
                <a:solidFill>
                  <a:schemeClr val="dk1"/>
                </a:solidFill>
                <a:latin typeface="Arimo"/>
                <a:ea typeface="Arimo"/>
                <a:cs typeface="Arimo"/>
                <a:sym typeface="Arimo"/>
              </a:rPr>
              <a:t> d e f e n d t h e e a s t w a l l o f t h e c a s t l e x x</a:t>
            </a:r>
            <a:r>
              <a:rPr b="0" i="0" lang="en-US" sz="900" u="none">
                <a:solidFill>
                  <a:schemeClr val="dk1"/>
                </a:solidFill>
                <a:latin typeface="Times New Roman"/>
                <a:ea typeface="Times New Roman"/>
                <a:cs typeface="Times New Roman"/>
                <a:sym typeface="Times New Roman"/>
              </a:rPr>
              <a:t> </a:t>
            </a:r>
            <a:endParaRPr/>
          </a:p>
        </p:txBody>
      </p:sp>
      <p:sp>
        <p:nvSpPr>
          <p:cNvPr id="413" name="Google Shape;413;p55"/>
          <p:cNvSpPr txBox="1"/>
          <p:nvPr/>
        </p:nvSpPr>
        <p:spPr>
          <a:xfrm>
            <a:off x="152400" y="15240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mo"/>
              <a:buNone/>
            </a:pPr>
            <a:r>
              <a:rPr b="0" i="0" lang="en-US" sz="1000" u="none">
                <a:solidFill>
                  <a:schemeClr val="dk1"/>
                </a:solidFill>
                <a:latin typeface="Arimo"/>
                <a:ea typeface="Arimo"/>
                <a:cs typeface="Arimo"/>
                <a:sym typeface="Arimo"/>
              </a:rPr>
              <a:t>n e d e d f a h t e s e l w t l o a c t f e a h x t s e x l</a:t>
            </a:r>
            <a:r>
              <a:rPr b="0" i="0" lang="en-US" sz="900" u="none">
                <a:solidFill>
                  <a:schemeClr val="dk1"/>
                </a:solidFill>
                <a:latin typeface="Times New Roman"/>
                <a:ea typeface="Times New Roman"/>
                <a:cs typeface="Times New Roman"/>
                <a:sym typeface="Times New Roman"/>
              </a:rPr>
              <a:t> </a:t>
            </a:r>
            <a:endParaRPr/>
          </a:p>
        </p:txBody>
      </p:sp>
      <p:sp>
        <p:nvSpPr>
          <p:cNvPr id="414" name="Google Shape;414;p55"/>
          <p:cNvSpPr txBox="1"/>
          <p:nvPr/>
        </p:nvSpPr>
        <p:spPr>
          <a:xfrm>
            <a:off x="304800" y="30480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The ciphertext is read off along the columns:</a:t>
            </a:r>
            <a:endParaRPr/>
          </a:p>
          <a:p>
            <a:pPr indent="0" lvl="0" marL="0" marR="0" rtl="0" algn="l">
              <a:lnSpc>
                <a:spcPct val="100000"/>
              </a:lnSpc>
              <a:spcBef>
                <a:spcPts val="0"/>
              </a:spcBef>
              <a:spcAft>
                <a:spcPts val="0"/>
              </a:spcAft>
              <a:buClr>
                <a:schemeClr val="dk1"/>
              </a:buClr>
              <a:buSzPts val="1000"/>
              <a:buFont typeface="Arimo"/>
              <a:buNone/>
            </a:pPr>
            <a:r>
              <a:rPr b="0" i="0" lang="en-US" sz="1000" u="none">
                <a:solidFill>
                  <a:schemeClr val="dk1"/>
                </a:solidFill>
                <a:latin typeface="Arimo"/>
                <a:ea typeface="Arimo"/>
                <a:cs typeface="Arimo"/>
                <a:sym typeface="Arimo"/>
              </a:rPr>
              <a:t>nalcxehwttdttfseeleedsoaxfeahl</a:t>
            </a:r>
            <a:r>
              <a:rPr b="0" i="0" lang="en-US" sz="9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Quadrant">
  <a:themeElements>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adrant">
  <a:themeElements>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
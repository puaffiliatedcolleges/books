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2"/>
  </p:notesMasterIdLst>
  <p:sldIdLst>
    <p:sldId id="256" r:id="rId2"/>
    <p:sldId id="257" r:id="rId3"/>
    <p:sldId id="262" r:id="rId4"/>
    <p:sldId id="258" r:id="rId5"/>
    <p:sldId id="259" r:id="rId6"/>
    <p:sldId id="260" r:id="rId7"/>
    <p:sldId id="261"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1" d="100"/>
          <a:sy n="61" d="100"/>
        </p:scale>
        <p:origin x="-672"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9142CE-7EC6-45B6-B970-D7384A854D8E}" type="datetimeFigureOut">
              <a:rPr lang="en-US" smtClean="0"/>
              <a:pPr/>
              <a:t>21-May-07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F8BFD1-AB4D-451F-BBB7-17793F03DD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EF8BFD1-AB4D-451F-BBB7-17793F03DD3A}"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86C22FBC-1A0A-4479-8789-A48C587497FB}" type="datetimeFigureOut">
              <a:rPr lang="en-US" smtClean="0"/>
              <a:pPr/>
              <a:t>21-May-07</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12E17943-DDCA-4F30-9AC3-7FBCEA648906}"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6C22FBC-1A0A-4479-8789-A48C587497FB}" type="datetimeFigureOut">
              <a:rPr lang="en-US" smtClean="0"/>
              <a:pPr/>
              <a:t>21-May-07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E17943-DDCA-4F30-9AC3-7FBCEA648906}"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86C22FBC-1A0A-4479-8789-A48C587497FB}" type="datetimeFigureOut">
              <a:rPr lang="en-US" smtClean="0"/>
              <a:pPr/>
              <a:t>21-May-07</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12E17943-DDCA-4F30-9AC3-7FBCEA648906}"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86C22FBC-1A0A-4479-8789-A48C587497FB}" type="datetimeFigureOut">
              <a:rPr lang="en-US" smtClean="0"/>
              <a:pPr/>
              <a:t>21-May-07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E17943-DDCA-4F30-9AC3-7FBCEA648906}"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86C22FBC-1A0A-4479-8789-A48C587497FB}" type="datetimeFigureOut">
              <a:rPr lang="en-US" smtClean="0"/>
              <a:pPr/>
              <a:t>21-May-07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E17943-DDCA-4F30-9AC3-7FBCEA648906}"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6C22FBC-1A0A-4479-8789-A48C587497FB}" type="datetimeFigureOut">
              <a:rPr lang="en-US" smtClean="0"/>
              <a:pPr/>
              <a:t>21-May-07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E17943-DDCA-4F30-9AC3-7FBCEA64890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C22FBC-1A0A-4479-8789-A48C587497FB}" type="datetimeFigureOut">
              <a:rPr lang="en-US" smtClean="0"/>
              <a:pPr/>
              <a:t>21-May-07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E17943-DDCA-4F30-9AC3-7FBCEA64890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6C22FBC-1A0A-4479-8789-A48C587497FB}" type="datetimeFigureOut">
              <a:rPr lang="en-US" smtClean="0"/>
              <a:pPr/>
              <a:t>21-May-07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E17943-DDCA-4F30-9AC3-7FBCEA648906}"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6C22FBC-1A0A-4479-8789-A48C587497FB}" type="datetimeFigureOut">
              <a:rPr lang="en-US" smtClean="0"/>
              <a:pPr/>
              <a:t>21-May-07</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12E17943-DDCA-4F30-9AC3-7FBCEA648906}"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6C22FBC-1A0A-4479-8789-A48C587497FB}" type="datetimeFigureOut">
              <a:rPr lang="en-US" smtClean="0"/>
              <a:pPr/>
              <a:t>21-May-07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E17943-DDCA-4F30-9AC3-7FBCEA64890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6C22FBC-1A0A-4479-8789-A48C587497FB}" type="datetimeFigureOut">
              <a:rPr lang="en-US" smtClean="0"/>
              <a:pPr/>
              <a:t>21-May-07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E17943-DDCA-4F30-9AC3-7FBCEA64890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86C22FBC-1A0A-4479-8789-A48C587497FB}" type="datetimeFigureOut">
              <a:rPr lang="en-US" smtClean="0"/>
              <a:pPr/>
              <a:t>21-May-07</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2E17943-DDCA-4F30-9AC3-7FBCEA64890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3200399"/>
            <a:ext cx="6400800" cy="3138407"/>
          </a:xfrm>
        </p:spPr>
        <p:txBody>
          <a:bodyPr>
            <a:normAutofit fontScale="92500" lnSpcReduction="10000"/>
          </a:bodyPr>
          <a:lstStyle/>
          <a:p>
            <a:r>
              <a:rPr lang="en-US" sz="3600" b="1" dirty="0" smtClean="0"/>
              <a:t>Definition</a:t>
            </a:r>
          </a:p>
          <a:p>
            <a:r>
              <a:rPr lang="en-US" sz="3600" b="1" dirty="0" smtClean="0"/>
              <a:t>Characteristics</a:t>
            </a:r>
          </a:p>
          <a:p>
            <a:r>
              <a:rPr lang="en-US" sz="3600" b="1" dirty="0" smtClean="0"/>
              <a:t>Guidelines</a:t>
            </a:r>
          </a:p>
          <a:p>
            <a:r>
              <a:rPr lang="en-US" sz="3600" b="1" dirty="0" smtClean="0"/>
              <a:t>Design Phase</a:t>
            </a:r>
          </a:p>
          <a:p>
            <a:r>
              <a:rPr lang="en-US" sz="3600" b="1" dirty="0" smtClean="0"/>
              <a:t>Development Phase</a:t>
            </a:r>
          </a:p>
          <a:p>
            <a:r>
              <a:rPr lang="en-US" dirty="0" smtClean="0"/>
              <a:t> </a:t>
            </a:r>
            <a:endParaRPr lang="en-US" dirty="0"/>
          </a:p>
        </p:txBody>
      </p:sp>
      <p:sp>
        <p:nvSpPr>
          <p:cNvPr id="2" name="Title 1"/>
          <p:cNvSpPr>
            <a:spLocks noGrp="1"/>
          </p:cNvSpPr>
          <p:nvPr>
            <p:ph type="ctrTitle"/>
          </p:nvPr>
        </p:nvSpPr>
        <p:spPr/>
        <p:txBody>
          <a:bodyPr/>
          <a:lstStyle/>
          <a:p>
            <a:r>
              <a:rPr smtClean="0"/>
              <a:t>WEBSITE DESIGN &amp; DEVELPMENT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7772400" cy="944562"/>
          </a:xfrm>
        </p:spPr>
        <p:txBody>
          <a:bodyPr/>
          <a:lstStyle/>
          <a:p>
            <a:r>
              <a:rPr lang="en-US" dirty="0" smtClean="0"/>
              <a:t>WEBSITE:</a:t>
            </a:r>
            <a:endParaRPr lang="en-US" dirty="0"/>
          </a:p>
        </p:txBody>
      </p:sp>
      <p:sp>
        <p:nvSpPr>
          <p:cNvPr id="3" name="Content Placeholder 2"/>
          <p:cNvSpPr>
            <a:spLocks noGrp="1"/>
          </p:cNvSpPr>
          <p:nvPr>
            <p:ph sz="quarter" idx="1"/>
          </p:nvPr>
        </p:nvSpPr>
        <p:spPr>
          <a:xfrm>
            <a:off x="76200" y="914400"/>
            <a:ext cx="9067800" cy="5638800"/>
          </a:xfrm>
        </p:spPr>
        <p:txBody>
          <a:bodyPr>
            <a:normAutofit lnSpcReduction="10000"/>
          </a:bodyPr>
          <a:lstStyle/>
          <a:p>
            <a:pPr algn="just"/>
            <a:r>
              <a:rPr lang="en-US" dirty="0" smtClean="0"/>
              <a:t>A website is a collection of related WebPages and associated items ( documents and pictures) stored on a web server. </a:t>
            </a:r>
          </a:p>
          <a:p>
            <a:pPr algn="just"/>
            <a:r>
              <a:rPr lang="en-US" dirty="0" smtClean="0"/>
              <a:t>The same web server can store multiple websites.</a:t>
            </a:r>
          </a:p>
          <a:p>
            <a:pPr algn="just"/>
            <a:r>
              <a:rPr lang="en-US" dirty="0" smtClean="0"/>
              <a:t>Website provides a mean for users to share personal information (such as social networking websites)</a:t>
            </a:r>
          </a:p>
          <a:p>
            <a:pPr algn="just"/>
            <a:r>
              <a:rPr lang="en-US" dirty="0" smtClean="0"/>
              <a:t>Website allows user to modify website contents (such as wikis)</a:t>
            </a:r>
          </a:p>
          <a:p>
            <a:pPr algn="just"/>
            <a:r>
              <a:rPr lang="en-US" dirty="0" smtClean="0"/>
              <a:t>Websites have application software built into the site for visitor to use (such as e-mail and word processing programs).</a:t>
            </a:r>
          </a:p>
          <a:p>
            <a:pPr algn="just"/>
            <a:r>
              <a:rPr lang="en-US" dirty="0" smtClean="0"/>
              <a:t>A </a:t>
            </a:r>
            <a:r>
              <a:rPr lang="en-US" b="1" dirty="0" smtClean="0"/>
              <a:t>Web Browser </a:t>
            </a:r>
            <a:r>
              <a:rPr lang="en-US" dirty="0" smtClean="0"/>
              <a:t>is application software that allows users to access and view WebPages from the website.</a:t>
            </a:r>
          </a:p>
          <a:p>
            <a:pPr algn="just"/>
            <a:r>
              <a:rPr lang="en-US" dirty="0" smtClean="0"/>
              <a:t>A web browser retrieves a webpage  using its unique web address, URL (Uniform Resource Locator). E.g. http://www.uos.edu.pk/result  </a:t>
            </a:r>
          </a:p>
          <a:p>
            <a:pPr algn="just"/>
            <a:r>
              <a:rPr lang="en-US" dirty="0" smtClean="0"/>
              <a:t>The first page that a website displays is called home page.</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273050"/>
            <a:ext cx="8715214" cy="565150"/>
          </a:xfrm>
        </p:spPr>
        <p:txBody>
          <a:bodyPr>
            <a:normAutofit fontScale="90000"/>
          </a:bodyPr>
          <a:lstStyle/>
          <a:p>
            <a:pPr algn="ctr"/>
            <a:r>
              <a:rPr lang="en-US" dirty="0" smtClean="0"/>
              <a:t>Examples of Top Level Domain of Website</a:t>
            </a:r>
            <a:endParaRPr lang="en-US" dirty="0"/>
          </a:p>
        </p:txBody>
      </p:sp>
      <p:graphicFrame>
        <p:nvGraphicFramePr>
          <p:cNvPr id="7" name="Content Placeholder 6"/>
          <p:cNvGraphicFramePr>
            <a:graphicFrameLocks noGrp="1"/>
          </p:cNvGraphicFramePr>
          <p:nvPr>
            <p:ph sz="quarter" idx="1"/>
          </p:nvPr>
        </p:nvGraphicFramePr>
        <p:xfrm>
          <a:off x="457200" y="914400"/>
          <a:ext cx="8145807" cy="5588633"/>
        </p:xfrm>
        <a:graphic>
          <a:graphicData uri="http://schemas.openxmlformats.org/drawingml/2006/table">
            <a:tbl>
              <a:tblPr firstRow="1" bandRow="1">
                <a:tableStyleId>{5C22544A-7EE6-4342-B048-85BDC9FD1C3A}</a:tableStyleId>
              </a:tblPr>
              <a:tblGrid>
                <a:gridCol w="767129"/>
                <a:gridCol w="7378678"/>
              </a:tblGrid>
              <a:tr h="368070">
                <a:tc>
                  <a:txBody>
                    <a:bodyPr/>
                    <a:lstStyle/>
                    <a:p>
                      <a:pPr algn="ctr"/>
                      <a:r>
                        <a:rPr lang="en-US" sz="2400" dirty="0" smtClean="0"/>
                        <a:t>TLD</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smtClean="0"/>
                        <a:t>Purpose</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1000">
                <a:tc>
                  <a:txBody>
                    <a:bodyPr/>
                    <a:lstStyle/>
                    <a:p>
                      <a:r>
                        <a:rPr lang="en-US" sz="2000" b="1" dirty="0" smtClean="0"/>
                        <a:t>.com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t>Commercial Organization, Business and companies</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9594">
                <a:tc>
                  <a:txBody>
                    <a:bodyPr/>
                    <a:lstStyle/>
                    <a:p>
                      <a:r>
                        <a:rPr lang="en-US" sz="2000" b="1" dirty="0" smtClean="0"/>
                        <a:t>.</a:t>
                      </a:r>
                      <a:r>
                        <a:rPr lang="en-US" sz="2000" b="1" dirty="0" err="1" smtClean="0"/>
                        <a:t>gov</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t>Government Agencies</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9594">
                <a:tc>
                  <a:txBody>
                    <a:bodyPr/>
                    <a:lstStyle/>
                    <a:p>
                      <a:r>
                        <a:rPr lang="en-US" sz="2000" b="1" dirty="0" smtClean="0"/>
                        <a:t>.org</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t>Non-profit Organizations</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7993">
                <a:tc>
                  <a:txBody>
                    <a:bodyPr/>
                    <a:lstStyle/>
                    <a:p>
                      <a:r>
                        <a:rPr lang="en-US" sz="2000" b="1" dirty="0" smtClean="0"/>
                        <a:t>.biz</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t>Businesses of all sizes</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9594">
                <a:tc>
                  <a:txBody>
                    <a:bodyPr/>
                    <a:lstStyle/>
                    <a:p>
                      <a:r>
                        <a:rPr lang="en-US" sz="2000" b="1" dirty="0" smtClean="0"/>
                        <a:t>.info</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t>Individual, Business or organization</a:t>
                      </a:r>
                      <a:r>
                        <a:rPr lang="en-US" sz="2000" b="1" baseline="0" dirty="0" smtClean="0"/>
                        <a:t> that provides  general information</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9594">
                <a:tc>
                  <a:txBody>
                    <a:bodyPr/>
                    <a:lstStyle/>
                    <a:p>
                      <a:r>
                        <a:rPr lang="en-US" sz="2000" b="1" dirty="0" smtClean="0"/>
                        <a:t>.aero</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t>Aviation community members</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9594">
                <a:tc>
                  <a:txBody>
                    <a:bodyPr/>
                    <a:lstStyle/>
                    <a:p>
                      <a:r>
                        <a:rPr lang="en-US" sz="2000" b="1" dirty="0" smtClean="0"/>
                        <a:t>.cat</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t>Catalan cultural communities</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9594">
                <a:tc>
                  <a:txBody>
                    <a:bodyPr/>
                    <a:lstStyle/>
                    <a:p>
                      <a:r>
                        <a:rPr lang="en-US" sz="2000" b="1" dirty="0" smtClean="0"/>
                        <a:t>.jobs</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t>Employment or Human Resource Business</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9594">
                <a:tc>
                  <a:txBody>
                    <a:bodyPr/>
                    <a:lstStyle/>
                    <a:p>
                      <a:r>
                        <a:rPr lang="en-US" sz="2000" b="1" dirty="0" smtClean="0"/>
                        <a:t>.</a:t>
                      </a:r>
                      <a:r>
                        <a:rPr lang="en-US" sz="2000" b="1" dirty="0" err="1" smtClean="0"/>
                        <a:t>edu</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t>Educational Institutions</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9594">
                <a:tc>
                  <a:txBody>
                    <a:bodyPr/>
                    <a:lstStyle/>
                    <a:p>
                      <a:r>
                        <a:rPr lang="en-US" sz="2000" b="1" dirty="0" err="1" smtClean="0"/>
                        <a:t>.net</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t>Network Providers or commercial companies</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9594">
                <a:tc>
                  <a:txBody>
                    <a:bodyPr/>
                    <a:lstStyle/>
                    <a:p>
                      <a:r>
                        <a:rPr lang="en-US" sz="2000" b="1" dirty="0" smtClean="0"/>
                        <a:t>.</a:t>
                      </a:r>
                      <a:r>
                        <a:rPr lang="en-US" sz="2000" b="1" dirty="0" err="1" smtClean="0"/>
                        <a:t>tel</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t>Internet</a:t>
                      </a:r>
                      <a:r>
                        <a:rPr lang="en-US" sz="2000" b="1" baseline="0" dirty="0" smtClean="0"/>
                        <a:t> Communication</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9594">
                <a:tc>
                  <a:txBody>
                    <a:bodyPr/>
                    <a:lstStyle/>
                    <a:p>
                      <a:r>
                        <a:rPr lang="en-US" sz="2000" b="1" dirty="0" smtClean="0"/>
                        <a:t>.pro</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t>Certified professionals</a:t>
                      </a:r>
                      <a:r>
                        <a:rPr lang="en-US" sz="2000" b="1" baseline="0" dirty="0" smtClean="0"/>
                        <a:t> such as doctors, lawyers, and accountants</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7772400" cy="792162"/>
          </a:xfrm>
        </p:spPr>
        <p:txBody>
          <a:bodyPr/>
          <a:lstStyle/>
          <a:p>
            <a:r>
              <a:rPr lang="en-US" b="1" dirty="0" smtClean="0"/>
              <a:t>Website Characteristics:</a:t>
            </a:r>
            <a:endParaRPr lang="en-US" b="1" dirty="0"/>
          </a:p>
        </p:txBody>
      </p:sp>
      <p:sp>
        <p:nvSpPr>
          <p:cNvPr id="3" name="Content Placeholder 2"/>
          <p:cNvSpPr>
            <a:spLocks noGrp="1"/>
          </p:cNvSpPr>
          <p:nvPr>
            <p:ph sz="quarter" idx="1"/>
          </p:nvPr>
        </p:nvSpPr>
        <p:spPr>
          <a:xfrm>
            <a:off x="152400" y="838200"/>
            <a:ext cx="8763000" cy="5791200"/>
          </a:xfrm>
        </p:spPr>
        <p:txBody>
          <a:bodyPr>
            <a:normAutofit fontScale="92500" lnSpcReduction="20000"/>
          </a:bodyPr>
          <a:lstStyle/>
          <a:p>
            <a:pPr lvl="0"/>
            <a:r>
              <a:rPr lang="en-US" sz="3200" b="1" i="1" dirty="0" smtClean="0"/>
              <a:t>Content-related concerns</a:t>
            </a:r>
            <a:r>
              <a:rPr lang="en-US" sz="3200" dirty="0" smtClean="0"/>
              <a:t>. </a:t>
            </a:r>
          </a:p>
          <a:p>
            <a:pPr lvl="1" algn="just"/>
            <a:r>
              <a:rPr lang="en-US" sz="2800" dirty="0" smtClean="0"/>
              <a:t>Maintaining thematic consistency of content is important in giving a site some degree of identity.</a:t>
            </a:r>
          </a:p>
          <a:p>
            <a:pPr lvl="0"/>
            <a:r>
              <a:rPr lang="en-US" sz="3200" b="1" dirty="0" smtClean="0"/>
              <a:t>Aesthetic concerns:</a:t>
            </a:r>
          </a:p>
          <a:p>
            <a:pPr lvl="1" algn="just"/>
            <a:r>
              <a:rPr lang="en-US" sz="2800" dirty="0" smtClean="0"/>
              <a:t>A Web site should also have a common look and feel across all of its pages, this means utilizing a common style across the site; page layout, graphic design, and typographical elements should reflect that style.</a:t>
            </a:r>
          </a:p>
          <a:p>
            <a:pPr lvl="0"/>
            <a:r>
              <a:rPr lang="en-US" sz="3200" b="1" dirty="0" smtClean="0"/>
              <a:t>Architectural concerns:</a:t>
            </a:r>
            <a:r>
              <a:rPr lang="en-US" sz="3200" dirty="0" smtClean="0"/>
              <a:t> </a:t>
            </a:r>
          </a:p>
          <a:p>
            <a:pPr lvl="1" algn="just"/>
            <a:r>
              <a:rPr lang="en-US" sz="2800" dirty="0" smtClean="0"/>
              <a:t>As a site grows in size and becomes more complex, it becomes critically important to organize its content properly. This includes: 1. layout of content on individual pages</a:t>
            </a:r>
          </a:p>
          <a:p>
            <a:pPr lvl="1" algn="just">
              <a:buNone/>
            </a:pPr>
            <a:r>
              <a:rPr lang="en-US" sz="2800" dirty="0" smtClean="0"/>
              <a:t>	2. Interconnections between the pages</a:t>
            </a:r>
          </a:p>
          <a:p>
            <a:pPr lvl="1" algn="just">
              <a:buNone/>
            </a:pPr>
            <a:r>
              <a:rPr lang="en-US" sz="2800" dirty="0" smtClean="0"/>
              <a:t>	3. Use framing approach</a:t>
            </a:r>
          </a:p>
          <a:p>
            <a:pPr lvl="1" algn="just">
              <a:buNone/>
            </a:pPr>
            <a:r>
              <a:rPr lang="en-US" sz="2800" dirty="0" smtClean="0"/>
              <a:t>	4. In short information can be accessed quickly and easily.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772400" cy="792162"/>
          </a:xfrm>
        </p:spPr>
        <p:txBody>
          <a:bodyPr/>
          <a:lstStyle/>
          <a:p>
            <a:r>
              <a:rPr lang="en-US" dirty="0" smtClean="0"/>
              <a:t>Guidelines to develop a Website:</a:t>
            </a:r>
            <a:endParaRPr lang="en-US" dirty="0"/>
          </a:p>
        </p:txBody>
      </p:sp>
      <p:sp>
        <p:nvSpPr>
          <p:cNvPr id="3" name="Content Placeholder 2"/>
          <p:cNvSpPr>
            <a:spLocks noGrp="1"/>
          </p:cNvSpPr>
          <p:nvPr>
            <p:ph sz="quarter" idx="1"/>
          </p:nvPr>
        </p:nvSpPr>
        <p:spPr>
          <a:xfrm>
            <a:off x="152400" y="1143000"/>
            <a:ext cx="8915400" cy="5562600"/>
          </a:xfrm>
        </p:spPr>
        <p:txBody>
          <a:bodyPr>
            <a:normAutofit/>
          </a:bodyPr>
          <a:lstStyle/>
          <a:p>
            <a:r>
              <a:rPr lang="en-US" dirty="0" smtClean="0"/>
              <a:t>“Beauty  lies in the eyes of the beholder”, it means that every individual has his/her own opinion on the beauty.</a:t>
            </a:r>
          </a:p>
          <a:p>
            <a:r>
              <a:rPr lang="en-US" dirty="0" smtClean="0"/>
              <a:t>So website will be well laid out and practical.</a:t>
            </a:r>
          </a:p>
          <a:p>
            <a:r>
              <a:rPr lang="en-US" dirty="0" smtClean="0"/>
              <a:t>As a developer, you have three roles to play: </a:t>
            </a:r>
          </a:p>
          <a:p>
            <a:pPr lvl="1"/>
            <a:r>
              <a:rPr lang="en-US" sz="2800" b="1" dirty="0" smtClean="0"/>
              <a:t>Visualizer</a:t>
            </a:r>
            <a:r>
              <a:rPr lang="en-US" dirty="0" smtClean="0"/>
              <a:t>,  web page is attractive enough for user to come on the page.</a:t>
            </a:r>
          </a:p>
          <a:p>
            <a:pPr lvl="1"/>
            <a:r>
              <a:rPr lang="en-US" sz="2800" b="1" dirty="0" smtClean="0"/>
              <a:t>Architect,</a:t>
            </a:r>
            <a:r>
              <a:rPr lang="en-US" dirty="0" smtClean="0"/>
              <a:t> Website is well structured and has logical path</a:t>
            </a:r>
          </a:p>
          <a:p>
            <a:pPr lvl="1"/>
            <a:r>
              <a:rPr lang="en-US" sz="2800" b="1" dirty="0" smtClean="0"/>
              <a:t>Librarian,</a:t>
            </a:r>
            <a:r>
              <a:rPr lang="en-US" dirty="0" smtClean="0"/>
              <a:t> the contents are catalogued and ease to locate.</a:t>
            </a:r>
          </a:p>
          <a:p>
            <a:r>
              <a:rPr lang="en-US" dirty="0" smtClean="0"/>
              <a:t>Developing a web site can span two phases:</a:t>
            </a:r>
          </a:p>
          <a:p>
            <a:pPr lvl="1"/>
            <a:r>
              <a:rPr lang="en-US" sz="2800" dirty="0" smtClean="0"/>
              <a:t>Design Phase</a:t>
            </a:r>
          </a:p>
          <a:p>
            <a:pPr lvl="1"/>
            <a:r>
              <a:rPr lang="en-US" sz="2800" dirty="0" smtClean="0"/>
              <a:t>Development Phase.</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4038600" cy="655638"/>
          </a:xfrm>
        </p:spPr>
        <p:txBody>
          <a:bodyPr>
            <a:normAutofit fontScale="90000"/>
          </a:bodyPr>
          <a:lstStyle/>
          <a:p>
            <a:r>
              <a:rPr lang="en-US" dirty="0" smtClean="0"/>
              <a:t>Design Phase:</a:t>
            </a:r>
            <a:endParaRPr lang="en-US" dirty="0"/>
          </a:p>
        </p:txBody>
      </p:sp>
      <p:sp>
        <p:nvSpPr>
          <p:cNvPr id="3" name="Content Placeholder 2"/>
          <p:cNvSpPr>
            <a:spLocks noGrp="1"/>
          </p:cNvSpPr>
          <p:nvPr>
            <p:ph sz="quarter" idx="1"/>
          </p:nvPr>
        </p:nvSpPr>
        <p:spPr>
          <a:xfrm>
            <a:off x="304800" y="990600"/>
            <a:ext cx="8610600" cy="5486400"/>
          </a:xfrm>
        </p:spPr>
        <p:txBody>
          <a:bodyPr>
            <a:normAutofit fontScale="92500" lnSpcReduction="10000"/>
          </a:bodyPr>
          <a:lstStyle/>
          <a:p>
            <a:r>
              <a:rPr lang="en-US" b="1" dirty="0" smtClean="0"/>
              <a:t>Narrate Goals and Objectives:</a:t>
            </a:r>
          </a:p>
          <a:p>
            <a:pPr lvl="1"/>
            <a:r>
              <a:rPr lang="en-US" dirty="0" smtClean="0"/>
              <a:t>Identify and set the goals and objectives of your website as per the nature of your organization.</a:t>
            </a:r>
          </a:p>
          <a:p>
            <a:r>
              <a:rPr lang="en-US" b="1" dirty="0" smtClean="0"/>
              <a:t>Target Audience:</a:t>
            </a:r>
          </a:p>
          <a:p>
            <a:pPr lvl="1"/>
            <a:r>
              <a:rPr lang="en-US" dirty="0" smtClean="0"/>
              <a:t>Type of user, who will be visiting your site, their interest, their taste and priorities. </a:t>
            </a:r>
          </a:p>
          <a:p>
            <a:r>
              <a:rPr lang="en-US" b="1" dirty="0" smtClean="0"/>
              <a:t>Storyboarding:</a:t>
            </a:r>
          </a:p>
          <a:p>
            <a:pPr lvl="1"/>
            <a:r>
              <a:rPr lang="en-US" dirty="0" smtClean="0"/>
              <a:t>Prepare storyboard ( description of the layouts, contents, sequences, operation) to define conceptual model of the website.</a:t>
            </a:r>
          </a:p>
          <a:p>
            <a:r>
              <a:rPr lang="en-US" b="1" dirty="0" smtClean="0"/>
              <a:t>Organize your information:</a:t>
            </a:r>
          </a:p>
          <a:p>
            <a:pPr lvl="1"/>
            <a:r>
              <a:rPr lang="en-US" dirty="0" smtClean="0"/>
              <a:t>Identify and define the navigation scheme,</a:t>
            </a:r>
          </a:p>
          <a:p>
            <a:pPr lvl="1"/>
            <a:r>
              <a:rPr lang="en-US" dirty="0" smtClean="0"/>
              <a:t>Divide it into logical units.</a:t>
            </a:r>
          </a:p>
          <a:p>
            <a:pPr lvl="1"/>
            <a:r>
              <a:rPr lang="en-US" dirty="0" smtClean="0"/>
              <a:t>Create hierarchy of important and general topics.</a:t>
            </a:r>
          </a:p>
          <a:p>
            <a:pPr lvl="1"/>
            <a:r>
              <a:rPr lang="en-US" dirty="0" smtClean="0"/>
              <a:t>Define relationship structure among units of information.</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7772400" cy="715962"/>
          </a:xfrm>
        </p:spPr>
        <p:txBody>
          <a:bodyPr>
            <a:normAutofit fontScale="90000"/>
          </a:bodyPr>
          <a:lstStyle/>
          <a:p>
            <a:r>
              <a:rPr lang="en-US" dirty="0" smtClean="0"/>
              <a:t>Development Phase:</a:t>
            </a:r>
            <a:endParaRPr lang="en-US" dirty="0"/>
          </a:p>
        </p:txBody>
      </p:sp>
      <p:sp>
        <p:nvSpPr>
          <p:cNvPr id="3" name="Content Placeholder 2"/>
          <p:cNvSpPr>
            <a:spLocks noGrp="1"/>
          </p:cNvSpPr>
          <p:nvPr>
            <p:ph sz="quarter" idx="1"/>
          </p:nvPr>
        </p:nvSpPr>
        <p:spPr>
          <a:xfrm>
            <a:off x="304800" y="914400"/>
            <a:ext cx="8610600" cy="5715000"/>
          </a:xfrm>
        </p:spPr>
        <p:txBody>
          <a:bodyPr/>
          <a:lstStyle/>
          <a:p>
            <a:r>
              <a:rPr lang="en-US" dirty="0" smtClean="0"/>
              <a:t>There are various development tools to develop a website like HTML, Front page 2000, ASP, JSP, Flash 5.0 etc.</a:t>
            </a:r>
          </a:p>
          <a:p>
            <a:r>
              <a:rPr lang="en-US" dirty="0" smtClean="0"/>
              <a:t>Developer should keep two important factors during development:</a:t>
            </a:r>
          </a:p>
          <a:p>
            <a:pPr lvl="1"/>
            <a:r>
              <a:rPr lang="en-US" dirty="0" smtClean="0">
                <a:solidFill>
                  <a:srgbClr val="C00000"/>
                </a:solidFill>
              </a:rPr>
              <a:t>Layout of Website and Webpage</a:t>
            </a:r>
          </a:p>
          <a:p>
            <a:pPr lvl="1"/>
            <a:r>
              <a:rPr lang="en-US" dirty="0" smtClean="0">
                <a:solidFill>
                  <a:srgbClr val="C00000"/>
                </a:solidFill>
              </a:rPr>
              <a:t>Navigation around the website.</a:t>
            </a:r>
          </a:p>
          <a:p>
            <a:r>
              <a:rPr lang="en-US" dirty="0" smtClean="0"/>
              <a:t>In Layout of  Website, follow these rules:</a:t>
            </a:r>
          </a:p>
          <a:p>
            <a:pPr lvl="1"/>
            <a:r>
              <a:rPr lang="en-US" b="1" dirty="0" smtClean="0"/>
              <a:t>Unity and Variety </a:t>
            </a:r>
            <a:r>
              <a:rPr lang="en-US" dirty="0" smtClean="0"/>
              <a:t>: Everything fits together as a recognizable product, but at the same time there is enough variety to keep things interesting.</a:t>
            </a:r>
          </a:p>
          <a:p>
            <a:pPr lvl="1"/>
            <a:r>
              <a:rPr lang="en-US" b="1" dirty="0" smtClean="0"/>
              <a:t>Effects:</a:t>
            </a:r>
            <a:r>
              <a:rPr lang="en-US" dirty="0" smtClean="0"/>
              <a:t> be clear about the transition effects  that need to be given through webpage. E.g. corporate’s site carries an image will be plain and no animation whereas Entertainment website could include colourful pages with lot of animations.</a:t>
            </a:r>
          </a:p>
          <a:p>
            <a:pPr lvl="1">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7772400" cy="715962"/>
          </a:xfrm>
        </p:spPr>
        <p:txBody>
          <a:bodyPr>
            <a:normAutofit fontScale="90000"/>
          </a:bodyPr>
          <a:lstStyle/>
          <a:p>
            <a:r>
              <a:rPr lang="en-US" dirty="0" smtClean="0"/>
              <a:t>Development Phase:</a:t>
            </a:r>
            <a:endParaRPr lang="en-US" dirty="0"/>
          </a:p>
        </p:txBody>
      </p:sp>
      <p:sp>
        <p:nvSpPr>
          <p:cNvPr id="3" name="Content Placeholder 2"/>
          <p:cNvSpPr>
            <a:spLocks noGrp="1"/>
          </p:cNvSpPr>
          <p:nvPr>
            <p:ph sz="quarter" idx="1"/>
          </p:nvPr>
        </p:nvSpPr>
        <p:spPr>
          <a:xfrm>
            <a:off x="304800" y="914400"/>
            <a:ext cx="8610600" cy="5715000"/>
          </a:xfrm>
        </p:spPr>
        <p:txBody>
          <a:bodyPr/>
          <a:lstStyle/>
          <a:p>
            <a:r>
              <a:rPr lang="en-US" b="1" dirty="0" smtClean="0"/>
              <a:t>Page Layout: </a:t>
            </a:r>
            <a:r>
              <a:rPr lang="en-US" dirty="0" smtClean="0"/>
              <a:t>A webpage is not a printed page. It means that it is not possible to specify that exact position of elements like margins, tables, borders etc. on the webpage since different browsers may render them in different ways.</a:t>
            </a:r>
          </a:p>
          <a:p>
            <a:r>
              <a:rPr lang="en-US" b="1" dirty="0" smtClean="0"/>
              <a:t>Colour Schemes: </a:t>
            </a:r>
            <a:r>
              <a:rPr lang="en-US" dirty="0" smtClean="0"/>
              <a:t>Use colors depending on the effect that you want to create. Bright colors at Corporate sites with black and white theme, Darker shades for heading text, pastel(light) shades for background.</a:t>
            </a:r>
          </a:p>
          <a:p>
            <a:r>
              <a:rPr lang="en-US" b="1" dirty="0" smtClean="0"/>
              <a:t>Text and typography</a:t>
            </a:r>
            <a:r>
              <a:rPr lang="en-US" dirty="0" smtClean="0"/>
              <a:t>: Well laid-out text is easier to read. Avoid the use of </a:t>
            </a:r>
            <a:r>
              <a:rPr lang="en-US" dirty="0" smtClean="0">
                <a:solidFill>
                  <a:srgbClr val="0070C0"/>
                </a:solidFill>
              </a:rPr>
              <a:t>too many fonts</a:t>
            </a:r>
            <a:r>
              <a:rPr lang="en-US" dirty="0" smtClean="0"/>
              <a:t>, use </a:t>
            </a:r>
            <a:r>
              <a:rPr lang="en-US" dirty="0" smtClean="0">
                <a:solidFill>
                  <a:srgbClr val="0070C0"/>
                </a:solidFill>
              </a:rPr>
              <a:t>commonly available fonts</a:t>
            </a:r>
            <a:r>
              <a:rPr lang="en-US" dirty="0" smtClean="0"/>
              <a:t>, use </a:t>
            </a:r>
            <a:r>
              <a:rPr lang="en-US" dirty="0" smtClean="0">
                <a:solidFill>
                  <a:srgbClr val="0070C0"/>
                </a:solidFill>
              </a:rPr>
              <a:t>type attributes</a:t>
            </a:r>
            <a:r>
              <a:rPr lang="en-US" dirty="0" smtClean="0"/>
              <a:t> (bold, italic) to grab the attention of viewer, Avoid </a:t>
            </a:r>
            <a:r>
              <a:rPr lang="en-US" dirty="0" smtClean="0">
                <a:solidFill>
                  <a:srgbClr val="0070C0"/>
                </a:solidFill>
              </a:rPr>
              <a:t>Capitalized words </a:t>
            </a:r>
            <a:r>
              <a:rPr lang="en-US" dirty="0" smtClean="0"/>
              <a:t>for emphasis. Don’t use underline because it indicates  a </a:t>
            </a:r>
            <a:r>
              <a:rPr lang="en-US" dirty="0" smtClean="0">
                <a:solidFill>
                  <a:srgbClr val="0070C0"/>
                </a:solidFill>
              </a:rPr>
              <a:t>hyperlink</a:t>
            </a:r>
            <a:r>
              <a:rPr lang="en-US" dirty="0" smtClean="0"/>
              <a:t>.</a:t>
            </a:r>
          </a:p>
          <a:p>
            <a:endParaRPr lang="en-US" dirty="0" smtClean="0"/>
          </a:p>
          <a:p>
            <a:pPr lvl="1">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686800" cy="715962"/>
          </a:xfrm>
        </p:spPr>
        <p:txBody>
          <a:bodyPr>
            <a:normAutofit fontScale="90000"/>
          </a:bodyPr>
          <a:lstStyle/>
          <a:p>
            <a:r>
              <a:rPr lang="en-US" b="1" dirty="0" smtClean="0"/>
              <a:t>Navigation around the website</a:t>
            </a:r>
            <a:r>
              <a:rPr lang="en-US" dirty="0" smtClean="0"/>
              <a:t>: (</a:t>
            </a:r>
            <a:r>
              <a:rPr lang="en-US" sz="2200" dirty="0" smtClean="0"/>
              <a:t>Development Phase)</a:t>
            </a:r>
            <a:endParaRPr lang="en-US" dirty="0"/>
          </a:p>
        </p:txBody>
      </p:sp>
      <p:sp>
        <p:nvSpPr>
          <p:cNvPr id="3" name="Content Placeholder 2"/>
          <p:cNvSpPr>
            <a:spLocks noGrp="1"/>
          </p:cNvSpPr>
          <p:nvPr>
            <p:ph sz="quarter" idx="1"/>
          </p:nvPr>
        </p:nvSpPr>
        <p:spPr>
          <a:xfrm>
            <a:off x="304800" y="914400"/>
            <a:ext cx="8610600" cy="5715000"/>
          </a:xfrm>
        </p:spPr>
        <p:txBody>
          <a:bodyPr>
            <a:normAutofit fontScale="92500"/>
          </a:bodyPr>
          <a:lstStyle/>
          <a:p>
            <a:r>
              <a:rPr lang="en-US" sz="2800" dirty="0" smtClean="0"/>
              <a:t>Navigation scheme should be easy to follow otherwise user  may be confused and never return again. </a:t>
            </a:r>
          </a:p>
          <a:p>
            <a:pPr lvl="1"/>
            <a:r>
              <a:rPr lang="en-US" sz="2800" dirty="0" smtClean="0"/>
              <a:t>Tell people exactly what is available on your site</a:t>
            </a:r>
          </a:p>
          <a:p>
            <a:pPr lvl="1"/>
            <a:r>
              <a:rPr lang="en-US" sz="2800" dirty="0" smtClean="0"/>
              <a:t>Help them get to the sections they want quickly.</a:t>
            </a:r>
          </a:p>
          <a:p>
            <a:pPr lvl="1"/>
            <a:r>
              <a:rPr lang="en-US" sz="2800" dirty="0" smtClean="0"/>
              <a:t>Make it easy to request additional  </a:t>
            </a:r>
            <a:r>
              <a:rPr lang="en-US" sz="2800" dirty="0" smtClean="0"/>
              <a:t>information.</a:t>
            </a:r>
          </a:p>
          <a:p>
            <a:r>
              <a:rPr lang="en-US" sz="2800" dirty="0" smtClean="0"/>
              <a:t>There are several ways to organize navigation of the website:</a:t>
            </a:r>
          </a:p>
          <a:p>
            <a:pPr lvl="1"/>
            <a:r>
              <a:rPr lang="en-US" sz="2800" b="1" dirty="0" smtClean="0"/>
              <a:t>Hyper Tree</a:t>
            </a:r>
            <a:r>
              <a:rPr lang="en-US" sz="2800" dirty="0" smtClean="0"/>
              <a:t>: A hierarchical information structure with arbitrary cross-links.  Most users are familiar with this structure and find easily.</a:t>
            </a:r>
          </a:p>
          <a:p>
            <a:pPr lvl="1"/>
            <a:r>
              <a:rPr lang="en-US" sz="2800" b="1" dirty="0" smtClean="0"/>
              <a:t>Image Map</a:t>
            </a:r>
            <a:r>
              <a:rPr lang="en-US" sz="2800" dirty="0" smtClean="0"/>
              <a:t>: Some users like visual representation of information. Image map is provided at home page to navigate easily. It contains “Hyper” areas known as </a:t>
            </a:r>
            <a:r>
              <a:rPr lang="en-US" sz="2800" b="1" dirty="0" smtClean="0">
                <a:solidFill>
                  <a:srgbClr val="FF0000"/>
                </a:solidFill>
              </a:rPr>
              <a:t>hot spots. </a:t>
            </a:r>
            <a:r>
              <a:rPr lang="en-US" sz="2800" dirty="0" smtClean="0"/>
              <a:t>When the user clicks on a hotspot, the related document is displayed.</a:t>
            </a:r>
            <a:endParaRPr lang="en-US" dirty="0" smtClean="0"/>
          </a:p>
          <a:p>
            <a:pPr lvl="1">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686800" cy="715962"/>
          </a:xfrm>
        </p:spPr>
        <p:txBody>
          <a:bodyPr>
            <a:normAutofit fontScale="90000"/>
          </a:bodyPr>
          <a:lstStyle/>
          <a:p>
            <a:r>
              <a:rPr lang="en-US" b="1" dirty="0" smtClean="0"/>
              <a:t>Navigation around the website</a:t>
            </a:r>
            <a:r>
              <a:rPr lang="en-US" dirty="0" smtClean="0"/>
              <a:t>: (</a:t>
            </a:r>
            <a:r>
              <a:rPr lang="en-US" sz="2200" dirty="0" smtClean="0"/>
              <a:t>Development Phase)</a:t>
            </a:r>
            <a:endParaRPr lang="en-US" dirty="0"/>
          </a:p>
        </p:txBody>
      </p:sp>
      <p:sp>
        <p:nvSpPr>
          <p:cNvPr id="3" name="Content Placeholder 2"/>
          <p:cNvSpPr>
            <a:spLocks noGrp="1"/>
          </p:cNvSpPr>
          <p:nvPr>
            <p:ph sz="quarter" idx="1"/>
          </p:nvPr>
        </p:nvSpPr>
        <p:spPr>
          <a:xfrm>
            <a:off x="304800" y="914400"/>
            <a:ext cx="8610600" cy="5715000"/>
          </a:xfrm>
        </p:spPr>
        <p:txBody>
          <a:bodyPr>
            <a:normAutofit/>
          </a:bodyPr>
          <a:lstStyle/>
          <a:p>
            <a:pPr marL="274320" lvl="1" indent="-274320">
              <a:spcBef>
                <a:spcPts val="580"/>
              </a:spcBef>
              <a:buClr>
                <a:schemeClr val="accent1"/>
              </a:buClr>
            </a:pPr>
            <a:r>
              <a:rPr lang="en-US" b="1" dirty="0" smtClean="0"/>
              <a:t>Hyperlinks: </a:t>
            </a:r>
            <a:r>
              <a:rPr lang="en-US" dirty="0" smtClean="0"/>
              <a:t>A blue underlined text conventionally signifies a hyperlink. When the user clicks on it, the related document is displayed.</a:t>
            </a:r>
          </a:p>
          <a:p>
            <a:r>
              <a:rPr lang="en-US" b="1" dirty="0" smtClean="0"/>
              <a:t>Sub-pages:</a:t>
            </a:r>
            <a:r>
              <a:rPr lang="en-US" dirty="0" smtClean="0"/>
              <a:t> There should be a menu bar, otherwise viewer is likely to lose sight of the main page. By using framing home page is logically divided into horizontal and vertical portions to display menus, Icons, or quick links. Framing may be simple as well </a:t>
            </a:r>
            <a:r>
              <a:rPr lang="en-US" smtClean="0"/>
              <a:t>as complicated </a:t>
            </a:r>
            <a:endParaRPr lang="en-US" dirty="0" smtClean="0"/>
          </a:p>
          <a:p>
            <a:pPr>
              <a:buNone/>
            </a:pPr>
            <a:endParaRPr lang="en-US" dirty="0" smtClean="0"/>
          </a:p>
          <a:p>
            <a:pPr lvl="1">
              <a:buNone/>
            </a:pP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133</TotalTime>
  <Words>1023</Words>
  <Application>Microsoft Office PowerPoint</Application>
  <PresentationFormat>On-screen Show (4:3)</PresentationFormat>
  <Paragraphs>99</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Equity</vt:lpstr>
      <vt:lpstr>WEBSITE DESIGN &amp; DEVELPMENT</vt:lpstr>
      <vt:lpstr>WEBSITE:</vt:lpstr>
      <vt:lpstr>Examples of Top Level Domain of Website</vt:lpstr>
      <vt:lpstr>Website Characteristics:</vt:lpstr>
      <vt:lpstr>Guidelines to develop a Website:</vt:lpstr>
      <vt:lpstr>Design Phase:</vt:lpstr>
      <vt:lpstr>Development Phase:</vt:lpstr>
      <vt:lpstr>Development Phase:</vt:lpstr>
      <vt:lpstr>Navigation around the website: (Development Phase)</vt:lpstr>
      <vt:lpstr>Navigation around the website: (Development Phase)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DESIGN &amp; DEVELPMENT</dc:title>
  <dc:creator>Administrator</dc:creator>
  <cp:lastModifiedBy>Administrator</cp:lastModifiedBy>
  <cp:revision>33</cp:revision>
  <dcterms:created xsi:type="dcterms:W3CDTF">2007-05-20T19:04:26Z</dcterms:created>
  <dcterms:modified xsi:type="dcterms:W3CDTF">2007-05-20T19:28:23Z</dcterms:modified>
</cp:coreProperties>
</file>
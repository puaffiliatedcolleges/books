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38D84746-8AF2-4553-9771-4626F8312889}" type="datetimeFigureOut">
              <a:rPr lang="en-IN" smtClean="0"/>
              <a:t>09-10-2020</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3981462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D84746-8AF2-4553-9771-4626F8312889}" type="datetimeFigureOut">
              <a:rPr lang="en-IN" smtClean="0"/>
              <a:t>09-10-2020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2323119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38D84746-8AF2-4553-9771-4626F8312889}" type="datetimeFigureOut">
              <a:rPr lang="en-IN" smtClean="0"/>
              <a:t>09-10-2020</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3346087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D84746-8AF2-4553-9771-4626F8312889}" type="datetimeFigureOut">
              <a:rPr lang="en-IN" smtClean="0"/>
              <a:t>09-10-2020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1373111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D84746-8AF2-4553-9771-4626F8312889}" type="datetimeFigureOut">
              <a:rPr lang="en-IN" smtClean="0"/>
              <a:t>09-10-2020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3938459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D84746-8AF2-4553-9771-4626F8312889}" type="datetimeFigureOut">
              <a:rPr lang="en-IN" smtClean="0"/>
              <a:t>09-10-2020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585270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D84746-8AF2-4553-9771-4626F8312889}" type="datetimeFigureOut">
              <a:rPr lang="en-IN" smtClean="0"/>
              <a:t>09-10-2020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4058540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D84746-8AF2-4553-9771-4626F8312889}" type="datetimeFigureOut">
              <a:rPr lang="en-IN" smtClean="0"/>
              <a:t>09-10-2020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588067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D84746-8AF2-4553-9771-4626F8312889}" type="datetimeFigureOut">
              <a:rPr lang="en-IN" smtClean="0"/>
              <a:t>09-10-2020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3956800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D84746-8AF2-4553-9771-4626F8312889}" type="datetimeFigureOut">
              <a:rPr lang="en-IN" smtClean="0"/>
              <a:t>09-10-2020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3718792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8D84746-8AF2-4553-9771-4626F8312889}" type="datetimeFigureOut">
              <a:rPr lang="en-IN" smtClean="0"/>
              <a:t>09-10-2020</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3210441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8D84746-8AF2-4553-9771-4626F8312889}" type="datetimeFigureOut">
              <a:rPr lang="en-IN" smtClean="0"/>
              <a:t>09-10-2020</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D559FF4D-3A1A-42D0-9D6C-E787A72BC23A}"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613910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38D84746-8AF2-4553-9771-4626F8312889}" type="datetimeFigureOut">
              <a:rPr lang="en-IN" smtClean="0"/>
              <a:t>09-10-2020</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1465443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8D84746-8AF2-4553-9771-4626F8312889}" type="datetimeFigureOut">
              <a:rPr lang="en-IN" smtClean="0"/>
              <a:t>09-10-2020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1504054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8D84746-8AF2-4553-9771-4626F8312889}" type="datetimeFigureOut">
              <a:rPr lang="en-IN" smtClean="0"/>
              <a:t>09-10-2020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1362769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D84746-8AF2-4553-9771-4626F8312889}" type="datetimeFigureOut">
              <a:rPr lang="en-IN" smtClean="0"/>
              <a:t>09-10-2020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38423590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38D84746-8AF2-4553-9771-4626F8312889}" type="datetimeFigureOut">
              <a:rPr lang="en-IN" smtClean="0"/>
              <a:t>09-10-2020</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D559FF4D-3A1A-42D0-9D6C-E787A72BC23A}" type="slidenum">
              <a:rPr lang="en-IN" smtClean="0"/>
              <a:t>‹#›</a:t>
            </a:fld>
            <a:endParaRPr lang="en-IN"/>
          </a:p>
        </p:txBody>
      </p:sp>
    </p:spTree>
    <p:extLst>
      <p:ext uri="{BB962C8B-B14F-4D97-AF65-F5344CB8AC3E}">
        <p14:creationId xmlns:p14="http://schemas.microsoft.com/office/powerpoint/2010/main" val="3320083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8D84746-8AF2-4553-9771-4626F8312889}" type="datetimeFigureOut">
              <a:rPr lang="en-IN" smtClean="0"/>
              <a:t>09-10-2020</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559FF4D-3A1A-42D0-9D6C-E787A72BC23A}" type="slidenum">
              <a:rPr lang="en-IN" smtClean="0"/>
              <a:t>‹#›</a:t>
            </a:fld>
            <a:endParaRPr lang="en-IN"/>
          </a:p>
        </p:txBody>
      </p:sp>
    </p:spTree>
    <p:extLst>
      <p:ext uri="{BB962C8B-B14F-4D97-AF65-F5344CB8AC3E}">
        <p14:creationId xmlns:p14="http://schemas.microsoft.com/office/powerpoint/2010/main" val="3646592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8BE7B-93E1-4073-80F7-68403F6CFD57}"/>
              </a:ext>
            </a:extLst>
          </p:cNvPr>
          <p:cNvSpPr>
            <a:spLocks noGrp="1"/>
          </p:cNvSpPr>
          <p:nvPr>
            <p:ph type="ctrTitle"/>
          </p:nvPr>
        </p:nvSpPr>
        <p:spPr/>
        <p:txBody>
          <a:bodyPr/>
          <a:lstStyle/>
          <a:p>
            <a:r>
              <a:rPr lang="en-IN" dirty="0"/>
              <a:t>Process management</a:t>
            </a:r>
          </a:p>
        </p:txBody>
      </p:sp>
      <p:sp>
        <p:nvSpPr>
          <p:cNvPr id="3" name="Subtitle 2">
            <a:extLst>
              <a:ext uri="{FF2B5EF4-FFF2-40B4-BE49-F238E27FC236}">
                <a16:creationId xmlns:a16="http://schemas.microsoft.com/office/drawing/2014/main" id="{38C9117E-35CD-4CCC-BDBF-D7197E76C890}"/>
              </a:ext>
            </a:extLst>
          </p:cNvPr>
          <p:cNvSpPr>
            <a:spLocks noGrp="1"/>
          </p:cNvSpPr>
          <p:nvPr>
            <p:ph type="subTitle" idx="1"/>
          </p:nvPr>
        </p:nvSpPr>
        <p:spPr>
          <a:xfrm>
            <a:off x="1371600" y="3632200"/>
            <a:ext cx="9448800" cy="1583611"/>
          </a:xfrm>
        </p:spPr>
        <p:txBody>
          <a:bodyPr>
            <a:normAutofit fontScale="85000" lnSpcReduction="20000"/>
          </a:bodyPr>
          <a:lstStyle/>
          <a:p>
            <a:pPr algn="just"/>
            <a:r>
              <a:rPr lang="en-IN" b="1" u="sng" dirty="0">
                <a:effectLst>
                  <a:outerShdw blurRad="38100" dist="38100" dir="2700000" algn="tl">
                    <a:srgbClr val="000000">
                      <a:alpha val="43137"/>
                    </a:srgbClr>
                  </a:outerShdw>
                </a:effectLst>
              </a:rPr>
              <a:t>UNIT III</a:t>
            </a:r>
          </a:p>
          <a:p>
            <a:pPr algn="just"/>
            <a:r>
              <a:rPr lang="en-IN" dirty="0"/>
              <a:t>Processes: Process Concept, Process Scheduling, Operation on Processes. CPU Scheduling:</a:t>
            </a:r>
          </a:p>
          <a:p>
            <a:pPr algn="just"/>
            <a:r>
              <a:rPr lang="en-IN" dirty="0"/>
              <a:t>Basic Concepts, Scheduling Criteria, Scheduling Algorithms, Multiple- Processor Scheduling,</a:t>
            </a:r>
          </a:p>
          <a:p>
            <a:pPr algn="just"/>
            <a:r>
              <a:rPr lang="en-IN" dirty="0"/>
              <a:t>Process Synchronization: Background, The Critical-Section Problem, Synchronization,</a:t>
            </a:r>
          </a:p>
          <a:p>
            <a:pPr algn="just"/>
            <a:r>
              <a:rPr lang="en-IN" dirty="0"/>
              <a:t>Hardware, Semaphores.</a:t>
            </a:r>
          </a:p>
        </p:txBody>
      </p:sp>
    </p:spTree>
    <p:extLst>
      <p:ext uri="{BB962C8B-B14F-4D97-AF65-F5344CB8AC3E}">
        <p14:creationId xmlns:p14="http://schemas.microsoft.com/office/powerpoint/2010/main" val="213662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3ED2E-27A5-437D-AE0A-A55A0162F025}"/>
              </a:ext>
            </a:extLst>
          </p:cNvPr>
          <p:cNvSpPr>
            <a:spLocks noGrp="1"/>
          </p:cNvSpPr>
          <p:nvPr>
            <p:ph type="title"/>
          </p:nvPr>
        </p:nvSpPr>
        <p:spPr/>
        <p:txBody>
          <a:bodyPr>
            <a:normAutofit fontScale="90000"/>
          </a:bodyPr>
          <a:lstStyle/>
          <a:p>
            <a:r>
              <a:rPr lang="en-US" altLang="en-US" sz="4400" cap="none" dirty="0">
                <a:cs typeface="Arial" panose="020B0604020202020204" pitchFamily="34" charset="0"/>
              </a:rPr>
              <a:t>Process</a:t>
            </a:r>
            <a:br>
              <a:rPr lang="en-US" altLang="en-US" sz="4400" cap="none" dirty="0">
                <a:cs typeface="Arial" panose="020B0604020202020204" pitchFamily="34" charset="0"/>
              </a:rPr>
            </a:br>
            <a:endParaRPr lang="en-IN" sz="4400" dirty="0"/>
          </a:p>
        </p:txBody>
      </p:sp>
      <p:sp>
        <p:nvSpPr>
          <p:cNvPr id="4" name="Rectangle 1">
            <a:extLst>
              <a:ext uri="{FF2B5EF4-FFF2-40B4-BE49-F238E27FC236}">
                <a16:creationId xmlns:a16="http://schemas.microsoft.com/office/drawing/2014/main" id="{A303CC94-6825-46CD-8A50-CDFFAF8B934E}"/>
              </a:ext>
            </a:extLst>
          </p:cNvPr>
          <p:cNvSpPr>
            <a:spLocks noGrp="1" noChangeArrowheads="1"/>
          </p:cNvSpPr>
          <p:nvPr>
            <p:ph idx="1"/>
          </p:nvPr>
        </p:nvSpPr>
        <p:spPr bwMode="auto">
          <a:xfrm>
            <a:off x="172616" y="1586096"/>
            <a:ext cx="1174376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US" altLang="en-US" sz="1800" b="0" i="0" u="none" strike="noStrike" cap="none" normalizeH="0" baseline="0" dirty="0">
                <a:ln>
                  <a:noFill/>
                </a:ln>
                <a:solidFill>
                  <a:srgbClr val="000000"/>
                </a:solidFill>
                <a:effectLst/>
                <a:cs typeface="Arial" panose="020B0604020202020204" pitchFamily="34" charset="0"/>
              </a:rPr>
              <a:t>A process is basically a program in execution. </a:t>
            </a:r>
          </a:p>
          <a:p>
            <a:pPr>
              <a:lnSpc>
                <a:spcPct val="100000"/>
              </a:lnSpc>
            </a:pPr>
            <a:r>
              <a:rPr kumimoji="0" lang="en-US" altLang="en-US" sz="1800" b="0" i="0" u="none" strike="noStrike" cap="none" normalizeH="0" baseline="0" dirty="0">
                <a:ln>
                  <a:noFill/>
                </a:ln>
                <a:solidFill>
                  <a:srgbClr val="000000"/>
                </a:solidFill>
                <a:effectLst/>
                <a:cs typeface="Arial" panose="020B0604020202020204" pitchFamily="34" charset="0"/>
              </a:rPr>
              <a:t>The execution of a process must progress in a sequential fashion.</a:t>
            </a:r>
            <a:endParaRPr kumimoji="0" lang="en-US" altLang="en-US" sz="1800" b="0" i="0" u="none" strike="noStrike" cap="none" normalizeH="0" baseline="0" dirty="0">
              <a:ln>
                <a:noFill/>
              </a:ln>
              <a:solidFill>
                <a:schemeClr val="tx1"/>
              </a:solidFill>
              <a:effectLst/>
            </a:endParaRPr>
          </a:p>
          <a:p>
            <a:pPr>
              <a:lnSpc>
                <a:spcPct val="100000"/>
              </a:lnSpc>
            </a:pPr>
            <a:r>
              <a:rPr kumimoji="0" lang="en-US" altLang="en-US" sz="1800" b="0" i="0" u="none" strike="noStrike" cap="none" normalizeH="0" baseline="0" dirty="0">
                <a:ln>
                  <a:noFill/>
                </a:ln>
                <a:solidFill>
                  <a:schemeClr val="tx1"/>
                </a:solidFill>
                <a:effectLst/>
              </a:rPr>
              <a:t>A process is defined as an entity which represents the basic unit of work to be implemented in the system.</a:t>
            </a:r>
          </a:p>
          <a:p>
            <a:pPr>
              <a:lnSpc>
                <a:spcPct val="100000"/>
              </a:lnSpc>
            </a:pPr>
            <a:r>
              <a:rPr lang="en-US" sz="1800" dirty="0">
                <a:solidFill>
                  <a:srgbClr val="000000"/>
                </a:solidFill>
              </a:rPr>
              <a:t>we write our computer programs in a text file and when we execute this program, it becomes a process which performs all the tasks mentioned in the program.</a:t>
            </a:r>
            <a:r>
              <a:rPr kumimoji="0" lang="en-US" altLang="en-US" sz="1800" b="0" i="0" u="none" strike="noStrike" cap="none" normalizeH="0" baseline="0" dirty="0">
                <a:ln>
                  <a:noFill/>
                </a:ln>
                <a:solidFill>
                  <a:schemeClr val="tx1"/>
                </a:solidFill>
                <a:effectLst/>
              </a:rPr>
              <a:t> </a:t>
            </a:r>
          </a:p>
          <a:p>
            <a:pPr>
              <a:lnSpc>
                <a:spcPct val="100000"/>
              </a:lnSpc>
            </a:pPr>
            <a:r>
              <a:rPr lang="en-US" sz="1800" dirty="0">
                <a:solidFill>
                  <a:srgbClr val="000000"/>
                </a:solidFill>
              </a:rPr>
              <a:t>When a program is loaded into the memory and it becomes a process, it can be divided into four sections ─ stack, heap, text and data. The following image shows a simplified layout of a process inside main memory −</a:t>
            </a:r>
            <a:endParaRPr kumimoji="0" lang="en-US" altLang="en-US" sz="1800" b="0" i="0" u="none" strike="noStrike" cap="none" normalizeH="0" baseline="0" dirty="0">
              <a:ln>
                <a:noFill/>
              </a:ln>
              <a:solidFill>
                <a:schemeClr val="tx1"/>
              </a:solidFill>
              <a:effectLst/>
            </a:endParaRPr>
          </a:p>
        </p:txBody>
      </p:sp>
      <p:pic>
        <p:nvPicPr>
          <p:cNvPr id="1027" name="Picture 3" descr="Process Components">
            <a:extLst>
              <a:ext uri="{FF2B5EF4-FFF2-40B4-BE49-F238E27FC236}">
                <a16:creationId xmlns:a16="http://schemas.microsoft.com/office/drawing/2014/main" id="{03E5D872-DF16-434B-9E6F-4C910C7C1B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4067" y="3552107"/>
            <a:ext cx="2724150" cy="3240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6249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9ACB8-8D11-4215-84E5-D99EA920C8BA}"/>
              </a:ext>
            </a:extLst>
          </p:cNvPr>
          <p:cNvSpPr>
            <a:spLocks noGrp="1"/>
          </p:cNvSpPr>
          <p:nvPr>
            <p:ph type="title"/>
          </p:nvPr>
        </p:nvSpPr>
        <p:spPr/>
        <p:txBody>
          <a:bodyPr>
            <a:normAutofit/>
          </a:bodyPr>
          <a:lstStyle/>
          <a:p>
            <a:r>
              <a:rPr lang="en-US" altLang="en-US" sz="4800" cap="none" dirty="0">
                <a:cs typeface="Arial" panose="020B0604020202020204" pitchFamily="34" charset="0"/>
              </a:rPr>
              <a:t>Process</a:t>
            </a:r>
            <a:endParaRPr lang="en-IN" sz="4800" dirty="0"/>
          </a:p>
        </p:txBody>
      </p:sp>
      <p:graphicFrame>
        <p:nvGraphicFramePr>
          <p:cNvPr id="4" name="Content Placeholder 3">
            <a:extLst>
              <a:ext uri="{FF2B5EF4-FFF2-40B4-BE49-F238E27FC236}">
                <a16:creationId xmlns:a16="http://schemas.microsoft.com/office/drawing/2014/main" id="{EB9E7CB9-6522-465A-8E65-64A1F5D17578}"/>
              </a:ext>
            </a:extLst>
          </p:cNvPr>
          <p:cNvGraphicFramePr>
            <a:graphicFrameLocks noGrp="1"/>
          </p:cNvGraphicFramePr>
          <p:nvPr>
            <p:ph idx="1"/>
            <p:extLst>
              <p:ext uri="{D42A27DB-BD31-4B8C-83A1-F6EECF244321}">
                <p14:modId xmlns:p14="http://schemas.microsoft.com/office/powerpoint/2010/main" val="1373263292"/>
              </p:ext>
            </p:extLst>
          </p:nvPr>
        </p:nvGraphicFramePr>
        <p:xfrm>
          <a:off x="905069" y="2193925"/>
          <a:ext cx="9795589" cy="4078196"/>
        </p:xfrm>
        <a:graphic>
          <a:graphicData uri="http://schemas.openxmlformats.org/drawingml/2006/table">
            <a:tbl>
              <a:tblPr/>
              <a:tblGrid>
                <a:gridCol w="994839">
                  <a:extLst>
                    <a:ext uri="{9D8B030D-6E8A-4147-A177-3AD203B41FA5}">
                      <a16:colId xmlns:a16="http://schemas.microsoft.com/office/drawing/2014/main" val="3567180703"/>
                    </a:ext>
                  </a:extLst>
                </a:gridCol>
                <a:gridCol w="8800750">
                  <a:extLst>
                    <a:ext uri="{9D8B030D-6E8A-4147-A177-3AD203B41FA5}">
                      <a16:colId xmlns:a16="http://schemas.microsoft.com/office/drawing/2014/main" val="2774238275"/>
                    </a:ext>
                  </a:extLst>
                </a:gridCol>
              </a:tblGrid>
              <a:tr h="884464">
                <a:tc>
                  <a:txBody>
                    <a:bodyPr/>
                    <a:lstStyle/>
                    <a:p>
                      <a:pPr fontAlgn="t"/>
                      <a:r>
                        <a:rPr lang="en-IN" sz="1800" dirty="0">
                          <a:effectLst/>
                        </a:rPr>
                        <a:t>S.N.</a:t>
                      </a:r>
                    </a:p>
                  </a:txBody>
                  <a:tcPr marL="44223" marR="44223" marT="44223" marB="4422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800" dirty="0">
                          <a:effectLst/>
                        </a:rPr>
                        <a:t>Component &amp; Description</a:t>
                      </a:r>
                    </a:p>
                  </a:txBody>
                  <a:tcPr marL="44223" marR="44223" marT="44223" marB="4422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655081264"/>
                  </a:ext>
                </a:extLst>
              </a:tr>
              <a:tr h="884464">
                <a:tc>
                  <a:txBody>
                    <a:bodyPr/>
                    <a:lstStyle/>
                    <a:p>
                      <a:pPr fontAlgn="t"/>
                      <a:r>
                        <a:rPr lang="en-IN" sz="1800">
                          <a:effectLst/>
                        </a:rPr>
                        <a:t>1</a:t>
                      </a:r>
                    </a:p>
                  </a:txBody>
                  <a:tcPr marL="44223" marR="44223" marT="44223" marB="4422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800" b="1" dirty="0">
                          <a:solidFill>
                            <a:srgbClr val="000000"/>
                          </a:solidFill>
                          <a:effectLst/>
                        </a:rPr>
                        <a:t>Stack</a:t>
                      </a:r>
                      <a:endParaRPr lang="en-US" sz="1800" dirty="0">
                        <a:solidFill>
                          <a:srgbClr val="000000"/>
                        </a:solidFill>
                        <a:effectLst/>
                      </a:endParaRPr>
                    </a:p>
                    <a:p>
                      <a:pPr algn="just" fontAlgn="t"/>
                      <a:r>
                        <a:rPr lang="en-US" sz="1800" dirty="0">
                          <a:solidFill>
                            <a:srgbClr val="000000"/>
                          </a:solidFill>
                          <a:effectLst/>
                        </a:rPr>
                        <a:t>The process Stack contains the temporary data such as method/function parameters, return address and local variables.</a:t>
                      </a:r>
                    </a:p>
                  </a:txBody>
                  <a:tcPr marL="44223" marR="44223" marT="44223" marB="4422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50398786"/>
                  </a:ext>
                </a:extLst>
              </a:tr>
              <a:tr h="685460">
                <a:tc>
                  <a:txBody>
                    <a:bodyPr/>
                    <a:lstStyle/>
                    <a:p>
                      <a:pPr fontAlgn="t"/>
                      <a:r>
                        <a:rPr lang="en-IN" sz="1800">
                          <a:effectLst/>
                        </a:rPr>
                        <a:t>2</a:t>
                      </a:r>
                    </a:p>
                  </a:txBody>
                  <a:tcPr marL="44223" marR="44223" marT="44223" marB="4422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800" b="1" dirty="0">
                          <a:solidFill>
                            <a:srgbClr val="000000"/>
                          </a:solidFill>
                          <a:effectLst/>
                        </a:rPr>
                        <a:t>Heap</a:t>
                      </a:r>
                      <a:endParaRPr lang="en-US" sz="1800" dirty="0">
                        <a:solidFill>
                          <a:srgbClr val="000000"/>
                        </a:solidFill>
                        <a:effectLst/>
                      </a:endParaRPr>
                    </a:p>
                    <a:p>
                      <a:pPr algn="just" fontAlgn="t"/>
                      <a:r>
                        <a:rPr lang="en-US" sz="1800" dirty="0">
                          <a:solidFill>
                            <a:srgbClr val="000000"/>
                          </a:solidFill>
                          <a:effectLst/>
                        </a:rPr>
                        <a:t>This is dynamically allocated memory to a process during its run time.</a:t>
                      </a:r>
                    </a:p>
                  </a:txBody>
                  <a:tcPr marL="44223" marR="44223" marT="44223" marB="4422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01355505"/>
                  </a:ext>
                </a:extLst>
              </a:tr>
              <a:tr h="884464">
                <a:tc>
                  <a:txBody>
                    <a:bodyPr/>
                    <a:lstStyle/>
                    <a:p>
                      <a:pPr fontAlgn="t"/>
                      <a:r>
                        <a:rPr lang="en-IN" sz="1800">
                          <a:effectLst/>
                        </a:rPr>
                        <a:t>3</a:t>
                      </a:r>
                    </a:p>
                  </a:txBody>
                  <a:tcPr marL="44223" marR="44223" marT="44223" marB="4422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800" b="1" dirty="0">
                          <a:solidFill>
                            <a:srgbClr val="000000"/>
                          </a:solidFill>
                          <a:effectLst/>
                        </a:rPr>
                        <a:t>Text</a:t>
                      </a:r>
                      <a:endParaRPr lang="en-US" sz="1800" dirty="0">
                        <a:solidFill>
                          <a:srgbClr val="000000"/>
                        </a:solidFill>
                        <a:effectLst/>
                      </a:endParaRPr>
                    </a:p>
                    <a:p>
                      <a:pPr algn="just" fontAlgn="t"/>
                      <a:r>
                        <a:rPr lang="en-US" sz="1800" dirty="0">
                          <a:solidFill>
                            <a:srgbClr val="000000"/>
                          </a:solidFill>
                          <a:effectLst/>
                        </a:rPr>
                        <a:t>This includes the current activity represented by the value of Program Counter and the contents of the processor's registers.</a:t>
                      </a:r>
                    </a:p>
                  </a:txBody>
                  <a:tcPr marL="44223" marR="44223" marT="44223" marB="4422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031978"/>
                  </a:ext>
                </a:extLst>
              </a:tr>
              <a:tr h="685460">
                <a:tc>
                  <a:txBody>
                    <a:bodyPr/>
                    <a:lstStyle/>
                    <a:p>
                      <a:pPr fontAlgn="t"/>
                      <a:r>
                        <a:rPr lang="en-IN" sz="1800">
                          <a:effectLst/>
                        </a:rPr>
                        <a:t>4</a:t>
                      </a:r>
                    </a:p>
                  </a:txBody>
                  <a:tcPr marL="44223" marR="44223" marT="44223" marB="4422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800" b="1" dirty="0">
                          <a:solidFill>
                            <a:srgbClr val="000000"/>
                          </a:solidFill>
                          <a:effectLst/>
                        </a:rPr>
                        <a:t>Data</a:t>
                      </a:r>
                      <a:endParaRPr lang="en-US" sz="1800" dirty="0">
                        <a:solidFill>
                          <a:srgbClr val="000000"/>
                        </a:solidFill>
                        <a:effectLst/>
                      </a:endParaRPr>
                    </a:p>
                    <a:p>
                      <a:pPr algn="just" fontAlgn="t"/>
                      <a:r>
                        <a:rPr lang="en-US" sz="1800" dirty="0">
                          <a:solidFill>
                            <a:srgbClr val="000000"/>
                          </a:solidFill>
                          <a:effectLst/>
                        </a:rPr>
                        <a:t>This section contains the global and static variables.</a:t>
                      </a:r>
                    </a:p>
                  </a:txBody>
                  <a:tcPr marL="44223" marR="44223" marT="44223" marB="4422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8873357"/>
                  </a:ext>
                </a:extLst>
              </a:tr>
            </a:tbl>
          </a:graphicData>
        </a:graphic>
      </p:graphicFrame>
    </p:spTree>
    <p:extLst>
      <p:ext uri="{BB962C8B-B14F-4D97-AF65-F5344CB8AC3E}">
        <p14:creationId xmlns:p14="http://schemas.microsoft.com/office/powerpoint/2010/main" val="3251161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8B5FA-12C3-4681-BE10-67AF1177BBD5}"/>
              </a:ext>
            </a:extLst>
          </p:cNvPr>
          <p:cNvSpPr>
            <a:spLocks noGrp="1"/>
          </p:cNvSpPr>
          <p:nvPr>
            <p:ph type="title"/>
          </p:nvPr>
        </p:nvSpPr>
        <p:spPr/>
        <p:txBody>
          <a:bodyPr/>
          <a:lstStyle/>
          <a:p>
            <a:r>
              <a:rPr lang="en-IN" dirty="0"/>
              <a:t>Process life cycle</a:t>
            </a:r>
          </a:p>
        </p:txBody>
      </p:sp>
      <p:sp>
        <p:nvSpPr>
          <p:cNvPr id="3" name="Content Placeholder 2">
            <a:extLst>
              <a:ext uri="{FF2B5EF4-FFF2-40B4-BE49-F238E27FC236}">
                <a16:creationId xmlns:a16="http://schemas.microsoft.com/office/drawing/2014/main" id="{9D41F682-2D52-4E2F-B968-46E370098968}"/>
              </a:ext>
            </a:extLst>
          </p:cNvPr>
          <p:cNvSpPr>
            <a:spLocks noGrp="1"/>
          </p:cNvSpPr>
          <p:nvPr>
            <p:ph idx="1"/>
          </p:nvPr>
        </p:nvSpPr>
        <p:spPr>
          <a:xfrm>
            <a:off x="685800" y="1961294"/>
            <a:ext cx="10820400" cy="4024125"/>
          </a:xfrm>
        </p:spPr>
        <p:txBody>
          <a:bodyPr/>
          <a:lstStyle/>
          <a:p>
            <a:r>
              <a:rPr lang="en-US" dirty="0"/>
              <a:t>When a process executes, it passes through different states. These stages may differ in different operating systems, and the names of these states are also not standardized.</a:t>
            </a:r>
          </a:p>
          <a:p>
            <a:r>
              <a:rPr lang="en-US" dirty="0"/>
              <a:t>In general, a process can have one of the following five states at a time.</a:t>
            </a:r>
          </a:p>
          <a:p>
            <a:endParaRPr lang="en-IN" dirty="0"/>
          </a:p>
        </p:txBody>
      </p:sp>
      <p:pic>
        <p:nvPicPr>
          <p:cNvPr id="3074" name="Picture 2" descr="Process States">
            <a:extLst>
              <a:ext uri="{FF2B5EF4-FFF2-40B4-BE49-F238E27FC236}">
                <a16:creationId xmlns:a16="http://schemas.microsoft.com/office/drawing/2014/main" id="{32883FF1-26F5-4DB1-B7D9-AE6D803484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1076" y="3936943"/>
            <a:ext cx="7160725" cy="2398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046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896E1-CDAF-47FA-B6CE-4D95D0AE523F}"/>
              </a:ext>
            </a:extLst>
          </p:cNvPr>
          <p:cNvSpPr>
            <a:spLocks noGrp="1"/>
          </p:cNvSpPr>
          <p:nvPr>
            <p:ph type="title"/>
          </p:nvPr>
        </p:nvSpPr>
        <p:spPr/>
        <p:txBody>
          <a:bodyPr/>
          <a:lstStyle/>
          <a:p>
            <a:r>
              <a:rPr lang="en-IN" dirty="0"/>
              <a:t>Process life cycle</a:t>
            </a:r>
          </a:p>
        </p:txBody>
      </p:sp>
      <p:graphicFrame>
        <p:nvGraphicFramePr>
          <p:cNvPr id="4" name="Content Placeholder 3">
            <a:extLst>
              <a:ext uri="{FF2B5EF4-FFF2-40B4-BE49-F238E27FC236}">
                <a16:creationId xmlns:a16="http://schemas.microsoft.com/office/drawing/2014/main" id="{126ADDC6-FB00-4444-BDF5-D5D5C42D867A}"/>
              </a:ext>
            </a:extLst>
          </p:cNvPr>
          <p:cNvGraphicFramePr>
            <a:graphicFrameLocks noGrp="1"/>
          </p:cNvGraphicFramePr>
          <p:nvPr>
            <p:ph idx="1"/>
            <p:extLst>
              <p:ext uri="{D42A27DB-BD31-4B8C-83A1-F6EECF244321}">
                <p14:modId xmlns:p14="http://schemas.microsoft.com/office/powerpoint/2010/main" val="4219807631"/>
              </p:ext>
            </p:extLst>
          </p:nvPr>
        </p:nvGraphicFramePr>
        <p:xfrm>
          <a:off x="513184" y="1979321"/>
          <a:ext cx="10993016" cy="4546134"/>
        </p:xfrm>
        <a:graphic>
          <a:graphicData uri="http://schemas.openxmlformats.org/drawingml/2006/table">
            <a:tbl>
              <a:tblPr/>
              <a:tblGrid>
                <a:gridCol w="869277">
                  <a:extLst>
                    <a:ext uri="{9D8B030D-6E8A-4147-A177-3AD203B41FA5}">
                      <a16:colId xmlns:a16="http://schemas.microsoft.com/office/drawing/2014/main" val="1483204486"/>
                    </a:ext>
                  </a:extLst>
                </a:gridCol>
                <a:gridCol w="10123739">
                  <a:extLst>
                    <a:ext uri="{9D8B030D-6E8A-4147-A177-3AD203B41FA5}">
                      <a16:colId xmlns:a16="http://schemas.microsoft.com/office/drawing/2014/main" val="833921401"/>
                    </a:ext>
                  </a:extLst>
                </a:gridCol>
              </a:tblGrid>
              <a:tr h="564816">
                <a:tc>
                  <a:txBody>
                    <a:bodyPr/>
                    <a:lstStyle/>
                    <a:p>
                      <a:pPr fontAlgn="t"/>
                      <a:r>
                        <a:rPr lang="en-IN" sz="1600">
                          <a:effectLst/>
                        </a:rPr>
                        <a:t>S.N.</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600" dirty="0">
                          <a:effectLst/>
                        </a:rPr>
                        <a:t>State &amp; Description</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138828435"/>
                  </a:ext>
                </a:extLst>
              </a:tr>
              <a:tr h="437732">
                <a:tc>
                  <a:txBody>
                    <a:bodyPr/>
                    <a:lstStyle/>
                    <a:p>
                      <a:pPr fontAlgn="t"/>
                      <a:r>
                        <a:rPr lang="en-IN" sz="1600">
                          <a:effectLst/>
                        </a:rPr>
                        <a:t>1</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600" b="1" dirty="0">
                          <a:solidFill>
                            <a:srgbClr val="000000"/>
                          </a:solidFill>
                          <a:effectLst/>
                        </a:rPr>
                        <a:t>Start</a:t>
                      </a:r>
                      <a:endParaRPr lang="en-US" sz="1600" dirty="0">
                        <a:solidFill>
                          <a:srgbClr val="000000"/>
                        </a:solidFill>
                        <a:effectLst/>
                      </a:endParaRPr>
                    </a:p>
                    <a:p>
                      <a:pPr algn="just" fontAlgn="t"/>
                      <a:r>
                        <a:rPr lang="en-US" sz="1600" dirty="0">
                          <a:solidFill>
                            <a:srgbClr val="000000"/>
                          </a:solidFill>
                          <a:effectLst/>
                        </a:rPr>
                        <a:t>This is the initial state when a process is first started/created.</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85139664"/>
                  </a:ext>
                </a:extLst>
              </a:tr>
              <a:tr h="1073150">
                <a:tc>
                  <a:txBody>
                    <a:bodyPr/>
                    <a:lstStyle/>
                    <a:p>
                      <a:pPr fontAlgn="t"/>
                      <a:r>
                        <a:rPr lang="en-IN" sz="1600">
                          <a:effectLst/>
                        </a:rPr>
                        <a:t>2</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600" b="1" dirty="0">
                          <a:solidFill>
                            <a:srgbClr val="000000"/>
                          </a:solidFill>
                          <a:effectLst/>
                        </a:rPr>
                        <a:t>Ready</a:t>
                      </a:r>
                      <a:endParaRPr lang="en-US" sz="1600" dirty="0">
                        <a:solidFill>
                          <a:srgbClr val="000000"/>
                        </a:solidFill>
                        <a:effectLst/>
                      </a:endParaRPr>
                    </a:p>
                    <a:p>
                      <a:pPr algn="just" fontAlgn="t"/>
                      <a:r>
                        <a:rPr lang="en-US" sz="1600" dirty="0">
                          <a:solidFill>
                            <a:srgbClr val="000000"/>
                          </a:solidFill>
                          <a:effectLst/>
                        </a:rPr>
                        <a:t>The process is waiting to be assigned to a processor. Ready processes are waiting to have the processor allocated to them by the operating system so that they can run. Process may come into this state after </a:t>
                      </a:r>
                      <a:r>
                        <a:rPr lang="en-US" sz="1600" b="1" dirty="0">
                          <a:solidFill>
                            <a:srgbClr val="000000"/>
                          </a:solidFill>
                          <a:effectLst/>
                        </a:rPr>
                        <a:t>Start</a:t>
                      </a:r>
                      <a:r>
                        <a:rPr lang="en-US" sz="1600" dirty="0">
                          <a:solidFill>
                            <a:srgbClr val="000000"/>
                          </a:solidFill>
                          <a:effectLst/>
                        </a:rPr>
                        <a:t> state or while running it by but interrupted by the scheduler to assign CPU to some other process.</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21616123"/>
                  </a:ext>
                </a:extLst>
              </a:tr>
              <a:tr h="691899">
                <a:tc>
                  <a:txBody>
                    <a:bodyPr/>
                    <a:lstStyle/>
                    <a:p>
                      <a:pPr fontAlgn="t"/>
                      <a:r>
                        <a:rPr lang="en-IN" sz="1600">
                          <a:effectLst/>
                        </a:rPr>
                        <a:t>3</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600" b="1" dirty="0">
                          <a:solidFill>
                            <a:srgbClr val="000000"/>
                          </a:solidFill>
                          <a:effectLst/>
                        </a:rPr>
                        <a:t>Running</a:t>
                      </a:r>
                      <a:endParaRPr lang="en-US" sz="1600" dirty="0">
                        <a:solidFill>
                          <a:srgbClr val="000000"/>
                        </a:solidFill>
                        <a:effectLst/>
                      </a:endParaRPr>
                    </a:p>
                    <a:p>
                      <a:pPr algn="just" fontAlgn="t"/>
                      <a:r>
                        <a:rPr lang="en-US" sz="1600" dirty="0">
                          <a:solidFill>
                            <a:srgbClr val="000000"/>
                          </a:solidFill>
                          <a:effectLst/>
                        </a:rPr>
                        <a:t>Once the process has been assigned to a processor by the OS scheduler, the process state is set to running and the processor executes its instructions.</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74514219"/>
                  </a:ext>
                </a:extLst>
              </a:tr>
              <a:tr h="564816">
                <a:tc>
                  <a:txBody>
                    <a:bodyPr/>
                    <a:lstStyle/>
                    <a:p>
                      <a:pPr fontAlgn="t"/>
                      <a:r>
                        <a:rPr lang="en-IN" sz="1600">
                          <a:effectLst/>
                        </a:rPr>
                        <a:t>4</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600" b="1" dirty="0">
                          <a:solidFill>
                            <a:srgbClr val="000000"/>
                          </a:solidFill>
                          <a:effectLst/>
                        </a:rPr>
                        <a:t>Waiting</a:t>
                      </a:r>
                      <a:endParaRPr lang="en-US" sz="1600" dirty="0">
                        <a:solidFill>
                          <a:srgbClr val="000000"/>
                        </a:solidFill>
                        <a:effectLst/>
                      </a:endParaRPr>
                    </a:p>
                    <a:p>
                      <a:pPr algn="just" fontAlgn="t"/>
                      <a:r>
                        <a:rPr lang="en-US" sz="1600" dirty="0">
                          <a:solidFill>
                            <a:srgbClr val="000000"/>
                          </a:solidFill>
                          <a:effectLst/>
                        </a:rPr>
                        <a:t>Process moves into the waiting state if it needs to wait for a resource, such as waiting for user input, or waiting for a file to become available.</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14806942"/>
                  </a:ext>
                </a:extLst>
              </a:tr>
              <a:tr h="691899">
                <a:tc>
                  <a:txBody>
                    <a:bodyPr/>
                    <a:lstStyle/>
                    <a:p>
                      <a:pPr fontAlgn="t"/>
                      <a:r>
                        <a:rPr lang="en-IN" sz="1600" dirty="0">
                          <a:effectLst/>
                        </a:rPr>
                        <a:t>5</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600" b="1" dirty="0">
                          <a:solidFill>
                            <a:srgbClr val="000000"/>
                          </a:solidFill>
                          <a:effectLst/>
                        </a:rPr>
                        <a:t>Terminated or Exit</a:t>
                      </a:r>
                      <a:endParaRPr lang="en-US" sz="1600" dirty="0">
                        <a:solidFill>
                          <a:srgbClr val="000000"/>
                        </a:solidFill>
                        <a:effectLst/>
                      </a:endParaRPr>
                    </a:p>
                    <a:p>
                      <a:pPr algn="just" fontAlgn="t"/>
                      <a:r>
                        <a:rPr lang="en-US" sz="1600" dirty="0">
                          <a:solidFill>
                            <a:srgbClr val="000000"/>
                          </a:solidFill>
                          <a:effectLst/>
                        </a:rPr>
                        <a:t>Once the process finishes its execution, or it is terminated by the operating system, it is moved to the terminated state where it waits to be removed from main memory.</a:t>
                      </a:r>
                    </a:p>
                  </a:txBody>
                  <a:tcPr marL="28241" marR="28241" marT="28241" marB="282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866350632"/>
                  </a:ext>
                </a:extLst>
              </a:tr>
            </a:tbl>
          </a:graphicData>
        </a:graphic>
      </p:graphicFrame>
    </p:spTree>
    <p:extLst>
      <p:ext uri="{BB962C8B-B14F-4D97-AF65-F5344CB8AC3E}">
        <p14:creationId xmlns:p14="http://schemas.microsoft.com/office/powerpoint/2010/main" val="419442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6A82-C9C3-41BA-BBD6-5F206C3BE137}"/>
              </a:ext>
            </a:extLst>
          </p:cNvPr>
          <p:cNvSpPr>
            <a:spLocks noGrp="1"/>
          </p:cNvSpPr>
          <p:nvPr>
            <p:ph type="title"/>
          </p:nvPr>
        </p:nvSpPr>
        <p:spPr/>
        <p:txBody>
          <a:bodyPr>
            <a:normAutofit fontScale="90000"/>
          </a:bodyPr>
          <a:lstStyle/>
          <a:p>
            <a:r>
              <a:rPr lang="en-US" dirty="0"/>
              <a:t>Process Control Block (PCB)</a:t>
            </a:r>
            <a:br>
              <a:rPr lang="en-US" dirty="0"/>
            </a:br>
            <a:endParaRPr lang="en-IN" dirty="0"/>
          </a:p>
        </p:txBody>
      </p:sp>
      <p:sp>
        <p:nvSpPr>
          <p:cNvPr id="3" name="Content Placeholder 2">
            <a:extLst>
              <a:ext uri="{FF2B5EF4-FFF2-40B4-BE49-F238E27FC236}">
                <a16:creationId xmlns:a16="http://schemas.microsoft.com/office/drawing/2014/main" id="{ECE9F79E-4BAB-4084-A813-70FD42384025}"/>
              </a:ext>
            </a:extLst>
          </p:cNvPr>
          <p:cNvSpPr>
            <a:spLocks noGrp="1"/>
          </p:cNvSpPr>
          <p:nvPr>
            <p:ph idx="1"/>
          </p:nvPr>
        </p:nvSpPr>
        <p:spPr/>
        <p:txBody>
          <a:bodyPr/>
          <a:lstStyle/>
          <a:p>
            <a:r>
              <a:rPr lang="en-US" dirty="0"/>
              <a:t>A Process Control Block is a data structure maintained by the Operating System for every process. The PCB is identified by an integer process ID (PID). A PCB keeps all the information needed to keep track of a process as listed below in the table −</a:t>
            </a:r>
          </a:p>
          <a:p>
            <a:endParaRPr lang="en-IN" dirty="0"/>
          </a:p>
        </p:txBody>
      </p:sp>
    </p:spTree>
    <p:extLst>
      <p:ext uri="{BB962C8B-B14F-4D97-AF65-F5344CB8AC3E}">
        <p14:creationId xmlns:p14="http://schemas.microsoft.com/office/powerpoint/2010/main" val="3173438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6A82-C9C3-41BA-BBD6-5F206C3BE137}"/>
              </a:ext>
            </a:extLst>
          </p:cNvPr>
          <p:cNvSpPr>
            <a:spLocks noGrp="1"/>
          </p:cNvSpPr>
          <p:nvPr>
            <p:ph type="title"/>
          </p:nvPr>
        </p:nvSpPr>
        <p:spPr>
          <a:xfrm>
            <a:off x="2895600" y="269850"/>
            <a:ext cx="8610600" cy="1293028"/>
          </a:xfrm>
        </p:spPr>
        <p:txBody>
          <a:bodyPr>
            <a:normAutofit fontScale="90000"/>
          </a:bodyPr>
          <a:lstStyle/>
          <a:p>
            <a:r>
              <a:rPr lang="en-US" dirty="0"/>
              <a:t>Process Control Block (PCB)</a:t>
            </a:r>
            <a:br>
              <a:rPr lang="en-US" dirty="0"/>
            </a:br>
            <a:endParaRPr lang="en-IN" dirty="0"/>
          </a:p>
        </p:txBody>
      </p:sp>
      <p:graphicFrame>
        <p:nvGraphicFramePr>
          <p:cNvPr id="6" name="Content Placeholder 5">
            <a:extLst>
              <a:ext uri="{FF2B5EF4-FFF2-40B4-BE49-F238E27FC236}">
                <a16:creationId xmlns:a16="http://schemas.microsoft.com/office/drawing/2014/main" id="{3D8598D6-BE43-4583-B3B5-D3AE1A103230}"/>
              </a:ext>
            </a:extLst>
          </p:cNvPr>
          <p:cNvGraphicFramePr>
            <a:graphicFrameLocks noGrp="1"/>
          </p:cNvGraphicFramePr>
          <p:nvPr>
            <p:ph idx="1"/>
            <p:extLst>
              <p:ext uri="{D42A27DB-BD31-4B8C-83A1-F6EECF244321}">
                <p14:modId xmlns:p14="http://schemas.microsoft.com/office/powerpoint/2010/main" val="585226343"/>
              </p:ext>
            </p:extLst>
          </p:nvPr>
        </p:nvGraphicFramePr>
        <p:xfrm>
          <a:off x="446314" y="1401109"/>
          <a:ext cx="11299371" cy="5187041"/>
        </p:xfrm>
        <a:graphic>
          <a:graphicData uri="http://schemas.openxmlformats.org/drawingml/2006/table">
            <a:tbl>
              <a:tblPr/>
              <a:tblGrid>
                <a:gridCol w="492376">
                  <a:extLst>
                    <a:ext uri="{9D8B030D-6E8A-4147-A177-3AD203B41FA5}">
                      <a16:colId xmlns:a16="http://schemas.microsoft.com/office/drawing/2014/main" val="2509077646"/>
                    </a:ext>
                  </a:extLst>
                </a:gridCol>
                <a:gridCol w="10806995">
                  <a:extLst>
                    <a:ext uri="{9D8B030D-6E8A-4147-A177-3AD203B41FA5}">
                      <a16:colId xmlns:a16="http://schemas.microsoft.com/office/drawing/2014/main" val="622721771"/>
                    </a:ext>
                  </a:extLst>
                </a:gridCol>
              </a:tblGrid>
              <a:tr h="459921">
                <a:tc>
                  <a:txBody>
                    <a:bodyPr/>
                    <a:lstStyle/>
                    <a:p>
                      <a:pPr fontAlgn="t"/>
                      <a:r>
                        <a:rPr lang="en-IN" sz="1800" dirty="0">
                          <a:effectLst/>
                        </a:rPr>
                        <a:t>S.N.</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800" dirty="0">
                          <a:effectLst/>
                        </a:rPr>
                        <a:t>Information &amp; Description</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573848639"/>
                  </a:ext>
                </a:extLst>
              </a:tr>
              <a:tr h="356439">
                <a:tc>
                  <a:txBody>
                    <a:bodyPr/>
                    <a:lstStyle/>
                    <a:p>
                      <a:pPr fontAlgn="t"/>
                      <a:r>
                        <a:rPr lang="en-IN" sz="1400">
                          <a:effectLst/>
                        </a:rPr>
                        <a:t>1</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400" b="1">
                          <a:solidFill>
                            <a:srgbClr val="000000"/>
                          </a:solidFill>
                          <a:effectLst/>
                        </a:rPr>
                        <a:t>Process State</a:t>
                      </a:r>
                      <a:endParaRPr lang="en-US" sz="1400">
                        <a:solidFill>
                          <a:srgbClr val="000000"/>
                        </a:solidFill>
                        <a:effectLst/>
                      </a:endParaRPr>
                    </a:p>
                    <a:p>
                      <a:pPr algn="just" fontAlgn="t"/>
                      <a:r>
                        <a:rPr lang="en-US" sz="1400">
                          <a:solidFill>
                            <a:srgbClr val="000000"/>
                          </a:solidFill>
                          <a:effectLst/>
                        </a:rPr>
                        <a:t>The current state of the process i.e., whether it is ready, running, waiting, or whatever.</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1167208"/>
                  </a:ext>
                </a:extLst>
              </a:tr>
              <a:tr h="356439">
                <a:tc>
                  <a:txBody>
                    <a:bodyPr/>
                    <a:lstStyle/>
                    <a:p>
                      <a:pPr fontAlgn="t"/>
                      <a:r>
                        <a:rPr lang="en-IN" sz="1400">
                          <a:effectLst/>
                        </a:rPr>
                        <a:t>2</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400" b="1">
                          <a:solidFill>
                            <a:srgbClr val="000000"/>
                          </a:solidFill>
                          <a:effectLst/>
                        </a:rPr>
                        <a:t>Process privileges</a:t>
                      </a:r>
                      <a:endParaRPr lang="en-US" sz="1400">
                        <a:solidFill>
                          <a:srgbClr val="000000"/>
                        </a:solidFill>
                        <a:effectLst/>
                      </a:endParaRPr>
                    </a:p>
                    <a:p>
                      <a:pPr algn="just" fontAlgn="t"/>
                      <a:r>
                        <a:rPr lang="en-US" sz="1400">
                          <a:solidFill>
                            <a:srgbClr val="000000"/>
                          </a:solidFill>
                          <a:effectLst/>
                        </a:rPr>
                        <a:t>This is required to allow/disallow access to system resources.</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70284274"/>
                  </a:ext>
                </a:extLst>
              </a:tr>
              <a:tr h="356439">
                <a:tc>
                  <a:txBody>
                    <a:bodyPr/>
                    <a:lstStyle/>
                    <a:p>
                      <a:pPr fontAlgn="t"/>
                      <a:r>
                        <a:rPr lang="en-IN" sz="1400">
                          <a:effectLst/>
                        </a:rPr>
                        <a:t>3</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400" b="1">
                          <a:solidFill>
                            <a:srgbClr val="000000"/>
                          </a:solidFill>
                          <a:effectLst/>
                        </a:rPr>
                        <a:t>Process ID</a:t>
                      </a:r>
                      <a:endParaRPr lang="en-US" sz="1400">
                        <a:solidFill>
                          <a:srgbClr val="000000"/>
                        </a:solidFill>
                        <a:effectLst/>
                      </a:endParaRPr>
                    </a:p>
                    <a:p>
                      <a:pPr algn="just" fontAlgn="t"/>
                      <a:r>
                        <a:rPr lang="en-US" sz="1400">
                          <a:solidFill>
                            <a:srgbClr val="000000"/>
                          </a:solidFill>
                          <a:effectLst/>
                        </a:rPr>
                        <a:t>Unique identification for each of the process in the operating system.</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80281231"/>
                  </a:ext>
                </a:extLst>
              </a:tr>
              <a:tr h="252957">
                <a:tc>
                  <a:txBody>
                    <a:bodyPr/>
                    <a:lstStyle/>
                    <a:p>
                      <a:pPr fontAlgn="t"/>
                      <a:r>
                        <a:rPr lang="en-IN" sz="1400">
                          <a:effectLst/>
                        </a:rPr>
                        <a:t>4</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400" b="1" dirty="0">
                          <a:solidFill>
                            <a:srgbClr val="000000"/>
                          </a:solidFill>
                          <a:effectLst/>
                        </a:rPr>
                        <a:t>Pointer</a:t>
                      </a:r>
                      <a:endParaRPr lang="en-US" sz="1400" dirty="0">
                        <a:solidFill>
                          <a:srgbClr val="000000"/>
                        </a:solidFill>
                        <a:effectLst/>
                      </a:endParaRPr>
                    </a:p>
                    <a:p>
                      <a:pPr algn="just" fontAlgn="t"/>
                      <a:r>
                        <a:rPr lang="en-US" sz="1400" dirty="0">
                          <a:solidFill>
                            <a:srgbClr val="000000"/>
                          </a:solidFill>
                          <a:effectLst/>
                        </a:rPr>
                        <a:t>A pointer to parent process.</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90942808"/>
                  </a:ext>
                </a:extLst>
              </a:tr>
              <a:tr h="356439">
                <a:tc>
                  <a:txBody>
                    <a:bodyPr/>
                    <a:lstStyle/>
                    <a:p>
                      <a:pPr fontAlgn="t"/>
                      <a:r>
                        <a:rPr lang="en-IN" sz="1400">
                          <a:effectLst/>
                        </a:rPr>
                        <a:t>5</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400" b="1">
                          <a:solidFill>
                            <a:srgbClr val="000000"/>
                          </a:solidFill>
                          <a:effectLst/>
                        </a:rPr>
                        <a:t>Program Counter</a:t>
                      </a:r>
                      <a:endParaRPr lang="en-US" sz="1400">
                        <a:solidFill>
                          <a:srgbClr val="000000"/>
                        </a:solidFill>
                        <a:effectLst/>
                      </a:endParaRPr>
                    </a:p>
                    <a:p>
                      <a:pPr algn="just" fontAlgn="t"/>
                      <a:r>
                        <a:rPr lang="en-US" sz="1400">
                          <a:solidFill>
                            <a:srgbClr val="000000"/>
                          </a:solidFill>
                          <a:effectLst/>
                        </a:rPr>
                        <a:t>Program Counter is a pointer to the address of the next instruction to be executed for this process.</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64677542"/>
                  </a:ext>
                </a:extLst>
              </a:tr>
              <a:tr h="356439">
                <a:tc>
                  <a:txBody>
                    <a:bodyPr/>
                    <a:lstStyle/>
                    <a:p>
                      <a:pPr fontAlgn="t"/>
                      <a:r>
                        <a:rPr lang="en-IN" sz="1400">
                          <a:effectLst/>
                        </a:rPr>
                        <a:t>6</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400" b="1">
                          <a:solidFill>
                            <a:srgbClr val="000000"/>
                          </a:solidFill>
                          <a:effectLst/>
                        </a:rPr>
                        <a:t>CPU registers</a:t>
                      </a:r>
                      <a:endParaRPr lang="en-US" sz="1400">
                        <a:solidFill>
                          <a:srgbClr val="000000"/>
                        </a:solidFill>
                        <a:effectLst/>
                      </a:endParaRPr>
                    </a:p>
                    <a:p>
                      <a:pPr algn="just" fontAlgn="t"/>
                      <a:r>
                        <a:rPr lang="en-US" sz="1400">
                          <a:solidFill>
                            <a:srgbClr val="000000"/>
                          </a:solidFill>
                          <a:effectLst/>
                        </a:rPr>
                        <a:t>Various CPU registers where process need to be stored for execution for running state.</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46321915"/>
                  </a:ext>
                </a:extLst>
              </a:tr>
              <a:tr h="356439">
                <a:tc>
                  <a:txBody>
                    <a:bodyPr/>
                    <a:lstStyle/>
                    <a:p>
                      <a:pPr fontAlgn="t"/>
                      <a:r>
                        <a:rPr lang="en-IN" sz="1400">
                          <a:effectLst/>
                        </a:rPr>
                        <a:t>7</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400" b="1">
                          <a:solidFill>
                            <a:srgbClr val="000000"/>
                          </a:solidFill>
                          <a:effectLst/>
                        </a:rPr>
                        <a:t>CPU Scheduling Information</a:t>
                      </a:r>
                      <a:endParaRPr lang="en-US" sz="1400">
                        <a:solidFill>
                          <a:srgbClr val="000000"/>
                        </a:solidFill>
                        <a:effectLst/>
                      </a:endParaRPr>
                    </a:p>
                    <a:p>
                      <a:pPr algn="just" fontAlgn="t"/>
                      <a:r>
                        <a:rPr lang="en-US" sz="1400">
                          <a:solidFill>
                            <a:srgbClr val="000000"/>
                          </a:solidFill>
                          <a:effectLst/>
                        </a:rPr>
                        <a:t>Process priority and other scheduling information which is required to schedule the process.</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819260865"/>
                  </a:ext>
                </a:extLst>
              </a:tr>
              <a:tr h="459921">
                <a:tc>
                  <a:txBody>
                    <a:bodyPr/>
                    <a:lstStyle/>
                    <a:p>
                      <a:pPr fontAlgn="t"/>
                      <a:r>
                        <a:rPr lang="en-IN" sz="1400">
                          <a:effectLst/>
                        </a:rPr>
                        <a:t>8</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400" b="1">
                          <a:solidFill>
                            <a:srgbClr val="000000"/>
                          </a:solidFill>
                          <a:effectLst/>
                        </a:rPr>
                        <a:t>Memory management information</a:t>
                      </a:r>
                      <a:endParaRPr lang="en-US" sz="1400">
                        <a:solidFill>
                          <a:srgbClr val="000000"/>
                        </a:solidFill>
                        <a:effectLst/>
                      </a:endParaRPr>
                    </a:p>
                    <a:p>
                      <a:pPr algn="just" fontAlgn="t"/>
                      <a:r>
                        <a:rPr lang="en-US" sz="1400">
                          <a:solidFill>
                            <a:srgbClr val="000000"/>
                          </a:solidFill>
                          <a:effectLst/>
                        </a:rPr>
                        <a:t>This includes the information of page table, memory limits, Segment table depending on memory used by the operating system.</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35649712"/>
                  </a:ext>
                </a:extLst>
              </a:tr>
              <a:tr h="356439">
                <a:tc>
                  <a:txBody>
                    <a:bodyPr/>
                    <a:lstStyle/>
                    <a:p>
                      <a:pPr fontAlgn="t"/>
                      <a:r>
                        <a:rPr lang="en-IN" sz="1400">
                          <a:effectLst/>
                        </a:rPr>
                        <a:t>9</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400" b="1">
                          <a:solidFill>
                            <a:srgbClr val="000000"/>
                          </a:solidFill>
                          <a:effectLst/>
                        </a:rPr>
                        <a:t>Accounting information</a:t>
                      </a:r>
                      <a:endParaRPr lang="en-US" sz="1400">
                        <a:solidFill>
                          <a:srgbClr val="000000"/>
                        </a:solidFill>
                        <a:effectLst/>
                      </a:endParaRPr>
                    </a:p>
                    <a:p>
                      <a:pPr algn="just" fontAlgn="t"/>
                      <a:r>
                        <a:rPr lang="en-US" sz="1400">
                          <a:solidFill>
                            <a:srgbClr val="000000"/>
                          </a:solidFill>
                          <a:effectLst/>
                        </a:rPr>
                        <a:t>This includes the amount of CPU used for process execution, time limits, execution ID etc.</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80554062"/>
                  </a:ext>
                </a:extLst>
              </a:tr>
              <a:tr h="356439">
                <a:tc>
                  <a:txBody>
                    <a:bodyPr/>
                    <a:lstStyle/>
                    <a:p>
                      <a:pPr fontAlgn="t"/>
                      <a:r>
                        <a:rPr lang="en-IN" sz="1400">
                          <a:effectLst/>
                        </a:rPr>
                        <a:t>10</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400" b="1" dirty="0">
                          <a:solidFill>
                            <a:srgbClr val="000000"/>
                          </a:solidFill>
                          <a:effectLst/>
                        </a:rPr>
                        <a:t>IO status information</a:t>
                      </a:r>
                      <a:endParaRPr lang="en-US" sz="1400" dirty="0">
                        <a:solidFill>
                          <a:srgbClr val="000000"/>
                        </a:solidFill>
                        <a:effectLst/>
                      </a:endParaRPr>
                    </a:p>
                    <a:p>
                      <a:pPr algn="just" fontAlgn="t"/>
                      <a:r>
                        <a:rPr lang="en-US" sz="1400" dirty="0">
                          <a:solidFill>
                            <a:srgbClr val="000000"/>
                          </a:solidFill>
                          <a:effectLst/>
                        </a:rPr>
                        <a:t>This includes a list of I/O devices allocated to the process.</a:t>
                      </a:r>
                    </a:p>
                  </a:txBody>
                  <a:tcPr marL="22996" marR="22996" marT="22996" marB="2299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65330038"/>
                  </a:ext>
                </a:extLst>
              </a:tr>
            </a:tbl>
          </a:graphicData>
        </a:graphic>
      </p:graphicFrame>
      <p:pic>
        <p:nvPicPr>
          <p:cNvPr id="5122" name="Picture 2" descr="Process Control Block">
            <a:extLst>
              <a:ext uri="{FF2B5EF4-FFF2-40B4-BE49-F238E27FC236}">
                <a16:creationId xmlns:a16="http://schemas.microsoft.com/office/drawing/2014/main" id="{3EEB9D32-0B6C-4089-A6B5-BA2A4C66B2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2483" y="1246706"/>
            <a:ext cx="2600325" cy="401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6194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5334-A04C-4F3E-8428-C7F628F730C0}"/>
              </a:ext>
            </a:extLst>
          </p:cNvPr>
          <p:cNvSpPr>
            <a:spLocks noGrp="1"/>
          </p:cNvSpPr>
          <p:nvPr>
            <p:ph type="title"/>
          </p:nvPr>
        </p:nvSpPr>
        <p:spPr/>
        <p:txBody>
          <a:bodyPr/>
          <a:lstStyle/>
          <a:p>
            <a:r>
              <a:rPr lang="en-IN" dirty="0"/>
              <a:t>Process scheduling</a:t>
            </a:r>
          </a:p>
        </p:txBody>
      </p:sp>
      <p:sp>
        <p:nvSpPr>
          <p:cNvPr id="3" name="Content Placeholder 2">
            <a:extLst>
              <a:ext uri="{FF2B5EF4-FFF2-40B4-BE49-F238E27FC236}">
                <a16:creationId xmlns:a16="http://schemas.microsoft.com/office/drawing/2014/main" id="{5922416E-CA4F-48BE-A53D-52E3305E123D}"/>
              </a:ext>
            </a:extLst>
          </p:cNvPr>
          <p:cNvSpPr>
            <a:spLocks noGrp="1"/>
          </p:cNvSpPr>
          <p:nvPr>
            <p:ph idx="1"/>
          </p:nvPr>
        </p:nvSpPr>
        <p:spPr/>
        <p:txBody>
          <a:bodyPr/>
          <a:lstStyle/>
          <a:p>
            <a:r>
              <a:rPr lang="en-US" dirty="0"/>
              <a:t>The process scheduling is the activity of the process manager that handles the removal of the running process from the CPU and the selection of another process on the basis of a particular strategy.</a:t>
            </a:r>
          </a:p>
          <a:p>
            <a:r>
              <a:rPr lang="en-US" dirty="0"/>
              <a:t>Process scheduling is an essential part of a Multiprogramming operating systems. Such operating systems allow more than one process to be loaded into the executable memory at a time and the loaded process shares the CPU using time multiplexing.</a:t>
            </a:r>
          </a:p>
          <a:p>
            <a:endParaRPr lang="en-IN" dirty="0"/>
          </a:p>
        </p:txBody>
      </p:sp>
    </p:spTree>
    <p:extLst>
      <p:ext uri="{BB962C8B-B14F-4D97-AF65-F5344CB8AC3E}">
        <p14:creationId xmlns:p14="http://schemas.microsoft.com/office/powerpoint/2010/main" val="3426705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5334-A04C-4F3E-8428-C7F628F730C0}"/>
              </a:ext>
            </a:extLst>
          </p:cNvPr>
          <p:cNvSpPr>
            <a:spLocks noGrp="1"/>
          </p:cNvSpPr>
          <p:nvPr>
            <p:ph type="title"/>
          </p:nvPr>
        </p:nvSpPr>
        <p:spPr/>
        <p:txBody>
          <a:bodyPr/>
          <a:lstStyle/>
          <a:p>
            <a:r>
              <a:rPr lang="en-IN" dirty="0"/>
              <a:t>Process scheduling</a:t>
            </a:r>
          </a:p>
        </p:txBody>
      </p:sp>
      <p:sp>
        <p:nvSpPr>
          <p:cNvPr id="3" name="Content Placeholder 2">
            <a:extLst>
              <a:ext uri="{FF2B5EF4-FFF2-40B4-BE49-F238E27FC236}">
                <a16:creationId xmlns:a16="http://schemas.microsoft.com/office/drawing/2014/main" id="{5922416E-CA4F-48BE-A53D-52E3305E123D}"/>
              </a:ext>
            </a:extLst>
          </p:cNvPr>
          <p:cNvSpPr>
            <a:spLocks noGrp="1"/>
          </p:cNvSpPr>
          <p:nvPr>
            <p:ph idx="1"/>
          </p:nvPr>
        </p:nvSpPr>
        <p:spPr>
          <a:xfrm>
            <a:off x="685800" y="1606731"/>
            <a:ext cx="10820400" cy="4024125"/>
          </a:xfrm>
        </p:spPr>
        <p:txBody>
          <a:bodyPr/>
          <a:lstStyle/>
          <a:p>
            <a:r>
              <a:rPr lang="en-IN" b="1" u="sng" dirty="0"/>
              <a:t>Process Scheduling Queues: </a:t>
            </a:r>
            <a:r>
              <a:rPr lang="en-US" dirty="0"/>
              <a:t>The Operating System maintains the following important process scheduling queues −</a:t>
            </a:r>
          </a:p>
          <a:p>
            <a:r>
              <a:rPr lang="en-US" b="1" dirty="0"/>
              <a:t>Job queue</a:t>
            </a:r>
            <a:r>
              <a:rPr lang="en-US" dirty="0"/>
              <a:t> − This queue keeps all the processes in the system.</a:t>
            </a:r>
          </a:p>
          <a:p>
            <a:r>
              <a:rPr lang="en-US" b="1" dirty="0"/>
              <a:t>Ready queue</a:t>
            </a:r>
            <a:r>
              <a:rPr lang="en-US" dirty="0"/>
              <a:t> − This queue keeps a set of all processes residing in main memory, ready and waiting to execute. A new process is always put in this queue.</a:t>
            </a:r>
          </a:p>
          <a:p>
            <a:r>
              <a:rPr lang="en-US" b="1" dirty="0"/>
              <a:t>Device queues</a:t>
            </a:r>
            <a:r>
              <a:rPr lang="en-US" dirty="0"/>
              <a:t> − The processes which are blocked due to unavailability of an I/O device constitute this queue</a:t>
            </a:r>
          </a:p>
          <a:p>
            <a:endParaRPr lang="en-IN" b="1" u="sng" dirty="0"/>
          </a:p>
        </p:txBody>
      </p:sp>
      <p:pic>
        <p:nvPicPr>
          <p:cNvPr id="7170" name="Picture 2" descr="Process Scheduling Queuing">
            <a:extLst>
              <a:ext uri="{FF2B5EF4-FFF2-40B4-BE49-F238E27FC236}">
                <a16:creationId xmlns:a16="http://schemas.microsoft.com/office/drawing/2014/main" id="{C0D43EA5-AC4D-42BB-B1C2-B40792AE1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4735" y="3852669"/>
            <a:ext cx="5346441" cy="3005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715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25EE0-FE46-4D06-9804-7BD64BA03940}"/>
              </a:ext>
            </a:extLst>
          </p:cNvPr>
          <p:cNvSpPr>
            <a:spLocks noGrp="1"/>
          </p:cNvSpPr>
          <p:nvPr>
            <p:ph type="title"/>
          </p:nvPr>
        </p:nvSpPr>
        <p:spPr/>
        <p:txBody>
          <a:bodyPr/>
          <a:lstStyle/>
          <a:p>
            <a:r>
              <a:rPr lang="en-IN" dirty="0"/>
              <a:t>Process operations</a:t>
            </a:r>
          </a:p>
        </p:txBody>
      </p:sp>
      <p:sp>
        <p:nvSpPr>
          <p:cNvPr id="3" name="Content Placeholder 2">
            <a:extLst>
              <a:ext uri="{FF2B5EF4-FFF2-40B4-BE49-F238E27FC236}">
                <a16:creationId xmlns:a16="http://schemas.microsoft.com/office/drawing/2014/main" id="{F1B2DD91-0890-47B8-8298-BAB3D1F1A9E8}"/>
              </a:ext>
            </a:extLst>
          </p:cNvPr>
          <p:cNvSpPr>
            <a:spLocks noGrp="1"/>
          </p:cNvSpPr>
          <p:nvPr>
            <p:ph idx="1"/>
          </p:nvPr>
        </p:nvSpPr>
        <p:spPr/>
        <p:txBody>
          <a:bodyPr/>
          <a:lstStyle/>
          <a:p>
            <a:r>
              <a:rPr lang="en-US" dirty="0"/>
              <a:t>There are many operations that can be performed on processes. Some of these are process creation, process preemption, process blocking, and process termination. These are given in detail as follows −</a:t>
            </a:r>
          </a:p>
          <a:p>
            <a:pPr marL="0" indent="0">
              <a:buNone/>
            </a:pPr>
            <a:r>
              <a:rPr lang="en-US" b="1" dirty="0"/>
              <a:t>Process Creation</a:t>
            </a:r>
          </a:p>
          <a:p>
            <a:pPr marL="0" indent="0">
              <a:buNone/>
            </a:pPr>
            <a:r>
              <a:rPr lang="en-US" dirty="0"/>
              <a:t>Processes need to be created in the system for different operations. This can be done by the following events −</a:t>
            </a:r>
          </a:p>
          <a:p>
            <a:r>
              <a:rPr lang="en-US" dirty="0"/>
              <a:t>User request for process creation</a:t>
            </a:r>
          </a:p>
          <a:p>
            <a:r>
              <a:rPr lang="en-US" dirty="0"/>
              <a:t>System initialization</a:t>
            </a:r>
          </a:p>
          <a:p>
            <a:r>
              <a:rPr lang="en-US" dirty="0"/>
              <a:t>Execution of a process creation system call by a running process</a:t>
            </a:r>
          </a:p>
          <a:p>
            <a:r>
              <a:rPr lang="en-US" dirty="0"/>
              <a:t>Batch job initialization</a:t>
            </a:r>
          </a:p>
          <a:p>
            <a:endParaRPr lang="en-IN" dirty="0"/>
          </a:p>
        </p:txBody>
      </p:sp>
    </p:spTree>
    <p:extLst>
      <p:ext uri="{BB962C8B-B14F-4D97-AF65-F5344CB8AC3E}">
        <p14:creationId xmlns:p14="http://schemas.microsoft.com/office/powerpoint/2010/main" val="1536523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411DA-EB07-448C-91E8-F59F6EB6A3F3}"/>
              </a:ext>
            </a:extLst>
          </p:cNvPr>
          <p:cNvSpPr>
            <a:spLocks noGrp="1"/>
          </p:cNvSpPr>
          <p:nvPr>
            <p:ph type="title"/>
          </p:nvPr>
        </p:nvSpPr>
        <p:spPr/>
        <p:txBody>
          <a:bodyPr/>
          <a:lstStyle/>
          <a:p>
            <a:r>
              <a:rPr lang="en-US" b="1" dirty="0"/>
              <a:t>Process Creation</a:t>
            </a:r>
            <a:br>
              <a:rPr lang="en-US" b="1" dirty="0"/>
            </a:br>
            <a:endParaRPr lang="en-IN" dirty="0"/>
          </a:p>
        </p:txBody>
      </p:sp>
      <p:sp>
        <p:nvSpPr>
          <p:cNvPr id="3" name="Content Placeholder 2">
            <a:extLst>
              <a:ext uri="{FF2B5EF4-FFF2-40B4-BE49-F238E27FC236}">
                <a16:creationId xmlns:a16="http://schemas.microsoft.com/office/drawing/2014/main" id="{A923C0C6-C821-427C-9EFD-99B2BF3B60F0}"/>
              </a:ext>
            </a:extLst>
          </p:cNvPr>
          <p:cNvSpPr>
            <a:spLocks noGrp="1"/>
          </p:cNvSpPr>
          <p:nvPr>
            <p:ph idx="1"/>
          </p:nvPr>
        </p:nvSpPr>
        <p:spPr>
          <a:xfrm>
            <a:off x="769776" y="1588071"/>
            <a:ext cx="10820400" cy="4024125"/>
          </a:xfrm>
        </p:spPr>
        <p:txBody>
          <a:bodyPr/>
          <a:lstStyle/>
          <a:p>
            <a:r>
              <a:rPr lang="en-US" dirty="0"/>
              <a:t>A process may be created by another process using fork(). The creating process is called the parent process and the created process is the child process. A child process can have only one parent but a parent process may have many children. Both the parent and child processes have the same memory image, open files, and environment strings. However, they have distinct address spaces.</a:t>
            </a:r>
          </a:p>
          <a:p>
            <a:r>
              <a:rPr lang="en-US" dirty="0"/>
              <a:t>A diagram that demonstrates process creation using fork() is as follows −</a:t>
            </a:r>
          </a:p>
          <a:p>
            <a:endParaRPr lang="en-IN" dirty="0"/>
          </a:p>
        </p:txBody>
      </p:sp>
      <p:pic>
        <p:nvPicPr>
          <p:cNvPr id="8194" name="Picture 2" descr="fork">
            <a:extLst>
              <a:ext uri="{FF2B5EF4-FFF2-40B4-BE49-F238E27FC236}">
                <a16:creationId xmlns:a16="http://schemas.microsoft.com/office/drawing/2014/main" id="{9DA1EE66-6A43-498A-B3BF-20FD1FB9D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6706" y="3678430"/>
            <a:ext cx="7838588" cy="3182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693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BDD51-715C-40C3-B71B-69D7DF725C94}"/>
              </a:ext>
            </a:extLst>
          </p:cNvPr>
          <p:cNvSpPr>
            <a:spLocks noGrp="1"/>
          </p:cNvSpPr>
          <p:nvPr>
            <p:ph type="title"/>
          </p:nvPr>
        </p:nvSpPr>
        <p:spPr/>
        <p:txBody>
          <a:bodyPr/>
          <a:lstStyle/>
          <a:p>
            <a:r>
              <a:rPr lang="en-IN" b="1" dirty="0"/>
              <a:t>Process </a:t>
            </a:r>
            <a:r>
              <a:rPr lang="en-IN" b="1" dirty="0" err="1"/>
              <a:t>Preemption</a:t>
            </a:r>
            <a:br>
              <a:rPr lang="en-IN" b="1" dirty="0"/>
            </a:br>
            <a:endParaRPr lang="en-IN" dirty="0"/>
          </a:p>
        </p:txBody>
      </p:sp>
      <p:sp>
        <p:nvSpPr>
          <p:cNvPr id="3" name="Content Placeholder 2">
            <a:extLst>
              <a:ext uri="{FF2B5EF4-FFF2-40B4-BE49-F238E27FC236}">
                <a16:creationId xmlns:a16="http://schemas.microsoft.com/office/drawing/2014/main" id="{E24F6AB6-3AA8-4656-82C4-D020F7E87F63}"/>
              </a:ext>
            </a:extLst>
          </p:cNvPr>
          <p:cNvSpPr>
            <a:spLocks noGrp="1"/>
          </p:cNvSpPr>
          <p:nvPr>
            <p:ph idx="1"/>
          </p:nvPr>
        </p:nvSpPr>
        <p:spPr>
          <a:xfrm>
            <a:off x="881743" y="1700037"/>
            <a:ext cx="10820400" cy="4024125"/>
          </a:xfrm>
        </p:spPr>
        <p:txBody>
          <a:bodyPr/>
          <a:lstStyle/>
          <a:p>
            <a:r>
              <a:rPr lang="en-US" dirty="0"/>
              <a:t>An interrupt mechanism is used in preemption that suspends the process executing currently and the next process to execute is determined by the short-term scheduler. Preemption makes sure that all processes get some CPU time for execution.</a:t>
            </a:r>
          </a:p>
          <a:p>
            <a:r>
              <a:rPr lang="en-US" dirty="0"/>
              <a:t>A diagram that demonstrates process preemption is as follows −</a:t>
            </a:r>
          </a:p>
          <a:p>
            <a:endParaRPr lang="en-IN" dirty="0"/>
          </a:p>
        </p:txBody>
      </p:sp>
      <p:pic>
        <p:nvPicPr>
          <p:cNvPr id="9218" name="Picture 2" descr="Process Preemption">
            <a:extLst>
              <a:ext uri="{FF2B5EF4-FFF2-40B4-BE49-F238E27FC236}">
                <a16:creationId xmlns:a16="http://schemas.microsoft.com/office/drawing/2014/main" id="{763DCDCC-AC62-40AF-9C5E-5DB123B399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2390" y="3429000"/>
            <a:ext cx="7087219" cy="3342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5046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50194-E273-48E8-BA7C-E5C52A384E24}"/>
              </a:ext>
            </a:extLst>
          </p:cNvPr>
          <p:cNvSpPr>
            <a:spLocks noGrp="1"/>
          </p:cNvSpPr>
          <p:nvPr>
            <p:ph type="title"/>
          </p:nvPr>
        </p:nvSpPr>
        <p:spPr/>
        <p:txBody>
          <a:bodyPr/>
          <a:lstStyle/>
          <a:p>
            <a:r>
              <a:rPr lang="en-US" b="1" dirty="0"/>
              <a:t>Process Blocking</a:t>
            </a:r>
            <a:br>
              <a:rPr lang="en-US" b="1" dirty="0"/>
            </a:br>
            <a:endParaRPr lang="en-IN" dirty="0"/>
          </a:p>
        </p:txBody>
      </p:sp>
      <p:sp>
        <p:nvSpPr>
          <p:cNvPr id="3" name="Content Placeholder 2">
            <a:extLst>
              <a:ext uri="{FF2B5EF4-FFF2-40B4-BE49-F238E27FC236}">
                <a16:creationId xmlns:a16="http://schemas.microsoft.com/office/drawing/2014/main" id="{68D782F1-501F-4F59-8380-9F301AC26915}"/>
              </a:ext>
            </a:extLst>
          </p:cNvPr>
          <p:cNvSpPr>
            <a:spLocks noGrp="1"/>
          </p:cNvSpPr>
          <p:nvPr>
            <p:ph idx="1"/>
          </p:nvPr>
        </p:nvSpPr>
        <p:spPr>
          <a:xfrm>
            <a:off x="984380" y="1345474"/>
            <a:ext cx="10820400" cy="4024125"/>
          </a:xfrm>
        </p:spPr>
        <p:txBody>
          <a:bodyPr/>
          <a:lstStyle/>
          <a:p>
            <a:r>
              <a:rPr lang="en-US" dirty="0"/>
              <a:t>The process is blocked if it is waiting for some event to occur. This event may be I/O as the I/O events are executed in the main memory and don't require the processor. After the event is complete, the process again goes to the ready state.</a:t>
            </a:r>
          </a:p>
          <a:p>
            <a:r>
              <a:rPr lang="en-US" dirty="0"/>
              <a:t>A diagram that demonstrates process blocking is as follows −</a:t>
            </a:r>
          </a:p>
          <a:p>
            <a:br>
              <a:rPr lang="en-US" dirty="0"/>
            </a:br>
            <a:endParaRPr lang="en-IN" dirty="0"/>
          </a:p>
        </p:txBody>
      </p:sp>
      <p:pic>
        <p:nvPicPr>
          <p:cNvPr id="10242" name="Picture 2" descr="Process Blocking">
            <a:extLst>
              <a:ext uri="{FF2B5EF4-FFF2-40B4-BE49-F238E27FC236}">
                <a16:creationId xmlns:a16="http://schemas.microsoft.com/office/drawing/2014/main" id="{AA8528B4-9A9B-49D6-B7C7-971970C516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7667" y="2971800"/>
            <a:ext cx="6257925"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7505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BAF39-29CB-4635-85AC-DC3C95AD845D}"/>
              </a:ext>
            </a:extLst>
          </p:cNvPr>
          <p:cNvSpPr>
            <a:spLocks noGrp="1"/>
          </p:cNvSpPr>
          <p:nvPr>
            <p:ph type="title"/>
          </p:nvPr>
        </p:nvSpPr>
        <p:spPr/>
        <p:txBody>
          <a:bodyPr/>
          <a:lstStyle/>
          <a:p>
            <a:r>
              <a:rPr lang="en-US" b="1" dirty="0"/>
              <a:t>Process Termination</a:t>
            </a:r>
            <a:br>
              <a:rPr lang="en-US" b="1" dirty="0"/>
            </a:br>
            <a:endParaRPr lang="en-IN" dirty="0"/>
          </a:p>
        </p:txBody>
      </p:sp>
      <p:sp>
        <p:nvSpPr>
          <p:cNvPr id="3" name="Content Placeholder 2">
            <a:extLst>
              <a:ext uri="{FF2B5EF4-FFF2-40B4-BE49-F238E27FC236}">
                <a16:creationId xmlns:a16="http://schemas.microsoft.com/office/drawing/2014/main" id="{47959EA1-18C0-4F6B-A3F5-6E54C7F71B56}"/>
              </a:ext>
            </a:extLst>
          </p:cNvPr>
          <p:cNvSpPr>
            <a:spLocks noGrp="1"/>
          </p:cNvSpPr>
          <p:nvPr>
            <p:ph idx="1"/>
          </p:nvPr>
        </p:nvSpPr>
        <p:spPr/>
        <p:txBody>
          <a:bodyPr/>
          <a:lstStyle/>
          <a:p>
            <a:pPr algn="just"/>
            <a:r>
              <a:rPr lang="en-US" dirty="0"/>
              <a:t>After the process has completed the execution of its last instruction, it is terminated. The resources held by a process are released after it is terminated.</a:t>
            </a:r>
          </a:p>
          <a:p>
            <a:pPr algn="just"/>
            <a:r>
              <a:rPr lang="en-US" dirty="0"/>
              <a:t>A child process can be terminated by its parent process if its task is no longer relevant. The child process sends its status information to the parent process before it terminates. Also, when a parent process is terminated, its child processes are terminated as well as the child processes cannot run if the parent processes are terminated.</a:t>
            </a:r>
          </a:p>
          <a:p>
            <a:pPr algn="just"/>
            <a:endParaRPr lang="en-IN" dirty="0"/>
          </a:p>
        </p:txBody>
      </p:sp>
    </p:spTree>
    <p:extLst>
      <p:ext uri="{BB962C8B-B14F-4D97-AF65-F5344CB8AC3E}">
        <p14:creationId xmlns:p14="http://schemas.microsoft.com/office/powerpoint/2010/main" val="2701224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7932D-83A3-4B06-B810-19E3F57A9C47}"/>
              </a:ext>
            </a:extLst>
          </p:cNvPr>
          <p:cNvSpPr>
            <a:spLocks noGrp="1"/>
          </p:cNvSpPr>
          <p:nvPr>
            <p:ph type="title"/>
          </p:nvPr>
        </p:nvSpPr>
        <p:spPr/>
        <p:txBody>
          <a:bodyPr/>
          <a:lstStyle/>
          <a:p>
            <a:r>
              <a:rPr lang="en-IN" dirty="0"/>
              <a:t>CPU SCHEDULING</a:t>
            </a:r>
          </a:p>
        </p:txBody>
      </p:sp>
      <p:sp>
        <p:nvSpPr>
          <p:cNvPr id="3" name="Content Placeholder 2">
            <a:extLst>
              <a:ext uri="{FF2B5EF4-FFF2-40B4-BE49-F238E27FC236}">
                <a16:creationId xmlns:a16="http://schemas.microsoft.com/office/drawing/2014/main" id="{5217D5BF-FD0C-468B-9CD5-AF78D7F5D3B7}"/>
              </a:ext>
            </a:extLst>
          </p:cNvPr>
          <p:cNvSpPr>
            <a:spLocks noGrp="1"/>
          </p:cNvSpPr>
          <p:nvPr>
            <p:ph idx="1"/>
          </p:nvPr>
        </p:nvSpPr>
        <p:spPr/>
        <p:txBody>
          <a:bodyPr/>
          <a:lstStyle/>
          <a:p>
            <a:r>
              <a:rPr lang="en-US" dirty="0"/>
              <a:t>CPU scheduling is a process which allows one process to use the CPU while the execution of another process is on hold(in waiting state) due to unavailability of any resource like I/O </a:t>
            </a:r>
            <a:r>
              <a:rPr lang="en-US" dirty="0" err="1"/>
              <a:t>etc</a:t>
            </a:r>
            <a:r>
              <a:rPr lang="en-US" dirty="0"/>
              <a:t>, thereby making full use of CPU. The aim of CPU scheduling is to make the system efficient, fast and fair.</a:t>
            </a:r>
          </a:p>
          <a:p>
            <a:r>
              <a:rPr lang="en-US" dirty="0"/>
              <a:t>Whenever the CPU becomes idle, the operating system must select one of the processes in the </a:t>
            </a:r>
            <a:r>
              <a:rPr lang="en-US" b="1" dirty="0"/>
              <a:t>ready queue</a:t>
            </a:r>
            <a:r>
              <a:rPr lang="en-US" dirty="0"/>
              <a:t> to be executed. The selection process is carried out by the short-term scheduler (or CPU scheduler). The scheduler selects from among the processes in memory that are ready to execute, and allocates the CPU to one of them.</a:t>
            </a:r>
          </a:p>
          <a:p>
            <a:endParaRPr lang="en-IN" dirty="0"/>
          </a:p>
        </p:txBody>
      </p:sp>
    </p:spTree>
    <p:extLst>
      <p:ext uri="{BB962C8B-B14F-4D97-AF65-F5344CB8AC3E}">
        <p14:creationId xmlns:p14="http://schemas.microsoft.com/office/powerpoint/2010/main" val="531917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62C0C-30FF-4474-B52C-3EC9DC365FFE}"/>
              </a:ext>
            </a:extLst>
          </p:cNvPr>
          <p:cNvSpPr>
            <a:spLocks noGrp="1"/>
          </p:cNvSpPr>
          <p:nvPr>
            <p:ph type="title"/>
          </p:nvPr>
        </p:nvSpPr>
        <p:spPr/>
        <p:txBody>
          <a:bodyPr/>
          <a:lstStyle/>
          <a:p>
            <a:r>
              <a:rPr lang="en-US" dirty="0"/>
              <a:t>Types of CPU Scheduling</a:t>
            </a:r>
            <a:br>
              <a:rPr lang="en-US" dirty="0"/>
            </a:br>
            <a:endParaRPr lang="en-IN" dirty="0"/>
          </a:p>
        </p:txBody>
      </p:sp>
      <p:sp>
        <p:nvSpPr>
          <p:cNvPr id="3" name="Content Placeholder 2">
            <a:extLst>
              <a:ext uri="{FF2B5EF4-FFF2-40B4-BE49-F238E27FC236}">
                <a16:creationId xmlns:a16="http://schemas.microsoft.com/office/drawing/2014/main" id="{8A5C7EC9-F77A-4404-A4C5-6D8630801FEE}"/>
              </a:ext>
            </a:extLst>
          </p:cNvPr>
          <p:cNvSpPr>
            <a:spLocks noGrp="1"/>
          </p:cNvSpPr>
          <p:nvPr>
            <p:ph idx="1"/>
          </p:nvPr>
        </p:nvSpPr>
        <p:spPr/>
        <p:txBody>
          <a:bodyPr/>
          <a:lstStyle/>
          <a:p>
            <a:r>
              <a:rPr lang="en-US" dirty="0"/>
              <a:t>CPU scheduling decisions may take place under the following four circumstances:</a:t>
            </a:r>
          </a:p>
          <a:p>
            <a:r>
              <a:rPr lang="en-US" dirty="0"/>
              <a:t>When a process switches from the </a:t>
            </a:r>
            <a:r>
              <a:rPr lang="en-US" b="1" dirty="0"/>
              <a:t>running</a:t>
            </a:r>
            <a:r>
              <a:rPr lang="en-US" dirty="0"/>
              <a:t> state to the </a:t>
            </a:r>
            <a:r>
              <a:rPr lang="en-US" b="1" dirty="0"/>
              <a:t>waiting</a:t>
            </a:r>
            <a:r>
              <a:rPr lang="en-US" dirty="0"/>
              <a:t> state(for I/O request or invocation of wait for the termination of one of the child processes).</a:t>
            </a:r>
          </a:p>
          <a:p>
            <a:r>
              <a:rPr lang="en-US" dirty="0"/>
              <a:t>When a process switches from the </a:t>
            </a:r>
            <a:r>
              <a:rPr lang="en-US" b="1" dirty="0"/>
              <a:t>running</a:t>
            </a:r>
            <a:r>
              <a:rPr lang="en-US" dirty="0"/>
              <a:t> state to the </a:t>
            </a:r>
            <a:r>
              <a:rPr lang="en-US" b="1" dirty="0"/>
              <a:t>ready</a:t>
            </a:r>
            <a:r>
              <a:rPr lang="en-US" dirty="0"/>
              <a:t> state (for example, when an interrupt occurs).</a:t>
            </a:r>
          </a:p>
          <a:p>
            <a:r>
              <a:rPr lang="en-US" dirty="0"/>
              <a:t>When a process switches from the </a:t>
            </a:r>
            <a:r>
              <a:rPr lang="en-US" b="1" dirty="0"/>
              <a:t>waiting</a:t>
            </a:r>
            <a:r>
              <a:rPr lang="en-US" dirty="0"/>
              <a:t> state to the </a:t>
            </a:r>
            <a:r>
              <a:rPr lang="en-US" b="1" dirty="0"/>
              <a:t>ready</a:t>
            </a:r>
            <a:r>
              <a:rPr lang="en-US" dirty="0"/>
              <a:t> state(for example, completion of I/O).</a:t>
            </a:r>
          </a:p>
          <a:p>
            <a:r>
              <a:rPr lang="en-US" dirty="0"/>
              <a:t>When a process </a:t>
            </a:r>
            <a:r>
              <a:rPr lang="en-US" b="1" dirty="0"/>
              <a:t>terminates</a:t>
            </a:r>
            <a:r>
              <a:rPr lang="en-US" dirty="0"/>
              <a:t>.</a:t>
            </a:r>
          </a:p>
          <a:p>
            <a:endParaRPr lang="en-IN" dirty="0"/>
          </a:p>
        </p:txBody>
      </p:sp>
    </p:spTree>
    <p:extLst>
      <p:ext uri="{BB962C8B-B14F-4D97-AF65-F5344CB8AC3E}">
        <p14:creationId xmlns:p14="http://schemas.microsoft.com/office/powerpoint/2010/main" val="609465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F7887-2F3F-4060-B177-1FDFB35EEB29}"/>
              </a:ext>
            </a:extLst>
          </p:cNvPr>
          <p:cNvSpPr>
            <a:spLocks noGrp="1"/>
          </p:cNvSpPr>
          <p:nvPr>
            <p:ph type="title"/>
          </p:nvPr>
        </p:nvSpPr>
        <p:spPr/>
        <p:txBody>
          <a:bodyPr>
            <a:normAutofit fontScale="90000"/>
          </a:bodyPr>
          <a:lstStyle/>
          <a:p>
            <a:r>
              <a:rPr lang="en-US" dirty="0"/>
              <a:t>CPU Scheduling: Scheduling Criteria</a:t>
            </a:r>
            <a:br>
              <a:rPr lang="en-US" dirty="0"/>
            </a:br>
            <a:endParaRPr lang="en-IN" dirty="0"/>
          </a:p>
        </p:txBody>
      </p:sp>
      <p:sp>
        <p:nvSpPr>
          <p:cNvPr id="3" name="Content Placeholder 2">
            <a:extLst>
              <a:ext uri="{FF2B5EF4-FFF2-40B4-BE49-F238E27FC236}">
                <a16:creationId xmlns:a16="http://schemas.microsoft.com/office/drawing/2014/main" id="{483C5634-A47E-4CDF-AA88-145F5DC26FEC}"/>
              </a:ext>
            </a:extLst>
          </p:cNvPr>
          <p:cNvSpPr>
            <a:spLocks noGrp="1"/>
          </p:cNvSpPr>
          <p:nvPr>
            <p:ph idx="1"/>
          </p:nvPr>
        </p:nvSpPr>
        <p:spPr/>
        <p:txBody>
          <a:bodyPr>
            <a:normAutofit fontScale="92500" lnSpcReduction="10000"/>
          </a:bodyPr>
          <a:lstStyle/>
          <a:p>
            <a:pPr marL="0" indent="0">
              <a:buNone/>
            </a:pPr>
            <a:r>
              <a:rPr lang="en-US" dirty="0"/>
              <a:t>There are many different </a:t>
            </a:r>
            <a:r>
              <a:rPr lang="en-US" dirty="0" err="1"/>
              <a:t>criterias</a:t>
            </a:r>
            <a:r>
              <a:rPr lang="en-US" dirty="0"/>
              <a:t> to check when considering the </a:t>
            </a:r>
            <a:r>
              <a:rPr lang="en-US" b="1" dirty="0"/>
              <a:t>"best"</a:t>
            </a:r>
            <a:r>
              <a:rPr lang="en-US" dirty="0"/>
              <a:t> scheduling algorithm, they are:</a:t>
            </a:r>
          </a:p>
          <a:p>
            <a:r>
              <a:rPr lang="en-US" b="1" dirty="0"/>
              <a:t>CPU Utilization</a:t>
            </a:r>
          </a:p>
          <a:p>
            <a:pPr lvl="1"/>
            <a:r>
              <a:rPr lang="en-US" dirty="0"/>
              <a:t>To make out the best use of CPU and not to waste any CPU cycle, CPU would be working most of the time(Ideally 100% of the time). Considering a real system, CPU usage should range from 40% (lightly loaded) to 90% (heavily loaded.)</a:t>
            </a:r>
          </a:p>
          <a:p>
            <a:r>
              <a:rPr lang="en-US" b="1" dirty="0"/>
              <a:t>Throughput</a:t>
            </a:r>
          </a:p>
          <a:p>
            <a:pPr lvl="1"/>
            <a:r>
              <a:rPr lang="en-US" dirty="0"/>
              <a:t>It is the total number of processes completed per unit time or rather say total amount of work done in a unit of time. This may range from 10/second to 1/hour depending on the specific processes.</a:t>
            </a:r>
          </a:p>
          <a:p>
            <a:r>
              <a:rPr lang="en-US" b="1" dirty="0"/>
              <a:t>Turnaround</a:t>
            </a:r>
            <a:r>
              <a:rPr lang="en-US" dirty="0"/>
              <a:t> </a:t>
            </a:r>
            <a:r>
              <a:rPr lang="en-US" b="1" dirty="0"/>
              <a:t>Time</a:t>
            </a:r>
          </a:p>
          <a:p>
            <a:pPr lvl="1"/>
            <a:r>
              <a:rPr lang="en-US" dirty="0"/>
              <a:t>It is the amount of time taken to execute a particular process, i.e. The interval from time of submission of the process to the time of completion of the process(Wall clock time).</a:t>
            </a:r>
          </a:p>
          <a:p>
            <a:endParaRPr lang="en-IN" dirty="0"/>
          </a:p>
        </p:txBody>
      </p:sp>
    </p:spTree>
    <p:extLst>
      <p:ext uri="{BB962C8B-B14F-4D97-AF65-F5344CB8AC3E}">
        <p14:creationId xmlns:p14="http://schemas.microsoft.com/office/powerpoint/2010/main" val="2346095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F7887-2F3F-4060-B177-1FDFB35EEB29}"/>
              </a:ext>
            </a:extLst>
          </p:cNvPr>
          <p:cNvSpPr>
            <a:spLocks noGrp="1"/>
          </p:cNvSpPr>
          <p:nvPr>
            <p:ph type="title"/>
          </p:nvPr>
        </p:nvSpPr>
        <p:spPr/>
        <p:txBody>
          <a:bodyPr>
            <a:normAutofit fontScale="90000"/>
          </a:bodyPr>
          <a:lstStyle/>
          <a:p>
            <a:r>
              <a:rPr lang="en-US" dirty="0"/>
              <a:t>CPU Scheduling: Scheduling Criteria</a:t>
            </a:r>
            <a:br>
              <a:rPr lang="en-US" dirty="0"/>
            </a:br>
            <a:endParaRPr lang="en-IN" dirty="0"/>
          </a:p>
        </p:txBody>
      </p:sp>
      <p:sp>
        <p:nvSpPr>
          <p:cNvPr id="3" name="Content Placeholder 2">
            <a:extLst>
              <a:ext uri="{FF2B5EF4-FFF2-40B4-BE49-F238E27FC236}">
                <a16:creationId xmlns:a16="http://schemas.microsoft.com/office/drawing/2014/main" id="{483C5634-A47E-4CDF-AA88-145F5DC26FEC}"/>
              </a:ext>
            </a:extLst>
          </p:cNvPr>
          <p:cNvSpPr>
            <a:spLocks noGrp="1"/>
          </p:cNvSpPr>
          <p:nvPr>
            <p:ph idx="1"/>
          </p:nvPr>
        </p:nvSpPr>
        <p:spPr/>
        <p:txBody>
          <a:bodyPr>
            <a:normAutofit/>
          </a:bodyPr>
          <a:lstStyle/>
          <a:p>
            <a:r>
              <a:rPr lang="en-US" b="1" dirty="0"/>
              <a:t>Waiting</a:t>
            </a:r>
            <a:r>
              <a:rPr lang="en-US" dirty="0"/>
              <a:t> </a:t>
            </a:r>
            <a:r>
              <a:rPr lang="en-US" b="1" dirty="0"/>
              <a:t>Time</a:t>
            </a:r>
          </a:p>
          <a:p>
            <a:pPr lvl="1"/>
            <a:r>
              <a:rPr lang="en-US" dirty="0"/>
              <a:t>The sum of the periods spent waiting in the ready queue amount of time a process has been waiting in the ready queue to acquire get control on the CPU.</a:t>
            </a:r>
          </a:p>
          <a:p>
            <a:r>
              <a:rPr lang="en-US" b="1" dirty="0"/>
              <a:t>Load</a:t>
            </a:r>
            <a:r>
              <a:rPr lang="en-US" dirty="0"/>
              <a:t> </a:t>
            </a:r>
            <a:r>
              <a:rPr lang="en-US" b="1" dirty="0"/>
              <a:t>Average</a:t>
            </a:r>
          </a:p>
          <a:p>
            <a:pPr lvl="1"/>
            <a:r>
              <a:rPr lang="en-US" dirty="0"/>
              <a:t>It is the average number of processes residing in the ready queue waiting for their turn to get into the CPU.</a:t>
            </a:r>
          </a:p>
          <a:p>
            <a:r>
              <a:rPr lang="en-US" b="1" dirty="0"/>
              <a:t>Response</a:t>
            </a:r>
            <a:r>
              <a:rPr lang="en-US" dirty="0"/>
              <a:t> </a:t>
            </a:r>
            <a:r>
              <a:rPr lang="en-US" b="1" dirty="0"/>
              <a:t>Time</a:t>
            </a:r>
          </a:p>
          <a:p>
            <a:pPr lvl="1"/>
            <a:r>
              <a:rPr lang="en-US" dirty="0"/>
              <a:t>Amount of time it takes from when a request was submitted until the first response is produced. Remember, it is the time till the first response and not the completion of process execution(final response).</a:t>
            </a:r>
          </a:p>
        </p:txBody>
      </p:sp>
    </p:spTree>
    <p:extLst>
      <p:ext uri="{BB962C8B-B14F-4D97-AF65-F5344CB8AC3E}">
        <p14:creationId xmlns:p14="http://schemas.microsoft.com/office/powerpoint/2010/main" val="4082471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366C4-A51E-4519-A709-EB92C2A2E038}"/>
              </a:ext>
            </a:extLst>
          </p:cNvPr>
          <p:cNvSpPr>
            <a:spLocks noGrp="1"/>
          </p:cNvSpPr>
          <p:nvPr>
            <p:ph type="title"/>
          </p:nvPr>
        </p:nvSpPr>
        <p:spPr/>
        <p:txBody>
          <a:bodyPr/>
          <a:lstStyle/>
          <a:p>
            <a:r>
              <a:rPr lang="en-IN" dirty="0"/>
              <a:t>Scheduling Algorithms</a:t>
            </a:r>
            <a:br>
              <a:rPr lang="en-IN" dirty="0"/>
            </a:br>
            <a:endParaRPr lang="en-IN" dirty="0"/>
          </a:p>
        </p:txBody>
      </p:sp>
      <p:sp>
        <p:nvSpPr>
          <p:cNvPr id="3" name="Content Placeholder 2">
            <a:extLst>
              <a:ext uri="{FF2B5EF4-FFF2-40B4-BE49-F238E27FC236}">
                <a16:creationId xmlns:a16="http://schemas.microsoft.com/office/drawing/2014/main" id="{8CB7028A-1B15-49D9-8C90-34213D32883C}"/>
              </a:ext>
            </a:extLst>
          </p:cNvPr>
          <p:cNvSpPr>
            <a:spLocks noGrp="1"/>
          </p:cNvSpPr>
          <p:nvPr>
            <p:ph idx="1"/>
          </p:nvPr>
        </p:nvSpPr>
        <p:spPr/>
        <p:txBody>
          <a:bodyPr/>
          <a:lstStyle/>
          <a:p>
            <a:r>
              <a:rPr lang="en-IN" b="1" dirty="0"/>
              <a:t>First Come First Serve(FCFS) Scheduling</a:t>
            </a:r>
          </a:p>
          <a:p>
            <a:r>
              <a:rPr lang="en-IN" b="1" dirty="0"/>
              <a:t>Shortest-Job-First(SJF) Scheduling</a:t>
            </a:r>
          </a:p>
          <a:p>
            <a:r>
              <a:rPr lang="en-IN" b="1" dirty="0"/>
              <a:t>Priority Scheduling</a:t>
            </a:r>
          </a:p>
          <a:p>
            <a:r>
              <a:rPr lang="en-IN" b="1" dirty="0"/>
              <a:t>Round Robin(RR) Scheduling</a:t>
            </a:r>
          </a:p>
          <a:p>
            <a:r>
              <a:rPr lang="en-IN" b="1" dirty="0"/>
              <a:t>Multilevel Queue Scheduling</a:t>
            </a:r>
          </a:p>
          <a:p>
            <a:r>
              <a:rPr lang="en-IN" b="1" dirty="0"/>
              <a:t>Multilevel Feedback Queue Scheduling</a:t>
            </a:r>
          </a:p>
          <a:p>
            <a:endParaRPr lang="en-IN" b="1" dirty="0"/>
          </a:p>
        </p:txBody>
      </p:sp>
    </p:spTree>
    <p:extLst>
      <p:ext uri="{BB962C8B-B14F-4D97-AF65-F5344CB8AC3E}">
        <p14:creationId xmlns:p14="http://schemas.microsoft.com/office/powerpoint/2010/main" val="90993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E6880F-86FA-49EF-AC36-8E4D000BE3CD}"/>
              </a:ext>
            </a:extLst>
          </p:cNvPr>
          <p:cNvSpPr>
            <a:spLocks noGrp="1"/>
          </p:cNvSpPr>
          <p:nvPr>
            <p:ph idx="1"/>
          </p:nvPr>
        </p:nvSpPr>
        <p:spPr/>
        <p:txBody>
          <a:bodyPr/>
          <a:lstStyle/>
          <a:p>
            <a:r>
              <a:rPr lang="en-US" dirty="0"/>
              <a:t>First Come First Serve, is just like </a:t>
            </a:r>
            <a:r>
              <a:rPr lang="en-US" b="1" dirty="0"/>
              <a:t>FIFO</a:t>
            </a:r>
            <a:r>
              <a:rPr lang="en-US" dirty="0"/>
              <a:t>(First in First out) Queue data structure, where the data element which is added to the queue first, is the one who leaves the queue first.</a:t>
            </a:r>
          </a:p>
          <a:p>
            <a:r>
              <a:rPr lang="en-US" dirty="0"/>
              <a:t>This is used in Batch Systems.</a:t>
            </a:r>
          </a:p>
          <a:p>
            <a:r>
              <a:rPr lang="en-US" dirty="0"/>
              <a:t>It's </a:t>
            </a:r>
            <a:r>
              <a:rPr lang="en-US" b="1" dirty="0"/>
              <a:t>easy to understand and implement</a:t>
            </a:r>
            <a:r>
              <a:rPr lang="en-US" dirty="0"/>
              <a:t> programmatically, using a Queue data structure, where a new process enters through the </a:t>
            </a:r>
            <a:r>
              <a:rPr lang="en-US" b="1" dirty="0"/>
              <a:t>tail</a:t>
            </a:r>
            <a:r>
              <a:rPr lang="en-US" dirty="0"/>
              <a:t> of the queue, and the scheduler selects process from the </a:t>
            </a:r>
            <a:r>
              <a:rPr lang="en-US" b="1" dirty="0"/>
              <a:t>head</a:t>
            </a:r>
            <a:r>
              <a:rPr lang="en-US" dirty="0"/>
              <a:t> of the queue.</a:t>
            </a:r>
          </a:p>
          <a:p>
            <a:r>
              <a:rPr lang="en-US" dirty="0"/>
              <a:t>A perfect real life example of FCFS scheduling is </a:t>
            </a:r>
            <a:r>
              <a:rPr lang="en-US" b="1" dirty="0"/>
              <a:t>buying tickets at ticket counter</a:t>
            </a:r>
            <a:r>
              <a:rPr lang="en-US" dirty="0"/>
              <a:t>.</a:t>
            </a:r>
            <a:br>
              <a:rPr lang="en-US" dirty="0"/>
            </a:br>
            <a:endParaRPr lang="en-IN" dirty="0"/>
          </a:p>
        </p:txBody>
      </p:sp>
      <p:sp>
        <p:nvSpPr>
          <p:cNvPr id="4" name="Rectangle 1">
            <a:extLst>
              <a:ext uri="{FF2B5EF4-FFF2-40B4-BE49-F238E27FC236}">
                <a16:creationId xmlns:a16="http://schemas.microsoft.com/office/drawing/2014/main" id="{79F1859D-3C7F-4E19-B33C-2232FC1BF27A}"/>
              </a:ext>
            </a:extLst>
          </p:cNvPr>
          <p:cNvSpPr>
            <a:spLocks noGrp="1" noChangeArrowheads="1"/>
          </p:cNvSpPr>
          <p:nvPr>
            <p:ph type="title"/>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333333"/>
                </a:solidFill>
                <a:effectLst/>
                <a:latin typeface="helvetica neue"/>
              </a:rPr>
              <a:t>First Come First Serve Scheduling</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6055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CE367-B44F-4DFE-A787-92A9F4FABC31}"/>
              </a:ext>
            </a:extLst>
          </p:cNvPr>
          <p:cNvSpPr>
            <a:spLocks noGrp="1"/>
          </p:cNvSpPr>
          <p:nvPr>
            <p:ph type="title"/>
          </p:nvPr>
        </p:nvSpPr>
        <p:spPr/>
        <p:txBody>
          <a:bodyPr/>
          <a:lstStyle/>
          <a:p>
            <a:r>
              <a:rPr lang="en-IN" dirty="0"/>
              <a:t>FCFS</a:t>
            </a:r>
          </a:p>
        </p:txBody>
      </p:sp>
      <p:sp>
        <p:nvSpPr>
          <p:cNvPr id="3" name="Content Placeholder 2">
            <a:extLst>
              <a:ext uri="{FF2B5EF4-FFF2-40B4-BE49-F238E27FC236}">
                <a16:creationId xmlns:a16="http://schemas.microsoft.com/office/drawing/2014/main" id="{949BFAD7-84F1-4A11-93CE-08C4CEEC1662}"/>
              </a:ext>
            </a:extLst>
          </p:cNvPr>
          <p:cNvSpPr>
            <a:spLocks noGrp="1"/>
          </p:cNvSpPr>
          <p:nvPr>
            <p:ph idx="1"/>
          </p:nvPr>
        </p:nvSpPr>
        <p:spPr/>
        <p:txBody>
          <a:bodyPr>
            <a:normAutofit lnSpcReduction="10000"/>
          </a:bodyPr>
          <a:lstStyle/>
          <a:p>
            <a:r>
              <a:rPr lang="en-US" dirty="0"/>
              <a:t>Calculating Average Waiting Time</a:t>
            </a:r>
          </a:p>
          <a:p>
            <a:pPr lvl="1"/>
            <a:r>
              <a:rPr lang="en-US" dirty="0"/>
              <a:t>For every scheduling algorithm, Average waiting time is a crucial parameter to judge it's performance.</a:t>
            </a:r>
          </a:p>
          <a:p>
            <a:endParaRPr lang="en-US" dirty="0"/>
          </a:p>
          <a:p>
            <a:r>
              <a:rPr lang="en-US" dirty="0"/>
              <a:t>AWT or Average waiting time is the average of the waiting times of the processes in the queue, waiting for the scheduler to pick them for execution.</a:t>
            </a:r>
          </a:p>
          <a:p>
            <a:endParaRPr lang="en-US" dirty="0"/>
          </a:p>
          <a:p>
            <a:r>
              <a:rPr lang="en-US" dirty="0"/>
              <a:t>Lower the Average Waiting Time, better the scheduling algorithm.</a:t>
            </a:r>
          </a:p>
          <a:p>
            <a:r>
              <a:rPr lang="en-US" dirty="0"/>
              <a:t>Consider the processes P1, P2, P3, P4 given in the below table, arrives for execution in the same order, with Arrival Time 0, and given Burst Time, let's find the average waiting time using the FCFS scheduling algorithm.</a:t>
            </a:r>
            <a:endParaRPr lang="en-IN" dirty="0"/>
          </a:p>
        </p:txBody>
      </p:sp>
    </p:spTree>
    <p:extLst>
      <p:ext uri="{BB962C8B-B14F-4D97-AF65-F5344CB8AC3E}">
        <p14:creationId xmlns:p14="http://schemas.microsoft.com/office/powerpoint/2010/main" val="2156062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429A-4100-4C89-A192-CA63BD45BE70}"/>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A2B36311-3198-4E62-BAED-54D12022DAF0}"/>
              </a:ext>
            </a:extLst>
          </p:cNvPr>
          <p:cNvSpPr>
            <a:spLocks noGrp="1"/>
          </p:cNvSpPr>
          <p:nvPr>
            <p:ph idx="1"/>
          </p:nvPr>
        </p:nvSpPr>
        <p:spPr/>
        <p:txBody>
          <a:bodyPr/>
          <a:lstStyle/>
          <a:p>
            <a:endParaRPr lang="en-IN" dirty="0"/>
          </a:p>
        </p:txBody>
      </p:sp>
      <p:pic>
        <p:nvPicPr>
          <p:cNvPr id="3075" name="Picture 3" descr="First Come First Serve(FCFS) Scheduling">
            <a:extLst>
              <a:ext uri="{FF2B5EF4-FFF2-40B4-BE49-F238E27FC236}">
                <a16:creationId xmlns:a16="http://schemas.microsoft.com/office/drawing/2014/main" id="{275CD7CA-2918-440F-AC84-F7B61AFBA4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2690" y="2194560"/>
            <a:ext cx="523875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5612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684CD-E04F-48BD-AA90-66319605A437}"/>
              </a:ext>
            </a:extLst>
          </p:cNvPr>
          <p:cNvSpPr>
            <a:spLocks noGrp="1"/>
          </p:cNvSpPr>
          <p:nvPr>
            <p:ph type="title"/>
          </p:nvPr>
        </p:nvSpPr>
        <p:spPr/>
        <p:txBody>
          <a:bodyPr>
            <a:normAutofit fontScale="90000"/>
          </a:bodyPr>
          <a:lstStyle/>
          <a:p>
            <a:r>
              <a:rPr lang="en-US" dirty="0"/>
              <a:t>Problems with FCFS Scheduling</a:t>
            </a:r>
            <a:br>
              <a:rPr lang="en-US" dirty="0"/>
            </a:br>
            <a:endParaRPr lang="en-IN" dirty="0"/>
          </a:p>
        </p:txBody>
      </p:sp>
      <p:sp>
        <p:nvSpPr>
          <p:cNvPr id="3" name="Content Placeholder 2">
            <a:extLst>
              <a:ext uri="{FF2B5EF4-FFF2-40B4-BE49-F238E27FC236}">
                <a16:creationId xmlns:a16="http://schemas.microsoft.com/office/drawing/2014/main" id="{5E762AAB-F7B5-420E-B86C-0C16DB48093E}"/>
              </a:ext>
            </a:extLst>
          </p:cNvPr>
          <p:cNvSpPr>
            <a:spLocks noGrp="1"/>
          </p:cNvSpPr>
          <p:nvPr>
            <p:ph idx="1"/>
          </p:nvPr>
        </p:nvSpPr>
        <p:spPr/>
        <p:txBody>
          <a:bodyPr>
            <a:normAutofit/>
          </a:bodyPr>
          <a:lstStyle/>
          <a:p>
            <a:pPr marL="0" indent="0" algn="just">
              <a:buNone/>
            </a:pPr>
            <a:r>
              <a:rPr lang="en-US" dirty="0"/>
              <a:t>Below we have a few shortcomings or problems with the FCFS scheduling algorithm:</a:t>
            </a:r>
          </a:p>
          <a:p>
            <a:pPr algn="just"/>
            <a:r>
              <a:rPr lang="en-US" dirty="0"/>
              <a:t>It is </a:t>
            </a:r>
            <a:r>
              <a:rPr lang="en-US" b="1" dirty="0"/>
              <a:t>Non Pre-emptive</a:t>
            </a:r>
            <a:r>
              <a:rPr lang="en-US" dirty="0"/>
              <a:t> algorithm, which means the </a:t>
            </a:r>
            <a:r>
              <a:rPr lang="en-US" b="1" dirty="0"/>
              <a:t>process priority</a:t>
            </a:r>
            <a:r>
              <a:rPr lang="en-US" dirty="0"/>
              <a:t> doesn't matter. If a process with very least priority is being executed, more like </a:t>
            </a:r>
            <a:r>
              <a:rPr lang="en-US" b="1" dirty="0"/>
              <a:t>daily routine backup</a:t>
            </a:r>
            <a:r>
              <a:rPr lang="en-US" dirty="0"/>
              <a:t> process, which takes more time, and all of a sudden some other high priority process arrives, like </a:t>
            </a:r>
            <a:r>
              <a:rPr lang="en-US" b="1" dirty="0"/>
              <a:t>interrupt to avoid system crash</a:t>
            </a:r>
            <a:r>
              <a:rPr lang="en-US" dirty="0"/>
              <a:t>, the high priority process will have to wait, and hence in this case, the system will crash, just because of improper process scheduling.</a:t>
            </a:r>
          </a:p>
          <a:p>
            <a:pPr algn="just"/>
            <a:r>
              <a:rPr lang="en-US" dirty="0"/>
              <a:t>Not optimal Average Waiting Time.</a:t>
            </a:r>
          </a:p>
          <a:p>
            <a:pPr algn="just"/>
            <a:r>
              <a:rPr lang="en-US" dirty="0"/>
              <a:t>Resources utilization in parallel is not possible, which leads to </a:t>
            </a:r>
            <a:r>
              <a:rPr lang="en-US" b="1" dirty="0"/>
              <a:t>Convoy Effect</a:t>
            </a:r>
            <a:r>
              <a:rPr lang="en-US" dirty="0"/>
              <a:t>, and hence poor resource(CPU, I/O </a:t>
            </a:r>
            <a:r>
              <a:rPr lang="en-US" dirty="0" err="1"/>
              <a:t>etc</a:t>
            </a:r>
            <a:r>
              <a:rPr lang="en-US" dirty="0"/>
              <a:t>) utilization.</a:t>
            </a:r>
          </a:p>
          <a:p>
            <a:pPr algn="just"/>
            <a:endParaRPr lang="en-IN" dirty="0"/>
          </a:p>
        </p:txBody>
      </p:sp>
    </p:spTree>
    <p:extLst>
      <p:ext uri="{BB962C8B-B14F-4D97-AF65-F5344CB8AC3E}">
        <p14:creationId xmlns:p14="http://schemas.microsoft.com/office/powerpoint/2010/main" val="2974351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2C6AE-FED4-426B-A7A3-2E564EE88592}"/>
              </a:ext>
            </a:extLst>
          </p:cNvPr>
          <p:cNvSpPr>
            <a:spLocks noGrp="1"/>
          </p:cNvSpPr>
          <p:nvPr>
            <p:ph type="title"/>
          </p:nvPr>
        </p:nvSpPr>
        <p:spPr/>
        <p:txBody>
          <a:bodyPr>
            <a:normAutofit fontScale="90000"/>
          </a:bodyPr>
          <a:lstStyle/>
          <a:p>
            <a:r>
              <a:rPr lang="en-US" dirty="0"/>
              <a:t>Problems with FCFS Scheduling</a:t>
            </a:r>
            <a:br>
              <a:rPr lang="en-US" dirty="0"/>
            </a:br>
            <a:endParaRPr lang="en-IN" dirty="0"/>
          </a:p>
        </p:txBody>
      </p:sp>
      <p:sp>
        <p:nvSpPr>
          <p:cNvPr id="3" name="Content Placeholder 2">
            <a:extLst>
              <a:ext uri="{FF2B5EF4-FFF2-40B4-BE49-F238E27FC236}">
                <a16:creationId xmlns:a16="http://schemas.microsoft.com/office/drawing/2014/main" id="{59D52BB4-EF9A-48CA-9406-1C250745929F}"/>
              </a:ext>
            </a:extLst>
          </p:cNvPr>
          <p:cNvSpPr>
            <a:spLocks noGrp="1"/>
          </p:cNvSpPr>
          <p:nvPr>
            <p:ph idx="1"/>
          </p:nvPr>
        </p:nvSpPr>
        <p:spPr/>
        <p:txBody>
          <a:bodyPr/>
          <a:lstStyle/>
          <a:p>
            <a:r>
              <a:rPr lang="en-US" dirty="0"/>
              <a:t>What is Convoy Effect?</a:t>
            </a:r>
          </a:p>
          <a:p>
            <a:pPr lvl="1"/>
            <a:r>
              <a:rPr lang="en-US" dirty="0"/>
              <a:t>Convoy Effect is a situation where many processes, who need to use a resource for short time are blocked by one process holding that resource for a long time.</a:t>
            </a:r>
          </a:p>
          <a:p>
            <a:pPr lvl="1"/>
            <a:r>
              <a:rPr lang="en-US" dirty="0"/>
              <a:t>This essentially leads to poor utilization of resources and hence poor performance.</a:t>
            </a:r>
          </a:p>
          <a:p>
            <a:pPr marL="0" indent="0">
              <a:buNone/>
            </a:pPr>
            <a:br>
              <a:rPr lang="en-US" dirty="0"/>
            </a:br>
            <a:endParaRPr lang="en-IN" dirty="0"/>
          </a:p>
        </p:txBody>
      </p:sp>
    </p:spTree>
    <p:extLst>
      <p:ext uri="{BB962C8B-B14F-4D97-AF65-F5344CB8AC3E}">
        <p14:creationId xmlns:p14="http://schemas.microsoft.com/office/powerpoint/2010/main" val="562854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2816-26FF-4E15-AC41-EADCDC9F5156}"/>
              </a:ext>
            </a:extLst>
          </p:cNvPr>
          <p:cNvSpPr>
            <a:spLocks noGrp="1"/>
          </p:cNvSpPr>
          <p:nvPr>
            <p:ph type="title"/>
          </p:nvPr>
        </p:nvSpPr>
        <p:spPr/>
        <p:txBody>
          <a:bodyPr>
            <a:normAutofit fontScale="90000"/>
          </a:bodyPr>
          <a:lstStyle/>
          <a:p>
            <a:r>
              <a:rPr lang="en-US" dirty="0"/>
              <a:t>Shortest Job First(SJF) Scheduling</a:t>
            </a:r>
            <a:br>
              <a:rPr lang="en-US" dirty="0"/>
            </a:br>
            <a:endParaRPr lang="en-IN" dirty="0"/>
          </a:p>
        </p:txBody>
      </p:sp>
      <p:sp>
        <p:nvSpPr>
          <p:cNvPr id="3" name="Content Placeholder 2">
            <a:extLst>
              <a:ext uri="{FF2B5EF4-FFF2-40B4-BE49-F238E27FC236}">
                <a16:creationId xmlns:a16="http://schemas.microsoft.com/office/drawing/2014/main" id="{79FE0934-8761-482E-8024-A109DEDA424C}"/>
              </a:ext>
            </a:extLst>
          </p:cNvPr>
          <p:cNvSpPr>
            <a:spLocks noGrp="1"/>
          </p:cNvSpPr>
          <p:nvPr>
            <p:ph idx="1"/>
          </p:nvPr>
        </p:nvSpPr>
        <p:spPr/>
        <p:txBody>
          <a:bodyPr>
            <a:normAutofit fontScale="92500" lnSpcReduction="20000"/>
          </a:bodyPr>
          <a:lstStyle/>
          <a:p>
            <a:pPr marL="0" indent="0">
              <a:buNone/>
            </a:pPr>
            <a:r>
              <a:rPr lang="en-US" dirty="0"/>
              <a:t>Shortest Job First scheduling works on the process with the shortest burst time or duration first.</a:t>
            </a:r>
          </a:p>
          <a:p>
            <a:endParaRPr lang="en-US" dirty="0"/>
          </a:p>
          <a:p>
            <a:r>
              <a:rPr lang="en-US" dirty="0"/>
              <a:t>This is the best approach to minimize waiting time.</a:t>
            </a:r>
          </a:p>
          <a:p>
            <a:r>
              <a:rPr lang="en-US" dirty="0"/>
              <a:t>This is used in Batch Systems.</a:t>
            </a:r>
          </a:p>
          <a:p>
            <a:pPr marL="0" indent="0">
              <a:buNone/>
            </a:pPr>
            <a:endParaRPr lang="en-US" dirty="0"/>
          </a:p>
          <a:p>
            <a:pPr marL="0" indent="0">
              <a:buNone/>
            </a:pPr>
            <a:r>
              <a:rPr lang="en-US" dirty="0"/>
              <a:t>It is of two types:</a:t>
            </a:r>
          </a:p>
          <a:p>
            <a:pPr lvl="1"/>
            <a:r>
              <a:rPr lang="en-US" dirty="0"/>
              <a:t>Non Pre-emptive</a:t>
            </a:r>
          </a:p>
          <a:p>
            <a:pPr lvl="1"/>
            <a:r>
              <a:rPr lang="en-US" dirty="0"/>
              <a:t>Pre-emptive</a:t>
            </a:r>
          </a:p>
          <a:p>
            <a:r>
              <a:rPr lang="en-US" dirty="0"/>
              <a:t>To successfully implement it, the burst time/duration time of the processes should be known to the processor in advance, which is practically not feasible all the time.</a:t>
            </a:r>
          </a:p>
          <a:p>
            <a:r>
              <a:rPr lang="en-US" dirty="0"/>
              <a:t>This scheduling algorithm is optimal if all the jobs/processes are available at the same time. (either Arrival time is 0 for all, or Arrival time is same for all)</a:t>
            </a:r>
            <a:endParaRPr lang="en-IN" dirty="0"/>
          </a:p>
        </p:txBody>
      </p:sp>
    </p:spTree>
    <p:extLst>
      <p:ext uri="{BB962C8B-B14F-4D97-AF65-F5344CB8AC3E}">
        <p14:creationId xmlns:p14="http://schemas.microsoft.com/office/powerpoint/2010/main" val="1139435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F580D-8090-4881-B684-56EB6AB54E93}"/>
              </a:ext>
            </a:extLst>
          </p:cNvPr>
          <p:cNvSpPr>
            <a:spLocks noGrp="1"/>
          </p:cNvSpPr>
          <p:nvPr>
            <p:ph type="title"/>
          </p:nvPr>
        </p:nvSpPr>
        <p:spPr/>
        <p:txBody>
          <a:bodyPr>
            <a:normAutofit fontScale="90000"/>
          </a:bodyPr>
          <a:lstStyle/>
          <a:p>
            <a:r>
              <a:rPr lang="en-US" dirty="0"/>
              <a:t>Non Pre-emptive Shortest Job First</a:t>
            </a:r>
            <a:br>
              <a:rPr lang="en-US" dirty="0"/>
            </a:br>
            <a:endParaRPr lang="en-IN" dirty="0"/>
          </a:p>
        </p:txBody>
      </p:sp>
      <p:sp>
        <p:nvSpPr>
          <p:cNvPr id="3" name="Content Placeholder 2">
            <a:extLst>
              <a:ext uri="{FF2B5EF4-FFF2-40B4-BE49-F238E27FC236}">
                <a16:creationId xmlns:a16="http://schemas.microsoft.com/office/drawing/2014/main" id="{27745E62-BCD9-4686-A8FD-0EBCD165A60B}"/>
              </a:ext>
            </a:extLst>
          </p:cNvPr>
          <p:cNvSpPr>
            <a:spLocks noGrp="1"/>
          </p:cNvSpPr>
          <p:nvPr>
            <p:ph idx="1"/>
          </p:nvPr>
        </p:nvSpPr>
        <p:spPr>
          <a:xfrm>
            <a:off x="364787" y="2194559"/>
            <a:ext cx="10820400" cy="4024125"/>
          </a:xfrm>
        </p:spPr>
        <p:txBody>
          <a:bodyPr/>
          <a:lstStyle/>
          <a:p>
            <a:r>
              <a:rPr lang="en-US" dirty="0"/>
              <a:t>Consider the below processes available in the ready queue for execution, with arrival time as 0 for all and given burst times.</a:t>
            </a:r>
          </a:p>
          <a:p>
            <a:endParaRPr lang="en-US" dirty="0"/>
          </a:p>
          <a:p>
            <a:endParaRPr lang="en-IN" dirty="0"/>
          </a:p>
        </p:txBody>
      </p:sp>
      <p:pic>
        <p:nvPicPr>
          <p:cNvPr id="5125" name="Picture 5" descr="Non Pre-emptive Shortest Job First Scheduling">
            <a:extLst>
              <a:ext uri="{FF2B5EF4-FFF2-40B4-BE49-F238E27FC236}">
                <a16:creationId xmlns:a16="http://schemas.microsoft.com/office/drawing/2014/main" id="{31BA0649-F8AE-43C8-8878-007CA7DB10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5612" y="2886075"/>
            <a:ext cx="523875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9197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F8DC5-3D2F-4900-A290-4CAB82EB0332}"/>
              </a:ext>
            </a:extLst>
          </p:cNvPr>
          <p:cNvSpPr>
            <a:spLocks noGrp="1"/>
          </p:cNvSpPr>
          <p:nvPr>
            <p:ph type="title"/>
          </p:nvPr>
        </p:nvSpPr>
        <p:spPr>
          <a:xfrm>
            <a:off x="1940767" y="764373"/>
            <a:ext cx="9565433" cy="1293028"/>
          </a:xfrm>
        </p:spPr>
        <p:txBody>
          <a:bodyPr>
            <a:normAutofit fontScale="90000"/>
          </a:bodyPr>
          <a:lstStyle/>
          <a:p>
            <a:r>
              <a:rPr lang="en-US" dirty="0"/>
              <a:t>Problem with Non Pre-emptive SJF</a:t>
            </a:r>
            <a:br>
              <a:rPr lang="en-US" dirty="0"/>
            </a:br>
            <a:endParaRPr lang="en-IN" dirty="0"/>
          </a:p>
        </p:txBody>
      </p:sp>
      <p:sp>
        <p:nvSpPr>
          <p:cNvPr id="3" name="Content Placeholder 2">
            <a:extLst>
              <a:ext uri="{FF2B5EF4-FFF2-40B4-BE49-F238E27FC236}">
                <a16:creationId xmlns:a16="http://schemas.microsoft.com/office/drawing/2014/main" id="{667330EB-FFE0-49A0-BF3A-1FD5EE50496E}"/>
              </a:ext>
            </a:extLst>
          </p:cNvPr>
          <p:cNvSpPr>
            <a:spLocks noGrp="1"/>
          </p:cNvSpPr>
          <p:nvPr>
            <p:ph idx="1"/>
          </p:nvPr>
        </p:nvSpPr>
        <p:spPr/>
        <p:txBody>
          <a:bodyPr/>
          <a:lstStyle/>
          <a:p>
            <a:pPr algn="just"/>
            <a:r>
              <a:rPr lang="en-US" dirty="0"/>
              <a:t>If the arrival time for processes are different, which means all the processes are not available in the ready queue at time 0, and some jobs arrive after some time, in such situation, sometimes process with short burst time have to wait for the current process's execution to finish, because in Non Pre-emptive SJF, on arrival of a process with short duration, the existing job/process's execution is not halted/stopped to execute the short job first.</a:t>
            </a:r>
          </a:p>
          <a:p>
            <a:pPr algn="just"/>
            <a:endParaRPr lang="en-US" dirty="0"/>
          </a:p>
          <a:p>
            <a:pPr algn="just"/>
            <a:r>
              <a:rPr lang="en-US" dirty="0"/>
              <a:t>This leads to the problem of Starvation, where a shorter process has to wait for a long time until the current longer process gets executed. This happens if shorter jobs keep coming, but this can be solved using the concept of aging.</a:t>
            </a:r>
            <a:endParaRPr lang="en-IN" dirty="0"/>
          </a:p>
        </p:txBody>
      </p:sp>
    </p:spTree>
    <p:extLst>
      <p:ext uri="{BB962C8B-B14F-4D97-AF65-F5344CB8AC3E}">
        <p14:creationId xmlns:p14="http://schemas.microsoft.com/office/powerpoint/2010/main" val="104497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FE66F-87BC-46D5-9654-F44F7C424796}"/>
              </a:ext>
            </a:extLst>
          </p:cNvPr>
          <p:cNvSpPr>
            <a:spLocks noGrp="1"/>
          </p:cNvSpPr>
          <p:nvPr>
            <p:ph type="title"/>
          </p:nvPr>
        </p:nvSpPr>
        <p:spPr/>
        <p:txBody>
          <a:bodyPr>
            <a:normAutofit fontScale="90000"/>
          </a:bodyPr>
          <a:lstStyle/>
          <a:p>
            <a:r>
              <a:rPr lang="en-US" dirty="0"/>
              <a:t>Pre-emptive Shortest Job First</a:t>
            </a:r>
            <a:br>
              <a:rPr lang="en-US" dirty="0"/>
            </a:br>
            <a:endParaRPr lang="en-IN" dirty="0"/>
          </a:p>
        </p:txBody>
      </p:sp>
      <p:sp>
        <p:nvSpPr>
          <p:cNvPr id="3" name="Content Placeholder 2">
            <a:extLst>
              <a:ext uri="{FF2B5EF4-FFF2-40B4-BE49-F238E27FC236}">
                <a16:creationId xmlns:a16="http://schemas.microsoft.com/office/drawing/2014/main" id="{C82ED6A2-DA26-44E7-8A86-02745A031E62}"/>
              </a:ext>
            </a:extLst>
          </p:cNvPr>
          <p:cNvSpPr>
            <a:spLocks noGrp="1"/>
          </p:cNvSpPr>
          <p:nvPr>
            <p:ph idx="1"/>
          </p:nvPr>
        </p:nvSpPr>
        <p:spPr>
          <a:xfrm>
            <a:off x="909735" y="1466772"/>
            <a:ext cx="10820400" cy="4024125"/>
          </a:xfrm>
        </p:spPr>
        <p:txBody>
          <a:bodyPr/>
          <a:lstStyle/>
          <a:p>
            <a:r>
              <a:rPr lang="en-US" dirty="0"/>
              <a:t>In Preemptive Shortest Job First Scheduling, jobs are put into ready queue as they arrive, but as a process with </a:t>
            </a:r>
            <a:r>
              <a:rPr lang="en-US" b="1" dirty="0"/>
              <a:t>short burst time</a:t>
            </a:r>
            <a:r>
              <a:rPr lang="en-US" dirty="0"/>
              <a:t> arrives, the existing process is preempted or removed from execution, and the shorter job is executed first.</a:t>
            </a:r>
          </a:p>
          <a:p>
            <a:br>
              <a:rPr lang="en-US" dirty="0"/>
            </a:br>
            <a:endParaRPr lang="en-IN" dirty="0"/>
          </a:p>
        </p:txBody>
      </p:sp>
      <p:pic>
        <p:nvPicPr>
          <p:cNvPr id="7170" name="Picture 2" descr="Pre-emptive Shortest Job First Scheduling">
            <a:extLst>
              <a:ext uri="{FF2B5EF4-FFF2-40B4-BE49-F238E27FC236}">
                <a16:creationId xmlns:a16="http://schemas.microsoft.com/office/drawing/2014/main" id="{1C0733B6-7A79-4260-9B5A-F0435348FC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25" y="2419350"/>
            <a:ext cx="5238750" cy="443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6065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84172-5270-4FFF-B040-9F97F68671A9}"/>
              </a:ext>
            </a:extLst>
          </p:cNvPr>
          <p:cNvSpPr>
            <a:spLocks noGrp="1"/>
          </p:cNvSpPr>
          <p:nvPr>
            <p:ph type="title"/>
          </p:nvPr>
        </p:nvSpPr>
        <p:spPr/>
        <p:txBody>
          <a:bodyPr/>
          <a:lstStyle/>
          <a:p>
            <a:r>
              <a:rPr lang="en-IN" dirty="0"/>
              <a:t>Priority CPU Scheduling</a:t>
            </a:r>
            <a:br>
              <a:rPr lang="en-IN" dirty="0"/>
            </a:br>
            <a:endParaRPr lang="en-IN" dirty="0"/>
          </a:p>
        </p:txBody>
      </p:sp>
      <p:sp>
        <p:nvSpPr>
          <p:cNvPr id="3" name="Content Placeholder 2">
            <a:extLst>
              <a:ext uri="{FF2B5EF4-FFF2-40B4-BE49-F238E27FC236}">
                <a16:creationId xmlns:a16="http://schemas.microsoft.com/office/drawing/2014/main" id="{F57B4183-FCCE-4DB1-8F63-29042ECFBCDF}"/>
              </a:ext>
            </a:extLst>
          </p:cNvPr>
          <p:cNvSpPr>
            <a:spLocks noGrp="1"/>
          </p:cNvSpPr>
          <p:nvPr>
            <p:ph idx="1"/>
          </p:nvPr>
        </p:nvSpPr>
        <p:spPr/>
        <p:txBody>
          <a:bodyPr/>
          <a:lstStyle/>
          <a:p>
            <a:pPr algn="just"/>
            <a:r>
              <a:rPr lang="en-US" b="1" dirty="0"/>
              <a:t>Preemptive Priority Scheduling: </a:t>
            </a:r>
            <a:r>
              <a:rPr lang="en-US" dirty="0"/>
              <a:t>If the new process arrived at the ready queue has a higher priority than the currently running process, the CPU is preempted, which means the processing of the current process is stopped and the incoming new process with higher priority gets the CPU for its execution.</a:t>
            </a:r>
          </a:p>
          <a:p>
            <a:pPr algn="just"/>
            <a:endParaRPr lang="en-US" dirty="0"/>
          </a:p>
          <a:p>
            <a:pPr algn="just"/>
            <a:r>
              <a:rPr lang="en-US" b="1" dirty="0"/>
              <a:t>Non-Preemptive Priority Scheduling:</a:t>
            </a:r>
            <a:r>
              <a:rPr lang="en-US" dirty="0"/>
              <a:t> In case of non-preemptive priority scheduling algorithm if a new process arrives with a higher priority than the current running process, the incoming process is put at the head of the ready queue, which means after the execution of the current process it will be processed.</a:t>
            </a:r>
          </a:p>
          <a:p>
            <a:pPr algn="just"/>
            <a:endParaRPr lang="en-IN" dirty="0"/>
          </a:p>
        </p:txBody>
      </p:sp>
    </p:spTree>
    <p:extLst>
      <p:ext uri="{BB962C8B-B14F-4D97-AF65-F5344CB8AC3E}">
        <p14:creationId xmlns:p14="http://schemas.microsoft.com/office/powerpoint/2010/main" val="2505146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593D8-9989-4B45-8D15-1D425EA4AC63}"/>
              </a:ext>
            </a:extLst>
          </p:cNvPr>
          <p:cNvSpPr>
            <a:spLocks noGrp="1"/>
          </p:cNvSpPr>
          <p:nvPr>
            <p:ph type="title"/>
          </p:nvPr>
        </p:nvSpPr>
        <p:spPr/>
        <p:txBody>
          <a:bodyPr>
            <a:normAutofit fontScale="90000"/>
          </a:bodyPr>
          <a:lstStyle/>
          <a:p>
            <a:r>
              <a:rPr lang="en-US" dirty="0"/>
              <a:t>Example of Priority Scheduling Algorithm</a:t>
            </a:r>
            <a:br>
              <a:rPr lang="en-US" dirty="0"/>
            </a:br>
            <a:endParaRPr lang="en-IN" dirty="0"/>
          </a:p>
        </p:txBody>
      </p:sp>
      <p:pic>
        <p:nvPicPr>
          <p:cNvPr id="2050" name="Picture 2" descr="Priority Scheduling">
            <a:extLst>
              <a:ext uri="{FF2B5EF4-FFF2-40B4-BE49-F238E27FC236}">
                <a16:creationId xmlns:a16="http://schemas.microsoft.com/office/drawing/2014/main" id="{B4D7C15F-6590-4698-AAAC-34EAE7C63A0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7846" y="1619319"/>
            <a:ext cx="6733476" cy="5313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6108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D4C02-BD83-4A4C-BD40-B151F3C16512}"/>
              </a:ext>
            </a:extLst>
          </p:cNvPr>
          <p:cNvSpPr>
            <a:spLocks noGrp="1"/>
          </p:cNvSpPr>
          <p:nvPr>
            <p:ph type="title"/>
          </p:nvPr>
        </p:nvSpPr>
        <p:spPr/>
        <p:txBody>
          <a:bodyPr>
            <a:normAutofit fontScale="90000"/>
          </a:bodyPr>
          <a:lstStyle/>
          <a:p>
            <a:r>
              <a:rPr lang="en-US" dirty="0"/>
              <a:t>Problem with Priority Scheduling Algorithm</a:t>
            </a:r>
            <a:br>
              <a:rPr lang="en-US" dirty="0"/>
            </a:br>
            <a:endParaRPr lang="en-IN" dirty="0"/>
          </a:p>
        </p:txBody>
      </p:sp>
      <p:sp>
        <p:nvSpPr>
          <p:cNvPr id="3" name="Content Placeholder 2">
            <a:extLst>
              <a:ext uri="{FF2B5EF4-FFF2-40B4-BE49-F238E27FC236}">
                <a16:creationId xmlns:a16="http://schemas.microsoft.com/office/drawing/2014/main" id="{E4C4D484-062E-4BE4-97ED-D1301895E481}"/>
              </a:ext>
            </a:extLst>
          </p:cNvPr>
          <p:cNvSpPr>
            <a:spLocks noGrp="1"/>
          </p:cNvSpPr>
          <p:nvPr>
            <p:ph idx="1"/>
          </p:nvPr>
        </p:nvSpPr>
        <p:spPr/>
        <p:txBody>
          <a:bodyPr>
            <a:normAutofit lnSpcReduction="10000"/>
          </a:bodyPr>
          <a:lstStyle/>
          <a:p>
            <a:pPr algn="just"/>
            <a:r>
              <a:rPr lang="en-US" dirty="0"/>
              <a:t>In priority scheduling algorithm, the chances of indefinite blocking or starvation.</a:t>
            </a:r>
          </a:p>
          <a:p>
            <a:pPr algn="just"/>
            <a:endParaRPr lang="en-US" dirty="0"/>
          </a:p>
          <a:p>
            <a:pPr algn="just"/>
            <a:r>
              <a:rPr lang="en-US" dirty="0"/>
              <a:t>A process is considered blocked when it is ready to run but has to wait for the CPU as some other process is running currently.</a:t>
            </a:r>
          </a:p>
          <a:p>
            <a:pPr algn="just"/>
            <a:endParaRPr lang="en-US" dirty="0"/>
          </a:p>
          <a:p>
            <a:pPr algn="just"/>
            <a:r>
              <a:rPr lang="en-US" dirty="0"/>
              <a:t>But in case of priority scheduling if new higher priority processes keeps coming in the ready queue then the processes waiting in the ready queue with lower priority may have to wait for long durations before getting the CPU for execution.</a:t>
            </a:r>
          </a:p>
          <a:p>
            <a:pPr algn="just"/>
            <a:endParaRPr lang="en-US" dirty="0"/>
          </a:p>
          <a:p>
            <a:pPr algn="just"/>
            <a:r>
              <a:rPr lang="en-US" dirty="0"/>
              <a:t>In 1973, when the IBM 7904 machine was shut down at MIT, a low-priority process was found which was submitted in 1967 and had not yet been run.</a:t>
            </a:r>
            <a:endParaRPr lang="en-IN" dirty="0"/>
          </a:p>
        </p:txBody>
      </p:sp>
    </p:spTree>
    <p:extLst>
      <p:ext uri="{BB962C8B-B14F-4D97-AF65-F5344CB8AC3E}">
        <p14:creationId xmlns:p14="http://schemas.microsoft.com/office/powerpoint/2010/main" val="31313544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BEE1A-AAC7-4138-B462-574367C51FF6}"/>
              </a:ext>
            </a:extLst>
          </p:cNvPr>
          <p:cNvSpPr>
            <a:spLocks noGrp="1"/>
          </p:cNvSpPr>
          <p:nvPr>
            <p:ph type="title"/>
          </p:nvPr>
        </p:nvSpPr>
        <p:spPr/>
        <p:txBody>
          <a:bodyPr/>
          <a:lstStyle/>
          <a:p>
            <a:r>
              <a:rPr lang="en-IN" dirty="0"/>
              <a:t>Round Robin Scheduling</a:t>
            </a:r>
            <a:br>
              <a:rPr lang="en-IN" dirty="0"/>
            </a:br>
            <a:endParaRPr lang="en-IN" dirty="0"/>
          </a:p>
        </p:txBody>
      </p:sp>
      <p:sp>
        <p:nvSpPr>
          <p:cNvPr id="3" name="Content Placeholder 2">
            <a:extLst>
              <a:ext uri="{FF2B5EF4-FFF2-40B4-BE49-F238E27FC236}">
                <a16:creationId xmlns:a16="http://schemas.microsoft.com/office/drawing/2014/main" id="{7BBDAAD2-B293-45CD-BB3E-FBCDFCA50D83}"/>
              </a:ext>
            </a:extLst>
          </p:cNvPr>
          <p:cNvSpPr>
            <a:spLocks noGrp="1"/>
          </p:cNvSpPr>
          <p:nvPr>
            <p:ph idx="1"/>
          </p:nvPr>
        </p:nvSpPr>
        <p:spPr/>
        <p:txBody>
          <a:bodyPr/>
          <a:lstStyle/>
          <a:p>
            <a:pPr algn="just">
              <a:buFont typeface="Arial" panose="020B0604020202020204" pitchFamily="34" charset="0"/>
              <a:buChar char="•"/>
            </a:pPr>
            <a:r>
              <a:rPr lang="en-US" b="0" i="0" dirty="0">
                <a:solidFill>
                  <a:srgbClr val="333333"/>
                </a:solidFill>
                <a:effectLst/>
                <a:latin typeface="noto sans"/>
              </a:rPr>
              <a:t>A fixed time is allotted to each process, called </a:t>
            </a:r>
            <a:r>
              <a:rPr lang="en-US" b="1" i="0" dirty="0">
                <a:solidFill>
                  <a:srgbClr val="333333"/>
                </a:solidFill>
                <a:effectLst/>
                <a:latin typeface="noto sans"/>
              </a:rPr>
              <a:t>quantum</a:t>
            </a:r>
            <a:r>
              <a:rPr lang="en-US" b="0" i="0" dirty="0">
                <a:solidFill>
                  <a:srgbClr val="333333"/>
                </a:solidFill>
                <a:effectLst/>
                <a:latin typeface="noto sans"/>
              </a:rPr>
              <a:t>, for execution.</a:t>
            </a:r>
          </a:p>
          <a:p>
            <a:pPr algn="just">
              <a:buFont typeface="Arial" panose="020B0604020202020204" pitchFamily="34" charset="0"/>
              <a:buChar char="•"/>
            </a:pPr>
            <a:r>
              <a:rPr lang="en-US" b="0" i="0" dirty="0">
                <a:solidFill>
                  <a:srgbClr val="333333"/>
                </a:solidFill>
                <a:effectLst/>
                <a:latin typeface="noto sans"/>
              </a:rPr>
              <a:t>Once a process is executed for given time period that process is preempted and other process executes for given time period.</a:t>
            </a:r>
          </a:p>
          <a:p>
            <a:pPr algn="just">
              <a:buFont typeface="Arial" panose="020B0604020202020204" pitchFamily="34" charset="0"/>
              <a:buChar char="•"/>
            </a:pPr>
            <a:r>
              <a:rPr lang="en-US" b="0" i="0" dirty="0">
                <a:solidFill>
                  <a:srgbClr val="333333"/>
                </a:solidFill>
                <a:effectLst/>
                <a:latin typeface="noto sans"/>
              </a:rPr>
              <a:t>Context switching is used to save states of preempted processes.</a:t>
            </a:r>
          </a:p>
          <a:p>
            <a:pPr algn="just"/>
            <a:endParaRPr lang="en-IN" dirty="0"/>
          </a:p>
        </p:txBody>
      </p:sp>
    </p:spTree>
    <p:extLst>
      <p:ext uri="{BB962C8B-B14F-4D97-AF65-F5344CB8AC3E}">
        <p14:creationId xmlns:p14="http://schemas.microsoft.com/office/powerpoint/2010/main" val="1677755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BEE1A-AAC7-4138-B462-574367C51FF6}"/>
              </a:ext>
            </a:extLst>
          </p:cNvPr>
          <p:cNvSpPr>
            <a:spLocks noGrp="1"/>
          </p:cNvSpPr>
          <p:nvPr>
            <p:ph type="title"/>
          </p:nvPr>
        </p:nvSpPr>
        <p:spPr/>
        <p:txBody>
          <a:bodyPr/>
          <a:lstStyle/>
          <a:p>
            <a:r>
              <a:rPr lang="en-IN" dirty="0"/>
              <a:t>Round Robin Scheduling</a:t>
            </a:r>
            <a:br>
              <a:rPr lang="en-IN" dirty="0"/>
            </a:br>
            <a:endParaRPr lang="en-IN" dirty="0"/>
          </a:p>
        </p:txBody>
      </p:sp>
      <p:pic>
        <p:nvPicPr>
          <p:cNvPr id="5" name="Picture 3" descr="Round Robin(RR) Scheduling">
            <a:extLst>
              <a:ext uri="{FF2B5EF4-FFF2-40B4-BE49-F238E27FC236}">
                <a16:creationId xmlns:a16="http://schemas.microsoft.com/office/drawing/2014/main" id="{4F3C73AA-D5C2-467D-98F3-28EB3A228B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48678" y="1289113"/>
            <a:ext cx="7296538" cy="5532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06293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3C452-C88E-4824-8DD3-042620F42CE2}"/>
              </a:ext>
            </a:extLst>
          </p:cNvPr>
          <p:cNvSpPr>
            <a:spLocks noGrp="1"/>
          </p:cNvSpPr>
          <p:nvPr>
            <p:ph type="title"/>
          </p:nvPr>
        </p:nvSpPr>
        <p:spPr/>
        <p:txBody>
          <a:bodyPr>
            <a:normAutofit fontScale="90000"/>
          </a:bodyPr>
          <a:lstStyle/>
          <a:p>
            <a:r>
              <a:rPr lang="en-IN" dirty="0"/>
              <a:t>Multilevel Queue Scheduling</a:t>
            </a:r>
            <a:br>
              <a:rPr lang="en-IN" dirty="0"/>
            </a:br>
            <a:endParaRPr lang="en-IN" dirty="0"/>
          </a:p>
        </p:txBody>
      </p:sp>
      <p:sp>
        <p:nvSpPr>
          <p:cNvPr id="3" name="Content Placeholder 2">
            <a:extLst>
              <a:ext uri="{FF2B5EF4-FFF2-40B4-BE49-F238E27FC236}">
                <a16:creationId xmlns:a16="http://schemas.microsoft.com/office/drawing/2014/main" id="{87B6A61D-F158-4517-BE14-8D1FA59FE5AC}"/>
              </a:ext>
            </a:extLst>
          </p:cNvPr>
          <p:cNvSpPr>
            <a:spLocks noGrp="1"/>
          </p:cNvSpPr>
          <p:nvPr>
            <p:ph idx="1"/>
          </p:nvPr>
        </p:nvSpPr>
        <p:spPr/>
        <p:txBody>
          <a:bodyPr/>
          <a:lstStyle/>
          <a:p>
            <a:pPr algn="just"/>
            <a:r>
              <a:rPr lang="en-US" b="0" i="0" dirty="0">
                <a:solidFill>
                  <a:srgbClr val="333333"/>
                </a:solidFill>
                <a:effectLst/>
                <a:latin typeface="noto sans"/>
              </a:rPr>
              <a:t> A common division is made between foreground(or interactive) processes and background (or batch) processes. These two types of processes have different response-time requirements, and so might have different scheduling needs. In addition, foreground processes may have priority over background processes.</a:t>
            </a:r>
          </a:p>
          <a:p>
            <a:pPr algn="just"/>
            <a:r>
              <a:rPr lang="en-US" b="0" i="0" dirty="0">
                <a:solidFill>
                  <a:srgbClr val="333333"/>
                </a:solidFill>
                <a:effectLst/>
                <a:latin typeface="noto sans"/>
              </a:rPr>
              <a:t>A multi-level queue scheduling algorithm partitions the ready queue into several separate queues. The processes are permanently assigned to one queue, generally based on some property of the process, such as memory size, process priority, or process type. Each queue has its own scheduling algorithm.</a:t>
            </a:r>
          </a:p>
          <a:p>
            <a:pPr algn="just"/>
            <a:endParaRPr lang="en-IN" dirty="0"/>
          </a:p>
        </p:txBody>
      </p:sp>
    </p:spTree>
    <p:extLst>
      <p:ext uri="{BB962C8B-B14F-4D97-AF65-F5344CB8AC3E}">
        <p14:creationId xmlns:p14="http://schemas.microsoft.com/office/powerpoint/2010/main" val="443242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8902E-6C8E-4099-BEBE-4AEDF291C4E9}"/>
              </a:ext>
            </a:extLst>
          </p:cNvPr>
          <p:cNvSpPr>
            <a:spLocks noGrp="1"/>
          </p:cNvSpPr>
          <p:nvPr>
            <p:ph type="title"/>
          </p:nvPr>
        </p:nvSpPr>
        <p:spPr>
          <a:xfrm>
            <a:off x="1791478" y="764373"/>
            <a:ext cx="9714722" cy="1293028"/>
          </a:xfrm>
        </p:spPr>
        <p:txBody>
          <a:bodyPr>
            <a:normAutofit fontScale="90000"/>
          </a:bodyPr>
          <a:lstStyle/>
          <a:p>
            <a:r>
              <a:rPr lang="en-IN" dirty="0"/>
              <a:t>Multilevel Queue Scheduling</a:t>
            </a:r>
            <a:br>
              <a:rPr lang="en-IN" dirty="0"/>
            </a:br>
            <a:endParaRPr lang="en-IN" dirty="0"/>
          </a:p>
        </p:txBody>
      </p:sp>
      <p:sp>
        <p:nvSpPr>
          <p:cNvPr id="3" name="Content Placeholder 2">
            <a:extLst>
              <a:ext uri="{FF2B5EF4-FFF2-40B4-BE49-F238E27FC236}">
                <a16:creationId xmlns:a16="http://schemas.microsoft.com/office/drawing/2014/main" id="{A7298B56-97C0-497E-A994-01C74470496E}"/>
              </a:ext>
            </a:extLst>
          </p:cNvPr>
          <p:cNvSpPr>
            <a:spLocks noGrp="1"/>
          </p:cNvSpPr>
          <p:nvPr>
            <p:ph idx="1"/>
          </p:nvPr>
        </p:nvSpPr>
        <p:spPr/>
        <p:txBody>
          <a:bodyPr/>
          <a:lstStyle/>
          <a:p>
            <a:pPr algn="l"/>
            <a:r>
              <a:rPr lang="en-US" b="0" i="0">
                <a:solidFill>
                  <a:srgbClr val="333333"/>
                </a:solidFill>
                <a:effectLst/>
                <a:latin typeface="noto sans"/>
              </a:rPr>
              <a:t>Let us consider an example of a multilevel queue-scheduling algorithm with five queues:</a:t>
            </a:r>
          </a:p>
          <a:p>
            <a:pPr algn="l">
              <a:buFont typeface="+mj-lt"/>
              <a:buAutoNum type="arabicPeriod"/>
            </a:pPr>
            <a:r>
              <a:rPr lang="en-US" b="0" i="0">
                <a:solidFill>
                  <a:srgbClr val="333333"/>
                </a:solidFill>
                <a:effectLst/>
                <a:latin typeface="noto sans"/>
              </a:rPr>
              <a:t>System Processes</a:t>
            </a:r>
          </a:p>
          <a:p>
            <a:pPr algn="l">
              <a:buFont typeface="+mj-lt"/>
              <a:buAutoNum type="arabicPeriod"/>
            </a:pPr>
            <a:r>
              <a:rPr lang="en-US" b="0" i="0">
                <a:solidFill>
                  <a:srgbClr val="333333"/>
                </a:solidFill>
                <a:effectLst/>
                <a:latin typeface="noto sans"/>
              </a:rPr>
              <a:t>Interactive Processes</a:t>
            </a:r>
          </a:p>
          <a:p>
            <a:pPr algn="l">
              <a:buFont typeface="+mj-lt"/>
              <a:buAutoNum type="arabicPeriod"/>
            </a:pPr>
            <a:r>
              <a:rPr lang="en-US" b="0" i="0">
                <a:solidFill>
                  <a:srgbClr val="333333"/>
                </a:solidFill>
                <a:effectLst/>
                <a:latin typeface="noto sans"/>
              </a:rPr>
              <a:t>Interactive Editing Processes</a:t>
            </a:r>
          </a:p>
          <a:p>
            <a:pPr algn="l">
              <a:buFont typeface="+mj-lt"/>
              <a:buAutoNum type="arabicPeriod"/>
            </a:pPr>
            <a:r>
              <a:rPr lang="en-US" b="0" i="0">
                <a:solidFill>
                  <a:srgbClr val="333333"/>
                </a:solidFill>
                <a:effectLst/>
                <a:latin typeface="noto sans"/>
              </a:rPr>
              <a:t>Batch Processes</a:t>
            </a:r>
          </a:p>
          <a:p>
            <a:pPr algn="l">
              <a:buFont typeface="+mj-lt"/>
              <a:buAutoNum type="arabicPeriod"/>
            </a:pPr>
            <a:r>
              <a:rPr lang="en-US" b="0" i="0">
                <a:solidFill>
                  <a:srgbClr val="333333"/>
                </a:solidFill>
                <a:effectLst/>
                <a:latin typeface="noto sans"/>
              </a:rPr>
              <a:t>Student Processes</a:t>
            </a:r>
          </a:p>
        </p:txBody>
      </p:sp>
      <p:pic>
        <p:nvPicPr>
          <p:cNvPr id="6146" name="Picture 2" descr="Multi Level Scheduling Queues">
            <a:extLst>
              <a:ext uri="{FF2B5EF4-FFF2-40B4-BE49-F238E27FC236}">
                <a16:creationId xmlns:a16="http://schemas.microsoft.com/office/drawing/2014/main" id="{1CB7874B-327B-4009-A3D2-426F80F55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4116" y="2962470"/>
            <a:ext cx="6677025"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601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DC074-33D3-4B32-B962-45B2E5546DF1}"/>
              </a:ext>
            </a:extLst>
          </p:cNvPr>
          <p:cNvSpPr>
            <a:spLocks noGrp="1"/>
          </p:cNvSpPr>
          <p:nvPr>
            <p:ph type="title"/>
          </p:nvPr>
        </p:nvSpPr>
        <p:spPr/>
        <p:txBody>
          <a:bodyPr>
            <a:normAutofit fontScale="90000"/>
          </a:bodyPr>
          <a:lstStyle/>
          <a:p>
            <a:r>
              <a:rPr lang="en-IN" dirty="0"/>
              <a:t>Multilevel Feedback Queue Scheduling</a:t>
            </a:r>
            <a:br>
              <a:rPr lang="en-IN" dirty="0"/>
            </a:br>
            <a:endParaRPr lang="en-IN" dirty="0"/>
          </a:p>
        </p:txBody>
      </p:sp>
      <p:sp>
        <p:nvSpPr>
          <p:cNvPr id="3" name="Content Placeholder 2">
            <a:extLst>
              <a:ext uri="{FF2B5EF4-FFF2-40B4-BE49-F238E27FC236}">
                <a16:creationId xmlns:a16="http://schemas.microsoft.com/office/drawing/2014/main" id="{F5E1EE7A-5B57-4958-A47D-02B53F602086}"/>
              </a:ext>
            </a:extLst>
          </p:cNvPr>
          <p:cNvSpPr>
            <a:spLocks noGrp="1"/>
          </p:cNvSpPr>
          <p:nvPr>
            <p:ph idx="1"/>
          </p:nvPr>
        </p:nvSpPr>
        <p:spPr/>
        <p:txBody>
          <a:bodyPr/>
          <a:lstStyle/>
          <a:p>
            <a:pPr algn="just"/>
            <a:r>
              <a:rPr lang="en-US" dirty="0"/>
              <a:t>In a multilevel queue-scheduling algorithm, processes are permanently assigned to a queue on entry to the system. Processes do not move between queues. This setup has the advantage of low scheduling overhead, but the disadvantage of being inflexible.</a:t>
            </a:r>
          </a:p>
          <a:p>
            <a:pPr algn="just"/>
            <a:endParaRPr lang="en-US" dirty="0"/>
          </a:p>
          <a:p>
            <a:pPr algn="just"/>
            <a:r>
              <a:rPr lang="en-US" dirty="0"/>
              <a:t>Multilevel feedback queue scheduling, however, allows a process to move between queues. The idea is to separate processes with different CPU-burst characteristics. If a process uses too much CPU time, it will be moved to a lower-priority queue. Similarly, a process that waits too long in a lower-priority queue may be moved to a higher-priority queue. This form of aging prevents starvation.</a:t>
            </a:r>
            <a:endParaRPr lang="en-IN" dirty="0"/>
          </a:p>
        </p:txBody>
      </p:sp>
    </p:spTree>
    <p:extLst>
      <p:ext uri="{BB962C8B-B14F-4D97-AF65-F5344CB8AC3E}">
        <p14:creationId xmlns:p14="http://schemas.microsoft.com/office/powerpoint/2010/main" val="34775574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DC074-33D3-4B32-B962-45B2E5546DF1}"/>
              </a:ext>
            </a:extLst>
          </p:cNvPr>
          <p:cNvSpPr>
            <a:spLocks noGrp="1"/>
          </p:cNvSpPr>
          <p:nvPr>
            <p:ph type="title"/>
          </p:nvPr>
        </p:nvSpPr>
        <p:spPr/>
        <p:txBody>
          <a:bodyPr>
            <a:normAutofit fontScale="90000"/>
          </a:bodyPr>
          <a:lstStyle/>
          <a:p>
            <a:r>
              <a:rPr lang="en-IN" dirty="0"/>
              <a:t>Multilevel Feedback Queue Scheduling</a:t>
            </a:r>
            <a:br>
              <a:rPr lang="en-IN" dirty="0"/>
            </a:br>
            <a:endParaRPr lang="en-IN" dirty="0"/>
          </a:p>
        </p:txBody>
      </p:sp>
      <p:pic>
        <p:nvPicPr>
          <p:cNvPr id="8194" name="Picture 2" descr="Multi Level Feedback Scheduling Queues">
            <a:extLst>
              <a:ext uri="{FF2B5EF4-FFF2-40B4-BE49-F238E27FC236}">
                <a16:creationId xmlns:a16="http://schemas.microsoft.com/office/drawing/2014/main" id="{579A5EF3-0DFA-4AC2-8A1F-56CBC1E1768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22817" y="2850503"/>
            <a:ext cx="6546365" cy="3120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26735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E6B7-E12C-49CF-97E7-E28601A467A6}"/>
              </a:ext>
            </a:extLst>
          </p:cNvPr>
          <p:cNvSpPr>
            <a:spLocks noGrp="1"/>
          </p:cNvSpPr>
          <p:nvPr>
            <p:ph type="title"/>
          </p:nvPr>
        </p:nvSpPr>
        <p:spPr/>
        <p:txBody>
          <a:bodyPr>
            <a:normAutofit fontScale="90000"/>
          </a:bodyPr>
          <a:lstStyle/>
          <a:p>
            <a:r>
              <a:rPr lang="en-IN" dirty="0"/>
              <a:t>Multilevel Feedback Queue Scheduling</a:t>
            </a:r>
            <a:br>
              <a:rPr lang="en-IN" dirty="0"/>
            </a:br>
            <a:endParaRPr lang="en-IN" dirty="0"/>
          </a:p>
        </p:txBody>
      </p:sp>
      <p:sp>
        <p:nvSpPr>
          <p:cNvPr id="3" name="Content Placeholder 2">
            <a:extLst>
              <a:ext uri="{FF2B5EF4-FFF2-40B4-BE49-F238E27FC236}">
                <a16:creationId xmlns:a16="http://schemas.microsoft.com/office/drawing/2014/main" id="{B41623EA-3458-405E-978C-9E35672482C7}"/>
              </a:ext>
            </a:extLst>
          </p:cNvPr>
          <p:cNvSpPr>
            <a:spLocks noGrp="1"/>
          </p:cNvSpPr>
          <p:nvPr>
            <p:ph idx="1"/>
          </p:nvPr>
        </p:nvSpPr>
        <p:spPr/>
        <p:txBody>
          <a:bodyPr/>
          <a:lstStyle/>
          <a:p>
            <a:pPr marL="0" indent="0" algn="l">
              <a:buNone/>
            </a:pPr>
            <a:r>
              <a:rPr lang="en-US" b="0" i="0" dirty="0">
                <a:solidFill>
                  <a:srgbClr val="333333"/>
                </a:solidFill>
                <a:effectLst/>
                <a:latin typeface="noto sans"/>
              </a:rPr>
              <a:t>In general, a multilevel feedback queue scheduler is defined by the following parameters:</a:t>
            </a:r>
          </a:p>
          <a:p>
            <a:pPr algn="l">
              <a:buFont typeface="Arial" panose="020B0604020202020204" pitchFamily="34" charset="0"/>
              <a:buChar char="•"/>
            </a:pPr>
            <a:r>
              <a:rPr lang="en-US" b="0" i="0" dirty="0">
                <a:solidFill>
                  <a:srgbClr val="333333"/>
                </a:solidFill>
                <a:effectLst/>
                <a:latin typeface="noto sans"/>
              </a:rPr>
              <a:t>The number of queues.</a:t>
            </a:r>
          </a:p>
          <a:p>
            <a:pPr algn="l">
              <a:buFont typeface="Arial" panose="020B0604020202020204" pitchFamily="34" charset="0"/>
              <a:buChar char="•"/>
            </a:pPr>
            <a:r>
              <a:rPr lang="en-US" b="0" i="0" dirty="0">
                <a:solidFill>
                  <a:srgbClr val="333333"/>
                </a:solidFill>
                <a:effectLst/>
                <a:latin typeface="noto sans"/>
              </a:rPr>
              <a:t>The scheduling algorithm for each queue.</a:t>
            </a:r>
          </a:p>
          <a:p>
            <a:pPr algn="l">
              <a:buFont typeface="Arial" panose="020B0604020202020204" pitchFamily="34" charset="0"/>
              <a:buChar char="•"/>
            </a:pPr>
            <a:r>
              <a:rPr lang="en-US" b="0" i="0" dirty="0">
                <a:solidFill>
                  <a:srgbClr val="333333"/>
                </a:solidFill>
                <a:effectLst/>
                <a:latin typeface="noto sans"/>
              </a:rPr>
              <a:t>The method used to determine when to upgrade a process to a higher-priority queue.</a:t>
            </a:r>
          </a:p>
          <a:p>
            <a:pPr algn="l">
              <a:buFont typeface="Arial" panose="020B0604020202020204" pitchFamily="34" charset="0"/>
              <a:buChar char="•"/>
            </a:pPr>
            <a:r>
              <a:rPr lang="en-US" b="0" i="0" dirty="0">
                <a:solidFill>
                  <a:srgbClr val="333333"/>
                </a:solidFill>
                <a:effectLst/>
                <a:latin typeface="noto sans"/>
              </a:rPr>
              <a:t>The method used to determine when to demote a process to a lower-priority queue.</a:t>
            </a:r>
          </a:p>
          <a:p>
            <a:pPr algn="l">
              <a:buFont typeface="Arial" panose="020B0604020202020204" pitchFamily="34" charset="0"/>
              <a:buChar char="•"/>
            </a:pPr>
            <a:r>
              <a:rPr lang="en-US" b="0" i="0" dirty="0">
                <a:solidFill>
                  <a:srgbClr val="333333"/>
                </a:solidFill>
                <a:effectLst/>
                <a:latin typeface="noto sans"/>
              </a:rPr>
              <a:t>The method used to determine which queue a process will enter when that process needs service.</a:t>
            </a:r>
          </a:p>
          <a:p>
            <a:endParaRPr lang="en-IN" dirty="0"/>
          </a:p>
        </p:txBody>
      </p:sp>
    </p:spTree>
    <p:extLst>
      <p:ext uri="{BB962C8B-B14F-4D97-AF65-F5344CB8AC3E}">
        <p14:creationId xmlns:p14="http://schemas.microsoft.com/office/powerpoint/2010/main" val="2437339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4EA1F-E423-458C-B1F1-B508EB55A3A6}"/>
              </a:ext>
            </a:extLst>
          </p:cNvPr>
          <p:cNvSpPr>
            <a:spLocks noGrp="1"/>
          </p:cNvSpPr>
          <p:nvPr>
            <p:ph type="title"/>
          </p:nvPr>
        </p:nvSpPr>
        <p:spPr/>
        <p:txBody>
          <a:bodyPr>
            <a:normAutofit/>
          </a:bodyPr>
          <a:lstStyle/>
          <a:p>
            <a:r>
              <a:rPr lang="en-US" dirty="0"/>
              <a:t>Multiple-Processor Scheduling</a:t>
            </a:r>
            <a:endParaRPr lang="en-IN" dirty="0"/>
          </a:p>
        </p:txBody>
      </p:sp>
      <p:sp>
        <p:nvSpPr>
          <p:cNvPr id="3" name="Content Placeholder 2">
            <a:extLst>
              <a:ext uri="{FF2B5EF4-FFF2-40B4-BE49-F238E27FC236}">
                <a16:creationId xmlns:a16="http://schemas.microsoft.com/office/drawing/2014/main" id="{47B67300-6467-4068-BB93-1BA6FD6C3380}"/>
              </a:ext>
            </a:extLst>
          </p:cNvPr>
          <p:cNvSpPr>
            <a:spLocks noGrp="1"/>
          </p:cNvSpPr>
          <p:nvPr>
            <p:ph idx="1"/>
          </p:nvPr>
        </p:nvSpPr>
        <p:spPr/>
        <p:txBody>
          <a:bodyPr/>
          <a:lstStyle/>
          <a:p>
            <a:pPr algn="just"/>
            <a:r>
              <a:rPr lang="en-US" b="0" i="0" dirty="0">
                <a:effectLst/>
                <a:latin typeface="Roboto"/>
              </a:rPr>
              <a:t>In multiple-processor scheduling </a:t>
            </a:r>
            <a:r>
              <a:rPr lang="en-US" b="1" i="0" dirty="0">
                <a:effectLst/>
                <a:latin typeface="Roboto"/>
              </a:rPr>
              <a:t>multiple CPU’s</a:t>
            </a:r>
            <a:r>
              <a:rPr lang="en-US" b="0" i="0" dirty="0">
                <a:effectLst/>
                <a:latin typeface="Roboto"/>
              </a:rPr>
              <a:t> are available and hence </a:t>
            </a:r>
            <a:r>
              <a:rPr lang="en-US" b="1" i="0" dirty="0">
                <a:effectLst/>
                <a:latin typeface="Roboto"/>
              </a:rPr>
              <a:t>Load Sharing</a:t>
            </a:r>
            <a:r>
              <a:rPr lang="en-US" b="0" i="0" dirty="0">
                <a:effectLst/>
                <a:latin typeface="Roboto"/>
              </a:rPr>
              <a:t> becomes possible. However multiple processor scheduling is more </a:t>
            </a:r>
            <a:r>
              <a:rPr lang="en-US" b="1" i="0" dirty="0">
                <a:effectLst/>
                <a:latin typeface="Roboto"/>
              </a:rPr>
              <a:t>complex</a:t>
            </a:r>
            <a:r>
              <a:rPr lang="en-US" b="0" i="0" dirty="0">
                <a:effectLst/>
                <a:latin typeface="Roboto"/>
              </a:rPr>
              <a:t> as compared to single processor scheduling. In multiple processor scheduling there are cases when the processors are identical i.e. HOMOGENEOUS, in terms of their functionality, we can use any processor available to run any process in the queue.</a:t>
            </a:r>
            <a:endParaRPr lang="en-IN" dirty="0"/>
          </a:p>
        </p:txBody>
      </p:sp>
    </p:spTree>
    <p:extLst>
      <p:ext uri="{BB962C8B-B14F-4D97-AF65-F5344CB8AC3E}">
        <p14:creationId xmlns:p14="http://schemas.microsoft.com/office/powerpoint/2010/main" val="30577538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0CED0-5C6A-47AB-854C-8598DB7328BE}"/>
              </a:ext>
            </a:extLst>
          </p:cNvPr>
          <p:cNvSpPr>
            <a:spLocks noGrp="1"/>
          </p:cNvSpPr>
          <p:nvPr>
            <p:ph type="title"/>
          </p:nvPr>
        </p:nvSpPr>
        <p:spPr/>
        <p:txBody>
          <a:bodyPr>
            <a:normAutofit fontScale="90000"/>
          </a:bodyPr>
          <a:lstStyle/>
          <a:p>
            <a:r>
              <a:rPr lang="en-IN" dirty="0"/>
              <a:t>Approaches to Multiple-Processor Scheduling </a:t>
            </a:r>
            <a:br>
              <a:rPr lang="en-IN" dirty="0"/>
            </a:br>
            <a:endParaRPr lang="en-IN" dirty="0"/>
          </a:p>
        </p:txBody>
      </p:sp>
      <p:sp>
        <p:nvSpPr>
          <p:cNvPr id="3" name="Content Placeholder 2">
            <a:extLst>
              <a:ext uri="{FF2B5EF4-FFF2-40B4-BE49-F238E27FC236}">
                <a16:creationId xmlns:a16="http://schemas.microsoft.com/office/drawing/2014/main" id="{CD801B53-1434-4865-97A5-1DB5AAFE6113}"/>
              </a:ext>
            </a:extLst>
          </p:cNvPr>
          <p:cNvSpPr>
            <a:spLocks noGrp="1"/>
          </p:cNvSpPr>
          <p:nvPr>
            <p:ph idx="1"/>
          </p:nvPr>
        </p:nvSpPr>
        <p:spPr/>
        <p:txBody>
          <a:bodyPr/>
          <a:lstStyle/>
          <a:p>
            <a:pPr algn="just" fontAlgn="base"/>
            <a:r>
              <a:rPr lang="en-US" b="0" i="0" dirty="0">
                <a:effectLst/>
                <a:latin typeface="Roboto"/>
              </a:rPr>
              <a:t>One approach is when all the scheduling decisions and I/O processing are handled by a single processor which is called the </a:t>
            </a:r>
            <a:r>
              <a:rPr lang="en-US" b="1" i="0" dirty="0">
                <a:effectLst/>
                <a:latin typeface="Roboto"/>
              </a:rPr>
              <a:t>Master Server</a:t>
            </a:r>
            <a:r>
              <a:rPr lang="en-US" b="0" i="0" dirty="0">
                <a:effectLst/>
                <a:latin typeface="Roboto"/>
              </a:rPr>
              <a:t> and the other processors executes only the </a:t>
            </a:r>
            <a:r>
              <a:rPr lang="en-US" b="1" i="0" dirty="0">
                <a:effectLst/>
                <a:latin typeface="Roboto"/>
              </a:rPr>
              <a:t>user code</a:t>
            </a:r>
            <a:r>
              <a:rPr lang="en-US" b="0" i="0" dirty="0">
                <a:effectLst/>
                <a:latin typeface="Roboto"/>
              </a:rPr>
              <a:t>. This is simple and reduces the need of data sharing. This entire scenario is called </a:t>
            </a:r>
            <a:r>
              <a:rPr lang="en-US" b="1" i="0" dirty="0">
                <a:effectLst/>
                <a:latin typeface="Roboto"/>
              </a:rPr>
              <a:t>Asymmetric Multiprocessing</a:t>
            </a:r>
            <a:r>
              <a:rPr lang="en-US" b="0" i="0" dirty="0">
                <a:effectLst/>
                <a:latin typeface="Roboto"/>
              </a:rPr>
              <a:t>.</a:t>
            </a:r>
          </a:p>
          <a:p>
            <a:pPr algn="just" fontAlgn="base"/>
            <a:r>
              <a:rPr lang="en-US" b="0" i="0" dirty="0">
                <a:effectLst/>
                <a:latin typeface="Roboto"/>
              </a:rPr>
              <a:t>A second approach uses </a:t>
            </a:r>
            <a:r>
              <a:rPr lang="en-US" b="1" i="0" dirty="0">
                <a:effectLst/>
                <a:latin typeface="Roboto"/>
              </a:rPr>
              <a:t>Symmetric Multiprocessing</a:t>
            </a:r>
            <a:r>
              <a:rPr lang="en-US" b="0" i="0" dirty="0">
                <a:effectLst/>
                <a:latin typeface="Roboto"/>
              </a:rPr>
              <a:t> where each processor is </a:t>
            </a:r>
            <a:r>
              <a:rPr lang="en-US" b="1" i="0" dirty="0">
                <a:effectLst/>
                <a:latin typeface="Roboto"/>
              </a:rPr>
              <a:t>self scheduling</a:t>
            </a:r>
            <a:r>
              <a:rPr lang="en-US" b="0" i="0" dirty="0">
                <a:effectLst/>
                <a:latin typeface="Roboto"/>
              </a:rPr>
              <a:t>. All processes may be in a common ready queue or each processor may have its own private queue for ready processes. The scheduling proceeds further by having the scheduler for each processor examine the ready queue and select a process to execute.</a:t>
            </a:r>
          </a:p>
        </p:txBody>
      </p:sp>
    </p:spTree>
    <p:extLst>
      <p:ext uri="{BB962C8B-B14F-4D97-AF65-F5344CB8AC3E}">
        <p14:creationId xmlns:p14="http://schemas.microsoft.com/office/powerpoint/2010/main" val="36395742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F860E-ACFB-4D27-B9BE-FFE1D8CEEE4F}"/>
              </a:ext>
            </a:extLst>
          </p:cNvPr>
          <p:cNvSpPr>
            <a:spLocks noGrp="1"/>
          </p:cNvSpPr>
          <p:nvPr>
            <p:ph type="title"/>
          </p:nvPr>
        </p:nvSpPr>
        <p:spPr/>
        <p:txBody>
          <a:bodyPr/>
          <a:lstStyle/>
          <a:p>
            <a:r>
              <a:rPr lang="en-US" b="1" i="0" dirty="0">
                <a:effectLst/>
              </a:rPr>
              <a:t>Processor Affinity</a:t>
            </a:r>
            <a:br>
              <a:rPr lang="en-US" b="1" i="0" dirty="0">
                <a:effectLst/>
              </a:rPr>
            </a:br>
            <a:endParaRPr lang="en-IN" dirty="0"/>
          </a:p>
        </p:txBody>
      </p:sp>
      <p:sp>
        <p:nvSpPr>
          <p:cNvPr id="3" name="Content Placeholder 2">
            <a:extLst>
              <a:ext uri="{FF2B5EF4-FFF2-40B4-BE49-F238E27FC236}">
                <a16:creationId xmlns:a16="http://schemas.microsoft.com/office/drawing/2014/main" id="{35CCF3FC-8F11-4B40-AA8A-97FCC18583F7}"/>
              </a:ext>
            </a:extLst>
          </p:cNvPr>
          <p:cNvSpPr>
            <a:spLocks noGrp="1"/>
          </p:cNvSpPr>
          <p:nvPr>
            <p:ph idx="1"/>
          </p:nvPr>
        </p:nvSpPr>
        <p:spPr>
          <a:xfrm>
            <a:off x="685800" y="1474238"/>
            <a:ext cx="10820400" cy="5383762"/>
          </a:xfrm>
        </p:spPr>
        <p:txBody>
          <a:bodyPr>
            <a:normAutofit lnSpcReduction="10000"/>
          </a:bodyPr>
          <a:lstStyle/>
          <a:p>
            <a:pPr algn="just" fontAlgn="base"/>
            <a:r>
              <a:rPr lang="en-US" b="0" i="0" dirty="0">
                <a:effectLst/>
                <a:latin typeface="Roboto"/>
              </a:rPr>
              <a:t>Processor Affinity means a processes has an </a:t>
            </a:r>
            <a:r>
              <a:rPr lang="en-US" b="1" i="0" dirty="0">
                <a:effectLst/>
                <a:latin typeface="Roboto"/>
              </a:rPr>
              <a:t>affinity</a:t>
            </a:r>
            <a:r>
              <a:rPr lang="en-US" b="0" i="0" dirty="0">
                <a:effectLst/>
                <a:latin typeface="Roboto"/>
              </a:rPr>
              <a:t> for the processor on which it is currently running. When a process runs on a specific processor there are certain effects on the cache memory. The data most recently accessed by the process populate the cache for the processor and as a result successive memory access by the process are often satisfied in the cache memory. Now if the process migrates to another processor, the contents of the cache memory must be invalidated for the first processor and the cache for the second processor must be repopulated. Because of the high cost of invalidating and repopulating caches, most of the SMP(symmetric multiprocessing) systems try to avoid migration of processes from one processor to another and try to keep a process running on the same processor. This is known as </a:t>
            </a:r>
            <a:r>
              <a:rPr lang="en-US" b="1" i="0" dirty="0">
                <a:effectLst/>
                <a:latin typeface="Roboto"/>
              </a:rPr>
              <a:t>PROCESSOR AFFINITY</a:t>
            </a:r>
            <a:r>
              <a:rPr lang="en-US" b="0" i="0" dirty="0">
                <a:effectLst/>
                <a:latin typeface="Roboto"/>
              </a:rPr>
              <a:t>.</a:t>
            </a:r>
          </a:p>
          <a:p>
            <a:pPr algn="just" fontAlgn="base"/>
            <a:endParaRPr lang="en-US" dirty="0">
              <a:latin typeface="Roboto"/>
            </a:endParaRPr>
          </a:p>
          <a:p>
            <a:pPr algn="just" fontAlgn="base">
              <a:buFont typeface="+mj-lt"/>
              <a:buAutoNum type="arabicPeriod"/>
            </a:pPr>
            <a:r>
              <a:rPr lang="en-US" b="1" i="0" dirty="0">
                <a:effectLst/>
                <a:latin typeface="Roboto"/>
              </a:rPr>
              <a:t>Soft Affinity –</a:t>
            </a:r>
            <a:r>
              <a:rPr lang="en-US" b="0" i="0" dirty="0">
                <a:effectLst/>
                <a:latin typeface="Roboto"/>
              </a:rPr>
              <a:t> When an operating system has a policy of attempting to keep a process running on the same processor but not guaranteeing it will do so, this situation is called soft affinity.</a:t>
            </a:r>
          </a:p>
          <a:p>
            <a:pPr algn="just" fontAlgn="base">
              <a:buFont typeface="+mj-lt"/>
              <a:buAutoNum type="arabicPeriod"/>
            </a:pPr>
            <a:r>
              <a:rPr lang="en-US" b="1" i="0" dirty="0">
                <a:effectLst/>
                <a:latin typeface="Roboto"/>
              </a:rPr>
              <a:t>Hard Affinity –</a:t>
            </a:r>
            <a:r>
              <a:rPr lang="en-US" b="0" i="0" dirty="0">
                <a:effectLst/>
                <a:latin typeface="Roboto"/>
              </a:rPr>
              <a:t> Hard Affinity allows a process to specify a subset of processors on which it may run. Some systems such as Linux implements soft affinity but also provide some system calls like </a:t>
            </a:r>
            <a:r>
              <a:rPr lang="en-US" b="0" i="1" dirty="0" err="1">
                <a:effectLst/>
                <a:latin typeface="Roboto"/>
              </a:rPr>
              <a:t>sched_setaffinity</a:t>
            </a:r>
            <a:r>
              <a:rPr lang="en-US" b="0" i="1" dirty="0">
                <a:effectLst/>
                <a:latin typeface="Roboto"/>
              </a:rPr>
              <a:t>()</a:t>
            </a:r>
            <a:r>
              <a:rPr lang="en-US" b="0" i="0" dirty="0">
                <a:effectLst/>
                <a:latin typeface="Roboto"/>
              </a:rPr>
              <a:t> that supports hard affinity.</a:t>
            </a:r>
          </a:p>
          <a:p>
            <a:pPr algn="just" fontAlgn="base"/>
            <a:endParaRPr lang="en-US" b="0" i="0" dirty="0">
              <a:effectLst/>
              <a:latin typeface="Roboto"/>
            </a:endParaRPr>
          </a:p>
          <a:p>
            <a:pPr algn="just" fontAlgn="base"/>
            <a:endParaRPr lang="en-US" b="0" i="0" dirty="0">
              <a:effectLst/>
              <a:latin typeface="Roboto"/>
            </a:endParaRPr>
          </a:p>
          <a:p>
            <a:pPr algn="just"/>
            <a:endParaRPr lang="en-IN" dirty="0"/>
          </a:p>
        </p:txBody>
      </p:sp>
    </p:spTree>
    <p:extLst>
      <p:ext uri="{BB962C8B-B14F-4D97-AF65-F5344CB8AC3E}">
        <p14:creationId xmlns:p14="http://schemas.microsoft.com/office/powerpoint/2010/main" val="41915766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5AECB-0177-4509-BACC-F1356DF0D012}"/>
              </a:ext>
            </a:extLst>
          </p:cNvPr>
          <p:cNvSpPr>
            <a:spLocks noGrp="1"/>
          </p:cNvSpPr>
          <p:nvPr>
            <p:ph type="title"/>
          </p:nvPr>
        </p:nvSpPr>
        <p:spPr/>
        <p:txBody>
          <a:bodyPr/>
          <a:lstStyle/>
          <a:p>
            <a:r>
              <a:rPr lang="en-IN" dirty="0"/>
              <a:t>Process Synchronization</a:t>
            </a:r>
          </a:p>
        </p:txBody>
      </p:sp>
      <p:sp>
        <p:nvSpPr>
          <p:cNvPr id="3" name="Content Placeholder 2">
            <a:extLst>
              <a:ext uri="{FF2B5EF4-FFF2-40B4-BE49-F238E27FC236}">
                <a16:creationId xmlns:a16="http://schemas.microsoft.com/office/drawing/2014/main" id="{A1FA04F5-ED60-4100-8D9A-C8DDA2B42438}"/>
              </a:ext>
            </a:extLst>
          </p:cNvPr>
          <p:cNvSpPr>
            <a:spLocks noGrp="1"/>
          </p:cNvSpPr>
          <p:nvPr>
            <p:ph idx="1"/>
          </p:nvPr>
        </p:nvSpPr>
        <p:spPr/>
        <p:txBody>
          <a:bodyPr/>
          <a:lstStyle/>
          <a:p>
            <a:pPr algn="just"/>
            <a:r>
              <a:rPr lang="en-US" b="1" i="0" dirty="0">
                <a:solidFill>
                  <a:srgbClr val="222222"/>
                </a:solidFill>
                <a:effectLst/>
                <a:latin typeface="Roboto"/>
              </a:rPr>
              <a:t>Process Synchronization</a:t>
            </a:r>
            <a:r>
              <a:rPr lang="en-US" b="0" i="0" dirty="0">
                <a:solidFill>
                  <a:srgbClr val="222222"/>
                </a:solidFill>
                <a:effectLst/>
                <a:latin typeface="Roboto"/>
              </a:rPr>
              <a:t> is the task of coordinating the execution of processes in a way that no two processes can have access to the same shared data and resources.</a:t>
            </a:r>
          </a:p>
          <a:p>
            <a:pPr algn="just"/>
            <a:r>
              <a:rPr lang="en-US" b="0" i="0" dirty="0">
                <a:solidFill>
                  <a:srgbClr val="222222"/>
                </a:solidFill>
                <a:effectLst/>
                <a:latin typeface="Roboto"/>
              </a:rPr>
              <a:t>It is specially needed in a multi-process system when multiple processes are running together, and more than one processes try to gain access to the same shared resource or data at the same time.</a:t>
            </a:r>
          </a:p>
          <a:p>
            <a:pPr algn="just"/>
            <a:r>
              <a:rPr lang="en-US" b="0" i="0" dirty="0">
                <a:solidFill>
                  <a:srgbClr val="222222"/>
                </a:solidFill>
                <a:effectLst/>
                <a:latin typeface="Roboto"/>
              </a:rPr>
              <a:t>This can lead to the inconsistency of shared data. So the change made by one process not necessarily reflected when other processes accessed the same shared data. To avoid this type of inconsistency of data, the processes need to be synchronized with each other.</a:t>
            </a:r>
            <a:endParaRPr lang="en-IN" dirty="0">
              <a:latin typeface="Roboto"/>
            </a:endParaRPr>
          </a:p>
        </p:txBody>
      </p:sp>
    </p:spTree>
    <p:extLst>
      <p:ext uri="{BB962C8B-B14F-4D97-AF65-F5344CB8AC3E}">
        <p14:creationId xmlns:p14="http://schemas.microsoft.com/office/powerpoint/2010/main" val="20708898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5AECB-0177-4509-BACC-F1356DF0D012}"/>
              </a:ext>
            </a:extLst>
          </p:cNvPr>
          <p:cNvSpPr>
            <a:spLocks noGrp="1"/>
          </p:cNvSpPr>
          <p:nvPr>
            <p:ph type="title"/>
          </p:nvPr>
        </p:nvSpPr>
        <p:spPr/>
        <p:txBody>
          <a:bodyPr/>
          <a:lstStyle/>
          <a:p>
            <a:r>
              <a:rPr lang="en-IN" dirty="0"/>
              <a:t>Process Synchronization</a:t>
            </a:r>
          </a:p>
        </p:txBody>
      </p:sp>
      <p:sp>
        <p:nvSpPr>
          <p:cNvPr id="3" name="Content Placeholder 2">
            <a:extLst>
              <a:ext uri="{FF2B5EF4-FFF2-40B4-BE49-F238E27FC236}">
                <a16:creationId xmlns:a16="http://schemas.microsoft.com/office/drawing/2014/main" id="{A1FA04F5-ED60-4100-8D9A-C8DDA2B42438}"/>
              </a:ext>
            </a:extLst>
          </p:cNvPr>
          <p:cNvSpPr>
            <a:spLocks noGrp="1"/>
          </p:cNvSpPr>
          <p:nvPr>
            <p:ph idx="1"/>
          </p:nvPr>
        </p:nvSpPr>
        <p:spPr/>
        <p:txBody>
          <a:bodyPr/>
          <a:lstStyle/>
          <a:p>
            <a:pPr algn="just"/>
            <a:r>
              <a:rPr lang="en-US" i="0" dirty="0">
                <a:solidFill>
                  <a:srgbClr val="222222"/>
                </a:solidFill>
                <a:effectLst/>
                <a:latin typeface="Roboto"/>
              </a:rPr>
              <a:t>For Example, process A changing the data in a memory location while another process B is trying to read the data from the same memory location. There is a high probability that data read by the second process will be erroneous.</a:t>
            </a:r>
            <a:endParaRPr lang="en-IN" dirty="0">
              <a:latin typeface="Roboto"/>
            </a:endParaRPr>
          </a:p>
        </p:txBody>
      </p:sp>
      <p:pic>
        <p:nvPicPr>
          <p:cNvPr id="1026" name="Picture 2">
            <a:extLst>
              <a:ext uri="{FF2B5EF4-FFF2-40B4-BE49-F238E27FC236}">
                <a16:creationId xmlns:a16="http://schemas.microsoft.com/office/drawing/2014/main" id="{994400B9-7D79-4002-9714-79DBDCABB5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7" b="21400"/>
          <a:stretch/>
        </p:blipFill>
        <p:spPr bwMode="auto">
          <a:xfrm>
            <a:off x="1877106" y="3512491"/>
            <a:ext cx="7915275" cy="183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8926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6643B-AEEF-4AEC-ACCC-7750F809D92F}"/>
              </a:ext>
            </a:extLst>
          </p:cNvPr>
          <p:cNvSpPr>
            <a:spLocks noGrp="1"/>
          </p:cNvSpPr>
          <p:nvPr>
            <p:ph type="title"/>
          </p:nvPr>
        </p:nvSpPr>
        <p:spPr/>
        <p:txBody>
          <a:bodyPr/>
          <a:lstStyle/>
          <a:p>
            <a:r>
              <a:rPr lang="en-US" dirty="0"/>
              <a:t>Critical Section Problem</a:t>
            </a:r>
            <a:br>
              <a:rPr lang="en-US" dirty="0"/>
            </a:br>
            <a:endParaRPr lang="en-IN" dirty="0"/>
          </a:p>
        </p:txBody>
      </p:sp>
      <p:sp>
        <p:nvSpPr>
          <p:cNvPr id="3" name="Content Placeholder 2">
            <a:extLst>
              <a:ext uri="{FF2B5EF4-FFF2-40B4-BE49-F238E27FC236}">
                <a16:creationId xmlns:a16="http://schemas.microsoft.com/office/drawing/2014/main" id="{83C39936-64B9-44BD-9C66-9B0D642754E0}"/>
              </a:ext>
            </a:extLst>
          </p:cNvPr>
          <p:cNvSpPr>
            <a:spLocks noGrp="1"/>
          </p:cNvSpPr>
          <p:nvPr>
            <p:ph idx="1"/>
          </p:nvPr>
        </p:nvSpPr>
        <p:spPr>
          <a:xfrm>
            <a:off x="685800" y="1569409"/>
            <a:ext cx="10820400" cy="4024125"/>
          </a:xfrm>
        </p:spPr>
        <p:txBody>
          <a:bodyPr/>
          <a:lstStyle/>
          <a:p>
            <a:r>
              <a:rPr lang="en-US" dirty="0"/>
              <a:t>A Critical Section is a code segment that accesses shared variables and has to be executed as an atomic action. It means that in a group of cooperating processes, at a given point of time, only one process must be executing its critical section. If any other process also wants to execute its critical section, it must wait until the first one finishes.</a:t>
            </a:r>
            <a:endParaRPr lang="en-IN" dirty="0"/>
          </a:p>
        </p:txBody>
      </p:sp>
      <p:pic>
        <p:nvPicPr>
          <p:cNvPr id="2050" name="Picture 2" descr="Critical Section Problem">
            <a:extLst>
              <a:ext uri="{FF2B5EF4-FFF2-40B4-BE49-F238E27FC236}">
                <a16:creationId xmlns:a16="http://schemas.microsoft.com/office/drawing/2014/main" id="{640E4B08-3FC0-4117-8A66-967373E5BA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7923" y="2862437"/>
            <a:ext cx="5835326" cy="399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99941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6643B-AEEF-4AEC-ACCC-7750F809D92F}"/>
              </a:ext>
            </a:extLst>
          </p:cNvPr>
          <p:cNvSpPr>
            <a:spLocks noGrp="1"/>
          </p:cNvSpPr>
          <p:nvPr>
            <p:ph type="title"/>
          </p:nvPr>
        </p:nvSpPr>
        <p:spPr/>
        <p:txBody>
          <a:bodyPr/>
          <a:lstStyle/>
          <a:p>
            <a:r>
              <a:rPr lang="en-US" dirty="0"/>
              <a:t>Critical Section Problem</a:t>
            </a:r>
            <a:br>
              <a:rPr lang="en-US" dirty="0"/>
            </a:br>
            <a:endParaRPr lang="en-IN" dirty="0"/>
          </a:p>
        </p:txBody>
      </p:sp>
      <p:sp>
        <p:nvSpPr>
          <p:cNvPr id="3" name="Content Placeholder 2">
            <a:extLst>
              <a:ext uri="{FF2B5EF4-FFF2-40B4-BE49-F238E27FC236}">
                <a16:creationId xmlns:a16="http://schemas.microsoft.com/office/drawing/2014/main" id="{83C39936-64B9-44BD-9C66-9B0D642754E0}"/>
              </a:ext>
            </a:extLst>
          </p:cNvPr>
          <p:cNvSpPr>
            <a:spLocks noGrp="1"/>
          </p:cNvSpPr>
          <p:nvPr>
            <p:ph idx="1"/>
          </p:nvPr>
        </p:nvSpPr>
        <p:spPr>
          <a:xfrm>
            <a:off x="685800" y="1569409"/>
            <a:ext cx="10820400" cy="4024125"/>
          </a:xfrm>
        </p:spPr>
        <p:txBody>
          <a:bodyPr>
            <a:normAutofit lnSpcReduction="10000"/>
          </a:bodyPr>
          <a:lstStyle/>
          <a:p>
            <a:pPr marL="0" indent="0" algn="l">
              <a:buNone/>
            </a:pPr>
            <a:r>
              <a:rPr lang="en-US" b="1" i="0" dirty="0">
                <a:solidFill>
                  <a:srgbClr val="222222"/>
                </a:solidFill>
                <a:effectLst/>
                <a:latin typeface="Roboto"/>
              </a:rPr>
              <a:t>Sections of a Program</a:t>
            </a:r>
          </a:p>
          <a:p>
            <a:pPr marL="0" indent="0" algn="l">
              <a:buNone/>
            </a:pPr>
            <a:r>
              <a:rPr lang="en-US" b="0" i="0" dirty="0">
                <a:solidFill>
                  <a:srgbClr val="222222"/>
                </a:solidFill>
                <a:effectLst/>
                <a:latin typeface="Roboto"/>
              </a:rPr>
              <a:t>Here, are four essential elements of the critical section:</a:t>
            </a:r>
          </a:p>
          <a:p>
            <a:pPr algn="l">
              <a:buFont typeface="Arial" panose="020B0604020202020204" pitchFamily="34" charset="0"/>
              <a:buChar char="•"/>
            </a:pPr>
            <a:r>
              <a:rPr lang="en-US" b="1" i="0" dirty="0">
                <a:solidFill>
                  <a:srgbClr val="222222"/>
                </a:solidFill>
                <a:effectLst/>
                <a:latin typeface="Roboto"/>
              </a:rPr>
              <a:t>Entry Section:</a:t>
            </a:r>
            <a:r>
              <a:rPr lang="en-US" b="0" i="0" dirty="0">
                <a:solidFill>
                  <a:srgbClr val="222222"/>
                </a:solidFill>
                <a:effectLst/>
                <a:latin typeface="Roboto"/>
              </a:rPr>
              <a:t> It is part of the process which decides the entry of a particular process.</a:t>
            </a:r>
          </a:p>
          <a:p>
            <a:pPr algn="l">
              <a:buFont typeface="Arial" panose="020B0604020202020204" pitchFamily="34" charset="0"/>
              <a:buChar char="•"/>
            </a:pPr>
            <a:r>
              <a:rPr lang="en-US" b="1" i="0" dirty="0">
                <a:solidFill>
                  <a:srgbClr val="222222"/>
                </a:solidFill>
                <a:effectLst/>
                <a:latin typeface="Roboto"/>
              </a:rPr>
              <a:t>Critical Section:</a:t>
            </a:r>
            <a:r>
              <a:rPr lang="en-US" b="0" i="0" dirty="0">
                <a:solidFill>
                  <a:srgbClr val="222222"/>
                </a:solidFill>
                <a:effectLst/>
                <a:latin typeface="Roboto"/>
              </a:rPr>
              <a:t> This part allows one process to enter and modify the shared variable.</a:t>
            </a:r>
          </a:p>
          <a:p>
            <a:pPr algn="l">
              <a:buFont typeface="Arial" panose="020B0604020202020204" pitchFamily="34" charset="0"/>
              <a:buChar char="•"/>
            </a:pPr>
            <a:r>
              <a:rPr lang="en-US" b="1" i="0" dirty="0">
                <a:solidFill>
                  <a:srgbClr val="222222"/>
                </a:solidFill>
                <a:effectLst/>
                <a:latin typeface="Roboto"/>
              </a:rPr>
              <a:t>Exit Section:</a:t>
            </a:r>
            <a:r>
              <a:rPr lang="en-US" b="0" i="0" dirty="0">
                <a:solidFill>
                  <a:srgbClr val="222222"/>
                </a:solidFill>
                <a:effectLst/>
                <a:latin typeface="Roboto"/>
              </a:rPr>
              <a:t> Exit section allows the other process that are waiting in the Entry Section, to enter into the Critical Sections. It also checks that a process that finished its execution should be removed through this Section.</a:t>
            </a:r>
          </a:p>
          <a:p>
            <a:pPr algn="l">
              <a:buFont typeface="Arial" panose="020B0604020202020204" pitchFamily="34" charset="0"/>
              <a:buChar char="•"/>
            </a:pPr>
            <a:r>
              <a:rPr lang="en-US" b="1" i="0" dirty="0">
                <a:solidFill>
                  <a:srgbClr val="222222"/>
                </a:solidFill>
                <a:effectLst/>
                <a:latin typeface="Roboto"/>
              </a:rPr>
              <a:t>Remainder Section: </a:t>
            </a:r>
            <a:r>
              <a:rPr lang="en-US" b="0" i="0" dirty="0">
                <a:solidFill>
                  <a:srgbClr val="222222"/>
                </a:solidFill>
                <a:effectLst/>
                <a:latin typeface="Roboto"/>
              </a:rPr>
              <a:t>All</a:t>
            </a:r>
            <a:r>
              <a:rPr lang="en-US" b="1" i="0" dirty="0">
                <a:solidFill>
                  <a:srgbClr val="222222"/>
                </a:solidFill>
                <a:effectLst/>
                <a:latin typeface="Roboto"/>
              </a:rPr>
              <a:t> </a:t>
            </a:r>
            <a:r>
              <a:rPr lang="en-US" b="0" i="0" dirty="0">
                <a:solidFill>
                  <a:srgbClr val="222222"/>
                </a:solidFill>
                <a:effectLst/>
                <a:latin typeface="Roboto"/>
              </a:rPr>
              <a:t>other parts of the Code, which is not in Critical, Entry, and Exit Section, are known as the Remainder Section.</a:t>
            </a:r>
          </a:p>
          <a:p>
            <a:endParaRPr lang="en-IN" dirty="0">
              <a:latin typeface="Roboto"/>
            </a:endParaRPr>
          </a:p>
        </p:txBody>
      </p:sp>
    </p:spTree>
    <p:extLst>
      <p:ext uri="{BB962C8B-B14F-4D97-AF65-F5344CB8AC3E}">
        <p14:creationId xmlns:p14="http://schemas.microsoft.com/office/powerpoint/2010/main" val="12233004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CC3D-7EF9-4A53-AF38-D7B385931250}"/>
              </a:ext>
            </a:extLst>
          </p:cNvPr>
          <p:cNvSpPr>
            <a:spLocks noGrp="1"/>
          </p:cNvSpPr>
          <p:nvPr>
            <p:ph type="title"/>
          </p:nvPr>
        </p:nvSpPr>
        <p:spPr/>
        <p:txBody>
          <a:bodyPr>
            <a:noAutofit/>
          </a:bodyPr>
          <a:lstStyle/>
          <a:p>
            <a:r>
              <a:rPr lang="en-US" sz="2800" dirty="0"/>
              <a:t>Solution to Critical Section Problem</a:t>
            </a:r>
            <a:endParaRPr lang="en-IN" sz="2800" dirty="0"/>
          </a:p>
        </p:txBody>
      </p:sp>
      <p:sp>
        <p:nvSpPr>
          <p:cNvPr id="3" name="Content Placeholder 2">
            <a:extLst>
              <a:ext uri="{FF2B5EF4-FFF2-40B4-BE49-F238E27FC236}">
                <a16:creationId xmlns:a16="http://schemas.microsoft.com/office/drawing/2014/main" id="{2824164E-7861-41B6-86A6-8B8C57E32C2B}"/>
              </a:ext>
            </a:extLst>
          </p:cNvPr>
          <p:cNvSpPr>
            <a:spLocks noGrp="1"/>
          </p:cNvSpPr>
          <p:nvPr>
            <p:ph idx="1"/>
          </p:nvPr>
        </p:nvSpPr>
        <p:spPr/>
        <p:txBody>
          <a:bodyPr>
            <a:normAutofit fontScale="92500" lnSpcReduction="20000"/>
          </a:bodyPr>
          <a:lstStyle/>
          <a:p>
            <a:pPr marL="0" indent="0" algn="just">
              <a:buNone/>
            </a:pPr>
            <a:r>
              <a:rPr lang="en-US" b="1" i="0" dirty="0">
                <a:solidFill>
                  <a:srgbClr val="222222"/>
                </a:solidFill>
                <a:effectLst/>
                <a:latin typeface="Roboto"/>
              </a:rPr>
              <a:t>1. Mutual Exclusion</a:t>
            </a:r>
          </a:p>
          <a:p>
            <a:pPr marL="0" indent="0" algn="just">
              <a:buNone/>
            </a:pPr>
            <a:r>
              <a:rPr lang="en-US" b="0" i="0" dirty="0">
                <a:solidFill>
                  <a:srgbClr val="222222"/>
                </a:solidFill>
                <a:effectLst/>
                <a:latin typeface="Roboto"/>
              </a:rPr>
              <a:t>Out of a group of cooperating processes, only one process can be in its critical section at a given point of time.</a:t>
            </a:r>
          </a:p>
          <a:p>
            <a:pPr marL="0" indent="0" algn="just">
              <a:buNone/>
            </a:pPr>
            <a:endParaRPr lang="en-US" b="0" i="0" dirty="0">
              <a:solidFill>
                <a:srgbClr val="222222"/>
              </a:solidFill>
              <a:effectLst/>
              <a:latin typeface="Roboto"/>
            </a:endParaRPr>
          </a:p>
          <a:p>
            <a:pPr marL="0" indent="0" algn="just">
              <a:buNone/>
            </a:pPr>
            <a:r>
              <a:rPr lang="en-US" b="1" i="0" dirty="0">
                <a:solidFill>
                  <a:srgbClr val="222222"/>
                </a:solidFill>
                <a:effectLst/>
                <a:latin typeface="Roboto"/>
              </a:rPr>
              <a:t>2. Progress</a:t>
            </a:r>
          </a:p>
          <a:p>
            <a:pPr marL="0" indent="0" algn="just">
              <a:buNone/>
            </a:pPr>
            <a:r>
              <a:rPr lang="en-US" b="0" i="0" dirty="0">
                <a:solidFill>
                  <a:srgbClr val="222222"/>
                </a:solidFill>
                <a:effectLst/>
                <a:latin typeface="Roboto"/>
              </a:rPr>
              <a:t>If no process is in its critical section, and if one or more threads want to execute their critical section then any one of these threads must be allowed to get into its critical section.</a:t>
            </a:r>
          </a:p>
          <a:p>
            <a:pPr marL="0" indent="0" algn="just">
              <a:buNone/>
            </a:pPr>
            <a:endParaRPr lang="en-US" b="0" i="0" dirty="0">
              <a:solidFill>
                <a:srgbClr val="222222"/>
              </a:solidFill>
              <a:effectLst/>
              <a:latin typeface="Roboto"/>
            </a:endParaRPr>
          </a:p>
          <a:p>
            <a:pPr marL="0" indent="0" algn="just">
              <a:buNone/>
            </a:pPr>
            <a:r>
              <a:rPr lang="en-US" b="1" dirty="0">
                <a:latin typeface="Roboto"/>
              </a:rPr>
              <a:t>3. Bounded Waiting</a:t>
            </a:r>
          </a:p>
          <a:p>
            <a:pPr marL="0" indent="0" algn="just">
              <a:buNone/>
            </a:pPr>
            <a:r>
              <a:rPr lang="en-US" dirty="0">
                <a:latin typeface="Roboto"/>
              </a:rPr>
              <a:t>After a process makes a request for getting into its critical section, there is a limit for how many other processes can get into their critical section, before this process's request is granted. So after the limit is reached, system must grant the process permission to get into its critical section.</a:t>
            </a:r>
            <a:endParaRPr lang="en-IN" dirty="0">
              <a:latin typeface="Roboto"/>
            </a:endParaRPr>
          </a:p>
        </p:txBody>
      </p:sp>
    </p:spTree>
    <p:extLst>
      <p:ext uri="{BB962C8B-B14F-4D97-AF65-F5344CB8AC3E}">
        <p14:creationId xmlns:p14="http://schemas.microsoft.com/office/powerpoint/2010/main" val="22339108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CC3D-7EF9-4A53-AF38-D7B385931250}"/>
              </a:ext>
            </a:extLst>
          </p:cNvPr>
          <p:cNvSpPr>
            <a:spLocks noGrp="1"/>
          </p:cNvSpPr>
          <p:nvPr>
            <p:ph type="title"/>
          </p:nvPr>
        </p:nvSpPr>
        <p:spPr/>
        <p:txBody>
          <a:bodyPr>
            <a:noAutofit/>
          </a:bodyPr>
          <a:lstStyle/>
          <a:p>
            <a:r>
              <a:rPr lang="en-US" sz="2800" dirty="0"/>
              <a:t>Solution to Critical Section Problem</a:t>
            </a:r>
            <a:endParaRPr lang="en-IN" sz="2800" dirty="0"/>
          </a:p>
        </p:txBody>
      </p:sp>
      <p:sp>
        <p:nvSpPr>
          <p:cNvPr id="3" name="Content Placeholder 2">
            <a:extLst>
              <a:ext uri="{FF2B5EF4-FFF2-40B4-BE49-F238E27FC236}">
                <a16:creationId xmlns:a16="http://schemas.microsoft.com/office/drawing/2014/main" id="{2824164E-7861-41B6-86A6-8B8C57E32C2B}"/>
              </a:ext>
            </a:extLst>
          </p:cNvPr>
          <p:cNvSpPr>
            <a:spLocks noGrp="1"/>
          </p:cNvSpPr>
          <p:nvPr>
            <p:ph idx="1"/>
          </p:nvPr>
        </p:nvSpPr>
        <p:spPr>
          <a:xfrm>
            <a:off x="685800" y="2194560"/>
            <a:ext cx="10820400" cy="4495489"/>
          </a:xfrm>
        </p:spPr>
        <p:txBody>
          <a:bodyPr>
            <a:normAutofit fontScale="92500" lnSpcReduction="10000"/>
          </a:bodyPr>
          <a:lstStyle/>
          <a:p>
            <a:pPr marL="0" indent="0" algn="just">
              <a:buNone/>
            </a:pPr>
            <a:r>
              <a:rPr lang="en-US" b="1" dirty="0">
                <a:latin typeface="Roboto"/>
              </a:rPr>
              <a:t>Synchronization Hardware</a:t>
            </a:r>
          </a:p>
          <a:p>
            <a:pPr marL="0" indent="0" algn="just">
              <a:buNone/>
            </a:pPr>
            <a:r>
              <a:rPr lang="en-US" dirty="0">
                <a:latin typeface="Roboto"/>
              </a:rPr>
              <a:t>Some times the problems of the Critical Section are also resolved by hardware. Some operating system offers a lock functionality where a Process acquires a lock when entering the Critical section and releases the lock after leaving it.</a:t>
            </a:r>
          </a:p>
          <a:p>
            <a:pPr marL="0" indent="0" algn="just">
              <a:buNone/>
            </a:pPr>
            <a:r>
              <a:rPr lang="en-US" dirty="0">
                <a:latin typeface="Roboto"/>
              </a:rPr>
              <a:t>So when another process is trying to enter the critical section, it will not be able to enter as it is locked. It can only do so if it is free by acquiring the lock itself.</a:t>
            </a:r>
          </a:p>
          <a:p>
            <a:pPr marL="0" indent="0" algn="just">
              <a:buNone/>
            </a:pPr>
            <a:endParaRPr lang="en-US" dirty="0">
              <a:latin typeface="Roboto"/>
            </a:endParaRPr>
          </a:p>
          <a:p>
            <a:pPr marL="0" indent="0" algn="just">
              <a:buNone/>
            </a:pPr>
            <a:r>
              <a:rPr lang="en-US" b="1" dirty="0">
                <a:latin typeface="Roboto"/>
              </a:rPr>
              <a:t>Mutex Locks</a:t>
            </a:r>
          </a:p>
          <a:p>
            <a:pPr marL="0" indent="0" algn="just">
              <a:buNone/>
            </a:pPr>
            <a:r>
              <a:rPr lang="en-US" dirty="0">
                <a:latin typeface="Roboto"/>
              </a:rPr>
              <a:t>As the synchronization hardware solution is not easy to implement for everyone, a strict software approach called Mutex Locks was introduced. In this approach, in the entry section of code, a LOCK is acquired over the critical resources modified and used inside critical section, and in the exit section that LOCK is released.</a:t>
            </a:r>
          </a:p>
          <a:p>
            <a:pPr marL="0" indent="0" algn="just">
              <a:buNone/>
            </a:pPr>
            <a:r>
              <a:rPr lang="en-US" dirty="0">
                <a:latin typeface="Roboto"/>
              </a:rPr>
              <a:t>As the resource is locked while a process executes its critical section hence no other process can access it.</a:t>
            </a:r>
          </a:p>
          <a:p>
            <a:pPr marL="0" indent="0" algn="just">
              <a:buNone/>
            </a:pPr>
            <a:endParaRPr lang="en-US" dirty="0">
              <a:latin typeface="Roboto"/>
            </a:endParaRPr>
          </a:p>
          <a:p>
            <a:pPr marL="0" indent="0" algn="just">
              <a:buNone/>
            </a:pPr>
            <a:endParaRPr lang="en-US" dirty="0">
              <a:latin typeface="Roboto"/>
            </a:endParaRPr>
          </a:p>
          <a:p>
            <a:pPr marL="0" indent="0" algn="just">
              <a:buNone/>
            </a:pPr>
            <a:endParaRPr lang="en-IN" dirty="0">
              <a:latin typeface="Roboto"/>
            </a:endParaRPr>
          </a:p>
        </p:txBody>
      </p:sp>
    </p:spTree>
    <p:extLst>
      <p:ext uri="{BB962C8B-B14F-4D97-AF65-F5344CB8AC3E}">
        <p14:creationId xmlns:p14="http://schemas.microsoft.com/office/powerpoint/2010/main" val="7535106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CC3D-7EF9-4A53-AF38-D7B385931250}"/>
              </a:ext>
            </a:extLst>
          </p:cNvPr>
          <p:cNvSpPr>
            <a:spLocks noGrp="1"/>
          </p:cNvSpPr>
          <p:nvPr>
            <p:ph type="title"/>
          </p:nvPr>
        </p:nvSpPr>
        <p:spPr/>
        <p:txBody>
          <a:bodyPr>
            <a:noAutofit/>
          </a:bodyPr>
          <a:lstStyle/>
          <a:p>
            <a:r>
              <a:rPr lang="en-US" sz="2800" dirty="0"/>
              <a:t>Solution to Critical Section Problem</a:t>
            </a:r>
            <a:endParaRPr lang="en-IN" sz="2800" dirty="0"/>
          </a:p>
        </p:txBody>
      </p:sp>
      <p:sp>
        <p:nvSpPr>
          <p:cNvPr id="3" name="Content Placeholder 2">
            <a:extLst>
              <a:ext uri="{FF2B5EF4-FFF2-40B4-BE49-F238E27FC236}">
                <a16:creationId xmlns:a16="http://schemas.microsoft.com/office/drawing/2014/main" id="{2824164E-7861-41B6-86A6-8B8C57E32C2B}"/>
              </a:ext>
            </a:extLst>
          </p:cNvPr>
          <p:cNvSpPr>
            <a:spLocks noGrp="1"/>
          </p:cNvSpPr>
          <p:nvPr>
            <p:ph idx="1"/>
          </p:nvPr>
        </p:nvSpPr>
        <p:spPr>
          <a:xfrm>
            <a:off x="685800" y="2194560"/>
            <a:ext cx="10820400" cy="4495489"/>
          </a:xfrm>
        </p:spPr>
        <p:txBody>
          <a:bodyPr>
            <a:normAutofit/>
          </a:bodyPr>
          <a:lstStyle/>
          <a:p>
            <a:pPr algn="just"/>
            <a:r>
              <a:rPr lang="en-US" b="1" i="0" dirty="0">
                <a:solidFill>
                  <a:srgbClr val="000000"/>
                </a:solidFill>
                <a:effectLst/>
                <a:latin typeface="Arial" panose="020B0604020202020204" pitchFamily="34" charset="0"/>
              </a:rPr>
              <a:t>Semaphores: </a:t>
            </a:r>
            <a:r>
              <a:rPr lang="en-US" i="0" dirty="0">
                <a:solidFill>
                  <a:srgbClr val="000000"/>
                </a:solidFill>
                <a:effectLst/>
                <a:latin typeface="Arial" panose="020B0604020202020204" pitchFamily="34" charset="0"/>
              </a:rPr>
              <a:t>These</a:t>
            </a:r>
            <a:r>
              <a:rPr lang="en-US" b="0" i="0" dirty="0">
                <a:solidFill>
                  <a:srgbClr val="000000"/>
                </a:solidFill>
                <a:effectLst/>
                <a:latin typeface="Arial" panose="020B0604020202020204" pitchFamily="34" charset="0"/>
              </a:rPr>
              <a:t> are integer variables that are used to solve the critical section problem by using two atomic operations, wait and signal that are used for process synchronization.</a:t>
            </a:r>
          </a:p>
          <a:p>
            <a:pPr marL="0" indent="0" algn="just">
              <a:buNone/>
            </a:pPr>
            <a:r>
              <a:rPr lang="en-US" b="0" i="0" dirty="0">
                <a:solidFill>
                  <a:srgbClr val="000000"/>
                </a:solidFill>
                <a:effectLst/>
                <a:latin typeface="Arial" panose="020B0604020202020204" pitchFamily="34" charset="0"/>
              </a:rPr>
              <a:t>The definitions of wait and signal are as follows −</a:t>
            </a:r>
          </a:p>
          <a:p>
            <a:pPr algn="just">
              <a:buFont typeface="Arial" panose="020B0604020202020204" pitchFamily="34" charset="0"/>
              <a:buChar char="•"/>
            </a:pPr>
            <a:r>
              <a:rPr lang="en-US" b="1" i="0" dirty="0">
                <a:solidFill>
                  <a:srgbClr val="000000"/>
                </a:solidFill>
                <a:effectLst/>
                <a:latin typeface="Arial" panose="020B0604020202020204" pitchFamily="34" charset="0"/>
              </a:rPr>
              <a:t>Wait: </a:t>
            </a:r>
            <a:r>
              <a:rPr lang="en-US" b="0" i="0" dirty="0">
                <a:solidFill>
                  <a:srgbClr val="000000"/>
                </a:solidFill>
                <a:effectLst/>
                <a:latin typeface="Arial" panose="020B0604020202020204" pitchFamily="34" charset="0"/>
              </a:rPr>
              <a:t>The wait operation decrements the value of its argument S, if it is positive. If S is negative or zero, then no operation is performed.</a:t>
            </a:r>
          </a:p>
          <a:p>
            <a:pPr marL="0" indent="0" algn="just">
              <a:buNone/>
            </a:pPr>
            <a:endParaRPr lang="en-US" dirty="0">
              <a:latin typeface="Roboto"/>
            </a:endParaRPr>
          </a:p>
          <a:p>
            <a:pPr marL="0" indent="0" algn="just">
              <a:buNone/>
            </a:pPr>
            <a:endParaRPr lang="en-US" dirty="0">
              <a:latin typeface="Roboto"/>
            </a:endParaRPr>
          </a:p>
          <a:p>
            <a:pPr marL="0" indent="0" algn="just">
              <a:buNone/>
            </a:pPr>
            <a:endParaRPr lang="en-IN" dirty="0">
              <a:latin typeface="Roboto"/>
            </a:endParaRPr>
          </a:p>
        </p:txBody>
      </p:sp>
      <p:sp>
        <p:nvSpPr>
          <p:cNvPr id="5" name="Rectangle 2">
            <a:extLst>
              <a:ext uri="{FF2B5EF4-FFF2-40B4-BE49-F238E27FC236}">
                <a16:creationId xmlns:a16="http://schemas.microsoft.com/office/drawing/2014/main" id="{55677F50-862B-41BA-ADA7-FD232404BDC5}"/>
              </a:ext>
            </a:extLst>
          </p:cNvPr>
          <p:cNvSpPr>
            <a:spLocks noChangeArrowheads="1"/>
          </p:cNvSpPr>
          <p:nvPr/>
        </p:nvSpPr>
        <p:spPr bwMode="auto">
          <a:xfrm>
            <a:off x="1203649" y="4518000"/>
            <a:ext cx="7567126" cy="2095425"/>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wait</a:t>
            </a:r>
            <a:r>
              <a:rPr kumimoji="0" lang="en-US" altLang="en-US"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r>
              <a:rPr kumimoji="0" lang="en-US" altLang="en-US"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88"/>
                </a:solidFill>
                <a:effectLst/>
                <a:latin typeface="Courier New" panose="02070309020205020404" pitchFamily="49" charset="0"/>
                <a:cs typeface="Courier New" panose="02070309020205020404" pitchFamily="49" charset="0"/>
              </a:rPr>
              <a:t>while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r>
              <a:rPr kumimoji="0" lang="en-US" altLang="en-US"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a:ln>
                  <a:noFill/>
                </a:ln>
                <a:solidFill>
                  <a:srgbClr val="006666"/>
                </a:solidFill>
                <a:effectLst/>
                <a:latin typeface="Courier New" panose="02070309020205020404" pitchFamily="49" charset="0"/>
                <a:cs typeface="Courier New" panose="02070309020205020404" pitchFamily="49" charset="0"/>
              </a:rPr>
              <a:t>0</a:t>
            </a:r>
            <a:r>
              <a:rPr kumimoji="0" lang="en-US" altLang="en-US"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r>
              <a:rPr kumimoji="0" lang="en-US" altLang="en-US"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endPar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57304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CC3D-7EF9-4A53-AF38-D7B385931250}"/>
              </a:ext>
            </a:extLst>
          </p:cNvPr>
          <p:cNvSpPr>
            <a:spLocks noGrp="1"/>
          </p:cNvSpPr>
          <p:nvPr>
            <p:ph type="title"/>
          </p:nvPr>
        </p:nvSpPr>
        <p:spPr/>
        <p:txBody>
          <a:bodyPr>
            <a:noAutofit/>
          </a:bodyPr>
          <a:lstStyle/>
          <a:p>
            <a:r>
              <a:rPr lang="en-US" sz="2800" dirty="0"/>
              <a:t>Solution to Critical Section Problem</a:t>
            </a:r>
            <a:endParaRPr lang="en-IN" sz="2800" dirty="0"/>
          </a:p>
        </p:txBody>
      </p:sp>
      <p:sp>
        <p:nvSpPr>
          <p:cNvPr id="3" name="Content Placeholder 2">
            <a:extLst>
              <a:ext uri="{FF2B5EF4-FFF2-40B4-BE49-F238E27FC236}">
                <a16:creationId xmlns:a16="http://schemas.microsoft.com/office/drawing/2014/main" id="{2824164E-7861-41B6-86A6-8B8C57E32C2B}"/>
              </a:ext>
            </a:extLst>
          </p:cNvPr>
          <p:cNvSpPr>
            <a:spLocks noGrp="1"/>
          </p:cNvSpPr>
          <p:nvPr>
            <p:ph idx="1"/>
          </p:nvPr>
        </p:nvSpPr>
        <p:spPr>
          <a:xfrm>
            <a:off x="685800" y="2194560"/>
            <a:ext cx="10820400" cy="4495489"/>
          </a:xfrm>
        </p:spPr>
        <p:txBody>
          <a:bodyPr>
            <a:normAutofit/>
          </a:bodyPr>
          <a:lstStyle/>
          <a:p>
            <a:pPr marL="0" indent="0" algn="just">
              <a:buNone/>
            </a:pPr>
            <a:r>
              <a:rPr lang="en-US" b="1" i="0" dirty="0">
                <a:solidFill>
                  <a:srgbClr val="000000"/>
                </a:solidFill>
                <a:effectLst/>
                <a:latin typeface="Arial" panose="020B0604020202020204" pitchFamily="34" charset="0"/>
              </a:rPr>
              <a:t>Signal: </a:t>
            </a:r>
            <a:r>
              <a:rPr lang="en-US" b="0" i="0" dirty="0">
                <a:solidFill>
                  <a:srgbClr val="000000"/>
                </a:solidFill>
                <a:effectLst/>
                <a:latin typeface="Arial" panose="020B0604020202020204" pitchFamily="34" charset="0"/>
              </a:rPr>
              <a:t>The signal operation increments the value of its argument S.</a:t>
            </a:r>
          </a:p>
          <a:p>
            <a:pPr marL="0" indent="0" algn="just">
              <a:buNone/>
            </a:pPr>
            <a:endParaRPr lang="en-IN" dirty="0">
              <a:latin typeface="Roboto"/>
            </a:endParaRPr>
          </a:p>
        </p:txBody>
      </p:sp>
      <p:sp>
        <p:nvSpPr>
          <p:cNvPr id="6" name="Rectangle 2">
            <a:extLst>
              <a:ext uri="{FF2B5EF4-FFF2-40B4-BE49-F238E27FC236}">
                <a16:creationId xmlns:a16="http://schemas.microsoft.com/office/drawing/2014/main" id="{F033B663-CBB4-4683-B964-FADB7BDDD97B}"/>
              </a:ext>
            </a:extLst>
          </p:cNvPr>
          <p:cNvSpPr>
            <a:spLocks noChangeArrowheads="1"/>
          </p:cNvSpPr>
          <p:nvPr/>
        </p:nvSpPr>
        <p:spPr bwMode="auto">
          <a:xfrm>
            <a:off x="2332652" y="2675527"/>
            <a:ext cx="3237723" cy="163757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522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signal</a:t>
            </a:r>
            <a:r>
              <a:rPr kumimoji="0" lang="en-US" altLang="en-US" sz="24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r>
              <a:rPr kumimoji="0" lang="en-US" altLang="en-US" sz="24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r>
              <a:rPr kumimoji="0" lang="en-US" altLang="en-US" sz="24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828613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3282</TotalTime>
  <Words>4371</Words>
  <Application>Microsoft Office PowerPoint</Application>
  <PresentationFormat>Widescreen</PresentationFormat>
  <Paragraphs>289</Paragraphs>
  <Slides>49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Arial Black</vt:lpstr>
      <vt:lpstr>Courier New</vt:lpstr>
      <vt:lpstr>helvetica neue</vt:lpstr>
      <vt:lpstr>noto sans</vt:lpstr>
      <vt:lpstr>Roboto</vt:lpstr>
      <vt:lpstr>Vapor Trail</vt:lpstr>
      <vt:lpstr>Process management</vt:lpstr>
      <vt:lpstr>Process </vt:lpstr>
      <vt:lpstr>Process</vt:lpstr>
      <vt:lpstr>Process life cycle</vt:lpstr>
      <vt:lpstr>Process life cycle</vt:lpstr>
      <vt:lpstr>Process Control Block (PCB) </vt:lpstr>
      <vt:lpstr>Process Control Block (PCB) </vt:lpstr>
      <vt:lpstr>Process scheduling</vt:lpstr>
      <vt:lpstr>Process scheduling</vt:lpstr>
      <vt:lpstr>Process operations</vt:lpstr>
      <vt:lpstr>Process Creation </vt:lpstr>
      <vt:lpstr>Process Preemption </vt:lpstr>
      <vt:lpstr>Process Blocking </vt:lpstr>
      <vt:lpstr>Process Termination </vt:lpstr>
      <vt:lpstr>CPU SCHEDULING</vt:lpstr>
      <vt:lpstr>Types of CPU Scheduling </vt:lpstr>
      <vt:lpstr>CPU Scheduling: Scheduling Criteria </vt:lpstr>
      <vt:lpstr>CPU Scheduling: Scheduling Criteria </vt:lpstr>
      <vt:lpstr>Scheduling Algorithms </vt:lpstr>
      <vt:lpstr>First Come First Serve Scheduling  </vt:lpstr>
      <vt:lpstr>FCFS</vt:lpstr>
      <vt:lpstr>EXAMPLE</vt:lpstr>
      <vt:lpstr>Problems with FCFS Scheduling </vt:lpstr>
      <vt:lpstr>Problems with FCFS Scheduling </vt:lpstr>
      <vt:lpstr>Shortest Job First(SJF) Scheduling </vt:lpstr>
      <vt:lpstr>Non Pre-emptive Shortest Job First </vt:lpstr>
      <vt:lpstr>Problem with Non Pre-emptive SJF </vt:lpstr>
      <vt:lpstr>Pre-emptive Shortest Job First </vt:lpstr>
      <vt:lpstr>Priority CPU Scheduling </vt:lpstr>
      <vt:lpstr>Example of Priority Scheduling Algorithm </vt:lpstr>
      <vt:lpstr>Problem with Priority Scheduling Algorithm </vt:lpstr>
      <vt:lpstr>Round Robin Scheduling </vt:lpstr>
      <vt:lpstr>Round Robin Scheduling </vt:lpstr>
      <vt:lpstr>Multilevel Queue Scheduling </vt:lpstr>
      <vt:lpstr>Multilevel Queue Scheduling </vt:lpstr>
      <vt:lpstr>Multilevel Feedback Queue Scheduling </vt:lpstr>
      <vt:lpstr>Multilevel Feedback Queue Scheduling </vt:lpstr>
      <vt:lpstr>Multilevel Feedback Queue Scheduling </vt:lpstr>
      <vt:lpstr>Multiple-Processor Scheduling</vt:lpstr>
      <vt:lpstr>Approaches to Multiple-Processor Scheduling  </vt:lpstr>
      <vt:lpstr>Processor Affinity </vt:lpstr>
      <vt:lpstr>Process Synchronization</vt:lpstr>
      <vt:lpstr>Process Synchronization</vt:lpstr>
      <vt:lpstr>Critical Section Problem </vt:lpstr>
      <vt:lpstr>Critical Section Problem </vt:lpstr>
      <vt:lpstr>Solution to Critical Section Problem</vt:lpstr>
      <vt:lpstr>Solution to Critical Section Problem</vt:lpstr>
      <vt:lpstr>Solution to Critical Section Problem</vt:lpstr>
      <vt:lpstr>Solution to Critical Section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management</dc:title>
  <dc:creator>arnav chowdhury</dc:creator>
  <cp:lastModifiedBy>arnav chowdhury</cp:lastModifiedBy>
  <cp:revision>17</cp:revision>
  <dcterms:created xsi:type="dcterms:W3CDTF">2020-09-29T04:40:19Z</dcterms:created>
  <dcterms:modified xsi:type="dcterms:W3CDTF">2020-10-10T04:29:10Z</dcterms:modified>
</cp:coreProperties>
</file>
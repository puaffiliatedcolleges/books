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9" r:id="rId2"/>
    <p:sldId id="262" r:id="rId3"/>
    <p:sldId id="263" r:id="rId4"/>
    <p:sldId id="264" r:id="rId5"/>
    <p:sldId id="265" r:id="rId6"/>
    <p:sldId id="266" r:id="rId7"/>
    <p:sldId id="267" r:id="rId8"/>
    <p:sldId id="268" r:id="rId9"/>
    <p:sldId id="269" r:id="rId10"/>
    <p:sldId id="270" r:id="rId11"/>
    <p:sldId id="271"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1BA9ED-8681-411D-AB2C-0056CD3DA80A}" type="datetimeFigureOut">
              <a:rPr lang="en-US" smtClean="0"/>
              <a:t>12/10/2022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BD7E8E-CA9D-42AB-9882-929D7D5985E9}" type="slidenum">
              <a:rPr lang="en-US" smtClean="0"/>
              <a:t>‹#›</a:t>
            </a:fld>
            <a:endParaRPr lang="en-US"/>
          </a:p>
        </p:txBody>
      </p:sp>
    </p:spTree>
    <p:extLst>
      <p:ext uri="{BB962C8B-B14F-4D97-AF65-F5344CB8AC3E}">
        <p14:creationId xmlns:p14="http://schemas.microsoft.com/office/powerpoint/2010/main" val="1899320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extLst>
      <p:ext uri="{BB962C8B-B14F-4D97-AF65-F5344CB8AC3E}">
        <p14:creationId xmlns:p14="http://schemas.microsoft.com/office/powerpoint/2010/main" val="204478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a:t>
            </a:fld>
            <a:endParaRPr lang="zh-CN" altLang="en-US"/>
          </a:p>
        </p:txBody>
      </p:sp>
    </p:spTree>
    <p:extLst>
      <p:ext uri="{BB962C8B-B14F-4D97-AF65-F5344CB8AC3E}">
        <p14:creationId xmlns:p14="http://schemas.microsoft.com/office/powerpoint/2010/main" val="38350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a:t>
            </a:fld>
            <a:endParaRPr lang="zh-CN" altLang="en-US"/>
          </a:p>
        </p:txBody>
      </p:sp>
    </p:spTree>
    <p:extLst>
      <p:ext uri="{BB962C8B-B14F-4D97-AF65-F5344CB8AC3E}">
        <p14:creationId xmlns:p14="http://schemas.microsoft.com/office/powerpoint/2010/main" val="3293577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a:t>
            </a:fld>
            <a:endParaRPr lang="zh-CN" altLang="en-US"/>
          </a:p>
        </p:txBody>
      </p:sp>
    </p:spTree>
    <p:extLst>
      <p:ext uri="{BB962C8B-B14F-4D97-AF65-F5344CB8AC3E}">
        <p14:creationId xmlns:p14="http://schemas.microsoft.com/office/powerpoint/2010/main" val="1150214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a:t>
            </a:fld>
            <a:endParaRPr lang="zh-CN" altLang="en-US"/>
          </a:p>
        </p:txBody>
      </p:sp>
    </p:spTree>
    <p:extLst>
      <p:ext uri="{BB962C8B-B14F-4D97-AF65-F5344CB8AC3E}">
        <p14:creationId xmlns:p14="http://schemas.microsoft.com/office/powerpoint/2010/main" val="1691650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a:t>
            </a:fld>
            <a:endParaRPr lang="zh-CN" altLang="en-US"/>
          </a:p>
        </p:txBody>
      </p:sp>
    </p:spTree>
    <p:extLst>
      <p:ext uri="{BB962C8B-B14F-4D97-AF65-F5344CB8AC3E}">
        <p14:creationId xmlns:p14="http://schemas.microsoft.com/office/powerpoint/2010/main" val="2651634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a:t>
            </a:fld>
            <a:endParaRPr lang="zh-CN" altLang="en-US"/>
          </a:p>
        </p:txBody>
      </p:sp>
    </p:spTree>
    <p:extLst>
      <p:ext uri="{BB962C8B-B14F-4D97-AF65-F5344CB8AC3E}">
        <p14:creationId xmlns:p14="http://schemas.microsoft.com/office/powerpoint/2010/main" val="2346314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8</a:t>
            </a:fld>
            <a:endParaRPr lang="zh-CN" altLang="en-US"/>
          </a:p>
        </p:txBody>
      </p:sp>
    </p:spTree>
    <p:extLst>
      <p:ext uri="{BB962C8B-B14F-4D97-AF65-F5344CB8AC3E}">
        <p14:creationId xmlns:p14="http://schemas.microsoft.com/office/powerpoint/2010/main" val="868132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9</a:t>
            </a:fld>
            <a:endParaRPr lang="zh-CN" altLang="en-US"/>
          </a:p>
        </p:txBody>
      </p:sp>
    </p:spTree>
    <p:extLst>
      <p:ext uri="{BB962C8B-B14F-4D97-AF65-F5344CB8AC3E}">
        <p14:creationId xmlns:p14="http://schemas.microsoft.com/office/powerpoint/2010/main" val="2606038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10</a:t>
            </a:fld>
            <a:endParaRPr lang="zh-CN" altLang="en-US"/>
          </a:p>
        </p:txBody>
      </p:sp>
    </p:spTree>
    <p:extLst>
      <p:ext uri="{BB962C8B-B14F-4D97-AF65-F5344CB8AC3E}">
        <p14:creationId xmlns:p14="http://schemas.microsoft.com/office/powerpoint/2010/main" val="766688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11</a:t>
            </a:fld>
            <a:endParaRPr lang="zh-CN" altLang="en-US"/>
          </a:p>
        </p:txBody>
      </p:sp>
    </p:spTree>
    <p:extLst>
      <p:ext uri="{BB962C8B-B14F-4D97-AF65-F5344CB8AC3E}">
        <p14:creationId xmlns:p14="http://schemas.microsoft.com/office/powerpoint/2010/main" val="3942705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12</a:t>
            </a:fld>
            <a:endParaRPr lang="zh-CN" altLang="en-US"/>
          </a:p>
        </p:txBody>
      </p:sp>
    </p:spTree>
    <p:extLst>
      <p:ext uri="{BB962C8B-B14F-4D97-AF65-F5344CB8AC3E}">
        <p14:creationId xmlns:p14="http://schemas.microsoft.com/office/powerpoint/2010/main" val="711335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BD2F-86C5-47CF-A1AB-783339764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D90B90-2201-CC52-5E2D-A780F489D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CFC926-A492-0492-9452-46EA3BAA7A7C}"/>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335DD29B-E75F-DDBD-E656-D0BEDCBC75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C86DF-C011-4865-983E-CB638AE3EA0D}"/>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86805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48239-2AF5-D32A-9D8E-6130261347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96A282-D29E-80BF-4EF7-B03D754045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7FB79-D6F1-435D-B1A0-7E14AB34D280}"/>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CFCC955A-430E-FA26-6584-090BF7BBA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03C1DF-8BC3-1A21-8410-18C39FDA6B7F}"/>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116134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DFD71-166D-60A6-6408-73153290C7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2A3C8E-C0A1-CF96-6F2F-875DA9F1FB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F106E9-5C1A-D030-1302-E1F3148948A0}"/>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CD571EAE-3198-4B50-22F4-97935FDED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C9E51-F8D2-B856-2D49-638FCC37CEF5}"/>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980054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5E328-B177-DDF3-369E-A072467403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6AB9F9-2D75-9938-A039-8C844106B5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6CA727-F3FC-1E42-A323-57F04FFD9A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0B2BE5-0224-0F0A-9022-37165C53629C}"/>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6" name="Footer Placeholder 5">
            <a:extLst>
              <a:ext uri="{FF2B5EF4-FFF2-40B4-BE49-F238E27FC236}">
                <a16:creationId xmlns:a16="http://schemas.microsoft.com/office/drawing/2014/main" id="{83AD7E87-8E6D-F4E0-778A-D42F214813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BD0476-5512-32A2-5B58-5831F01853D0}"/>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29002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F1EA-9998-FCD8-8394-D785577B9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2BC037-C4A6-E02B-B5BC-34DD56B6AE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E63ACD-D2FC-F132-DB70-C5FC269CA1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6D0BE5-781C-9E8F-7160-F6229DC85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9A04E9-83C2-C694-FE13-585771345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A40128-DE88-6DF9-C4C8-07E07C224609}"/>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8" name="Footer Placeholder 7">
            <a:extLst>
              <a:ext uri="{FF2B5EF4-FFF2-40B4-BE49-F238E27FC236}">
                <a16:creationId xmlns:a16="http://schemas.microsoft.com/office/drawing/2014/main" id="{216E698D-9F49-244E-5350-5DCA20A947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19F617-C0FA-5B1F-3557-007EF3141260}"/>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337884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F2E03-2338-258B-07BE-83966D2A94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32D76-B071-7FDC-D32D-3DEE0C50301D}"/>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4" name="Footer Placeholder 3">
            <a:extLst>
              <a:ext uri="{FF2B5EF4-FFF2-40B4-BE49-F238E27FC236}">
                <a16:creationId xmlns:a16="http://schemas.microsoft.com/office/drawing/2014/main" id="{A2A04A32-A7DB-E42F-B19D-2243EDBDD4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C04FDD-68C6-6104-9827-7E51682E0348}"/>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3355793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3F154A-7098-BF6D-AB31-D15960CD98C6}"/>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3" name="Footer Placeholder 2">
            <a:extLst>
              <a:ext uri="{FF2B5EF4-FFF2-40B4-BE49-F238E27FC236}">
                <a16:creationId xmlns:a16="http://schemas.microsoft.com/office/drawing/2014/main" id="{ED20D7E2-58BA-0B77-0A22-AD23AB40EE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7C6EDE-7E88-F8BF-F8D9-77135B222D33}"/>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352671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E8B7-B9FA-0132-6F06-482E88204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F519BB-7AF9-0382-7084-61210C0B62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66BD04-B521-3DB5-A8E4-B1A909B99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52D1D2-B1A4-B915-1AD6-69E432D9AE47}"/>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6" name="Footer Placeholder 5">
            <a:extLst>
              <a:ext uri="{FF2B5EF4-FFF2-40B4-BE49-F238E27FC236}">
                <a16:creationId xmlns:a16="http://schemas.microsoft.com/office/drawing/2014/main" id="{69333E49-1FB0-2846-A0C0-90EB6828D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3580C-70B1-800A-6ADE-E0A5EE307E61}"/>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3610605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C7836-F8C8-598B-6507-5BCAC136D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AB3EBC-6448-7989-E1F9-26A1A5546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1C4AAD-B166-ED0F-1395-DA9760D3A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E69CF-3A1F-C8ED-A5E4-7AF43F72F6D4}"/>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6" name="Footer Placeholder 5">
            <a:extLst>
              <a:ext uri="{FF2B5EF4-FFF2-40B4-BE49-F238E27FC236}">
                <a16:creationId xmlns:a16="http://schemas.microsoft.com/office/drawing/2014/main" id="{CDE31D32-9241-A129-73C0-D734D4C02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64255A-4066-350D-CFE6-3127F0EC1746}"/>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233083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FF86-7F33-9EA1-CF27-740C695B37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3A4FC8-1B8F-E3DB-16CF-A7FFF8768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BBD08-B655-6A15-3D76-A618E6BD296F}"/>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C81B03A6-296A-3E65-A035-A44E2F7C6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7E1620-4EA0-0A6A-2E13-DCAE8FD391A0}"/>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1090966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2F6D7F-86FD-F724-B0D5-986B7C8121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3096D8-DB8E-BF51-FD54-6CCBCEE393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E9B20-C3DA-3E09-1E96-CBC189BA5458}"/>
              </a:ext>
            </a:extLst>
          </p:cNvPr>
          <p:cNvSpPr>
            <a:spLocks noGrp="1"/>
          </p:cNvSpPr>
          <p:nvPr>
            <p:ph type="dt" sz="half" idx="10"/>
          </p:nvPr>
        </p:nvSpPr>
        <p:spPr/>
        <p:txBody>
          <a:body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94240544-65A0-F546-DD79-114FFFE8FF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1618EA-130F-C269-3A32-82CB3E6BAF7C}"/>
              </a:ext>
            </a:extLst>
          </p:cNvPr>
          <p:cNvSpPr>
            <a:spLocks noGrp="1"/>
          </p:cNvSpPr>
          <p:nvPr>
            <p:ph type="sldNum" sz="quarter" idx="12"/>
          </p:nvPr>
        </p:nvSpPr>
        <p:spPr/>
        <p:txBody>
          <a:bodyPr/>
          <a:lstStyle/>
          <a:p>
            <a:fld id="{2B944D3C-FCA2-42C6-91DE-9B698F54AA04}" type="slidenum">
              <a:rPr lang="en-US" smtClean="0"/>
              <a:t>‹#›</a:t>
            </a:fld>
            <a:endParaRPr lang="en-US"/>
          </a:p>
        </p:txBody>
      </p:sp>
    </p:spTree>
    <p:extLst>
      <p:ext uri="{BB962C8B-B14F-4D97-AF65-F5344CB8AC3E}">
        <p14:creationId xmlns:p14="http://schemas.microsoft.com/office/powerpoint/2010/main" val="273142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885A6-BF30-8905-639F-9901D247FD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C088F0-4D16-A575-4850-6FFAB1E31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609EF-C525-FC5B-D6A3-A5B4FC19F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2EE83B-AF85-473A-B250-5F789C2A6843}" type="datetimeFigureOut">
              <a:rPr lang="en-US" smtClean="0"/>
              <a:t>12/10/2022</a:t>
            </a:fld>
            <a:endParaRPr lang="en-US"/>
          </a:p>
        </p:txBody>
      </p:sp>
      <p:sp>
        <p:nvSpPr>
          <p:cNvPr id="5" name="Footer Placeholder 4">
            <a:extLst>
              <a:ext uri="{FF2B5EF4-FFF2-40B4-BE49-F238E27FC236}">
                <a16:creationId xmlns:a16="http://schemas.microsoft.com/office/drawing/2014/main" id="{AA60E247-E127-B8AE-9082-5E4AFE4C6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F98609-2E59-F4A7-D1A8-D02FC638FC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44D3C-FCA2-42C6-91DE-9B698F54AA04}" type="slidenum">
              <a:rPr lang="en-US" smtClean="0"/>
              <a:t>‹#›</a:t>
            </a:fld>
            <a:endParaRPr lang="en-US"/>
          </a:p>
        </p:txBody>
      </p:sp>
    </p:spTree>
    <p:extLst>
      <p:ext uri="{BB962C8B-B14F-4D97-AF65-F5344CB8AC3E}">
        <p14:creationId xmlns:p14="http://schemas.microsoft.com/office/powerpoint/2010/main" val="19289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03713" y="2173797"/>
            <a:ext cx="8687495" cy="2865281"/>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6978886" y="4437112"/>
            <a:ext cx="5140816" cy="499624"/>
          </a:xfrm>
          <a:prstGeom prst="rect">
            <a:avLst/>
          </a:prstGeom>
        </p:spPr>
        <p:txBody>
          <a:bodyPr wrap="square"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000" b="1" dirty="0">
                <a:solidFill>
                  <a:schemeClr val="bg1"/>
                </a:solidFill>
              </a:rPr>
              <a:t>University of Sialkot</a:t>
            </a:r>
            <a:endParaRPr lang="zh-CN" altLang="en-US" sz="2000" b="1" dirty="0">
              <a:solidFill>
                <a:schemeClr val="bg1"/>
              </a:solidFill>
            </a:endParaRPr>
          </a:p>
        </p:txBody>
      </p:sp>
      <p:sp>
        <p:nvSpPr>
          <p:cNvPr id="34" name="矩形 33"/>
          <p:cNvSpPr/>
          <p:nvPr/>
        </p:nvSpPr>
        <p:spPr>
          <a:xfrm>
            <a:off x="3791745" y="1814002"/>
            <a:ext cx="8399463" cy="35979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656694" y="3212977"/>
            <a:ext cx="6767898" cy="1200329"/>
          </a:xfrm>
          <a:prstGeom prst="rect">
            <a:avLst/>
          </a:prstGeom>
          <a:noFill/>
        </p:spPr>
        <p:txBody>
          <a:bodyPr wrap="square" rtlCol="0">
            <a:spAutoFit/>
          </a:bodyPr>
          <a:lstStyle/>
          <a:p>
            <a:pPr algn="ctr"/>
            <a:r>
              <a:rPr lang="en-US" sz="3600" dirty="0">
                <a:solidFill>
                  <a:schemeClr val="bg1"/>
                </a:solidFill>
                <a:latin typeface="Cambria" panose="02040503050406030204" pitchFamily="18" charset="0"/>
              </a:rPr>
              <a:t>Information Protection Methods in Android</a:t>
            </a:r>
            <a:endParaRPr lang="zh-CN" altLang="en-US" sz="3600" dirty="0">
              <a:solidFill>
                <a:schemeClr val="bg1"/>
              </a:solidFill>
              <a:latin typeface="Cambria" panose="02040503050406030204" pitchFamily="18" charset="0"/>
              <a:ea typeface="MStiffHei HKS UltraBold" pitchFamily="2" charset="-120"/>
            </a:endParaRPr>
          </a:p>
        </p:txBody>
      </p:sp>
      <p:sp>
        <p:nvSpPr>
          <p:cNvPr id="35" name="TextBox 34"/>
          <p:cNvSpPr txBox="1"/>
          <p:nvPr/>
        </p:nvSpPr>
        <p:spPr>
          <a:xfrm>
            <a:off x="4079776" y="5393951"/>
            <a:ext cx="7836136" cy="540341"/>
          </a:xfrm>
          <a:prstGeom prst="rect">
            <a:avLst/>
          </a:prstGeom>
        </p:spPr>
        <p:txBody>
          <a:bodyPr wrap="square">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200" b="1" dirty="0">
                <a:solidFill>
                  <a:srgbClr val="414455"/>
                </a:solidFill>
              </a:rPr>
              <a:t>WAQAS JAMIL MUGHAL</a:t>
            </a:r>
            <a:endParaRPr lang="zh-CN" altLang="en-US" sz="2200" dirty="0">
              <a:solidFill>
                <a:schemeClr val="tx1">
                  <a:lumMod val="75000"/>
                  <a:lumOff val="25000"/>
                </a:schemeClr>
              </a:solidFill>
            </a:endParaRPr>
          </a:p>
        </p:txBody>
      </p:sp>
      <p:grpSp>
        <p:nvGrpSpPr>
          <p:cNvPr id="36" name="组合 35"/>
          <p:cNvGrpSpPr/>
          <p:nvPr/>
        </p:nvGrpSpPr>
        <p:grpSpPr>
          <a:xfrm>
            <a:off x="6073957" y="960929"/>
            <a:ext cx="681980" cy="681980"/>
            <a:chOff x="952456" y="3218117"/>
            <a:chExt cx="877066" cy="877066"/>
          </a:xfrm>
        </p:grpSpPr>
        <p:sp>
          <p:nvSpPr>
            <p:cNvPr id="38" name="椭圆 50"/>
            <p:cNvSpPr>
              <a:spLocks noChangeArrowheads="1"/>
            </p:cNvSpPr>
            <p:nvPr/>
          </p:nvSpPr>
          <p:spPr bwMode="auto">
            <a:xfrm>
              <a:off x="952456" y="3218117"/>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0" name="Picture 3" descr="D:\360data\重要数据\桌面\467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1696" y="3367890"/>
              <a:ext cx="478586" cy="5775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组合 40"/>
          <p:cNvGrpSpPr/>
          <p:nvPr/>
        </p:nvGrpSpPr>
        <p:grpSpPr>
          <a:xfrm>
            <a:off x="6978885" y="960929"/>
            <a:ext cx="681980" cy="681980"/>
            <a:chOff x="2812677" y="3391963"/>
            <a:chExt cx="877066" cy="877066"/>
          </a:xfrm>
        </p:grpSpPr>
        <p:sp>
          <p:nvSpPr>
            <p:cNvPr id="42" name="椭圆 50"/>
            <p:cNvSpPr>
              <a:spLocks noChangeArrowheads="1"/>
            </p:cNvSpPr>
            <p:nvPr/>
          </p:nvSpPr>
          <p:spPr bwMode="auto">
            <a:xfrm>
              <a:off x="2812677" y="3391963"/>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3" name="Picture 4" descr="D:\360data\重要数据\桌面\未标题-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1249" y="3537498"/>
              <a:ext cx="419922" cy="5864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组合 43"/>
          <p:cNvGrpSpPr/>
          <p:nvPr/>
        </p:nvGrpSpPr>
        <p:grpSpPr>
          <a:xfrm>
            <a:off x="7883813" y="960929"/>
            <a:ext cx="681980" cy="681980"/>
            <a:chOff x="4672898" y="2936570"/>
            <a:chExt cx="877066" cy="877066"/>
          </a:xfrm>
        </p:grpSpPr>
        <p:sp>
          <p:nvSpPr>
            <p:cNvPr id="45" name="椭圆 44"/>
            <p:cNvSpPr>
              <a:spLocks noChangeArrowheads="1"/>
            </p:cNvSpPr>
            <p:nvPr/>
          </p:nvSpPr>
          <p:spPr bwMode="auto">
            <a:xfrm>
              <a:off x="4672898" y="293657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6" name="Picture 5" descr="D:\360data\重要数据\桌面\未标题-4.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45149" y="3095025"/>
              <a:ext cx="532564" cy="5135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组合 46"/>
          <p:cNvGrpSpPr/>
          <p:nvPr/>
        </p:nvGrpSpPr>
        <p:grpSpPr>
          <a:xfrm>
            <a:off x="8788741" y="960929"/>
            <a:ext cx="681980" cy="681980"/>
            <a:chOff x="6533119" y="2285390"/>
            <a:chExt cx="877066" cy="877066"/>
          </a:xfrm>
        </p:grpSpPr>
        <p:sp>
          <p:nvSpPr>
            <p:cNvPr id="48" name="椭圆 47"/>
            <p:cNvSpPr>
              <a:spLocks noChangeArrowheads="1"/>
            </p:cNvSpPr>
            <p:nvPr/>
          </p:nvSpPr>
          <p:spPr bwMode="auto">
            <a:xfrm>
              <a:off x="6533119" y="228539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9" name="Picture 6" descr="D:\360data\重要数据\桌面\未标题-5.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35358" y="2430447"/>
              <a:ext cx="512614" cy="5869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组合 49"/>
          <p:cNvGrpSpPr/>
          <p:nvPr/>
        </p:nvGrpSpPr>
        <p:grpSpPr>
          <a:xfrm>
            <a:off x="9693669" y="960929"/>
            <a:ext cx="681980" cy="681980"/>
            <a:chOff x="8393340" y="1988840"/>
            <a:chExt cx="877066" cy="877066"/>
          </a:xfrm>
        </p:grpSpPr>
        <p:sp>
          <p:nvSpPr>
            <p:cNvPr id="51" name="椭圆 50"/>
            <p:cNvSpPr>
              <a:spLocks noChangeArrowheads="1"/>
            </p:cNvSpPr>
            <p:nvPr/>
          </p:nvSpPr>
          <p:spPr bwMode="auto">
            <a:xfrm>
              <a:off x="8393340" y="198884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2" name="Picture 7" descr="D:\360data\重要数据\桌面\未标题-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68665" y="2183926"/>
              <a:ext cx="564516" cy="4868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组合 52"/>
          <p:cNvGrpSpPr/>
          <p:nvPr/>
        </p:nvGrpSpPr>
        <p:grpSpPr>
          <a:xfrm>
            <a:off x="10598596" y="960929"/>
            <a:ext cx="681980" cy="681980"/>
            <a:chOff x="10253559" y="2420888"/>
            <a:chExt cx="877066" cy="877066"/>
          </a:xfrm>
        </p:grpSpPr>
        <p:sp>
          <p:nvSpPr>
            <p:cNvPr id="54" name="椭圆 53"/>
            <p:cNvSpPr>
              <a:spLocks noChangeArrowheads="1"/>
            </p:cNvSpPr>
            <p:nvPr/>
          </p:nvSpPr>
          <p:spPr bwMode="auto">
            <a:xfrm>
              <a:off x="10253559" y="2420888"/>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5" name="Picture 8" descr="D:\360data\重要数据\桌面\未标题-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88676" y="2566876"/>
              <a:ext cx="606832" cy="58509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灯片编号占位符 6"/>
          <p:cNvSpPr>
            <a:spLocks noGrp="1"/>
          </p:cNvSpPr>
          <p:nvPr>
            <p:ph type="sldNum" sz="quarter" idx="12"/>
          </p:nvPr>
        </p:nvSpPr>
        <p:spPr/>
        <p:txBody>
          <a:bodyPr/>
          <a:lstStyle/>
          <a:p>
            <a:fld id="{0ABDD927-E55F-4D12-BD2D-8ABE6C912713}" type="slidenum">
              <a:rPr lang="zh-CN" altLang="en-US" smtClean="0"/>
              <a:t>1</a:t>
            </a:fld>
            <a:endParaRPr lang="zh-CN" altLang="en-US"/>
          </a:p>
        </p:txBody>
      </p:sp>
      <p:pic>
        <p:nvPicPr>
          <p:cNvPr id="37890" name="Picture 2" descr="H:\Az-PhD-Work\Thesis\Images\hiding.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 y="1808037"/>
            <a:ext cx="3790949" cy="323104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913700" y="62629"/>
            <a:ext cx="1869933" cy="1735223"/>
            <a:chOff x="555139" y="-27384"/>
            <a:chExt cx="2011675" cy="1825235"/>
          </a:xfrm>
        </p:grpSpPr>
        <p:grpSp>
          <p:nvGrpSpPr>
            <p:cNvPr id="57" name="Group 56"/>
            <p:cNvGrpSpPr/>
            <p:nvPr/>
          </p:nvGrpSpPr>
          <p:grpSpPr>
            <a:xfrm>
              <a:off x="555139" y="-27384"/>
              <a:ext cx="2011675" cy="1825235"/>
              <a:chOff x="483130" y="1294"/>
              <a:chExt cx="2011675" cy="1825235"/>
            </a:xfrm>
          </p:grpSpPr>
          <p:sp>
            <p:nvSpPr>
              <p:cNvPr id="58" name="矩形 31"/>
              <p:cNvSpPr/>
              <p:nvPr/>
            </p:nvSpPr>
            <p:spPr>
              <a:xfrm>
                <a:off x="483130" y="1294"/>
                <a:ext cx="2011675" cy="182523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9" name="Oval 58"/>
              <p:cNvSpPr/>
              <p:nvPr/>
            </p:nvSpPr>
            <p:spPr>
              <a:xfrm>
                <a:off x="624871" y="60422"/>
                <a:ext cx="1728192" cy="170697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0" name="Picture 2" descr="H:\USKT\Lectures\OOP\USKT_Logo.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0662" y="62628"/>
              <a:ext cx="1609725" cy="1609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18786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2294195"/>
            <a:ext cx="6984776" cy="2536400"/>
          </a:xfrm>
          <a:prstGeom prst="rect">
            <a:avLst/>
          </a:prstGeom>
          <a:noFill/>
        </p:spPr>
        <p:txBody>
          <a:bodyPr wrap="square" rtlCol="0">
            <a:spAutoFit/>
          </a:bodyPr>
          <a:lstStyle/>
          <a:p>
            <a:pPr algn="just">
              <a:lnSpc>
                <a:spcPct val="150000"/>
              </a:lnSpc>
            </a:pPr>
            <a:r>
              <a:rPr lang="en-US" dirty="0">
                <a:latin typeface="Microsoft YaHei" panose="020B0503020204020204" pitchFamily="34" charset="-122"/>
                <a:ea typeface="Microsoft YaHei" panose="020B0503020204020204" pitchFamily="34" charset="-122"/>
              </a:rPr>
              <a:t>Smartphones continue to grow in popularity and are now as powerful and functional as many computers. It is important to protect your smartphone just like you protect your computer as mobile cybersecurity threats are growing. Mobile security tips can help you reduce the risk of exposure to mobile security threats. </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1884953" cy="1763264"/>
            <a:chOff x="485139" y="2731454"/>
            <a:chExt cx="1884953"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550590" y="3413031"/>
              <a:ext cx="1819502" cy="400110"/>
            </a:xfrm>
            <a:prstGeom prst="rect">
              <a:avLst/>
            </a:prstGeom>
            <a:noFill/>
          </p:spPr>
          <p:txBody>
            <a:bodyPr wrap="square" rtlCol="0">
              <a:spAutoFit/>
            </a:bodyPr>
            <a:lstStyle/>
            <a:p>
              <a:r>
                <a:rPr lang="en-US" altLang="zh-CN" sz="2000" b="1" dirty="0">
                  <a:solidFill>
                    <a:schemeClr val="bg1"/>
                  </a:solidFill>
                  <a:latin typeface="微软雅黑" pitchFamily="34" charset="-122"/>
                  <a:ea typeface="微软雅黑" pitchFamily="34" charset="-122"/>
                </a:rPr>
                <a:t>Introduction</a:t>
              </a:r>
              <a:endParaRPr lang="zh-CN" altLang="en-US" sz="20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2</a:t>
            </a:fld>
            <a:endParaRPr lang="zh-CN" altLang="en-US"/>
          </a:p>
        </p:txBody>
      </p:sp>
    </p:spTree>
    <p:extLst>
      <p:ext uri="{BB962C8B-B14F-4D97-AF65-F5344CB8AC3E}">
        <p14:creationId xmlns:p14="http://schemas.microsoft.com/office/powerpoint/2010/main" val="321514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239119"/>
            <a:ext cx="6984776" cy="4613892"/>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Set a password and personal identification number</a:t>
            </a:r>
          </a:p>
          <a:p>
            <a:pPr algn="ctr">
              <a:lnSpc>
                <a:spcPct val="150000"/>
              </a:lnSpc>
            </a:pPr>
            <a:endParaRPr lang="en-US" b="1"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To prevent unauthorized access to your phone, set a password or Personal Identification Number (PIN) on your phone’s home screen as a first line of defense in case your phone is lost or stolen. When possible, use a different password for each of your important log-ins (email, banking, personal sites, etc.). You should configure your phone to automatically lock after five minutes or less when your phone is idle, as well as use the SIM password capability available on most smartphones</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1969361" cy="1763264"/>
            <a:chOff x="485139" y="2731454"/>
            <a:chExt cx="1969361"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634998" y="3342691"/>
              <a:ext cx="1819502" cy="707886"/>
            </a:xfrm>
            <a:prstGeom prst="rect">
              <a:avLst/>
            </a:prstGeom>
            <a:noFill/>
          </p:spPr>
          <p:txBody>
            <a:bodyPr wrap="square" rtlCol="0">
              <a:spAutoFit/>
            </a:bodyPr>
            <a:lstStyle/>
            <a:p>
              <a:r>
                <a:rPr lang="en-US" altLang="zh-CN" sz="2000" b="1" dirty="0">
                  <a:solidFill>
                    <a:schemeClr val="bg1"/>
                  </a:solidFill>
                  <a:latin typeface="微软雅黑" pitchFamily="34" charset="-122"/>
                  <a:ea typeface="微软雅黑" pitchFamily="34" charset="-122"/>
                </a:rPr>
                <a:t>PINs &amp; Passwords</a:t>
              </a:r>
              <a:endParaRPr lang="zh-CN" altLang="en-US" sz="20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3</a:t>
            </a:fld>
            <a:endParaRPr lang="zh-CN" altLang="en-US"/>
          </a:p>
        </p:txBody>
      </p:sp>
    </p:spTree>
    <p:extLst>
      <p:ext uri="{BB962C8B-B14F-4D97-AF65-F5344CB8AC3E}">
        <p14:creationId xmlns:p14="http://schemas.microsoft.com/office/powerpoint/2010/main" val="48423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998770"/>
            <a:ext cx="6984776" cy="2951898"/>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Do not modify your smartphone security settings</a:t>
            </a:r>
          </a:p>
          <a:p>
            <a:pPr algn="ctr">
              <a:lnSpc>
                <a:spcPct val="150000"/>
              </a:lnSpc>
            </a:pPr>
            <a:endParaRPr lang="en-US" b="1"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Do not alter security settings for convenience. Tampering with your phone’s factory settings or jailbreaking your phone weakens the built-in security features offered by your wireless service and smartphone, while making it more susceptible to an attack.</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124109" cy="1763264"/>
            <a:chOff x="485139" y="2731454"/>
            <a:chExt cx="2124109"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789746" y="3300488"/>
              <a:ext cx="1819502" cy="707886"/>
            </a:xfrm>
            <a:prstGeom prst="rect">
              <a:avLst/>
            </a:prstGeom>
            <a:noFill/>
          </p:spPr>
          <p:txBody>
            <a:bodyPr wrap="square" rtlCol="0">
              <a:spAutoFit/>
            </a:bodyPr>
            <a:lstStyle/>
            <a:p>
              <a:r>
                <a:rPr lang="en-US" altLang="zh-CN" sz="2000" b="1" dirty="0">
                  <a:solidFill>
                    <a:schemeClr val="bg1"/>
                  </a:solidFill>
                  <a:latin typeface="微软雅黑" pitchFamily="34" charset="-122"/>
                  <a:ea typeface="微软雅黑" pitchFamily="34" charset="-122"/>
                </a:rPr>
                <a:t>Security Setting</a:t>
              </a:r>
              <a:endParaRPr lang="zh-CN" altLang="en-US" sz="20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4</a:t>
            </a:fld>
            <a:endParaRPr lang="zh-CN" altLang="en-US"/>
          </a:p>
        </p:txBody>
      </p:sp>
    </p:spTree>
    <p:extLst>
      <p:ext uri="{BB962C8B-B14F-4D97-AF65-F5344CB8AC3E}">
        <p14:creationId xmlns:p14="http://schemas.microsoft.com/office/powerpoint/2010/main" val="207603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689287"/>
            <a:ext cx="6984776" cy="3367397"/>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Backup and secure your data</a:t>
            </a:r>
          </a:p>
          <a:p>
            <a:pPr algn="just">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You should backup all of the data stored on your phone – such as your contacts, documents, and photos. These files can be stored on your computer, on a removable storage card, or in the cloud. This will allow you to conveniently restore the information to your phone should it be lost, stolen, or otherwise erased.</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180374" cy="1763264"/>
            <a:chOff x="485139" y="2731454"/>
            <a:chExt cx="2180374"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846011" y="3413031"/>
              <a:ext cx="1819502" cy="400110"/>
            </a:xfrm>
            <a:prstGeom prst="rect">
              <a:avLst/>
            </a:prstGeom>
            <a:noFill/>
          </p:spPr>
          <p:txBody>
            <a:bodyPr wrap="square" rtlCol="0">
              <a:spAutoFit/>
            </a:bodyPr>
            <a:lstStyle/>
            <a:p>
              <a:r>
                <a:rPr lang="en-US" altLang="zh-CN" sz="2000" b="1" dirty="0">
                  <a:solidFill>
                    <a:schemeClr val="bg1"/>
                  </a:solidFill>
                  <a:latin typeface="微软雅黑" pitchFamily="34" charset="-122"/>
                  <a:ea typeface="微软雅黑" pitchFamily="34" charset="-122"/>
                </a:rPr>
                <a:t>Backup</a:t>
              </a:r>
              <a:endParaRPr lang="zh-CN" altLang="en-US" sz="20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5</a:t>
            </a:fld>
            <a:endParaRPr lang="zh-CN" altLang="en-US"/>
          </a:p>
        </p:txBody>
      </p:sp>
    </p:spTree>
    <p:extLst>
      <p:ext uri="{BB962C8B-B14F-4D97-AF65-F5344CB8AC3E}">
        <p14:creationId xmlns:p14="http://schemas.microsoft.com/office/powerpoint/2010/main" val="24189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168779"/>
            <a:ext cx="6984776" cy="5029390"/>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Only install apps from trusted sources</a:t>
            </a:r>
          </a:p>
          <a:p>
            <a:pPr algn="just">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Before downloading an app, conduct research to ensure the app is legitimate. Checking the legitimacy of an app may include such thing as: checking reviews, confirming the legitimacy of the app store, and comparing the app sponsor’s official website with the app store link to confirm consistency. Many apps from untrusted sources contain malware that once installed can steal information, install viruses, and cause harm to your phone’s contents. There are also apps that warn you if any security risks exist on your phone. </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1955293" cy="1763264"/>
            <a:chOff x="485139" y="2731454"/>
            <a:chExt cx="1955293"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620930" y="3258285"/>
              <a:ext cx="1819502" cy="707886"/>
            </a:xfrm>
            <a:prstGeom prst="rect">
              <a:avLst/>
            </a:prstGeom>
            <a:noFill/>
          </p:spPr>
          <p:txBody>
            <a:bodyPr wrap="square" rtlCol="0">
              <a:spAutoFit/>
            </a:bodyPr>
            <a:lstStyle/>
            <a:p>
              <a:r>
                <a:rPr lang="en-US" altLang="zh-CN" sz="2000" b="1" dirty="0">
                  <a:solidFill>
                    <a:schemeClr val="bg1"/>
                  </a:solidFill>
                  <a:latin typeface="微软雅黑" pitchFamily="34" charset="-122"/>
                  <a:ea typeface="微软雅黑" pitchFamily="34" charset="-122"/>
                </a:rPr>
                <a:t>Apps Installation</a:t>
              </a:r>
              <a:endParaRPr lang="zh-CN" altLang="en-US" sz="20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6</a:t>
            </a:fld>
            <a:endParaRPr lang="zh-CN" altLang="en-US"/>
          </a:p>
        </p:txBody>
      </p:sp>
    </p:spTree>
    <p:extLst>
      <p:ext uri="{BB962C8B-B14F-4D97-AF65-F5344CB8AC3E}">
        <p14:creationId xmlns:p14="http://schemas.microsoft.com/office/powerpoint/2010/main" val="3728256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984704"/>
            <a:ext cx="6984776" cy="2951898"/>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Understand app permissions before accepting them</a:t>
            </a:r>
          </a:p>
          <a:p>
            <a:pPr algn="just">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You should be vigilant about granting applications access to personal information on your phone or otherwise letting the application have access to perform functions on your phone. Make sure to also check the privacy settings for each app before installation.</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090001" cy="1763264"/>
            <a:chOff x="485139" y="2731454"/>
            <a:chExt cx="2090001"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550589" y="3244215"/>
              <a:ext cx="2024551" cy="969496"/>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Understand App Permissions</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7</a:t>
            </a:fld>
            <a:endParaRPr lang="zh-CN" altLang="en-US"/>
          </a:p>
        </p:txBody>
      </p:sp>
    </p:spTree>
    <p:extLst>
      <p:ext uri="{BB962C8B-B14F-4D97-AF65-F5344CB8AC3E}">
        <p14:creationId xmlns:p14="http://schemas.microsoft.com/office/powerpoint/2010/main" val="1873516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351663"/>
            <a:ext cx="6984776" cy="4198393"/>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Install security apps that enable remote location and wiping</a:t>
            </a:r>
          </a:p>
          <a:p>
            <a:pPr algn="just">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An important security feature widely available on smartphones, either by default or as an app, is the ability to remotely locate and erase all of the data stored on your phone, even if the phone’s GPS is off. In the case that you misplace your phone, some applications can activate a loud alarm, even if your phone is on silent. These apps can also help you locate and recover your phone when lost.</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047797" cy="1763264"/>
            <a:chOff x="485139" y="2731454"/>
            <a:chExt cx="2047797"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508385" y="3455235"/>
              <a:ext cx="2024551" cy="384721"/>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Security Apps</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8</a:t>
            </a:fld>
            <a:endParaRPr lang="zh-CN" altLang="en-US"/>
          </a:p>
        </p:txBody>
      </p:sp>
    </p:spTree>
    <p:extLst>
      <p:ext uri="{BB962C8B-B14F-4D97-AF65-F5344CB8AC3E}">
        <p14:creationId xmlns:p14="http://schemas.microsoft.com/office/powerpoint/2010/main" val="2188319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773692"/>
            <a:ext cx="6984776" cy="3367397"/>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Accept updates and patches to your smartphone software</a:t>
            </a:r>
          </a:p>
          <a:p>
            <a:pPr algn="just">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You should keep your phone’s operating system software up-to-date by enabling automatic updates or accepting updates when prompted from your service provider, operating system provider, device manufacturer, or application provider. By keeping your operating system current, you reduce the risk of exposure to cyber threats. .</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286953" cy="1763264"/>
            <a:chOff x="485139" y="2731454"/>
            <a:chExt cx="2286953"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747541" y="3300487"/>
              <a:ext cx="2024551" cy="677108"/>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Updates &amp; Patches</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9</a:t>
            </a:fld>
            <a:endParaRPr lang="zh-CN" altLang="en-US"/>
          </a:p>
        </p:txBody>
      </p:sp>
    </p:spTree>
    <p:extLst>
      <p:ext uri="{BB962C8B-B14F-4D97-AF65-F5344CB8AC3E}">
        <p14:creationId xmlns:p14="http://schemas.microsoft.com/office/powerpoint/2010/main" val="1851451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422003"/>
            <a:ext cx="6984776" cy="4613892"/>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Be smart on open Wi-Fi network</a:t>
            </a:r>
          </a:p>
          <a:p>
            <a:pPr algn="ctr">
              <a:lnSpc>
                <a:spcPct val="150000"/>
              </a:lnSpc>
            </a:pPr>
            <a:endParaRPr lang="en-US" b="1"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When you access a Wi-Fi network that is open to the public, your phone can be an easy target of cybercriminals. You should limit your use of public hotspots and instead use protected Wi-Fi from a network operator you trust or mobile wireless connection to reduce your risk of exposure, especially when accessing personal or sensitive information. Always be aware when clicking web links and be particularly careful if you are asked to enter account or log-in information. </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244747" cy="1763264"/>
            <a:chOff x="485139" y="2731454"/>
            <a:chExt cx="2244747"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705335" y="3300487"/>
              <a:ext cx="2024551" cy="677108"/>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Wi-Fi Networks</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10</a:t>
            </a:fld>
            <a:endParaRPr lang="zh-CN" altLang="en-US"/>
          </a:p>
        </p:txBody>
      </p:sp>
    </p:spTree>
    <p:extLst>
      <p:ext uri="{BB962C8B-B14F-4D97-AF65-F5344CB8AC3E}">
        <p14:creationId xmlns:p14="http://schemas.microsoft.com/office/powerpoint/2010/main" val="149273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942502"/>
            <a:ext cx="6984776" cy="3367397"/>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Remove data on your old phone</a:t>
            </a:r>
          </a:p>
          <a:p>
            <a:pPr algn="ctr">
              <a:lnSpc>
                <a:spcPct val="150000"/>
              </a:lnSpc>
            </a:pPr>
            <a:endParaRPr lang="en-US" b="1"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Your smartphone contains personal data you want to keep private when you dispose your old phone. To protect your privacy, completely erase data off of your phone and reset the phone to its initial factory settings. Now having wiped your old device, you are free to donate, resell, recycle, or otherwise properly dispose of your phone.</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090001" cy="1763264"/>
            <a:chOff x="485139" y="2731454"/>
            <a:chExt cx="2090001"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550589" y="3244215"/>
              <a:ext cx="2024551" cy="677108"/>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Wipe Data on Old Phone</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11</a:t>
            </a:fld>
            <a:endParaRPr lang="zh-CN" altLang="en-US"/>
          </a:p>
        </p:txBody>
      </p:sp>
    </p:spTree>
    <p:extLst>
      <p:ext uri="{BB962C8B-B14F-4D97-AF65-F5344CB8AC3E}">
        <p14:creationId xmlns:p14="http://schemas.microsoft.com/office/powerpoint/2010/main" val="1483159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9696" y="6137332"/>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359696" y="836713"/>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5"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287688" y="1590813"/>
            <a:ext cx="6984776" cy="4198393"/>
          </a:xfrm>
          <a:prstGeom prst="rect">
            <a:avLst/>
          </a:prstGeom>
          <a:noFill/>
        </p:spPr>
        <p:txBody>
          <a:bodyPr wrap="square" rtlCol="0">
            <a:spAutoFit/>
          </a:bodyPr>
          <a:lstStyle/>
          <a:p>
            <a:pPr algn="ctr">
              <a:lnSpc>
                <a:spcPct val="150000"/>
              </a:lnSpc>
            </a:pPr>
            <a:r>
              <a:rPr lang="en-US" b="1" dirty="0">
                <a:latin typeface="Microsoft YaHei" panose="020B0503020204020204" pitchFamily="34" charset="-122"/>
                <a:ea typeface="Microsoft YaHei" panose="020B0503020204020204" pitchFamily="34" charset="-122"/>
              </a:rPr>
              <a:t>Report a stolen smartphone</a:t>
            </a:r>
            <a:r>
              <a:rPr lang="en-US" dirty="0">
                <a:latin typeface="Microsoft YaHei" panose="020B0503020204020204" pitchFamily="34" charset="-122"/>
                <a:ea typeface="Microsoft YaHei" panose="020B0503020204020204" pitchFamily="34" charset="-122"/>
              </a:rPr>
              <a:t> </a:t>
            </a:r>
          </a:p>
          <a:p>
            <a:pPr algn="ctr">
              <a:lnSpc>
                <a:spcPct val="150000"/>
              </a:lnSpc>
            </a:pPr>
            <a:endParaRPr lang="en-US" dirty="0">
              <a:latin typeface="Microsoft YaHei" panose="020B0503020204020204" pitchFamily="34" charset="-122"/>
              <a:ea typeface="Microsoft YaHei" panose="020B0503020204020204" pitchFamily="34" charset="-122"/>
            </a:endParaRPr>
          </a:p>
          <a:p>
            <a:pPr algn="just">
              <a:lnSpc>
                <a:spcPct val="150000"/>
              </a:lnSpc>
            </a:pPr>
            <a:r>
              <a:rPr lang="en-US" dirty="0">
                <a:latin typeface="Microsoft YaHei" panose="020B0503020204020204" pitchFamily="34" charset="-122"/>
                <a:ea typeface="Microsoft YaHei" panose="020B0503020204020204" pitchFamily="34" charset="-122"/>
              </a:rPr>
              <a:t>The major wireless service providers, in coordination with the telecommunication authority, have established a stolen phone database. If your phone is stolen, you should report the theft to your local law enforcement authorities and then register the stolen phone with your wireless provider. This will provide notice to all the major wireless service providers that the phone has been stolen so that it cannot be activated on any wireless network without your permission.</a:t>
            </a:r>
            <a:endParaRPr lang="en-US" altLang="zh-CN" dirty="0">
              <a:latin typeface="Microsoft YaHei" panose="020B0503020204020204" pitchFamily="34" charset="-122"/>
              <a:ea typeface="Microsoft YaHei" panose="020B0503020204020204" pitchFamily="34" charset="-122"/>
            </a:endParaRPr>
          </a:p>
        </p:txBody>
      </p:sp>
      <p:grpSp>
        <p:nvGrpSpPr>
          <p:cNvPr id="19" name="组合 18"/>
          <p:cNvGrpSpPr/>
          <p:nvPr/>
        </p:nvGrpSpPr>
        <p:grpSpPr>
          <a:xfrm>
            <a:off x="695401" y="2536931"/>
            <a:ext cx="2272879" cy="1763264"/>
            <a:chOff x="485139" y="2731454"/>
            <a:chExt cx="2272879" cy="1763264"/>
          </a:xfrm>
        </p:grpSpPr>
        <p:sp>
          <p:nvSpPr>
            <p:cNvPr id="9" name="椭圆 64"/>
            <p:cNvSpPr>
              <a:spLocks noChangeArrowheads="1"/>
            </p:cNvSpPr>
            <p:nvPr/>
          </p:nvSpPr>
          <p:spPr bwMode="auto">
            <a:xfrm>
              <a:off x="485139" y="2731454"/>
              <a:ext cx="1861623" cy="1763264"/>
            </a:xfrm>
            <a:prstGeom prst="ellipse">
              <a:avLst/>
            </a:prstGeom>
            <a:solidFill>
              <a:srgbClr val="414455"/>
            </a:solidFill>
            <a:ln w="190500" cap="sq" cmpd="sng">
              <a:solidFill>
                <a:srgbClr val="C8C6BD"/>
              </a:solidFill>
              <a:round/>
              <a:headEnd/>
              <a:tailEnd/>
            </a:ln>
          </p:spPr>
          <p:txBody>
            <a:bodyPr anchor="ctr"/>
            <a:lstStyle/>
            <a:p>
              <a:pPr algn="ctr"/>
              <a:endParaRPr lang="zh-CN" altLang="zh-CN" sz="2000" b="1" dirty="0">
                <a:solidFill>
                  <a:schemeClr val="bg1"/>
                </a:solidFill>
                <a:latin typeface="微软雅黑" pitchFamily="34" charset="-122"/>
                <a:ea typeface="微软雅黑" pitchFamily="34" charset="-122"/>
                <a:sym typeface="宋体" panose="02010600030101010101" pitchFamily="2" charset="-122"/>
              </a:endParaRPr>
            </a:p>
          </p:txBody>
        </p:sp>
        <p:sp>
          <p:nvSpPr>
            <p:cNvPr id="5" name="TextBox 4"/>
            <p:cNvSpPr txBox="1"/>
            <p:nvPr/>
          </p:nvSpPr>
          <p:spPr>
            <a:xfrm>
              <a:off x="733467" y="3427096"/>
              <a:ext cx="2024551" cy="384721"/>
            </a:xfrm>
            <a:prstGeom prst="rect">
              <a:avLst/>
            </a:prstGeom>
            <a:noFill/>
          </p:spPr>
          <p:txBody>
            <a:bodyPr wrap="square" rtlCol="0">
              <a:spAutoFit/>
            </a:bodyPr>
            <a:lstStyle/>
            <a:p>
              <a:r>
                <a:rPr lang="en-US" altLang="zh-CN" sz="1900" b="1" dirty="0">
                  <a:solidFill>
                    <a:schemeClr val="bg1"/>
                  </a:solidFill>
                  <a:latin typeface="微软雅黑" pitchFamily="34" charset="-122"/>
                  <a:ea typeface="微软雅黑" pitchFamily="34" charset="-122"/>
                </a:rPr>
                <a:t>Litigation</a:t>
              </a:r>
              <a:endParaRPr lang="zh-CN" altLang="en-US" sz="1900" b="1" dirty="0">
                <a:solidFill>
                  <a:schemeClr val="bg1"/>
                </a:solidFill>
                <a:latin typeface="微软雅黑" pitchFamily="34" charset="-122"/>
                <a:ea typeface="微软雅黑" pitchFamily="34" charset="-122"/>
              </a:endParaRPr>
            </a:p>
          </p:txBody>
        </p:sp>
      </p:grpSp>
      <p:sp>
        <p:nvSpPr>
          <p:cNvPr id="29" name="灯片编号占位符 28"/>
          <p:cNvSpPr>
            <a:spLocks noGrp="1"/>
          </p:cNvSpPr>
          <p:nvPr>
            <p:ph type="sldNum" sz="quarter" idx="12"/>
          </p:nvPr>
        </p:nvSpPr>
        <p:spPr/>
        <p:txBody>
          <a:bodyPr/>
          <a:lstStyle/>
          <a:p>
            <a:fld id="{0ABDD927-E55F-4D12-BD2D-8ABE6C912713}" type="slidenum">
              <a:rPr lang="zh-CN" altLang="en-US" smtClean="0"/>
              <a:t>12</a:t>
            </a:fld>
            <a:endParaRPr lang="zh-CN" altLang="en-US"/>
          </a:p>
        </p:txBody>
      </p:sp>
    </p:spTree>
    <p:extLst>
      <p:ext uri="{BB962C8B-B14F-4D97-AF65-F5344CB8AC3E}">
        <p14:creationId xmlns:p14="http://schemas.microsoft.com/office/powerpoint/2010/main" val="895668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869</Words>
  <Application>Microsoft Office PowerPoint</Application>
  <PresentationFormat>Widescreen</PresentationFormat>
  <Paragraphs>69</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微软雅黑</vt:lpstr>
      <vt:lpstr>微软雅黑</vt:lpstr>
      <vt:lpstr>宋体</vt: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WAQAS</dc:creator>
  <cp:lastModifiedBy>WAQAS</cp:lastModifiedBy>
  <cp:revision>6</cp:revision>
  <dcterms:created xsi:type="dcterms:W3CDTF">2022-12-01T14:22:31Z</dcterms:created>
  <dcterms:modified xsi:type="dcterms:W3CDTF">2022-12-10T15:00:54Z</dcterms:modified>
</cp:coreProperties>
</file>
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0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806E5D3-C6CB-4077-8CEE-4D8ED4BC8D23}" type="datetimeFigureOut">
              <a:rPr lang="en-US" smtClean="0"/>
              <a:t>04/08/2019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7FC6B2E-460F-4109-BC1E-313F888AB6A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 major breakthrough to design webpage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Cascade Style Sheets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7772400" cy="838200"/>
          </a:xfrm>
        </p:spPr>
        <p:txBody>
          <a:bodyPr/>
          <a:lstStyle/>
          <a:p>
            <a:r>
              <a:rPr lang="en-US" b="1" dirty="0"/>
              <a:t>INTRODUCTION: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8534400" cy="3048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/>
              <a:t>Style sheets represent a major breakthrough for Web page designers, expanding their ability to improve:</a:t>
            </a:r>
          </a:p>
          <a:p>
            <a:pPr lvl="1" algn="just"/>
            <a:r>
              <a:rPr lang="en-US" sz="3200" dirty="0"/>
              <a:t>The appearance of their pages</a:t>
            </a:r>
          </a:p>
          <a:p>
            <a:pPr lvl="1" algn="just"/>
            <a:r>
              <a:rPr lang="en-US" sz="3200" dirty="0"/>
              <a:t>Provides collection of formatting styles.</a:t>
            </a:r>
          </a:p>
          <a:p>
            <a:pPr lvl="1" algn="just"/>
            <a:r>
              <a:rPr lang="en-US" sz="3200" dirty="0"/>
              <a:t>Different techniques to use these styles</a:t>
            </a:r>
          </a:p>
          <a:p>
            <a:pPr lvl="1" algn="just"/>
            <a:r>
              <a:rPr lang="en-US" sz="3200" dirty="0"/>
              <a:t>Embedding external files and provide reusability</a:t>
            </a:r>
          </a:p>
          <a:p>
            <a:pPr lvl="1" algn="just"/>
            <a:r>
              <a:rPr lang="en-US" sz="3200" dirty="0"/>
              <a:t>Overriding formatting styles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1"/>
          <p:cNvSpPr txBox="1"/>
          <p:nvPr/>
        </p:nvSpPr>
        <p:spPr>
          <a:xfrm>
            <a:off x="228600" y="4114800"/>
            <a:ext cx="6172200" cy="8382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CSS Style Rule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(Rule set)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304800" y="5105400"/>
            <a:ext cx="8686800" cy="1143000"/>
          </a:xfrm>
          <a:prstGeom prst="rect">
            <a:avLst/>
          </a:prstGeom>
        </p:spPr>
        <p:txBody>
          <a:bodyPr vert="horz">
            <a:normAutofit fontScale="92500"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Char char="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style rule is a set of HTML tags specifying the formatting elements. Style</a:t>
            </a:r>
            <a:r>
              <a:rPr kumimoji="0" lang="en-US" sz="3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rule </a:t>
            </a:r>
            <a:r>
              <a:rPr kumimoji="0" lang="en-US" sz="30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 normally </a:t>
            </a:r>
            <a:r>
              <a:rPr kumimoji="0" lang="en-US" sz="3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applied in two components: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Char char=""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4343400"/>
            <a:ext cx="8610600" cy="2057400"/>
          </a:xfrm>
        </p:spPr>
        <p:txBody>
          <a:bodyPr>
            <a:normAutofit/>
          </a:bodyPr>
          <a:lstStyle/>
          <a:p>
            <a:r>
              <a:rPr lang="en-US" sz="2800" dirty="0"/>
              <a:t>The declaration block {  } contains one or more declarations separated by semicolons.</a:t>
            </a:r>
          </a:p>
          <a:p>
            <a:r>
              <a:rPr lang="en-US" sz="2800" dirty="0"/>
              <a:t>Each declaration includes a property name and a value, separated by a colon.</a:t>
            </a:r>
          </a:p>
        </p:txBody>
      </p:sp>
      <p:pic>
        <p:nvPicPr>
          <p:cNvPr id="1026" name="Picture 2" descr="CSS selecto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400633"/>
            <a:ext cx="7467600" cy="1561767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76200"/>
            <a:ext cx="8839200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31520" lvl="1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 panose="05020102010507070707"/>
              <a:buChar char=""/>
            </a:pPr>
            <a:r>
              <a:rPr lang="en-US" sz="3200" b="1" dirty="0">
                <a:solidFill>
                  <a:srgbClr val="0070C0"/>
                </a:solidFill>
              </a:rPr>
              <a:t>Selector:</a:t>
            </a:r>
            <a:r>
              <a:rPr lang="en-US" sz="2400" dirty="0"/>
              <a:t> </a:t>
            </a:r>
            <a:r>
              <a:rPr lang="en-US" sz="2800" dirty="0"/>
              <a:t>Any HTML Tag</a:t>
            </a:r>
          </a:p>
          <a:p>
            <a:pPr marL="731520" lvl="1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 panose="05020102010507070707"/>
              <a:buChar char=""/>
            </a:pPr>
            <a:r>
              <a:rPr lang="en-US" sz="3200" b="1" dirty="0">
                <a:solidFill>
                  <a:srgbClr val="0070C0"/>
                </a:solidFill>
              </a:rPr>
              <a:t>Declaration:</a:t>
            </a:r>
            <a:r>
              <a:rPr lang="en-US" sz="2400" dirty="0"/>
              <a:t>  </a:t>
            </a:r>
            <a:r>
              <a:rPr lang="en-US" sz="2800" dirty="0"/>
              <a:t>Enclosed in curly brackets having attributes along with their values and they are separated with colon 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to use CSS with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990600"/>
            <a:ext cx="8839200" cy="5562600"/>
          </a:xfrm>
        </p:spPr>
        <p:txBody>
          <a:bodyPr>
            <a:normAutofit/>
          </a:bodyPr>
          <a:lstStyle/>
          <a:p>
            <a:r>
              <a:rPr lang="en-US" sz="2800" dirty="0"/>
              <a:t>Basically, there are three ways of incorporating style sheets with HTML document, which are:</a:t>
            </a:r>
          </a:p>
          <a:p>
            <a:pPr lvl="1"/>
            <a:r>
              <a:rPr lang="en-US" sz="2800" dirty="0"/>
              <a:t>Inline Style Sheet ( Inline Code)</a:t>
            </a:r>
          </a:p>
          <a:p>
            <a:pPr lvl="1"/>
            <a:r>
              <a:rPr lang="en-US" sz="2800" dirty="0"/>
              <a:t>Embedding Style Sheet (Document wide code)</a:t>
            </a:r>
          </a:p>
          <a:p>
            <a:pPr lvl="1"/>
            <a:r>
              <a:rPr lang="en-US" sz="2800" dirty="0"/>
              <a:t>Linking to an external style sheet (External Code)</a:t>
            </a:r>
          </a:p>
          <a:p>
            <a:r>
              <a:rPr lang="en-US" sz="3000" b="1" dirty="0">
                <a:solidFill>
                  <a:srgbClr val="0000FF"/>
                </a:solidFill>
              </a:rPr>
              <a:t>Inline Style Sheet:</a:t>
            </a:r>
          </a:p>
          <a:p>
            <a:pPr lvl="1"/>
            <a:r>
              <a:rPr lang="en-US" sz="2800" dirty="0"/>
              <a:t>Applied individually with any tag of HTML by using </a:t>
            </a:r>
            <a:r>
              <a:rPr lang="en-US" sz="2800" b="1" dirty="0">
                <a:solidFill>
                  <a:srgbClr val="FF0000"/>
                </a:solidFill>
              </a:rPr>
              <a:t>Style</a:t>
            </a:r>
            <a:r>
              <a:rPr lang="en-US" sz="2800" dirty="0"/>
              <a:t> attribute.</a:t>
            </a:r>
          </a:p>
          <a:p>
            <a:pPr lvl="1">
              <a:buNone/>
            </a:pPr>
            <a:r>
              <a:rPr lang="en-US" sz="2800" dirty="0"/>
              <a:t>&lt;h1 style=“</a:t>
            </a:r>
            <a:r>
              <a:rPr lang="en-US" sz="2800" dirty="0" err="1"/>
              <a:t>color:sky</a:t>
            </a:r>
            <a:r>
              <a:rPr lang="en-US" sz="2800" dirty="0"/>
              <a:t>; font-</a:t>
            </a:r>
            <a:r>
              <a:rPr lang="en-US" sz="2800" dirty="0" err="1"/>
              <a:t>style:italic</a:t>
            </a:r>
            <a:r>
              <a:rPr lang="en-US" sz="2800" dirty="0"/>
              <a:t>” &gt; ……. &lt;/h1&gt;</a:t>
            </a:r>
          </a:p>
          <a:p>
            <a:pPr lvl="1">
              <a:buNone/>
            </a:pPr>
            <a:r>
              <a:rPr lang="en-US" sz="2800" dirty="0"/>
              <a:t>&lt;p style=“</a:t>
            </a:r>
            <a:r>
              <a:rPr lang="en-US" sz="2800" dirty="0" err="1"/>
              <a:t>color:blue</a:t>
            </a:r>
            <a:r>
              <a:rPr lang="en-US" sz="2800" dirty="0"/>
              <a:t>; font-</a:t>
            </a:r>
            <a:r>
              <a:rPr lang="en-US" sz="2800" dirty="0" err="1"/>
              <a:t>family:impact</a:t>
            </a:r>
            <a:r>
              <a:rPr lang="en-US" sz="2800" dirty="0"/>
              <a:t>”&gt; ……… &lt;/p&gt;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28600"/>
            <a:ext cx="8686800" cy="6400800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rgbClr val="0000FF"/>
                </a:solidFill>
              </a:rPr>
              <a:t>Embedding Style Sheet:</a:t>
            </a:r>
          </a:p>
          <a:p>
            <a:pPr lvl="1"/>
            <a:r>
              <a:rPr lang="en-US" dirty="0"/>
              <a:t>Applied  in &lt;HEAD&gt; section by using &lt;Style&gt; tag.</a:t>
            </a:r>
          </a:p>
          <a:p>
            <a:pPr lvl="1"/>
            <a:r>
              <a:rPr lang="en-US" dirty="0"/>
              <a:t>Defined many tags setting at single </a:t>
            </a:r>
            <a:r>
              <a:rPr lang="en-US" dirty="0" err="1"/>
              <a:t>place</a:t>
            </a:r>
            <a:endParaRPr lang="en-US" dirty="0"/>
          </a:p>
          <a:p>
            <a:pPr lvl="1"/>
            <a:r>
              <a:rPr lang="en-US" dirty="0"/>
              <a:t>Different style rule for a same tag by using </a:t>
            </a:r>
            <a:r>
              <a:rPr lang="en-US" sz="3200" dirty="0">
                <a:solidFill>
                  <a:srgbClr val="FF0000"/>
                </a:solidFill>
              </a:rPr>
              <a:t>Id</a:t>
            </a:r>
            <a:r>
              <a:rPr lang="en-US" dirty="0"/>
              <a:t> and </a:t>
            </a:r>
            <a:r>
              <a:rPr lang="en-US" sz="3600" dirty="0">
                <a:solidFill>
                  <a:srgbClr val="FF0000"/>
                </a:solidFill>
              </a:rPr>
              <a:t>Class </a:t>
            </a:r>
            <a:r>
              <a:rPr lang="en-US" dirty="0"/>
              <a:t>attributes.</a:t>
            </a:r>
          </a:p>
          <a:p>
            <a:pPr>
              <a:buNone/>
            </a:pPr>
            <a:r>
              <a:rPr lang="en-US" b="1" i="1" dirty="0">
                <a:solidFill>
                  <a:srgbClr val="0000FF"/>
                </a:solidFill>
              </a:rPr>
              <a:t>Example:</a:t>
            </a:r>
          </a:p>
          <a:p>
            <a:pPr>
              <a:buNone/>
            </a:pPr>
            <a:r>
              <a:rPr lang="en-US" dirty="0"/>
              <a:t>&lt;Head&gt; </a:t>
            </a:r>
          </a:p>
          <a:p>
            <a:pPr>
              <a:buNone/>
            </a:pPr>
            <a:r>
              <a:rPr lang="en-US" dirty="0"/>
              <a:t>	&lt;Style&gt;</a:t>
            </a:r>
          </a:p>
          <a:p>
            <a:pPr>
              <a:buNone/>
            </a:pPr>
            <a:r>
              <a:rPr lang="en-US" dirty="0"/>
              <a:t>		H1 {</a:t>
            </a:r>
            <a:r>
              <a:rPr lang="en-US" sz="2400" dirty="0" err="1"/>
              <a:t>color:blue</a:t>
            </a:r>
            <a:r>
              <a:rPr lang="en-US" sz="2400" dirty="0"/>
              <a:t>; font-</a:t>
            </a:r>
            <a:r>
              <a:rPr lang="en-US" sz="2400" dirty="0" err="1"/>
              <a:t>style:italic</a:t>
            </a:r>
            <a:r>
              <a:rPr lang="en-US" sz="2400" dirty="0"/>
              <a:t>;}</a:t>
            </a:r>
          </a:p>
          <a:p>
            <a:pPr>
              <a:buNone/>
            </a:pPr>
            <a:r>
              <a:rPr lang="en-US" sz="2400" dirty="0"/>
              <a:t>		H2 , P {</a:t>
            </a:r>
            <a:r>
              <a:rPr lang="en-US" sz="2400" dirty="0" err="1"/>
              <a:t>color:blue</a:t>
            </a:r>
            <a:r>
              <a:rPr lang="en-US" sz="2400" dirty="0"/>
              <a:t>; font-</a:t>
            </a:r>
            <a:r>
              <a:rPr lang="en-US" sz="2400" dirty="0" err="1"/>
              <a:t>family:impact,Arial</a:t>
            </a:r>
            <a:r>
              <a:rPr lang="en-US" sz="2400" dirty="0"/>
              <a:t>; }</a:t>
            </a:r>
          </a:p>
          <a:p>
            <a:pPr>
              <a:buNone/>
            </a:pPr>
            <a:r>
              <a:rPr lang="en-US" sz="2400" dirty="0"/>
              <a:t>	&lt;/Style&gt;</a:t>
            </a:r>
          </a:p>
          <a:p>
            <a:pPr>
              <a:buNone/>
            </a:pPr>
            <a:r>
              <a:rPr lang="en-US" sz="2400" dirty="0"/>
              <a:t>&lt;/Head&gt;</a:t>
            </a:r>
          </a:p>
          <a:p>
            <a:pPr>
              <a:buNone/>
            </a:pPr>
            <a:r>
              <a:rPr lang="en-US" dirty="0"/>
              <a:t>&lt;Body&gt; &lt;H1&gt; Superior College&lt;/H1&gt;&lt;Br&gt;</a:t>
            </a:r>
          </a:p>
          <a:p>
            <a:pPr>
              <a:buNone/>
            </a:pPr>
            <a:r>
              <a:rPr lang="en-US" dirty="0"/>
              <a:t>		   &lt;H2&gt; Campus 3 &amp; 4 &lt;/H2&gt; &lt;/body&gt;</a:t>
            </a:r>
          </a:p>
          <a:p>
            <a:pPr>
              <a:buNone/>
            </a:pPr>
            <a:r>
              <a:rPr lang="en-US" dirty="0"/>
              <a:t>Above Code is the typical example of </a:t>
            </a:r>
            <a:r>
              <a:rPr lang="en-US" b="1" u="sng" dirty="0">
                <a:solidFill>
                  <a:srgbClr val="0000FF"/>
                </a:solidFill>
              </a:rPr>
              <a:t>Simple Selector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28600"/>
            <a:ext cx="8915400" cy="6629400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Class Selector Example:</a:t>
            </a:r>
          </a:p>
          <a:p>
            <a:pPr lvl="1"/>
            <a:r>
              <a:rPr lang="en-US" dirty="0"/>
              <a:t>Syntax:</a:t>
            </a:r>
          </a:p>
          <a:p>
            <a:pPr lvl="1">
              <a:buNone/>
            </a:pPr>
            <a:r>
              <a:rPr lang="en-US" dirty="0"/>
              <a:t>&lt;style&gt;</a:t>
            </a:r>
          </a:p>
          <a:p>
            <a:pPr lvl="1">
              <a:buNone/>
            </a:pPr>
            <a:r>
              <a:rPr lang="en-US" dirty="0"/>
              <a:t>		.</a:t>
            </a:r>
            <a:r>
              <a:rPr lang="en-US" dirty="0" err="1"/>
              <a:t>ClassName</a:t>
            </a:r>
            <a:r>
              <a:rPr lang="en-US" dirty="0"/>
              <a:t> {</a:t>
            </a:r>
            <a:r>
              <a:rPr lang="en-US" dirty="0" err="1"/>
              <a:t>Property:value</a:t>
            </a:r>
            <a:r>
              <a:rPr lang="en-US" dirty="0"/>
              <a:t>}</a:t>
            </a:r>
          </a:p>
          <a:p>
            <a:pPr lvl="1">
              <a:buNone/>
            </a:pPr>
            <a:r>
              <a:rPr lang="en-US" dirty="0"/>
              <a:t>&lt;/style&gt;</a:t>
            </a:r>
          </a:p>
          <a:p>
            <a:pPr lvl="1">
              <a:buNone/>
            </a:pPr>
            <a:r>
              <a:rPr lang="en-US" dirty="0"/>
              <a:t>&lt;Body&gt;  &lt;P Class=“</a:t>
            </a:r>
            <a:r>
              <a:rPr lang="en-US" dirty="0" err="1"/>
              <a:t>ClassName</a:t>
            </a:r>
            <a:r>
              <a:rPr lang="en-US" dirty="0"/>
              <a:t>”&gt; …………. &lt;/P&gt;     &lt;/body&gt;</a:t>
            </a:r>
          </a:p>
          <a:p>
            <a:pPr lvl="1"/>
            <a:r>
              <a:rPr lang="en-US" b="1" u="sng" dirty="0"/>
              <a:t>Example Code:</a:t>
            </a:r>
          </a:p>
          <a:p>
            <a:pPr lvl="1">
              <a:buNone/>
            </a:pPr>
            <a:r>
              <a:rPr lang="en-US" dirty="0"/>
              <a:t>&lt;style&gt;</a:t>
            </a:r>
          </a:p>
          <a:p>
            <a:pPr lvl="1">
              <a:buNone/>
            </a:pPr>
            <a:r>
              <a:rPr lang="en-US" dirty="0"/>
              <a:t>		.Cls01 {</a:t>
            </a:r>
            <a:r>
              <a:rPr lang="en-US" dirty="0" err="1"/>
              <a:t>color:green</a:t>
            </a:r>
            <a:r>
              <a:rPr lang="en-US" dirty="0"/>
              <a:t>; font-</a:t>
            </a:r>
            <a:r>
              <a:rPr lang="en-US" dirty="0" err="1"/>
              <a:t>style:italic</a:t>
            </a:r>
            <a:r>
              <a:rPr lang="en-US" dirty="0"/>
              <a:t>;}</a:t>
            </a:r>
          </a:p>
          <a:p>
            <a:pPr lvl="1">
              <a:buNone/>
            </a:pPr>
            <a:r>
              <a:rPr lang="en-US" dirty="0"/>
              <a:t>		.Cls02 {</a:t>
            </a:r>
            <a:r>
              <a:rPr lang="en-US" dirty="0" err="1"/>
              <a:t>color:sky</a:t>
            </a:r>
            <a:r>
              <a:rPr lang="en-US" dirty="0"/>
              <a:t>; font-</a:t>
            </a:r>
            <a:r>
              <a:rPr lang="en-US" dirty="0" err="1"/>
              <a:t>family:Batang</a:t>
            </a:r>
            <a:r>
              <a:rPr lang="en-US" dirty="0"/>
              <a:t>;}</a:t>
            </a:r>
          </a:p>
          <a:p>
            <a:pPr lvl="1">
              <a:buNone/>
            </a:pPr>
            <a:r>
              <a:rPr lang="en-US" dirty="0"/>
              <a:t>&lt;/style&gt;</a:t>
            </a:r>
          </a:p>
          <a:p>
            <a:pPr lvl="1">
              <a:buNone/>
            </a:pPr>
            <a:r>
              <a:rPr lang="en-US" dirty="0"/>
              <a:t>&lt;Body&gt;</a:t>
            </a:r>
          </a:p>
          <a:p>
            <a:pPr lvl="1">
              <a:buNone/>
            </a:pPr>
            <a:r>
              <a:rPr lang="en-US" dirty="0"/>
              <a:t>	     &lt;H1 Class=“Cls01”&gt;  </a:t>
            </a:r>
            <a:r>
              <a:rPr lang="en-US" dirty="0" err="1"/>
              <a:t>Govt</a:t>
            </a:r>
            <a:r>
              <a:rPr lang="en-US" dirty="0"/>
              <a:t> of Punjab &lt;/H1&gt;&lt;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pPr lvl="1">
              <a:buNone/>
            </a:pPr>
            <a:r>
              <a:rPr lang="en-US" dirty="0"/>
              <a:t>		&lt;P Class=“Cls01” &gt;  Ministry of Science and Technology &lt;/p&gt;&lt;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pPr lvl="1">
              <a:buNone/>
            </a:pPr>
            <a:r>
              <a:rPr lang="en-US" dirty="0"/>
              <a:t>		&lt;p Class=“Cls02”&gt; Ministry of Higher Education &lt;/p&gt;</a:t>
            </a:r>
          </a:p>
          <a:p>
            <a:pPr lvl="1">
              <a:buNone/>
            </a:pPr>
            <a:r>
              <a:rPr lang="en-US" dirty="0"/>
              <a:t>&lt;/body&gt;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28600"/>
            <a:ext cx="8915400" cy="6629400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ID Selector Example:</a:t>
            </a:r>
          </a:p>
          <a:p>
            <a:pPr lvl="1"/>
            <a:r>
              <a:rPr lang="en-US" dirty="0"/>
              <a:t>Syntax:</a:t>
            </a:r>
          </a:p>
          <a:p>
            <a:pPr lvl="1">
              <a:buNone/>
            </a:pPr>
            <a:r>
              <a:rPr lang="en-US" dirty="0"/>
              <a:t>&lt;style&gt;</a:t>
            </a:r>
          </a:p>
          <a:p>
            <a:pPr lvl="1">
              <a:buNone/>
            </a:pPr>
            <a:r>
              <a:rPr lang="en-US" dirty="0"/>
              <a:t>		#ID-Identifier {</a:t>
            </a:r>
            <a:r>
              <a:rPr lang="en-US" dirty="0" err="1"/>
              <a:t>Property:value</a:t>
            </a:r>
            <a:r>
              <a:rPr lang="en-US" dirty="0"/>
              <a:t>}</a:t>
            </a:r>
          </a:p>
          <a:p>
            <a:pPr lvl="1">
              <a:buNone/>
            </a:pPr>
            <a:r>
              <a:rPr lang="en-US" dirty="0"/>
              <a:t>&lt;/style&gt;</a:t>
            </a:r>
          </a:p>
          <a:p>
            <a:pPr lvl="1">
              <a:buNone/>
            </a:pPr>
            <a:r>
              <a:rPr lang="en-US" dirty="0"/>
              <a:t>&lt;Body&gt;  &lt;P  Id=“Id-Identifier”&gt; …………. &lt;/P&gt;     &lt;/body&gt;</a:t>
            </a:r>
          </a:p>
          <a:p>
            <a:pPr lvl="1"/>
            <a:r>
              <a:rPr lang="en-US" b="1" u="sng" dirty="0"/>
              <a:t>Example Code:</a:t>
            </a:r>
          </a:p>
          <a:p>
            <a:pPr lvl="1">
              <a:buNone/>
            </a:pPr>
            <a:r>
              <a:rPr lang="en-US" dirty="0"/>
              <a:t>&lt;style&gt;</a:t>
            </a:r>
          </a:p>
          <a:p>
            <a:pPr lvl="1">
              <a:buNone/>
            </a:pPr>
            <a:r>
              <a:rPr lang="en-US" dirty="0"/>
              <a:t>		#Id01 {</a:t>
            </a:r>
            <a:r>
              <a:rPr lang="en-US" dirty="0" err="1"/>
              <a:t>color:red</a:t>
            </a:r>
            <a:r>
              <a:rPr lang="en-US" dirty="0"/>
              <a:t>; font-</a:t>
            </a:r>
            <a:r>
              <a:rPr lang="en-US" dirty="0" err="1"/>
              <a:t>style:italic</a:t>
            </a:r>
            <a:r>
              <a:rPr lang="en-US" dirty="0"/>
              <a:t>;}</a:t>
            </a:r>
          </a:p>
          <a:p>
            <a:pPr lvl="1">
              <a:buNone/>
            </a:pPr>
            <a:r>
              <a:rPr lang="en-US" dirty="0"/>
              <a:t>		#Id02 {</a:t>
            </a:r>
            <a:r>
              <a:rPr lang="en-US" dirty="0" err="1"/>
              <a:t>color:sky</a:t>
            </a:r>
            <a:r>
              <a:rPr lang="en-US" dirty="0"/>
              <a:t>; font-</a:t>
            </a:r>
            <a:r>
              <a:rPr lang="en-US" dirty="0" err="1"/>
              <a:t>family:Batang</a:t>
            </a:r>
            <a:r>
              <a:rPr lang="en-US" dirty="0"/>
              <a:t>; border: solid red;}</a:t>
            </a:r>
          </a:p>
          <a:p>
            <a:pPr lvl="1">
              <a:buNone/>
            </a:pPr>
            <a:r>
              <a:rPr lang="en-US" dirty="0"/>
              <a:t>&lt;/style&gt;</a:t>
            </a:r>
          </a:p>
          <a:p>
            <a:pPr lvl="1">
              <a:buNone/>
            </a:pPr>
            <a:r>
              <a:rPr lang="en-US" dirty="0"/>
              <a:t>&lt;Body&gt;</a:t>
            </a:r>
          </a:p>
          <a:p>
            <a:pPr lvl="1">
              <a:buNone/>
            </a:pPr>
            <a:r>
              <a:rPr lang="en-US" dirty="0"/>
              <a:t>	     &lt;H1 Id=“Id01”&gt;  </a:t>
            </a:r>
            <a:r>
              <a:rPr lang="en-US" dirty="0" err="1"/>
              <a:t>Govt</a:t>
            </a:r>
            <a:r>
              <a:rPr lang="en-US" dirty="0"/>
              <a:t> of Punjab &lt;/H1&gt;&lt;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pPr lvl="1">
              <a:buNone/>
            </a:pPr>
            <a:r>
              <a:rPr lang="en-US" dirty="0"/>
              <a:t>		&lt;P Id=“Id01” &gt;  Ministry of Science and Technology &lt;/p&gt;&lt;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pPr lvl="1">
              <a:buNone/>
            </a:pPr>
            <a:r>
              <a:rPr lang="en-US" dirty="0"/>
              <a:t>		&lt;p Id=“Id02”&gt; Ministry of Higher Education &lt;/p&gt;</a:t>
            </a:r>
          </a:p>
          <a:p>
            <a:pPr lvl="1">
              <a:buNone/>
            </a:pPr>
            <a:r>
              <a:rPr lang="en-US" dirty="0"/>
              <a:t>&lt;/body&gt;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6248400" cy="685800"/>
          </a:xfrm>
        </p:spPr>
        <p:txBody>
          <a:bodyPr>
            <a:normAutofit fontScale="90000"/>
          </a:bodyPr>
          <a:lstStyle/>
          <a:p>
            <a:pPr lvl="1" algn="l" rtl="0">
              <a:spcBef>
                <a:spcPct val="0"/>
              </a:spcBef>
            </a:pPr>
            <a:r>
              <a:rPr lang="en-US" sz="3200" b="1" dirty="0">
                <a:solidFill>
                  <a:srgbClr val="0000FF"/>
                </a:solidFill>
              </a:rPr>
              <a:t>Linking to an external style sheet: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838200"/>
            <a:ext cx="8839200" cy="2286000"/>
          </a:xfrm>
        </p:spPr>
        <p:txBody>
          <a:bodyPr>
            <a:noAutofit/>
          </a:bodyPr>
          <a:lstStyle/>
          <a:p>
            <a:r>
              <a:rPr lang="en-US" sz="2800" b="1" dirty="0"/>
              <a:t>Step-01:</a:t>
            </a:r>
            <a:r>
              <a:rPr lang="en-US" sz="2800" dirty="0"/>
              <a:t>  First construct CSS code separately  in .</a:t>
            </a:r>
            <a:r>
              <a:rPr lang="en-US" sz="2800" dirty="0" err="1"/>
              <a:t>css</a:t>
            </a:r>
            <a:r>
              <a:rPr lang="en-US" sz="2800" dirty="0"/>
              <a:t> file</a:t>
            </a:r>
          </a:p>
          <a:p>
            <a:r>
              <a:rPr lang="en-US" sz="2800" b="1" dirty="0"/>
              <a:t>Step-02: </a:t>
            </a:r>
            <a:r>
              <a:rPr lang="en-US" sz="2800" dirty="0"/>
              <a:t>Secondly Create HTML file and in &lt;Head&gt; section , use &lt;Link&gt; tag as:</a:t>
            </a:r>
          </a:p>
          <a:p>
            <a:pPr>
              <a:buNone/>
            </a:pPr>
            <a:r>
              <a:rPr lang="en-US" sz="2800" dirty="0"/>
              <a:t>   </a:t>
            </a:r>
            <a:r>
              <a:rPr lang="en-US" sz="2800" dirty="0">
                <a:solidFill>
                  <a:srgbClr val="0000FF"/>
                </a:solidFill>
              </a:rPr>
              <a:t>&lt;Link  </a:t>
            </a:r>
            <a:r>
              <a:rPr lang="en-US" sz="2800" dirty="0" err="1">
                <a:solidFill>
                  <a:srgbClr val="0000FF"/>
                </a:solidFill>
              </a:rPr>
              <a:t>Rel</a:t>
            </a:r>
            <a:r>
              <a:rPr lang="en-US" sz="2800" dirty="0">
                <a:solidFill>
                  <a:srgbClr val="0000FF"/>
                </a:solidFill>
              </a:rPr>
              <a:t>=“</a:t>
            </a:r>
            <a:r>
              <a:rPr lang="en-US" sz="2800" dirty="0" err="1">
                <a:solidFill>
                  <a:srgbClr val="0000FF"/>
                </a:solidFill>
              </a:rPr>
              <a:t>Stylesheet</a:t>
            </a:r>
            <a:r>
              <a:rPr lang="en-US" sz="2800" dirty="0">
                <a:solidFill>
                  <a:srgbClr val="0000FF"/>
                </a:solidFill>
              </a:rPr>
              <a:t>”  </a:t>
            </a:r>
            <a:r>
              <a:rPr lang="en-US" sz="2800" dirty="0" err="1">
                <a:solidFill>
                  <a:srgbClr val="0000FF"/>
                </a:solidFill>
              </a:rPr>
              <a:t>href</a:t>
            </a:r>
            <a:r>
              <a:rPr lang="en-US" sz="2800" dirty="0">
                <a:solidFill>
                  <a:srgbClr val="0000FF"/>
                </a:solidFill>
              </a:rPr>
              <a:t>=“File Path”   Type=“Text/</a:t>
            </a:r>
            <a:r>
              <a:rPr lang="en-US" sz="2800" dirty="0" err="1">
                <a:solidFill>
                  <a:srgbClr val="0000FF"/>
                </a:solidFill>
              </a:rPr>
              <a:t>Css</a:t>
            </a:r>
            <a:r>
              <a:rPr lang="en-US" sz="2800" dirty="0">
                <a:solidFill>
                  <a:srgbClr val="0000FF"/>
                </a:solidFill>
              </a:rPr>
              <a:t>”&gt;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819400"/>
            <a:ext cx="3733800" cy="38164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C00000"/>
                </a:solidFill>
              </a:rPr>
              <a:t>CSS File:  first.css</a:t>
            </a:r>
          </a:p>
          <a:p>
            <a:endParaRPr lang="en-US" sz="2800" dirty="0"/>
          </a:p>
          <a:p>
            <a:r>
              <a:rPr lang="en-US" sz="2800" dirty="0"/>
              <a:t>H1   {   font-size: 40 pt;</a:t>
            </a:r>
          </a:p>
          <a:p>
            <a:r>
              <a:rPr lang="en-US" sz="2800" dirty="0"/>
              <a:t>             color: gold;</a:t>
            </a:r>
          </a:p>
          <a:p>
            <a:r>
              <a:rPr lang="en-US" sz="2800" dirty="0"/>
              <a:t>         }</a:t>
            </a:r>
          </a:p>
          <a:p>
            <a:r>
              <a:rPr lang="en-US" sz="2800" dirty="0"/>
              <a:t>P      {   color: navy;</a:t>
            </a:r>
          </a:p>
          <a:p>
            <a:r>
              <a:rPr lang="en-US" sz="2800" dirty="0"/>
              <a:t>              text-align: justify</a:t>
            </a:r>
          </a:p>
          <a:p>
            <a:r>
              <a:rPr lang="en-US" sz="2800" dirty="0"/>
              <a:t>          }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14800" y="2819400"/>
            <a:ext cx="480060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C00000"/>
                </a:solidFill>
              </a:rPr>
              <a:t>Html File:  mypage.html</a:t>
            </a:r>
          </a:p>
          <a:p>
            <a:r>
              <a:rPr lang="en-US" sz="2400" dirty="0"/>
              <a:t>&lt;html&gt;&lt;head&gt;</a:t>
            </a:r>
          </a:p>
          <a:p>
            <a:r>
              <a:rPr lang="en-US" sz="2400" dirty="0"/>
              <a:t>&lt;Link </a:t>
            </a:r>
            <a:r>
              <a:rPr lang="en-US" sz="2400" dirty="0" err="1"/>
              <a:t>href</a:t>
            </a:r>
            <a:r>
              <a:rPr lang="en-US" sz="2400" dirty="0"/>
              <a:t>=“first.css”  </a:t>
            </a:r>
            <a:r>
              <a:rPr lang="en-US" sz="2400" dirty="0" err="1"/>
              <a:t>rel</a:t>
            </a:r>
            <a:r>
              <a:rPr lang="en-US" sz="2400" dirty="0"/>
              <a:t>=“</a:t>
            </a:r>
            <a:r>
              <a:rPr lang="en-US" sz="2400" dirty="0" err="1"/>
              <a:t>stylesheet</a:t>
            </a:r>
            <a:r>
              <a:rPr lang="en-US" sz="2400" dirty="0"/>
              <a:t>”&gt;</a:t>
            </a:r>
          </a:p>
          <a:p>
            <a:r>
              <a:rPr lang="en-US" sz="2400" dirty="0"/>
              <a:t>&lt;/head&gt;</a:t>
            </a:r>
          </a:p>
          <a:p>
            <a:r>
              <a:rPr lang="en-US" sz="2400" dirty="0"/>
              <a:t>&lt;body&gt;</a:t>
            </a:r>
          </a:p>
          <a:p>
            <a:r>
              <a:rPr lang="en-US" sz="2400" dirty="0"/>
              <a:t>&lt;H1&gt; Superior University, Sargodha   			Campus &lt;/H1&gt;</a:t>
            </a:r>
          </a:p>
          <a:p>
            <a:r>
              <a:rPr lang="en-US" sz="2400" dirty="0"/>
              <a:t>&lt;/body&gt;</a:t>
            </a:r>
          </a:p>
          <a:p>
            <a:r>
              <a:rPr lang="en-US" sz="2400" dirty="0"/>
              <a:t>&lt;/html&gt;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914400"/>
          </a:xfrm>
        </p:spPr>
        <p:txBody>
          <a:bodyPr/>
          <a:lstStyle/>
          <a:p>
            <a:r>
              <a:rPr lang="en-US" b="1" u="sng" dirty="0">
                <a:solidFill>
                  <a:srgbClr val="C00000"/>
                </a:solidFill>
              </a:rPr>
              <a:t>CSS Attributes and their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8610600" cy="5334000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Font Attribute:</a:t>
            </a:r>
          </a:p>
          <a:p>
            <a:pPr lvl="1"/>
            <a:r>
              <a:rPr lang="en-US" sz="2800" dirty="0"/>
              <a:t>Font-size: 30 px or </a:t>
            </a:r>
            <a:r>
              <a:rPr lang="en-US" sz="2800"/>
              <a:t>10 rem;</a:t>
            </a:r>
            <a:endParaRPr lang="en-US" sz="2800" dirty="0"/>
          </a:p>
          <a:p>
            <a:pPr lvl="1"/>
            <a:r>
              <a:rPr lang="en-US" sz="2800" dirty="0"/>
              <a:t>Font-family: Impact, Calibri;   (it is alternate font name, in case of not 			found “Impact” font</a:t>
            </a:r>
          </a:p>
          <a:p>
            <a:pPr lvl="1"/>
            <a:r>
              <a:rPr lang="en-US" sz="2800" dirty="0"/>
              <a:t>Font-</a:t>
            </a:r>
            <a:r>
              <a:rPr lang="en-US" sz="2800" dirty="0" err="1"/>
              <a:t>style:Normal</a:t>
            </a:r>
            <a:r>
              <a:rPr lang="en-US" sz="2800" dirty="0"/>
              <a:t>/Italic;</a:t>
            </a:r>
          </a:p>
          <a:p>
            <a:pPr lvl="1"/>
            <a:r>
              <a:rPr lang="en-US" sz="2800" dirty="0"/>
              <a:t>Font-</a:t>
            </a:r>
            <a:r>
              <a:rPr lang="en-US" sz="2800" dirty="0" err="1"/>
              <a:t>weight:bold</a:t>
            </a:r>
            <a:r>
              <a:rPr lang="en-US" sz="2800" dirty="0"/>
              <a:t>;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Text attribute:</a:t>
            </a:r>
          </a:p>
          <a:p>
            <a:pPr lvl="1"/>
            <a:r>
              <a:rPr lang="en-US" sz="2800" dirty="0"/>
              <a:t>Text-transform: capitalize/uppercase/lowercase;</a:t>
            </a:r>
          </a:p>
          <a:p>
            <a:pPr lvl="1"/>
            <a:r>
              <a:rPr lang="en-US" sz="2800" dirty="0"/>
              <a:t>Text-</a:t>
            </a:r>
            <a:r>
              <a:rPr lang="en-US" sz="2800" dirty="0" err="1"/>
              <a:t>decoration:line</a:t>
            </a:r>
            <a:r>
              <a:rPr lang="en-US" sz="2800" dirty="0"/>
              <a:t>-through/</a:t>
            </a:r>
            <a:r>
              <a:rPr lang="en-US" sz="2800" dirty="0" err="1"/>
              <a:t>overline</a:t>
            </a:r>
            <a:r>
              <a:rPr lang="en-US" sz="2800" dirty="0"/>
              <a:t>/underline;</a:t>
            </a:r>
          </a:p>
          <a:p>
            <a:pPr lvl="1"/>
            <a:r>
              <a:rPr lang="en-US" sz="2800" dirty="0"/>
              <a:t>Text-</a:t>
            </a:r>
            <a:r>
              <a:rPr lang="en-US" sz="2800" dirty="0" err="1"/>
              <a:t>align:left</a:t>
            </a:r>
            <a:r>
              <a:rPr lang="en-US" sz="2800" dirty="0"/>
              <a:t>/right/center/justify(apply on paragraph);</a:t>
            </a:r>
          </a:p>
          <a:p>
            <a:pPr lvl="1"/>
            <a:r>
              <a:rPr lang="en-US" sz="2800" dirty="0"/>
              <a:t>Text-indent:30pt;</a:t>
            </a:r>
          </a:p>
          <a:p>
            <a:pPr lvl="1"/>
            <a:r>
              <a:rPr lang="en-US" sz="2800" dirty="0"/>
              <a:t>Line-height:2cm;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914400"/>
          </a:xfrm>
        </p:spPr>
        <p:txBody>
          <a:bodyPr/>
          <a:lstStyle/>
          <a:p>
            <a:r>
              <a:rPr lang="en-US" b="1" u="sng" dirty="0">
                <a:solidFill>
                  <a:srgbClr val="C00000"/>
                </a:solidFill>
              </a:rPr>
              <a:t>CSS Attributes and their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8610600" cy="5334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List Attribute:</a:t>
            </a:r>
          </a:p>
          <a:p>
            <a:pPr lvl="1"/>
            <a:r>
              <a:rPr lang="en-US" sz="2800" dirty="0"/>
              <a:t>List-style-</a:t>
            </a:r>
            <a:r>
              <a:rPr lang="en-US" sz="2800" dirty="0" err="1"/>
              <a:t>type:decimal</a:t>
            </a:r>
            <a:r>
              <a:rPr lang="en-US" sz="2800" dirty="0"/>
              <a:t>/lower-alpha/upper-alpha;</a:t>
            </a:r>
          </a:p>
          <a:p>
            <a:pPr lvl="1"/>
            <a:r>
              <a:rPr lang="en-US" sz="2800" dirty="0"/>
              <a:t>List-style-type: disc/square/circle;</a:t>
            </a:r>
          </a:p>
          <a:p>
            <a:pPr lvl="1"/>
            <a:r>
              <a:rPr lang="en-US" sz="2800" dirty="0"/>
              <a:t>list-style-image: </a:t>
            </a:r>
            <a:r>
              <a:rPr lang="en-US" sz="2800" dirty="0" err="1"/>
              <a:t>url</a:t>
            </a:r>
            <a:r>
              <a:rPr lang="en-US" sz="2800" dirty="0"/>
              <a:t>(“file path”);</a:t>
            </a:r>
          </a:p>
          <a:p>
            <a:pPr lvl="1"/>
            <a:r>
              <a:rPr lang="en-US" sz="2800" dirty="0"/>
              <a:t>list-style: square inside </a:t>
            </a:r>
            <a:r>
              <a:rPr lang="en-US" sz="2800" dirty="0" err="1"/>
              <a:t>url</a:t>
            </a:r>
            <a:r>
              <a:rPr lang="en-US" sz="2800" dirty="0"/>
              <a:t>("sqpurple.gif");</a:t>
            </a:r>
          </a:p>
          <a:p>
            <a:pPr lvl="2">
              <a:buNone/>
            </a:pPr>
            <a:r>
              <a:rPr lang="en-US" dirty="0"/>
              <a:t>				(</a:t>
            </a:r>
            <a:r>
              <a:rPr lang="en-US" sz="2800" dirty="0"/>
              <a:t>all the list properties in one declaration)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Table Attributes:</a:t>
            </a:r>
          </a:p>
          <a:p>
            <a:pPr lvl="1"/>
            <a:r>
              <a:rPr lang="en-US" dirty="0"/>
              <a:t>table, td, </a:t>
            </a:r>
            <a:r>
              <a:rPr lang="en-US" dirty="0" err="1"/>
              <a:t>th</a:t>
            </a:r>
            <a:r>
              <a:rPr lang="en-US" dirty="0"/>
              <a:t> { border: 1px solid green; }</a:t>
            </a:r>
          </a:p>
          <a:p>
            <a:pPr lvl="1"/>
            <a:r>
              <a:rPr lang="en-US" dirty="0"/>
              <a:t>td { height: 50px;  vertical-align: bottom; }</a:t>
            </a:r>
          </a:p>
          <a:p>
            <a:pPr lvl="1"/>
            <a:r>
              <a:rPr lang="en-US" dirty="0" err="1"/>
              <a:t>th</a:t>
            </a:r>
            <a:r>
              <a:rPr lang="en-US" dirty="0"/>
              <a:t> { background-color: green;  color: white; }</a:t>
            </a:r>
            <a:endParaRPr 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914400"/>
          </a:xfrm>
        </p:spPr>
        <p:txBody>
          <a:bodyPr/>
          <a:lstStyle/>
          <a:p>
            <a:r>
              <a:rPr lang="en-US" b="1" u="sng" dirty="0">
                <a:solidFill>
                  <a:srgbClr val="C00000"/>
                </a:solidFill>
              </a:rPr>
              <a:t>CSS Attributes and their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8610600" cy="5334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CSS Margin:</a:t>
            </a:r>
          </a:p>
          <a:p>
            <a:pPr lvl="1"/>
            <a:r>
              <a:rPr lang="en-US" sz="2800" dirty="0"/>
              <a:t>p { margin-top: 100px;     margin-bottom: 100px;</a:t>
            </a:r>
            <a:br>
              <a:rPr lang="en-US" sz="2800" dirty="0"/>
            </a:br>
            <a:r>
              <a:rPr lang="en-US" sz="2800" dirty="0"/>
              <a:t>      margin-right: 150px;   margin-left: </a:t>
            </a:r>
            <a:r>
              <a:rPr lang="en-US" sz="2800"/>
              <a:t>50px; }</a:t>
            </a:r>
          </a:p>
          <a:p>
            <a:pPr lvl="1"/>
            <a:endParaRPr lang="en-US" sz="2800"/>
          </a:p>
          <a:p>
            <a:r>
              <a:rPr lang="en-US" sz="3000" b="1" dirty="0">
                <a:solidFill>
                  <a:srgbClr val="0000FF"/>
                </a:solidFill>
              </a:rPr>
              <a:t>Table Attributes:</a:t>
            </a:r>
          </a:p>
          <a:p>
            <a:pPr lvl="1"/>
            <a:r>
              <a:rPr lang="en-US" dirty="0"/>
              <a:t>table, td, </a:t>
            </a:r>
            <a:r>
              <a:rPr lang="en-US" dirty="0" err="1"/>
              <a:t>th</a:t>
            </a:r>
            <a:r>
              <a:rPr lang="en-US" dirty="0"/>
              <a:t> { border: 1px solid green; }</a:t>
            </a:r>
          </a:p>
          <a:p>
            <a:pPr lvl="1"/>
            <a:r>
              <a:rPr lang="en-US" dirty="0"/>
              <a:t>td { height: 50px;  vertical-align: bottom; }</a:t>
            </a:r>
          </a:p>
          <a:p>
            <a:pPr lvl="1"/>
            <a:r>
              <a:rPr lang="en-US" dirty="0" err="1"/>
              <a:t>th</a:t>
            </a:r>
            <a:r>
              <a:rPr lang="en-US" dirty="0"/>
              <a:t> { background-color: green;  color: white; }</a:t>
            </a:r>
            <a:endParaRPr 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</TotalTime>
  <Words>509</Words>
  <Application>Microsoft Office PowerPoint</Application>
  <PresentationFormat>On-screen Show (4:3)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Franklin Gothic Book</vt:lpstr>
      <vt:lpstr>Perpetua</vt:lpstr>
      <vt:lpstr>Wingdings 2</vt:lpstr>
      <vt:lpstr>Equity</vt:lpstr>
      <vt:lpstr>Cascade Style Sheets</vt:lpstr>
      <vt:lpstr>INTRODUCTION:</vt:lpstr>
      <vt:lpstr>PowerPoint Presentation</vt:lpstr>
      <vt:lpstr>How to use CSS with HTML</vt:lpstr>
      <vt:lpstr>PowerPoint Presentation</vt:lpstr>
      <vt:lpstr>PowerPoint Presentation</vt:lpstr>
      <vt:lpstr>PowerPoint Presentation</vt:lpstr>
      <vt:lpstr>Linking to an external style sheet:</vt:lpstr>
      <vt:lpstr>CSS Attributes and their Values</vt:lpstr>
      <vt:lpstr>CSS Attributes and their Values</vt:lpstr>
      <vt:lpstr>CSS Attributes and their Values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Cascade Style Sheets</dc:title>
  <dc:creator>Power by Gmc</dc:creator>
  <cp:lastModifiedBy>Saif ur Rehman</cp:lastModifiedBy>
  <cp:revision>60</cp:revision>
  <dcterms:created xsi:type="dcterms:W3CDTF">2014-12-11T07:24:00Z</dcterms:created>
  <dcterms:modified xsi:type="dcterms:W3CDTF">2019-04-08T05:03:00Z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1033-10.2.0.5965</vt:lpwstr>
  </property>
</Properties>
</file>
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6" r:id="rId1"/>
  </p:sldMasterIdLst>
  <p:sldIdLst>
    <p:sldId id="256" r:id="rId2"/>
    <p:sldId id="259" r:id="rId3"/>
    <p:sldId id="263" r:id="rId4"/>
    <p:sldId id="262" r:id="rId5"/>
    <p:sldId id="265" r:id="rId6"/>
    <p:sldId id="268" r:id="rId7"/>
    <p:sldId id="266" r:id="rId8"/>
    <p:sldId id="267" r:id="rId9"/>
    <p:sldId id="269" r:id="rId10"/>
    <p:sldId id="271" r:id="rId11"/>
    <p:sldId id="272" r:id="rId12"/>
    <p:sldId id="273" r:id="rId13"/>
    <p:sldId id="274" r:id="rId14"/>
    <p:sldId id="275" r:id="rId15"/>
    <p:sldId id="279" r:id="rId16"/>
    <p:sldId id="276" r:id="rId17"/>
    <p:sldId id="277"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84386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C9CA7B-DFD4-44B5-8C60-D14B8CD1FB59}"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020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314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6/6/2024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4872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6/6/2024</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4663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AA18ACC-A947-437B-A130-35BD54FDF1E9}" type="datetimeFigureOut">
              <a:rPr lang="en-US" smtClean="0"/>
              <a:t>6/6/2024</a:t>
            </a:fld>
            <a:endParaRPr lang="en-US" dirty="0"/>
          </a:p>
        </p:txBody>
      </p:sp>
      <p:sp>
        <p:nvSpPr>
          <p:cNvPr id="5" name="Footer Placeholder 3"/>
          <p:cNvSpPr>
            <a:spLocks noGrp="1"/>
          </p:cNvSpPr>
          <p:nvPr>
            <p:ph type="ftr" sz="quarter" idx="11"/>
          </p:nvPr>
        </p:nvSpPr>
        <p:spPr/>
        <p:txBody>
          <a:bodyPr/>
          <a:lstStyle/>
          <a:p>
            <a:r>
              <a:rPr lang="en-US"/>
              <a:t>
              </a:t>
            </a:r>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05938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C8D7E02-BCB8-4D50-A234-369438C08659}" type="datetimeFigureOut">
              <a:rPr lang="en-US" smtClean="0"/>
              <a:t>6/6/2024</a:t>
            </a:fld>
            <a:endParaRPr lang="en-US" dirty="0"/>
          </a:p>
        </p:txBody>
      </p:sp>
      <p:sp>
        <p:nvSpPr>
          <p:cNvPr id="5" name="Footer Placeholder 2"/>
          <p:cNvSpPr>
            <a:spLocks noGrp="1"/>
          </p:cNvSpPr>
          <p:nvPr>
            <p:ph type="ftr" sz="quarter" idx="11"/>
          </p:nvPr>
        </p:nvSpPr>
        <p:spPr/>
        <p:txBody>
          <a:bodyPr/>
          <a:lstStyle/>
          <a:p>
            <a:r>
              <a:rPr lang="en-US"/>
              <a:t>
              </a:t>
            </a:r>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620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6E86A4C-8E40-4F87-A4F0-01A0687C5742}" type="datetimeFigureOut">
              <a:rPr lang="en-US" smtClean="0"/>
              <a:t>6/6/2024</a:t>
            </a:fld>
            <a:endParaRPr lang="en-US" dirty="0"/>
          </a:p>
        </p:txBody>
      </p:sp>
      <p:sp>
        <p:nvSpPr>
          <p:cNvPr id="5" name="Footer Placeholder 5"/>
          <p:cNvSpPr>
            <a:spLocks noGrp="1"/>
          </p:cNvSpPr>
          <p:nvPr>
            <p:ph type="ftr" sz="quarter" idx="11"/>
          </p:nvPr>
        </p:nvSpPr>
        <p:spPr/>
        <p:txBody>
          <a:bodyPr/>
          <a:lstStyle/>
          <a:p>
            <a:r>
              <a:rPr lang="en-US"/>
              <a:t>
              </a:t>
            </a:r>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6742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6/6/2024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315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53444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98984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198758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36539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49994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BE451C3-0FF4-47C4-B829-773ADF60F88C}" type="datetimeFigureOut">
              <a:rPr lang="en-US" smtClean="0"/>
              <a:t>6/6/2024</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530935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548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6/6/2024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6641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BE451C3-0FF4-47C4-B829-773ADF60F88C}" type="datetimeFigureOut">
              <a:rPr lang="en-US" smtClean="0"/>
              <a:t>6/6/2024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934186"/>
      </p:ext>
    </p:extLst>
  </p:cSld>
  <p:clrMap bg1="dk1" tx1="lt1" bg2="dk2" tx2="lt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1FF05E-7A91-057B-93B2-C601823AD778}"/>
              </a:ext>
            </a:extLst>
          </p:cNvPr>
          <p:cNvSpPr>
            <a:spLocks noGrp="1"/>
          </p:cNvSpPr>
          <p:nvPr>
            <p:ph type="ctrTitle"/>
          </p:nvPr>
        </p:nvSpPr>
        <p:spPr>
          <a:xfrm>
            <a:off x="1154955" y="2099733"/>
            <a:ext cx="8696968" cy="1329267"/>
          </a:xfrm>
        </p:spPr>
        <p:txBody>
          <a:bodyPr>
            <a:normAutofit fontScale="90000"/>
          </a:bodyPr>
          <a:lstStyle/>
          <a:p>
            <a:r>
              <a:rPr lang="en-US" dirty="0"/>
              <a:t>Comparative Education</a:t>
            </a:r>
          </a:p>
        </p:txBody>
      </p:sp>
      <p:sp>
        <p:nvSpPr>
          <p:cNvPr id="3" name="Subtitle 2">
            <a:extLst>
              <a:ext uri="{FF2B5EF4-FFF2-40B4-BE49-F238E27FC236}">
                <a16:creationId xmlns:a16="http://schemas.microsoft.com/office/drawing/2014/main" id="{DA517DC1-35D8-B54F-85AE-C20AC725A43F}"/>
              </a:ext>
            </a:extLst>
          </p:cNvPr>
          <p:cNvSpPr>
            <a:spLocks noGrp="1"/>
          </p:cNvSpPr>
          <p:nvPr>
            <p:ph type="subTitle" idx="1"/>
          </p:nvPr>
        </p:nvSpPr>
        <p:spPr>
          <a:xfrm>
            <a:off x="1154954" y="3598606"/>
            <a:ext cx="9065677" cy="2040194"/>
          </a:xfrm>
        </p:spPr>
        <p:txBody>
          <a:bodyPr>
            <a:normAutofit/>
          </a:bodyPr>
          <a:lstStyle/>
          <a:p>
            <a:r>
              <a:rPr lang="en-US" dirty="0"/>
              <a:t>Presented by</a:t>
            </a:r>
          </a:p>
          <a:p>
            <a:r>
              <a:rPr lang="en-US" dirty="0"/>
              <a:t>Mehak </a:t>
            </a:r>
            <a:r>
              <a:rPr lang="en-US" dirty="0" err="1"/>
              <a:t>naaz</a:t>
            </a:r>
            <a:r>
              <a:rPr lang="en-US" dirty="0"/>
              <a:t> </a:t>
            </a:r>
          </a:p>
          <a:p>
            <a:r>
              <a:rPr lang="en-US" dirty="0"/>
              <a:t>Hafsa </a:t>
            </a:r>
            <a:r>
              <a:rPr lang="en-US" dirty="0" err="1"/>
              <a:t>Safique</a:t>
            </a:r>
            <a:endParaRPr lang="en-US" dirty="0"/>
          </a:p>
          <a:p>
            <a:pPr algn="r"/>
            <a:r>
              <a:rPr lang="en-US" dirty="0"/>
              <a:t>                                                                                                                                                                                                                                                                          Submitted to Mam Saba gull</a:t>
            </a:r>
          </a:p>
        </p:txBody>
      </p:sp>
    </p:spTree>
    <p:extLst>
      <p:ext uri="{BB962C8B-B14F-4D97-AF65-F5344CB8AC3E}">
        <p14:creationId xmlns:p14="http://schemas.microsoft.com/office/powerpoint/2010/main" val="3747053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454B9-7E4A-84A3-032C-ACE3A66BF5E4}"/>
              </a:ext>
            </a:extLst>
          </p:cNvPr>
          <p:cNvSpPr>
            <a:spLocks noGrp="1"/>
          </p:cNvSpPr>
          <p:nvPr>
            <p:ph type="title"/>
          </p:nvPr>
        </p:nvSpPr>
        <p:spPr>
          <a:xfrm>
            <a:off x="1233278" y="855953"/>
            <a:ext cx="8825657" cy="1915647"/>
          </a:xfrm>
        </p:spPr>
        <p:txBody>
          <a:bodyPr/>
          <a:lstStyle/>
          <a:p>
            <a:pPr algn="ctr">
              <a:lnSpc>
                <a:spcPct val="150000"/>
              </a:lnSpc>
            </a:pPr>
            <a:r>
              <a:rPr kumimoji="0" lang="en-US" sz="4200" b="1" i="0" u="none" strike="noStrike" kern="1200" cap="none" spc="0" normalizeH="0" baseline="0" noProof="0" dirty="0">
                <a:ln>
                  <a:noFill/>
                </a:ln>
                <a:solidFill>
                  <a:srgbClr val="EBEBEB"/>
                </a:solidFill>
                <a:effectLst/>
                <a:uLnTx/>
                <a:uFillTx/>
                <a:latin typeface="Century Gothic" panose="020B0502020202020204"/>
                <a:ea typeface="+mj-ea"/>
                <a:cs typeface="+mj-cs"/>
              </a:rPr>
              <a:t>Education in Developed             Countries</a:t>
            </a:r>
            <a:endParaRPr lang="en-US" b="1" dirty="0"/>
          </a:p>
        </p:txBody>
      </p:sp>
      <p:sp>
        <p:nvSpPr>
          <p:cNvPr id="3" name="Text Placeholder 2">
            <a:extLst>
              <a:ext uri="{FF2B5EF4-FFF2-40B4-BE49-F238E27FC236}">
                <a16:creationId xmlns:a16="http://schemas.microsoft.com/office/drawing/2014/main" id="{44947705-BE7D-D873-EF98-ACBA81363CBA}"/>
              </a:ext>
            </a:extLst>
          </p:cNvPr>
          <p:cNvSpPr>
            <a:spLocks noGrp="1"/>
          </p:cNvSpPr>
          <p:nvPr>
            <p:ph type="body" idx="1"/>
          </p:nvPr>
        </p:nvSpPr>
        <p:spPr>
          <a:xfrm>
            <a:off x="1233278" y="3656201"/>
            <a:ext cx="8825658" cy="860400"/>
          </a:xfrm>
        </p:spPr>
        <p:txBody>
          <a:bodyPr/>
          <a:lstStyle/>
          <a:p>
            <a:pPr algn="ctr"/>
            <a:r>
              <a:rPr kumimoji="0" lang="en-US" sz="4200" b="1" i="0" u="none" strike="noStrike" kern="1200" cap="none" spc="0" normalizeH="0" baseline="0" noProof="0" dirty="0">
                <a:ln>
                  <a:noFill/>
                </a:ln>
                <a:solidFill>
                  <a:srgbClr val="EBEBEB"/>
                </a:solidFill>
                <a:effectLst/>
                <a:uLnTx/>
                <a:uFillTx/>
                <a:latin typeface="Century Gothic" panose="020B0502020202020204"/>
                <a:ea typeface="+mj-ea"/>
                <a:cs typeface="+mj-cs"/>
              </a:rPr>
              <a:t>Japan</a:t>
            </a:r>
            <a:endParaRPr lang="en-US" dirty="0"/>
          </a:p>
        </p:txBody>
      </p:sp>
    </p:spTree>
    <p:extLst>
      <p:ext uri="{BB962C8B-B14F-4D97-AF65-F5344CB8AC3E}">
        <p14:creationId xmlns:p14="http://schemas.microsoft.com/office/powerpoint/2010/main" val="2854294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777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ABDF4-1085-97D0-01D8-05CC610811D7}"/>
              </a:ext>
            </a:extLst>
          </p:cNvPr>
          <p:cNvSpPr>
            <a:spLocks noGrp="1"/>
          </p:cNvSpPr>
          <p:nvPr>
            <p:ph type="title"/>
          </p:nvPr>
        </p:nvSpPr>
        <p:spPr/>
        <p:txBody>
          <a:bodyPr/>
          <a:lstStyle/>
          <a:p>
            <a:pPr algn="ctr"/>
            <a:r>
              <a:rPr lang="en-US" dirty="0" err="1"/>
              <a:t>Introducation</a:t>
            </a:r>
            <a:endParaRPr lang="en-US" dirty="0"/>
          </a:p>
        </p:txBody>
      </p:sp>
      <p:sp>
        <p:nvSpPr>
          <p:cNvPr id="3" name="Content Placeholder 2">
            <a:extLst>
              <a:ext uri="{FF2B5EF4-FFF2-40B4-BE49-F238E27FC236}">
                <a16:creationId xmlns:a16="http://schemas.microsoft.com/office/drawing/2014/main" id="{8CCFBCF2-9AB7-3C2F-6955-915A662D8F94}"/>
              </a:ext>
            </a:extLst>
          </p:cNvPr>
          <p:cNvSpPr>
            <a:spLocks noGrp="1"/>
          </p:cNvSpPr>
          <p:nvPr>
            <p:ph idx="1"/>
          </p:nvPr>
        </p:nvSpPr>
        <p:spPr>
          <a:xfrm>
            <a:off x="646111" y="1853248"/>
            <a:ext cx="8946541" cy="4195481"/>
          </a:xfrm>
        </p:spPr>
        <p:txBody>
          <a:bodyPr/>
          <a:lstStyle/>
          <a:p>
            <a:r>
              <a:rPr lang="en-US" b="0" i="0" dirty="0">
                <a:solidFill>
                  <a:srgbClr val="1F2024"/>
                </a:solidFill>
                <a:effectLst/>
                <a:highlight>
                  <a:srgbClr val="FFFFFF"/>
                </a:highlight>
                <a:latin typeface="Inter"/>
              </a:rPr>
              <a:t>Education system in Japan before and at the period of war was based on German education system characterized by high schools and university colleges purposely for educating students after completion of basic primary education (Vogel, 1971). Later on, after the occupation of Japan by the America and her allies, educational system was transformed to incorporate US educational system (Vogel, 1971)</a:t>
            </a:r>
          </a:p>
          <a:p>
            <a:pPr algn="just"/>
            <a:r>
              <a:rPr lang="en-US" b="0" i="0" dirty="0">
                <a:solidFill>
                  <a:srgbClr val="1F2024"/>
                </a:solidFill>
                <a:effectLst/>
                <a:highlight>
                  <a:srgbClr val="FFFFFF"/>
                </a:highlight>
                <a:latin typeface="Inter"/>
              </a:rPr>
              <a:t>This system constituted of three junior schools and one senior school. In the same period, a repeal of the imperial Rescript was done and the university education was formally recognized (Japan Echo, 1998). Further, the issue of Kanji was resolved and the Japanese educational system was reorganized to allow for Toyo Kanji as well as the altering of orthography to reflect the spoken usage (Vogel, 1971).</a:t>
            </a:r>
            <a:endParaRPr lang="en-US" dirty="0"/>
          </a:p>
        </p:txBody>
      </p:sp>
    </p:spTree>
    <p:extLst>
      <p:ext uri="{BB962C8B-B14F-4D97-AF65-F5344CB8AC3E}">
        <p14:creationId xmlns:p14="http://schemas.microsoft.com/office/powerpoint/2010/main" val="2074618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B5CA-C1B1-1DBA-3663-15C44865A3E5}"/>
              </a:ext>
            </a:extLst>
          </p:cNvPr>
          <p:cNvSpPr>
            <a:spLocks noGrp="1"/>
          </p:cNvSpPr>
          <p:nvPr>
            <p:ph type="title"/>
          </p:nvPr>
        </p:nvSpPr>
        <p:spPr>
          <a:xfrm flipV="1">
            <a:off x="788001" y="2711669"/>
            <a:ext cx="2349337" cy="1576552"/>
          </a:xfrm>
        </p:spPr>
        <p:txBody>
          <a:bodyPr/>
          <a:lstStyle/>
          <a:p>
            <a:endParaRPr lang="en-US" dirty="0"/>
          </a:p>
        </p:txBody>
      </p:sp>
      <p:sp>
        <p:nvSpPr>
          <p:cNvPr id="3" name="Content Placeholder 2">
            <a:extLst>
              <a:ext uri="{FF2B5EF4-FFF2-40B4-BE49-F238E27FC236}">
                <a16:creationId xmlns:a16="http://schemas.microsoft.com/office/drawing/2014/main" id="{EA41625C-0F28-DD33-6632-CA3714B615DD}"/>
              </a:ext>
            </a:extLst>
          </p:cNvPr>
          <p:cNvSpPr>
            <a:spLocks noGrp="1"/>
          </p:cNvSpPr>
          <p:nvPr>
            <p:ph idx="1"/>
          </p:nvPr>
        </p:nvSpPr>
        <p:spPr>
          <a:xfrm>
            <a:off x="4271472" y="1701877"/>
            <a:ext cx="5572447" cy="3122371"/>
          </a:xfrm>
        </p:spPr>
        <p:txBody>
          <a:bodyPr>
            <a:normAutofit/>
          </a:bodyPr>
          <a:lstStyle/>
          <a:p>
            <a:pPr algn="just"/>
            <a:r>
              <a:rPr lang="en-US" dirty="0"/>
              <a:t>Japan was  founded in 660 BC.</a:t>
            </a:r>
          </a:p>
          <a:p>
            <a:pPr algn="just"/>
            <a:r>
              <a:rPr lang="en-US" dirty="0"/>
              <a:t>Social sciences are very important in </a:t>
            </a:r>
            <a:r>
              <a:rPr lang="en-US" dirty="0" err="1"/>
              <a:t>japenes</a:t>
            </a:r>
            <a:r>
              <a:rPr lang="en-US" dirty="0"/>
              <a:t>  culture.</a:t>
            </a:r>
          </a:p>
          <a:p>
            <a:pPr algn="just"/>
            <a:r>
              <a:rPr lang="en-US" dirty="0"/>
              <a:t>citizens thrive on moral and </a:t>
            </a:r>
            <a:r>
              <a:rPr lang="en-US" dirty="0" err="1"/>
              <a:t>poltical</a:t>
            </a:r>
            <a:r>
              <a:rPr lang="en-US" dirty="0"/>
              <a:t> principles to hold up society.</a:t>
            </a:r>
          </a:p>
          <a:p>
            <a:pPr algn="just"/>
            <a:r>
              <a:rPr lang="en-US" dirty="0"/>
              <a:t>Religion is </a:t>
            </a:r>
            <a:r>
              <a:rPr lang="en-US" dirty="0" err="1"/>
              <a:t>aloso</a:t>
            </a:r>
            <a:r>
              <a:rPr lang="en-US" dirty="0"/>
              <a:t> a major aspect in their culture , the national religion is </a:t>
            </a:r>
            <a:r>
              <a:rPr lang="en-US" dirty="0" err="1"/>
              <a:t>buddhism</a:t>
            </a:r>
            <a:r>
              <a:rPr lang="en-US" dirty="0"/>
              <a:t>.</a:t>
            </a:r>
          </a:p>
        </p:txBody>
      </p:sp>
      <p:sp>
        <p:nvSpPr>
          <p:cNvPr id="4" name="Oval 3">
            <a:extLst>
              <a:ext uri="{FF2B5EF4-FFF2-40B4-BE49-F238E27FC236}">
                <a16:creationId xmlns:a16="http://schemas.microsoft.com/office/drawing/2014/main" id="{4A178F8C-2767-FB00-3E51-CB05002E15AC}"/>
              </a:ext>
            </a:extLst>
          </p:cNvPr>
          <p:cNvSpPr/>
          <p:nvPr/>
        </p:nvSpPr>
        <p:spPr>
          <a:xfrm>
            <a:off x="189048" y="945930"/>
            <a:ext cx="3799490" cy="3767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err="1"/>
              <a:t>Brife</a:t>
            </a:r>
            <a:r>
              <a:rPr lang="en-US" sz="4400" b="1" dirty="0"/>
              <a:t>  History</a:t>
            </a:r>
          </a:p>
        </p:txBody>
      </p:sp>
    </p:spTree>
    <p:extLst>
      <p:ext uri="{BB962C8B-B14F-4D97-AF65-F5344CB8AC3E}">
        <p14:creationId xmlns:p14="http://schemas.microsoft.com/office/powerpoint/2010/main" val="3955066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455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5140-4840-EB5F-CE32-419210A9C408}"/>
              </a:ext>
            </a:extLst>
          </p:cNvPr>
          <p:cNvSpPr>
            <a:spLocks noGrp="1"/>
          </p:cNvSpPr>
          <p:nvPr>
            <p:ph type="title"/>
          </p:nvPr>
        </p:nvSpPr>
        <p:spPr>
          <a:xfrm>
            <a:off x="850789" y="1367118"/>
            <a:ext cx="9404723" cy="1313020"/>
          </a:xfrm>
        </p:spPr>
        <p:txBody>
          <a:bodyPr/>
          <a:lstStyle/>
          <a:p>
            <a:pPr algn="ctr"/>
            <a:r>
              <a:rPr lang="en-US" b="1" dirty="0"/>
              <a:t>The educational system in </a:t>
            </a:r>
            <a:r>
              <a:rPr lang="en-US" b="1" dirty="0" err="1"/>
              <a:t>japan</a:t>
            </a:r>
            <a:endParaRPr lang="en-US" b="1" dirty="0"/>
          </a:p>
        </p:txBody>
      </p:sp>
      <p:sp>
        <p:nvSpPr>
          <p:cNvPr id="3" name="Content Placeholder 2">
            <a:extLst>
              <a:ext uri="{FF2B5EF4-FFF2-40B4-BE49-F238E27FC236}">
                <a16:creationId xmlns:a16="http://schemas.microsoft.com/office/drawing/2014/main" id="{2D0465F0-6F9E-1D1C-D884-38D79FCE4A86}"/>
              </a:ext>
            </a:extLst>
          </p:cNvPr>
          <p:cNvSpPr>
            <a:spLocks noGrp="1"/>
          </p:cNvSpPr>
          <p:nvPr>
            <p:ph idx="1"/>
          </p:nvPr>
        </p:nvSpPr>
        <p:spPr>
          <a:xfrm>
            <a:off x="2065283" y="2872725"/>
            <a:ext cx="7843388" cy="3165467"/>
          </a:xfrm>
        </p:spPr>
        <p:txBody>
          <a:bodyPr>
            <a:normAutofit/>
          </a:bodyPr>
          <a:lstStyle/>
          <a:p>
            <a:r>
              <a:rPr lang="en-US" dirty="0"/>
              <a:t>The </a:t>
            </a:r>
            <a:r>
              <a:rPr lang="en-US" dirty="0" err="1"/>
              <a:t>japanes</a:t>
            </a:r>
            <a:r>
              <a:rPr lang="en-US" dirty="0"/>
              <a:t> educational system was reformed world war 11.  </a:t>
            </a:r>
          </a:p>
          <a:p>
            <a:pPr>
              <a:lnSpc>
                <a:spcPct val="150000"/>
              </a:lnSpc>
            </a:pPr>
            <a:r>
              <a:rPr lang="en-US" dirty="0"/>
              <a:t>The old system 6 , 5, 3, 3  years was changed to 6 ,3 ,3 ,4.</a:t>
            </a:r>
          </a:p>
          <a:p>
            <a:pPr>
              <a:lnSpc>
                <a:spcPct val="150000"/>
              </a:lnSpc>
            </a:pPr>
            <a:r>
              <a:rPr lang="en-US" dirty="0"/>
              <a:t>This system was implemented by the school education law enacted in  </a:t>
            </a:r>
            <a:r>
              <a:rPr lang="en-US" dirty="0" err="1"/>
              <a:t>Mrach</a:t>
            </a:r>
            <a:r>
              <a:rPr lang="en-US" dirty="0"/>
              <a:t> 1947.</a:t>
            </a:r>
          </a:p>
          <a:p>
            <a:endParaRPr lang="en-US" dirty="0"/>
          </a:p>
        </p:txBody>
      </p:sp>
    </p:spTree>
    <p:extLst>
      <p:ext uri="{BB962C8B-B14F-4D97-AF65-F5344CB8AC3E}">
        <p14:creationId xmlns:p14="http://schemas.microsoft.com/office/powerpoint/2010/main" val="39172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688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1ECEE-BE8F-B071-3C17-045D42F498AD}"/>
              </a:ext>
            </a:extLst>
          </p:cNvPr>
          <p:cNvSpPr>
            <a:spLocks noGrp="1"/>
          </p:cNvSpPr>
          <p:nvPr>
            <p:ph type="title"/>
          </p:nvPr>
        </p:nvSpPr>
        <p:spPr>
          <a:xfrm>
            <a:off x="646111" y="452718"/>
            <a:ext cx="2822303" cy="3788206"/>
          </a:xfrm>
        </p:spPr>
        <p:txBody>
          <a:bodyPr/>
          <a:lstStyle/>
          <a:p>
            <a:r>
              <a:rPr lang="en-US" dirty="0"/>
              <a:t>Mi</a:t>
            </a:r>
          </a:p>
        </p:txBody>
      </p:sp>
      <p:sp>
        <p:nvSpPr>
          <p:cNvPr id="3" name="Content Placeholder 2">
            <a:extLst>
              <a:ext uri="{FF2B5EF4-FFF2-40B4-BE49-F238E27FC236}">
                <a16:creationId xmlns:a16="http://schemas.microsoft.com/office/drawing/2014/main" id="{022ABBEE-9881-B6D0-5BF2-11B99ED829FD}"/>
              </a:ext>
            </a:extLst>
          </p:cNvPr>
          <p:cNvSpPr>
            <a:spLocks noGrp="1"/>
          </p:cNvSpPr>
          <p:nvPr>
            <p:ph idx="1"/>
          </p:nvPr>
        </p:nvSpPr>
        <p:spPr>
          <a:xfrm>
            <a:off x="3310484" y="2346821"/>
            <a:ext cx="6511433" cy="3909849"/>
          </a:xfrm>
        </p:spPr>
        <p:txBody>
          <a:bodyPr/>
          <a:lstStyle/>
          <a:p>
            <a:r>
              <a:rPr lang="en-US" dirty="0" err="1"/>
              <a:t>Curricualm</a:t>
            </a:r>
            <a:r>
              <a:rPr lang="en-US" dirty="0"/>
              <a:t> , </a:t>
            </a:r>
            <a:r>
              <a:rPr lang="en-US" dirty="0" err="1"/>
              <a:t>taxtbooks</a:t>
            </a:r>
            <a:r>
              <a:rPr lang="en-US" dirty="0"/>
              <a:t> classes and maintains a uniform level of education throughout the country.</a:t>
            </a:r>
          </a:p>
          <a:p>
            <a:r>
              <a:rPr lang="en-US" dirty="0"/>
              <a:t>Education is compulsory in elementary and lower secondary levels ( junior </a:t>
            </a:r>
            <a:r>
              <a:rPr lang="en-US" dirty="0" err="1"/>
              <a:t>hight</a:t>
            </a:r>
            <a:r>
              <a:rPr lang="en-US" dirty="0"/>
              <a:t> school ).</a:t>
            </a:r>
          </a:p>
          <a:p>
            <a:r>
              <a:rPr lang="en-US" dirty="0"/>
              <a:t>Most school operate on </a:t>
            </a:r>
            <a:r>
              <a:rPr lang="en-US" dirty="0" err="1"/>
              <a:t>three_term</a:t>
            </a:r>
            <a:r>
              <a:rPr lang="en-US" dirty="0"/>
              <a:t> system (summer , winter , spring).</a:t>
            </a:r>
          </a:p>
          <a:p>
            <a:r>
              <a:rPr lang="en-US" dirty="0"/>
              <a:t>Japanese students spend 240 days a year in school  , 60 days more then American counter parts  (</a:t>
            </a:r>
            <a:r>
              <a:rPr lang="en-US" dirty="0" err="1"/>
              <a:t>johnson</a:t>
            </a:r>
            <a:r>
              <a:rPr lang="en-US" dirty="0"/>
              <a:t>).</a:t>
            </a:r>
          </a:p>
          <a:p>
            <a:endParaRPr lang="en-US" dirty="0"/>
          </a:p>
        </p:txBody>
      </p:sp>
      <p:sp>
        <p:nvSpPr>
          <p:cNvPr id="5" name="Hexagon 4">
            <a:extLst>
              <a:ext uri="{FF2B5EF4-FFF2-40B4-BE49-F238E27FC236}">
                <a16:creationId xmlns:a16="http://schemas.microsoft.com/office/drawing/2014/main" id="{29E50216-F8B3-D9BE-A853-5C5B804B75A7}"/>
              </a:ext>
            </a:extLst>
          </p:cNvPr>
          <p:cNvSpPr/>
          <p:nvPr/>
        </p:nvSpPr>
        <p:spPr>
          <a:xfrm>
            <a:off x="220717" y="141890"/>
            <a:ext cx="3941380" cy="1828800"/>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Ministry of Education</a:t>
            </a:r>
          </a:p>
        </p:txBody>
      </p:sp>
    </p:spTree>
    <p:extLst>
      <p:ext uri="{BB962C8B-B14F-4D97-AF65-F5344CB8AC3E}">
        <p14:creationId xmlns:p14="http://schemas.microsoft.com/office/powerpoint/2010/main" val="297701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78DC-4305-BD5D-EB28-CD850F99B3D8}"/>
              </a:ext>
            </a:extLst>
          </p:cNvPr>
          <p:cNvSpPr>
            <a:spLocks noGrp="1"/>
          </p:cNvSpPr>
          <p:nvPr>
            <p:ph type="title"/>
          </p:nvPr>
        </p:nvSpPr>
        <p:spPr>
          <a:xfrm>
            <a:off x="646111" y="452718"/>
            <a:ext cx="7520427" cy="1218427"/>
          </a:xfrm>
        </p:spPr>
        <p:txBody>
          <a:bodyPr/>
          <a:lstStyle/>
          <a:p>
            <a:r>
              <a:rPr kumimoji="0" lang="en-US" sz="4200" b="1" i="0" u="none" strike="noStrike" kern="1200" cap="none" spc="0" normalizeH="0" baseline="0" noProof="0" dirty="0">
                <a:ln>
                  <a:noFill/>
                </a:ln>
                <a:solidFill>
                  <a:srgbClr val="EBEBEB"/>
                </a:solidFill>
                <a:effectLst/>
                <a:uLnTx/>
                <a:uFillTx/>
                <a:latin typeface="Century Gothic" panose="020B0502020202020204"/>
                <a:ea typeface="+mj-ea"/>
                <a:cs typeface="+mj-cs"/>
              </a:rPr>
              <a:t>Primary and secondary</a:t>
            </a:r>
            <a:endParaRPr lang="en-US" dirty="0"/>
          </a:p>
        </p:txBody>
      </p:sp>
      <p:sp>
        <p:nvSpPr>
          <p:cNvPr id="3" name="Content Placeholder 2">
            <a:extLst>
              <a:ext uri="{FF2B5EF4-FFF2-40B4-BE49-F238E27FC236}">
                <a16:creationId xmlns:a16="http://schemas.microsoft.com/office/drawing/2014/main" id="{365E1DAA-1065-2C31-B024-6DCF4ADFED5F}"/>
              </a:ext>
            </a:extLst>
          </p:cNvPr>
          <p:cNvSpPr>
            <a:spLocks noGrp="1"/>
          </p:cNvSpPr>
          <p:nvPr>
            <p:ph sz="half" idx="1"/>
          </p:nvPr>
        </p:nvSpPr>
        <p:spPr>
          <a:xfrm>
            <a:off x="441160" y="1725016"/>
            <a:ext cx="4396339" cy="4195763"/>
          </a:xfrm>
        </p:spPr>
        <p:txBody>
          <a:bodyPr>
            <a:normAutofit fontScale="25000" lnSpcReduction="20000"/>
          </a:bodyPr>
          <a:lstStyle/>
          <a:p>
            <a:pPr>
              <a:lnSpc>
                <a:spcPct val="170000"/>
              </a:lnSpc>
            </a:pPr>
            <a:r>
              <a:rPr lang="en-US" sz="7200" b="1" dirty="0"/>
              <a:t>Primary Education</a:t>
            </a:r>
          </a:p>
          <a:p>
            <a:pPr>
              <a:lnSpc>
                <a:spcPct val="170000"/>
              </a:lnSpc>
            </a:pPr>
            <a:r>
              <a:rPr lang="en-US" sz="7200" b="1" dirty="0"/>
              <a:t>Primary education includes kids age 5 to 12 years,</a:t>
            </a:r>
          </a:p>
          <a:p>
            <a:pPr>
              <a:lnSpc>
                <a:spcPct val="170000"/>
              </a:lnSpc>
            </a:pPr>
            <a:r>
              <a:rPr lang="en-US" sz="7200" b="1" dirty="0"/>
              <a:t>In primary school , teachers mostly focus on creating an emotional and social connection to school and other.</a:t>
            </a:r>
          </a:p>
          <a:p>
            <a:pPr>
              <a:lnSpc>
                <a:spcPct val="170000"/>
              </a:lnSpc>
            </a:pPr>
            <a:r>
              <a:rPr lang="en-US" sz="7200" b="1" dirty="0"/>
              <a:t>Also focus strongly on creating </a:t>
            </a:r>
            <a:r>
              <a:rPr lang="en-US" sz="7200" b="1" dirty="0" err="1"/>
              <a:t>self_confidencs</a:t>
            </a:r>
            <a:r>
              <a:rPr lang="en-US" sz="7200" b="1" dirty="0"/>
              <a:t> and character .</a:t>
            </a:r>
          </a:p>
          <a:p>
            <a:pPr>
              <a:lnSpc>
                <a:spcPct val="170000"/>
              </a:lnSpc>
            </a:pPr>
            <a:r>
              <a:rPr lang="en-US" sz="7200" b="1" dirty="0" err="1"/>
              <a:t>Japanes</a:t>
            </a:r>
            <a:r>
              <a:rPr lang="en-US" sz="7200" b="1" dirty="0"/>
              <a:t>  school covers less topics and go in depth more than American school.</a:t>
            </a:r>
          </a:p>
          <a:p>
            <a:pPr>
              <a:lnSpc>
                <a:spcPct val="170000"/>
              </a:lnSpc>
            </a:pPr>
            <a:r>
              <a:rPr lang="en-US" sz="7200" b="1" dirty="0" err="1"/>
              <a:t>Japanes</a:t>
            </a:r>
            <a:r>
              <a:rPr lang="en-US" sz="7200" b="1" dirty="0"/>
              <a:t> teachers try to focus on  the students individual needs not the class needs.</a:t>
            </a:r>
          </a:p>
          <a:p>
            <a:endParaRPr lang="en-US" sz="2400" b="1" dirty="0"/>
          </a:p>
        </p:txBody>
      </p:sp>
      <p:sp>
        <p:nvSpPr>
          <p:cNvPr id="4" name="Content Placeholder 3">
            <a:extLst>
              <a:ext uri="{FF2B5EF4-FFF2-40B4-BE49-F238E27FC236}">
                <a16:creationId xmlns:a16="http://schemas.microsoft.com/office/drawing/2014/main" id="{28E10084-9D47-EDF2-E187-597484965D92}"/>
              </a:ext>
            </a:extLst>
          </p:cNvPr>
          <p:cNvSpPr>
            <a:spLocks noGrp="1"/>
          </p:cNvSpPr>
          <p:nvPr>
            <p:ph sz="half" idx="2"/>
          </p:nvPr>
        </p:nvSpPr>
        <p:spPr>
          <a:xfrm>
            <a:off x="7149548" y="857785"/>
            <a:ext cx="4396341" cy="5930224"/>
          </a:xfrm>
        </p:spPr>
        <p:txBody>
          <a:bodyPr>
            <a:normAutofit fontScale="25000" lnSpcReduction="20000"/>
          </a:bodyPr>
          <a:lstStyle/>
          <a:p>
            <a:pPr>
              <a:lnSpc>
                <a:spcPct val="170000"/>
              </a:lnSpc>
            </a:pPr>
            <a:r>
              <a:rPr lang="en-US" sz="7200" b="1" dirty="0"/>
              <a:t>Secondary Education</a:t>
            </a:r>
          </a:p>
          <a:p>
            <a:pPr>
              <a:lnSpc>
                <a:spcPct val="170000"/>
              </a:lnSpc>
            </a:pPr>
            <a:r>
              <a:rPr lang="en-US" sz="7200" b="1" dirty="0"/>
              <a:t>Secondary education includes kids age 12 to 18 . They attend school Monday </a:t>
            </a:r>
            <a:r>
              <a:rPr lang="en-US" sz="7200" b="1" dirty="0" err="1"/>
              <a:t>througt</a:t>
            </a:r>
            <a:r>
              <a:rPr lang="en-US" sz="7200" b="1" dirty="0"/>
              <a:t> Saturday .</a:t>
            </a:r>
          </a:p>
          <a:p>
            <a:pPr>
              <a:lnSpc>
                <a:spcPct val="170000"/>
              </a:lnSpc>
            </a:pPr>
            <a:r>
              <a:rPr lang="en-US" sz="7200" b="1" dirty="0"/>
              <a:t>Secondary education is where students </a:t>
            </a:r>
            <a:r>
              <a:rPr lang="en-US" sz="7200" b="1" dirty="0" err="1"/>
              <a:t>beginto</a:t>
            </a:r>
            <a:r>
              <a:rPr lang="en-US" sz="7200" b="1" dirty="0"/>
              <a:t> learn more complex material </a:t>
            </a:r>
            <a:r>
              <a:rPr lang="en-US" sz="7200" b="1" dirty="0" err="1"/>
              <a:t>thn</a:t>
            </a:r>
            <a:r>
              <a:rPr lang="en-US" sz="7200" b="1" dirty="0"/>
              <a:t> in primary school.</a:t>
            </a:r>
          </a:p>
          <a:p>
            <a:pPr>
              <a:lnSpc>
                <a:spcPct val="170000"/>
              </a:lnSpc>
            </a:pPr>
            <a:r>
              <a:rPr lang="en-US" sz="7200" b="1" dirty="0"/>
              <a:t>Students learn at a much slower pace than American students.</a:t>
            </a:r>
          </a:p>
          <a:p>
            <a:pPr>
              <a:lnSpc>
                <a:spcPct val="170000"/>
              </a:lnSpc>
            </a:pPr>
            <a:r>
              <a:rPr lang="en-US" sz="7200" b="1" dirty="0"/>
              <a:t>We </a:t>
            </a:r>
            <a:r>
              <a:rPr lang="en-US" sz="7200" b="1" dirty="0" err="1"/>
              <a:t>belive</a:t>
            </a:r>
            <a:r>
              <a:rPr lang="en-US" sz="7200" b="1" dirty="0"/>
              <a:t> it is more </a:t>
            </a:r>
            <a:r>
              <a:rPr lang="en-US" sz="7200" b="1" dirty="0" err="1"/>
              <a:t>benifical</a:t>
            </a:r>
            <a:r>
              <a:rPr lang="en-US" sz="7200" b="1" dirty="0"/>
              <a:t> to the students to learn in depth.</a:t>
            </a:r>
          </a:p>
          <a:p>
            <a:pPr>
              <a:lnSpc>
                <a:spcPct val="170000"/>
              </a:lnSpc>
            </a:pPr>
            <a:endParaRPr lang="en-US" sz="3300" b="1" dirty="0"/>
          </a:p>
          <a:p>
            <a:endParaRPr lang="en-US" sz="3300" b="1" dirty="0"/>
          </a:p>
          <a:p>
            <a:pPr marL="0" indent="0">
              <a:buNone/>
            </a:pPr>
            <a:r>
              <a:rPr lang="en-US" sz="3300" b="1" dirty="0"/>
              <a:t> </a:t>
            </a:r>
          </a:p>
          <a:p>
            <a:pPr marL="0" indent="0">
              <a:buNone/>
            </a:pPr>
            <a:endParaRPr lang="en-US" sz="3300" b="1" dirty="0"/>
          </a:p>
          <a:p>
            <a:endParaRPr lang="en-US" sz="4400" b="1" dirty="0"/>
          </a:p>
        </p:txBody>
      </p:sp>
    </p:spTree>
    <p:extLst>
      <p:ext uri="{BB962C8B-B14F-4D97-AF65-F5344CB8AC3E}">
        <p14:creationId xmlns:p14="http://schemas.microsoft.com/office/powerpoint/2010/main" val="910335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CAF86-8184-EA43-991A-195395074ADB}"/>
              </a:ext>
            </a:extLst>
          </p:cNvPr>
          <p:cNvSpPr>
            <a:spLocks noGrp="1"/>
          </p:cNvSpPr>
          <p:nvPr>
            <p:ph type="title"/>
          </p:nvPr>
        </p:nvSpPr>
        <p:spPr>
          <a:xfrm>
            <a:off x="299545" y="1418097"/>
            <a:ext cx="3421117" cy="2010903"/>
          </a:xfrm>
        </p:spPr>
        <p:txBody>
          <a:bodyPr/>
          <a:lstStyle/>
          <a:p>
            <a:endParaRPr lang="en-US" dirty="0"/>
          </a:p>
        </p:txBody>
      </p:sp>
      <p:sp>
        <p:nvSpPr>
          <p:cNvPr id="3" name="Content Placeholder 2">
            <a:extLst>
              <a:ext uri="{FF2B5EF4-FFF2-40B4-BE49-F238E27FC236}">
                <a16:creationId xmlns:a16="http://schemas.microsoft.com/office/drawing/2014/main" id="{926AF835-11CD-7CEF-38E5-188323CED30D}"/>
              </a:ext>
            </a:extLst>
          </p:cNvPr>
          <p:cNvSpPr>
            <a:spLocks noGrp="1"/>
          </p:cNvSpPr>
          <p:nvPr>
            <p:ph idx="1"/>
          </p:nvPr>
        </p:nvSpPr>
        <p:spPr>
          <a:xfrm>
            <a:off x="4417638" y="1454909"/>
            <a:ext cx="7128251" cy="4950373"/>
          </a:xfrm>
        </p:spPr>
        <p:txBody>
          <a:bodyPr/>
          <a:lstStyle/>
          <a:p>
            <a:pPr>
              <a:lnSpc>
                <a:spcPct val="150000"/>
              </a:lnSpc>
            </a:pPr>
            <a:r>
              <a:rPr lang="en-US" sz="2400" dirty="0"/>
              <a:t>College in Japan dose not </a:t>
            </a:r>
            <a:r>
              <a:rPr lang="en-US" sz="2400" dirty="0" err="1"/>
              <a:t>recive</a:t>
            </a:r>
            <a:r>
              <a:rPr lang="en-US" sz="2400" dirty="0"/>
              <a:t> </a:t>
            </a:r>
            <a:r>
              <a:rPr lang="en-US" sz="2400" dirty="0" err="1"/>
              <a:t>hight</a:t>
            </a:r>
            <a:r>
              <a:rPr lang="en-US" sz="2400" dirty="0"/>
              <a:t> support.</a:t>
            </a:r>
          </a:p>
          <a:p>
            <a:pPr>
              <a:lnSpc>
                <a:spcPct val="150000"/>
              </a:lnSpc>
            </a:pPr>
            <a:r>
              <a:rPr lang="en-US" sz="2400" dirty="0"/>
              <a:t>Only about 2/3 of the Japan population has </a:t>
            </a:r>
            <a:r>
              <a:rPr lang="en-US" sz="2400" dirty="0" err="1"/>
              <a:t>attented</a:t>
            </a:r>
            <a:r>
              <a:rPr lang="en-US" sz="2400" dirty="0"/>
              <a:t> college or another </a:t>
            </a:r>
            <a:r>
              <a:rPr lang="en-US" sz="2400" dirty="0" err="1"/>
              <a:t>trining</a:t>
            </a:r>
            <a:r>
              <a:rPr lang="en-US" sz="2400" dirty="0"/>
              <a:t> college .</a:t>
            </a:r>
          </a:p>
          <a:p>
            <a:pPr>
              <a:lnSpc>
                <a:spcPct val="150000"/>
              </a:lnSpc>
            </a:pPr>
            <a:r>
              <a:rPr lang="en-US" sz="2400" dirty="0"/>
              <a:t>A </a:t>
            </a:r>
            <a:r>
              <a:rPr lang="en-US" sz="2400" dirty="0" err="1"/>
              <a:t>privete</a:t>
            </a:r>
            <a:r>
              <a:rPr lang="en-US" sz="2400" dirty="0"/>
              <a:t> university cost about 1,780,200 yen ,which university cost about 1,303,093 yen, or 11,00 American dollars</a:t>
            </a:r>
            <a:r>
              <a:rPr lang="en-US" dirty="0"/>
              <a:t>.</a:t>
            </a:r>
          </a:p>
          <a:p>
            <a:endParaRPr lang="en-US" dirty="0"/>
          </a:p>
        </p:txBody>
      </p:sp>
      <p:sp>
        <p:nvSpPr>
          <p:cNvPr id="5" name="Flowchart: Connector 4">
            <a:extLst>
              <a:ext uri="{FF2B5EF4-FFF2-40B4-BE49-F238E27FC236}">
                <a16:creationId xmlns:a16="http://schemas.microsoft.com/office/drawing/2014/main" id="{1C9C1A4A-0624-888F-4A8C-06878482B9DB}"/>
              </a:ext>
            </a:extLst>
          </p:cNvPr>
          <p:cNvSpPr/>
          <p:nvPr/>
        </p:nvSpPr>
        <p:spPr>
          <a:xfrm>
            <a:off x="-27591" y="500155"/>
            <a:ext cx="4075388" cy="384678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COLLEGE Education</a:t>
            </a:r>
          </a:p>
        </p:txBody>
      </p:sp>
    </p:spTree>
    <p:extLst>
      <p:ext uri="{BB962C8B-B14F-4D97-AF65-F5344CB8AC3E}">
        <p14:creationId xmlns:p14="http://schemas.microsoft.com/office/powerpoint/2010/main" val="3768755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5DAF2-7768-244F-70C4-737812CCE37C}"/>
              </a:ext>
            </a:extLst>
          </p:cNvPr>
          <p:cNvSpPr>
            <a:spLocks noGrp="1"/>
          </p:cNvSpPr>
          <p:nvPr>
            <p:ph type="title"/>
          </p:nvPr>
        </p:nvSpPr>
        <p:spPr>
          <a:xfrm>
            <a:off x="1040250" y="2269293"/>
            <a:ext cx="2002495" cy="1679827"/>
          </a:xfrm>
        </p:spPr>
        <p:txBody>
          <a:bodyPr/>
          <a:lstStyle/>
          <a:p>
            <a:endParaRPr lang="en-US" dirty="0"/>
          </a:p>
        </p:txBody>
      </p:sp>
      <p:sp>
        <p:nvSpPr>
          <p:cNvPr id="3" name="Content Placeholder 2">
            <a:extLst>
              <a:ext uri="{FF2B5EF4-FFF2-40B4-BE49-F238E27FC236}">
                <a16:creationId xmlns:a16="http://schemas.microsoft.com/office/drawing/2014/main" id="{7DCD934A-788F-1B38-174F-DEA413A3DDA2}"/>
              </a:ext>
            </a:extLst>
          </p:cNvPr>
          <p:cNvSpPr>
            <a:spLocks noGrp="1"/>
          </p:cNvSpPr>
          <p:nvPr>
            <p:ph idx="1"/>
          </p:nvPr>
        </p:nvSpPr>
        <p:spPr>
          <a:xfrm>
            <a:off x="5092262" y="1658780"/>
            <a:ext cx="6768936" cy="4195481"/>
          </a:xfrm>
        </p:spPr>
        <p:txBody>
          <a:bodyPr>
            <a:normAutofit/>
          </a:bodyPr>
          <a:lstStyle/>
          <a:p>
            <a:pPr>
              <a:lnSpc>
                <a:spcPct val="150000"/>
              </a:lnSpc>
            </a:pPr>
            <a:r>
              <a:rPr lang="en-US" sz="2400" dirty="0"/>
              <a:t>The national religion in our country in this country is Buddhism .</a:t>
            </a:r>
          </a:p>
          <a:p>
            <a:pPr>
              <a:lnSpc>
                <a:spcPct val="150000"/>
              </a:lnSpc>
            </a:pPr>
            <a:r>
              <a:rPr lang="en-US" sz="2400" dirty="0"/>
              <a:t>Began in </a:t>
            </a:r>
            <a:r>
              <a:rPr lang="en-US" sz="2400" dirty="0" err="1"/>
              <a:t>india</a:t>
            </a:r>
            <a:r>
              <a:rPr lang="en-US" sz="2400" dirty="0"/>
              <a:t> but was </a:t>
            </a:r>
            <a:r>
              <a:rPr lang="en-US" sz="2400" dirty="0" err="1"/>
              <a:t>adopeted</a:t>
            </a:r>
            <a:r>
              <a:rPr lang="en-US" sz="2400" dirty="0"/>
              <a:t> from the Chines and later adopted by us 360 Million followers worldwide.</a:t>
            </a:r>
          </a:p>
        </p:txBody>
      </p:sp>
      <p:sp>
        <p:nvSpPr>
          <p:cNvPr id="7" name="Flowchart: Process 6">
            <a:extLst>
              <a:ext uri="{FF2B5EF4-FFF2-40B4-BE49-F238E27FC236}">
                <a16:creationId xmlns:a16="http://schemas.microsoft.com/office/drawing/2014/main" id="{E6AC27E7-664F-C3E9-E74E-1AE5CB2FAA9B}"/>
              </a:ext>
            </a:extLst>
          </p:cNvPr>
          <p:cNvSpPr/>
          <p:nvPr/>
        </p:nvSpPr>
        <p:spPr>
          <a:xfrm>
            <a:off x="914400" y="1918909"/>
            <a:ext cx="2869324" cy="2380593"/>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Religion</a:t>
            </a:r>
          </a:p>
        </p:txBody>
      </p:sp>
    </p:spTree>
    <p:extLst>
      <p:ext uri="{BB962C8B-B14F-4D97-AF65-F5344CB8AC3E}">
        <p14:creationId xmlns:p14="http://schemas.microsoft.com/office/powerpoint/2010/main" val="3066517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FDE0-B4B8-C9F5-9EAC-3A4DE3882FBA}"/>
              </a:ext>
            </a:extLst>
          </p:cNvPr>
          <p:cNvSpPr>
            <a:spLocks noGrp="1"/>
          </p:cNvSpPr>
          <p:nvPr>
            <p:ph type="title"/>
          </p:nvPr>
        </p:nvSpPr>
        <p:spPr>
          <a:xfrm>
            <a:off x="409629" y="1739834"/>
            <a:ext cx="3847061" cy="1400530"/>
          </a:xfrm>
        </p:spPr>
        <p:txBody>
          <a:bodyPr/>
          <a:lstStyle/>
          <a:p>
            <a:endParaRPr lang="en-US"/>
          </a:p>
        </p:txBody>
      </p:sp>
      <p:sp>
        <p:nvSpPr>
          <p:cNvPr id="3" name="Content Placeholder 2">
            <a:extLst>
              <a:ext uri="{FF2B5EF4-FFF2-40B4-BE49-F238E27FC236}">
                <a16:creationId xmlns:a16="http://schemas.microsoft.com/office/drawing/2014/main" id="{FA8D5945-BD73-A288-A6DD-BACF8B8C95CD}"/>
              </a:ext>
            </a:extLst>
          </p:cNvPr>
          <p:cNvSpPr>
            <a:spLocks noGrp="1"/>
          </p:cNvSpPr>
          <p:nvPr>
            <p:ph idx="1"/>
          </p:nvPr>
        </p:nvSpPr>
        <p:spPr>
          <a:xfrm>
            <a:off x="5738648" y="1216044"/>
            <a:ext cx="5840460" cy="4195481"/>
          </a:xfrm>
        </p:spPr>
        <p:txBody>
          <a:bodyPr>
            <a:normAutofit fontScale="77500" lnSpcReduction="20000"/>
          </a:bodyPr>
          <a:lstStyle/>
          <a:p>
            <a:pPr>
              <a:lnSpc>
                <a:spcPct val="170000"/>
              </a:lnSpc>
            </a:pPr>
            <a:r>
              <a:rPr lang="en-US" sz="3200" dirty="0"/>
              <a:t>Students get to school by riding bikes, trains ,or cars .</a:t>
            </a:r>
          </a:p>
          <a:p>
            <a:pPr>
              <a:lnSpc>
                <a:spcPct val="170000"/>
              </a:lnSpc>
            </a:pPr>
            <a:r>
              <a:rPr lang="en-US" sz="3200" dirty="0"/>
              <a:t>School have guidelines for students when traveling to school.</a:t>
            </a:r>
          </a:p>
          <a:p>
            <a:pPr>
              <a:lnSpc>
                <a:spcPct val="170000"/>
              </a:lnSpc>
            </a:pPr>
            <a:r>
              <a:rPr lang="en-US" sz="3200" dirty="0"/>
              <a:t>They do this so their will be a good impact on the school.</a:t>
            </a:r>
          </a:p>
          <a:p>
            <a:pPr>
              <a:lnSpc>
                <a:spcPct val="170000"/>
              </a:lnSpc>
            </a:pPr>
            <a:endParaRPr lang="en-US" dirty="0"/>
          </a:p>
        </p:txBody>
      </p:sp>
      <p:sp>
        <p:nvSpPr>
          <p:cNvPr id="5" name="Arrow: Pentagon 4">
            <a:extLst>
              <a:ext uri="{FF2B5EF4-FFF2-40B4-BE49-F238E27FC236}">
                <a16:creationId xmlns:a16="http://schemas.microsoft.com/office/drawing/2014/main" id="{0FD7E917-727F-7EBB-F8DE-B36B69AE56ED}"/>
              </a:ext>
            </a:extLst>
          </p:cNvPr>
          <p:cNvSpPr/>
          <p:nvPr/>
        </p:nvSpPr>
        <p:spPr>
          <a:xfrm>
            <a:off x="0" y="948030"/>
            <a:ext cx="5329019" cy="360820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Transportation</a:t>
            </a:r>
          </a:p>
        </p:txBody>
      </p:sp>
    </p:spTree>
    <p:extLst>
      <p:ext uri="{BB962C8B-B14F-4D97-AF65-F5344CB8AC3E}">
        <p14:creationId xmlns:p14="http://schemas.microsoft.com/office/powerpoint/2010/main" val="428800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23854-9355-DBA0-2173-6A91C1CB7416}"/>
              </a:ext>
            </a:extLst>
          </p:cNvPr>
          <p:cNvSpPr>
            <a:spLocks noGrp="1"/>
          </p:cNvSpPr>
          <p:nvPr>
            <p:ph type="title"/>
          </p:nvPr>
        </p:nvSpPr>
        <p:spPr>
          <a:xfrm>
            <a:off x="457201" y="1529255"/>
            <a:ext cx="3137338" cy="2997689"/>
          </a:xfrm>
        </p:spPr>
        <p:txBody>
          <a:bodyPr/>
          <a:lstStyle/>
          <a:p>
            <a:endParaRPr lang="en-US"/>
          </a:p>
        </p:txBody>
      </p:sp>
      <p:sp>
        <p:nvSpPr>
          <p:cNvPr id="3" name="Content Placeholder 2">
            <a:extLst>
              <a:ext uri="{FF2B5EF4-FFF2-40B4-BE49-F238E27FC236}">
                <a16:creationId xmlns:a16="http://schemas.microsoft.com/office/drawing/2014/main" id="{44A66C9E-9361-C6C9-EA98-247A633F4657}"/>
              </a:ext>
            </a:extLst>
          </p:cNvPr>
          <p:cNvSpPr>
            <a:spLocks noGrp="1"/>
          </p:cNvSpPr>
          <p:nvPr>
            <p:ph idx="1"/>
          </p:nvPr>
        </p:nvSpPr>
        <p:spPr>
          <a:xfrm>
            <a:off x="4981903" y="693682"/>
            <a:ext cx="5146778" cy="5912069"/>
          </a:xfrm>
        </p:spPr>
        <p:txBody>
          <a:bodyPr>
            <a:normAutofit lnSpcReduction="10000"/>
          </a:bodyPr>
          <a:lstStyle/>
          <a:p>
            <a:pPr>
              <a:lnSpc>
                <a:spcPct val="150000"/>
              </a:lnSpc>
            </a:pPr>
            <a:r>
              <a:rPr lang="en-US" dirty="0"/>
              <a:t>School begins at 8;30 A.M., but  some students begin heading to school around 6;30 A.M.</a:t>
            </a:r>
          </a:p>
          <a:p>
            <a:pPr>
              <a:lnSpc>
                <a:spcPct val="150000"/>
              </a:lnSpc>
            </a:pPr>
            <a:r>
              <a:rPr lang="en-US" dirty="0"/>
              <a:t>Many students are required to wear uniform including a navy sailor jacket.</a:t>
            </a:r>
          </a:p>
          <a:p>
            <a:pPr>
              <a:lnSpc>
                <a:spcPct val="150000"/>
              </a:lnSpc>
            </a:pPr>
            <a:r>
              <a:rPr lang="en-US" dirty="0"/>
              <a:t>Students are also assigned another students to assure </a:t>
            </a:r>
            <a:r>
              <a:rPr lang="en-US" dirty="0" err="1"/>
              <a:t>thire</a:t>
            </a:r>
            <a:r>
              <a:rPr lang="en-US" dirty="0"/>
              <a:t> safety.</a:t>
            </a:r>
          </a:p>
          <a:p>
            <a:pPr>
              <a:lnSpc>
                <a:spcPct val="150000"/>
              </a:lnSpc>
            </a:pPr>
            <a:r>
              <a:rPr lang="en-US" dirty="0"/>
              <a:t> Most schools students will attend our primarily public schools.  </a:t>
            </a:r>
          </a:p>
          <a:p>
            <a:pPr>
              <a:lnSpc>
                <a:spcPct val="150000"/>
              </a:lnSpc>
            </a:pPr>
            <a:r>
              <a:rPr lang="en-US" dirty="0"/>
              <a:t>Students </a:t>
            </a:r>
            <a:r>
              <a:rPr lang="en-US" dirty="0" err="1"/>
              <a:t>cleen</a:t>
            </a:r>
            <a:r>
              <a:rPr lang="en-US" dirty="0"/>
              <a:t> our school themselves.</a:t>
            </a:r>
          </a:p>
          <a:p>
            <a:pPr>
              <a:lnSpc>
                <a:spcPct val="150000"/>
              </a:lnSpc>
            </a:pPr>
            <a:endParaRPr lang="en-US" dirty="0"/>
          </a:p>
          <a:p>
            <a:endParaRPr lang="en-US" dirty="0"/>
          </a:p>
        </p:txBody>
      </p:sp>
      <p:sp>
        <p:nvSpPr>
          <p:cNvPr id="4" name="Flowchart: Process 3">
            <a:extLst>
              <a:ext uri="{FF2B5EF4-FFF2-40B4-BE49-F238E27FC236}">
                <a16:creationId xmlns:a16="http://schemas.microsoft.com/office/drawing/2014/main" id="{1B0972D5-CEF5-4EE2-3306-94AB5F5F022D}"/>
              </a:ext>
            </a:extLst>
          </p:cNvPr>
          <p:cNvSpPr/>
          <p:nvPr/>
        </p:nvSpPr>
        <p:spPr>
          <a:xfrm>
            <a:off x="297581" y="861849"/>
            <a:ext cx="3610303" cy="436704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Every Day School Routine</a:t>
            </a:r>
          </a:p>
        </p:txBody>
      </p:sp>
    </p:spTree>
    <p:extLst>
      <p:ext uri="{BB962C8B-B14F-4D97-AF65-F5344CB8AC3E}">
        <p14:creationId xmlns:p14="http://schemas.microsoft.com/office/powerpoint/2010/main" val="1578170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932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2BE9-F927-E3DB-657C-60F9EBDCE24E}"/>
              </a:ext>
            </a:extLst>
          </p:cNvPr>
          <p:cNvSpPr>
            <a:spLocks noGrp="1"/>
          </p:cNvSpPr>
          <p:nvPr>
            <p:ph type="title"/>
          </p:nvPr>
        </p:nvSpPr>
        <p:spPr>
          <a:xfrm>
            <a:off x="346567" y="378372"/>
            <a:ext cx="3957420" cy="1522172"/>
          </a:xfrm>
        </p:spPr>
        <p:txBody>
          <a:bodyPr/>
          <a:lstStyle/>
          <a:p>
            <a:r>
              <a:rPr lang="en-US" sz="4000" b="1" dirty="0"/>
              <a:t>School culture</a:t>
            </a:r>
          </a:p>
        </p:txBody>
      </p:sp>
      <p:sp>
        <p:nvSpPr>
          <p:cNvPr id="3" name="Content Placeholder 2">
            <a:extLst>
              <a:ext uri="{FF2B5EF4-FFF2-40B4-BE49-F238E27FC236}">
                <a16:creationId xmlns:a16="http://schemas.microsoft.com/office/drawing/2014/main" id="{40D35366-5A40-AE6B-E783-9D106699EA34}"/>
              </a:ext>
            </a:extLst>
          </p:cNvPr>
          <p:cNvSpPr>
            <a:spLocks noGrp="1"/>
          </p:cNvSpPr>
          <p:nvPr>
            <p:ph idx="1"/>
          </p:nvPr>
        </p:nvSpPr>
        <p:spPr>
          <a:xfrm>
            <a:off x="346567" y="1331259"/>
            <a:ext cx="8946541" cy="5274493"/>
          </a:xfrm>
        </p:spPr>
        <p:txBody>
          <a:bodyPr/>
          <a:lstStyle/>
          <a:p>
            <a:r>
              <a:rPr lang="en-US" dirty="0"/>
              <a:t>Japanese school system controls the individual by observing group rules.</a:t>
            </a:r>
          </a:p>
          <a:p>
            <a:r>
              <a:rPr lang="en-US" dirty="0"/>
              <a:t>Since preschool, children learn to maintain cooperative relationship </a:t>
            </a:r>
            <a:r>
              <a:rPr lang="en-US" dirty="0" err="1"/>
              <a:t>whith</a:t>
            </a:r>
            <a:r>
              <a:rPr lang="en-US" dirty="0"/>
              <a:t> </a:t>
            </a:r>
            <a:r>
              <a:rPr lang="en-US" dirty="0" err="1"/>
              <a:t>thire</a:t>
            </a:r>
            <a:r>
              <a:rPr lang="en-US" dirty="0"/>
              <a:t> peers, to follow the set school routines and to value relationship .</a:t>
            </a:r>
          </a:p>
          <a:p>
            <a:r>
              <a:rPr lang="en-US" dirty="0"/>
              <a:t>In the  elementary one teacher teach all subjects in the class.</a:t>
            </a:r>
          </a:p>
          <a:p>
            <a:r>
              <a:rPr lang="en-US" dirty="0"/>
              <a:t>Students are </a:t>
            </a:r>
            <a:r>
              <a:rPr lang="en-US" dirty="0" err="1"/>
              <a:t>taugt</a:t>
            </a:r>
            <a:r>
              <a:rPr lang="en-US" dirty="0"/>
              <a:t> </a:t>
            </a:r>
            <a:r>
              <a:rPr lang="en-US" dirty="0" err="1"/>
              <a:t>prpper</a:t>
            </a:r>
            <a:r>
              <a:rPr lang="en-US" dirty="0"/>
              <a:t> manners ,how to speak politely , how to address adults and to relate to </a:t>
            </a:r>
            <a:r>
              <a:rPr lang="en-US" dirty="0" err="1"/>
              <a:t>thitre</a:t>
            </a:r>
            <a:r>
              <a:rPr lang="en-US" dirty="0"/>
              <a:t> </a:t>
            </a:r>
            <a:r>
              <a:rPr lang="en-US" dirty="0" err="1"/>
              <a:t>prees</a:t>
            </a:r>
            <a:r>
              <a:rPr lang="en-US" dirty="0"/>
              <a:t> in the appropriate manner.</a:t>
            </a:r>
          </a:p>
          <a:p>
            <a:r>
              <a:rPr lang="en-US" dirty="0"/>
              <a:t>100% p of all students complete elementary school, more then90% graduate from high school &amp;40 graduate from college .</a:t>
            </a:r>
          </a:p>
          <a:p>
            <a:r>
              <a:rPr lang="en-US" dirty="0"/>
              <a:t>In higher education ,</a:t>
            </a:r>
            <a:r>
              <a:rPr lang="en-US" dirty="0" err="1"/>
              <a:t>studentds</a:t>
            </a:r>
            <a:r>
              <a:rPr lang="en-US" dirty="0"/>
              <a:t> took entrance exams to :first tier universities:. Each academic year has 2 semesters which starts in April.</a:t>
            </a:r>
          </a:p>
          <a:p>
            <a:endParaRPr lang="en-US" dirty="0"/>
          </a:p>
          <a:p>
            <a:endParaRPr lang="en-US" dirty="0"/>
          </a:p>
        </p:txBody>
      </p:sp>
    </p:spTree>
    <p:extLst>
      <p:ext uri="{BB962C8B-B14F-4D97-AF65-F5344CB8AC3E}">
        <p14:creationId xmlns:p14="http://schemas.microsoft.com/office/powerpoint/2010/main" val="1044073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7326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5122-4004-77C4-2831-BC95D030185A}"/>
              </a:ext>
            </a:extLst>
          </p:cNvPr>
          <p:cNvSpPr>
            <a:spLocks noGrp="1"/>
          </p:cNvSpPr>
          <p:nvPr>
            <p:ph type="title"/>
          </p:nvPr>
        </p:nvSpPr>
        <p:spPr>
          <a:xfrm>
            <a:off x="677642" y="373889"/>
            <a:ext cx="9404723" cy="5995379"/>
          </a:xfrm>
        </p:spPr>
        <p:txBody>
          <a:bodyPr/>
          <a:lstStyle/>
          <a:p>
            <a:pPr algn="ctr">
              <a:lnSpc>
                <a:spcPct val="200000"/>
              </a:lnSpc>
            </a:pPr>
            <a:r>
              <a:rPr lang="en-US" dirty="0"/>
              <a:t>     </a:t>
            </a:r>
            <a:r>
              <a:rPr lang="en-US" b="1" dirty="0"/>
              <a:t>THANK YOU </a:t>
            </a:r>
            <a:br>
              <a:rPr lang="en-US" b="1" dirty="0"/>
            </a:br>
            <a:r>
              <a:rPr lang="en-US" b="1" dirty="0"/>
              <a:t>         HAVE A PLEASANT DAY </a:t>
            </a:r>
            <a:br>
              <a:rPr lang="en-US" b="1" dirty="0"/>
            </a:br>
            <a:r>
              <a:rPr lang="en-US" b="1" dirty="0"/>
              <a:t>                  EVERYONE!</a:t>
            </a:r>
            <a:br>
              <a:rPr lang="en-US" b="1" dirty="0"/>
            </a:br>
            <a:r>
              <a:rPr lang="en-US" b="1" dirty="0"/>
              <a:t>                          GODBLESS….</a:t>
            </a:r>
          </a:p>
        </p:txBody>
      </p:sp>
    </p:spTree>
    <p:extLst>
      <p:ext uri="{BB962C8B-B14F-4D97-AF65-F5344CB8AC3E}">
        <p14:creationId xmlns:p14="http://schemas.microsoft.com/office/powerpoint/2010/main" val="18428287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964</TotalTime>
  <Words>783</Words>
  <Application>Microsoft Office PowerPoint</Application>
  <PresentationFormat>Widescreen</PresentationFormat>
  <Paragraphs>65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Century Gothic</vt:lpstr>
      <vt:lpstr>Inter</vt:lpstr>
      <vt:lpstr>Wingdings 3</vt:lpstr>
      <vt:lpstr>Ion</vt:lpstr>
      <vt:lpstr>Comparative Education</vt:lpstr>
      <vt:lpstr>Education in Developed             Countries</vt:lpstr>
      <vt:lpstr>PowerPoint Presentation</vt:lpstr>
      <vt:lpstr>Introducation</vt:lpstr>
      <vt:lpstr>PowerPoint Presentation</vt:lpstr>
      <vt:lpstr>PowerPoint Presentation</vt:lpstr>
      <vt:lpstr>The educational system in japan</vt:lpstr>
      <vt:lpstr>PowerPoint Presentation</vt:lpstr>
      <vt:lpstr>Mi</vt:lpstr>
      <vt:lpstr>Primary and secondary</vt:lpstr>
      <vt:lpstr>PowerPoint Presentation</vt:lpstr>
      <vt:lpstr>PowerPoint Presentation</vt:lpstr>
      <vt:lpstr>PowerPoint Presentation</vt:lpstr>
      <vt:lpstr>PowerPoint Presentation</vt:lpstr>
      <vt:lpstr>PowerPoint Presentation</vt:lpstr>
      <vt:lpstr>School culture</vt:lpstr>
      <vt:lpstr>PowerPoint Presentation</vt:lpstr>
      <vt:lpstr>     THANK YOU           HAVE A PLEASANT DAY                    EVERYONE!                           GODBLESS….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Education</dc:title>
  <dc:creator>Tania Saeed</dc:creator>
  <cp:lastModifiedBy>Tania Saeed</cp:lastModifiedBy>
  <cp:revision>2</cp:revision>
  <dcterms:created xsi:type="dcterms:W3CDTF">2024-06-05T08:01:59Z</dcterms:created>
  <dcterms:modified xsi:type="dcterms:W3CDTF">2024-06-06T03:19:38Z</dcterms:modified>
</cp:coreProperties>
</file>
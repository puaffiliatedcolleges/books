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84" r:id="rId2"/>
  </p:sldMasterIdLst>
  <p:notesMasterIdLst>
    <p:notesMasterId r:id="rId12"/>
  </p:notesMasterIdLst>
  <p:sldIdLst>
    <p:sldId id="1056" r:id="rId3"/>
    <p:sldId id="256" r:id="rId4"/>
    <p:sldId id="1071" r:id="rId5"/>
    <p:sldId id="1105" r:id="rId6"/>
    <p:sldId id="1106" r:id="rId7"/>
    <p:sldId id="1107" r:id="rId8"/>
    <p:sldId id="1108" r:id="rId9"/>
    <p:sldId id="1109" r:id="rId10"/>
    <p:sldId id="1110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23022"/>
    <a:srgbClr val="24604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559" autoAdjust="0"/>
    <p:restoredTop sz="94963" autoAdjust="0"/>
  </p:normalViewPr>
  <p:slideViewPr>
    <p:cSldViewPr snapToGrid="0">
      <p:cViewPr>
        <p:scale>
          <a:sx n="60" d="100"/>
          <a:sy n="60" d="100"/>
        </p:scale>
        <p:origin x="-1038" y="-138"/>
      </p:cViewPr>
      <p:guideLst>
        <p:guide orient="horz" pos="2160"/>
        <p:guide pos="3840"/>
      </p:guideLst>
    </p:cSldViewPr>
  </p:slideViewPr>
  <p:notesTextViewPr>
    <p:cViewPr>
      <p:scale>
        <a:sx n="150" d="100"/>
        <a:sy n="15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041F0B-E64A-4355-99C5-8BA3385D271D}" type="datetimeFigureOut">
              <a:rPr lang="en-US" smtClean="0"/>
              <a:t>1/1/2025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F5E292-06FB-44DC-BB7C-DF202842EA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3627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3294760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259dc25e607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259dc25e607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468425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259dc25e607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259dc25e607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468425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259dc25e607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259dc25e607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468425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259dc25e607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259dc25e607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468425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259dc25e607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259dc25e607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r>
              <a:rPr lang="en-US" dirty="0" smtClean="0"/>
              <a:t>A </a:t>
            </a:r>
            <a:r>
              <a:rPr lang="en-US" b="1" dirty="0" smtClean="0"/>
              <a:t>pipeline</a:t>
            </a:r>
            <a:r>
              <a:rPr lang="en-US" dirty="0" smtClean="0"/>
              <a:t> in </a:t>
            </a:r>
            <a:r>
              <a:rPr lang="en-US" dirty="0" err="1" smtClean="0"/>
              <a:t>scikit</a:t>
            </a:r>
            <a:r>
              <a:rPr lang="en-US" dirty="0" smtClean="0"/>
              <a:t>-learn is a tool for automating machine learning workflows. It combines multiple steps, such as data preprocessing, feature transformation, and model training, into a single object.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468425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259dc25e607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259dc25e607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468425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259dc25e607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259dc25e607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468425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69DDC-A0D7-48BB-B727-162CF63964E3}" type="datetimeFigureOut">
              <a:rPr lang="en-US" smtClean="0"/>
              <a:t>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DD4BE-C717-421A-8997-D80BE809E7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6097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69DDC-A0D7-48BB-B727-162CF63964E3}" type="datetimeFigureOut">
              <a:rPr lang="en-US" smtClean="0"/>
              <a:t>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DD4BE-C717-421A-8997-D80BE809E7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329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69DDC-A0D7-48BB-B727-162CF63964E3}" type="datetimeFigureOut">
              <a:rPr lang="en-US" smtClean="0"/>
              <a:t>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DD4BE-C717-421A-8997-D80BE809E7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82005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69DDC-A0D7-48BB-B727-162CF63964E3}" type="datetimeFigureOut">
              <a:rPr lang="en-US" smtClean="0"/>
              <a:t>1/1/2025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DD4BE-C717-421A-8997-D80BE809E7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2883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69DDC-A0D7-48BB-B727-162CF63964E3}" type="datetimeFigureOut">
              <a:rPr lang="en-US" smtClean="0"/>
              <a:t>1/1/2025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DD4BE-C717-421A-8997-D80BE809E7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3054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69DDC-A0D7-48BB-B727-162CF63964E3}" type="datetimeFigureOut">
              <a:rPr lang="en-US" smtClean="0"/>
              <a:t>1/1/2025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DD4BE-C717-421A-8997-D80BE809E7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00508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69DDC-A0D7-48BB-B727-162CF63964E3}" type="datetimeFigureOut">
              <a:rPr lang="en-US" smtClean="0"/>
              <a:t>1/1/2025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DD4BE-C717-421A-8997-D80BE809E7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5185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69DDC-A0D7-48BB-B727-162CF63964E3}" type="datetimeFigureOut">
              <a:rPr lang="en-US" smtClean="0"/>
              <a:t>1/1/2025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DD4BE-C717-421A-8997-D80BE809E7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2962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69DDC-A0D7-48BB-B727-162CF63964E3}" type="datetimeFigureOut">
              <a:rPr lang="en-US" smtClean="0"/>
              <a:t>1/1/2025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DD4BE-C717-421A-8997-D80BE809E7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4608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69DDC-A0D7-48BB-B727-162CF63964E3}" type="datetimeFigureOut">
              <a:rPr lang="en-US" smtClean="0"/>
              <a:t>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DD4BE-C717-421A-8997-D80BE809E7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5639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69DDC-A0D7-48BB-B727-162CF63964E3}" type="datetimeFigureOut">
              <a:rPr lang="en-US" smtClean="0"/>
              <a:t>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DD4BE-C717-421A-8997-D80BE809E7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47483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69DDC-A0D7-48BB-B727-162CF63964E3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1/1/2025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DD4BE-C717-421A-8997-D80BE809E78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41648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69DDC-A0D7-48BB-B727-162CF63964E3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1/1/2025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DD4BE-C717-421A-8997-D80BE809E78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14725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69DDC-A0D7-48BB-B727-162CF63964E3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1/1/2025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DD4BE-C717-421A-8997-D80BE809E78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2785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69DDC-A0D7-48BB-B727-162CF63964E3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1/1/2025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DD4BE-C717-421A-8997-D80BE809E78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158710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69DDC-A0D7-48BB-B727-162CF63964E3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1/1/2025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DD4BE-C717-421A-8997-D80BE809E78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550365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69DDC-A0D7-48BB-B727-162CF63964E3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1/1/2025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DD4BE-C717-421A-8997-D80BE809E78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062388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69DDC-A0D7-48BB-B727-162CF63964E3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1/1/2025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DD4BE-C717-421A-8997-D80BE809E78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60881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69DDC-A0D7-48BB-B727-162CF63964E3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1/1/2025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DD4BE-C717-421A-8997-D80BE809E78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722254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69DDC-A0D7-48BB-B727-162CF63964E3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1/1/2025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DD4BE-C717-421A-8997-D80BE809E78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399449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69DDC-A0D7-48BB-B727-162CF63964E3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1/1/2025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DD4BE-C717-421A-8997-D80BE809E78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9147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69DDC-A0D7-48BB-B727-162CF63964E3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1/1/2025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DD4BE-C717-421A-8997-D80BE809E78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21222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C69DDC-A0D7-48BB-B727-162CF63964E3}" type="datetimeFigureOut">
              <a:rPr lang="en-US" smtClean="0"/>
              <a:t>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CDD4BE-C717-421A-8997-D80BE809E784}" type="slidenum">
              <a:rPr lang="en-US" smtClean="0"/>
              <a:t>‹#›</a:t>
            </a:fld>
            <a:endParaRPr lang="en-US"/>
          </a:p>
        </p:txBody>
      </p:sp>
      <p:sp>
        <p:nvSpPr>
          <p:cNvPr id="7" name="object 8">
            <a:extLst>
              <a:ext uri="{FF2B5EF4-FFF2-40B4-BE49-F238E27FC236}">
                <a16:creationId xmlns:a16="http://schemas.microsoft.com/office/drawing/2014/main" xmlns="" id="{D0759A2F-F78F-3FF5-0179-0BA53E3CA16A}"/>
              </a:ext>
            </a:extLst>
          </p:cNvPr>
          <p:cNvSpPr/>
          <p:nvPr userDrawn="1"/>
        </p:nvSpPr>
        <p:spPr>
          <a:xfrm>
            <a:off x="2" y="609600"/>
            <a:ext cx="12191999" cy="132080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800" dirty="0"/>
          </a:p>
        </p:txBody>
      </p:sp>
    </p:spTree>
    <p:extLst>
      <p:ext uri="{BB962C8B-B14F-4D97-AF65-F5344CB8AC3E}">
        <p14:creationId xmlns:p14="http://schemas.microsoft.com/office/powerpoint/2010/main" val="13553137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C69DDC-A0D7-48BB-B727-162CF63964E3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1/1/2025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CDD4BE-C717-421A-8997-D80BE809E78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object 8">
            <a:extLst>
              <a:ext uri="{FF2B5EF4-FFF2-40B4-BE49-F238E27FC236}">
                <a16:creationId xmlns:a16="http://schemas.microsoft.com/office/drawing/2014/main" xmlns="" id="{D0759A2F-F78F-3FF5-0179-0BA53E3CA16A}"/>
              </a:ext>
            </a:extLst>
          </p:cNvPr>
          <p:cNvSpPr/>
          <p:nvPr userDrawn="1"/>
        </p:nvSpPr>
        <p:spPr>
          <a:xfrm>
            <a:off x="2" y="609600"/>
            <a:ext cx="12191999" cy="132080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86264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>
            <a:spLocks noGrp="1"/>
          </p:cNvSpPr>
          <p:nvPr>
            <p:ph type="ctrTitle"/>
          </p:nvPr>
        </p:nvSpPr>
        <p:spPr>
          <a:xfrm>
            <a:off x="1332093" y="1303958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lvl="0">
              <a:lnSpc>
                <a:spcPct val="150000"/>
              </a:lnSpc>
              <a:spcBef>
                <a:spcPts val="0"/>
              </a:spcBef>
              <a:buClr>
                <a:schemeClr val="dk1"/>
              </a:buClr>
              <a:buSzPct val="100000"/>
            </a:pPr>
            <a:r>
              <a:rPr lang="en-US" sz="1800" b="1" dirty="0" smtClean="0"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r>
              <a:rPr lang="en-US" sz="1800" dirty="0" smtClean="0"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br>
              <a:rPr lang="en-US" sz="1800" dirty="0" smtClean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700" dirty="0" smtClean="0"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br>
              <a:rPr lang="en-US" sz="2700" dirty="0" smtClean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700" b="1" dirty="0">
                <a:latin typeface="Times New Roman"/>
                <a:ea typeface="Times New Roman"/>
                <a:cs typeface="Times New Roman"/>
                <a:sym typeface="Times New Roman"/>
              </a:rPr>
              <a:t>DATA SCIENCE </a:t>
            </a:r>
            <a:br>
              <a:rPr lang="en-US" sz="2700" b="1" dirty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700" b="1" dirty="0">
                <a:latin typeface="Times New Roman"/>
                <a:ea typeface="Times New Roman"/>
                <a:cs typeface="Times New Roman"/>
                <a:sym typeface="Times New Roman"/>
              </a:rPr>
              <a:t>EL-334</a:t>
            </a:r>
            <a:br>
              <a:rPr lang="en-US" sz="2700" b="1" dirty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700" b="1" dirty="0" smtClean="0">
                <a:latin typeface="Times New Roman"/>
                <a:ea typeface="Times New Roman"/>
                <a:cs typeface="Times New Roman"/>
                <a:sym typeface="Times New Roman"/>
              </a:rPr>
              <a:t>BSIT</a:t>
            </a:r>
            <a:r>
              <a:rPr lang="en-US" sz="1800" dirty="0" smtClean="0"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br>
              <a:rPr lang="en-US" sz="1800" dirty="0" smtClean="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dirty="0"/>
          </a:p>
        </p:txBody>
      </p:sp>
      <p:sp>
        <p:nvSpPr>
          <p:cNvPr id="85" name="Google Shape;85;p1"/>
          <p:cNvSpPr txBox="1"/>
          <p:nvPr/>
        </p:nvSpPr>
        <p:spPr>
          <a:xfrm>
            <a:off x="3172537" y="2737491"/>
            <a:ext cx="5993444" cy="1261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600" b="1" i="0" u="none" strike="noStrike" cap="none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LECTURE </a:t>
            </a:r>
            <a:r>
              <a:rPr lang="en-US" sz="2600" b="1" i="0" u="none" strike="noStrike" cap="none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# </a:t>
            </a:r>
            <a:r>
              <a:rPr lang="en-US" sz="2600" b="1" i="0" u="none" strike="noStrike" cap="none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06</a:t>
            </a:r>
            <a:endParaRPr lang="en-US" sz="2600" b="1" i="0" u="none" strike="noStrike" cap="none" dirty="0" smtClean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>
              <a:buClr>
                <a:srgbClr val="000000"/>
              </a:buClr>
              <a:buSzPts val="1800"/>
            </a:pPr>
            <a:r>
              <a:rPr lang="en-US" sz="2600" b="1" dirty="0" smtClean="0">
                <a:latin typeface="Times New Roman" pitchFamily="18" charset="0"/>
                <a:cs typeface="Times New Roman" pitchFamily="18" charset="0"/>
              </a:rPr>
              <a:t>Scikit Learn </a:t>
            </a:r>
          </a:p>
          <a:p>
            <a:pPr algn="ctr">
              <a:buClr>
                <a:srgbClr val="000000"/>
              </a:buClr>
              <a:buSzPts val="1800"/>
            </a:pPr>
            <a:r>
              <a:rPr lang="en-US" sz="2400" dirty="0" smtClean="0">
                <a:solidFill>
                  <a:schemeClr val="dk1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A </a:t>
            </a:r>
            <a:r>
              <a:rPr lang="en-US" sz="2400" dirty="0">
                <a:solidFill>
                  <a:schemeClr val="dk1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Machine Learning </a:t>
            </a:r>
            <a:r>
              <a:rPr lang="en-US" sz="2400" i="0" u="none" strike="noStrike" cap="none" dirty="0" smtClean="0">
                <a:solidFill>
                  <a:schemeClr val="dk1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Library</a:t>
            </a:r>
          </a:p>
        </p:txBody>
      </p:sp>
      <p:sp>
        <p:nvSpPr>
          <p:cNvPr id="86" name="Google Shape;86;p1"/>
          <p:cNvSpPr txBox="1">
            <a:spLocks noGrp="1"/>
          </p:cNvSpPr>
          <p:nvPr>
            <p:ph type="subTitle" idx="1"/>
          </p:nvPr>
        </p:nvSpPr>
        <p:spPr>
          <a:xfrm>
            <a:off x="3999757" y="5120608"/>
            <a:ext cx="4339004" cy="578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7500" lnSpcReduction="2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800" b="1" dirty="0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US" sz="2800" b="1" dirty="0" smtClean="0"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800" b="1" dirty="0" smtClean="0">
                <a:latin typeface="Times New Roman"/>
                <a:ea typeface="Times New Roman"/>
                <a:cs typeface="Times New Roman"/>
                <a:sym typeface="Times New Roman"/>
              </a:rPr>
              <a:t>Safoora Qurban</a:t>
            </a:r>
            <a:endParaRPr sz="2800" dirty="0"/>
          </a:p>
        </p:txBody>
      </p:sp>
      <p:pic>
        <p:nvPicPr>
          <p:cNvPr id="1026" name="Picture 2" descr="Free Python Logo Icon - Free Download Logos Logo Icons ..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24091" y="1765887"/>
            <a:ext cx="2438400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2" descr="File:Scikit learn logo small.svg - Wikipedia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878" y="1499955"/>
            <a:ext cx="2386659" cy="2475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0900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938"/>
            <a:ext cx="12191998" cy="6850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object 8">
            <a:extLst>
              <a:ext uri="{FF2B5EF4-FFF2-40B4-BE49-F238E27FC236}">
                <a16:creationId xmlns:a16="http://schemas.microsoft.com/office/drawing/2014/main" xmlns="" id="{6CED6318-9AD9-F68F-507F-88DDDB182BB8}"/>
              </a:ext>
            </a:extLst>
          </p:cNvPr>
          <p:cNvSpPr/>
          <p:nvPr/>
        </p:nvSpPr>
        <p:spPr>
          <a:xfrm>
            <a:off x="1" y="5766357"/>
            <a:ext cx="12191998" cy="53418"/>
          </a:xfrm>
          <a:prstGeom prst="rect">
            <a:avLst/>
          </a:pr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 dirty="0">
              <a:highlight>
                <a:srgbClr val="FFFF00"/>
              </a:highlight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xmlns="" id="{FD435CB8-DDC7-C561-8E2D-7B50C159B7B0}"/>
              </a:ext>
            </a:extLst>
          </p:cNvPr>
          <p:cNvSpPr txBox="1">
            <a:spLocks/>
          </p:cNvSpPr>
          <p:nvPr/>
        </p:nvSpPr>
        <p:spPr>
          <a:xfrm>
            <a:off x="1524000" y="865066"/>
            <a:ext cx="9144000" cy="884906"/>
          </a:xfrm>
          <a:prstGeom prst="rect">
            <a:avLst/>
          </a:prstGeom>
          <a:solidFill>
            <a:srgbClr val="123022"/>
          </a:solidFill>
        </p:spPr>
        <p:txBody>
          <a:bodyPr vert="horz" lIns="91440" tIns="45720" rIns="91440" bIns="45720" rtlCol="0" anchor="b">
            <a:normAutofit fontScale="8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b="1" dirty="0" smtClean="0">
                <a:solidFill>
                  <a:srgbClr val="FFFF00"/>
                </a:solidFill>
                <a:latin typeface="Google Sans"/>
              </a:rPr>
              <a:t>Scikit </a:t>
            </a:r>
            <a:r>
              <a:rPr lang="en-US" sz="4400" b="1" dirty="0">
                <a:solidFill>
                  <a:srgbClr val="FFFF00"/>
                </a:solidFill>
                <a:latin typeface="Google Sans"/>
              </a:rPr>
              <a:t>Learn : </a:t>
            </a:r>
            <a:r>
              <a:rPr lang="en-US" sz="4400" b="1" dirty="0">
                <a:solidFill>
                  <a:srgbClr val="FFFF00"/>
                </a:solidFill>
                <a:latin typeface="Google Sans"/>
              </a:rPr>
              <a:t>A </a:t>
            </a:r>
            <a:r>
              <a:rPr lang="en-US" sz="4400" b="1" dirty="0">
                <a:solidFill>
                  <a:srgbClr val="FFFF00"/>
                </a:solidFill>
                <a:latin typeface="Google Sans"/>
              </a:rPr>
              <a:t>Machine </a:t>
            </a:r>
            <a:r>
              <a:rPr lang="en-US" sz="4400" b="1" dirty="0" smtClean="0">
                <a:solidFill>
                  <a:srgbClr val="FFFF00"/>
                </a:solidFill>
                <a:latin typeface="Google Sans"/>
              </a:rPr>
              <a:t>Learning Library</a:t>
            </a:r>
            <a:endParaRPr lang="en-US" sz="4400" b="1" dirty="0">
              <a:solidFill>
                <a:srgbClr val="FFFF00"/>
              </a:solidFill>
              <a:latin typeface="Google Sans"/>
            </a:endParaRPr>
          </a:p>
        </p:txBody>
      </p:sp>
      <p:sp>
        <p:nvSpPr>
          <p:cNvPr id="2" name="AutoShape 2" descr="Python 3.12 - A quality upgrade with many desirable features!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18737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F3060C83-F051-4F0E-ABAD-AA0DFC48B21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xmlns="" id="{83C98ABE-055B-441F-B07E-44F97F083C3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29FDB030-9B49-4CED-8CCD-4D99382388A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3783CA14-24A1-485C-8B30-D6A5D87987A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xmlns="" id="{9A97C86A-04D6-40F7-AE84-31AB43E6A84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xmlns="" id="{FF9F2414-84E8-453E-B1F3-389FDE8192D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xmlns="" id="{3ECA69A1-7536-43AC-85EF-C7106179F5E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3A42210A-7EC0-9044-AB29-B19B8DD30EBD}"/>
              </a:ext>
            </a:extLst>
          </p:cNvPr>
          <p:cNvSpPr txBox="1"/>
          <p:nvPr/>
        </p:nvSpPr>
        <p:spPr>
          <a:xfrm>
            <a:off x="2847576" y="232094"/>
            <a:ext cx="68284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What is </a:t>
            </a:r>
            <a:r>
              <a:rPr lang="en-US" sz="3600" b="1" dirty="0" err="1"/>
              <a:t>scikit</a:t>
            </a:r>
            <a:r>
              <a:rPr lang="en-US" sz="3600" b="1" dirty="0"/>
              <a:t>-learn</a:t>
            </a:r>
            <a:r>
              <a:rPr lang="en-US" sz="3600" b="1" dirty="0" smtClean="0"/>
              <a:t>?</a:t>
            </a:r>
            <a:endParaRPr lang="en-US" sz="3600" b="1" dirty="0">
              <a:solidFill>
                <a:prstClr val="black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70778C02-DAB7-65FA-AB76-FF0250D760FE}"/>
              </a:ext>
            </a:extLst>
          </p:cNvPr>
          <p:cNvSpPr txBox="1"/>
          <p:nvPr/>
        </p:nvSpPr>
        <p:spPr>
          <a:xfrm>
            <a:off x="537663" y="1256098"/>
            <a:ext cx="1098693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200" b="1" dirty="0" err="1">
                <a:latin typeface="Verdana" pitchFamily="34" charset="0"/>
                <a:ea typeface="Verdana" pitchFamily="34" charset="0"/>
              </a:rPr>
              <a:t>scikit</a:t>
            </a:r>
            <a:r>
              <a:rPr lang="en-US" sz="2200" b="1" dirty="0">
                <a:latin typeface="Verdana" pitchFamily="34" charset="0"/>
                <a:ea typeface="Verdana" pitchFamily="34" charset="0"/>
              </a:rPr>
              <a:t>-learn</a:t>
            </a:r>
            <a:r>
              <a:rPr lang="en-US" sz="2200" dirty="0">
                <a:latin typeface="Verdana" pitchFamily="34" charset="0"/>
                <a:ea typeface="Verdana" pitchFamily="34" charset="0"/>
              </a:rPr>
              <a:t> is one of the most widely used Python libraries for machine learning. </a:t>
            </a:r>
            <a:endParaRPr lang="en-US" sz="2200" dirty="0" smtClean="0">
              <a:latin typeface="Verdana" pitchFamily="34" charset="0"/>
              <a:ea typeface="Verdana" pitchFamily="34" charset="0"/>
            </a:endParaRPr>
          </a:p>
          <a:p>
            <a:pPr marL="342900" indent="-3429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200" dirty="0" smtClean="0">
                <a:latin typeface="Verdana" pitchFamily="34" charset="0"/>
                <a:ea typeface="Verdana" pitchFamily="34" charset="0"/>
              </a:rPr>
              <a:t>Built </a:t>
            </a:r>
            <a:r>
              <a:rPr lang="en-US" sz="2200" dirty="0">
                <a:latin typeface="Verdana" pitchFamily="34" charset="0"/>
                <a:ea typeface="Verdana" pitchFamily="34" charset="0"/>
              </a:rPr>
              <a:t>on top of NumPy, </a:t>
            </a:r>
            <a:r>
              <a:rPr lang="en-US" sz="2200" dirty="0" err="1">
                <a:latin typeface="Verdana" pitchFamily="34" charset="0"/>
                <a:ea typeface="Verdana" pitchFamily="34" charset="0"/>
              </a:rPr>
              <a:t>SciPy</a:t>
            </a:r>
            <a:r>
              <a:rPr lang="en-US" sz="2200" dirty="0">
                <a:latin typeface="Verdana" pitchFamily="34" charset="0"/>
                <a:ea typeface="Verdana" pitchFamily="34" charset="0"/>
              </a:rPr>
              <a:t>, and Matplotlib, it provides simple and efficient tools for a range of machine learning tasks such as </a:t>
            </a:r>
            <a:r>
              <a:rPr lang="en-US" sz="2200" i="1" dirty="0">
                <a:latin typeface="Verdana" pitchFamily="34" charset="0"/>
                <a:ea typeface="Verdana" pitchFamily="34" charset="0"/>
              </a:rPr>
              <a:t>classification, regression, clustering, dimensionality reduction</a:t>
            </a:r>
            <a:r>
              <a:rPr lang="en-US" sz="2200" dirty="0">
                <a:latin typeface="Verdana" pitchFamily="34" charset="0"/>
                <a:ea typeface="Verdana" pitchFamily="34" charset="0"/>
              </a:rPr>
              <a:t>, and </a:t>
            </a:r>
            <a:r>
              <a:rPr lang="en-US" sz="2200" i="1" dirty="0">
                <a:latin typeface="Verdana" pitchFamily="34" charset="0"/>
                <a:ea typeface="Verdana" pitchFamily="34" charset="0"/>
              </a:rPr>
              <a:t>preprocessing</a:t>
            </a:r>
            <a:r>
              <a:rPr lang="en-US" sz="2200" dirty="0" smtClean="0">
                <a:latin typeface="Verdana" pitchFamily="34" charset="0"/>
                <a:ea typeface="Verdana" pitchFamily="34" charset="0"/>
              </a:rPr>
              <a:t>.</a:t>
            </a:r>
          </a:p>
          <a:p>
            <a:pPr marL="342900" indent="-3429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200" dirty="0" smtClean="0">
                <a:latin typeface="Verdana" pitchFamily="34" charset="0"/>
                <a:ea typeface="Verdana" pitchFamily="34" charset="0"/>
              </a:rPr>
              <a:t>It </a:t>
            </a:r>
            <a:r>
              <a:rPr lang="en-US" sz="2200" dirty="0">
                <a:latin typeface="Verdana" pitchFamily="34" charset="0"/>
                <a:ea typeface="Verdana" pitchFamily="34" charset="0"/>
              </a:rPr>
              <a:t>is popular for its simplicity, consistency, and comprehensive documentation, making it a preferred choice for both beginners and professionals in data science.</a:t>
            </a:r>
            <a:endParaRPr lang="en-US" sz="2200" dirty="0">
              <a:latin typeface="Verdana" pitchFamily="34" charset="0"/>
              <a:ea typeface="Verdana" pitchFamily="34" charset="0"/>
            </a:endParaRPr>
          </a:p>
        </p:txBody>
      </p:sp>
      <p:pic>
        <p:nvPicPr>
          <p:cNvPr id="15" name="Picture 2" descr="File:Scikit learn logo small.svg - Wikipedia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9025" y="18564"/>
            <a:ext cx="952416" cy="9876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098667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F3060C83-F051-4F0E-ABAD-AA0DFC48B21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xmlns="" id="{83C98ABE-055B-441F-B07E-44F97F083C3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29FDB030-9B49-4CED-8CCD-4D99382388A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3783CA14-24A1-485C-8B30-D6A5D87987A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xmlns="" id="{9A97C86A-04D6-40F7-AE84-31AB43E6A84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xmlns="" id="{FF9F2414-84E8-453E-B1F3-389FDE8192D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xmlns="" id="{3ECA69A1-7536-43AC-85EF-C7106179F5E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3A42210A-7EC0-9044-AB29-B19B8DD30EBD}"/>
              </a:ext>
            </a:extLst>
          </p:cNvPr>
          <p:cNvSpPr txBox="1"/>
          <p:nvPr/>
        </p:nvSpPr>
        <p:spPr>
          <a:xfrm>
            <a:off x="2847576" y="232094"/>
            <a:ext cx="68284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 err="1"/>
              <a:t>scikit</a:t>
            </a:r>
            <a:r>
              <a:rPr lang="en-US" sz="3600" b="1" dirty="0"/>
              <a:t>-learn </a:t>
            </a:r>
            <a:r>
              <a:rPr lang="en-US" sz="3600" b="1" dirty="0" smtClean="0"/>
              <a:t>Features</a:t>
            </a:r>
            <a:endParaRPr lang="en-US" sz="3600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70778C02-DAB7-65FA-AB76-FF0250D760FE}"/>
              </a:ext>
            </a:extLst>
          </p:cNvPr>
          <p:cNvSpPr txBox="1"/>
          <p:nvPr/>
        </p:nvSpPr>
        <p:spPr>
          <a:xfrm>
            <a:off x="378371" y="1064812"/>
            <a:ext cx="11477297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itchFamily="34" charset="0"/>
              <a:buChar char="•"/>
            </a:pPr>
            <a:r>
              <a:rPr lang="en-US" sz="2200" b="1" dirty="0" smtClean="0">
                <a:latin typeface="Verdana" pitchFamily="34" charset="0"/>
                <a:ea typeface="Verdana" pitchFamily="34" charset="0"/>
              </a:rPr>
              <a:t>Machine </a:t>
            </a:r>
            <a:r>
              <a:rPr lang="en-US" sz="2200" b="1" dirty="0">
                <a:latin typeface="Verdana" pitchFamily="34" charset="0"/>
                <a:ea typeface="Verdana" pitchFamily="34" charset="0"/>
              </a:rPr>
              <a:t>Learning Models</a:t>
            </a:r>
            <a:r>
              <a:rPr lang="en-US" sz="2200" dirty="0">
                <a:latin typeface="Verdana" pitchFamily="34" charset="0"/>
                <a:ea typeface="Verdana" pitchFamily="34" charset="0"/>
              </a:rPr>
              <a:t>: Offers implementations for both supervised and unsupervised learning algorithms like Linear Regression, Support Vector Machines (SVM), Decision Trees, K-Means Clustering, and Principal Component Analysis (PCA</a:t>
            </a:r>
            <a:r>
              <a:rPr lang="en-US" sz="2200" dirty="0" smtClean="0">
                <a:latin typeface="Verdana" pitchFamily="34" charset="0"/>
                <a:ea typeface="Verdana" pitchFamily="34" charset="0"/>
              </a:rPr>
              <a:t>).</a:t>
            </a:r>
          </a:p>
          <a:p>
            <a:pPr marL="342900" lvl="0" indent="-342900">
              <a:buFont typeface="Arial" pitchFamily="34" charset="0"/>
              <a:buChar char="•"/>
            </a:pPr>
            <a:endParaRPr lang="en-US" sz="2200" dirty="0">
              <a:latin typeface="Verdana" pitchFamily="34" charset="0"/>
              <a:ea typeface="Verdana" pitchFamily="34" charset="0"/>
            </a:endParaRPr>
          </a:p>
          <a:p>
            <a:pPr marL="342900" lvl="0" indent="-342900">
              <a:buFont typeface="Arial" pitchFamily="34" charset="0"/>
              <a:buChar char="•"/>
            </a:pPr>
            <a:r>
              <a:rPr lang="en-US" sz="2200" b="1" dirty="0">
                <a:latin typeface="Verdana" pitchFamily="34" charset="0"/>
                <a:ea typeface="Verdana" pitchFamily="34" charset="0"/>
              </a:rPr>
              <a:t>Preprocessing</a:t>
            </a:r>
            <a:r>
              <a:rPr lang="en-US" sz="2200" dirty="0">
                <a:latin typeface="Verdana" pitchFamily="34" charset="0"/>
                <a:ea typeface="Verdana" pitchFamily="34" charset="0"/>
              </a:rPr>
              <a:t>: Tools for scaling, encoding, imputing missing values, and feature selection</a:t>
            </a:r>
            <a:r>
              <a:rPr lang="en-US" sz="2200" dirty="0" smtClean="0">
                <a:latin typeface="Verdana" pitchFamily="34" charset="0"/>
                <a:ea typeface="Verdana" pitchFamily="34" charset="0"/>
              </a:rPr>
              <a:t>.</a:t>
            </a:r>
          </a:p>
          <a:p>
            <a:pPr marL="342900" lvl="0" indent="-342900">
              <a:buFont typeface="Arial" pitchFamily="34" charset="0"/>
              <a:buChar char="•"/>
            </a:pPr>
            <a:endParaRPr lang="en-US" sz="2200" dirty="0">
              <a:latin typeface="Verdana" pitchFamily="34" charset="0"/>
              <a:ea typeface="Verdana" pitchFamily="34" charset="0"/>
            </a:endParaRPr>
          </a:p>
          <a:p>
            <a:pPr marL="342900" lvl="0" indent="-342900">
              <a:buFont typeface="Arial" pitchFamily="34" charset="0"/>
              <a:buChar char="•"/>
            </a:pPr>
            <a:r>
              <a:rPr lang="en-US" sz="2200" b="1" dirty="0">
                <a:latin typeface="Verdana" pitchFamily="34" charset="0"/>
                <a:ea typeface="Verdana" pitchFamily="34" charset="0"/>
              </a:rPr>
              <a:t>Model Evaluation</a:t>
            </a:r>
            <a:r>
              <a:rPr lang="en-US" sz="2200" dirty="0">
                <a:latin typeface="Verdana" pitchFamily="34" charset="0"/>
                <a:ea typeface="Verdana" pitchFamily="34" charset="0"/>
              </a:rPr>
              <a:t>: Includes metrics and tools for model evaluation such as accuracy, precision, recall, F1-score, and R-squared</a:t>
            </a:r>
            <a:r>
              <a:rPr lang="en-US" sz="2200" dirty="0" smtClean="0">
                <a:latin typeface="Verdana" pitchFamily="34" charset="0"/>
                <a:ea typeface="Verdana" pitchFamily="34" charset="0"/>
              </a:rPr>
              <a:t>.</a:t>
            </a:r>
          </a:p>
          <a:p>
            <a:pPr marL="342900" lvl="0" indent="-342900">
              <a:buFont typeface="Arial" pitchFamily="34" charset="0"/>
              <a:buChar char="•"/>
            </a:pPr>
            <a:endParaRPr lang="en-US" sz="2200" dirty="0">
              <a:latin typeface="Verdana" pitchFamily="34" charset="0"/>
              <a:ea typeface="Verdana" pitchFamily="34" charset="0"/>
            </a:endParaRPr>
          </a:p>
          <a:p>
            <a:pPr marL="342900" lvl="0" indent="-342900">
              <a:buFont typeface="Arial" pitchFamily="34" charset="0"/>
              <a:buChar char="•"/>
            </a:pPr>
            <a:r>
              <a:rPr lang="en-US" sz="2200" b="1" dirty="0" err="1">
                <a:latin typeface="Verdana" pitchFamily="34" charset="0"/>
                <a:ea typeface="Verdana" pitchFamily="34" charset="0"/>
              </a:rPr>
              <a:t>Hyperparameter</a:t>
            </a:r>
            <a:r>
              <a:rPr lang="en-US" sz="2200" b="1" dirty="0">
                <a:latin typeface="Verdana" pitchFamily="34" charset="0"/>
                <a:ea typeface="Verdana" pitchFamily="34" charset="0"/>
              </a:rPr>
              <a:t> Tuning</a:t>
            </a:r>
            <a:r>
              <a:rPr lang="en-US" sz="2200" dirty="0">
                <a:latin typeface="Verdana" pitchFamily="34" charset="0"/>
                <a:ea typeface="Verdana" pitchFamily="34" charset="0"/>
              </a:rPr>
              <a:t>: Supports </a:t>
            </a:r>
            <a:r>
              <a:rPr lang="en-US" sz="2200" dirty="0" err="1">
                <a:latin typeface="Verdana" pitchFamily="34" charset="0"/>
                <a:ea typeface="Verdana" pitchFamily="34" charset="0"/>
              </a:rPr>
              <a:t>hyperparameter</a:t>
            </a:r>
            <a:r>
              <a:rPr lang="en-US" sz="2200" dirty="0">
                <a:latin typeface="Verdana" pitchFamily="34" charset="0"/>
                <a:ea typeface="Verdana" pitchFamily="34" charset="0"/>
              </a:rPr>
              <a:t> optimization through grid search and random search methods</a:t>
            </a:r>
            <a:r>
              <a:rPr lang="en-US" sz="2200" dirty="0" smtClean="0">
                <a:latin typeface="Verdana" pitchFamily="34" charset="0"/>
                <a:ea typeface="Verdana" pitchFamily="34" charset="0"/>
              </a:rPr>
              <a:t>.</a:t>
            </a:r>
          </a:p>
          <a:p>
            <a:pPr marL="342900" lvl="0" indent="-342900">
              <a:buFont typeface="Arial" pitchFamily="34" charset="0"/>
              <a:buChar char="•"/>
            </a:pPr>
            <a:endParaRPr lang="en-US" sz="2200" dirty="0">
              <a:latin typeface="Verdana" pitchFamily="34" charset="0"/>
              <a:ea typeface="Verdana" pitchFamily="34" charset="0"/>
            </a:endParaRPr>
          </a:p>
          <a:p>
            <a:pPr marL="342900" lvl="0" indent="-342900">
              <a:buFont typeface="Arial" pitchFamily="34" charset="0"/>
              <a:buChar char="•"/>
            </a:pPr>
            <a:r>
              <a:rPr lang="en-US" sz="2200" b="1" dirty="0">
                <a:latin typeface="Verdana" pitchFamily="34" charset="0"/>
                <a:ea typeface="Verdana" pitchFamily="34" charset="0"/>
              </a:rPr>
              <a:t>Pipelines</a:t>
            </a:r>
            <a:r>
              <a:rPr lang="en-US" sz="2200" dirty="0">
                <a:latin typeface="Verdana" pitchFamily="34" charset="0"/>
                <a:ea typeface="Verdana" pitchFamily="34" charset="0"/>
              </a:rPr>
              <a:t>: Automates workflows, combining preprocessing and model training into a single object.</a:t>
            </a:r>
          </a:p>
        </p:txBody>
      </p:sp>
      <p:pic>
        <p:nvPicPr>
          <p:cNvPr id="15" name="Picture 2" descr="File:Scikit learn logo small.svg - Wikipedia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9025" y="18564"/>
            <a:ext cx="952416" cy="9876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27644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F3060C83-F051-4F0E-ABAD-AA0DFC48B21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xmlns="" id="{83C98ABE-055B-441F-B07E-44F97F083C3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29FDB030-9B49-4CED-8CCD-4D99382388A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3783CA14-24A1-485C-8B30-D6A5D87987A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xmlns="" id="{9A97C86A-04D6-40F7-AE84-31AB43E6A84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xmlns="" id="{FF9F2414-84E8-453E-B1F3-389FDE8192D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xmlns="" id="{3ECA69A1-7536-43AC-85EF-C7106179F5E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3A42210A-7EC0-9044-AB29-B19B8DD30EBD}"/>
              </a:ext>
            </a:extLst>
          </p:cNvPr>
          <p:cNvSpPr txBox="1"/>
          <p:nvPr/>
        </p:nvSpPr>
        <p:spPr>
          <a:xfrm>
            <a:off x="2847576" y="232094"/>
            <a:ext cx="68284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Applications in Data </a:t>
            </a:r>
            <a:r>
              <a:rPr lang="en-US" sz="3600" b="1" dirty="0" smtClean="0"/>
              <a:t>Science</a:t>
            </a:r>
            <a:endParaRPr lang="en-US" sz="3600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70778C02-DAB7-65FA-AB76-FF0250D760FE}"/>
              </a:ext>
            </a:extLst>
          </p:cNvPr>
          <p:cNvSpPr txBox="1"/>
          <p:nvPr/>
        </p:nvSpPr>
        <p:spPr>
          <a:xfrm>
            <a:off x="537663" y="1256098"/>
            <a:ext cx="11018461" cy="263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200" dirty="0" smtClean="0">
                <a:latin typeface="Verdana" pitchFamily="34" charset="0"/>
                <a:ea typeface="Verdana" pitchFamily="34" charset="0"/>
              </a:rPr>
              <a:t>•</a:t>
            </a:r>
            <a:r>
              <a:rPr lang="en-US" sz="2200" dirty="0">
                <a:latin typeface="Verdana" pitchFamily="34" charset="0"/>
                <a:ea typeface="Verdana" pitchFamily="34" charset="0"/>
              </a:rPr>
              <a:t>	Predictive modeling (e.g., predicting housing prices or customer churn).</a:t>
            </a:r>
          </a:p>
          <a:p>
            <a:pPr algn="just">
              <a:lnSpc>
                <a:spcPct val="150000"/>
              </a:lnSpc>
            </a:pPr>
            <a:r>
              <a:rPr lang="en-US" sz="2200" dirty="0">
                <a:latin typeface="Verdana" pitchFamily="34" charset="0"/>
                <a:ea typeface="Verdana" pitchFamily="34" charset="0"/>
              </a:rPr>
              <a:t>•	Exploratory data analysis (EDA) through clustering and </a:t>
            </a:r>
            <a:r>
              <a:rPr lang="en-US" sz="2200" dirty="0" smtClean="0">
                <a:latin typeface="Verdana" pitchFamily="34" charset="0"/>
                <a:ea typeface="Verdana" pitchFamily="34" charset="0"/>
              </a:rPr>
              <a:t>dimensionality   </a:t>
            </a:r>
          </a:p>
          <a:p>
            <a:pPr algn="just">
              <a:lnSpc>
                <a:spcPct val="150000"/>
              </a:lnSpc>
            </a:pPr>
            <a:r>
              <a:rPr lang="en-US" sz="2200" dirty="0">
                <a:latin typeface="Verdana" pitchFamily="34" charset="0"/>
                <a:ea typeface="Verdana" pitchFamily="34" charset="0"/>
              </a:rPr>
              <a:t> </a:t>
            </a:r>
            <a:r>
              <a:rPr lang="en-US" sz="2200" dirty="0" smtClean="0">
                <a:latin typeface="Verdana" pitchFamily="34" charset="0"/>
                <a:ea typeface="Verdana" pitchFamily="34" charset="0"/>
              </a:rPr>
              <a:t>    reduction</a:t>
            </a:r>
            <a:r>
              <a:rPr lang="en-US" sz="2200" dirty="0">
                <a:latin typeface="Verdana" pitchFamily="34" charset="0"/>
                <a:ea typeface="Verdana" pitchFamily="34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2200" dirty="0">
                <a:latin typeface="Verdana" pitchFamily="34" charset="0"/>
                <a:ea typeface="Verdana" pitchFamily="34" charset="0"/>
              </a:rPr>
              <a:t>•	Automating machine learning workflows using pipelines.</a:t>
            </a:r>
          </a:p>
          <a:p>
            <a:pPr algn="just">
              <a:lnSpc>
                <a:spcPct val="150000"/>
              </a:lnSpc>
            </a:pPr>
            <a:r>
              <a:rPr lang="en-US" sz="2200" dirty="0">
                <a:latin typeface="Verdana" pitchFamily="34" charset="0"/>
                <a:ea typeface="Verdana" pitchFamily="34" charset="0"/>
              </a:rPr>
              <a:t>•	Evaluating model performance with statistical metrics.</a:t>
            </a:r>
          </a:p>
        </p:txBody>
      </p:sp>
      <p:pic>
        <p:nvPicPr>
          <p:cNvPr id="15" name="Picture 2" descr="File:Scikit learn logo small.svg - Wikipedia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70857" y="0"/>
            <a:ext cx="952416" cy="9876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332020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F3060C83-F051-4F0E-ABAD-AA0DFC48B21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xmlns="" id="{83C98ABE-055B-441F-B07E-44F97F083C3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29FDB030-9B49-4CED-8CCD-4D99382388A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3783CA14-24A1-485C-8B30-D6A5D87987A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xmlns="" id="{9A97C86A-04D6-40F7-AE84-31AB43E6A84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xmlns="" id="{FF9F2414-84E8-453E-B1F3-389FDE8192D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xmlns="" id="{3ECA69A1-7536-43AC-85EF-C7106179F5E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3A42210A-7EC0-9044-AB29-B19B8DD30EBD}"/>
              </a:ext>
            </a:extLst>
          </p:cNvPr>
          <p:cNvSpPr txBox="1"/>
          <p:nvPr/>
        </p:nvSpPr>
        <p:spPr>
          <a:xfrm>
            <a:off x="2847576" y="232094"/>
            <a:ext cx="68284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Key Design Principles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70778C02-DAB7-65FA-AB76-FF0250D760FE}"/>
              </a:ext>
            </a:extLst>
          </p:cNvPr>
          <p:cNvSpPr txBox="1"/>
          <p:nvPr/>
        </p:nvSpPr>
        <p:spPr>
          <a:xfrm>
            <a:off x="537663" y="1256098"/>
            <a:ext cx="11191882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50000"/>
              </a:lnSpc>
              <a:buAutoNum type="arabicPeriod"/>
            </a:pPr>
            <a:r>
              <a:rPr lang="en-US" sz="2200" b="1" dirty="0" smtClean="0">
                <a:latin typeface="Verdana" pitchFamily="34" charset="0"/>
                <a:ea typeface="Verdana" pitchFamily="34" charset="0"/>
              </a:rPr>
              <a:t>Simplicity </a:t>
            </a:r>
            <a:r>
              <a:rPr lang="en-US" sz="2200" b="1" dirty="0">
                <a:latin typeface="Verdana" pitchFamily="34" charset="0"/>
                <a:ea typeface="Verdana" pitchFamily="34" charset="0"/>
              </a:rPr>
              <a:t>and </a:t>
            </a:r>
            <a:r>
              <a:rPr lang="en-US" sz="2200" b="1" dirty="0" smtClean="0">
                <a:latin typeface="Verdana" pitchFamily="34" charset="0"/>
                <a:ea typeface="Verdana" pitchFamily="34" charset="0"/>
              </a:rPr>
              <a:t>Consistency</a:t>
            </a:r>
          </a:p>
          <a:p>
            <a:pPr marL="457200" indent="-4572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200" dirty="0" err="1" smtClean="0">
                <a:latin typeface="Verdana" pitchFamily="34" charset="0"/>
                <a:ea typeface="Verdana" pitchFamily="34" charset="0"/>
              </a:rPr>
              <a:t>scikit</a:t>
            </a:r>
            <a:r>
              <a:rPr lang="en-US" sz="2200" dirty="0" smtClean="0">
                <a:latin typeface="Verdana" pitchFamily="34" charset="0"/>
                <a:ea typeface="Verdana" pitchFamily="34" charset="0"/>
              </a:rPr>
              <a:t>-learn </a:t>
            </a:r>
            <a:r>
              <a:rPr lang="en-US" sz="2200" dirty="0">
                <a:latin typeface="Verdana" pitchFamily="34" charset="0"/>
                <a:ea typeface="Verdana" pitchFamily="34" charset="0"/>
              </a:rPr>
              <a:t>uses a unified API design across all its modules, ensuring that the syntax for different tasks (like training a model or preprocessing data) remains </a:t>
            </a:r>
            <a:r>
              <a:rPr lang="en-US" sz="2200" dirty="0" smtClean="0">
                <a:latin typeface="Verdana" pitchFamily="34" charset="0"/>
                <a:ea typeface="Verdana" pitchFamily="34" charset="0"/>
              </a:rPr>
              <a:t>consistent.</a:t>
            </a:r>
          </a:p>
          <a:p>
            <a:pPr marL="457200" indent="-4572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200" dirty="0" smtClean="0">
                <a:latin typeface="Verdana" pitchFamily="34" charset="0"/>
                <a:ea typeface="Verdana" pitchFamily="34" charset="0"/>
              </a:rPr>
              <a:t>Example</a:t>
            </a:r>
            <a:r>
              <a:rPr lang="en-US" sz="2200" dirty="0">
                <a:latin typeface="Verdana" pitchFamily="34" charset="0"/>
                <a:ea typeface="Verdana" pitchFamily="34" charset="0"/>
              </a:rPr>
              <a:t>: The .</a:t>
            </a:r>
            <a:r>
              <a:rPr lang="en-US" sz="2200" b="1" dirty="0">
                <a:latin typeface="Verdana" pitchFamily="34" charset="0"/>
                <a:ea typeface="Verdana" pitchFamily="34" charset="0"/>
              </a:rPr>
              <a:t>fit() </a:t>
            </a:r>
            <a:r>
              <a:rPr lang="en-US" sz="2200" dirty="0">
                <a:latin typeface="Verdana" pitchFamily="34" charset="0"/>
                <a:ea typeface="Verdana" pitchFamily="34" charset="0"/>
              </a:rPr>
              <a:t>method is used to train models, while </a:t>
            </a:r>
            <a:r>
              <a:rPr lang="en-US" sz="2200" b="1" dirty="0">
                <a:latin typeface="Verdana" pitchFamily="34" charset="0"/>
                <a:ea typeface="Verdana" pitchFamily="34" charset="0"/>
              </a:rPr>
              <a:t>.predict() </a:t>
            </a:r>
            <a:r>
              <a:rPr lang="en-US" sz="2200" dirty="0">
                <a:latin typeface="Verdana" pitchFamily="34" charset="0"/>
                <a:ea typeface="Verdana" pitchFamily="34" charset="0"/>
              </a:rPr>
              <a:t>is used for making predictions, regardless of the algorithm.</a:t>
            </a:r>
          </a:p>
        </p:txBody>
      </p:sp>
      <p:pic>
        <p:nvPicPr>
          <p:cNvPr id="15" name="Picture 2" descr="File:Scikit learn logo small.svg - Wikipedia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70857" y="0"/>
            <a:ext cx="952416" cy="9876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22384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F3060C83-F051-4F0E-ABAD-AA0DFC48B21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xmlns="" id="{83C98ABE-055B-441F-B07E-44F97F083C3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29FDB030-9B49-4CED-8CCD-4D99382388A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3783CA14-24A1-485C-8B30-D6A5D87987A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xmlns="" id="{9A97C86A-04D6-40F7-AE84-31AB43E6A84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xmlns="" id="{FF9F2414-84E8-453E-B1F3-389FDE8192D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xmlns="" id="{3ECA69A1-7536-43AC-85EF-C7106179F5E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3A42210A-7EC0-9044-AB29-B19B8DD30EBD}"/>
              </a:ext>
            </a:extLst>
          </p:cNvPr>
          <p:cNvSpPr txBox="1"/>
          <p:nvPr/>
        </p:nvSpPr>
        <p:spPr>
          <a:xfrm>
            <a:off x="2847576" y="232094"/>
            <a:ext cx="68284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Key Design Principles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70778C02-DAB7-65FA-AB76-FF0250D760FE}"/>
              </a:ext>
            </a:extLst>
          </p:cNvPr>
          <p:cNvSpPr txBox="1"/>
          <p:nvPr/>
        </p:nvSpPr>
        <p:spPr>
          <a:xfrm>
            <a:off x="537663" y="1256098"/>
            <a:ext cx="11018461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200" b="1" dirty="0">
                <a:latin typeface="Verdana" pitchFamily="34" charset="0"/>
                <a:ea typeface="Verdana" pitchFamily="34" charset="0"/>
              </a:rPr>
              <a:t>2.	Reusability Through </a:t>
            </a:r>
            <a:r>
              <a:rPr lang="en-US" sz="2200" b="1" dirty="0" smtClean="0">
                <a:latin typeface="Verdana" pitchFamily="34" charset="0"/>
                <a:ea typeface="Verdana" pitchFamily="34" charset="0"/>
              </a:rPr>
              <a:t>Pipeline</a:t>
            </a:r>
          </a:p>
          <a:p>
            <a:pPr marL="457200" indent="-4572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200" dirty="0" smtClean="0">
                <a:latin typeface="Verdana" pitchFamily="34" charset="0"/>
                <a:ea typeface="Verdana" pitchFamily="34" charset="0"/>
              </a:rPr>
              <a:t>The library allows combining multiple steps (e.g., scaling, feature selection, model training) into a single pipeline using the Pipeline object.</a:t>
            </a:r>
          </a:p>
          <a:p>
            <a:pPr marL="457200" indent="-4572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200" dirty="0" smtClean="0">
                <a:latin typeface="Verdana" pitchFamily="34" charset="0"/>
                <a:ea typeface="Verdana" pitchFamily="34" charset="0"/>
              </a:rPr>
              <a:t>o</a:t>
            </a:r>
            <a:r>
              <a:rPr lang="en-US" sz="2200" dirty="0">
                <a:latin typeface="Verdana" pitchFamily="34" charset="0"/>
                <a:ea typeface="Verdana" pitchFamily="34" charset="0"/>
              </a:rPr>
              <a:t>	This approach promotes cleaner code and ensures consistent application of preprocessing steps during training and testing.</a:t>
            </a:r>
          </a:p>
          <a:p>
            <a:pPr marL="457200" indent="-4572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200" dirty="0">
                <a:latin typeface="Verdana" pitchFamily="34" charset="0"/>
                <a:ea typeface="Verdana" pitchFamily="34" charset="0"/>
              </a:rPr>
              <a:t>o	Example</a:t>
            </a:r>
            <a:r>
              <a:rPr lang="en-US" sz="2200" dirty="0" smtClean="0">
                <a:latin typeface="Verdana" pitchFamily="34" charset="0"/>
                <a:ea typeface="Verdana" pitchFamily="34" charset="0"/>
              </a:rPr>
              <a:t>:</a:t>
            </a:r>
          </a:p>
          <a:p>
            <a:r>
              <a:rPr lang="en-US" dirty="0"/>
              <a:t>from </a:t>
            </a:r>
            <a:r>
              <a:rPr lang="en-US" dirty="0" err="1"/>
              <a:t>sklearn.pipeline</a:t>
            </a:r>
            <a:r>
              <a:rPr lang="en-US" dirty="0"/>
              <a:t> import Pipeline</a:t>
            </a:r>
          </a:p>
          <a:p>
            <a:r>
              <a:rPr lang="en-US" dirty="0"/>
              <a:t>from </a:t>
            </a:r>
            <a:r>
              <a:rPr lang="en-US" dirty="0" err="1"/>
              <a:t>sklearn.preprocessing</a:t>
            </a:r>
            <a:r>
              <a:rPr lang="en-US" dirty="0"/>
              <a:t> import </a:t>
            </a:r>
            <a:r>
              <a:rPr lang="en-US" dirty="0" err="1"/>
              <a:t>StandardScaler</a:t>
            </a:r>
            <a:endParaRPr lang="en-US" dirty="0"/>
          </a:p>
          <a:p>
            <a:r>
              <a:rPr lang="en-US" dirty="0"/>
              <a:t>from </a:t>
            </a:r>
            <a:r>
              <a:rPr lang="en-US" dirty="0" err="1"/>
              <a:t>sklearn.linear_model</a:t>
            </a:r>
            <a:r>
              <a:rPr lang="en-US" dirty="0"/>
              <a:t> import </a:t>
            </a:r>
            <a:r>
              <a:rPr lang="en-US" dirty="0" err="1"/>
              <a:t>LogisticRegression</a:t>
            </a:r>
            <a:endParaRPr lang="en-US" dirty="0"/>
          </a:p>
          <a:p>
            <a:r>
              <a:rPr lang="en-US" dirty="0"/>
              <a:t> </a:t>
            </a:r>
          </a:p>
          <a:p>
            <a:r>
              <a:rPr lang="en-US" dirty="0"/>
              <a:t>pipeline = Pipeline([</a:t>
            </a:r>
          </a:p>
          <a:p>
            <a:r>
              <a:rPr lang="en-US" dirty="0"/>
              <a:t>    ('</a:t>
            </a:r>
            <a:r>
              <a:rPr lang="en-US" dirty="0" err="1"/>
              <a:t>scaler</a:t>
            </a:r>
            <a:r>
              <a:rPr lang="en-US" dirty="0"/>
              <a:t>', </a:t>
            </a:r>
            <a:r>
              <a:rPr lang="en-US" dirty="0" err="1"/>
              <a:t>StandardScaler</a:t>
            </a:r>
            <a:r>
              <a:rPr lang="en-US" dirty="0"/>
              <a:t>()),</a:t>
            </a:r>
          </a:p>
          <a:p>
            <a:r>
              <a:rPr lang="en-US" dirty="0"/>
              <a:t>    ('classifier', </a:t>
            </a:r>
            <a:r>
              <a:rPr lang="en-US" dirty="0" err="1"/>
              <a:t>LogisticRegression</a:t>
            </a:r>
            <a:r>
              <a:rPr lang="en-US" dirty="0"/>
              <a:t>())</a:t>
            </a:r>
          </a:p>
          <a:p>
            <a:r>
              <a:rPr lang="en-US" dirty="0"/>
              <a:t>])</a:t>
            </a:r>
          </a:p>
          <a:p>
            <a:r>
              <a:rPr lang="en-US" dirty="0" err="1"/>
              <a:t>pipeline.fit</a:t>
            </a:r>
            <a:r>
              <a:rPr lang="en-US" dirty="0"/>
              <a:t>(</a:t>
            </a:r>
            <a:r>
              <a:rPr lang="en-US" dirty="0" err="1"/>
              <a:t>X_train</a:t>
            </a:r>
            <a:r>
              <a:rPr lang="en-US" dirty="0"/>
              <a:t>, </a:t>
            </a:r>
            <a:r>
              <a:rPr lang="en-US" dirty="0" err="1"/>
              <a:t>y_train</a:t>
            </a:r>
            <a:r>
              <a:rPr lang="en-US" dirty="0" smtClean="0"/>
              <a:t>)</a:t>
            </a:r>
            <a:endParaRPr lang="en-US" dirty="0"/>
          </a:p>
        </p:txBody>
      </p:sp>
      <p:pic>
        <p:nvPicPr>
          <p:cNvPr id="15" name="Picture 2" descr="File:Scikit learn logo small.svg - Wikipedia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70857" y="0"/>
            <a:ext cx="952416" cy="9876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928978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F3060C83-F051-4F0E-ABAD-AA0DFC48B21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xmlns="" id="{83C98ABE-055B-441F-B07E-44F97F083C3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29FDB030-9B49-4CED-8CCD-4D99382388A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3783CA14-24A1-485C-8B30-D6A5D87987A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xmlns="" id="{9A97C86A-04D6-40F7-AE84-31AB43E6A84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xmlns="" id="{FF9F2414-84E8-453E-B1F3-389FDE8192D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xmlns="" id="{3ECA69A1-7536-43AC-85EF-C7106179F5E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3A42210A-7EC0-9044-AB29-B19B8DD30EBD}"/>
              </a:ext>
            </a:extLst>
          </p:cNvPr>
          <p:cNvSpPr txBox="1"/>
          <p:nvPr/>
        </p:nvSpPr>
        <p:spPr>
          <a:xfrm>
            <a:off x="2847576" y="232094"/>
            <a:ext cx="68284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Key Design Principles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70778C02-DAB7-65FA-AB76-FF0250D760FE}"/>
              </a:ext>
            </a:extLst>
          </p:cNvPr>
          <p:cNvSpPr txBox="1"/>
          <p:nvPr/>
        </p:nvSpPr>
        <p:spPr>
          <a:xfrm>
            <a:off x="537663" y="1256098"/>
            <a:ext cx="11191882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200" b="1" dirty="0">
                <a:latin typeface="Verdana" pitchFamily="34" charset="0"/>
                <a:ea typeface="Verdana" pitchFamily="34" charset="0"/>
              </a:rPr>
              <a:t>3.	Integration with Other Python Libraries</a:t>
            </a:r>
            <a:r>
              <a:rPr lang="en-US" sz="2200" b="1" dirty="0" smtClean="0">
                <a:latin typeface="Verdana" pitchFamily="34" charset="0"/>
                <a:ea typeface="Verdana" pitchFamily="34" charset="0"/>
              </a:rPr>
              <a:t>:</a:t>
            </a:r>
            <a:endParaRPr lang="en-US" sz="2200" dirty="0" smtClean="0">
              <a:latin typeface="Verdana" pitchFamily="34" charset="0"/>
              <a:ea typeface="Verdana" pitchFamily="34" charset="0"/>
            </a:endParaRPr>
          </a:p>
          <a:p>
            <a:pPr marL="342900" indent="-3429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200" dirty="0" smtClean="0">
                <a:latin typeface="Verdana" pitchFamily="34" charset="0"/>
                <a:ea typeface="Verdana" pitchFamily="34" charset="0"/>
              </a:rPr>
              <a:t>NumPy</a:t>
            </a:r>
            <a:r>
              <a:rPr lang="en-US" sz="2200" dirty="0">
                <a:latin typeface="Verdana" pitchFamily="34" charset="0"/>
                <a:ea typeface="Verdana" pitchFamily="34" charset="0"/>
              </a:rPr>
              <a:t>: For numerical operations and array </a:t>
            </a:r>
            <a:r>
              <a:rPr lang="en-US" sz="2200" dirty="0" smtClean="0">
                <a:latin typeface="Verdana" pitchFamily="34" charset="0"/>
                <a:ea typeface="Verdana" pitchFamily="34" charset="0"/>
              </a:rPr>
              <a:t>manipulation.</a:t>
            </a:r>
          </a:p>
          <a:p>
            <a:pPr marL="342900" indent="-3429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200" dirty="0" err="1" smtClean="0">
                <a:latin typeface="Verdana" pitchFamily="34" charset="0"/>
                <a:ea typeface="Verdana" pitchFamily="34" charset="0"/>
              </a:rPr>
              <a:t>SciPy</a:t>
            </a:r>
            <a:r>
              <a:rPr lang="en-US" sz="2200" dirty="0">
                <a:latin typeface="Verdana" pitchFamily="34" charset="0"/>
                <a:ea typeface="Verdana" pitchFamily="34" charset="0"/>
              </a:rPr>
              <a:t>: For advanced scientific computations, such as sparse matrix </a:t>
            </a:r>
            <a:r>
              <a:rPr lang="en-US" sz="2200" dirty="0" smtClean="0">
                <a:latin typeface="Verdana" pitchFamily="34" charset="0"/>
                <a:ea typeface="Verdana" pitchFamily="34" charset="0"/>
              </a:rPr>
              <a:t>support.</a:t>
            </a:r>
          </a:p>
          <a:p>
            <a:pPr marL="342900" indent="-3429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200" dirty="0" smtClean="0">
                <a:latin typeface="Verdana" pitchFamily="34" charset="0"/>
                <a:ea typeface="Verdana" pitchFamily="34" charset="0"/>
              </a:rPr>
              <a:t>Pandas</a:t>
            </a:r>
            <a:r>
              <a:rPr lang="en-US" sz="2200" dirty="0">
                <a:latin typeface="Verdana" pitchFamily="34" charset="0"/>
                <a:ea typeface="Verdana" pitchFamily="34" charset="0"/>
              </a:rPr>
              <a:t>: For handling tabular data and feature </a:t>
            </a:r>
            <a:r>
              <a:rPr lang="en-US" sz="2200" dirty="0" smtClean="0">
                <a:latin typeface="Verdana" pitchFamily="34" charset="0"/>
                <a:ea typeface="Verdana" pitchFamily="34" charset="0"/>
              </a:rPr>
              <a:t>engineering.</a:t>
            </a:r>
          </a:p>
          <a:p>
            <a:pPr marL="342900" indent="-3429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200" dirty="0" smtClean="0">
                <a:latin typeface="Verdana" pitchFamily="34" charset="0"/>
                <a:ea typeface="Verdana" pitchFamily="34" charset="0"/>
              </a:rPr>
              <a:t>Matplotlib</a:t>
            </a:r>
            <a:r>
              <a:rPr lang="en-US" sz="2200" dirty="0">
                <a:latin typeface="Verdana" pitchFamily="34" charset="0"/>
                <a:ea typeface="Verdana" pitchFamily="34" charset="0"/>
              </a:rPr>
              <a:t>: For visualizations like confusion matrices and ROC curves.</a:t>
            </a:r>
          </a:p>
        </p:txBody>
      </p:sp>
      <p:pic>
        <p:nvPicPr>
          <p:cNvPr id="15" name="Picture 2" descr="File:Scikit learn logo small.svg - Wikipedia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70857" y="0"/>
            <a:ext cx="952416" cy="9876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692328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F3060C83-F051-4F0E-ABAD-AA0DFC48B21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xmlns="" id="{83C98ABE-055B-441F-B07E-44F97F083C3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29FDB030-9B49-4CED-8CCD-4D99382388A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3783CA14-24A1-485C-8B30-D6A5D87987A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xmlns="" id="{9A97C86A-04D6-40F7-AE84-31AB43E6A84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xmlns="" id="{FF9F2414-84E8-453E-B1F3-389FDE8192D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xmlns="" id="{3ECA69A1-7536-43AC-85EF-C7106179F5E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3A42210A-7EC0-9044-AB29-B19B8DD30EBD}"/>
              </a:ext>
            </a:extLst>
          </p:cNvPr>
          <p:cNvSpPr txBox="1"/>
          <p:nvPr/>
        </p:nvSpPr>
        <p:spPr>
          <a:xfrm>
            <a:off x="2847576" y="232094"/>
            <a:ext cx="68284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 smtClean="0"/>
              <a:t>Installation </a:t>
            </a:r>
            <a:r>
              <a:rPr lang="en-US" sz="3600" b="1" dirty="0"/>
              <a:t>and Setup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70778C02-DAB7-65FA-AB76-FF0250D760FE}"/>
              </a:ext>
            </a:extLst>
          </p:cNvPr>
          <p:cNvSpPr txBox="1"/>
          <p:nvPr/>
        </p:nvSpPr>
        <p:spPr>
          <a:xfrm>
            <a:off x="244461" y="1256098"/>
            <a:ext cx="11812072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200" b="1" dirty="0">
                <a:latin typeface="Verdana" pitchFamily="34" charset="0"/>
                <a:ea typeface="Verdana" pitchFamily="34" charset="0"/>
              </a:rPr>
              <a:t>3.	Integration with Other Python Libraries</a:t>
            </a:r>
            <a:r>
              <a:rPr lang="en-US" sz="2200" b="1" dirty="0" smtClean="0">
                <a:latin typeface="Verdana" pitchFamily="34" charset="0"/>
                <a:ea typeface="Verdana" pitchFamily="34" charset="0"/>
              </a:rPr>
              <a:t>:</a:t>
            </a:r>
            <a:endParaRPr lang="en-US" sz="2200" dirty="0" smtClean="0">
              <a:latin typeface="Verdana" pitchFamily="34" charset="0"/>
              <a:ea typeface="Verdana" pitchFamily="34" charset="0"/>
            </a:endParaRPr>
          </a:p>
          <a:p>
            <a:pPr marL="342900" indent="-3429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200" dirty="0" smtClean="0">
                <a:latin typeface="Verdana" pitchFamily="34" charset="0"/>
                <a:ea typeface="Verdana" pitchFamily="34" charset="0"/>
              </a:rPr>
              <a:t>You </a:t>
            </a:r>
            <a:r>
              <a:rPr lang="en-US" sz="2200" dirty="0">
                <a:latin typeface="Verdana" pitchFamily="34" charset="0"/>
                <a:ea typeface="Verdana" pitchFamily="34" charset="0"/>
              </a:rPr>
              <a:t>can install </a:t>
            </a:r>
            <a:r>
              <a:rPr lang="en-US" sz="2200" dirty="0" err="1">
                <a:latin typeface="Verdana" pitchFamily="34" charset="0"/>
                <a:ea typeface="Verdana" pitchFamily="34" charset="0"/>
              </a:rPr>
              <a:t>scikit</a:t>
            </a:r>
            <a:r>
              <a:rPr lang="en-US" sz="2200" dirty="0">
                <a:latin typeface="Verdana" pitchFamily="34" charset="0"/>
                <a:ea typeface="Verdana" pitchFamily="34" charset="0"/>
              </a:rPr>
              <a:t>-learn easily using package managers like pip or </a:t>
            </a:r>
            <a:r>
              <a:rPr lang="en-US" sz="2200" dirty="0" err="1">
                <a:latin typeface="Verdana" pitchFamily="34" charset="0"/>
                <a:ea typeface="Verdana" pitchFamily="34" charset="0"/>
              </a:rPr>
              <a:t>conda</a:t>
            </a:r>
            <a:r>
              <a:rPr lang="en-US" sz="2200" dirty="0">
                <a:latin typeface="Verdana" pitchFamily="34" charset="0"/>
                <a:ea typeface="Verdana" pitchFamily="34" charset="0"/>
              </a:rPr>
              <a:t>.</a:t>
            </a:r>
          </a:p>
          <a:p>
            <a:pPr marL="342900" indent="-3429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200" dirty="0" smtClean="0">
                <a:latin typeface="Verdana" pitchFamily="34" charset="0"/>
                <a:ea typeface="Verdana" pitchFamily="34" charset="0"/>
              </a:rPr>
              <a:t>Using pip:</a:t>
            </a:r>
          </a:p>
          <a:p>
            <a:pPr algn="ctr">
              <a:lnSpc>
                <a:spcPct val="150000"/>
              </a:lnSpc>
            </a:pPr>
            <a:r>
              <a:rPr lang="en-US" sz="2200" dirty="0" smtClean="0">
                <a:latin typeface="Verdana" pitchFamily="34" charset="0"/>
                <a:ea typeface="Verdana" pitchFamily="34" charset="0"/>
              </a:rPr>
              <a:t>pip </a:t>
            </a:r>
            <a:r>
              <a:rPr lang="en-US" sz="2200" dirty="0">
                <a:latin typeface="Verdana" pitchFamily="34" charset="0"/>
                <a:ea typeface="Verdana" pitchFamily="34" charset="0"/>
              </a:rPr>
              <a:t>install </a:t>
            </a:r>
            <a:r>
              <a:rPr lang="en-US" sz="2200" dirty="0" err="1">
                <a:latin typeface="Verdana" pitchFamily="34" charset="0"/>
                <a:ea typeface="Verdana" pitchFamily="34" charset="0"/>
              </a:rPr>
              <a:t>scikit</a:t>
            </a:r>
            <a:r>
              <a:rPr lang="en-US" sz="2200" dirty="0">
                <a:latin typeface="Verdana" pitchFamily="34" charset="0"/>
                <a:ea typeface="Verdana" pitchFamily="34" charset="0"/>
              </a:rPr>
              <a:t>-learn</a:t>
            </a:r>
          </a:p>
          <a:p>
            <a:pPr marL="342900" indent="-3429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200" dirty="0" smtClean="0">
                <a:latin typeface="Verdana" pitchFamily="34" charset="0"/>
                <a:ea typeface="Verdana" pitchFamily="34" charset="0"/>
              </a:rPr>
              <a:t>Using </a:t>
            </a:r>
            <a:r>
              <a:rPr lang="en-US" sz="2200" dirty="0" err="1">
                <a:latin typeface="Verdana" pitchFamily="34" charset="0"/>
                <a:ea typeface="Verdana" pitchFamily="34" charset="0"/>
              </a:rPr>
              <a:t>conda</a:t>
            </a:r>
            <a:r>
              <a:rPr lang="en-US" sz="2200" dirty="0">
                <a:latin typeface="Verdana" pitchFamily="34" charset="0"/>
                <a:ea typeface="Verdana" pitchFamily="34" charset="0"/>
              </a:rPr>
              <a:t>:</a:t>
            </a:r>
          </a:p>
          <a:p>
            <a:pPr algn="ctr">
              <a:lnSpc>
                <a:spcPct val="150000"/>
              </a:lnSpc>
            </a:pPr>
            <a:r>
              <a:rPr lang="en-US" sz="2200" dirty="0" err="1" smtClean="0">
                <a:latin typeface="Verdana" pitchFamily="34" charset="0"/>
                <a:ea typeface="Verdana" pitchFamily="34" charset="0"/>
              </a:rPr>
              <a:t>conda</a:t>
            </a:r>
            <a:r>
              <a:rPr lang="en-US" sz="2200" dirty="0" smtClean="0">
                <a:latin typeface="Verdana" pitchFamily="34" charset="0"/>
                <a:ea typeface="Verdana" pitchFamily="34" charset="0"/>
              </a:rPr>
              <a:t> </a:t>
            </a:r>
            <a:r>
              <a:rPr lang="en-US" sz="2200" dirty="0">
                <a:latin typeface="Verdana" pitchFamily="34" charset="0"/>
                <a:ea typeface="Verdana" pitchFamily="34" charset="0"/>
              </a:rPr>
              <a:t>install -c </a:t>
            </a:r>
            <a:r>
              <a:rPr lang="en-US" sz="2200" dirty="0" err="1">
                <a:latin typeface="Verdana" pitchFamily="34" charset="0"/>
                <a:ea typeface="Verdana" pitchFamily="34" charset="0"/>
              </a:rPr>
              <a:t>conda</a:t>
            </a:r>
            <a:r>
              <a:rPr lang="en-US" sz="2200" dirty="0">
                <a:latin typeface="Verdana" pitchFamily="34" charset="0"/>
                <a:ea typeface="Verdana" pitchFamily="34" charset="0"/>
              </a:rPr>
              <a:t>-forge </a:t>
            </a:r>
            <a:r>
              <a:rPr lang="en-US" sz="2200" dirty="0" err="1">
                <a:latin typeface="Verdana" pitchFamily="34" charset="0"/>
                <a:ea typeface="Verdana" pitchFamily="34" charset="0"/>
              </a:rPr>
              <a:t>scikit</a:t>
            </a:r>
            <a:r>
              <a:rPr lang="en-US" sz="2200" dirty="0">
                <a:latin typeface="Verdana" pitchFamily="34" charset="0"/>
                <a:ea typeface="Verdana" pitchFamily="34" charset="0"/>
              </a:rPr>
              <a:t>-learn</a:t>
            </a:r>
          </a:p>
        </p:txBody>
      </p:sp>
      <p:pic>
        <p:nvPicPr>
          <p:cNvPr id="15" name="Picture 2" descr="File:Scikit learn logo small.svg - Wikipedia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70857" y="0"/>
            <a:ext cx="952416" cy="9876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658737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23602</TotalTime>
  <Words>327</Words>
  <Application>Microsoft Office PowerPoint</Application>
  <PresentationFormat>Custom</PresentationFormat>
  <Paragraphs>59</Paragraphs>
  <Slides>9</Slides>
  <Notes>8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11" baseType="lpstr">
      <vt:lpstr>Office 2013 - 2022 Theme</vt:lpstr>
      <vt:lpstr>1_Office 2013 - 2022 Theme</vt:lpstr>
      <vt:lpstr>   DATA SCIENCE  EL-334 BSIT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Bilal Ahmed</dc:creator>
  <cp:lastModifiedBy>My Computer</cp:lastModifiedBy>
  <cp:revision>778</cp:revision>
  <dcterms:created xsi:type="dcterms:W3CDTF">2023-11-19T15:28:11Z</dcterms:created>
  <dcterms:modified xsi:type="dcterms:W3CDTF">2025-01-03T02:33:23Z</dcterms:modified>
</cp:coreProperties>
</file>
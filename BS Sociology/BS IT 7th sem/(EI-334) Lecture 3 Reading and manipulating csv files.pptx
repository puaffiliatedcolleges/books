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notesMasterIdLst>
    <p:notesMasterId r:id="rId27"/>
  </p:notesMasterIdLst>
  <p:sldIdLst>
    <p:sldId id="1056" r:id="rId4"/>
    <p:sldId id="256" r:id="rId5"/>
    <p:sldId id="1071" r:id="rId6"/>
    <p:sldId id="1074" r:id="rId7"/>
    <p:sldId id="1070" r:id="rId8"/>
    <p:sldId id="1072" r:id="rId9"/>
    <p:sldId id="1073" r:id="rId10"/>
    <p:sldId id="1067" r:id="rId11"/>
    <p:sldId id="1075" r:id="rId12"/>
    <p:sldId id="1078" r:id="rId13"/>
    <p:sldId id="1079" r:id="rId14"/>
    <p:sldId id="1077" r:id="rId15"/>
    <p:sldId id="1076" r:id="rId16"/>
    <p:sldId id="1080" r:id="rId17"/>
    <p:sldId id="1081" r:id="rId18"/>
    <p:sldId id="1082" r:id="rId19"/>
    <p:sldId id="1083" r:id="rId20"/>
    <p:sldId id="1084" r:id="rId21"/>
    <p:sldId id="1085" r:id="rId22"/>
    <p:sldId id="1086" r:id="rId23"/>
    <p:sldId id="1088" r:id="rId24"/>
    <p:sldId id="1087" r:id="rId25"/>
    <p:sldId id="108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22"/>
    <a:srgbClr val="246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8321" autoAdjust="0"/>
  </p:normalViewPr>
  <p:slideViewPr>
    <p:cSldViewPr snapToGrid="0">
      <p:cViewPr>
        <p:scale>
          <a:sx n="60" d="100"/>
          <a:sy n="60" d="100"/>
        </p:scale>
        <p:origin x="-1038" y="-19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41F0B-E64A-4355-99C5-8BA3385D271D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5E292-06FB-44DC-BB7C-DF202842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6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476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38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38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loop iterates over each row in the data list. In each row, it adds a new key-value pair where the key is ‘</a:t>
            </a:r>
            <a:r>
              <a:rPr lang="en-US" dirty="0" err="1" smtClean="0"/>
              <a:t>age_next</a:t>
            </a:r>
            <a:r>
              <a:rPr lang="en-US" dirty="0" smtClean="0"/>
              <a:t> _year’ and the value is the current age incremented by one. This creates a new column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76438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8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0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5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9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6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16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7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8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587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23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88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22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94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222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162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737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046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450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521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078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554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529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6999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8305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96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8">
            <a:extLst>
              <a:ext uri="{FF2B5EF4-FFF2-40B4-BE49-F238E27FC236}">
                <a16:creationId xmlns="" xmlns:a16="http://schemas.microsoft.com/office/drawing/2014/main" id="{D0759A2F-F78F-3FF5-0179-0BA53E3CA16A}"/>
              </a:ext>
            </a:extLst>
          </p:cNvPr>
          <p:cNvSpPr/>
          <p:nvPr userDrawn="1"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553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="" xmlns:a16="http://schemas.microsoft.com/office/drawing/2014/main" id="{D0759A2F-F78F-3FF5-0179-0BA53E3CA16A}"/>
              </a:ext>
            </a:extLst>
          </p:cNvPr>
          <p:cNvSpPr/>
          <p:nvPr userDrawn="1"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62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xmlns="" id="{D0759A2F-F78F-3FF5-0179-0BA53E3CA16A}"/>
              </a:ext>
            </a:extLst>
          </p:cNvPr>
          <p:cNvSpPr/>
          <p:nvPr userDrawn="1"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51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32093" y="130395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SCIENCE </a:t>
            </a:r>
            <a: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EL-334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3172537" y="2737491"/>
            <a:ext cx="599344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03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Reading and manipulating </a:t>
            </a:r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files</a:t>
            </a:r>
            <a:endParaRPr lang="en-US" sz="2600" b="1" i="0" u="none" strike="noStrike" cap="none" dirty="0" smtClean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6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BSIT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999757" y="5120608"/>
            <a:ext cx="4339004" cy="57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Safoora Qurban</a:t>
            </a:r>
            <a:endParaRPr sz="2800" dirty="0"/>
          </a:p>
        </p:txBody>
      </p:sp>
      <p:pic>
        <p:nvPicPr>
          <p:cNvPr id="1026" name="Picture 2" descr="Free Python Logo Icon - Free Download Logos Logo Ic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991" y="2303915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12191998" cy="685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8">
            <a:extLst>
              <a:ext uri="{FF2B5EF4-FFF2-40B4-BE49-F238E27FC236}">
                <a16:creationId xmlns="" xmlns:a16="http://schemas.microsoft.com/office/drawing/2014/main" id="{6CED6318-9AD9-F68F-507F-88DDDB182BB8}"/>
              </a:ext>
            </a:extLst>
          </p:cNvPr>
          <p:cNvSpPr/>
          <p:nvPr/>
        </p:nvSpPr>
        <p:spPr>
          <a:xfrm>
            <a:off x="1" y="5766357"/>
            <a:ext cx="12191998" cy="53418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FD435CB8-DDC7-C561-8E2D-7B50C159B7B0}"/>
              </a:ext>
            </a:extLst>
          </p:cNvPr>
          <p:cNvSpPr txBox="1">
            <a:spLocks/>
          </p:cNvSpPr>
          <p:nvPr/>
        </p:nvSpPr>
        <p:spPr>
          <a:xfrm>
            <a:off x="1524000" y="865066"/>
            <a:ext cx="9144000" cy="695342"/>
          </a:xfrm>
          <a:prstGeom prst="rect">
            <a:avLst/>
          </a:prstGeom>
          <a:solidFill>
            <a:srgbClr val="123022"/>
          </a:solidFill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00"/>
                </a:solidFill>
                <a:latin typeface="Google Sans"/>
              </a:rPr>
              <a:t>Reading and manipulating </a:t>
            </a:r>
            <a:r>
              <a:rPr lang="en-US" sz="4400" b="1" dirty="0" err="1">
                <a:solidFill>
                  <a:srgbClr val="FFFF00"/>
                </a:solidFill>
                <a:latin typeface="Google Sans"/>
              </a:rPr>
              <a:t>csv</a:t>
            </a:r>
            <a:r>
              <a:rPr lang="en-US" sz="4400" b="1" dirty="0">
                <a:solidFill>
                  <a:srgbClr val="FFFF00"/>
                </a:solidFill>
                <a:latin typeface="Google Sans"/>
              </a:rPr>
              <a:t> files</a:t>
            </a:r>
          </a:p>
        </p:txBody>
      </p:sp>
      <p:sp>
        <p:nvSpPr>
          <p:cNvPr id="2" name="AutoShape 2" descr="Python 3.12 - A quality upgrade with many desirable features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What are CSV Files?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244461" y="1256098"/>
            <a:ext cx="11812072" cy="2563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CSV, Comma Separated Values, is a plain text file format used to store structured tabular data.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In a CSV file, a line represents a row in a table. Each line consists of a comma-separated value, representing a column in a row.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A CSV file is saved with a .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csv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extension.</a:t>
            </a:r>
          </a:p>
        </p:txBody>
      </p:sp>
      <p:sp>
        <p:nvSpPr>
          <p:cNvPr id="2" name="Rectangle 1"/>
          <p:cNvSpPr/>
          <p:nvPr/>
        </p:nvSpPr>
        <p:spPr>
          <a:xfrm>
            <a:off x="2475186" y="4051738"/>
            <a:ext cx="3263463" cy="22387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Name, Age, Department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Alice,30,HR 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Bob,24,IT 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Charlie,28,Finance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86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What are CSV Files Used For?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244461" y="1256098"/>
            <a:ext cx="1181207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CSV files are extensively used across various applications and platforms. Some of the advantages of CSV files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are: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Data Analysis: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CSV files are used to analyze data and to manipulate datasets for analysis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Spreadsheet Applications: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CSV files allow easy data manipulation and sharing using various spreadsheet applications, such as Microsoft Excel and Google Sheets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25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What are CSV Files Used For?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244461" y="1256098"/>
            <a:ext cx="11812072" cy="408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Customer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Relationship Management (CRM):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CSV files are used to manage and analyze data, such as managing contact lists, campaign data, and customer management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200" b="1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E-commerce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and Inventory Management: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CSV files help manage product listings and update inventory to allow data to be coordinated in bulk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Imagine you are a Data Analyst at a startup.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You regularly receive data from many sources. To manage the data, you start by storing it in a CSV file and processing it using a programming language such as Python.</a:t>
            </a:r>
          </a:p>
        </p:txBody>
      </p:sp>
    </p:spTree>
    <p:extLst>
      <p:ext uri="{BB962C8B-B14F-4D97-AF65-F5344CB8AC3E}">
        <p14:creationId xmlns:p14="http://schemas.microsoft.com/office/powerpoint/2010/main" val="69486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Open CSV </a:t>
            </a:r>
            <a:r>
              <a:rPr lang="en-US" sz="3600" b="1" dirty="0" smtClean="0"/>
              <a:t>Files in Python 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To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work with CSV files in Python,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CSV module part of the standard library (no need to install it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) is used.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enlo"/>
              </a:rPr>
              <a:t>import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Menlo"/>
              </a:rPr>
              <a:t>csv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enlo"/>
              </a:rPr>
              <a:t> </a:t>
            </a:r>
            <a:endParaRPr lang="en-US" sz="2400" dirty="0" smtClean="0">
              <a:solidFill>
                <a:schemeClr val="bg2">
                  <a:lumMod val="50000"/>
                </a:schemeClr>
              </a:solidFill>
              <a:latin typeface="Menlo"/>
            </a:endParaRP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A CSV file can be opened using the built-in function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open()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with the appropriate mode like (‘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r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’ for reading, ‘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w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’ for writing, or ‘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a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’ for appending). It’s better to use the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with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statement that automatically handles the closing of the file even if any error occurs.</a:t>
            </a:r>
          </a:p>
          <a:p>
            <a:pPr algn="just">
              <a:lnSpc>
                <a:spcPct val="150000"/>
              </a:lnSpc>
            </a:pPr>
            <a:endParaRPr lang="en-US" sz="2200" dirty="0">
              <a:solidFill>
                <a:schemeClr val="bg2">
                  <a:lumMod val="50000"/>
                </a:schemeClr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3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Open CSV </a:t>
            </a:r>
            <a:r>
              <a:rPr lang="en-US" sz="3600" b="1" dirty="0" smtClean="0"/>
              <a:t>Files in Python 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575318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Verdana" pitchFamily="34" charset="0"/>
                <a:ea typeface="Verdana" pitchFamily="34" charset="0"/>
              </a:rPr>
              <a:t>In this code, we create a CSV reader object using </a:t>
            </a:r>
            <a:r>
              <a:rPr lang="en-US" dirty="0" err="1">
                <a:latin typeface="Verdana" pitchFamily="34" charset="0"/>
                <a:ea typeface="Verdana" pitchFamily="34" charset="0"/>
              </a:rPr>
              <a:t>csv.reader</a:t>
            </a:r>
            <a:r>
              <a:rPr lang="en-US" dirty="0">
                <a:latin typeface="Verdana" pitchFamily="34" charset="0"/>
                <a:ea typeface="Verdana" pitchFamily="34" charset="0"/>
              </a:rPr>
              <a:t>(file), which reads a CSV file and returns each row as a list of strings</a:t>
            </a:r>
            <a:r>
              <a:rPr lang="en-US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dirty="0"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itchFamily="34" charset="0"/>
                <a:ea typeface="Verdana" pitchFamily="34" charset="0"/>
              </a:rPr>
              <a:t>Next, we read the header of the CSV file using the next(</a:t>
            </a:r>
            <a:r>
              <a:rPr lang="en-US" dirty="0" err="1">
                <a:latin typeface="Verdana" pitchFamily="34" charset="0"/>
                <a:ea typeface="Verdana" pitchFamily="34" charset="0"/>
              </a:rPr>
              <a:t>csv_reader</a:t>
            </a:r>
            <a:r>
              <a:rPr lang="en-US" dirty="0">
                <a:latin typeface="Verdana" pitchFamily="34" charset="0"/>
                <a:ea typeface="Verdana" pitchFamily="34" charset="0"/>
              </a:rPr>
              <a:t>) function which is used to retrieve the next item from an iterator. A header in a CSV file is the first row that contains the names of the columns, providing a label for each column’s data</a:t>
            </a:r>
            <a:r>
              <a:rPr lang="en-US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dirty="0"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itchFamily="34" charset="0"/>
                <a:ea typeface="Verdana" pitchFamily="34" charset="0"/>
              </a:rPr>
              <a:t>Then, we loop through the remaining rows in the CSV file, printing each row as a list of strings. This approach allows us to easily read and process CSV data in Python.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5" t="17171" r="50000" b="36207"/>
          <a:stretch/>
        </p:blipFill>
        <p:spPr bwMode="auto">
          <a:xfrm>
            <a:off x="6842234" y="1256097"/>
            <a:ext cx="5086678" cy="460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62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Writing </a:t>
            </a:r>
            <a:r>
              <a:rPr lang="en-US" sz="3600" b="1" dirty="0"/>
              <a:t>to a CSV File in </a:t>
            </a:r>
            <a:r>
              <a:rPr lang="en-US" sz="3600" b="1" dirty="0" smtClean="0"/>
              <a:t>Python</a:t>
            </a:r>
            <a:endParaRPr 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8" y="1484993"/>
            <a:ext cx="10656255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To write the data into a CSV file,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first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open the file in write mode using the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with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statement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and then create a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writer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object using the </a:t>
            </a:r>
            <a:r>
              <a:rPr lang="en-US" sz="2200" b="1" dirty="0" err="1">
                <a:latin typeface="Verdana" pitchFamily="34" charset="0"/>
                <a:ea typeface="Verdana" pitchFamily="34" charset="0"/>
              </a:rPr>
              <a:t>csv.writer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(file)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to allow us to write the data into the file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Let’s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look at an example. 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In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 CSV file named output.csv, we have the following information: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5186" y="4214440"/>
            <a:ext cx="3263463" cy="22387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Name, Age, Department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Alice,30,HR 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Bob,24,IT 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Charlie,28,Finance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6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Writing to a CSV File in Python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575318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Following the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code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snippet opens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output.csv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file and defines a list containing all the data that is to be written into the CSV file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Then, the </a:t>
            </a:r>
            <a:r>
              <a:rPr lang="en-US" sz="2200" b="1" dirty="0" err="1">
                <a:latin typeface="Verdana" pitchFamily="34" charset="0"/>
                <a:ea typeface="Verdana" pitchFamily="34" charset="0"/>
              </a:rPr>
              <a:t>csv.writer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(file)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object writes the data into the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output.csv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file by passing the list containing the header row and all subsequent data rows as arguments to the </a:t>
            </a:r>
            <a:r>
              <a:rPr lang="en-US" sz="2200" b="1" dirty="0" err="1">
                <a:latin typeface="Verdana" pitchFamily="34" charset="0"/>
                <a:ea typeface="Verdana" pitchFamily="34" charset="0"/>
              </a:rPr>
              <a:t>writerows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function: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46" t="32421" r="33647" b="8421"/>
          <a:stretch/>
        </p:blipFill>
        <p:spPr bwMode="auto">
          <a:xfrm>
            <a:off x="6795610" y="1349253"/>
            <a:ext cx="5350493" cy="5103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46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1797269" y="232094"/>
            <a:ext cx="9076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Manipulate </a:t>
            </a:r>
            <a:r>
              <a:rPr lang="en-US" sz="3600" b="1" dirty="0" smtClean="0"/>
              <a:t>and Analyze Data using </a:t>
            </a:r>
            <a:r>
              <a:rPr lang="en-US" sz="3600" b="1" dirty="0"/>
              <a:t>CSV Files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484993"/>
            <a:ext cx="572165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Data manipulation and analysis are important skills to have for any data analyst or scientist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Filtering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Data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Filtering data involves selecting rows that meet certain criteria. For example, we might want to filter rows where the age of the employees is greater than 25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9" t="16420" r="20167" b="8385"/>
          <a:stretch/>
        </p:blipFill>
        <p:spPr bwMode="auto">
          <a:xfrm>
            <a:off x="6443403" y="1357368"/>
            <a:ext cx="5554717" cy="550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49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1266494" y="232094"/>
            <a:ext cx="10021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Manipulate and Analyze </a:t>
            </a:r>
            <a:r>
              <a:rPr lang="en-US" sz="3600" b="1" dirty="0" smtClean="0"/>
              <a:t>Data using </a:t>
            </a:r>
            <a:r>
              <a:rPr lang="en-US" sz="3600" b="1" dirty="0"/>
              <a:t>CSV </a:t>
            </a:r>
            <a:r>
              <a:rPr lang="en-US" sz="3600" b="1" dirty="0" smtClean="0"/>
              <a:t>Files (cont.)</a:t>
            </a:r>
            <a:endParaRPr 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484993"/>
            <a:ext cx="5201387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Adding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a New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Column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Adding a new column involves creating additional data based on the existing columns or with new data. For instance, we might want to add a column that calculates the age of each employee next year.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9" t="16420" r="20167" b="8385"/>
          <a:stretch/>
        </p:blipFill>
        <p:spPr bwMode="auto">
          <a:xfrm>
            <a:off x="6443403" y="1357368"/>
            <a:ext cx="5554717" cy="550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72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528203" y="3590149"/>
            <a:ext cx="6828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 smtClean="0">
                <a:solidFill>
                  <a:srgbClr val="ED7D31"/>
                </a:solidFill>
              </a:rPr>
              <a:t>Numpy</a:t>
            </a:r>
            <a:r>
              <a:rPr lang="en-US" sz="4000" b="1" dirty="0" smtClean="0">
                <a:solidFill>
                  <a:srgbClr val="ED7D31"/>
                </a:solidFill>
              </a:rPr>
              <a:t> module Python</a:t>
            </a:r>
            <a:endParaRPr lang="en-US" sz="4000" b="1" dirty="0">
              <a:solidFill>
                <a:srgbClr val="ED7D31"/>
              </a:solidFill>
            </a:endParaRPr>
          </a:p>
        </p:txBody>
      </p:sp>
      <p:pic>
        <p:nvPicPr>
          <p:cNvPr id="5122" name="Picture 2" descr="NumPy Logo | SVG | Real Company | Alphabet, Letter 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571" y="998876"/>
            <a:ext cx="2388858" cy="238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08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 smtClean="0"/>
              <a:t>Numpy</a:t>
            </a:r>
            <a:r>
              <a:rPr lang="en-US" sz="3600" b="1" dirty="0" smtClean="0"/>
              <a:t> introduction 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434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Stands for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</a:t>
            </a: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erical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Py</a:t>
            </a: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thon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Is the fundamental package required for high </a:t>
            </a:r>
            <a:r>
              <a:rPr lang="en-US" sz="2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performance computing 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and data analysis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is so important for numerical computations in Python is because it is designed for efficiency on large arrays of data.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It provides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ndarray</a:t>
            </a:r>
            <a:r>
              <a:rPr lang="en-US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for creating multiple dimensional arrays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Internally stores data in a contiguous block of memory, independent of other built-in Python objects, use much less memory than built-in Python sequences. 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Standard math functions for fast operations on entire arrays of data without having to write loops</a:t>
            </a:r>
          </a:p>
          <a:p>
            <a:pPr marL="514350" lvl="1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Arrays are important because they enable you to express batch operations on data without writing any </a:t>
            </a:r>
            <a:r>
              <a:rPr lang="en-US" i="1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for</a:t>
            </a: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loops. We call this </a:t>
            </a:r>
            <a:r>
              <a:rPr lang="en-US" b="1" i="1" dirty="0" err="1">
                <a:solidFill>
                  <a:srgbClr val="5B9BD5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vectorization</a:t>
            </a: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6893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NumPy</a:t>
            </a:r>
            <a:r>
              <a:rPr lang="en-US" sz="3600" b="1" dirty="0"/>
              <a:t> </a:t>
            </a:r>
            <a:r>
              <a:rPr lang="en-US" sz="3600" b="1" dirty="0" err="1"/>
              <a:t>ndarray</a:t>
            </a:r>
            <a:r>
              <a:rPr lang="en-US" sz="3600" b="1" dirty="0"/>
              <a:t> </a:t>
            </a:r>
            <a:r>
              <a:rPr lang="en-US" sz="3600" b="1" dirty="0" err="1"/>
              <a:t>vs</a:t>
            </a:r>
            <a:r>
              <a:rPr lang="en-US" sz="3600" b="1" dirty="0"/>
              <a:t> list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502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One of the key features of </a:t>
            </a: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is its </a:t>
            </a:r>
            <a:r>
              <a:rPr lang="en-US" sz="2400" b="1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N-dimensiona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l array object, or </a:t>
            </a:r>
            <a:r>
              <a:rPr lang="en-US" sz="2400" b="1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ndarray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, which is a fast, flexible container for large datasets in Python.  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Whenever you see “</a:t>
            </a:r>
            <a:r>
              <a:rPr lang="en-US" sz="2400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array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,” “</a:t>
            </a:r>
            <a:r>
              <a:rPr lang="en-US" sz="2400" dirty="0" err="1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array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,” or “</a:t>
            </a:r>
            <a:r>
              <a:rPr lang="en-US" sz="2400" dirty="0" err="1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ndarray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” in the text, with few exceptions they all refer to the same thing: the </a:t>
            </a: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ndarray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object.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-based algorithms are generally 10 to 100 times faster (or more) than their pure Python counterparts and use significantly less memory</a:t>
            </a:r>
            <a:r>
              <a:rPr lang="en-US" sz="2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lvl="0"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			import </a:t>
            </a:r>
            <a:r>
              <a:rPr lang="en-US" sz="2400" dirty="0" err="1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 as </a:t>
            </a:r>
            <a:r>
              <a:rPr lang="en-US" sz="2400" dirty="0" err="1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np</a:t>
            </a: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solidFill>
                <a:prstClr val="black"/>
              </a:solidFill>
              <a:ea typeface="Verdana" pitchFamily="34" charset="0"/>
              <a:cs typeface="Times New Roman" panose="02020603050405020304" pitchFamily="18" charset="0"/>
            </a:endParaRPr>
          </a:p>
          <a:p>
            <a:pPr lvl="0"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			</a:t>
            </a:r>
            <a:r>
              <a:rPr lang="en-US" sz="2400" dirty="0" err="1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my_arr</a:t>
            </a: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= </a:t>
            </a:r>
            <a:r>
              <a:rPr lang="en-US" sz="2400" dirty="0" err="1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np.arange</a:t>
            </a:r>
            <a:r>
              <a:rPr lang="en-US" sz="2400" dirty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(1000000)</a:t>
            </a:r>
          </a:p>
          <a:p>
            <a:pPr lvl="0"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			</a:t>
            </a:r>
            <a:r>
              <a:rPr lang="en-US" sz="2400" dirty="0" err="1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my_list</a:t>
            </a:r>
            <a:r>
              <a:rPr lang="en-US" sz="2400" dirty="0" smtClean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ea typeface="Verdana" pitchFamily="34" charset="0"/>
                <a:cs typeface="Times New Roman" panose="02020603050405020304" pitchFamily="18" charset="0"/>
              </a:rPr>
              <a:t>= list(range(1000000))</a:t>
            </a:r>
          </a:p>
        </p:txBody>
      </p:sp>
    </p:spTree>
    <p:extLst>
      <p:ext uri="{BB962C8B-B14F-4D97-AF65-F5344CB8AC3E}">
        <p14:creationId xmlns:p14="http://schemas.microsoft.com/office/powerpoint/2010/main" val="31379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ndarray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ndarray</a:t>
            </a:r>
            <a:r>
              <a:rPr lang="en-US" sz="2400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is used for storage of homogeneous data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i.e., all elements the same type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Every array must have a shape and a </a:t>
            </a: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dtype</a:t>
            </a:r>
            <a:endParaRPr lang="en-US" sz="240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Supports convenient slicing, indexing and efficient </a:t>
            </a:r>
            <a:r>
              <a:rPr lang="en-US" sz="24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vectorized</a:t>
            </a:r>
            <a:r>
              <a:rPr lang="en-US" sz="2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 computation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77606" y="3651383"/>
            <a:ext cx="3862255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import </a:t>
            </a:r>
            <a:r>
              <a:rPr lang="en-US" dirty="0" err="1">
                <a:solidFill>
                  <a:srgbClr val="002060"/>
                </a:solidFill>
              </a:rPr>
              <a:t>numpy</a:t>
            </a:r>
            <a:r>
              <a:rPr lang="en-US" dirty="0">
                <a:solidFill>
                  <a:srgbClr val="002060"/>
                </a:solidFill>
              </a:rPr>
              <a:t> as np</a:t>
            </a:r>
          </a:p>
          <a:p>
            <a:r>
              <a:rPr lang="en-US" dirty="0">
                <a:solidFill>
                  <a:srgbClr val="002060"/>
                </a:solidFill>
              </a:rPr>
              <a:t>data1 = [6, 7.5, 8, 0, 1]</a:t>
            </a:r>
          </a:p>
          <a:p>
            <a:r>
              <a:rPr lang="en-US" dirty="0">
                <a:solidFill>
                  <a:srgbClr val="002060"/>
                </a:solidFill>
              </a:rPr>
              <a:t>arr1 =  </a:t>
            </a:r>
            <a:r>
              <a:rPr lang="en-US" dirty="0" err="1">
                <a:solidFill>
                  <a:srgbClr val="002060"/>
                </a:solidFill>
              </a:rPr>
              <a:t>np.array</a:t>
            </a:r>
            <a:r>
              <a:rPr lang="en-US" dirty="0">
                <a:solidFill>
                  <a:srgbClr val="002060"/>
                </a:solidFill>
              </a:rPr>
              <a:t>(data1)</a:t>
            </a:r>
          </a:p>
          <a:p>
            <a:r>
              <a:rPr lang="en-US" dirty="0">
                <a:solidFill>
                  <a:srgbClr val="002060"/>
                </a:solidFill>
              </a:rPr>
              <a:t>print(arr1)</a:t>
            </a:r>
          </a:p>
          <a:p>
            <a:r>
              <a:rPr lang="en-US" dirty="0">
                <a:solidFill>
                  <a:srgbClr val="002060"/>
                </a:solidFill>
              </a:rPr>
              <a:t>print(arr1.dtype)</a:t>
            </a:r>
          </a:p>
          <a:p>
            <a:r>
              <a:rPr lang="en-US" dirty="0">
                <a:solidFill>
                  <a:srgbClr val="002060"/>
                </a:solidFill>
              </a:rPr>
              <a:t>print(arr1.shape)</a:t>
            </a:r>
          </a:p>
          <a:p>
            <a:r>
              <a:rPr lang="en-US" dirty="0">
                <a:solidFill>
                  <a:srgbClr val="002060"/>
                </a:solidFill>
              </a:rPr>
              <a:t>print(arr1.ndim)</a:t>
            </a:r>
          </a:p>
        </p:txBody>
      </p:sp>
    </p:spTree>
    <p:extLst>
      <p:ext uri="{BB962C8B-B14F-4D97-AF65-F5344CB8AC3E}">
        <p14:creationId xmlns:p14="http://schemas.microsoft.com/office/powerpoint/2010/main" val="409613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Creating </a:t>
            </a:r>
            <a:r>
              <a:rPr lang="en-US" sz="3600" b="1" dirty="0" err="1"/>
              <a:t>ndarrays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Using list of lists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4373" y="2551837"/>
            <a:ext cx="7743254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dirty="0" smtClean="0">
                <a:solidFill>
                  <a:srgbClr val="002060"/>
                </a:solidFill>
              </a:rPr>
              <a:t>import </a:t>
            </a:r>
            <a:r>
              <a:rPr lang="en-US" dirty="0" err="1">
                <a:solidFill>
                  <a:srgbClr val="002060"/>
                </a:solidFill>
              </a:rPr>
              <a:t>numpy</a:t>
            </a:r>
            <a:r>
              <a:rPr lang="en-US" dirty="0">
                <a:solidFill>
                  <a:srgbClr val="002060"/>
                </a:solidFill>
              </a:rPr>
              <a:t> as np</a:t>
            </a:r>
          </a:p>
          <a:p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 smtClean="0">
                <a:solidFill>
                  <a:srgbClr val="002060"/>
                </a:solidFill>
              </a:rPr>
              <a:t>data2 </a:t>
            </a:r>
            <a:r>
              <a:rPr lang="en-US" dirty="0">
                <a:solidFill>
                  <a:srgbClr val="002060"/>
                </a:solidFill>
              </a:rPr>
              <a:t>= [[1, 2, 3, 4], [5, 6, 7, 8</a:t>
            </a:r>
            <a:r>
              <a:rPr lang="en-US" dirty="0" smtClean="0">
                <a:solidFill>
                  <a:srgbClr val="002060"/>
                </a:solidFill>
              </a:rPr>
              <a:t>]]  #list of lists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arr2 = </a:t>
            </a:r>
            <a:r>
              <a:rPr lang="en-US" dirty="0" err="1">
                <a:solidFill>
                  <a:srgbClr val="002060"/>
                </a:solidFill>
              </a:rPr>
              <a:t>np.array</a:t>
            </a:r>
            <a:r>
              <a:rPr lang="en-US" dirty="0">
                <a:solidFill>
                  <a:srgbClr val="002060"/>
                </a:solidFill>
              </a:rPr>
              <a:t>(data2</a:t>
            </a:r>
            <a:r>
              <a:rPr lang="en-US" dirty="0" smtClean="0">
                <a:solidFill>
                  <a:srgbClr val="002060"/>
                </a:solidFill>
              </a:rPr>
              <a:t>)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print(arr2.ndim)   #2</a:t>
            </a:r>
          </a:p>
          <a:p>
            <a:r>
              <a:rPr lang="en-US" dirty="0">
                <a:solidFill>
                  <a:srgbClr val="002060"/>
                </a:solidFill>
              </a:rPr>
              <a:t>p</a:t>
            </a:r>
            <a:r>
              <a:rPr lang="en-US" dirty="0" smtClean="0">
                <a:solidFill>
                  <a:srgbClr val="002060"/>
                </a:solidFill>
              </a:rPr>
              <a:t>rint(arr2.shape)  # (2,4)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5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Creating </a:t>
            </a:r>
            <a:r>
              <a:rPr lang="en-US" sz="3600" b="1" dirty="0" err="1"/>
              <a:t>ndarrays</a:t>
            </a:r>
            <a:endParaRPr lang="en-US" sz="3600" b="1" dirty="0"/>
          </a:p>
        </p:txBody>
      </p:sp>
      <p:sp>
        <p:nvSpPr>
          <p:cNvPr id="15" name="Rectangle 14"/>
          <p:cNvSpPr/>
          <p:nvPr/>
        </p:nvSpPr>
        <p:spPr>
          <a:xfrm>
            <a:off x="1214325" y="1351508"/>
            <a:ext cx="4706807" cy="415498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2400" dirty="0">
                <a:solidFill>
                  <a:srgbClr val="000080"/>
                </a:solidFill>
              </a:rPr>
              <a:t>array = </a:t>
            </a:r>
            <a:r>
              <a:rPr lang="en-US" sz="2400" dirty="0" err="1">
                <a:solidFill>
                  <a:srgbClr val="000080"/>
                </a:solidFill>
              </a:rPr>
              <a:t>np.array</a:t>
            </a:r>
            <a:r>
              <a:rPr lang="en-US" sz="2400" dirty="0">
                <a:solidFill>
                  <a:srgbClr val="000080"/>
                </a:solidFill>
              </a:rPr>
              <a:t>([[0,1,2],[2,3,4</a:t>
            </a:r>
            <a:r>
              <a:rPr lang="en-US" sz="2400" dirty="0" smtClean="0">
                <a:solidFill>
                  <a:srgbClr val="000080"/>
                </a:solidFill>
              </a:rPr>
              <a:t>]])</a:t>
            </a:r>
          </a:p>
          <a:p>
            <a:r>
              <a:rPr lang="en-US" sz="2400" dirty="0"/>
              <a:t>[[0 1 2]</a:t>
            </a:r>
          </a:p>
          <a:p>
            <a:r>
              <a:rPr lang="en-US" sz="2400" dirty="0"/>
              <a:t> [2 3 4]]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>
                <a:solidFill>
                  <a:srgbClr val="000080"/>
                </a:solidFill>
              </a:rPr>
              <a:t>array = </a:t>
            </a:r>
            <a:r>
              <a:rPr lang="en-US" sz="2400" dirty="0" err="1">
                <a:solidFill>
                  <a:srgbClr val="000080"/>
                </a:solidFill>
              </a:rPr>
              <a:t>np.zeros</a:t>
            </a:r>
            <a:r>
              <a:rPr lang="en-US" sz="2400" dirty="0">
                <a:solidFill>
                  <a:srgbClr val="000080"/>
                </a:solidFill>
              </a:rPr>
              <a:t>((2,3</a:t>
            </a:r>
            <a:r>
              <a:rPr lang="en-US" sz="2400" dirty="0" smtClean="0">
                <a:solidFill>
                  <a:srgbClr val="000080"/>
                </a:solidFill>
              </a:rPr>
              <a:t>))</a:t>
            </a:r>
          </a:p>
          <a:p>
            <a:r>
              <a:rPr lang="en-US" sz="2400" dirty="0" smtClean="0"/>
              <a:t>[[</a:t>
            </a:r>
            <a:r>
              <a:rPr lang="en-US" sz="2400" dirty="0"/>
              <a:t>0. 0. 0.]</a:t>
            </a:r>
          </a:p>
          <a:p>
            <a:r>
              <a:rPr lang="en-US" sz="2400" dirty="0"/>
              <a:t> [0. 0. 0</a:t>
            </a:r>
            <a:r>
              <a:rPr lang="en-US" sz="2400" dirty="0" smtClean="0"/>
              <a:t>.]]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0080"/>
                </a:solidFill>
              </a:rPr>
              <a:t>array = </a:t>
            </a:r>
            <a:r>
              <a:rPr lang="en-US" sz="2400" dirty="0" err="1">
                <a:solidFill>
                  <a:srgbClr val="000080"/>
                </a:solidFill>
              </a:rPr>
              <a:t>np.ones</a:t>
            </a:r>
            <a:r>
              <a:rPr lang="en-US" sz="2400" dirty="0">
                <a:solidFill>
                  <a:srgbClr val="000080"/>
                </a:solidFill>
              </a:rPr>
              <a:t>((2,3</a:t>
            </a:r>
            <a:r>
              <a:rPr lang="en-US" sz="2400" dirty="0" smtClean="0">
                <a:solidFill>
                  <a:srgbClr val="000080"/>
                </a:solidFill>
              </a:rPr>
              <a:t>))</a:t>
            </a:r>
          </a:p>
          <a:p>
            <a:r>
              <a:rPr lang="en-US" sz="2400" dirty="0" smtClean="0"/>
              <a:t>[[</a:t>
            </a:r>
            <a:r>
              <a:rPr lang="en-US" sz="2400" dirty="0"/>
              <a:t>1. 1. 1.]</a:t>
            </a:r>
          </a:p>
          <a:p>
            <a:r>
              <a:rPr lang="en-US" sz="2400" dirty="0"/>
              <a:t> [1. 1. 1.]]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3956" y="1182231"/>
            <a:ext cx="3965992" cy="449353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2200" dirty="0">
                <a:solidFill>
                  <a:srgbClr val="000080"/>
                </a:solidFill>
              </a:rPr>
              <a:t>array = </a:t>
            </a:r>
            <a:r>
              <a:rPr lang="en-US" sz="2200" dirty="0" err="1">
                <a:solidFill>
                  <a:srgbClr val="000080"/>
                </a:solidFill>
              </a:rPr>
              <a:t>np.eye</a:t>
            </a:r>
            <a:r>
              <a:rPr lang="en-US" sz="2200" dirty="0">
                <a:solidFill>
                  <a:srgbClr val="000080"/>
                </a:solidFill>
              </a:rPr>
              <a:t>(3)</a:t>
            </a:r>
            <a:r>
              <a:rPr lang="en-US" sz="2200" dirty="0" smtClean="0">
                <a:solidFill>
                  <a:srgbClr val="8B0000"/>
                </a:solidFill>
              </a:rPr>
              <a:t> </a:t>
            </a:r>
            <a:endParaRPr lang="en-US" sz="2200" dirty="0" smtClean="0"/>
          </a:p>
          <a:p>
            <a:r>
              <a:rPr lang="en-US" sz="2200" dirty="0"/>
              <a:t>[[1. 0. 0.]</a:t>
            </a:r>
          </a:p>
          <a:p>
            <a:r>
              <a:rPr lang="en-US" sz="2200" dirty="0"/>
              <a:t> [0. 1. 0.]</a:t>
            </a:r>
          </a:p>
          <a:p>
            <a:r>
              <a:rPr lang="en-US" sz="2200" dirty="0"/>
              <a:t> [0. 0. 1.]]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  <a:p>
            <a:r>
              <a:rPr lang="en-US" sz="2200" dirty="0">
                <a:solidFill>
                  <a:srgbClr val="002060"/>
                </a:solidFill>
              </a:rPr>
              <a:t>array = </a:t>
            </a:r>
            <a:r>
              <a:rPr lang="en-US" sz="2200" dirty="0" err="1">
                <a:solidFill>
                  <a:srgbClr val="002060"/>
                </a:solidFill>
              </a:rPr>
              <a:t>np.arange</a:t>
            </a:r>
            <a:r>
              <a:rPr lang="en-US" sz="2200" dirty="0">
                <a:solidFill>
                  <a:srgbClr val="002060"/>
                </a:solidFill>
              </a:rPr>
              <a:t>(0, 10, 2</a:t>
            </a:r>
            <a:r>
              <a:rPr lang="en-US" sz="2200" dirty="0" smtClean="0">
                <a:solidFill>
                  <a:srgbClr val="002060"/>
                </a:solidFill>
              </a:rPr>
              <a:t>)</a:t>
            </a:r>
          </a:p>
          <a:p>
            <a:r>
              <a:rPr lang="en-US" sz="2200" dirty="0" smtClean="0"/>
              <a:t>[0, 2, 4, 6, 8]</a:t>
            </a:r>
          </a:p>
          <a:p>
            <a:endParaRPr lang="en-US" sz="2200" dirty="0" smtClean="0"/>
          </a:p>
          <a:p>
            <a:r>
              <a:rPr lang="en-US" sz="2200" dirty="0">
                <a:solidFill>
                  <a:srgbClr val="002060"/>
                </a:solidFill>
              </a:rPr>
              <a:t>array = </a:t>
            </a:r>
            <a:r>
              <a:rPr lang="en-US" sz="2200" dirty="0" err="1">
                <a:solidFill>
                  <a:srgbClr val="002060"/>
                </a:solidFill>
              </a:rPr>
              <a:t>np.random.randint</a:t>
            </a:r>
            <a:r>
              <a:rPr lang="en-US" sz="2200" dirty="0">
                <a:solidFill>
                  <a:srgbClr val="002060"/>
                </a:solidFill>
              </a:rPr>
              <a:t>(0, 10, (3,3</a:t>
            </a:r>
            <a:r>
              <a:rPr lang="en-US" sz="2200" dirty="0" smtClean="0">
                <a:solidFill>
                  <a:srgbClr val="002060"/>
                </a:solidFill>
              </a:rPr>
              <a:t>))</a:t>
            </a:r>
            <a:endParaRPr lang="en-US" sz="2200" dirty="0" smtClean="0"/>
          </a:p>
          <a:p>
            <a:r>
              <a:rPr lang="en-US" sz="2200" dirty="0"/>
              <a:t>[[6 4 3]</a:t>
            </a:r>
          </a:p>
          <a:p>
            <a:r>
              <a:rPr lang="en-US" sz="2200" dirty="0"/>
              <a:t> [1 5 6]</a:t>
            </a:r>
          </a:p>
          <a:p>
            <a:r>
              <a:rPr lang="en-US" sz="2200" dirty="0"/>
              <a:t> [9 8 5]]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1116984" y="5741517"/>
            <a:ext cx="387798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dirty="0" err="1"/>
              <a:t>arange</a:t>
            </a:r>
            <a:r>
              <a:rPr lang="en-US" dirty="0"/>
              <a:t> is an array-valued </a:t>
            </a:r>
            <a:r>
              <a:rPr lang="en-US" dirty="0" smtClean="0"/>
              <a:t>version</a:t>
            </a:r>
          </a:p>
          <a:p>
            <a:r>
              <a:rPr lang="en-US" dirty="0" smtClean="0"/>
              <a:t>of </a:t>
            </a:r>
            <a:r>
              <a:rPr lang="en-US" dirty="0"/>
              <a:t>the built-in Python range function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055976" y="3287519"/>
            <a:ext cx="3547980" cy="245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Arithmetic </a:t>
            </a:r>
            <a:r>
              <a:rPr lang="en-US" sz="3600" b="1" dirty="0"/>
              <a:t>with </a:t>
            </a:r>
            <a:r>
              <a:rPr lang="en-US" sz="3600" b="1" dirty="0" err="1"/>
              <a:t>NumPy</a:t>
            </a:r>
            <a:r>
              <a:rPr lang="en-US" sz="3600" b="1" dirty="0"/>
              <a:t> Arrays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Any arithmetic operations between equal-size arrays applies the operation element-wise: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57847" y="2267736"/>
            <a:ext cx="7743254" cy="30162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>
                <a:solidFill>
                  <a:srgbClr val="000080"/>
                </a:solidFill>
              </a:rPr>
              <a:t> = </a:t>
            </a:r>
            <a:r>
              <a:rPr lang="en-US" dirty="0" err="1">
                <a:solidFill>
                  <a:srgbClr val="000080"/>
                </a:solidFill>
              </a:rPr>
              <a:t>np.array</a:t>
            </a:r>
            <a:r>
              <a:rPr lang="en-US" dirty="0">
                <a:solidFill>
                  <a:srgbClr val="000080"/>
                </a:solidFill>
              </a:rPr>
              <a:t>([[1., 2., 3.], [4., 5., 6.]])</a:t>
            </a:r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[[1. 2. 3.]</a:t>
            </a:r>
          </a:p>
          <a:p>
            <a:r>
              <a:rPr lang="en-US" dirty="0"/>
              <a:t> [4. 5. 6</a:t>
            </a:r>
            <a:r>
              <a:rPr lang="en-US" dirty="0" smtClean="0"/>
              <a:t>.]]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>
                <a:solidFill>
                  <a:srgbClr val="000080"/>
                </a:solidFill>
              </a:rPr>
              <a:t> * </a:t>
            </a:r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[[ 1.  4.  9.]</a:t>
            </a:r>
          </a:p>
          <a:p>
            <a:r>
              <a:rPr lang="en-US" dirty="0"/>
              <a:t> [16. 25. 36</a:t>
            </a:r>
            <a:r>
              <a:rPr lang="en-US" dirty="0" smtClean="0"/>
              <a:t>.]]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>
                <a:solidFill>
                  <a:srgbClr val="000080"/>
                </a:solidFill>
              </a:rPr>
              <a:t> - </a:t>
            </a:r>
            <a:r>
              <a:rPr lang="en-US" dirty="0" err="1">
                <a:solidFill>
                  <a:srgbClr val="000080"/>
                </a:solidFill>
              </a:rPr>
              <a:t>arr</a:t>
            </a:r>
            <a:r>
              <a:rPr lang="en-US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[[0. 0. 0.]</a:t>
            </a:r>
          </a:p>
          <a:p>
            <a:r>
              <a:rPr lang="en-US" dirty="0"/>
              <a:t> [0. 0. 0.]]</a:t>
            </a:r>
          </a:p>
        </p:txBody>
      </p:sp>
    </p:spTree>
    <p:extLst>
      <p:ext uri="{BB962C8B-B14F-4D97-AF65-F5344CB8AC3E}">
        <p14:creationId xmlns:p14="http://schemas.microsoft.com/office/powerpoint/2010/main" val="121688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Arithmetic </a:t>
            </a:r>
            <a:r>
              <a:rPr lang="en-US" sz="3600" b="1" dirty="0"/>
              <a:t>with </a:t>
            </a:r>
            <a:r>
              <a:rPr lang="en-US" sz="3600" b="1" dirty="0" err="1"/>
              <a:t>NumPy</a:t>
            </a:r>
            <a:r>
              <a:rPr lang="en-US" sz="3600" b="1" dirty="0"/>
              <a:t> Arrays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Arithmetic operations with scalars propagate the scalar argument to each element in the array: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Comparisons </a:t>
            </a:r>
            <a:r>
              <a:rPr lang="en-US" sz="2400" dirty="0"/>
              <a:t>between arrays of the same size yield </a:t>
            </a:r>
            <a:r>
              <a:rPr lang="en-US" sz="2400" dirty="0" err="1"/>
              <a:t>boolean</a:t>
            </a:r>
            <a:r>
              <a:rPr lang="en-US" sz="2400" dirty="0"/>
              <a:t> arrays: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3964" y="1876779"/>
            <a:ext cx="7743254" cy="46474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1600" dirty="0" err="1">
                <a:solidFill>
                  <a:srgbClr val="000080"/>
                </a:solidFill>
              </a:rPr>
              <a:t>arr</a:t>
            </a:r>
            <a:r>
              <a:rPr lang="en-US" sz="1600" dirty="0">
                <a:solidFill>
                  <a:srgbClr val="000080"/>
                </a:solidFill>
              </a:rPr>
              <a:t> = </a:t>
            </a:r>
            <a:r>
              <a:rPr lang="en-US" sz="1600" dirty="0" err="1">
                <a:solidFill>
                  <a:srgbClr val="000080"/>
                </a:solidFill>
              </a:rPr>
              <a:t>np.array</a:t>
            </a:r>
            <a:r>
              <a:rPr lang="en-US" sz="1600" dirty="0">
                <a:solidFill>
                  <a:srgbClr val="000080"/>
                </a:solidFill>
              </a:rPr>
              <a:t>([[1., 2., 3.], [4., 5., 6.]])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arr</a:t>
            </a:r>
            <a:r>
              <a:rPr lang="en-US" sz="1600" dirty="0" smtClean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/>
              <a:t>[[1. 2. 3.]</a:t>
            </a:r>
          </a:p>
          <a:p>
            <a:r>
              <a:rPr lang="en-US" sz="1600" dirty="0"/>
              <a:t> [4. 5. 6</a:t>
            </a:r>
            <a:r>
              <a:rPr lang="en-US" sz="1600" dirty="0" smtClean="0"/>
              <a:t>.]]</a:t>
            </a:r>
          </a:p>
          <a:p>
            <a:endParaRPr lang="en-US" sz="4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arr</a:t>
            </a:r>
            <a:r>
              <a:rPr lang="en-US" sz="1600" dirty="0">
                <a:solidFill>
                  <a:srgbClr val="000080"/>
                </a:solidFill>
              </a:rPr>
              <a:t> </a:t>
            </a:r>
            <a:r>
              <a:rPr lang="en-US" sz="1600" dirty="0" smtClean="0">
                <a:solidFill>
                  <a:srgbClr val="000080"/>
                </a:solidFill>
              </a:rPr>
              <a:t>**2)</a:t>
            </a:r>
          </a:p>
          <a:p>
            <a:r>
              <a:rPr lang="en-US" sz="1600" dirty="0"/>
              <a:t>[[ 1.  4.  9.]</a:t>
            </a:r>
          </a:p>
          <a:p>
            <a:r>
              <a:rPr lang="en-US" sz="1600" dirty="0"/>
              <a:t> [16. 25. 36</a:t>
            </a:r>
            <a:r>
              <a:rPr lang="en-US" sz="1600" dirty="0" smtClean="0"/>
              <a:t>.]]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>
                <a:solidFill>
                  <a:srgbClr val="002060"/>
                </a:solidFill>
              </a:rPr>
              <a:t>arr2 = </a:t>
            </a:r>
            <a:r>
              <a:rPr lang="en-US" sz="1600" dirty="0" err="1">
                <a:solidFill>
                  <a:srgbClr val="002060"/>
                </a:solidFill>
              </a:rPr>
              <a:t>np.array</a:t>
            </a:r>
            <a:r>
              <a:rPr lang="en-US" sz="1600" dirty="0">
                <a:solidFill>
                  <a:srgbClr val="002060"/>
                </a:solidFill>
              </a:rPr>
              <a:t>([[0., 4., 1.], [7., 2., 12.]])</a:t>
            </a:r>
          </a:p>
          <a:p>
            <a:r>
              <a:rPr lang="en-US" sz="1600" dirty="0">
                <a:solidFill>
                  <a:srgbClr val="002060"/>
                </a:solidFill>
              </a:rPr>
              <a:t>print(arr2</a:t>
            </a:r>
            <a:r>
              <a:rPr lang="en-US" sz="1600" dirty="0" smtClean="0">
                <a:solidFill>
                  <a:srgbClr val="002060"/>
                </a:solidFill>
              </a:rPr>
              <a:t>)</a:t>
            </a:r>
          </a:p>
          <a:p>
            <a:r>
              <a:rPr lang="da-DK" sz="1600" dirty="0"/>
              <a:t>[[ 0.  4.  1.]</a:t>
            </a:r>
          </a:p>
          <a:p>
            <a:r>
              <a:rPr lang="da-DK" sz="1600" dirty="0"/>
              <a:t> [ 7.  2. 12</a:t>
            </a:r>
            <a:r>
              <a:rPr lang="da-DK" sz="1600" dirty="0" smtClean="0"/>
              <a:t>.]]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2060"/>
                </a:solidFill>
              </a:rPr>
              <a:t>print(arr2 &gt; </a:t>
            </a:r>
            <a:r>
              <a:rPr lang="en-US" sz="1600" dirty="0" err="1">
                <a:solidFill>
                  <a:srgbClr val="002060"/>
                </a:solidFill>
              </a:rPr>
              <a:t>arr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  <a:endParaRPr lang="en-US" sz="1600" dirty="0" smtClean="0">
              <a:solidFill>
                <a:srgbClr val="002060"/>
              </a:solidFill>
            </a:endParaRPr>
          </a:p>
          <a:p>
            <a:r>
              <a:rPr lang="da-DK" sz="1600" dirty="0" smtClean="0"/>
              <a:t>[[</a:t>
            </a:r>
            <a:r>
              <a:rPr lang="da-DK" sz="1600" dirty="0"/>
              <a:t>False  True False]</a:t>
            </a:r>
          </a:p>
          <a:p>
            <a:r>
              <a:rPr lang="da-DK" sz="1600" dirty="0"/>
              <a:t> [ True False  True</a:t>
            </a:r>
            <a:r>
              <a:rPr lang="da-DK" sz="1600" dirty="0" smtClean="0"/>
              <a:t>]]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60359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Indexing and Slicing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2394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One-dimensional arrays are simple; on the surface they act similarly to Python lists:</a:t>
            </a:r>
            <a:b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57847" y="2297329"/>
            <a:ext cx="7743254" cy="23083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2400" dirty="0" err="1">
                <a:solidFill>
                  <a:srgbClr val="002060"/>
                </a:solidFill>
              </a:rPr>
              <a:t>arr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 err="1">
                <a:solidFill>
                  <a:srgbClr val="002060"/>
                </a:solidFill>
              </a:rPr>
              <a:t>np.arange</a:t>
            </a:r>
            <a:r>
              <a:rPr lang="en-US" sz="2400" dirty="0">
                <a:solidFill>
                  <a:srgbClr val="002060"/>
                </a:solidFill>
              </a:rPr>
              <a:t>(10)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print(</a:t>
            </a:r>
            <a:r>
              <a:rPr lang="en-US" sz="2400" dirty="0" err="1">
                <a:solidFill>
                  <a:srgbClr val="002060"/>
                </a:solidFill>
              </a:rPr>
              <a:t>arr</a:t>
            </a:r>
            <a:r>
              <a:rPr lang="en-US" sz="2400" dirty="0">
                <a:solidFill>
                  <a:srgbClr val="002060"/>
                </a:solidFill>
              </a:rPr>
              <a:t>) </a:t>
            </a:r>
            <a:r>
              <a:rPr lang="en-US" sz="2400" dirty="0" smtClean="0">
                <a:solidFill>
                  <a:srgbClr val="002060"/>
                </a:solidFill>
              </a:rPr>
              <a:t>         </a:t>
            </a:r>
            <a:r>
              <a:rPr lang="en-US" sz="2400" dirty="0" smtClean="0"/>
              <a:t># </a:t>
            </a:r>
            <a:r>
              <a:rPr lang="en-US" sz="2400" dirty="0"/>
              <a:t>[0 1 2 3 4 5 6 7 8 9]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print(</a:t>
            </a:r>
            <a:r>
              <a:rPr lang="en-US" sz="2400" dirty="0" err="1">
                <a:solidFill>
                  <a:srgbClr val="002060"/>
                </a:solidFill>
              </a:rPr>
              <a:t>arr</a:t>
            </a:r>
            <a:r>
              <a:rPr lang="en-US" sz="2400" dirty="0">
                <a:solidFill>
                  <a:srgbClr val="002060"/>
                </a:solidFill>
              </a:rPr>
              <a:t>[5]) </a:t>
            </a:r>
            <a:r>
              <a:rPr lang="en-US" sz="2400" dirty="0" smtClean="0">
                <a:solidFill>
                  <a:srgbClr val="002060"/>
                </a:solidFill>
              </a:rPr>
              <a:t>    </a:t>
            </a:r>
            <a:r>
              <a:rPr lang="en-US" sz="2400" dirty="0" smtClean="0"/>
              <a:t>#</a:t>
            </a:r>
            <a:r>
              <a:rPr lang="en-US" sz="2400" dirty="0"/>
              <a:t>5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print(</a:t>
            </a:r>
            <a:r>
              <a:rPr lang="en-US" sz="2400" dirty="0" err="1">
                <a:solidFill>
                  <a:srgbClr val="002060"/>
                </a:solidFill>
              </a:rPr>
              <a:t>arr</a:t>
            </a:r>
            <a:r>
              <a:rPr lang="en-US" sz="2400" dirty="0">
                <a:solidFill>
                  <a:srgbClr val="002060"/>
                </a:solidFill>
              </a:rPr>
              <a:t>[5:8]) </a:t>
            </a:r>
            <a:r>
              <a:rPr lang="en-US" sz="2400" dirty="0"/>
              <a:t>#[5 6 7</a:t>
            </a:r>
            <a:r>
              <a:rPr lang="en-US" sz="2400" dirty="0" smtClean="0"/>
              <a:t>]</a:t>
            </a:r>
            <a:endParaRPr lang="en-US" sz="2400" dirty="0" smtClean="0">
              <a:solidFill>
                <a:srgbClr val="002060"/>
              </a:solidFill>
            </a:endParaRPr>
          </a:p>
          <a:p>
            <a:r>
              <a:rPr lang="en-US" sz="2400" dirty="0" err="1" smtClean="0">
                <a:solidFill>
                  <a:srgbClr val="002060"/>
                </a:solidFill>
              </a:rPr>
              <a:t>arr</a:t>
            </a:r>
            <a:r>
              <a:rPr lang="en-US" sz="2400" dirty="0" smtClean="0">
                <a:solidFill>
                  <a:srgbClr val="002060"/>
                </a:solidFill>
              </a:rPr>
              <a:t>[5:8</a:t>
            </a:r>
            <a:r>
              <a:rPr lang="en-US" sz="2400" dirty="0">
                <a:solidFill>
                  <a:srgbClr val="002060"/>
                </a:solidFill>
              </a:rPr>
              <a:t>] = </a:t>
            </a:r>
            <a:r>
              <a:rPr lang="en-US" sz="2400" dirty="0" smtClean="0">
                <a:solidFill>
                  <a:srgbClr val="002060"/>
                </a:solidFill>
              </a:rPr>
              <a:t>12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print(</a:t>
            </a:r>
            <a:r>
              <a:rPr lang="en-US" sz="2400" dirty="0" err="1">
                <a:solidFill>
                  <a:srgbClr val="002060"/>
                </a:solidFill>
              </a:rPr>
              <a:t>arr</a:t>
            </a:r>
            <a:r>
              <a:rPr lang="en-US" sz="2400" dirty="0">
                <a:solidFill>
                  <a:srgbClr val="002060"/>
                </a:solidFill>
              </a:rPr>
              <a:t>) </a:t>
            </a:r>
            <a:r>
              <a:rPr lang="en-US" sz="2400" dirty="0" smtClean="0">
                <a:solidFill>
                  <a:srgbClr val="002060"/>
                </a:solidFill>
              </a:rPr>
              <a:t>     </a:t>
            </a:r>
            <a:r>
              <a:rPr lang="en-US" sz="2400" dirty="0" smtClean="0"/>
              <a:t>#[ </a:t>
            </a:r>
            <a:r>
              <a:rPr lang="en-US" sz="2400" dirty="0"/>
              <a:t>0 1 2 3 4 12 12 12 8 9]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38537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Indexing and Slicing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As you can see, if you assign a scalar value to a slice, as in </a:t>
            </a:r>
            <a:r>
              <a:rPr lang="en-US" sz="2400" dirty="0" err="1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[5:8] = 12</a:t>
            </a: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, the value is propagated (or broadcasted) to the entire selection.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An important first distinction from Python’s built-in lists is that array slices are views on the original array.</a:t>
            </a:r>
          </a:p>
          <a:p>
            <a:pPr marL="800100" lvl="1" indent="-342900" defTabSz="685800">
              <a:lnSpc>
                <a:spcPct val="90000"/>
              </a:lnSpc>
              <a:spcBef>
                <a:spcPts val="750"/>
              </a:spcBef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This means that the data is not copied, and any modifications to the view will be reflected in the source array.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0670" y="3793249"/>
            <a:ext cx="8230431" cy="28623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2000" dirty="0" err="1">
                <a:solidFill>
                  <a:srgbClr val="002060"/>
                </a:solidFill>
              </a:rPr>
              <a:t>arr</a:t>
            </a:r>
            <a:r>
              <a:rPr lang="en-US" sz="2000" dirty="0">
                <a:solidFill>
                  <a:srgbClr val="002060"/>
                </a:solidFill>
              </a:rPr>
              <a:t> = </a:t>
            </a:r>
            <a:r>
              <a:rPr lang="en-US" sz="2000" dirty="0" err="1">
                <a:solidFill>
                  <a:srgbClr val="002060"/>
                </a:solidFill>
              </a:rPr>
              <a:t>np.arange</a:t>
            </a:r>
            <a:r>
              <a:rPr lang="en-US" sz="2000" dirty="0">
                <a:solidFill>
                  <a:srgbClr val="002060"/>
                </a:solidFill>
              </a:rPr>
              <a:t>(10)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</a:t>
            </a:r>
            <a:r>
              <a:rPr lang="en-US" sz="2000" dirty="0" err="1">
                <a:solidFill>
                  <a:srgbClr val="002060"/>
                </a:solidFill>
              </a:rPr>
              <a:t>arr</a:t>
            </a:r>
            <a:r>
              <a:rPr lang="en-US" sz="2000" dirty="0">
                <a:solidFill>
                  <a:srgbClr val="002060"/>
                </a:solidFill>
              </a:rPr>
              <a:t>) </a:t>
            </a:r>
            <a:r>
              <a:rPr lang="en-US" sz="2000" dirty="0" smtClean="0">
                <a:solidFill>
                  <a:srgbClr val="002060"/>
                </a:solidFill>
              </a:rPr>
              <a:t>         </a:t>
            </a:r>
            <a:r>
              <a:rPr lang="en-US" sz="2000" dirty="0" smtClean="0"/>
              <a:t># </a:t>
            </a:r>
            <a:r>
              <a:rPr lang="en-US" sz="2000" dirty="0"/>
              <a:t>[0 1 2 3 4 5 6 7 8 9]</a:t>
            </a: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err="1" smtClean="0">
                <a:solidFill>
                  <a:srgbClr val="002060"/>
                </a:solidFill>
              </a:rPr>
              <a:t>arr_slice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= </a:t>
            </a:r>
            <a:r>
              <a:rPr lang="en-US" sz="2000" dirty="0" err="1">
                <a:solidFill>
                  <a:srgbClr val="002060"/>
                </a:solidFill>
              </a:rPr>
              <a:t>arr</a:t>
            </a:r>
            <a:r>
              <a:rPr lang="en-US" sz="2000" dirty="0">
                <a:solidFill>
                  <a:srgbClr val="002060"/>
                </a:solidFill>
              </a:rPr>
              <a:t>[5:8]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</a:t>
            </a:r>
            <a:r>
              <a:rPr lang="en-US" sz="2000" dirty="0" err="1">
                <a:solidFill>
                  <a:srgbClr val="002060"/>
                </a:solidFill>
              </a:rPr>
              <a:t>arr_slice</a:t>
            </a:r>
            <a:r>
              <a:rPr lang="en-US" sz="2000" dirty="0">
                <a:solidFill>
                  <a:srgbClr val="002060"/>
                </a:solidFill>
              </a:rPr>
              <a:t>)   </a:t>
            </a:r>
            <a:r>
              <a:rPr lang="en-US" sz="2000" dirty="0" smtClean="0">
                <a:solidFill>
                  <a:srgbClr val="002060"/>
                </a:solidFill>
              </a:rPr>
              <a:t>         </a:t>
            </a:r>
            <a:r>
              <a:rPr lang="en-US" sz="2000" dirty="0" smtClean="0"/>
              <a:t># </a:t>
            </a:r>
            <a:r>
              <a:rPr lang="en-US" sz="2000" dirty="0"/>
              <a:t>[5 6 7]</a:t>
            </a:r>
          </a:p>
          <a:p>
            <a:r>
              <a:rPr lang="en-US" sz="2000" dirty="0" err="1">
                <a:solidFill>
                  <a:srgbClr val="002060"/>
                </a:solidFill>
              </a:rPr>
              <a:t>arr_slice</a:t>
            </a:r>
            <a:r>
              <a:rPr lang="en-US" sz="2000" dirty="0">
                <a:solidFill>
                  <a:srgbClr val="002060"/>
                </a:solidFill>
              </a:rPr>
              <a:t>[1] = 12345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</a:t>
            </a:r>
            <a:r>
              <a:rPr lang="en-US" sz="2000" dirty="0" err="1">
                <a:solidFill>
                  <a:srgbClr val="002060"/>
                </a:solidFill>
              </a:rPr>
              <a:t>arr</a:t>
            </a:r>
            <a:r>
              <a:rPr lang="en-US" sz="2000" dirty="0">
                <a:solidFill>
                  <a:srgbClr val="002060"/>
                </a:solidFill>
              </a:rPr>
              <a:t>)  </a:t>
            </a:r>
            <a:r>
              <a:rPr lang="en-US" sz="2000" dirty="0" smtClean="0">
                <a:solidFill>
                  <a:srgbClr val="002060"/>
                </a:solidFill>
              </a:rPr>
              <a:t>                    </a:t>
            </a:r>
            <a:r>
              <a:rPr lang="en-US" sz="2000" dirty="0" smtClean="0"/>
              <a:t># </a:t>
            </a:r>
            <a:r>
              <a:rPr lang="en-US" sz="2000" dirty="0"/>
              <a:t>[    0     1     2     3     4     5 12345     7     8     9]</a:t>
            </a:r>
          </a:p>
          <a:p>
            <a:r>
              <a:rPr lang="en-US" sz="2000" dirty="0" err="1">
                <a:solidFill>
                  <a:srgbClr val="002060"/>
                </a:solidFill>
              </a:rPr>
              <a:t>arr_slice</a:t>
            </a:r>
            <a:r>
              <a:rPr lang="en-US" sz="2000" dirty="0">
                <a:solidFill>
                  <a:srgbClr val="002060"/>
                </a:solidFill>
              </a:rPr>
              <a:t>[:] = 64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</a:t>
            </a:r>
            <a:r>
              <a:rPr lang="en-US" sz="2000" dirty="0" err="1">
                <a:solidFill>
                  <a:srgbClr val="002060"/>
                </a:solidFill>
              </a:rPr>
              <a:t>arr</a:t>
            </a:r>
            <a:r>
              <a:rPr lang="en-US" sz="2000" dirty="0">
                <a:solidFill>
                  <a:srgbClr val="002060"/>
                </a:solidFill>
              </a:rPr>
              <a:t>) </a:t>
            </a:r>
            <a:r>
              <a:rPr lang="en-US" sz="2000" dirty="0" smtClean="0">
                <a:solidFill>
                  <a:srgbClr val="002060"/>
                </a:solidFill>
              </a:rPr>
              <a:t>                     </a:t>
            </a:r>
            <a:r>
              <a:rPr lang="en-US" sz="2000" dirty="0" smtClean="0"/>
              <a:t># </a:t>
            </a:r>
            <a:r>
              <a:rPr lang="en-US" sz="2000" dirty="0"/>
              <a:t>[ 0  1  2  3  4 64 64 64  8  9]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3233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Indexing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3596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In a two-dimensional array, the elements at each index are no longer scalars but rather one-dimensional arrays: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latin typeface="Verdana" pitchFamily="34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Thus</a:t>
            </a: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, individual elements can be accessed recursively. But that is a bit too much work, so you can pass a comma-separated list of indices to select individual elements.</a:t>
            </a:r>
          </a:p>
          <a:p>
            <a:pPr marL="171450" lvl="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 panose="02020603050405020304" pitchFamily="18" charset="0"/>
              </a:rPr>
              <a:t>So these are equivalent: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7784" y="2299644"/>
            <a:ext cx="7743254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2000" dirty="0">
                <a:solidFill>
                  <a:srgbClr val="002060"/>
                </a:solidFill>
              </a:rPr>
              <a:t>arr2d = </a:t>
            </a:r>
            <a:r>
              <a:rPr lang="en-US" sz="2000" dirty="0" err="1">
                <a:solidFill>
                  <a:srgbClr val="002060"/>
                </a:solidFill>
              </a:rPr>
              <a:t>np.array</a:t>
            </a:r>
            <a:r>
              <a:rPr lang="en-US" sz="2000" dirty="0">
                <a:solidFill>
                  <a:srgbClr val="002060"/>
                </a:solidFill>
              </a:rPr>
              <a:t>([[1, 2, 3], [4, 5, 6], [7, 8, 9]])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print(arr2d[2])         # [7 8 9</a:t>
            </a:r>
            <a:r>
              <a:rPr lang="en-US" sz="2000" dirty="0" smtClean="0">
                <a:solidFill>
                  <a:srgbClr val="002060"/>
                </a:solidFill>
              </a:rPr>
              <a:t>]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print(arr2d[0][2])       # 3</a:t>
            </a:r>
          </a:p>
          <a:p>
            <a:r>
              <a:rPr lang="en-US" sz="2000" dirty="0">
                <a:solidFill>
                  <a:srgbClr val="002060"/>
                </a:solidFill>
              </a:rPr>
              <a:t>print(arr2d[0, 2])       #</a:t>
            </a:r>
            <a:r>
              <a:rPr lang="en-US" sz="2000" dirty="0" smtClean="0">
                <a:solidFill>
                  <a:srgbClr val="0020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00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Exercise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7666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Consider the two-dimensional array, arr2d.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Write a code to slice this array to display the last column,</a:t>
            </a:r>
          </a:p>
          <a:p>
            <a:r>
              <a:rPr lang="en-US" sz="2400" dirty="0"/>
              <a:t>                </a:t>
            </a:r>
            <a:endParaRPr lang="en-US" sz="2400" dirty="0" smtClean="0"/>
          </a:p>
          <a:p>
            <a:pPr algn="ctr"/>
            <a:r>
              <a:rPr lang="en-US" sz="2400" dirty="0" smtClean="0"/>
              <a:t> </a:t>
            </a:r>
            <a:r>
              <a:rPr lang="en-US" sz="2400" dirty="0">
                <a:solidFill>
                  <a:schemeClr val="accent1"/>
                </a:solidFill>
              </a:rPr>
              <a:t>[[3] [6] [9]]</a:t>
            </a:r>
          </a:p>
          <a:p>
            <a:endParaRPr lang="en-US" sz="2400" dirty="0"/>
          </a:p>
          <a:p>
            <a:r>
              <a:rPr lang="en-US" sz="2400" dirty="0"/>
              <a:t>Write a code to slice this array to display the last 2 elements of middle array,</a:t>
            </a:r>
          </a:p>
          <a:p>
            <a:pPr algn="ctr"/>
            <a:r>
              <a:rPr lang="en-US" sz="2400" dirty="0">
                <a:solidFill>
                  <a:schemeClr val="accent1"/>
                </a:solidFill>
              </a:rPr>
              <a:t>  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[5 6]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3176" y="1888123"/>
            <a:ext cx="4778089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arr2d = </a:t>
            </a:r>
            <a:r>
              <a:rPr lang="en-US" dirty="0" err="1">
                <a:solidFill>
                  <a:srgbClr val="002060"/>
                </a:solidFill>
              </a:rPr>
              <a:t>np.array</a:t>
            </a:r>
            <a:r>
              <a:rPr lang="en-US" dirty="0">
                <a:solidFill>
                  <a:srgbClr val="002060"/>
                </a:solidFill>
              </a:rPr>
              <a:t>([[1, 2, 3], [4, 5, 6], [7, 8, 9</a:t>
            </a:r>
            <a:r>
              <a:rPr lang="en-US" dirty="0" smtClean="0">
                <a:solidFill>
                  <a:srgbClr val="002060"/>
                </a:solidFill>
              </a:rPr>
              <a:t>]])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6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16182</TotalTime>
  <Words>1761</Words>
  <Application>Microsoft Office PowerPoint</Application>
  <PresentationFormat>Custom</PresentationFormat>
  <Paragraphs>205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Office 2013 - 2022 Theme</vt:lpstr>
      <vt:lpstr>1_Office 2013 - 2022 Theme</vt:lpstr>
      <vt:lpstr>2_Office 2013 - 2022 Theme</vt:lpstr>
      <vt:lpstr>   DATA SCIENCE  EL-334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Bilal Ahmed</dc:creator>
  <cp:lastModifiedBy>My Computer</cp:lastModifiedBy>
  <cp:revision>721</cp:revision>
  <dcterms:created xsi:type="dcterms:W3CDTF">2023-11-19T15:28:11Z</dcterms:created>
  <dcterms:modified xsi:type="dcterms:W3CDTF">2024-11-21T03:42:57Z</dcterms:modified>
</cp:coreProperties>
</file>
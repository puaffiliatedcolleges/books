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21"/>
  </p:notesMasterIdLst>
  <p:sldIdLst>
    <p:sldId id="1056" r:id="rId3"/>
    <p:sldId id="256" r:id="rId4"/>
    <p:sldId id="1071" r:id="rId5"/>
    <p:sldId id="1092" r:id="rId6"/>
    <p:sldId id="1093" r:id="rId7"/>
    <p:sldId id="1094" r:id="rId8"/>
    <p:sldId id="1091" r:id="rId9"/>
    <p:sldId id="1100" r:id="rId10"/>
    <p:sldId id="1074" r:id="rId11"/>
    <p:sldId id="1070" r:id="rId12"/>
    <p:sldId id="1095" r:id="rId13"/>
    <p:sldId id="1096" r:id="rId14"/>
    <p:sldId id="1097" r:id="rId15"/>
    <p:sldId id="1072" r:id="rId16"/>
    <p:sldId id="1098" r:id="rId17"/>
    <p:sldId id="1099" r:id="rId18"/>
    <p:sldId id="1103" r:id="rId19"/>
    <p:sldId id="11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3022"/>
    <a:srgbClr val="2460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59" autoAdjust="0"/>
    <p:restoredTop sz="98321" autoAdjust="0"/>
  </p:normalViewPr>
  <p:slideViewPr>
    <p:cSldViewPr snapToGrid="0">
      <p:cViewPr>
        <p:scale>
          <a:sx n="60" d="100"/>
          <a:sy n="60" d="100"/>
        </p:scale>
        <p:origin x="-1038" y="-192"/>
      </p:cViewPr>
      <p:guideLst>
        <p:guide orient="horz" pos="2160"/>
        <p:guide pos="3840"/>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041F0B-E64A-4355-99C5-8BA3385D271D}" type="datetimeFigureOut">
              <a:rPr lang="en-US" smtClean="0"/>
              <a:t>11/25/2024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F5E292-06FB-44DC-BB7C-DF202842EA6A}" type="slidenum">
              <a:rPr lang="en-US" smtClean="0"/>
              <a:t>‹#›</a:t>
            </a:fld>
            <a:endParaRPr lang="en-US"/>
          </a:p>
        </p:txBody>
      </p:sp>
    </p:spTree>
    <p:extLst>
      <p:ext uri="{BB962C8B-B14F-4D97-AF65-F5344CB8AC3E}">
        <p14:creationId xmlns:p14="http://schemas.microsoft.com/office/powerpoint/2010/main" val="990362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29476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9dc25e60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59dc25e60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dirty="0"/>
          </a:p>
        </p:txBody>
      </p:sp>
    </p:spTree>
    <p:extLst>
      <p:ext uri="{BB962C8B-B14F-4D97-AF65-F5344CB8AC3E}">
        <p14:creationId xmlns:p14="http://schemas.microsoft.com/office/powerpoint/2010/main" val="2346842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FC69DDC-A0D7-48BB-B727-162CF63964E3}"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CDD4BE-C717-421A-8997-D80BE809E784}" type="slidenum">
              <a:rPr lang="en-US" smtClean="0"/>
              <a:t>‹#›</a:t>
            </a:fld>
            <a:endParaRPr lang="en-US"/>
          </a:p>
        </p:txBody>
      </p:sp>
    </p:spTree>
    <p:extLst>
      <p:ext uri="{BB962C8B-B14F-4D97-AF65-F5344CB8AC3E}">
        <p14:creationId xmlns:p14="http://schemas.microsoft.com/office/powerpoint/2010/main" val="2221609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C69DDC-A0D7-48BB-B727-162CF63964E3}"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CDD4BE-C717-421A-8997-D80BE809E784}" type="slidenum">
              <a:rPr lang="en-US" smtClean="0"/>
              <a:t>‹#›</a:t>
            </a:fld>
            <a:endParaRPr lang="en-US"/>
          </a:p>
        </p:txBody>
      </p:sp>
    </p:spTree>
    <p:extLst>
      <p:ext uri="{BB962C8B-B14F-4D97-AF65-F5344CB8AC3E}">
        <p14:creationId xmlns:p14="http://schemas.microsoft.com/office/powerpoint/2010/main" val="323132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C69DDC-A0D7-48BB-B727-162CF63964E3}"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CDD4BE-C717-421A-8997-D80BE809E784}" type="slidenum">
              <a:rPr lang="en-US" smtClean="0"/>
              <a:t>‹#›</a:t>
            </a:fld>
            <a:endParaRPr lang="en-US"/>
          </a:p>
        </p:txBody>
      </p:sp>
    </p:spTree>
    <p:extLst>
      <p:ext uri="{BB962C8B-B14F-4D97-AF65-F5344CB8AC3E}">
        <p14:creationId xmlns:p14="http://schemas.microsoft.com/office/powerpoint/2010/main" val="4028200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FC69DDC-A0D7-48BB-B727-162CF63964E3}"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CDD4BE-C717-421A-8997-D80BE809E784}" type="slidenum">
              <a:rPr lang="en-US" smtClean="0"/>
              <a:t>‹#›</a:t>
            </a:fld>
            <a:endParaRPr lang="en-US"/>
          </a:p>
        </p:txBody>
      </p:sp>
    </p:spTree>
    <p:extLst>
      <p:ext uri="{BB962C8B-B14F-4D97-AF65-F5344CB8AC3E}">
        <p14:creationId xmlns:p14="http://schemas.microsoft.com/office/powerpoint/2010/main" val="2453288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FC69DDC-A0D7-48BB-B727-162CF63964E3}" type="datetimeFigureOut">
              <a:rPr lang="en-US" smtClean="0"/>
              <a:t>11/25/2024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CDD4BE-C717-421A-8997-D80BE809E784}" type="slidenum">
              <a:rPr lang="en-US" smtClean="0"/>
              <a:t>‹#›</a:t>
            </a:fld>
            <a:endParaRPr lang="en-US"/>
          </a:p>
        </p:txBody>
      </p:sp>
    </p:spTree>
    <p:extLst>
      <p:ext uri="{BB962C8B-B14F-4D97-AF65-F5344CB8AC3E}">
        <p14:creationId xmlns:p14="http://schemas.microsoft.com/office/powerpoint/2010/main" val="2310305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C69DDC-A0D7-48BB-B727-162CF63964E3}" type="datetimeFigureOut">
              <a:rPr lang="en-US" smtClean="0"/>
              <a:t>11/25/2024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CDD4BE-C717-421A-8997-D80BE809E784}" type="slidenum">
              <a:rPr lang="en-US" smtClean="0"/>
              <a:t>‹#›</a:t>
            </a:fld>
            <a:endParaRPr lang="en-US"/>
          </a:p>
        </p:txBody>
      </p:sp>
    </p:spTree>
    <p:extLst>
      <p:ext uri="{BB962C8B-B14F-4D97-AF65-F5344CB8AC3E}">
        <p14:creationId xmlns:p14="http://schemas.microsoft.com/office/powerpoint/2010/main" val="2940050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C69DDC-A0D7-48BB-B727-162CF63964E3}" type="datetimeFigureOut">
              <a:rPr lang="en-US" smtClean="0"/>
              <a:t>11/25/2024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CDD4BE-C717-421A-8997-D80BE809E784}" type="slidenum">
              <a:rPr lang="en-US" smtClean="0"/>
              <a:t>‹#›</a:t>
            </a:fld>
            <a:endParaRPr lang="en-US"/>
          </a:p>
        </p:txBody>
      </p:sp>
    </p:spTree>
    <p:extLst>
      <p:ext uri="{BB962C8B-B14F-4D97-AF65-F5344CB8AC3E}">
        <p14:creationId xmlns:p14="http://schemas.microsoft.com/office/powerpoint/2010/main" val="2212518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C69DDC-A0D7-48BB-B727-162CF63964E3}"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CDD4BE-C717-421A-8997-D80BE809E784}" type="slidenum">
              <a:rPr lang="en-US" smtClean="0"/>
              <a:t>‹#›</a:t>
            </a:fld>
            <a:endParaRPr lang="en-US"/>
          </a:p>
        </p:txBody>
      </p:sp>
    </p:spTree>
    <p:extLst>
      <p:ext uri="{BB962C8B-B14F-4D97-AF65-F5344CB8AC3E}">
        <p14:creationId xmlns:p14="http://schemas.microsoft.com/office/powerpoint/2010/main" val="663296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C69DDC-A0D7-48BB-B727-162CF63964E3}"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CDD4BE-C717-421A-8997-D80BE809E784}" type="slidenum">
              <a:rPr lang="en-US" smtClean="0"/>
              <a:t>‹#›</a:t>
            </a:fld>
            <a:endParaRPr lang="en-US"/>
          </a:p>
        </p:txBody>
      </p:sp>
    </p:spTree>
    <p:extLst>
      <p:ext uri="{BB962C8B-B14F-4D97-AF65-F5344CB8AC3E}">
        <p14:creationId xmlns:p14="http://schemas.microsoft.com/office/powerpoint/2010/main" val="2264460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C69DDC-A0D7-48BB-B727-162CF63964E3}"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CDD4BE-C717-421A-8997-D80BE809E784}" type="slidenum">
              <a:rPr lang="en-US" smtClean="0"/>
              <a:t>‹#›</a:t>
            </a:fld>
            <a:endParaRPr lang="en-US"/>
          </a:p>
        </p:txBody>
      </p:sp>
    </p:spTree>
    <p:extLst>
      <p:ext uri="{BB962C8B-B14F-4D97-AF65-F5344CB8AC3E}">
        <p14:creationId xmlns:p14="http://schemas.microsoft.com/office/powerpoint/2010/main" val="1604563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C69DDC-A0D7-48BB-B727-162CF63964E3}"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CDD4BE-C717-421A-8997-D80BE809E784}" type="slidenum">
              <a:rPr lang="en-US" smtClean="0"/>
              <a:t>‹#›</a:t>
            </a:fld>
            <a:endParaRPr lang="en-US"/>
          </a:p>
        </p:txBody>
      </p:sp>
    </p:spTree>
    <p:extLst>
      <p:ext uri="{BB962C8B-B14F-4D97-AF65-F5344CB8AC3E}">
        <p14:creationId xmlns:p14="http://schemas.microsoft.com/office/powerpoint/2010/main" val="3044748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FC69DDC-A0D7-48BB-B727-162CF63964E3}" type="datetimeFigureOut">
              <a:rPr lang="en-US" smtClean="0">
                <a:solidFill>
                  <a:prstClr val="black">
                    <a:tint val="75000"/>
                  </a:prstClr>
                </a:solidFill>
              </a:rPr>
              <a:pPr/>
              <a:t>11/25/2024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CDD4BE-C717-421A-8997-D80BE809E7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6416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C69DDC-A0D7-48BB-B727-162CF63964E3}" type="datetimeFigureOut">
              <a:rPr lang="en-US" smtClean="0">
                <a:solidFill>
                  <a:prstClr val="black">
                    <a:tint val="75000"/>
                  </a:prstClr>
                </a:solidFill>
              </a:rPr>
              <a:pPr/>
              <a:t>11/25/2024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CDD4BE-C717-421A-8997-D80BE809E7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914725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C69DDC-A0D7-48BB-B727-162CF63964E3}" type="datetimeFigureOut">
              <a:rPr lang="en-US" smtClean="0">
                <a:solidFill>
                  <a:prstClr val="black">
                    <a:tint val="75000"/>
                  </a:prstClr>
                </a:solidFill>
              </a:rPr>
              <a:pPr/>
              <a:t>11/25/2024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CDD4BE-C717-421A-8997-D80BE809E7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22785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FC69DDC-A0D7-48BB-B727-162CF63964E3}" type="datetimeFigureOut">
              <a:rPr lang="en-US" smtClean="0">
                <a:solidFill>
                  <a:prstClr val="black">
                    <a:tint val="75000"/>
                  </a:prstClr>
                </a:solidFill>
              </a:rPr>
              <a:pPr/>
              <a:t>11/25/2024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9CDD4BE-C717-421A-8997-D80BE809E7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415871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FC69DDC-A0D7-48BB-B727-162CF63964E3}" type="datetimeFigureOut">
              <a:rPr lang="en-US" smtClean="0">
                <a:solidFill>
                  <a:prstClr val="black">
                    <a:tint val="75000"/>
                  </a:prstClr>
                </a:solidFill>
              </a:rPr>
              <a:pPr/>
              <a:t>11/25/2024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89CDD4BE-C717-421A-8997-D80BE809E7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05503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C69DDC-A0D7-48BB-B727-162CF63964E3}" type="datetimeFigureOut">
              <a:rPr lang="en-US" smtClean="0">
                <a:solidFill>
                  <a:prstClr val="black">
                    <a:tint val="75000"/>
                  </a:prstClr>
                </a:solidFill>
              </a:rPr>
              <a:pPr/>
              <a:t>11/25/2024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89CDD4BE-C717-421A-8997-D80BE809E7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906238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C69DDC-A0D7-48BB-B727-162CF63964E3}" type="datetimeFigureOut">
              <a:rPr lang="en-US" smtClean="0">
                <a:solidFill>
                  <a:prstClr val="black">
                    <a:tint val="75000"/>
                  </a:prstClr>
                </a:solidFill>
              </a:rPr>
              <a:pPr/>
              <a:t>11/25/2024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89CDD4BE-C717-421A-8997-D80BE809E7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86088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C69DDC-A0D7-48BB-B727-162CF63964E3}" type="datetimeFigureOut">
              <a:rPr lang="en-US" smtClean="0">
                <a:solidFill>
                  <a:prstClr val="black">
                    <a:tint val="75000"/>
                  </a:prstClr>
                </a:solidFill>
              </a:rPr>
              <a:pPr/>
              <a:t>11/25/2024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9CDD4BE-C717-421A-8997-D80BE809E7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572225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C69DDC-A0D7-48BB-B727-162CF63964E3}" type="datetimeFigureOut">
              <a:rPr lang="en-US" smtClean="0">
                <a:solidFill>
                  <a:prstClr val="black">
                    <a:tint val="75000"/>
                  </a:prstClr>
                </a:solidFill>
              </a:rPr>
              <a:pPr/>
              <a:t>11/25/2024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9CDD4BE-C717-421A-8997-D80BE809E7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39944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C69DDC-A0D7-48BB-B727-162CF63964E3}" type="datetimeFigureOut">
              <a:rPr lang="en-US" smtClean="0">
                <a:solidFill>
                  <a:prstClr val="black">
                    <a:tint val="75000"/>
                  </a:prstClr>
                </a:solidFill>
              </a:rPr>
              <a:pPr/>
              <a:t>11/25/2024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CDD4BE-C717-421A-8997-D80BE809E7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39147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C69DDC-A0D7-48BB-B727-162CF63964E3}" type="datetimeFigureOut">
              <a:rPr lang="en-US" smtClean="0">
                <a:solidFill>
                  <a:prstClr val="black">
                    <a:tint val="75000"/>
                  </a:prstClr>
                </a:solidFill>
              </a:rPr>
              <a:pPr/>
              <a:t>11/25/2024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CDD4BE-C717-421A-8997-D80BE809E7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82122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C69DDC-A0D7-48BB-B727-162CF63964E3}" type="datetimeFigureOut">
              <a:rPr lang="en-US" smtClean="0"/>
              <a:t>11/25/2024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CDD4BE-C717-421A-8997-D80BE809E784}" type="slidenum">
              <a:rPr lang="en-US" smtClean="0"/>
              <a:t>‹#›</a:t>
            </a:fld>
            <a:endParaRPr lang="en-US"/>
          </a:p>
        </p:txBody>
      </p:sp>
      <p:sp>
        <p:nvSpPr>
          <p:cNvPr id="7" name="object 8">
            <a:extLst>
              <a:ext uri="{FF2B5EF4-FFF2-40B4-BE49-F238E27FC236}">
                <a16:creationId xmlns="" xmlns:a16="http://schemas.microsoft.com/office/drawing/2014/main" id="{D0759A2F-F78F-3FF5-0179-0BA53E3CA16A}"/>
              </a:ext>
            </a:extLst>
          </p:cNvPr>
          <p:cNvSpPr/>
          <p:nvPr userDrawn="1"/>
        </p:nvSpPr>
        <p:spPr>
          <a:xfrm>
            <a:off x="2" y="609600"/>
            <a:ext cx="12191999" cy="132080"/>
          </a:xfrm>
          <a:prstGeom prst="rect">
            <a:avLst/>
          </a:prstGeom>
          <a:blipFill>
            <a:blip r:embed="rId13" cstate="print"/>
            <a:stretch>
              <a:fillRect/>
            </a:stretch>
          </a:blipFill>
        </p:spPr>
        <p:txBody>
          <a:bodyPr wrap="square" lIns="0" tIns="0" rIns="0" bIns="0" rtlCol="0"/>
          <a:lstStyle/>
          <a:p>
            <a:endParaRPr sz="1800" dirty="0"/>
          </a:p>
        </p:txBody>
      </p:sp>
    </p:spTree>
    <p:extLst>
      <p:ext uri="{BB962C8B-B14F-4D97-AF65-F5344CB8AC3E}">
        <p14:creationId xmlns:p14="http://schemas.microsoft.com/office/powerpoint/2010/main" val="135531372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C69DDC-A0D7-48BB-B727-162CF63964E3}" type="datetimeFigureOut">
              <a:rPr lang="en-US" smtClean="0">
                <a:solidFill>
                  <a:prstClr val="black">
                    <a:tint val="75000"/>
                  </a:prstClr>
                </a:solidFill>
              </a:rPr>
              <a:pPr/>
              <a:t>11/25/2024</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CDD4BE-C717-421A-8997-D80BE809E784}" type="slidenum">
              <a:rPr lang="en-US" smtClean="0">
                <a:solidFill>
                  <a:prstClr val="black">
                    <a:tint val="75000"/>
                  </a:prstClr>
                </a:solidFill>
              </a:rPr>
              <a:pPr/>
              <a:t>‹#›</a:t>
            </a:fld>
            <a:endParaRPr lang="en-US">
              <a:solidFill>
                <a:prstClr val="black">
                  <a:tint val="75000"/>
                </a:prstClr>
              </a:solidFill>
            </a:endParaRPr>
          </a:p>
        </p:txBody>
      </p:sp>
      <p:sp>
        <p:nvSpPr>
          <p:cNvPr id="7" name="object 8">
            <a:extLst>
              <a:ext uri="{FF2B5EF4-FFF2-40B4-BE49-F238E27FC236}">
                <a16:creationId xmlns="" xmlns:a16="http://schemas.microsoft.com/office/drawing/2014/main" id="{D0759A2F-F78F-3FF5-0179-0BA53E3CA16A}"/>
              </a:ext>
            </a:extLst>
          </p:cNvPr>
          <p:cNvSpPr/>
          <p:nvPr userDrawn="1"/>
        </p:nvSpPr>
        <p:spPr>
          <a:xfrm>
            <a:off x="2" y="609600"/>
            <a:ext cx="12191999" cy="132080"/>
          </a:xfrm>
          <a:prstGeom prst="rect">
            <a:avLst/>
          </a:prstGeom>
          <a:blipFill>
            <a:blip r:embed="rId13" cstate="print"/>
            <a:stretch>
              <a:fillRect/>
            </a:stretch>
          </a:blipFill>
        </p:spPr>
        <p:txBody>
          <a:bodyPr wrap="square" lIns="0" tIns="0" rIns="0" bIns="0" rtlCol="0"/>
          <a:lstStyle/>
          <a:p>
            <a:endParaRPr dirty="0">
              <a:solidFill>
                <a:prstClr val="black"/>
              </a:solidFill>
            </a:endParaRPr>
          </a:p>
        </p:txBody>
      </p:sp>
    </p:spTree>
    <p:extLst>
      <p:ext uri="{BB962C8B-B14F-4D97-AF65-F5344CB8AC3E}">
        <p14:creationId xmlns:p14="http://schemas.microsoft.com/office/powerpoint/2010/main" val="392862648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hyperlink" Target="https://pandas.pydata.org/docs/reference/series.html" TargetMode="External"/><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8.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332093" y="1303958"/>
            <a:ext cx="9144000" cy="2387600"/>
          </a:xfrm>
          <a:prstGeom prst="rect">
            <a:avLst/>
          </a:prstGeom>
          <a:noFill/>
          <a:ln>
            <a:noFill/>
          </a:ln>
        </p:spPr>
        <p:txBody>
          <a:bodyPr spcFirstLastPara="1" wrap="square" lIns="91425" tIns="45700" rIns="91425" bIns="45700" anchor="b" anchorCtr="0">
            <a:normAutofit fontScale="90000"/>
          </a:bodyPr>
          <a:lstStyle/>
          <a:p>
            <a:pPr lvl="0">
              <a:lnSpc>
                <a:spcPct val="150000"/>
              </a:lnSpc>
              <a:spcBef>
                <a:spcPts val="0"/>
              </a:spcBef>
              <a:buClr>
                <a:schemeClr val="dk1"/>
              </a:buClr>
              <a:buSzPct val="100000"/>
            </a:pPr>
            <a:r>
              <a:rPr lang="en-US" sz="1800" b="1" dirty="0" smtClean="0">
                <a:latin typeface="Times New Roman"/>
                <a:ea typeface="Times New Roman"/>
                <a:cs typeface="Times New Roman"/>
                <a:sym typeface="Times New Roman"/>
              </a:rPr>
              <a:t> </a:t>
            </a:r>
            <a:r>
              <a:rPr lang="en-US" sz="1800" dirty="0" smtClean="0">
                <a:latin typeface="Times New Roman"/>
                <a:ea typeface="Times New Roman"/>
                <a:cs typeface="Times New Roman"/>
                <a:sym typeface="Times New Roman"/>
              </a:rPr>
              <a:t/>
            </a:r>
            <a:br>
              <a:rPr lang="en-US" sz="1800" dirty="0" smtClean="0">
                <a:latin typeface="Times New Roman"/>
                <a:ea typeface="Times New Roman"/>
                <a:cs typeface="Times New Roman"/>
                <a:sym typeface="Times New Roman"/>
              </a:rPr>
            </a:br>
            <a:r>
              <a:rPr lang="en-US" sz="2700" dirty="0" smtClean="0">
                <a:latin typeface="Times New Roman"/>
                <a:ea typeface="Times New Roman"/>
                <a:cs typeface="Times New Roman"/>
                <a:sym typeface="Times New Roman"/>
              </a:rPr>
              <a:t/>
            </a:r>
            <a:br>
              <a:rPr lang="en-US" sz="2700" dirty="0" smtClean="0">
                <a:latin typeface="Times New Roman"/>
                <a:ea typeface="Times New Roman"/>
                <a:cs typeface="Times New Roman"/>
                <a:sym typeface="Times New Roman"/>
              </a:rPr>
            </a:br>
            <a:r>
              <a:rPr lang="en-US" sz="2700" b="1" dirty="0">
                <a:latin typeface="Times New Roman"/>
                <a:ea typeface="Times New Roman"/>
                <a:cs typeface="Times New Roman"/>
                <a:sym typeface="Times New Roman"/>
              </a:rPr>
              <a:t>DATA SCIENCE </a:t>
            </a:r>
            <a:br>
              <a:rPr lang="en-US" sz="2700" b="1" dirty="0">
                <a:latin typeface="Times New Roman"/>
                <a:ea typeface="Times New Roman"/>
                <a:cs typeface="Times New Roman"/>
                <a:sym typeface="Times New Roman"/>
              </a:rPr>
            </a:br>
            <a:r>
              <a:rPr lang="en-US" sz="2700" b="1" dirty="0">
                <a:latin typeface="Times New Roman"/>
                <a:ea typeface="Times New Roman"/>
                <a:cs typeface="Times New Roman"/>
                <a:sym typeface="Times New Roman"/>
              </a:rPr>
              <a:t>EL-334</a:t>
            </a:r>
            <a:br>
              <a:rPr lang="en-US" sz="2700" b="1" dirty="0">
                <a:latin typeface="Times New Roman"/>
                <a:ea typeface="Times New Roman"/>
                <a:cs typeface="Times New Roman"/>
                <a:sym typeface="Times New Roman"/>
              </a:rPr>
            </a:br>
            <a:r>
              <a:rPr lang="en-US" sz="2700" b="1" dirty="0" smtClean="0">
                <a:latin typeface="Times New Roman"/>
                <a:ea typeface="Times New Roman"/>
                <a:cs typeface="Times New Roman"/>
                <a:sym typeface="Times New Roman"/>
              </a:rPr>
              <a:t>BSIT</a:t>
            </a:r>
            <a:r>
              <a:rPr lang="en-US" sz="1800" dirty="0" smtClean="0">
                <a:latin typeface="Times New Roman"/>
                <a:ea typeface="Times New Roman"/>
                <a:cs typeface="Times New Roman"/>
                <a:sym typeface="Times New Roman"/>
              </a:rPr>
              <a:t/>
            </a:r>
            <a:br>
              <a:rPr lang="en-US" sz="1800" dirty="0" smtClean="0">
                <a:latin typeface="Times New Roman"/>
                <a:ea typeface="Times New Roman"/>
                <a:cs typeface="Times New Roman"/>
                <a:sym typeface="Times New Roman"/>
              </a:rPr>
            </a:br>
            <a:endParaRPr dirty="0"/>
          </a:p>
        </p:txBody>
      </p:sp>
      <p:sp>
        <p:nvSpPr>
          <p:cNvPr id="85" name="Google Shape;85;p1"/>
          <p:cNvSpPr txBox="1"/>
          <p:nvPr/>
        </p:nvSpPr>
        <p:spPr>
          <a:xfrm>
            <a:off x="3172537" y="2737491"/>
            <a:ext cx="5993444" cy="12926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600" b="1" i="0" u="none" strike="noStrike" cap="none" dirty="0" smtClean="0">
                <a:solidFill>
                  <a:schemeClr val="dk1"/>
                </a:solidFill>
                <a:latin typeface="Times New Roman"/>
                <a:ea typeface="Times New Roman"/>
                <a:cs typeface="Times New Roman"/>
                <a:sym typeface="Times New Roman"/>
              </a:rPr>
              <a:t>LECTURE # </a:t>
            </a:r>
            <a:r>
              <a:rPr lang="en-US" sz="2600" b="1" i="0" u="none" strike="noStrike" cap="none" dirty="0" smtClean="0">
                <a:solidFill>
                  <a:schemeClr val="dk1"/>
                </a:solidFill>
                <a:latin typeface="Times New Roman"/>
                <a:ea typeface="Times New Roman"/>
                <a:cs typeface="Times New Roman"/>
                <a:sym typeface="Times New Roman"/>
              </a:rPr>
              <a:t>04</a:t>
            </a:r>
          </a:p>
          <a:p>
            <a:pPr algn="ctr">
              <a:buClr>
                <a:srgbClr val="000000"/>
              </a:buClr>
              <a:buSzPts val="1800"/>
            </a:pPr>
            <a:r>
              <a:rPr lang="en-US" sz="2600" b="1" dirty="0" smtClean="0">
                <a:latin typeface="Times New Roman" pitchFamily="18" charset="0"/>
                <a:cs typeface="Times New Roman" pitchFamily="18" charset="0"/>
              </a:rPr>
              <a:t>Data </a:t>
            </a:r>
            <a:r>
              <a:rPr lang="en-US" sz="2600" b="1" dirty="0" smtClean="0">
                <a:latin typeface="Times New Roman" pitchFamily="18" charset="0"/>
                <a:cs typeface="Times New Roman" pitchFamily="18" charset="0"/>
              </a:rPr>
              <a:t>manipulation and Cleaning</a:t>
            </a:r>
          </a:p>
          <a:p>
            <a:pPr algn="ctr">
              <a:buClr>
                <a:srgbClr val="000000"/>
              </a:buClr>
              <a:buSzPts val="1800"/>
            </a:pPr>
            <a:r>
              <a:rPr lang="en-US" sz="2600" i="0" u="none" strike="noStrike" cap="none" dirty="0" smtClean="0">
                <a:solidFill>
                  <a:schemeClr val="dk1"/>
                </a:solidFill>
                <a:latin typeface="Times New Roman" pitchFamily="18" charset="0"/>
                <a:ea typeface="Times New Roman"/>
                <a:cs typeface="Times New Roman" pitchFamily="18" charset="0"/>
                <a:sym typeface="Times New Roman"/>
              </a:rPr>
              <a:t>Python Pandas: A Data Science Library</a:t>
            </a:r>
            <a:endParaRPr lang="en-US" sz="2600" i="0" u="none" strike="noStrike" cap="none" dirty="0" smtClean="0">
              <a:solidFill>
                <a:schemeClr val="dk1"/>
              </a:solidFill>
              <a:latin typeface="Times New Roman" pitchFamily="18" charset="0"/>
              <a:ea typeface="Times New Roman"/>
              <a:cs typeface="Times New Roman" pitchFamily="18" charset="0"/>
              <a:sym typeface="Times New Roman"/>
            </a:endParaRPr>
          </a:p>
        </p:txBody>
      </p:sp>
      <p:sp>
        <p:nvSpPr>
          <p:cNvPr id="86" name="Google Shape;86;p1"/>
          <p:cNvSpPr txBox="1">
            <a:spLocks noGrp="1"/>
          </p:cNvSpPr>
          <p:nvPr>
            <p:ph type="subTitle" idx="1"/>
          </p:nvPr>
        </p:nvSpPr>
        <p:spPr>
          <a:xfrm>
            <a:off x="3999757" y="5120608"/>
            <a:ext cx="4339004" cy="578310"/>
          </a:xfrm>
          <a:prstGeom prst="rect">
            <a:avLst/>
          </a:prstGeom>
          <a:noFill/>
          <a:ln>
            <a:noFill/>
          </a:ln>
        </p:spPr>
        <p:txBody>
          <a:bodyPr spcFirstLastPara="1" wrap="square" lIns="91425" tIns="45700" rIns="91425" bIns="45700" anchor="t" anchorCtr="0">
            <a:normAutofit fontScale="77500" lnSpcReduction="20000"/>
          </a:bodyPr>
          <a:lstStyle/>
          <a:p>
            <a:pPr marL="0" lvl="0" indent="0" algn="ctr" rtl="0">
              <a:lnSpc>
                <a:spcPct val="90000"/>
              </a:lnSpc>
              <a:spcBef>
                <a:spcPts val="0"/>
              </a:spcBef>
              <a:spcAft>
                <a:spcPts val="0"/>
              </a:spcAft>
              <a:buClr>
                <a:schemeClr val="dk1"/>
              </a:buClr>
              <a:buSzPts val="2800"/>
              <a:buNone/>
            </a:pPr>
            <a:r>
              <a:rPr lang="en-US" sz="2800" b="1" dirty="0">
                <a:latin typeface="Times New Roman"/>
                <a:ea typeface="Times New Roman"/>
                <a:cs typeface="Times New Roman"/>
                <a:sym typeface="Times New Roman"/>
              </a:rPr>
              <a:t>b</a:t>
            </a:r>
            <a:r>
              <a:rPr lang="en-US" sz="2800" b="1" dirty="0" smtClean="0">
                <a:latin typeface="Times New Roman"/>
                <a:ea typeface="Times New Roman"/>
                <a:cs typeface="Times New Roman"/>
                <a:sym typeface="Times New Roman"/>
              </a:rPr>
              <a:t>y </a:t>
            </a:r>
          </a:p>
          <a:p>
            <a:pPr marL="0" lvl="0" indent="0" algn="ctr" rtl="0">
              <a:lnSpc>
                <a:spcPct val="90000"/>
              </a:lnSpc>
              <a:spcBef>
                <a:spcPts val="0"/>
              </a:spcBef>
              <a:spcAft>
                <a:spcPts val="0"/>
              </a:spcAft>
              <a:buClr>
                <a:schemeClr val="dk1"/>
              </a:buClr>
              <a:buSzPts val="2800"/>
              <a:buNone/>
            </a:pPr>
            <a:r>
              <a:rPr lang="en-US" sz="2800" b="1" dirty="0" smtClean="0">
                <a:latin typeface="Times New Roman"/>
                <a:ea typeface="Times New Roman"/>
                <a:cs typeface="Times New Roman"/>
                <a:sym typeface="Times New Roman"/>
              </a:rPr>
              <a:t>Safoora Qurban</a:t>
            </a:r>
            <a:endParaRPr sz="2800" dirty="0"/>
          </a:p>
        </p:txBody>
      </p:sp>
      <p:pic>
        <p:nvPicPr>
          <p:cNvPr id="1026" name="Picture 2" descr="Free Python Logo Icon - Free Download Logos Logo Icons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47991" y="1296735"/>
            <a:ext cx="24384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pandas - Python Data Analysis Librar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365" y="1408722"/>
            <a:ext cx="3286520" cy="2326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90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938"/>
            <a:ext cx="12191998" cy="685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object 8">
            <a:extLst>
              <a:ext uri="{FF2B5EF4-FFF2-40B4-BE49-F238E27FC236}">
                <a16:creationId xmlns="" xmlns:a16="http://schemas.microsoft.com/office/drawing/2014/main" id="{6CED6318-9AD9-F68F-507F-88DDDB182BB8}"/>
              </a:ext>
            </a:extLst>
          </p:cNvPr>
          <p:cNvSpPr/>
          <p:nvPr/>
        </p:nvSpPr>
        <p:spPr>
          <a:xfrm>
            <a:off x="1" y="5766357"/>
            <a:ext cx="12191998" cy="53418"/>
          </a:xfrm>
          <a:prstGeom prst="rect">
            <a:avLst/>
          </a:prstGeom>
          <a:solidFill>
            <a:srgbClr val="FFFF00"/>
          </a:solidFill>
        </p:spPr>
        <p:txBody>
          <a:bodyPr wrap="square" lIns="0" tIns="0" rIns="0" bIns="0" rtlCol="0"/>
          <a:lstStyle/>
          <a:p>
            <a:endParaRPr dirty="0">
              <a:highlight>
                <a:srgbClr val="FFFF00"/>
              </a:highlight>
            </a:endParaRPr>
          </a:p>
        </p:txBody>
      </p:sp>
      <p:sp>
        <p:nvSpPr>
          <p:cNvPr id="4" name="Title 1">
            <a:extLst>
              <a:ext uri="{FF2B5EF4-FFF2-40B4-BE49-F238E27FC236}">
                <a16:creationId xmlns="" xmlns:a16="http://schemas.microsoft.com/office/drawing/2014/main" id="{FD435CB8-DDC7-C561-8E2D-7B50C159B7B0}"/>
              </a:ext>
            </a:extLst>
          </p:cNvPr>
          <p:cNvSpPr txBox="1">
            <a:spLocks/>
          </p:cNvSpPr>
          <p:nvPr/>
        </p:nvSpPr>
        <p:spPr>
          <a:xfrm>
            <a:off x="1524000" y="865066"/>
            <a:ext cx="9144000" cy="884906"/>
          </a:xfrm>
          <a:prstGeom prst="rect">
            <a:avLst/>
          </a:prstGeom>
          <a:solidFill>
            <a:srgbClr val="123022"/>
          </a:solidFill>
        </p:spPr>
        <p:txBody>
          <a:bodyPr vert="horz" lIns="91440" tIns="45720" rIns="91440" bIns="45720" rtlCol="0" anchor="b">
            <a:normAutofit fontScale="8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b="1" dirty="0" smtClean="0">
                <a:solidFill>
                  <a:srgbClr val="FFFF00"/>
                </a:solidFill>
                <a:latin typeface="Google Sans"/>
              </a:rPr>
              <a:t>Python </a:t>
            </a:r>
            <a:r>
              <a:rPr lang="en-US" sz="4400" b="1" dirty="0">
                <a:solidFill>
                  <a:srgbClr val="FFFF00"/>
                </a:solidFill>
                <a:latin typeface="Google Sans"/>
              </a:rPr>
              <a:t>Pandas: A Data Science Library</a:t>
            </a:r>
          </a:p>
        </p:txBody>
      </p:sp>
      <p:sp>
        <p:nvSpPr>
          <p:cNvPr id="2" name="AutoShape 2" descr="Python 3.12 - A quality upgrade with many desirable featur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2187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2847576" y="232094"/>
            <a:ext cx="6828440" cy="646331"/>
          </a:xfrm>
          <a:prstGeom prst="rect">
            <a:avLst/>
          </a:prstGeom>
          <a:noFill/>
        </p:spPr>
        <p:txBody>
          <a:bodyPr wrap="square">
            <a:spAutoFit/>
          </a:bodyPr>
          <a:lstStyle/>
          <a:p>
            <a:pPr algn="ctr"/>
            <a:r>
              <a:rPr lang="en-US" sz="3600" b="1" dirty="0"/>
              <a:t>What </a:t>
            </a:r>
            <a:r>
              <a:rPr lang="en-US" sz="3600" b="1" dirty="0" smtClean="0"/>
              <a:t>is </a:t>
            </a:r>
            <a:r>
              <a:rPr lang="en-US" sz="3600" b="1" dirty="0"/>
              <a:t>pandas?</a:t>
            </a:r>
            <a:endParaRPr lang="en-US" sz="3600" b="1" dirty="0">
              <a:solidFill>
                <a:prstClr val="black"/>
              </a:solidFill>
            </a:endParaRPr>
          </a:p>
        </p:txBody>
      </p:sp>
      <p:sp>
        <p:nvSpPr>
          <p:cNvPr id="22" name="TextBox 21">
            <a:extLst>
              <a:ext uri="{FF2B5EF4-FFF2-40B4-BE49-F238E27FC236}">
                <a16:creationId xmlns="" xmlns:a16="http://schemas.microsoft.com/office/drawing/2014/main" id="{70778C02-DAB7-65FA-AB76-FF0250D760FE}"/>
              </a:ext>
            </a:extLst>
          </p:cNvPr>
          <p:cNvSpPr txBox="1"/>
          <p:nvPr/>
        </p:nvSpPr>
        <p:spPr>
          <a:xfrm>
            <a:off x="244461" y="1256098"/>
            <a:ext cx="11812072" cy="4154984"/>
          </a:xfrm>
          <a:prstGeom prst="rect">
            <a:avLst/>
          </a:prstGeom>
          <a:noFill/>
        </p:spPr>
        <p:txBody>
          <a:bodyPr wrap="square">
            <a:spAutoFit/>
          </a:bodyPr>
          <a:lstStyle/>
          <a:p>
            <a:pPr algn="just">
              <a:lnSpc>
                <a:spcPct val="150000"/>
              </a:lnSpc>
            </a:pPr>
            <a:r>
              <a:rPr lang="en-US" sz="2200" dirty="0">
                <a:latin typeface="Verdana" pitchFamily="34" charset="0"/>
                <a:ea typeface="Verdana" pitchFamily="34" charset="0"/>
              </a:rPr>
              <a:t>• </a:t>
            </a:r>
            <a:r>
              <a:rPr lang="en-US" sz="2200" dirty="0" smtClean="0">
                <a:latin typeface="Verdana" pitchFamily="34" charset="0"/>
                <a:ea typeface="Verdana" pitchFamily="34" charset="0"/>
              </a:rPr>
              <a:t>Opened </a:t>
            </a:r>
            <a:r>
              <a:rPr lang="en-US" sz="2200" dirty="0">
                <a:latin typeface="Verdana" pitchFamily="34" charset="0"/>
                <a:ea typeface="Verdana" pitchFamily="34" charset="0"/>
              </a:rPr>
              <a:t>sourced in </a:t>
            </a:r>
            <a:r>
              <a:rPr lang="en-US" sz="2200" dirty="0" smtClean="0">
                <a:latin typeface="Verdana" pitchFamily="34" charset="0"/>
                <a:ea typeface="Verdana" pitchFamily="34" charset="0"/>
              </a:rPr>
              <a:t>2009, </a:t>
            </a:r>
            <a:r>
              <a:rPr lang="en-US" sz="2200" i="1" dirty="0" smtClean="0">
                <a:latin typeface="Verdana" pitchFamily="34" charset="0"/>
                <a:ea typeface="Verdana" pitchFamily="34" charset="0"/>
              </a:rPr>
              <a:t>pandas </a:t>
            </a:r>
            <a:r>
              <a:rPr lang="en-US" sz="2200" dirty="0" smtClean="0">
                <a:latin typeface="Verdana" pitchFamily="34" charset="0"/>
                <a:ea typeface="Verdana" pitchFamily="34" charset="0"/>
              </a:rPr>
              <a:t>is </a:t>
            </a:r>
            <a:r>
              <a:rPr lang="en-US" sz="2200" dirty="0">
                <a:latin typeface="Verdana" pitchFamily="34" charset="0"/>
                <a:ea typeface="Verdana" pitchFamily="34" charset="0"/>
              </a:rPr>
              <a:t>a library containing high-level data structures and tools that have </a:t>
            </a:r>
            <a:r>
              <a:rPr lang="en-US" sz="2200" dirty="0" smtClean="0">
                <a:latin typeface="Verdana" pitchFamily="34" charset="0"/>
                <a:ea typeface="Verdana" pitchFamily="34" charset="0"/>
              </a:rPr>
              <a:t>been created </a:t>
            </a:r>
            <a:r>
              <a:rPr lang="en-US" sz="2200" dirty="0">
                <a:latin typeface="Verdana" pitchFamily="34" charset="0"/>
                <a:ea typeface="Verdana" pitchFamily="34" charset="0"/>
              </a:rPr>
              <a:t>to assist a Python programmer to perform powerful data </a:t>
            </a:r>
            <a:r>
              <a:rPr lang="en-US" sz="2200" dirty="0" smtClean="0">
                <a:latin typeface="Verdana" pitchFamily="34" charset="0"/>
                <a:ea typeface="Verdana" pitchFamily="34" charset="0"/>
              </a:rPr>
              <a:t>manipulations, and </a:t>
            </a:r>
            <a:r>
              <a:rPr lang="en-US" sz="2200" dirty="0">
                <a:latin typeface="Verdana" pitchFamily="34" charset="0"/>
                <a:ea typeface="Verdana" pitchFamily="34" charset="0"/>
              </a:rPr>
              <a:t>discover information in that data in a simple and fast way</a:t>
            </a:r>
            <a:r>
              <a:rPr lang="en-US" sz="2200" dirty="0" smtClean="0">
                <a:latin typeface="Verdana" pitchFamily="34" charset="0"/>
                <a:ea typeface="Verdana" pitchFamily="34" charset="0"/>
              </a:rPr>
              <a:t>.</a:t>
            </a:r>
          </a:p>
          <a:p>
            <a:pPr algn="just">
              <a:lnSpc>
                <a:spcPct val="150000"/>
              </a:lnSpc>
            </a:pPr>
            <a:r>
              <a:rPr lang="en-US" sz="2200" dirty="0">
                <a:latin typeface="Verdana" pitchFamily="34" charset="0"/>
                <a:ea typeface="Verdana" pitchFamily="34" charset="0"/>
              </a:rPr>
              <a:t>• </a:t>
            </a:r>
            <a:r>
              <a:rPr lang="en-US" sz="2200" dirty="0" smtClean="0">
                <a:latin typeface="Verdana" pitchFamily="34" charset="0"/>
                <a:ea typeface="Verdana" pitchFamily="34" charset="0"/>
              </a:rPr>
              <a:t>The </a:t>
            </a:r>
            <a:r>
              <a:rPr lang="en-US" sz="2200" dirty="0">
                <a:latin typeface="Verdana" pitchFamily="34" charset="0"/>
                <a:ea typeface="Verdana" pitchFamily="34" charset="0"/>
              </a:rPr>
              <a:t>simple and effective data analysis requires the ability to index, retrieve, tidy, reshape, combine, slice, and perform various analyses on both single and multidimensional data, including heterogeneous typed data that is automatically aligned along index labels. </a:t>
            </a:r>
          </a:p>
        </p:txBody>
      </p:sp>
      <p:pic>
        <p:nvPicPr>
          <p:cNvPr id="13" name="Picture 12" descr="pandas - Python Data Analysis Libra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8827" y="30745"/>
            <a:ext cx="1481959" cy="1049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8667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1971366" y="332389"/>
            <a:ext cx="6828440" cy="646331"/>
          </a:xfrm>
          <a:prstGeom prst="rect">
            <a:avLst/>
          </a:prstGeom>
          <a:noFill/>
        </p:spPr>
        <p:txBody>
          <a:bodyPr wrap="square">
            <a:spAutoFit/>
          </a:bodyPr>
          <a:lstStyle/>
          <a:p>
            <a:pPr algn="ctr"/>
            <a:r>
              <a:rPr lang="en-US" sz="3600" b="1" dirty="0" smtClean="0"/>
              <a:t>Why </a:t>
            </a:r>
            <a:r>
              <a:rPr lang="en-US" sz="3600" b="1" dirty="0" smtClean="0"/>
              <a:t>pandas is important?</a:t>
            </a:r>
            <a:endParaRPr lang="en-US" sz="3600" b="1" dirty="0">
              <a:solidFill>
                <a:prstClr val="black"/>
              </a:solidFill>
            </a:endParaRPr>
          </a:p>
        </p:txBody>
      </p:sp>
      <p:sp>
        <p:nvSpPr>
          <p:cNvPr id="22" name="TextBox 21">
            <a:extLst>
              <a:ext uri="{FF2B5EF4-FFF2-40B4-BE49-F238E27FC236}">
                <a16:creationId xmlns="" xmlns:a16="http://schemas.microsoft.com/office/drawing/2014/main" id="{70778C02-DAB7-65FA-AB76-FF0250D760FE}"/>
              </a:ext>
            </a:extLst>
          </p:cNvPr>
          <p:cNvSpPr txBox="1"/>
          <p:nvPr/>
        </p:nvSpPr>
        <p:spPr>
          <a:xfrm>
            <a:off x="537663" y="1097620"/>
            <a:ext cx="11113054" cy="5678478"/>
          </a:xfrm>
          <a:prstGeom prst="rect">
            <a:avLst/>
          </a:prstGeom>
          <a:noFill/>
        </p:spPr>
        <p:txBody>
          <a:bodyPr wrap="square">
            <a:spAutoFit/>
          </a:bodyPr>
          <a:lstStyle/>
          <a:p>
            <a:pPr algn="just">
              <a:lnSpc>
                <a:spcPct val="150000"/>
              </a:lnSpc>
            </a:pPr>
            <a:r>
              <a:rPr lang="en-US" sz="2200" dirty="0" smtClean="0">
                <a:latin typeface="Verdana" pitchFamily="34" charset="0"/>
                <a:ea typeface="Verdana" pitchFamily="34" charset="0"/>
              </a:rPr>
              <a:t>To </a:t>
            </a:r>
            <a:r>
              <a:rPr lang="en-US" sz="2200" dirty="0">
                <a:latin typeface="Verdana" pitchFamily="34" charset="0"/>
                <a:ea typeface="Verdana" pitchFamily="34" charset="0"/>
              </a:rPr>
              <a:t>enable these capabilities, pandas provides </a:t>
            </a:r>
            <a:r>
              <a:rPr lang="en-US" sz="2200" dirty="0" smtClean="0">
                <a:latin typeface="Verdana" pitchFamily="34" charset="0"/>
                <a:ea typeface="Verdana" pitchFamily="34" charset="0"/>
              </a:rPr>
              <a:t>the following features:</a:t>
            </a:r>
          </a:p>
          <a:p>
            <a:pPr lvl="1" algn="just">
              <a:lnSpc>
                <a:spcPct val="150000"/>
              </a:lnSpc>
            </a:pPr>
            <a:r>
              <a:rPr lang="en-US" sz="2200" dirty="0" smtClean="0">
                <a:latin typeface="Verdana" pitchFamily="34" charset="0"/>
                <a:ea typeface="Verdana" pitchFamily="34" charset="0"/>
              </a:rPr>
              <a:t>• High </a:t>
            </a:r>
            <a:r>
              <a:rPr lang="en-US" sz="2200" dirty="0">
                <a:latin typeface="Verdana" pitchFamily="34" charset="0"/>
                <a:ea typeface="Verdana" pitchFamily="34" charset="0"/>
              </a:rPr>
              <a:t>performance array and table structures for representation </a:t>
            </a:r>
            <a:r>
              <a:rPr lang="en-US" sz="2200" dirty="0" smtClean="0">
                <a:latin typeface="Verdana" pitchFamily="34" charset="0"/>
                <a:ea typeface="Verdana" pitchFamily="34" charset="0"/>
              </a:rPr>
              <a:t>of homogenous </a:t>
            </a:r>
            <a:r>
              <a:rPr lang="en-US" sz="2200" dirty="0">
                <a:latin typeface="Verdana" pitchFamily="34" charset="0"/>
                <a:ea typeface="Verdana" pitchFamily="34" charset="0"/>
              </a:rPr>
              <a:t>and heterogeneous data sets: the Series and DataFrame objects</a:t>
            </a:r>
          </a:p>
          <a:p>
            <a:pPr lvl="1" algn="just">
              <a:lnSpc>
                <a:spcPct val="150000"/>
              </a:lnSpc>
            </a:pPr>
            <a:r>
              <a:rPr lang="en-US" sz="2200" dirty="0">
                <a:latin typeface="Verdana" pitchFamily="34" charset="0"/>
                <a:ea typeface="Verdana" pitchFamily="34" charset="0"/>
              </a:rPr>
              <a:t>• Flexible reshaping of data structure, allowing the ability to insert and </a:t>
            </a:r>
            <a:r>
              <a:rPr lang="en-US" sz="2200" dirty="0" smtClean="0">
                <a:latin typeface="Verdana" pitchFamily="34" charset="0"/>
                <a:ea typeface="Verdana" pitchFamily="34" charset="0"/>
              </a:rPr>
              <a:t>delete both </a:t>
            </a:r>
            <a:r>
              <a:rPr lang="en-US" sz="2200" dirty="0">
                <a:latin typeface="Verdana" pitchFamily="34" charset="0"/>
                <a:ea typeface="Verdana" pitchFamily="34" charset="0"/>
              </a:rPr>
              <a:t>rows and columns of tabular data</a:t>
            </a:r>
          </a:p>
          <a:p>
            <a:pPr lvl="1" algn="just">
              <a:lnSpc>
                <a:spcPct val="150000"/>
              </a:lnSpc>
            </a:pPr>
            <a:r>
              <a:rPr lang="en-US" sz="2200" dirty="0">
                <a:latin typeface="Verdana" pitchFamily="34" charset="0"/>
                <a:ea typeface="Verdana" pitchFamily="34" charset="0"/>
              </a:rPr>
              <a:t>• Hierarchical indexing of data along multiple axes (both rows and columns</a:t>
            </a:r>
            <a:r>
              <a:rPr lang="en-US" sz="2200" dirty="0" smtClean="0">
                <a:latin typeface="Verdana" pitchFamily="34" charset="0"/>
                <a:ea typeface="Verdana" pitchFamily="34" charset="0"/>
              </a:rPr>
              <a:t>), allowing </a:t>
            </a:r>
            <a:r>
              <a:rPr lang="en-US" sz="2200" dirty="0">
                <a:latin typeface="Verdana" pitchFamily="34" charset="0"/>
                <a:ea typeface="Verdana" pitchFamily="34" charset="0"/>
              </a:rPr>
              <a:t>multiple labels per data item</a:t>
            </a:r>
          </a:p>
          <a:p>
            <a:pPr lvl="1" algn="just">
              <a:lnSpc>
                <a:spcPct val="150000"/>
              </a:lnSpc>
            </a:pPr>
            <a:r>
              <a:rPr lang="en-US" sz="2200" dirty="0">
                <a:latin typeface="Verdana" pitchFamily="34" charset="0"/>
                <a:ea typeface="Verdana" pitchFamily="34" charset="0"/>
              </a:rPr>
              <a:t>• Labeling of series and tabular data to facilitate </a:t>
            </a:r>
            <a:r>
              <a:rPr lang="en-US" sz="2200" dirty="0" smtClean="0">
                <a:latin typeface="Verdana" pitchFamily="34" charset="0"/>
                <a:ea typeface="Verdana" pitchFamily="34" charset="0"/>
              </a:rPr>
              <a:t>indexing</a:t>
            </a:r>
          </a:p>
          <a:p>
            <a:pPr lvl="1" algn="just">
              <a:lnSpc>
                <a:spcPct val="150000"/>
              </a:lnSpc>
            </a:pPr>
            <a:r>
              <a:rPr lang="en-US" sz="2200" dirty="0">
                <a:latin typeface="Verdana" pitchFamily="34" charset="0"/>
                <a:ea typeface="Verdana" pitchFamily="34" charset="0"/>
              </a:rPr>
              <a:t>• </a:t>
            </a:r>
            <a:r>
              <a:rPr lang="en-US" sz="2200" dirty="0" smtClean="0">
                <a:latin typeface="Verdana" pitchFamily="34" charset="0"/>
                <a:ea typeface="Verdana" pitchFamily="34" charset="0"/>
              </a:rPr>
              <a:t>Ability </a:t>
            </a:r>
            <a:r>
              <a:rPr lang="en-US" sz="2200" dirty="0">
                <a:latin typeface="Verdana" pitchFamily="34" charset="0"/>
                <a:ea typeface="Verdana" pitchFamily="34" charset="0"/>
              </a:rPr>
              <a:t>to easily identify and fix missing data, both in floating point and as non-floating point </a:t>
            </a:r>
            <a:r>
              <a:rPr lang="en-US" sz="2200" dirty="0" smtClean="0">
                <a:latin typeface="Verdana" pitchFamily="34" charset="0"/>
                <a:ea typeface="Verdana" pitchFamily="34" charset="0"/>
              </a:rPr>
              <a:t>formats</a:t>
            </a:r>
            <a:endParaRPr lang="en-US" sz="2200" dirty="0">
              <a:latin typeface="Verdana" pitchFamily="34" charset="0"/>
              <a:ea typeface="Verdana" pitchFamily="34" charset="0"/>
            </a:endParaRPr>
          </a:p>
        </p:txBody>
      </p:sp>
      <p:pic>
        <p:nvPicPr>
          <p:cNvPr id="13" name="Picture 12" descr="pandas - Python Data Analysis Libra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8827" y="30745"/>
            <a:ext cx="1481959" cy="1049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82397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1971366" y="332389"/>
            <a:ext cx="6828440" cy="646331"/>
          </a:xfrm>
          <a:prstGeom prst="rect">
            <a:avLst/>
          </a:prstGeom>
          <a:noFill/>
        </p:spPr>
        <p:txBody>
          <a:bodyPr wrap="square">
            <a:spAutoFit/>
          </a:bodyPr>
          <a:lstStyle/>
          <a:p>
            <a:pPr algn="ctr"/>
            <a:r>
              <a:rPr lang="en-US" sz="3600" b="1" dirty="0" smtClean="0"/>
              <a:t>Why </a:t>
            </a:r>
            <a:r>
              <a:rPr lang="en-US" sz="3600" b="1" dirty="0" smtClean="0"/>
              <a:t>pandas is important?</a:t>
            </a:r>
            <a:endParaRPr lang="en-US" sz="3600" b="1" dirty="0">
              <a:solidFill>
                <a:prstClr val="black"/>
              </a:solidFill>
            </a:endParaRPr>
          </a:p>
        </p:txBody>
      </p:sp>
      <p:sp>
        <p:nvSpPr>
          <p:cNvPr id="22" name="TextBox 21">
            <a:extLst>
              <a:ext uri="{FF2B5EF4-FFF2-40B4-BE49-F238E27FC236}">
                <a16:creationId xmlns="" xmlns:a16="http://schemas.microsoft.com/office/drawing/2014/main" id="{70778C02-DAB7-65FA-AB76-FF0250D760FE}"/>
              </a:ext>
            </a:extLst>
          </p:cNvPr>
          <p:cNvSpPr txBox="1"/>
          <p:nvPr/>
        </p:nvSpPr>
        <p:spPr>
          <a:xfrm>
            <a:off x="537663" y="1256098"/>
            <a:ext cx="11199412" cy="4662815"/>
          </a:xfrm>
          <a:prstGeom prst="rect">
            <a:avLst/>
          </a:prstGeom>
          <a:noFill/>
        </p:spPr>
        <p:txBody>
          <a:bodyPr wrap="square">
            <a:spAutoFit/>
          </a:bodyPr>
          <a:lstStyle/>
          <a:p>
            <a:pPr algn="just">
              <a:lnSpc>
                <a:spcPct val="150000"/>
              </a:lnSpc>
            </a:pPr>
            <a:r>
              <a:rPr lang="en-US" sz="2200" dirty="0" smtClean="0">
                <a:latin typeface="Verdana" pitchFamily="34" charset="0"/>
                <a:ea typeface="Verdana" pitchFamily="34" charset="0"/>
              </a:rPr>
              <a:t>To </a:t>
            </a:r>
            <a:r>
              <a:rPr lang="en-US" sz="2200" dirty="0">
                <a:latin typeface="Verdana" pitchFamily="34" charset="0"/>
                <a:ea typeface="Verdana" pitchFamily="34" charset="0"/>
              </a:rPr>
              <a:t>enable these capabilities, pandas provides </a:t>
            </a:r>
            <a:r>
              <a:rPr lang="en-US" sz="2200" dirty="0" smtClean="0">
                <a:latin typeface="Verdana" pitchFamily="34" charset="0"/>
                <a:ea typeface="Verdana" pitchFamily="34" charset="0"/>
              </a:rPr>
              <a:t>the following features:</a:t>
            </a:r>
          </a:p>
          <a:p>
            <a:pPr lvl="1" algn="just">
              <a:lnSpc>
                <a:spcPct val="150000"/>
              </a:lnSpc>
            </a:pPr>
            <a:r>
              <a:rPr lang="en-US" sz="2200" dirty="0" smtClean="0">
                <a:latin typeface="Verdana" pitchFamily="34" charset="0"/>
                <a:ea typeface="Verdana" pitchFamily="34" charset="0"/>
              </a:rPr>
              <a:t>• </a:t>
            </a:r>
            <a:r>
              <a:rPr lang="en-US" sz="2200" dirty="0">
                <a:latin typeface="Verdana" pitchFamily="34" charset="0"/>
                <a:ea typeface="Verdana" pitchFamily="34" charset="0"/>
              </a:rPr>
              <a:t>Powerful grouping capabilities and a functionality to </a:t>
            </a:r>
            <a:r>
              <a:rPr lang="en-US" sz="2200" dirty="0" smtClean="0">
                <a:latin typeface="Verdana" pitchFamily="34" charset="0"/>
                <a:ea typeface="Verdana" pitchFamily="34" charset="0"/>
              </a:rPr>
              <a:t>perform split-apply-combine </a:t>
            </a:r>
            <a:r>
              <a:rPr lang="en-US" sz="2200" dirty="0">
                <a:latin typeface="Verdana" pitchFamily="34" charset="0"/>
                <a:ea typeface="Verdana" pitchFamily="34" charset="0"/>
              </a:rPr>
              <a:t>operations on series and tabular data </a:t>
            </a:r>
            <a:endParaRPr lang="en-US" sz="2200" dirty="0" smtClean="0">
              <a:latin typeface="Verdana" pitchFamily="34" charset="0"/>
              <a:ea typeface="Verdana" pitchFamily="34" charset="0"/>
            </a:endParaRPr>
          </a:p>
          <a:p>
            <a:pPr lvl="1" algn="just">
              <a:lnSpc>
                <a:spcPct val="150000"/>
              </a:lnSpc>
            </a:pPr>
            <a:r>
              <a:rPr lang="en-US" sz="2200" dirty="0">
                <a:latin typeface="Verdana" pitchFamily="34" charset="0"/>
                <a:ea typeface="Verdana" pitchFamily="34" charset="0"/>
              </a:rPr>
              <a:t>• Simple conversion from ragged and differently indexed data of both </a:t>
            </a:r>
            <a:r>
              <a:rPr lang="en-US" sz="2200" dirty="0" err="1" smtClean="0">
                <a:latin typeface="Verdana" pitchFamily="34" charset="0"/>
                <a:ea typeface="Verdana" pitchFamily="34" charset="0"/>
              </a:rPr>
              <a:t>NumPy</a:t>
            </a:r>
            <a:r>
              <a:rPr lang="en-US" sz="2200" dirty="0" smtClean="0">
                <a:latin typeface="Verdana" pitchFamily="34" charset="0"/>
                <a:ea typeface="Verdana" pitchFamily="34" charset="0"/>
              </a:rPr>
              <a:t> and </a:t>
            </a:r>
            <a:r>
              <a:rPr lang="en-US" sz="2200" dirty="0">
                <a:latin typeface="Verdana" pitchFamily="34" charset="0"/>
                <a:ea typeface="Verdana" pitchFamily="34" charset="0"/>
              </a:rPr>
              <a:t>Python data structures to pandas objects</a:t>
            </a:r>
          </a:p>
          <a:p>
            <a:pPr lvl="1" algn="just">
              <a:lnSpc>
                <a:spcPct val="150000"/>
              </a:lnSpc>
            </a:pPr>
            <a:r>
              <a:rPr lang="en-US" sz="2200" dirty="0">
                <a:latin typeface="Verdana" pitchFamily="34" charset="0"/>
                <a:ea typeface="Verdana" pitchFamily="34" charset="0"/>
              </a:rPr>
              <a:t>• Smart label-based slicing and </a:t>
            </a:r>
            <a:r>
              <a:rPr lang="en-US" sz="2200" dirty="0" err="1">
                <a:latin typeface="Verdana" pitchFamily="34" charset="0"/>
                <a:ea typeface="Verdana" pitchFamily="34" charset="0"/>
              </a:rPr>
              <a:t>subsetting</a:t>
            </a:r>
            <a:r>
              <a:rPr lang="en-US" sz="2200" dirty="0">
                <a:latin typeface="Verdana" pitchFamily="34" charset="0"/>
                <a:ea typeface="Verdana" pitchFamily="34" charset="0"/>
              </a:rPr>
              <a:t> of data sets, including intuitive </a:t>
            </a:r>
            <a:r>
              <a:rPr lang="en-US" sz="2200" dirty="0" smtClean="0">
                <a:latin typeface="Verdana" pitchFamily="34" charset="0"/>
                <a:ea typeface="Verdana" pitchFamily="34" charset="0"/>
              </a:rPr>
              <a:t>and flexible </a:t>
            </a:r>
            <a:r>
              <a:rPr lang="en-US" sz="2200" dirty="0">
                <a:latin typeface="Verdana" pitchFamily="34" charset="0"/>
                <a:ea typeface="Verdana" pitchFamily="34" charset="0"/>
              </a:rPr>
              <a:t>merging, and joining of data with SQL-like </a:t>
            </a:r>
            <a:r>
              <a:rPr lang="en-US" sz="2200" dirty="0" smtClean="0">
                <a:latin typeface="Verdana" pitchFamily="34" charset="0"/>
                <a:ea typeface="Verdana" pitchFamily="34" charset="0"/>
              </a:rPr>
              <a:t>constructs</a:t>
            </a:r>
          </a:p>
          <a:p>
            <a:pPr lvl="1" algn="just">
              <a:lnSpc>
                <a:spcPct val="150000"/>
              </a:lnSpc>
            </a:pPr>
            <a:r>
              <a:rPr lang="en-US" sz="2200" dirty="0">
                <a:latin typeface="Verdana" pitchFamily="34" charset="0"/>
                <a:ea typeface="Verdana" pitchFamily="34" charset="0"/>
              </a:rPr>
              <a:t>• </a:t>
            </a:r>
            <a:r>
              <a:rPr lang="en-US" sz="2200" dirty="0" smtClean="0">
                <a:latin typeface="Verdana" pitchFamily="34" charset="0"/>
                <a:ea typeface="Verdana" pitchFamily="34" charset="0"/>
              </a:rPr>
              <a:t>Extensive I/O facilities to load and save data from multiple formats including</a:t>
            </a:r>
            <a:r>
              <a:rPr lang="en-US" sz="2200" dirty="0">
                <a:latin typeface="Verdana" pitchFamily="34" charset="0"/>
                <a:ea typeface="Verdana" pitchFamily="34" charset="0"/>
              </a:rPr>
              <a:t> </a:t>
            </a:r>
            <a:r>
              <a:rPr lang="en-US" sz="2200" dirty="0" smtClean="0">
                <a:latin typeface="Verdana" pitchFamily="34" charset="0"/>
                <a:ea typeface="Verdana" pitchFamily="34" charset="0"/>
              </a:rPr>
              <a:t>CSV, Excel, JSON and others.</a:t>
            </a:r>
          </a:p>
        </p:txBody>
      </p:sp>
      <p:pic>
        <p:nvPicPr>
          <p:cNvPr id="13" name="Picture 12" descr="pandas - Python Data Analysis Libra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8827" y="30745"/>
            <a:ext cx="1481959" cy="1049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12515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1971366" y="332389"/>
            <a:ext cx="6828440" cy="646331"/>
          </a:xfrm>
          <a:prstGeom prst="rect">
            <a:avLst/>
          </a:prstGeom>
          <a:noFill/>
        </p:spPr>
        <p:txBody>
          <a:bodyPr wrap="square">
            <a:spAutoFit/>
          </a:bodyPr>
          <a:lstStyle/>
          <a:p>
            <a:pPr algn="ctr"/>
            <a:r>
              <a:rPr lang="en-US" sz="3600" b="1" dirty="0" smtClean="0"/>
              <a:t>Why </a:t>
            </a:r>
            <a:r>
              <a:rPr lang="en-US" sz="3600" b="1" dirty="0" smtClean="0"/>
              <a:t>pandas is important?</a:t>
            </a:r>
            <a:endParaRPr lang="en-US" sz="3600" b="1" dirty="0">
              <a:solidFill>
                <a:prstClr val="black"/>
              </a:solidFill>
            </a:endParaRPr>
          </a:p>
        </p:txBody>
      </p:sp>
      <p:sp>
        <p:nvSpPr>
          <p:cNvPr id="22" name="TextBox 21">
            <a:extLst>
              <a:ext uri="{FF2B5EF4-FFF2-40B4-BE49-F238E27FC236}">
                <a16:creationId xmlns="" xmlns:a16="http://schemas.microsoft.com/office/drawing/2014/main" id="{70778C02-DAB7-65FA-AB76-FF0250D760FE}"/>
              </a:ext>
            </a:extLst>
          </p:cNvPr>
          <p:cNvSpPr txBox="1"/>
          <p:nvPr/>
        </p:nvSpPr>
        <p:spPr>
          <a:xfrm>
            <a:off x="537663" y="1256098"/>
            <a:ext cx="11081523" cy="3647152"/>
          </a:xfrm>
          <a:prstGeom prst="rect">
            <a:avLst/>
          </a:prstGeom>
          <a:noFill/>
        </p:spPr>
        <p:txBody>
          <a:bodyPr wrap="square">
            <a:spAutoFit/>
          </a:bodyPr>
          <a:lstStyle/>
          <a:p>
            <a:pPr algn="just">
              <a:lnSpc>
                <a:spcPct val="150000"/>
              </a:lnSpc>
            </a:pPr>
            <a:r>
              <a:rPr lang="en-US" sz="2200" dirty="0" smtClean="0">
                <a:latin typeface="Verdana" pitchFamily="34" charset="0"/>
                <a:ea typeface="Verdana" pitchFamily="34" charset="0"/>
              </a:rPr>
              <a:t>To </a:t>
            </a:r>
            <a:r>
              <a:rPr lang="en-US" sz="2200" dirty="0">
                <a:latin typeface="Verdana" pitchFamily="34" charset="0"/>
                <a:ea typeface="Verdana" pitchFamily="34" charset="0"/>
              </a:rPr>
              <a:t>enable these capabilities, pandas provides </a:t>
            </a:r>
            <a:r>
              <a:rPr lang="en-US" sz="2200" dirty="0" smtClean="0">
                <a:latin typeface="Verdana" pitchFamily="34" charset="0"/>
                <a:ea typeface="Verdana" pitchFamily="34" charset="0"/>
              </a:rPr>
              <a:t>the following features:</a:t>
            </a:r>
          </a:p>
          <a:p>
            <a:pPr lvl="1" algn="just">
              <a:lnSpc>
                <a:spcPct val="150000"/>
              </a:lnSpc>
            </a:pPr>
            <a:r>
              <a:rPr lang="en-US" sz="2200" dirty="0">
                <a:solidFill>
                  <a:prstClr val="black"/>
                </a:solidFill>
                <a:latin typeface="Verdana" pitchFamily="34" charset="0"/>
                <a:ea typeface="Verdana" pitchFamily="34" charset="0"/>
              </a:rPr>
              <a:t>• </a:t>
            </a:r>
            <a:r>
              <a:rPr lang="en-US" sz="2200" dirty="0" smtClean="0">
                <a:solidFill>
                  <a:prstClr val="black"/>
                </a:solidFill>
                <a:latin typeface="Verdana" pitchFamily="34" charset="0"/>
                <a:ea typeface="Verdana" pitchFamily="34" charset="0"/>
              </a:rPr>
              <a:t>Explicit support for time series-specific functionality, providing functionality for date range generation, moving window statistics, time shifting, lagging, and so on</a:t>
            </a:r>
          </a:p>
          <a:p>
            <a:pPr lvl="1" algn="just">
              <a:lnSpc>
                <a:spcPct val="150000"/>
              </a:lnSpc>
            </a:pPr>
            <a:r>
              <a:rPr lang="en-US" sz="2200" dirty="0">
                <a:latin typeface="Verdana" pitchFamily="34" charset="0"/>
                <a:ea typeface="Verdana" pitchFamily="34" charset="0"/>
              </a:rPr>
              <a:t>• </a:t>
            </a:r>
            <a:r>
              <a:rPr lang="en-US" sz="2200" dirty="0" smtClean="0">
                <a:solidFill>
                  <a:prstClr val="black"/>
                </a:solidFill>
                <a:latin typeface="Verdana" pitchFamily="34" charset="0"/>
                <a:ea typeface="Verdana" pitchFamily="34" charset="0"/>
              </a:rPr>
              <a:t>Built-in </a:t>
            </a:r>
            <a:r>
              <a:rPr lang="en-US" sz="2200" dirty="0">
                <a:solidFill>
                  <a:prstClr val="black"/>
                </a:solidFill>
                <a:latin typeface="Verdana" pitchFamily="34" charset="0"/>
                <a:ea typeface="Verdana" pitchFamily="34" charset="0"/>
              </a:rPr>
              <a:t>support to retrieve and automatically parse data from various</a:t>
            </a:r>
          </a:p>
          <a:p>
            <a:pPr lvl="1" algn="just">
              <a:lnSpc>
                <a:spcPct val="150000"/>
              </a:lnSpc>
            </a:pPr>
            <a:r>
              <a:rPr lang="en-US" sz="2200" dirty="0">
                <a:solidFill>
                  <a:prstClr val="black"/>
                </a:solidFill>
                <a:latin typeface="Verdana" pitchFamily="34" charset="0"/>
                <a:ea typeface="Verdana" pitchFamily="34" charset="0"/>
              </a:rPr>
              <a:t>web-based data sources such as Yahoo!, Google Finance, the World Bank,</a:t>
            </a:r>
          </a:p>
          <a:p>
            <a:pPr lvl="1" algn="just">
              <a:lnSpc>
                <a:spcPct val="150000"/>
              </a:lnSpc>
            </a:pPr>
            <a:r>
              <a:rPr lang="en-US" sz="2200" dirty="0">
                <a:solidFill>
                  <a:prstClr val="black"/>
                </a:solidFill>
                <a:latin typeface="Verdana" pitchFamily="34" charset="0"/>
                <a:ea typeface="Verdana" pitchFamily="34" charset="0"/>
              </a:rPr>
              <a:t>and several </a:t>
            </a:r>
            <a:r>
              <a:rPr lang="en-US" sz="2200" dirty="0" smtClean="0">
                <a:solidFill>
                  <a:prstClr val="black"/>
                </a:solidFill>
                <a:latin typeface="Verdana" pitchFamily="34" charset="0"/>
                <a:ea typeface="Verdana" pitchFamily="34" charset="0"/>
              </a:rPr>
              <a:t>others</a:t>
            </a:r>
          </a:p>
        </p:txBody>
      </p:sp>
      <p:pic>
        <p:nvPicPr>
          <p:cNvPr id="13" name="Picture 12" descr="pandas - Python Data Analysis Libra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8827" y="30745"/>
            <a:ext cx="1481959" cy="1049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59240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2257116" y="288484"/>
            <a:ext cx="6828440" cy="646331"/>
          </a:xfrm>
          <a:prstGeom prst="rect">
            <a:avLst/>
          </a:prstGeom>
          <a:noFill/>
        </p:spPr>
        <p:txBody>
          <a:bodyPr wrap="square">
            <a:spAutoFit/>
          </a:bodyPr>
          <a:lstStyle/>
          <a:p>
            <a:pPr algn="ctr"/>
            <a:r>
              <a:rPr lang="en-US" sz="3600" b="1" dirty="0"/>
              <a:t>Primary pandas objects</a:t>
            </a:r>
            <a:r>
              <a:rPr lang="en-US" sz="3600" dirty="0"/>
              <a:t> </a:t>
            </a:r>
            <a:endParaRPr lang="en-US" sz="3600" b="1" dirty="0">
              <a:solidFill>
                <a:prstClr val="black"/>
              </a:solidFill>
            </a:endParaRPr>
          </a:p>
        </p:txBody>
      </p:sp>
      <p:pic>
        <p:nvPicPr>
          <p:cNvPr id="13" name="Picture 12" descr="pandas - Python Data Analysis Libra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8827" y="30745"/>
            <a:ext cx="1481959" cy="104902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 xmlns:a16="http://schemas.microsoft.com/office/drawing/2014/main" id="{70778C02-DAB7-65FA-AB76-FF0250D760FE}"/>
              </a:ext>
            </a:extLst>
          </p:cNvPr>
          <p:cNvSpPr txBox="1"/>
          <p:nvPr/>
        </p:nvSpPr>
        <p:spPr>
          <a:xfrm>
            <a:off x="537663" y="1256098"/>
            <a:ext cx="11081523" cy="2563009"/>
          </a:xfrm>
          <a:prstGeom prst="rect">
            <a:avLst/>
          </a:prstGeom>
          <a:noFill/>
        </p:spPr>
        <p:txBody>
          <a:bodyPr wrap="square">
            <a:spAutoFit/>
          </a:bodyPr>
          <a:lstStyle/>
          <a:p>
            <a:pPr marL="342900" indent="-342900" algn="just">
              <a:lnSpc>
                <a:spcPct val="150000"/>
              </a:lnSpc>
              <a:buSzPct val="170000"/>
              <a:buFont typeface="Arial" pitchFamily="34" charset="0"/>
              <a:buChar char="•"/>
            </a:pPr>
            <a:r>
              <a:rPr lang="en-US" sz="2200" dirty="0" smtClean="0">
                <a:latin typeface="Verdana" pitchFamily="34" charset="0"/>
                <a:ea typeface="Verdana" pitchFamily="34" charset="0"/>
              </a:rPr>
              <a:t>There are two </a:t>
            </a:r>
            <a:r>
              <a:rPr lang="en-US" sz="2200" dirty="0">
                <a:latin typeface="Verdana" pitchFamily="34" charset="0"/>
                <a:ea typeface="Verdana" pitchFamily="34" charset="0"/>
              </a:rPr>
              <a:t>primary </a:t>
            </a:r>
            <a:r>
              <a:rPr lang="en-US" sz="2200" dirty="0" smtClean="0">
                <a:latin typeface="Verdana" pitchFamily="34" charset="0"/>
                <a:ea typeface="Verdana" pitchFamily="34" charset="0"/>
              </a:rPr>
              <a:t>objects provided </a:t>
            </a:r>
            <a:r>
              <a:rPr lang="en-US" sz="2200" dirty="0">
                <a:latin typeface="Verdana" pitchFamily="34" charset="0"/>
                <a:ea typeface="Verdana" pitchFamily="34" charset="0"/>
              </a:rPr>
              <a:t>by the pandas framework: </a:t>
            </a:r>
            <a:r>
              <a:rPr lang="en-US" sz="2200" b="1" dirty="0">
                <a:latin typeface="Verdana" pitchFamily="34" charset="0"/>
                <a:ea typeface="Verdana" pitchFamily="34" charset="0"/>
              </a:rPr>
              <a:t>Series</a:t>
            </a:r>
            <a:r>
              <a:rPr lang="en-US" sz="2200" dirty="0">
                <a:latin typeface="Verdana" pitchFamily="34" charset="0"/>
                <a:ea typeface="Verdana" pitchFamily="34" charset="0"/>
              </a:rPr>
              <a:t> and </a:t>
            </a:r>
            <a:r>
              <a:rPr lang="en-US" sz="2200" b="1" dirty="0">
                <a:latin typeface="Verdana" pitchFamily="34" charset="0"/>
                <a:ea typeface="Verdana" pitchFamily="34" charset="0"/>
              </a:rPr>
              <a:t>DataFrame</a:t>
            </a:r>
            <a:r>
              <a:rPr lang="en-US" sz="2200" dirty="0">
                <a:latin typeface="Verdana" pitchFamily="34" charset="0"/>
                <a:ea typeface="Verdana" pitchFamily="34" charset="0"/>
              </a:rPr>
              <a:t>. </a:t>
            </a:r>
            <a:endParaRPr lang="en-US" sz="2200" dirty="0" smtClean="0">
              <a:latin typeface="Verdana" pitchFamily="34" charset="0"/>
              <a:ea typeface="Verdana" pitchFamily="34" charset="0"/>
            </a:endParaRPr>
          </a:p>
          <a:p>
            <a:pPr marL="342900" indent="-342900" algn="just">
              <a:lnSpc>
                <a:spcPct val="150000"/>
              </a:lnSpc>
              <a:buSzPct val="170000"/>
              <a:buFont typeface="Arial" pitchFamily="34" charset="0"/>
              <a:buChar char="•"/>
            </a:pPr>
            <a:r>
              <a:rPr lang="en-US" sz="2200" dirty="0" smtClean="0">
                <a:latin typeface="Verdana" pitchFamily="34" charset="0"/>
                <a:ea typeface="Verdana" pitchFamily="34" charset="0"/>
              </a:rPr>
              <a:t>The </a:t>
            </a:r>
            <a:r>
              <a:rPr lang="en-US" sz="2200" dirty="0">
                <a:latin typeface="Verdana" pitchFamily="34" charset="0"/>
                <a:ea typeface="Verdana" pitchFamily="34" charset="0"/>
              </a:rPr>
              <a:t>DataFrame </a:t>
            </a:r>
            <a:r>
              <a:rPr lang="en-US" sz="2200" dirty="0" smtClean="0">
                <a:latin typeface="Verdana" pitchFamily="34" charset="0"/>
                <a:ea typeface="Verdana" pitchFamily="34" charset="0"/>
              </a:rPr>
              <a:t>objects will </a:t>
            </a:r>
            <a:r>
              <a:rPr lang="en-US" sz="2200" dirty="0">
                <a:latin typeface="Verdana" pitchFamily="34" charset="0"/>
                <a:ea typeface="Verdana" pitchFamily="34" charset="0"/>
              </a:rPr>
              <a:t>be </a:t>
            </a:r>
            <a:r>
              <a:rPr lang="en-US" sz="2200" dirty="0" smtClean="0">
                <a:latin typeface="Verdana" pitchFamily="34" charset="0"/>
                <a:ea typeface="Verdana" pitchFamily="34" charset="0"/>
              </a:rPr>
              <a:t>the </a:t>
            </a:r>
            <a:r>
              <a:rPr lang="en-US" sz="2200" dirty="0">
                <a:latin typeface="Verdana" pitchFamily="34" charset="0"/>
                <a:ea typeface="Verdana" pitchFamily="34" charset="0"/>
              </a:rPr>
              <a:t>most frequently used as </a:t>
            </a:r>
            <a:r>
              <a:rPr lang="en-US" sz="2200" dirty="0" smtClean="0">
                <a:latin typeface="Verdana" pitchFamily="34" charset="0"/>
                <a:ea typeface="Verdana" pitchFamily="34" charset="0"/>
              </a:rPr>
              <a:t>they provide </a:t>
            </a:r>
            <a:r>
              <a:rPr lang="en-US" sz="2200" dirty="0">
                <a:latin typeface="Verdana" pitchFamily="34" charset="0"/>
                <a:ea typeface="Verdana" pitchFamily="34" charset="0"/>
              </a:rPr>
              <a:t>the means to manipulate tabular and heterogeneous data</a:t>
            </a:r>
            <a:r>
              <a:rPr lang="en-US" sz="2200" dirty="0" smtClean="0">
                <a:latin typeface="Verdana" pitchFamily="34" charset="0"/>
                <a:ea typeface="Verdana" pitchFamily="34" charset="0"/>
              </a:rPr>
              <a:t>.</a:t>
            </a:r>
          </a:p>
          <a:p>
            <a:pPr algn="just">
              <a:lnSpc>
                <a:spcPct val="150000"/>
              </a:lnSpc>
            </a:pPr>
            <a:endParaRPr lang="en-US" sz="2200" dirty="0" smtClean="0">
              <a:solidFill>
                <a:prstClr val="black"/>
              </a:solidFill>
              <a:latin typeface="Verdana" pitchFamily="34" charset="0"/>
              <a:ea typeface="Verdana" pitchFamily="34" charset="0"/>
            </a:endParaRPr>
          </a:p>
        </p:txBody>
      </p:sp>
      <p:pic>
        <p:nvPicPr>
          <p:cNvPr id="5122" name="Picture 2" descr="https://i.ytimg.com/vi/iWsEfpWAJ3U/sddefault.jpg"/>
          <p:cNvPicPr>
            <a:picLocks noChangeAspect="1" noChangeArrowheads="1"/>
          </p:cNvPicPr>
          <p:nvPr/>
        </p:nvPicPr>
        <p:blipFill rotWithShape="1">
          <a:blip r:embed="rId4">
            <a:extLst>
              <a:ext uri="{28A0092B-C50C-407E-A947-70E740481C1C}">
                <a14:useLocalDpi xmlns:a14="http://schemas.microsoft.com/office/drawing/2010/main" val="0"/>
              </a:ext>
            </a:extLst>
          </a:blip>
          <a:srcRect l="2373" t="39020" r="2303" b="18255"/>
          <a:stretch/>
        </p:blipFill>
        <p:spPr bwMode="auto">
          <a:xfrm>
            <a:off x="2782573" y="3766641"/>
            <a:ext cx="7991748" cy="2686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0898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2847576" y="232094"/>
            <a:ext cx="6828440" cy="646331"/>
          </a:xfrm>
          <a:prstGeom prst="rect">
            <a:avLst/>
          </a:prstGeom>
          <a:noFill/>
        </p:spPr>
        <p:txBody>
          <a:bodyPr wrap="square">
            <a:spAutoFit/>
          </a:bodyPr>
          <a:lstStyle/>
          <a:p>
            <a:r>
              <a:rPr lang="en-US" sz="3600" b="1" dirty="0"/>
              <a:t>The pandas </a:t>
            </a:r>
            <a:r>
              <a:rPr lang="en-US" sz="3600" b="1" i="1" dirty="0"/>
              <a:t>Series</a:t>
            </a:r>
            <a:r>
              <a:rPr lang="en-US" sz="3600" b="1" dirty="0"/>
              <a:t> object</a:t>
            </a:r>
            <a:endParaRPr lang="en-US" sz="3600" b="1" dirty="0"/>
          </a:p>
        </p:txBody>
      </p:sp>
      <p:sp>
        <p:nvSpPr>
          <p:cNvPr id="22" name="TextBox 21">
            <a:extLst>
              <a:ext uri="{FF2B5EF4-FFF2-40B4-BE49-F238E27FC236}">
                <a16:creationId xmlns="" xmlns:a16="http://schemas.microsoft.com/office/drawing/2014/main" id="{70778C02-DAB7-65FA-AB76-FF0250D760FE}"/>
              </a:ext>
            </a:extLst>
          </p:cNvPr>
          <p:cNvSpPr txBox="1"/>
          <p:nvPr/>
        </p:nvSpPr>
        <p:spPr>
          <a:xfrm>
            <a:off x="537663" y="1256098"/>
            <a:ext cx="11144585" cy="4662815"/>
          </a:xfrm>
          <a:prstGeom prst="rect">
            <a:avLst/>
          </a:prstGeom>
          <a:noFill/>
        </p:spPr>
        <p:txBody>
          <a:bodyPr wrap="square">
            <a:spAutoFit/>
          </a:bodyPr>
          <a:lstStyle/>
          <a:p>
            <a:pPr marL="285750" indent="-285750" algn="just">
              <a:lnSpc>
                <a:spcPct val="150000"/>
              </a:lnSpc>
              <a:buSzPct val="170000"/>
              <a:buFont typeface="Arial" panose="020B0604020202020204" pitchFamily="34" charset="0"/>
              <a:buChar char="•"/>
            </a:pPr>
            <a:r>
              <a:rPr lang="en-US" sz="2200" dirty="0">
                <a:latin typeface="Verdana" pitchFamily="34" charset="0"/>
                <a:ea typeface="Verdana" pitchFamily="34" charset="0"/>
              </a:rPr>
              <a:t>The Series is the primary building block of pandas. </a:t>
            </a:r>
            <a:endParaRPr lang="en-US" sz="2200" dirty="0" smtClean="0">
              <a:latin typeface="Verdana" pitchFamily="34" charset="0"/>
              <a:ea typeface="Verdana" pitchFamily="34" charset="0"/>
            </a:endParaRPr>
          </a:p>
          <a:p>
            <a:pPr marL="285750" indent="-285750" algn="just">
              <a:lnSpc>
                <a:spcPct val="150000"/>
              </a:lnSpc>
              <a:buSzPct val="170000"/>
              <a:buFont typeface="Arial" panose="020B0604020202020204" pitchFamily="34" charset="0"/>
              <a:buChar char="•"/>
            </a:pPr>
            <a:r>
              <a:rPr lang="en-US" sz="2200" dirty="0" smtClean="0">
                <a:latin typeface="Verdana" pitchFamily="34" charset="0"/>
                <a:ea typeface="Verdana" pitchFamily="34" charset="0"/>
              </a:rPr>
              <a:t>A </a:t>
            </a:r>
            <a:r>
              <a:rPr lang="en-US" sz="2200" dirty="0">
                <a:latin typeface="Verdana" pitchFamily="34" charset="0"/>
                <a:ea typeface="Verdana" pitchFamily="34" charset="0"/>
              </a:rPr>
              <a:t>Series represents </a:t>
            </a:r>
            <a:r>
              <a:rPr lang="en-US" sz="2200" dirty="0" smtClean="0">
                <a:latin typeface="Verdana" pitchFamily="34" charset="0"/>
                <a:ea typeface="Verdana" pitchFamily="34" charset="0"/>
              </a:rPr>
              <a:t>a one-dimensional </a:t>
            </a:r>
            <a:r>
              <a:rPr lang="en-US" sz="2200" dirty="0">
                <a:latin typeface="Verdana" pitchFamily="34" charset="0"/>
                <a:ea typeface="Verdana" pitchFamily="34" charset="0"/>
              </a:rPr>
              <a:t>labeled indexed array based on the </a:t>
            </a:r>
            <a:r>
              <a:rPr lang="en-US" sz="2200" dirty="0" err="1">
                <a:latin typeface="Verdana" pitchFamily="34" charset="0"/>
                <a:ea typeface="Verdana" pitchFamily="34" charset="0"/>
              </a:rPr>
              <a:t>NumPy</a:t>
            </a:r>
            <a:r>
              <a:rPr lang="en-US" sz="2200" dirty="0">
                <a:latin typeface="Verdana" pitchFamily="34" charset="0"/>
                <a:ea typeface="Verdana" pitchFamily="34" charset="0"/>
              </a:rPr>
              <a:t> </a:t>
            </a:r>
            <a:r>
              <a:rPr lang="en-US" sz="2200" dirty="0" err="1">
                <a:latin typeface="Verdana" pitchFamily="34" charset="0"/>
                <a:ea typeface="Verdana" pitchFamily="34" charset="0"/>
              </a:rPr>
              <a:t>ndarray</a:t>
            </a:r>
            <a:r>
              <a:rPr lang="en-US" sz="2200" dirty="0">
                <a:latin typeface="Verdana" pitchFamily="34" charset="0"/>
                <a:ea typeface="Verdana" pitchFamily="34" charset="0"/>
              </a:rPr>
              <a:t>. </a:t>
            </a:r>
            <a:endParaRPr lang="en-US" sz="2200" dirty="0" smtClean="0">
              <a:latin typeface="Verdana" pitchFamily="34" charset="0"/>
              <a:ea typeface="Verdana" pitchFamily="34" charset="0"/>
            </a:endParaRPr>
          </a:p>
          <a:p>
            <a:pPr marL="285750" indent="-285750" algn="just">
              <a:lnSpc>
                <a:spcPct val="150000"/>
              </a:lnSpc>
              <a:buSzPct val="170000"/>
              <a:buFont typeface="Arial" panose="020B0604020202020204" pitchFamily="34" charset="0"/>
              <a:buChar char="•"/>
            </a:pPr>
            <a:r>
              <a:rPr lang="en-US" sz="2200" dirty="0" smtClean="0">
                <a:latin typeface="Verdana" pitchFamily="34" charset="0"/>
                <a:ea typeface="Verdana" pitchFamily="34" charset="0"/>
              </a:rPr>
              <a:t>A </a:t>
            </a:r>
            <a:r>
              <a:rPr lang="en-US" sz="2200" dirty="0">
                <a:latin typeface="Verdana" pitchFamily="34" charset="0"/>
                <a:ea typeface="Verdana" pitchFamily="34" charset="0"/>
              </a:rPr>
              <a:t>pandas Series deviates from </a:t>
            </a:r>
            <a:r>
              <a:rPr lang="en-US" sz="2200" dirty="0" err="1">
                <a:latin typeface="Verdana" pitchFamily="34" charset="0"/>
                <a:ea typeface="Verdana" pitchFamily="34" charset="0"/>
              </a:rPr>
              <a:t>NumPy</a:t>
            </a:r>
            <a:r>
              <a:rPr lang="en-US" sz="2200" dirty="0">
                <a:latin typeface="Verdana" pitchFamily="34" charset="0"/>
                <a:ea typeface="Verdana" pitchFamily="34" charset="0"/>
              </a:rPr>
              <a:t> arrays by adding an associated set of </a:t>
            </a:r>
            <a:r>
              <a:rPr lang="en-US" sz="2200" dirty="0" smtClean="0">
                <a:latin typeface="Verdana" pitchFamily="34" charset="0"/>
                <a:ea typeface="Verdana" pitchFamily="34" charset="0"/>
              </a:rPr>
              <a:t>labels that </a:t>
            </a:r>
            <a:r>
              <a:rPr lang="en-US" sz="2200" dirty="0">
                <a:latin typeface="Verdana" pitchFamily="34" charset="0"/>
                <a:ea typeface="Verdana" pitchFamily="34" charset="0"/>
              </a:rPr>
              <a:t>are used to index and efficiently access the elements of the array by the </a:t>
            </a:r>
            <a:r>
              <a:rPr lang="en-US" sz="2200" dirty="0" smtClean="0">
                <a:latin typeface="Verdana" pitchFamily="34" charset="0"/>
                <a:ea typeface="Verdana" pitchFamily="34" charset="0"/>
              </a:rPr>
              <a:t>label values </a:t>
            </a:r>
            <a:r>
              <a:rPr lang="en-US" sz="2200" dirty="0">
                <a:latin typeface="Verdana" pitchFamily="34" charset="0"/>
                <a:ea typeface="Verdana" pitchFamily="34" charset="0"/>
              </a:rPr>
              <a:t>instead of just by the integer position. </a:t>
            </a:r>
            <a:endParaRPr lang="en-US" sz="2200" dirty="0" smtClean="0">
              <a:latin typeface="Verdana" pitchFamily="34" charset="0"/>
              <a:ea typeface="Verdana" pitchFamily="34" charset="0"/>
            </a:endParaRPr>
          </a:p>
          <a:p>
            <a:pPr marL="285750" indent="-285750" algn="just">
              <a:lnSpc>
                <a:spcPct val="150000"/>
              </a:lnSpc>
              <a:buSzPct val="170000"/>
              <a:buFont typeface="Arial" panose="020B0604020202020204" pitchFamily="34" charset="0"/>
              <a:buChar char="•"/>
            </a:pPr>
            <a:r>
              <a:rPr lang="en-US" sz="2200" dirty="0" smtClean="0">
                <a:latin typeface="Verdana" pitchFamily="34" charset="0"/>
                <a:ea typeface="Verdana" pitchFamily="34" charset="0"/>
              </a:rPr>
              <a:t>This </a:t>
            </a:r>
            <a:r>
              <a:rPr lang="en-US" sz="2200" dirty="0">
                <a:latin typeface="Verdana" pitchFamily="34" charset="0"/>
                <a:ea typeface="Verdana" pitchFamily="34" charset="0"/>
              </a:rPr>
              <a:t>labeled index is a key feature </a:t>
            </a:r>
            <a:r>
              <a:rPr lang="en-US" sz="2200" dirty="0" smtClean="0">
                <a:latin typeface="Verdana" pitchFamily="34" charset="0"/>
                <a:ea typeface="Verdana" pitchFamily="34" charset="0"/>
              </a:rPr>
              <a:t>of pandas </a:t>
            </a:r>
            <a:r>
              <a:rPr lang="en-US" sz="2200" dirty="0">
                <a:latin typeface="Verdana" pitchFamily="34" charset="0"/>
                <a:ea typeface="Verdana" pitchFamily="34" charset="0"/>
              </a:rPr>
              <a:t>Series (and, as we will see, also a DataFrame) and adds significant </a:t>
            </a:r>
            <a:r>
              <a:rPr lang="en-US" sz="2200" dirty="0" smtClean="0">
                <a:latin typeface="Verdana" pitchFamily="34" charset="0"/>
                <a:ea typeface="Verdana" pitchFamily="34" charset="0"/>
              </a:rPr>
              <a:t>power for </a:t>
            </a:r>
            <a:r>
              <a:rPr lang="en-US" sz="2200" dirty="0">
                <a:latin typeface="Verdana" pitchFamily="34" charset="0"/>
                <a:ea typeface="Verdana" pitchFamily="34" charset="0"/>
              </a:rPr>
              <a:t>accessing the elements of the Series over a </a:t>
            </a:r>
            <a:r>
              <a:rPr lang="en-US" sz="2200" dirty="0" err="1">
                <a:latin typeface="Verdana" pitchFamily="34" charset="0"/>
                <a:ea typeface="Verdana" pitchFamily="34" charset="0"/>
              </a:rPr>
              <a:t>NumPy</a:t>
            </a:r>
            <a:r>
              <a:rPr lang="en-US" sz="2200" dirty="0">
                <a:latin typeface="Verdana" pitchFamily="34" charset="0"/>
                <a:ea typeface="Verdana" pitchFamily="34" charset="0"/>
              </a:rPr>
              <a:t> array</a:t>
            </a:r>
            <a:endParaRPr lang="en-US" sz="1600" dirty="0" smtClean="0">
              <a:latin typeface="Verdana" pitchFamily="34" charset="0"/>
              <a:ea typeface="Verdana" pitchFamily="34" charset="0"/>
            </a:endParaRPr>
          </a:p>
        </p:txBody>
      </p:sp>
    </p:spTree>
    <p:extLst>
      <p:ext uri="{BB962C8B-B14F-4D97-AF65-F5344CB8AC3E}">
        <p14:creationId xmlns:p14="http://schemas.microsoft.com/office/powerpoint/2010/main" val="29056275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2847576" y="232094"/>
            <a:ext cx="6828440" cy="646331"/>
          </a:xfrm>
          <a:prstGeom prst="rect">
            <a:avLst/>
          </a:prstGeom>
          <a:noFill/>
        </p:spPr>
        <p:txBody>
          <a:bodyPr wrap="square">
            <a:spAutoFit/>
          </a:bodyPr>
          <a:lstStyle/>
          <a:p>
            <a:r>
              <a:rPr lang="en-US" sz="3600" b="1" dirty="0" smtClean="0"/>
              <a:t>Creating </a:t>
            </a:r>
            <a:r>
              <a:rPr lang="en-US" sz="3600" b="1" i="1" dirty="0" smtClean="0"/>
              <a:t>Series</a:t>
            </a:r>
            <a:r>
              <a:rPr lang="en-US" sz="3600" b="1" dirty="0" smtClean="0"/>
              <a:t> </a:t>
            </a:r>
            <a:r>
              <a:rPr lang="en-US" sz="3600" b="1" dirty="0"/>
              <a:t>object</a:t>
            </a:r>
            <a:endParaRPr lang="en-US" sz="3600" b="1" dirty="0"/>
          </a:p>
        </p:txBody>
      </p:sp>
      <p:sp>
        <p:nvSpPr>
          <p:cNvPr id="22" name="TextBox 21">
            <a:extLst>
              <a:ext uri="{FF2B5EF4-FFF2-40B4-BE49-F238E27FC236}">
                <a16:creationId xmlns="" xmlns:a16="http://schemas.microsoft.com/office/drawing/2014/main" id="{70778C02-DAB7-65FA-AB76-FF0250D760FE}"/>
              </a:ext>
            </a:extLst>
          </p:cNvPr>
          <p:cNvSpPr txBox="1"/>
          <p:nvPr/>
        </p:nvSpPr>
        <p:spPr>
          <a:xfrm>
            <a:off x="409903" y="1256098"/>
            <a:ext cx="11429999" cy="212365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200" dirty="0">
                <a:latin typeface="Verdana" pitchFamily="34" charset="0"/>
                <a:ea typeface="Verdana" pitchFamily="34" charset="0"/>
              </a:rPr>
              <a:t>A Series can be created and initialized by passing either a scalar </a:t>
            </a:r>
            <a:r>
              <a:rPr lang="en-US" sz="2200" dirty="0" smtClean="0">
                <a:latin typeface="Verdana" pitchFamily="34" charset="0"/>
                <a:ea typeface="Verdana" pitchFamily="34" charset="0"/>
              </a:rPr>
              <a:t>value, a </a:t>
            </a:r>
            <a:r>
              <a:rPr lang="en-US" sz="2200" dirty="0" err="1">
                <a:latin typeface="Verdana" pitchFamily="34" charset="0"/>
                <a:ea typeface="Verdana" pitchFamily="34" charset="0"/>
              </a:rPr>
              <a:t>NumPy</a:t>
            </a:r>
            <a:r>
              <a:rPr lang="en-US" sz="2200" dirty="0">
                <a:latin typeface="Verdana" pitchFamily="34" charset="0"/>
                <a:ea typeface="Verdana" pitchFamily="34" charset="0"/>
              </a:rPr>
              <a:t> </a:t>
            </a:r>
            <a:r>
              <a:rPr lang="en-US" sz="2200" dirty="0" err="1">
                <a:latin typeface="Verdana" pitchFamily="34" charset="0"/>
                <a:ea typeface="Verdana" pitchFamily="34" charset="0"/>
              </a:rPr>
              <a:t>ndarray</a:t>
            </a:r>
            <a:r>
              <a:rPr lang="en-US" sz="2200" dirty="0">
                <a:latin typeface="Verdana" pitchFamily="34" charset="0"/>
                <a:ea typeface="Verdana" pitchFamily="34" charset="0"/>
              </a:rPr>
              <a:t>, a Python list, or a Python </a:t>
            </a:r>
            <a:r>
              <a:rPr lang="en-US" sz="2200" dirty="0" err="1">
                <a:latin typeface="Verdana" pitchFamily="34" charset="0"/>
                <a:ea typeface="Verdana" pitchFamily="34" charset="0"/>
              </a:rPr>
              <a:t>Dict</a:t>
            </a:r>
            <a:r>
              <a:rPr lang="en-US" sz="2200" dirty="0">
                <a:latin typeface="Verdana" pitchFamily="34" charset="0"/>
                <a:ea typeface="Verdana" pitchFamily="34" charset="0"/>
              </a:rPr>
              <a:t> as the data parameter </a:t>
            </a:r>
            <a:r>
              <a:rPr lang="en-US" sz="2200" dirty="0" smtClean="0">
                <a:latin typeface="Verdana" pitchFamily="34" charset="0"/>
                <a:ea typeface="Verdana" pitchFamily="34" charset="0"/>
              </a:rPr>
              <a:t>of the </a:t>
            </a:r>
            <a:r>
              <a:rPr lang="en-US" sz="2200" dirty="0">
                <a:latin typeface="Verdana" pitchFamily="34" charset="0"/>
                <a:ea typeface="Verdana" pitchFamily="34" charset="0"/>
              </a:rPr>
              <a:t>Series constructor. This is the default parameter and does not need </a:t>
            </a:r>
            <a:r>
              <a:rPr lang="en-US" sz="2200" dirty="0" smtClean="0">
                <a:latin typeface="Verdana" pitchFamily="34" charset="0"/>
                <a:ea typeface="Verdana" pitchFamily="34" charset="0"/>
              </a:rPr>
              <a:t>to be </a:t>
            </a:r>
            <a:r>
              <a:rPr lang="en-US" sz="2200" dirty="0">
                <a:latin typeface="Verdana" pitchFamily="34" charset="0"/>
                <a:ea typeface="Verdana" pitchFamily="34" charset="0"/>
              </a:rPr>
              <a:t>specified if it is the first </a:t>
            </a:r>
            <a:r>
              <a:rPr lang="en-US" sz="2200" dirty="0" smtClean="0">
                <a:latin typeface="Verdana" pitchFamily="34" charset="0"/>
                <a:ea typeface="Verdana" pitchFamily="34" charset="0"/>
              </a:rPr>
              <a:t>item.</a:t>
            </a:r>
          </a:p>
        </p:txBody>
      </p:sp>
      <p:pic>
        <p:nvPicPr>
          <p:cNvPr id="717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7279" t="30065" r="57821" b="37608"/>
          <a:stretch/>
        </p:blipFill>
        <p:spPr bwMode="auto">
          <a:xfrm>
            <a:off x="757980" y="3750674"/>
            <a:ext cx="4540664" cy="2364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a:extLst>
              <a:ext uri="{FF2B5EF4-FFF2-40B4-BE49-F238E27FC236}">
                <a16:creationId xmlns="" xmlns:a16="http://schemas.microsoft.com/office/drawing/2014/main" id="{70778C02-DAB7-65FA-AB76-FF0250D760FE}"/>
              </a:ext>
            </a:extLst>
          </p:cNvPr>
          <p:cNvSpPr txBox="1"/>
          <p:nvPr/>
        </p:nvSpPr>
        <p:spPr>
          <a:xfrm>
            <a:off x="5330379" y="3055182"/>
            <a:ext cx="6509523" cy="3416320"/>
          </a:xfrm>
          <a:prstGeom prst="rect">
            <a:avLst/>
          </a:prstGeom>
          <a:noFill/>
        </p:spPr>
        <p:txBody>
          <a:bodyPr wrap="square">
            <a:spAutoFit/>
          </a:bodyPr>
          <a:lstStyle/>
          <a:p>
            <a:pPr algn="just">
              <a:lnSpc>
                <a:spcPct val="150000"/>
              </a:lnSpc>
            </a:pPr>
            <a:r>
              <a:rPr lang="en-US" sz="1600" dirty="0" smtClean="0">
                <a:latin typeface="Verdana" pitchFamily="34" charset="0"/>
                <a:ea typeface="Verdana" pitchFamily="34" charset="0"/>
              </a:rPr>
              <a:t>This </a:t>
            </a:r>
            <a:r>
              <a:rPr lang="en-US" sz="1600" dirty="0">
                <a:latin typeface="Verdana" pitchFamily="34" charset="0"/>
                <a:ea typeface="Verdana" pitchFamily="34" charset="0"/>
              </a:rPr>
              <a:t>has created a pandas Series from the list. Notice that printing the </a:t>
            </a:r>
            <a:r>
              <a:rPr lang="en-US" sz="1600" dirty="0" smtClean="0">
                <a:latin typeface="Verdana" pitchFamily="34" charset="0"/>
                <a:ea typeface="Verdana" pitchFamily="34" charset="0"/>
              </a:rPr>
              <a:t>series resulted </a:t>
            </a:r>
            <a:r>
              <a:rPr lang="en-US" sz="1600" dirty="0">
                <a:latin typeface="Verdana" pitchFamily="34" charset="0"/>
                <a:ea typeface="Verdana" pitchFamily="34" charset="0"/>
              </a:rPr>
              <a:t>in what appears to be two columns of data. The first column in </a:t>
            </a:r>
            <a:r>
              <a:rPr lang="en-US" sz="1600" dirty="0" smtClean="0">
                <a:latin typeface="Verdana" pitchFamily="34" charset="0"/>
                <a:ea typeface="Verdana" pitchFamily="34" charset="0"/>
              </a:rPr>
              <a:t>the output is </a:t>
            </a:r>
            <a:r>
              <a:rPr lang="en-US" sz="1600" dirty="0">
                <a:latin typeface="Verdana" pitchFamily="34" charset="0"/>
                <a:ea typeface="Verdana" pitchFamily="34" charset="0"/>
              </a:rPr>
              <a:t>not a column of the Series object, but the index labels. The </a:t>
            </a:r>
            <a:r>
              <a:rPr lang="en-US" sz="1600" dirty="0" smtClean="0">
                <a:latin typeface="Verdana" pitchFamily="34" charset="0"/>
                <a:ea typeface="Verdana" pitchFamily="34" charset="0"/>
              </a:rPr>
              <a:t>second column is the </a:t>
            </a:r>
            <a:r>
              <a:rPr lang="en-US" sz="1600" dirty="0">
                <a:latin typeface="Verdana" pitchFamily="34" charset="0"/>
                <a:ea typeface="Verdana" pitchFamily="34" charset="0"/>
              </a:rPr>
              <a:t>values of the Series object. Each row represents the index label and the </a:t>
            </a:r>
            <a:r>
              <a:rPr lang="en-US" sz="1600" dirty="0" smtClean="0">
                <a:latin typeface="Verdana" pitchFamily="34" charset="0"/>
                <a:ea typeface="Verdana" pitchFamily="34" charset="0"/>
              </a:rPr>
              <a:t>value for </a:t>
            </a:r>
            <a:r>
              <a:rPr lang="en-US" sz="1600" dirty="0">
                <a:latin typeface="Verdana" pitchFamily="34" charset="0"/>
                <a:ea typeface="Verdana" pitchFamily="34" charset="0"/>
              </a:rPr>
              <a:t>that label. This Series was created without specifying an index, so </a:t>
            </a:r>
            <a:r>
              <a:rPr lang="en-US" sz="1600" dirty="0" smtClean="0">
                <a:latin typeface="Verdana" pitchFamily="34" charset="0"/>
                <a:ea typeface="Verdana" pitchFamily="34" charset="0"/>
              </a:rPr>
              <a:t>pandas automatically </a:t>
            </a:r>
            <a:r>
              <a:rPr lang="en-US" sz="1600" dirty="0">
                <a:latin typeface="Verdana" pitchFamily="34" charset="0"/>
                <a:ea typeface="Verdana" pitchFamily="34" charset="0"/>
              </a:rPr>
              <a:t>creates indexes starting at zero and increasing by one.</a:t>
            </a:r>
            <a:endParaRPr lang="en-US" sz="1600" dirty="0" smtClean="0">
              <a:latin typeface="Verdana" pitchFamily="34" charset="0"/>
              <a:ea typeface="Verdana" pitchFamily="34" charset="0"/>
            </a:endParaRPr>
          </a:p>
        </p:txBody>
      </p:sp>
    </p:spTree>
    <p:extLst>
      <p:ext uri="{BB962C8B-B14F-4D97-AF65-F5344CB8AC3E}">
        <p14:creationId xmlns:p14="http://schemas.microsoft.com/office/powerpoint/2010/main" val="20822513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2847576" y="232094"/>
            <a:ext cx="6828440" cy="646331"/>
          </a:xfrm>
          <a:prstGeom prst="rect">
            <a:avLst/>
          </a:prstGeom>
          <a:noFill/>
        </p:spPr>
        <p:txBody>
          <a:bodyPr wrap="square">
            <a:spAutoFit/>
          </a:bodyPr>
          <a:lstStyle/>
          <a:p>
            <a:r>
              <a:rPr lang="en-US" sz="3600" b="1" dirty="0"/>
              <a:t>The pandas </a:t>
            </a:r>
            <a:r>
              <a:rPr lang="en-US" sz="3600" b="1" i="1" dirty="0"/>
              <a:t>Series</a:t>
            </a:r>
            <a:r>
              <a:rPr lang="en-US" sz="3600" b="1" dirty="0"/>
              <a:t> </a:t>
            </a:r>
            <a:r>
              <a:rPr lang="en-US" sz="3600" b="1" dirty="0" smtClean="0"/>
              <a:t>object (cont.)</a:t>
            </a:r>
            <a:endParaRPr lang="en-US" sz="3600" b="1" dirty="0"/>
          </a:p>
        </p:txBody>
      </p:sp>
      <p:sp>
        <p:nvSpPr>
          <p:cNvPr id="22" name="TextBox 21">
            <a:extLst>
              <a:ext uri="{FF2B5EF4-FFF2-40B4-BE49-F238E27FC236}">
                <a16:creationId xmlns="" xmlns:a16="http://schemas.microsoft.com/office/drawing/2014/main" id="{70778C02-DAB7-65FA-AB76-FF0250D760FE}"/>
              </a:ext>
            </a:extLst>
          </p:cNvPr>
          <p:cNvSpPr txBox="1"/>
          <p:nvPr/>
        </p:nvSpPr>
        <p:spPr>
          <a:xfrm>
            <a:off x="537663" y="1256098"/>
            <a:ext cx="11223413" cy="4662815"/>
          </a:xfrm>
          <a:prstGeom prst="rect">
            <a:avLst/>
          </a:prstGeom>
          <a:noFill/>
        </p:spPr>
        <p:txBody>
          <a:bodyPr wrap="square">
            <a:spAutoFit/>
          </a:bodyPr>
          <a:lstStyle/>
          <a:p>
            <a:pPr marL="342900" indent="-342900" algn="just">
              <a:lnSpc>
                <a:spcPct val="150000"/>
              </a:lnSpc>
              <a:buFont typeface="Arial" pitchFamily="34" charset="0"/>
              <a:buChar char="•"/>
            </a:pPr>
            <a:r>
              <a:rPr lang="en-US" sz="2200" dirty="0">
                <a:latin typeface="Verdana" pitchFamily="34" charset="0"/>
                <a:ea typeface="Verdana" pitchFamily="34" charset="0"/>
              </a:rPr>
              <a:t>Elements of a Series object can be accessed through the index using </a:t>
            </a:r>
            <a:r>
              <a:rPr lang="en-US" sz="2200" b="1" dirty="0">
                <a:latin typeface="Verdana" pitchFamily="34" charset="0"/>
                <a:ea typeface="Verdana" pitchFamily="34" charset="0"/>
              </a:rPr>
              <a:t>[]</a:t>
            </a:r>
            <a:r>
              <a:rPr lang="en-US" sz="2200" dirty="0">
                <a:latin typeface="Verdana" pitchFamily="34" charset="0"/>
                <a:ea typeface="Verdana" pitchFamily="34" charset="0"/>
              </a:rPr>
              <a:t>. This </a:t>
            </a:r>
            <a:r>
              <a:rPr lang="en-US" sz="2200" dirty="0" smtClean="0">
                <a:latin typeface="Verdana" pitchFamily="34" charset="0"/>
                <a:ea typeface="Verdana" pitchFamily="34" charset="0"/>
              </a:rPr>
              <a:t>informs the </a:t>
            </a:r>
            <a:r>
              <a:rPr lang="en-US" sz="2200" dirty="0">
                <a:latin typeface="Verdana" pitchFamily="34" charset="0"/>
                <a:ea typeface="Verdana" pitchFamily="34" charset="0"/>
              </a:rPr>
              <a:t>Series which value to return given one or more index </a:t>
            </a:r>
            <a:r>
              <a:rPr lang="en-US" sz="2200" dirty="0" smtClean="0">
                <a:latin typeface="Verdana" pitchFamily="34" charset="0"/>
                <a:ea typeface="Verdana" pitchFamily="34" charset="0"/>
              </a:rPr>
              <a:t>values.</a:t>
            </a:r>
          </a:p>
          <a:p>
            <a:pPr marL="342900" indent="-342900" algn="just">
              <a:lnSpc>
                <a:spcPct val="150000"/>
              </a:lnSpc>
              <a:buFont typeface="Arial" pitchFamily="34" charset="0"/>
              <a:buChar char="•"/>
            </a:pPr>
            <a:endParaRPr lang="en-US" sz="2200" dirty="0">
              <a:latin typeface="Verdana" pitchFamily="34" charset="0"/>
              <a:ea typeface="Verdana" pitchFamily="34" charset="0"/>
            </a:endParaRPr>
          </a:p>
          <a:p>
            <a:pPr marL="342900" indent="-342900" algn="just">
              <a:lnSpc>
                <a:spcPct val="150000"/>
              </a:lnSpc>
              <a:buFont typeface="Arial" pitchFamily="34" charset="0"/>
              <a:buChar char="•"/>
            </a:pPr>
            <a:endParaRPr lang="en-US" sz="2200" dirty="0" smtClean="0">
              <a:latin typeface="Verdana" pitchFamily="34" charset="0"/>
              <a:ea typeface="Verdana" pitchFamily="34" charset="0"/>
            </a:endParaRPr>
          </a:p>
          <a:p>
            <a:pPr marL="342900" indent="-342900" algn="just">
              <a:lnSpc>
                <a:spcPct val="150000"/>
              </a:lnSpc>
              <a:buFont typeface="Arial" pitchFamily="34" charset="0"/>
              <a:buChar char="•"/>
            </a:pPr>
            <a:r>
              <a:rPr lang="en-US" sz="2200" dirty="0">
                <a:latin typeface="Verdana" pitchFamily="34" charset="0"/>
                <a:ea typeface="Verdana" pitchFamily="34" charset="0"/>
              </a:rPr>
              <a:t>A Series object can be created with a user-defined index by specifying the labels </a:t>
            </a:r>
            <a:r>
              <a:rPr lang="en-US" sz="2200" dirty="0" smtClean="0">
                <a:latin typeface="Verdana" pitchFamily="34" charset="0"/>
                <a:ea typeface="Verdana" pitchFamily="34" charset="0"/>
              </a:rPr>
              <a:t>for the </a:t>
            </a:r>
            <a:r>
              <a:rPr lang="en-US" sz="2200" dirty="0">
                <a:latin typeface="Verdana" pitchFamily="34" charset="0"/>
                <a:ea typeface="Verdana" pitchFamily="34" charset="0"/>
              </a:rPr>
              <a:t>index using the index parameter.</a:t>
            </a:r>
            <a:endParaRPr lang="en-US" sz="2200" dirty="0" smtClean="0">
              <a:latin typeface="Verdana" pitchFamily="34" charset="0"/>
              <a:ea typeface="Verdana" pitchFamily="34" charset="0"/>
            </a:endParaRPr>
          </a:p>
          <a:p>
            <a:pPr marL="342900" indent="-342900" algn="just">
              <a:lnSpc>
                <a:spcPct val="150000"/>
              </a:lnSpc>
              <a:buFont typeface="Arial" pitchFamily="34" charset="0"/>
              <a:buChar char="•"/>
            </a:pPr>
            <a:endParaRPr lang="en-US" sz="2200" dirty="0" smtClean="0">
              <a:latin typeface="Verdana" pitchFamily="34" charset="0"/>
              <a:ea typeface="Verdana" pitchFamily="34" charset="0"/>
            </a:endParaRPr>
          </a:p>
          <a:p>
            <a:pPr marL="342900" indent="-342900" algn="just">
              <a:lnSpc>
                <a:spcPct val="150000"/>
              </a:lnSpc>
              <a:buFont typeface="Arial" pitchFamily="34" charset="0"/>
              <a:buChar char="•"/>
            </a:pPr>
            <a:endParaRPr lang="en-US" sz="2200" dirty="0">
              <a:latin typeface="Verdana" pitchFamily="34" charset="0"/>
              <a:ea typeface="Verdana" pitchFamily="34" charset="0"/>
            </a:endParaRPr>
          </a:p>
        </p:txBody>
      </p:sp>
      <p:pic>
        <p:nvPicPr>
          <p:cNvPr id="819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826" t="61853" r="38696" b="21983"/>
          <a:stretch/>
        </p:blipFill>
        <p:spPr bwMode="auto">
          <a:xfrm>
            <a:off x="2486818" y="2342876"/>
            <a:ext cx="7218364" cy="1182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7280" t="40840" r="57715" b="32867"/>
          <a:stretch/>
        </p:blipFill>
        <p:spPr bwMode="auto">
          <a:xfrm>
            <a:off x="3818700" y="4885791"/>
            <a:ext cx="4554599" cy="1923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48636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2847576" y="232094"/>
            <a:ext cx="6828440" cy="646331"/>
          </a:xfrm>
          <a:prstGeom prst="rect">
            <a:avLst/>
          </a:prstGeom>
          <a:noFill/>
        </p:spPr>
        <p:txBody>
          <a:bodyPr wrap="square">
            <a:spAutoFit/>
          </a:bodyPr>
          <a:lstStyle/>
          <a:p>
            <a:r>
              <a:rPr lang="en-US" sz="3600" b="1" dirty="0"/>
              <a:t>The pandas </a:t>
            </a:r>
            <a:r>
              <a:rPr lang="en-US" sz="3600" b="1" i="1" dirty="0"/>
              <a:t>Series</a:t>
            </a:r>
            <a:r>
              <a:rPr lang="en-US" sz="3600" b="1" dirty="0"/>
              <a:t> </a:t>
            </a:r>
            <a:r>
              <a:rPr lang="en-US" sz="3600" b="1" dirty="0" smtClean="0"/>
              <a:t>object (cont.)</a:t>
            </a:r>
            <a:endParaRPr lang="en-US" sz="3600" b="1" dirty="0"/>
          </a:p>
        </p:txBody>
      </p:sp>
      <p:sp>
        <p:nvSpPr>
          <p:cNvPr id="22" name="TextBox 21">
            <a:extLst>
              <a:ext uri="{FF2B5EF4-FFF2-40B4-BE49-F238E27FC236}">
                <a16:creationId xmlns="" xmlns:a16="http://schemas.microsoft.com/office/drawing/2014/main" id="{70778C02-DAB7-65FA-AB76-FF0250D760FE}"/>
              </a:ext>
            </a:extLst>
          </p:cNvPr>
          <p:cNvSpPr txBox="1"/>
          <p:nvPr/>
        </p:nvSpPr>
        <p:spPr>
          <a:xfrm>
            <a:off x="537663" y="1256098"/>
            <a:ext cx="11223413" cy="4662815"/>
          </a:xfrm>
          <a:prstGeom prst="rect">
            <a:avLst/>
          </a:prstGeom>
          <a:noFill/>
        </p:spPr>
        <p:txBody>
          <a:bodyPr wrap="square">
            <a:spAutoFit/>
          </a:bodyPr>
          <a:lstStyle/>
          <a:p>
            <a:pPr marL="342900" indent="-342900" algn="just">
              <a:lnSpc>
                <a:spcPct val="150000"/>
              </a:lnSpc>
              <a:buFont typeface="Arial" pitchFamily="34" charset="0"/>
              <a:buChar char="•"/>
            </a:pPr>
            <a:r>
              <a:rPr lang="en-US" sz="2200" dirty="0">
                <a:latin typeface="Verdana" pitchFamily="34" charset="0"/>
                <a:ea typeface="Verdana" pitchFamily="34" charset="0"/>
              </a:rPr>
              <a:t>Data in the Series object can now be accessed by alphanumeric index labels </a:t>
            </a:r>
            <a:r>
              <a:rPr lang="en-US" sz="2200" dirty="0" smtClean="0">
                <a:latin typeface="Verdana" pitchFamily="34" charset="0"/>
                <a:ea typeface="Verdana" pitchFamily="34" charset="0"/>
              </a:rPr>
              <a:t>by passing </a:t>
            </a:r>
            <a:r>
              <a:rPr lang="en-US" sz="2200" dirty="0">
                <a:latin typeface="Verdana" pitchFamily="34" charset="0"/>
                <a:ea typeface="Verdana" pitchFamily="34" charset="0"/>
              </a:rPr>
              <a:t>a list of the desired labels, as the following </a:t>
            </a:r>
            <a:r>
              <a:rPr lang="en-US" sz="2200" dirty="0" smtClean="0">
                <a:latin typeface="Verdana" pitchFamily="34" charset="0"/>
                <a:ea typeface="Verdana" pitchFamily="34" charset="0"/>
              </a:rPr>
              <a:t>demonstrates</a:t>
            </a:r>
            <a:endParaRPr lang="en-US" sz="2200" dirty="0">
              <a:latin typeface="Verdana" pitchFamily="34" charset="0"/>
              <a:ea typeface="Verdana" pitchFamily="34" charset="0"/>
            </a:endParaRPr>
          </a:p>
          <a:p>
            <a:pPr marL="342900" indent="-342900" algn="just">
              <a:lnSpc>
                <a:spcPct val="150000"/>
              </a:lnSpc>
              <a:buFont typeface="Arial" pitchFamily="34" charset="0"/>
              <a:buChar char="•"/>
            </a:pPr>
            <a:endParaRPr lang="en-US" sz="2200" dirty="0" smtClean="0">
              <a:latin typeface="Verdana" pitchFamily="34" charset="0"/>
              <a:ea typeface="Verdana" pitchFamily="34" charset="0"/>
            </a:endParaRPr>
          </a:p>
          <a:p>
            <a:pPr marL="342900" indent="-342900" algn="just">
              <a:lnSpc>
                <a:spcPct val="150000"/>
              </a:lnSpc>
              <a:buFont typeface="Arial" pitchFamily="34" charset="0"/>
              <a:buChar char="•"/>
            </a:pPr>
            <a:endParaRPr lang="en-US" sz="2200" dirty="0" smtClean="0">
              <a:latin typeface="Verdana" pitchFamily="34" charset="0"/>
              <a:ea typeface="Verdana" pitchFamily="34" charset="0"/>
            </a:endParaRPr>
          </a:p>
          <a:p>
            <a:pPr marL="342900" indent="-342900" algn="just">
              <a:lnSpc>
                <a:spcPct val="150000"/>
              </a:lnSpc>
              <a:buFont typeface="Arial" pitchFamily="34" charset="0"/>
              <a:buChar char="•"/>
            </a:pPr>
            <a:endParaRPr lang="en-US" sz="2200" dirty="0" smtClean="0">
              <a:latin typeface="Verdana" pitchFamily="34" charset="0"/>
              <a:ea typeface="Verdana" pitchFamily="34" charset="0"/>
            </a:endParaRPr>
          </a:p>
          <a:p>
            <a:pPr marL="342900" indent="-342900" algn="just">
              <a:lnSpc>
                <a:spcPct val="150000"/>
              </a:lnSpc>
              <a:buFont typeface="Arial" pitchFamily="34" charset="0"/>
              <a:buChar char="•"/>
            </a:pPr>
            <a:r>
              <a:rPr lang="en-US" sz="2200" dirty="0">
                <a:latin typeface="Verdana" pitchFamily="34" charset="0"/>
                <a:ea typeface="Verdana" pitchFamily="34" charset="0"/>
              </a:rPr>
              <a:t>It is still possible to refer to the elements of the Series object by </a:t>
            </a:r>
            <a:r>
              <a:rPr lang="en-US" sz="2200" dirty="0" smtClean="0">
                <a:latin typeface="Verdana" pitchFamily="34" charset="0"/>
                <a:ea typeface="Verdana" pitchFamily="34" charset="0"/>
              </a:rPr>
              <a:t>their numerical </a:t>
            </a:r>
            <a:r>
              <a:rPr lang="en-US" sz="2200" dirty="0">
                <a:latin typeface="Verdana" pitchFamily="34" charset="0"/>
                <a:ea typeface="Verdana" pitchFamily="34" charset="0"/>
              </a:rPr>
              <a:t>position</a:t>
            </a:r>
            <a:endParaRPr lang="en-US" sz="2200" dirty="0" smtClean="0">
              <a:latin typeface="Verdana" pitchFamily="34" charset="0"/>
              <a:ea typeface="Verdana" pitchFamily="34" charset="0"/>
            </a:endParaRPr>
          </a:p>
          <a:p>
            <a:pPr marL="342900" indent="-342900" algn="just">
              <a:lnSpc>
                <a:spcPct val="150000"/>
              </a:lnSpc>
              <a:buFont typeface="Arial" pitchFamily="34" charset="0"/>
              <a:buChar char="•"/>
            </a:pPr>
            <a:endParaRPr lang="en-US" sz="2200" dirty="0" smtClean="0">
              <a:latin typeface="Verdana" pitchFamily="34" charset="0"/>
              <a:ea typeface="Verdana" pitchFamily="34" charset="0"/>
            </a:endParaRPr>
          </a:p>
          <a:p>
            <a:pPr marL="342900" indent="-342900" algn="just">
              <a:lnSpc>
                <a:spcPct val="150000"/>
              </a:lnSpc>
              <a:buFont typeface="Arial" pitchFamily="34" charset="0"/>
              <a:buChar char="•"/>
            </a:pPr>
            <a:endParaRPr lang="en-US" sz="2200" dirty="0">
              <a:latin typeface="Verdana" pitchFamily="34" charset="0"/>
              <a:ea typeface="Verdana" pitchFamily="34" charset="0"/>
            </a:endParaRPr>
          </a:p>
        </p:txBody>
      </p:sp>
      <p:pic>
        <p:nvPicPr>
          <p:cNvPr id="921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270" t="50000" r="45231" b="31034"/>
          <a:stretch/>
        </p:blipFill>
        <p:spPr bwMode="auto">
          <a:xfrm>
            <a:off x="3005959" y="2270234"/>
            <a:ext cx="6180083" cy="1387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7280" t="43642" r="48726" b="33513"/>
          <a:stretch/>
        </p:blipFill>
        <p:spPr bwMode="auto">
          <a:xfrm>
            <a:off x="3951883" y="4444355"/>
            <a:ext cx="5724133" cy="1671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02659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2847576" y="232094"/>
            <a:ext cx="6828440" cy="646331"/>
          </a:xfrm>
          <a:prstGeom prst="rect">
            <a:avLst/>
          </a:prstGeom>
          <a:noFill/>
        </p:spPr>
        <p:txBody>
          <a:bodyPr wrap="square">
            <a:spAutoFit/>
          </a:bodyPr>
          <a:lstStyle/>
          <a:p>
            <a:r>
              <a:rPr lang="en-US" sz="3600" b="1" dirty="0"/>
              <a:t>The pandas </a:t>
            </a:r>
            <a:r>
              <a:rPr lang="en-US" sz="3600" b="1" i="1" dirty="0"/>
              <a:t>Series</a:t>
            </a:r>
            <a:r>
              <a:rPr lang="en-US" sz="3600" b="1" dirty="0"/>
              <a:t> </a:t>
            </a:r>
            <a:r>
              <a:rPr lang="en-US" sz="3600" b="1" dirty="0" smtClean="0"/>
              <a:t>object (cont.)</a:t>
            </a:r>
            <a:endParaRPr lang="en-US" sz="3600" b="1" dirty="0"/>
          </a:p>
        </p:txBody>
      </p:sp>
      <p:sp>
        <p:nvSpPr>
          <p:cNvPr id="22" name="TextBox 21">
            <a:extLst>
              <a:ext uri="{FF2B5EF4-FFF2-40B4-BE49-F238E27FC236}">
                <a16:creationId xmlns="" xmlns:a16="http://schemas.microsoft.com/office/drawing/2014/main" id="{70778C02-DAB7-65FA-AB76-FF0250D760FE}"/>
              </a:ext>
            </a:extLst>
          </p:cNvPr>
          <p:cNvSpPr txBox="1"/>
          <p:nvPr/>
        </p:nvSpPr>
        <p:spPr>
          <a:xfrm>
            <a:off x="537663" y="1267233"/>
            <a:ext cx="11223413" cy="3323987"/>
          </a:xfrm>
          <a:prstGeom prst="rect">
            <a:avLst/>
          </a:prstGeom>
          <a:noFill/>
        </p:spPr>
        <p:txBody>
          <a:bodyPr wrap="square">
            <a:spAutoFit/>
          </a:bodyPr>
          <a:lstStyle/>
          <a:p>
            <a:pPr marL="342900" indent="-342900" algn="just">
              <a:lnSpc>
                <a:spcPct val="150000"/>
              </a:lnSpc>
              <a:buFont typeface="Arial" pitchFamily="34" charset="0"/>
              <a:buChar char="•"/>
            </a:pPr>
            <a:r>
              <a:rPr lang="en-US" sz="2000" dirty="0">
                <a:latin typeface="Verdana" pitchFamily="34" charset="0"/>
                <a:ea typeface="Verdana" pitchFamily="34" charset="0"/>
              </a:rPr>
              <a:t>The </a:t>
            </a:r>
            <a:r>
              <a:rPr lang="en-US" sz="2000" b="1" dirty="0" err="1">
                <a:latin typeface="Verdana" pitchFamily="34" charset="0"/>
                <a:ea typeface="Verdana" pitchFamily="34" charset="0"/>
              </a:rPr>
              <a:t>s.index</a:t>
            </a:r>
            <a:r>
              <a:rPr lang="en-US" sz="2000" dirty="0">
                <a:latin typeface="Verdana" pitchFamily="34" charset="0"/>
                <a:ea typeface="Verdana" pitchFamily="34" charset="0"/>
              </a:rPr>
              <a:t> property allows direct access to the index of the Series object</a:t>
            </a:r>
            <a:r>
              <a:rPr lang="en-US" sz="2000" dirty="0" smtClean="0">
                <a:latin typeface="Verdana" pitchFamily="34" charset="0"/>
                <a:ea typeface="Verdana" pitchFamily="34" charset="0"/>
              </a:rPr>
              <a:t>.</a:t>
            </a:r>
          </a:p>
          <a:p>
            <a:pPr marL="342900" indent="-342900" algn="just">
              <a:lnSpc>
                <a:spcPct val="150000"/>
              </a:lnSpc>
              <a:buFont typeface="Arial" pitchFamily="34" charset="0"/>
              <a:buChar char="•"/>
            </a:pPr>
            <a:endParaRPr lang="en-US" sz="2000" dirty="0">
              <a:latin typeface="Verdana" pitchFamily="34" charset="0"/>
              <a:ea typeface="Verdana" pitchFamily="34" charset="0"/>
            </a:endParaRPr>
          </a:p>
          <a:p>
            <a:pPr marL="342900" indent="-342900" algn="just">
              <a:lnSpc>
                <a:spcPct val="150000"/>
              </a:lnSpc>
              <a:buFont typeface="Arial" pitchFamily="34" charset="0"/>
              <a:buChar char="•"/>
            </a:pPr>
            <a:endParaRPr lang="en-US" sz="2000" dirty="0" smtClean="0">
              <a:latin typeface="Verdana" pitchFamily="34" charset="0"/>
              <a:ea typeface="Verdana" pitchFamily="34" charset="0"/>
            </a:endParaRPr>
          </a:p>
          <a:p>
            <a:pPr marL="342900" indent="-342900" algn="just">
              <a:lnSpc>
                <a:spcPct val="150000"/>
              </a:lnSpc>
              <a:buFont typeface="Arial" pitchFamily="34" charset="0"/>
              <a:buChar char="•"/>
            </a:pPr>
            <a:endParaRPr lang="en-US" sz="2000" dirty="0" smtClean="0">
              <a:latin typeface="Verdana" pitchFamily="34" charset="0"/>
              <a:ea typeface="Verdana" pitchFamily="34" charset="0"/>
            </a:endParaRPr>
          </a:p>
          <a:p>
            <a:pPr marL="342900" indent="-342900" algn="just">
              <a:lnSpc>
                <a:spcPct val="150000"/>
              </a:lnSpc>
              <a:buFont typeface="Arial" pitchFamily="34" charset="0"/>
              <a:buChar char="•"/>
            </a:pPr>
            <a:endParaRPr lang="en-US" sz="2000" dirty="0" smtClean="0">
              <a:latin typeface="Verdana" pitchFamily="34" charset="0"/>
              <a:ea typeface="Verdana" pitchFamily="34" charset="0"/>
            </a:endParaRPr>
          </a:p>
          <a:p>
            <a:pPr marL="342900" indent="-342900" algn="just">
              <a:lnSpc>
                <a:spcPct val="150000"/>
              </a:lnSpc>
              <a:buFont typeface="Arial" pitchFamily="34" charset="0"/>
              <a:buChar char="•"/>
            </a:pPr>
            <a:r>
              <a:rPr lang="en-US" sz="2000" dirty="0" smtClean="0">
                <a:latin typeface="Verdana" pitchFamily="34" charset="0"/>
                <a:ea typeface="Verdana" pitchFamily="34" charset="0"/>
              </a:rPr>
              <a:t>The </a:t>
            </a:r>
            <a:r>
              <a:rPr lang="en-US" sz="2000" dirty="0">
                <a:latin typeface="Verdana" pitchFamily="34" charset="0"/>
                <a:ea typeface="Verdana" pitchFamily="34" charset="0"/>
              </a:rPr>
              <a:t>index is itself actually a pandas object. This shows us the values of the index </a:t>
            </a:r>
            <a:r>
              <a:rPr lang="en-US" sz="2000" dirty="0" smtClean="0">
                <a:latin typeface="Verdana" pitchFamily="34" charset="0"/>
                <a:ea typeface="Verdana" pitchFamily="34" charset="0"/>
              </a:rPr>
              <a:t>and that </a:t>
            </a:r>
            <a:r>
              <a:rPr lang="en-US" sz="2000" dirty="0">
                <a:latin typeface="Verdana" pitchFamily="34" charset="0"/>
                <a:ea typeface="Verdana" pitchFamily="34" charset="0"/>
              </a:rPr>
              <a:t>the data type of each label in the index is object</a:t>
            </a:r>
            <a:endParaRPr lang="en-US" sz="2000" dirty="0">
              <a:latin typeface="Verdana" pitchFamily="34" charset="0"/>
              <a:ea typeface="Verdana" pitchFamily="34" charset="0"/>
            </a:endParaRPr>
          </a:p>
        </p:txBody>
      </p:sp>
      <p:pic>
        <p:nvPicPr>
          <p:cNvPr id="1024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2840" t="66379" r="48988" b="19612"/>
          <a:stretch/>
        </p:blipFill>
        <p:spPr bwMode="auto">
          <a:xfrm>
            <a:off x="2264302" y="1899741"/>
            <a:ext cx="7411714" cy="1529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03551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2847576" y="232094"/>
            <a:ext cx="6828440" cy="646331"/>
          </a:xfrm>
          <a:prstGeom prst="rect">
            <a:avLst/>
          </a:prstGeom>
          <a:noFill/>
        </p:spPr>
        <p:txBody>
          <a:bodyPr wrap="square">
            <a:spAutoFit/>
          </a:bodyPr>
          <a:lstStyle/>
          <a:p>
            <a:r>
              <a:rPr lang="en-US" sz="3600" b="1" dirty="0" smtClean="0"/>
              <a:t>Creating date range in pandas </a:t>
            </a:r>
            <a:endParaRPr lang="en-US" sz="3600" b="1" dirty="0"/>
          </a:p>
        </p:txBody>
      </p:sp>
      <p:sp>
        <p:nvSpPr>
          <p:cNvPr id="22" name="TextBox 21">
            <a:extLst>
              <a:ext uri="{FF2B5EF4-FFF2-40B4-BE49-F238E27FC236}">
                <a16:creationId xmlns="" xmlns:a16="http://schemas.microsoft.com/office/drawing/2014/main" id="{70778C02-DAB7-65FA-AB76-FF0250D760FE}"/>
              </a:ext>
            </a:extLst>
          </p:cNvPr>
          <p:cNvSpPr txBox="1"/>
          <p:nvPr/>
        </p:nvSpPr>
        <p:spPr>
          <a:xfrm>
            <a:off x="537662" y="1085271"/>
            <a:ext cx="5147347" cy="5632311"/>
          </a:xfrm>
          <a:prstGeom prst="rect">
            <a:avLst/>
          </a:prstGeom>
          <a:noFill/>
        </p:spPr>
        <p:txBody>
          <a:bodyPr wrap="square">
            <a:spAutoFit/>
          </a:bodyPr>
          <a:lstStyle/>
          <a:p>
            <a:pPr marL="342900" indent="-342900" algn="just">
              <a:lnSpc>
                <a:spcPct val="150000"/>
              </a:lnSpc>
              <a:buFont typeface="Arial" pitchFamily="34" charset="0"/>
              <a:buChar char="•"/>
            </a:pPr>
            <a:r>
              <a:rPr lang="en-US" sz="2000" dirty="0">
                <a:latin typeface="Verdana" pitchFamily="34" charset="0"/>
                <a:ea typeface="Verdana" pitchFamily="34" charset="0"/>
              </a:rPr>
              <a:t>A common usage of a Series in pandas is to represent a time series that </a:t>
            </a:r>
            <a:r>
              <a:rPr lang="en-US" sz="2000" dirty="0" smtClean="0">
                <a:latin typeface="Verdana" pitchFamily="34" charset="0"/>
                <a:ea typeface="Verdana" pitchFamily="34" charset="0"/>
              </a:rPr>
              <a:t>associates date/time </a:t>
            </a:r>
            <a:r>
              <a:rPr lang="en-US" sz="2000" dirty="0">
                <a:latin typeface="Verdana" pitchFamily="34" charset="0"/>
                <a:ea typeface="Verdana" pitchFamily="34" charset="0"/>
              </a:rPr>
              <a:t>index labels with a value. A date range can be created using the </a:t>
            </a:r>
            <a:r>
              <a:rPr lang="en-US" sz="2000" dirty="0" smtClean="0">
                <a:latin typeface="Verdana" pitchFamily="34" charset="0"/>
                <a:ea typeface="Verdana" pitchFamily="34" charset="0"/>
              </a:rPr>
              <a:t>pandas method </a:t>
            </a:r>
            <a:r>
              <a:rPr lang="en-US" sz="2000" b="1" dirty="0" err="1">
                <a:latin typeface="Verdana" pitchFamily="34" charset="0"/>
                <a:ea typeface="Verdana" pitchFamily="34" charset="0"/>
              </a:rPr>
              <a:t>pd.date_range</a:t>
            </a:r>
            <a:r>
              <a:rPr lang="en-US" sz="2000" b="1" dirty="0" smtClean="0">
                <a:latin typeface="Verdana" pitchFamily="34" charset="0"/>
                <a:ea typeface="Verdana" pitchFamily="34" charset="0"/>
              </a:rPr>
              <a:t>().</a:t>
            </a:r>
            <a:endParaRPr lang="en-US" sz="2000" dirty="0" smtClean="0">
              <a:latin typeface="Verdana" pitchFamily="34" charset="0"/>
              <a:ea typeface="Verdana" pitchFamily="34" charset="0"/>
            </a:endParaRPr>
          </a:p>
          <a:p>
            <a:pPr marL="342900" indent="-342900" algn="just">
              <a:lnSpc>
                <a:spcPct val="150000"/>
              </a:lnSpc>
              <a:buFont typeface="Arial" pitchFamily="34" charset="0"/>
              <a:buChar char="•"/>
            </a:pPr>
            <a:r>
              <a:rPr lang="en-US" sz="2000" dirty="0" smtClean="0">
                <a:latin typeface="Verdana" pitchFamily="34" charset="0"/>
                <a:ea typeface="Verdana" pitchFamily="34" charset="0"/>
              </a:rPr>
              <a:t>At </a:t>
            </a:r>
            <a:r>
              <a:rPr lang="en-US" sz="2000" dirty="0">
                <a:latin typeface="Verdana" pitchFamily="34" charset="0"/>
                <a:ea typeface="Verdana" pitchFamily="34" charset="0"/>
              </a:rPr>
              <a:t>this point, the index is not particularly useful without having values for </a:t>
            </a:r>
            <a:r>
              <a:rPr lang="en-US" sz="2000" dirty="0" smtClean="0">
                <a:latin typeface="Verdana" pitchFamily="34" charset="0"/>
                <a:ea typeface="Verdana" pitchFamily="34" charset="0"/>
              </a:rPr>
              <a:t>each index</a:t>
            </a:r>
            <a:r>
              <a:rPr lang="en-US" sz="2000" dirty="0">
                <a:latin typeface="Verdana" pitchFamily="34" charset="0"/>
                <a:ea typeface="Verdana" pitchFamily="34" charset="0"/>
              </a:rPr>
              <a:t>. We can use this index to create a new Series object with values for </a:t>
            </a:r>
            <a:r>
              <a:rPr lang="en-US" sz="2000" dirty="0" smtClean="0">
                <a:latin typeface="Verdana" pitchFamily="34" charset="0"/>
                <a:ea typeface="Verdana" pitchFamily="34" charset="0"/>
              </a:rPr>
              <a:t>each of </a:t>
            </a:r>
            <a:r>
              <a:rPr lang="en-US" sz="2000" dirty="0">
                <a:latin typeface="Verdana" pitchFamily="34" charset="0"/>
                <a:ea typeface="Verdana" pitchFamily="34" charset="0"/>
              </a:rPr>
              <a:t>the dates</a:t>
            </a:r>
            <a:endParaRPr lang="en-US" sz="2000" dirty="0">
              <a:latin typeface="Verdana" pitchFamily="34" charset="0"/>
              <a:ea typeface="Verdana" pitchFamily="34" charset="0"/>
            </a:endParaRPr>
          </a:p>
        </p:txBody>
      </p:sp>
      <p:pic>
        <p:nvPicPr>
          <p:cNvPr id="1126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33" t="40517" r="42355" b="35991"/>
          <a:stretch/>
        </p:blipFill>
        <p:spPr bwMode="auto">
          <a:xfrm>
            <a:off x="5685009" y="1201175"/>
            <a:ext cx="6506991" cy="1718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l="7392" t="28166" r="48745" b="40733"/>
          <a:stretch/>
        </p:blipFill>
        <p:spPr bwMode="auto">
          <a:xfrm>
            <a:off x="6261796" y="3429000"/>
            <a:ext cx="5707117" cy="2275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21602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2847576" y="232094"/>
            <a:ext cx="6828440" cy="646331"/>
          </a:xfrm>
          <a:prstGeom prst="rect">
            <a:avLst/>
          </a:prstGeom>
          <a:noFill/>
        </p:spPr>
        <p:txBody>
          <a:bodyPr wrap="square">
            <a:spAutoFit/>
          </a:bodyPr>
          <a:lstStyle/>
          <a:p>
            <a:pPr algn="ctr"/>
            <a:r>
              <a:rPr lang="en-US" sz="3600" b="1" dirty="0"/>
              <a:t>Statistical </a:t>
            </a:r>
            <a:r>
              <a:rPr lang="en-US" sz="3600" b="1" dirty="0" smtClean="0"/>
              <a:t>methods on Series</a:t>
            </a:r>
            <a:endParaRPr lang="en-US" sz="3600" b="1" dirty="0"/>
          </a:p>
        </p:txBody>
      </p:sp>
      <p:sp>
        <p:nvSpPr>
          <p:cNvPr id="22" name="TextBox 21">
            <a:extLst>
              <a:ext uri="{FF2B5EF4-FFF2-40B4-BE49-F238E27FC236}">
                <a16:creationId xmlns="" xmlns:a16="http://schemas.microsoft.com/office/drawing/2014/main" id="{70778C02-DAB7-65FA-AB76-FF0250D760FE}"/>
              </a:ext>
            </a:extLst>
          </p:cNvPr>
          <p:cNvSpPr txBox="1"/>
          <p:nvPr/>
        </p:nvSpPr>
        <p:spPr>
          <a:xfrm>
            <a:off x="757979" y="1256098"/>
            <a:ext cx="10766613" cy="3323987"/>
          </a:xfrm>
          <a:prstGeom prst="rect">
            <a:avLst/>
          </a:prstGeom>
          <a:noFill/>
        </p:spPr>
        <p:txBody>
          <a:bodyPr wrap="square">
            <a:spAutoFit/>
          </a:bodyPr>
          <a:lstStyle/>
          <a:p>
            <a:pPr algn="just">
              <a:lnSpc>
                <a:spcPct val="150000"/>
              </a:lnSpc>
            </a:pPr>
            <a:r>
              <a:rPr lang="en-US" sz="2000" dirty="0" smtClean="0">
                <a:latin typeface="Verdana" pitchFamily="34" charset="0"/>
                <a:ea typeface="Verdana" pitchFamily="34" charset="0"/>
              </a:rPr>
              <a:t>Statistical methods </a:t>
            </a:r>
            <a:r>
              <a:rPr lang="en-US" sz="2000" dirty="0">
                <a:latin typeface="Verdana" pitchFamily="34" charset="0"/>
                <a:ea typeface="Verdana" pitchFamily="34" charset="0"/>
              </a:rPr>
              <a:t>provided by </a:t>
            </a:r>
            <a:r>
              <a:rPr lang="en-US" sz="2000" b="1" dirty="0" err="1">
                <a:latin typeface="Verdana" pitchFamily="34" charset="0"/>
                <a:ea typeface="Verdana" pitchFamily="34" charset="0"/>
              </a:rPr>
              <a:t>NumPy</a:t>
            </a:r>
            <a:r>
              <a:rPr lang="en-US" sz="2000" dirty="0">
                <a:latin typeface="Verdana" pitchFamily="34" charset="0"/>
                <a:ea typeface="Verdana" pitchFamily="34" charset="0"/>
              </a:rPr>
              <a:t> can be applied to a pandas Series</a:t>
            </a:r>
            <a:r>
              <a:rPr lang="en-US" sz="2000" dirty="0" smtClean="0">
                <a:latin typeface="Verdana" pitchFamily="34" charset="0"/>
                <a:ea typeface="Verdana" pitchFamily="34" charset="0"/>
              </a:rPr>
              <a:t>. Including mean(), median(), mode() etc. </a:t>
            </a:r>
            <a:endParaRPr lang="en-US" sz="2000" dirty="0">
              <a:latin typeface="Verdana" pitchFamily="34" charset="0"/>
              <a:ea typeface="Verdana" pitchFamily="34" charset="0"/>
            </a:endParaRPr>
          </a:p>
          <a:p>
            <a:pPr algn="just">
              <a:lnSpc>
                <a:spcPct val="150000"/>
              </a:lnSpc>
            </a:pPr>
            <a:r>
              <a:rPr lang="en-US" sz="2000" dirty="0">
                <a:latin typeface="Verdana" pitchFamily="34" charset="0"/>
                <a:ea typeface="Verdana" pitchFamily="34" charset="0"/>
              </a:rPr>
              <a:t>The following returns the </a:t>
            </a:r>
            <a:r>
              <a:rPr lang="en-US" sz="2000" dirty="0" smtClean="0">
                <a:latin typeface="Verdana" pitchFamily="34" charset="0"/>
                <a:ea typeface="Verdana" pitchFamily="34" charset="0"/>
              </a:rPr>
              <a:t>mean, median and mode of </a:t>
            </a:r>
            <a:r>
              <a:rPr lang="en-US" sz="2000" dirty="0">
                <a:latin typeface="Verdana" pitchFamily="34" charset="0"/>
                <a:ea typeface="Verdana" pitchFamily="34" charset="0"/>
              </a:rPr>
              <a:t>the values in the </a:t>
            </a:r>
            <a:r>
              <a:rPr lang="en-US" sz="2000" dirty="0" smtClean="0">
                <a:latin typeface="Verdana" pitchFamily="34" charset="0"/>
                <a:ea typeface="Verdana" pitchFamily="34" charset="0"/>
              </a:rPr>
              <a:t>Series:</a:t>
            </a:r>
          </a:p>
          <a:p>
            <a:pPr algn="just">
              <a:lnSpc>
                <a:spcPct val="150000"/>
              </a:lnSpc>
            </a:pPr>
            <a:r>
              <a:rPr lang="en-US" sz="2000" dirty="0" smtClean="0">
                <a:latin typeface="Verdana" pitchFamily="34" charset="0"/>
                <a:ea typeface="Verdana" pitchFamily="34" charset="0"/>
              </a:rPr>
              <a:t>Other operations that can be applied on series can be reviewed here :</a:t>
            </a:r>
          </a:p>
          <a:p>
            <a:pPr algn="just">
              <a:lnSpc>
                <a:spcPct val="150000"/>
              </a:lnSpc>
            </a:pPr>
            <a:r>
              <a:rPr lang="en-US" sz="2000" dirty="0">
                <a:latin typeface="Verdana" pitchFamily="34" charset="0"/>
                <a:ea typeface="Verdana" pitchFamily="34" charset="0"/>
                <a:hlinkClick r:id="rId3"/>
              </a:rPr>
              <a:t>https://pandas.pydata.org/docs/reference/series.html</a:t>
            </a:r>
            <a:endParaRPr lang="en-US" sz="2000" dirty="0" smtClean="0">
              <a:solidFill>
                <a:schemeClr val="bg2">
                  <a:lumMod val="50000"/>
                </a:schemeClr>
              </a:solidFill>
              <a:latin typeface="Verdana" pitchFamily="34" charset="0"/>
              <a:ea typeface="Verdana" pitchFamily="34" charset="0"/>
            </a:endParaRPr>
          </a:p>
          <a:p>
            <a:pPr algn="just">
              <a:lnSpc>
                <a:spcPct val="150000"/>
              </a:lnSpc>
            </a:pPr>
            <a:endParaRPr lang="en-US" sz="2000" dirty="0">
              <a:solidFill>
                <a:schemeClr val="bg2">
                  <a:lumMod val="50000"/>
                </a:schemeClr>
              </a:solidFill>
              <a:latin typeface="Verdana" pitchFamily="34" charset="0"/>
              <a:ea typeface="Verdana" pitchFamily="34" charset="0"/>
            </a:endParaRPr>
          </a:p>
          <a:p>
            <a:pPr algn="just">
              <a:lnSpc>
                <a:spcPct val="150000"/>
              </a:lnSpc>
            </a:pPr>
            <a:endParaRPr lang="en-US" sz="2000" dirty="0">
              <a:solidFill>
                <a:schemeClr val="bg2">
                  <a:lumMod val="50000"/>
                </a:schemeClr>
              </a:solidFill>
              <a:latin typeface="Verdana" pitchFamily="34" charset="0"/>
              <a:ea typeface="Verdana" pitchFamily="34" charset="0"/>
            </a:endParaRPr>
          </a:p>
        </p:txBody>
      </p:sp>
      <p:pic>
        <p:nvPicPr>
          <p:cNvPr id="12291"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7392" t="60129" r="55530" b="6250"/>
          <a:stretch/>
        </p:blipFill>
        <p:spPr bwMode="auto">
          <a:xfrm>
            <a:off x="2112578" y="3778579"/>
            <a:ext cx="5643327" cy="2876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25366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2847576" y="232094"/>
            <a:ext cx="6828440" cy="646331"/>
          </a:xfrm>
          <a:prstGeom prst="rect">
            <a:avLst/>
          </a:prstGeom>
          <a:noFill/>
        </p:spPr>
        <p:txBody>
          <a:bodyPr wrap="square">
            <a:spAutoFit/>
          </a:bodyPr>
          <a:lstStyle/>
          <a:p>
            <a:pPr algn="ctr"/>
            <a:r>
              <a:rPr lang="en-US" sz="3600" b="1" dirty="0" smtClean="0"/>
              <a:t>Mathematical operations on Series</a:t>
            </a:r>
            <a:endParaRPr lang="en-US" sz="3600" b="1" dirty="0"/>
          </a:p>
        </p:txBody>
      </p:sp>
      <p:sp>
        <p:nvSpPr>
          <p:cNvPr id="22" name="TextBox 21">
            <a:extLst>
              <a:ext uri="{FF2B5EF4-FFF2-40B4-BE49-F238E27FC236}">
                <a16:creationId xmlns="" xmlns:a16="http://schemas.microsoft.com/office/drawing/2014/main" id="{70778C02-DAB7-65FA-AB76-FF0250D760FE}"/>
              </a:ext>
            </a:extLst>
          </p:cNvPr>
          <p:cNvSpPr txBox="1"/>
          <p:nvPr/>
        </p:nvSpPr>
        <p:spPr>
          <a:xfrm>
            <a:off x="757979" y="1256098"/>
            <a:ext cx="10766613" cy="1693412"/>
          </a:xfrm>
          <a:prstGeom prst="rect">
            <a:avLst/>
          </a:prstGeom>
          <a:noFill/>
        </p:spPr>
        <p:txBody>
          <a:bodyPr wrap="square">
            <a:spAutoFit/>
          </a:bodyPr>
          <a:lstStyle/>
          <a:p>
            <a:pPr marL="342900" indent="-342900" algn="just">
              <a:lnSpc>
                <a:spcPct val="150000"/>
              </a:lnSpc>
              <a:buFont typeface="Arial" pitchFamily="34" charset="0"/>
              <a:buChar char="•"/>
            </a:pPr>
            <a:r>
              <a:rPr lang="en-US" sz="2400" dirty="0"/>
              <a:t>Arithmetic operations (+, -, /, *, and so on) can be applied either to a </a:t>
            </a:r>
            <a:r>
              <a:rPr lang="en-US" sz="2400" dirty="0" smtClean="0"/>
              <a:t>Series or </a:t>
            </a:r>
            <a:r>
              <a:rPr lang="en-US" sz="2400" dirty="0"/>
              <a:t>between two Series objects. When applied to a single Series, the </a:t>
            </a:r>
            <a:r>
              <a:rPr lang="en-US" sz="2400" dirty="0" smtClean="0"/>
              <a:t>operation is </a:t>
            </a:r>
            <a:r>
              <a:rPr lang="en-US" sz="2400" dirty="0"/>
              <a:t>applied to all of the values in that Series. </a:t>
            </a:r>
            <a:endParaRPr lang="en-US" sz="2400" dirty="0">
              <a:solidFill>
                <a:schemeClr val="bg2">
                  <a:lumMod val="50000"/>
                </a:schemeClr>
              </a:solidFill>
              <a:latin typeface="Verdana" pitchFamily="34" charset="0"/>
              <a:ea typeface="Verdana" pitchFamily="34" charset="0"/>
            </a:endParaRPr>
          </a:p>
        </p:txBody>
      </p:sp>
    </p:spTree>
    <p:extLst>
      <p:ext uri="{BB962C8B-B14F-4D97-AF65-F5344CB8AC3E}">
        <p14:creationId xmlns:p14="http://schemas.microsoft.com/office/powerpoint/2010/main" val="18779604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537662" y="232094"/>
            <a:ext cx="10829275" cy="646331"/>
          </a:xfrm>
          <a:prstGeom prst="rect">
            <a:avLst/>
          </a:prstGeom>
          <a:noFill/>
        </p:spPr>
        <p:txBody>
          <a:bodyPr wrap="square">
            <a:spAutoFit/>
          </a:bodyPr>
          <a:lstStyle/>
          <a:p>
            <a:pPr algn="ctr"/>
            <a:r>
              <a:rPr lang="en-US" sz="3600" b="1" dirty="0"/>
              <a:t>Size, shape, uniqueness, and counts </a:t>
            </a:r>
            <a:r>
              <a:rPr lang="en-US" sz="3600" b="1" dirty="0" smtClean="0"/>
              <a:t>of values</a:t>
            </a:r>
            <a:endParaRPr lang="en-US" sz="3600" b="1" dirty="0"/>
          </a:p>
        </p:txBody>
      </p:sp>
      <p:sp>
        <p:nvSpPr>
          <p:cNvPr id="22" name="TextBox 21">
            <a:extLst>
              <a:ext uri="{FF2B5EF4-FFF2-40B4-BE49-F238E27FC236}">
                <a16:creationId xmlns="" xmlns:a16="http://schemas.microsoft.com/office/drawing/2014/main" id="{70778C02-DAB7-65FA-AB76-FF0250D760FE}"/>
              </a:ext>
            </a:extLst>
          </p:cNvPr>
          <p:cNvSpPr txBox="1"/>
          <p:nvPr/>
        </p:nvSpPr>
        <p:spPr>
          <a:xfrm>
            <a:off x="757980" y="1209857"/>
            <a:ext cx="10766613" cy="4708981"/>
          </a:xfrm>
          <a:prstGeom prst="rect">
            <a:avLst/>
          </a:prstGeom>
          <a:noFill/>
        </p:spPr>
        <p:txBody>
          <a:bodyPr wrap="square">
            <a:spAutoFit/>
          </a:bodyPr>
          <a:lstStyle/>
          <a:p>
            <a:pPr marL="342900" indent="-342900" algn="just">
              <a:lnSpc>
                <a:spcPct val="150000"/>
              </a:lnSpc>
              <a:buFont typeface="Arial" pitchFamily="34" charset="0"/>
              <a:buChar char="•"/>
            </a:pPr>
            <a:r>
              <a:rPr lang="en-US" sz="2000" dirty="0">
                <a:latin typeface="Verdana" pitchFamily="34" charset="0"/>
                <a:ea typeface="Verdana" pitchFamily="34" charset="0"/>
              </a:rPr>
              <a:t>The number of items in a Series object can be determined by several techniques</a:t>
            </a:r>
            <a:r>
              <a:rPr lang="en-US" sz="2000" dirty="0" smtClean="0">
                <a:latin typeface="Verdana" pitchFamily="34" charset="0"/>
                <a:ea typeface="Verdana" pitchFamily="34" charset="0"/>
              </a:rPr>
              <a:t>.</a:t>
            </a:r>
          </a:p>
          <a:p>
            <a:pPr marL="342900" indent="-342900" algn="just">
              <a:lnSpc>
                <a:spcPct val="150000"/>
              </a:lnSpc>
              <a:buFont typeface="Arial" pitchFamily="34" charset="0"/>
              <a:buChar char="•"/>
            </a:pPr>
            <a:r>
              <a:rPr lang="en-US" sz="2000" dirty="0">
                <a:latin typeface="Verdana" pitchFamily="34" charset="0"/>
                <a:ea typeface="Verdana" pitchFamily="34" charset="0"/>
              </a:rPr>
              <a:t>The length can be determined using the </a:t>
            </a:r>
            <a:r>
              <a:rPr lang="en-US" sz="2000" b="1" dirty="0" err="1">
                <a:latin typeface="Verdana" pitchFamily="34" charset="0"/>
                <a:ea typeface="Verdana" pitchFamily="34" charset="0"/>
              </a:rPr>
              <a:t>len</a:t>
            </a:r>
            <a:r>
              <a:rPr lang="en-US" sz="2000" b="1" dirty="0">
                <a:latin typeface="Verdana" pitchFamily="34" charset="0"/>
                <a:ea typeface="Verdana" pitchFamily="34" charset="0"/>
              </a:rPr>
              <a:t>() </a:t>
            </a:r>
            <a:r>
              <a:rPr lang="en-US" sz="2000" dirty="0" smtClean="0">
                <a:latin typeface="Verdana" pitchFamily="34" charset="0"/>
                <a:ea typeface="Verdana" pitchFamily="34" charset="0"/>
              </a:rPr>
              <a:t>function</a:t>
            </a:r>
          </a:p>
          <a:p>
            <a:pPr marL="342900" indent="-342900" algn="just">
              <a:lnSpc>
                <a:spcPct val="150000"/>
              </a:lnSpc>
              <a:buFont typeface="Arial" pitchFamily="34" charset="0"/>
              <a:buChar char="•"/>
            </a:pPr>
            <a:r>
              <a:rPr lang="en-US" sz="2000" dirty="0" smtClean="0">
                <a:latin typeface="Verdana" pitchFamily="34" charset="0"/>
                <a:ea typeface="Verdana" pitchFamily="34" charset="0"/>
              </a:rPr>
              <a:t>Alternately</a:t>
            </a:r>
            <a:r>
              <a:rPr lang="en-US" sz="2000" dirty="0">
                <a:latin typeface="Verdana" pitchFamily="34" charset="0"/>
                <a:ea typeface="Verdana" pitchFamily="34" charset="0"/>
              </a:rPr>
              <a:t>, the length can be determined using the </a:t>
            </a:r>
            <a:r>
              <a:rPr lang="en-US" sz="2000" b="1" dirty="0">
                <a:latin typeface="Verdana" pitchFamily="34" charset="0"/>
                <a:ea typeface="Verdana" pitchFamily="34" charset="0"/>
              </a:rPr>
              <a:t>.size </a:t>
            </a:r>
            <a:r>
              <a:rPr lang="en-US" sz="2000" dirty="0">
                <a:latin typeface="Verdana" pitchFamily="34" charset="0"/>
                <a:ea typeface="Verdana" pitchFamily="34" charset="0"/>
              </a:rPr>
              <a:t>property</a:t>
            </a:r>
            <a:r>
              <a:rPr lang="en-US" sz="2000" dirty="0" smtClean="0">
                <a:latin typeface="Verdana" pitchFamily="34" charset="0"/>
                <a:ea typeface="Verdana" pitchFamily="34" charset="0"/>
              </a:rPr>
              <a:t>:</a:t>
            </a:r>
          </a:p>
          <a:p>
            <a:pPr marL="342900" indent="-342900" algn="just">
              <a:lnSpc>
                <a:spcPct val="150000"/>
              </a:lnSpc>
              <a:buFont typeface="Arial" pitchFamily="34" charset="0"/>
              <a:buChar char="•"/>
            </a:pPr>
            <a:r>
              <a:rPr lang="en-US" sz="2000" dirty="0">
                <a:latin typeface="Verdana" pitchFamily="34" charset="0"/>
                <a:ea typeface="Verdana" pitchFamily="34" charset="0"/>
              </a:rPr>
              <a:t>The </a:t>
            </a:r>
            <a:r>
              <a:rPr lang="en-US" sz="2000" b="1" dirty="0">
                <a:latin typeface="Verdana" pitchFamily="34" charset="0"/>
                <a:ea typeface="Verdana" pitchFamily="34" charset="0"/>
              </a:rPr>
              <a:t>.shape </a:t>
            </a:r>
            <a:r>
              <a:rPr lang="en-US" sz="2000" dirty="0">
                <a:latin typeface="Verdana" pitchFamily="34" charset="0"/>
                <a:ea typeface="Verdana" pitchFamily="34" charset="0"/>
              </a:rPr>
              <a:t>property returns a tuple where the first item is the number of </a:t>
            </a:r>
            <a:r>
              <a:rPr lang="en-US" sz="2000" dirty="0" smtClean="0">
                <a:latin typeface="Verdana" pitchFamily="34" charset="0"/>
                <a:ea typeface="Verdana" pitchFamily="34" charset="0"/>
              </a:rPr>
              <a:t>items</a:t>
            </a:r>
          </a:p>
          <a:p>
            <a:pPr marL="342900" indent="-342900" algn="just">
              <a:lnSpc>
                <a:spcPct val="150000"/>
              </a:lnSpc>
              <a:buFont typeface="Arial" pitchFamily="34" charset="0"/>
              <a:buChar char="•"/>
            </a:pPr>
            <a:r>
              <a:rPr lang="en-US" sz="2000" dirty="0">
                <a:latin typeface="Verdana" pitchFamily="34" charset="0"/>
                <a:ea typeface="Verdana" pitchFamily="34" charset="0"/>
              </a:rPr>
              <a:t>The number of the values that are not part of the </a:t>
            </a:r>
            <a:r>
              <a:rPr lang="en-US" sz="2000" dirty="0" err="1">
                <a:latin typeface="Verdana" pitchFamily="34" charset="0"/>
                <a:ea typeface="Verdana" pitchFamily="34" charset="0"/>
              </a:rPr>
              <a:t>NaN</a:t>
            </a:r>
            <a:r>
              <a:rPr lang="en-US" sz="2000" dirty="0">
                <a:latin typeface="Verdana" pitchFamily="34" charset="0"/>
                <a:ea typeface="Verdana" pitchFamily="34" charset="0"/>
              </a:rPr>
              <a:t> can be found by using </a:t>
            </a:r>
            <a:r>
              <a:rPr lang="en-US" sz="2000" dirty="0" smtClean="0">
                <a:latin typeface="Verdana" pitchFamily="34" charset="0"/>
                <a:ea typeface="Verdana" pitchFamily="34" charset="0"/>
              </a:rPr>
              <a:t>the .</a:t>
            </a:r>
            <a:r>
              <a:rPr lang="en-US" sz="2000" b="1" dirty="0" smtClean="0">
                <a:latin typeface="Verdana" pitchFamily="34" charset="0"/>
                <a:ea typeface="Verdana" pitchFamily="34" charset="0"/>
              </a:rPr>
              <a:t>count</a:t>
            </a:r>
            <a:r>
              <a:rPr lang="en-US" sz="2000" b="1" dirty="0">
                <a:latin typeface="Verdana" pitchFamily="34" charset="0"/>
                <a:ea typeface="Verdana" pitchFamily="34" charset="0"/>
              </a:rPr>
              <a:t>() </a:t>
            </a:r>
            <a:r>
              <a:rPr lang="en-US" sz="2000" dirty="0" smtClean="0">
                <a:latin typeface="Verdana" pitchFamily="34" charset="0"/>
                <a:ea typeface="Verdana" pitchFamily="34" charset="0"/>
              </a:rPr>
              <a:t>method </a:t>
            </a:r>
          </a:p>
          <a:p>
            <a:pPr marL="342900" indent="-342900" algn="just">
              <a:lnSpc>
                <a:spcPct val="150000"/>
              </a:lnSpc>
              <a:buFont typeface="Arial" pitchFamily="34" charset="0"/>
              <a:buChar char="•"/>
            </a:pPr>
            <a:r>
              <a:rPr lang="en-US" sz="2000" dirty="0">
                <a:latin typeface="Verdana" pitchFamily="34" charset="0"/>
                <a:ea typeface="Verdana" pitchFamily="34" charset="0"/>
              </a:rPr>
              <a:t>T</a:t>
            </a:r>
            <a:r>
              <a:rPr lang="en-US" sz="2000" dirty="0" smtClean="0">
                <a:latin typeface="Verdana" pitchFamily="34" charset="0"/>
                <a:ea typeface="Verdana" pitchFamily="34" charset="0"/>
              </a:rPr>
              <a:t>he </a:t>
            </a:r>
            <a:r>
              <a:rPr lang="en-US" sz="2000" dirty="0">
                <a:latin typeface="Verdana" pitchFamily="34" charset="0"/>
                <a:ea typeface="Verdana" pitchFamily="34" charset="0"/>
              </a:rPr>
              <a:t>count of each of the unique items in a Series can be obtained </a:t>
            </a:r>
            <a:r>
              <a:rPr lang="en-US" sz="2000" dirty="0" smtClean="0">
                <a:latin typeface="Verdana" pitchFamily="34" charset="0"/>
                <a:ea typeface="Verdana" pitchFamily="34" charset="0"/>
              </a:rPr>
              <a:t>using </a:t>
            </a:r>
            <a:r>
              <a:rPr lang="en-US" sz="2000" b="1" dirty="0" smtClean="0">
                <a:latin typeface="Verdana" pitchFamily="34" charset="0"/>
                <a:ea typeface="Verdana" pitchFamily="34" charset="0"/>
              </a:rPr>
              <a:t>.</a:t>
            </a:r>
            <a:r>
              <a:rPr lang="en-US" sz="2000" b="1" dirty="0" err="1" smtClean="0">
                <a:latin typeface="Verdana" pitchFamily="34" charset="0"/>
                <a:ea typeface="Verdana" pitchFamily="34" charset="0"/>
              </a:rPr>
              <a:t>value_counts</a:t>
            </a:r>
            <a:r>
              <a:rPr lang="en-US" sz="2000" b="1" dirty="0">
                <a:latin typeface="Verdana" pitchFamily="34" charset="0"/>
                <a:ea typeface="Verdana" pitchFamily="34" charset="0"/>
              </a:rPr>
              <a:t>()</a:t>
            </a:r>
            <a:endParaRPr lang="en-US" sz="2000" b="1" dirty="0">
              <a:latin typeface="Verdana" pitchFamily="34" charset="0"/>
              <a:ea typeface="Verdana" pitchFamily="34" charset="0"/>
            </a:endParaRPr>
          </a:p>
        </p:txBody>
      </p:sp>
    </p:spTree>
    <p:extLst>
      <p:ext uri="{BB962C8B-B14F-4D97-AF65-F5344CB8AC3E}">
        <p14:creationId xmlns:p14="http://schemas.microsoft.com/office/powerpoint/2010/main" val="18841646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537662" y="232094"/>
            <a:ext cx="10829275" cy="646331"/>
          </a:xfrm>
          <a:prstGeom prst="rect">
            <a:avLst/>
          </a:prstGeom>
          <a:noFill/>
        </p:spPr>
        <p:txBody>
          <a:bodyPr wrap="square">
            <a:spAutoFit/>
          </a:bodyPr>
          <a:lstStyle/>
          <a:p>
            <a:pPr algn="ctr"/>
            <a:r>
              <a:rPr lang="en-US" sz="3600" b="1" dirty="0"/>
              <a:t>Peeking at data with heads, tails, </a:t>
            </a:r>
            <a:r>
              <a:rPr lang="en-US" sz="3600" b="1" dirty="0" smtClean="0"/>
              <a:t>and take</a:t>
            </a:r>
            <a:endParaRPr lang="en-US" sz="3600" b="1" dirty="0"/>
          </a:p>
        </p:txBody>
      </p:sp>
      <p:sp>
        <p:nvSpPr>
          <p:cNvPr id="22" name="TextBox 21">
            <a:extLst>
              <a:ext uri="{FF2B5EF4-FFF2-40B4-BE49-F238E27FC236}">
                <a16:creationId xmlns="" xmlns:a16="http://schemas.microsoft.com/office/drawing/2014/main" id="{70778C02-DAB7-65FA-AB76-FF0250D760FE}"/>
              </a:ext>
            </a:extLst>
          </p:cNvPr>
          <p:cNvSpPr txBox="1"/>
          <p:nvPr/>
        </p:nvSpPr>
        <p:spPr>
          <a:xfrm>
            <a:off x="757980" y="1209857"/>
            <a:ext cx="10766613" cy="1938992"/>
          </a:xfrm>
          <a:prstGeom prst="rect">
            <a:avLst/>
          </a:prstGeom>
          <a:noFill/>
        </p:spPr>
        <p:txBody>
          <a:bodyPr wrap="square">
            <a:spAutoFit/>
          </a:bodyPr>
          <a:lstStyle/>
          <a:p>
            <a:pPr marL="342900" indent="-342900" algn="just">
              <a:lnSpc>
                <a:spcPct val="150000"/>
              </a:lnSpc>
              <a:buFont typeface="Arial" pitchFamily="34" charset="0"/>
              <a:buChar char="•"/>
            </a:pPr>
            <a:r>
              <a:rPr lang="en-US" sz="2000" dirty="0">
                <a:latin typeface="Verdana" pitchFamily="34" charset="0"/>
                <a:ea typeface="Verdana" pitchFamily="34" charset="0"/>
              </a:rPr>
              <a:t>pandas provides the .head() and .tail() methods to examine just the first </a:t>
            </a:r>
            <a:r>
              <a:rPr lang="en-US" sz="2000" dirty="0" smtClean="0">
                <a:latin typeface="Verdana" pitchFamily="34" charset="0"/>
                <a:ea typeface="Verdana" pitchFamily="34" charset="0"/>
              </a:rPr>
              <a:t>few, or </a:t>
            </a:r>
            <a:r>
              <a:rPr lang="en-US" sz="2000" dirty="0">
                <a:latin typeface="Verdana" pitchFamily="34" charset="0"/>
                <a:ea typeface="Verdana" pitchFamily="34" charset="0"/>
              </a:rPr>
              <a:t>last, records in a Series. </a:t>
            </a:r>
            <a:endParaRPr lang="en-US" sz="2000" dirty="0" smtClean="0">
              <a:latin typeface="Verdana" pitchFamily="34" charset="0"/>
              <a:ea typeface="Verdana" pitchFamily="34" charset="0"/>
            </a:endParaRPr>
          </a:p>
          <a:p>
            <a:pPr marL="342900" indent="-342900" algn="just">
              <a:lnSpc>
                <a:spcPct val="150000"/>
              </a:lnSpc>
              <a:buFont typeface="Arial" pitchFamily="34" charset="0"/>
              <a:buChar char="•"/>
            </a:pPr>
            <a:r>
              <a:rPr lang="en-US" sz="2000" dirty="0" smtClean="0">
                <a:latin typeface="Verdana" pitchFamily="34" charset="0"/>
                <a:ea typeface="Verdana" pitchFamily="34" charset="0"/>
              </a:rPr>
              <a:t>By </a:t>
            </a:r>
            <a:r>
              <a:rPr lang="en-US" sz="2000" dirty="0">
                <a:latin typeface="Verdana" pitchFamily="34" charset="0"/>
                <a:ea typeface="Verdana" pitchFamily="34" charset="0"/>
              </a:rPr>
              <a:t>default, these return the first or last five </a:t>
            </a:r>
            <a:r>
              <a:rPr lang="en-US" sz="2000" dirty="0" smtClean="0">
                <a:latin typeface="Verdana" pitchFamily="34" charset="0"/>
                <a:ea typeface="Verdana" pitchFamily="34" charset="0"/>
              </a:rPr>
              <a:t>rows, respectively</a:t>
            </a:r>
            <a:r>
              <a:rPr lang="en-US" sz="2000" dirty="0">
                <a:latin typeface="Verdana" pitchFamily="34" charset="0"/>
                <a:ea typeface="Verdana" pitchFamily="34" charset="0"/>
              </a:rPr>
              <a:t>, but you can use the n parameter or just pass an integer to </a:t>
            </a:r>
            <a:r>
              <a:rPr lang="en-US" sz="2000" dirty="0" smtClean="0">
                <a:latin typeface="Verdana" pitchFamily="34" charset="0"/>
                <a:ea typeface="Verdana" pitchFamily="34" charset="0"/>
              </a:rPr>
              <a:t>specify the </a:t>
            </a:r>
            <a:r>
              <a:rPr lang="en-US" sz="2000" dirty="0">
                <a:latin typeface="Verdana" pitchFamily="34" charset="0"/>
                <a:ea typeface="Verdana" pitchFamily="34" charset="0"/>
              </a:rPr>
              <a:t>number of rows</a:t>
            </a:r>
            <a:endParaRPr lang="en-US" sz="2000" b="1" dirty="0">
              <a:latin typeface="Verdana" pitchFamily="34" charset="0"/>
              <a:ea typeface="Verdana" pitchFamily="34" charset="0"/>
            </a:endParaRPr>
          </a:p>
        </p:txBody>
      </p:sp>
      <p:pic>
        <p:nvPicPr>
          <p:cNvPr id="1331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6907" t="32327" r="54252" b="6249"/>
          <a:stretch/>
        </p:blipFill>
        <p:spPr bwMode="auto">
          <a:xfrm>
            <a:off x="1103587" y="3221408"/>
            <a:ext cx="3862552" cy="343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7281" t="53484" r="75526" b="23258"/>
          <a:stretch/>
        </p:blipFill>
        <p:spPr bwMode="auto">
          <a:xfrm>
            <a:off x="6486532" y="3221408"/>
            <a:ext cx="2237068" cy="170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rotWithShape="1">
          <a:blip r:embed="rId5">
            <a:extLst>
              <a:ext uri="{28A0092B-C50C-407E-A947-70E740481C1C}">
                <a14:useLocalDpi xmlns:a14="http://schemas.microsoft.com/office/drawing/2010/main" val="0"/>
              </a:ext>
            </a:extLst>
          </a:blip>
          <a:srcRect l="7280" t="61530" r="68256" b="19235"/>
          <a:stretch/>
        </p:blipFill>
        <p:spPr bwMode="auto">
          <a:xfrm>
            <a:off x="6384844" y="5248499"/>
            <a:ext cx="3183000" cy="1407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92637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A42210A-7EC0-9044-AB29-B19B8DD30EBD}"/>
              </a:ext>
            </a:extLst>
          </p:cNvPr>
          <p:cNvSpPr txBox="1"/>
          <p:nvPr/>
        </p:nvSpPr>
        <p:spPr>
          <a:xfrm>
            <a:off x="537662" y="232094"/>
            <a:ext cx="10829275" cy="646331"/>
          </a:xfrm>
          <a:prstGeom prst="rect">
            <a:avLst/>
          </a:prstGeom>
          <a:noFill/>
        </p:spPr>
        <p:txBody>
          <a:bodyPr wrap="square">
            <a:spAutoFit/>
          </a:bodyPr>
          <a:lstStyle/>
          <a:p>
            <a:pPr algn="ctr"/>
            <a:r>
              <a:rPr lang="en-US" sz="3600" b="1" dirty="0" smtClean="0"/>
              <a:t>Re-indexing </a:t>
            </a:r>
            <a:r>
              <a:rPr lang="en-US" sz="3600" b="1" dirty="0"/>
              <a:t>a Series</a:t>
            </a:r>
            <a:endParaRPr lang="en-US" sz="3600" b="1" dirty="0"/>
          </a:p>
        </p:txBody>
      </p:sp>
      <p:sp>
        <p:nvSpPr>
          <p:cNvPr id="22" name="TextBox 21">
            <a:extLst>
              <a:ext uri="{FF2B5EF4-FFF2-40B4-BE49-F238E27FC236}">
                <a16:creationId xmlns="" xmlns:a16="http://schemas.microsoft.com/office/drawing/2014/main" id="{70778C02-DAB7-65FA-AB76-FF0250D760FE}"/>
              </a:ext>
            </a:extLst>
          </p:cNvPr>
          <p:cNvSpPr txBox="1"/>
          <p:nvPr/>
        </p:nvSpPr>
        <p:spPr>
          <a:xfrm>
            <a:off x="757980" y="1209857"/>
            <a:ext cx="10766613" cy="953403"/>
          </a:xfrm>
          <a:prstGeom prst="rect">
            <a:avLst/>
          </a:prstGeom>
          <a:noFill/>
        </p:spPr>
        <p:txBody>
          <a:bodyPr wrap="square">
            <a:spAutoFit/>
          </a:bodyPr>
          <a:lstStyle/>
          <a:p>
            <a:pPr marL="342900" indent="-342900" algn="just">
              <a:lnSpc>
                <a:spcPct val="150000"/>
              </a:lnSpc>
              <a:buFont typeface="Arial" pitchFamily="34" charset="0"/>
              <a:buChar char="•"/>
            </a:pPr>
            <a:r>
              <a:rPr lang="en-US" sz="2000" dirty="0" smtClean="0">
                <a:latin typeface="Verdana" pitchFamily="34" charset="0"/>
                <a:ea typeface="Verdana" pitchFamily="34" charset="0"/>
              </a:rPr>
              <a:t>Re-indexing </a:t>
            </a:r>
            <a:r>
              <a:rPr lang="en-US" sz="2000" dirty="0">
                <a:latin typeface="Verdana" pitchFamily="34" charset="0"/>
                <a:ea typeface="Verdana" pitchFamily="34" charset="0"/>
              </a:rPr>
              <a:t>in pandas is a process that makes the data in a Series or </a:t>
            </a:r>
            <a:r>
              <a:rPr lang="en-US" sz="2000" dirty="0" smtClean="0">
                <a:latin typeface="Verdana" pitchFamily="34" charset="0"/>
                <a:ea typeface="Verdana" pitchFamily="34" charset="0"/>
              </a:rPr>
              <a:t>DataFrame match </a:t>
            </a:r>
            <a:r>
              <a:rPr lang="en-US" sz="2000" dirty="0">
                <a:latin typeface="Verdana" pitchFamily="34" charset="0"/>
                <a:ea typeface="Verdana" pitchFamily="34" charset="0"/>
              </a:rPr>
              <a:t>a given set of labels. </a:t>
            </a:r>
            <a:endParaRPr lang="en-US" sz="2000" b="1" dirty="0">
              <a:latin typeface="Verdana" pitchFamily="34" charset="0"/>
              <a:ea typeface="Verdana" pitchFamily="34" charset="0"/>
            </a:endParaRPr>
          </a:p>
        </p:txBody>
      </p:sp>
      <p:pic>
        <p:nvPicPr>
          <p:cNvPr id="1433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6906" t="25432" r="64741" b="25430"/>
          <a:stretch/>
        </p:blipFill>
        <p:spPr bwMode="auto">
          <a:xfrm>
            <a:off x="898633" y="2520962"/>
            <a:ext cx="3689131" cy="3594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7281" t="74892" r="70800" b="5892"/>
          <a:stretch/>
        </p:blipFill>
        <p:spPr bwMode="auto">
          <a:xfrm>
            <a:off x="7535292" y="2520962"/>
            <a:ext cx="2851925" cy="1405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4893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1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21483</TotalTime>
  <Words>1218</Words>
  <Application>Microsoft Office PowerPoint</Application>
  <PresentationFormat>Custom</PresentationFormat>
  <Paragraphs>80</Paragraphs>
  <Slides>18</Slides>
  <Notes>17</Notes>
  <HiddenSlides>0</HiddenSlides>
  <MMClips>0</MMClips>
  <ScaleCrop>false</ScaleCrop>
  <HeadingPairs>
    <vt:vector size="4" baseType="variant">
      <vt:variant>
        <vt:lpstr>Theme</vt:lpstr>
      </vt:variant>
      <vt:variant>
        <vt:i4>2</vt:i4>
      </vt:variant>
      <vt:variant>
        <vt:lpstr>Slide Titles</vt:lpstr>
      </vt:variant>
      <vt:variant>
        <vt:i4>18</vt:i4>
      </vt:variant>
    </vt:vector>
  </HeadingPairs>
  <TitlesOfParts>
    <vt:vector size="20" baseType="lpstr">
      <vt:lpstr>Office 2013 - 2022 Theme</vt:lpstr>
      <vt:lpstr>1_Office 2013 - 2022 Theme</vt:lpstr>
      <vt:lpstr>   DATA SCIENCE  EL-334 BSIT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Bilal Ahmed</dc:creator>
  <cp:lastModifiedBy>My Computer</cp:lastModifiedBy>
  <cp:revision>771</cp:revision>
  <dcterms:created xsi:type="dcterms:W3CDTF">2023-11-19T15:28:11Z</dcterms:created>
  <dcterms:modified xsi:type="dcterms:W3CDTF">2024-11-28T16:14:49Z</dcterms:modified>
</cp:coreProperties>
</file>
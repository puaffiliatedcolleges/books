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82"/>
  </p:notesMasterIdLst>
  <p:sldIdLst>
    <p:sldId id="398" r:id="rId2"/>
    <p:sldId id="257" r:id="rId3"/>
    <p:sldId id="302" r:id="rId4"/>
    <p:sldId id="303" r:id="rId5"/>
    <p:sldId id="262" r:id="rId6"/>
    <p:sldId id="301" r:id="rId7"/>
    <p:sldId id="264" r:id="rId8"/>
    <p:sldId id="407" r:id="rId9"/>
    <p:sldId id="265" r:id="rId10"/>
    <p:sldId id="266" r:id="rId11"/>
    <p:sldId id="267" r:id="rId12"/>
    <p:sldId id="268" r:id="rId13"/>
    <p:sldId id="270" r:id="rId14"/>
    <p:sldId id="271" r:id="rId15"/>
    <p:sldId id="272" r:id="rId16"/>
    <p:sldId id="273" r:id="rId17"/>
    <p:sldId id="288" r:id="rId18"/>
    <p:sldId id="289" r:id="rId19"/>
    <p:sldId id="290" r:id="rId20"/>
    <p:sldId id="291" r:id="rId21"/>
    <p:sldId id="292" r:id="rId22"/>
    <p:sldId id="293" r:id="rId23"/>
    <p:sldId id="294" r:id="rId24"/>
    <p:sldId id="295" r:id="rId25"/>
    <p:sldId id="296" r:id="rId26"/>
    <p:sldId id="297" r:id="rId27"/>
    <p:sldId id="285" r:id="rId28"/>
    <p:sldId id="283" r:id="rId29"/>
    <p:sldId id="298" r:id="rId30"/>
    <p:sldId id="299" r:id="rId31"/>
    <p:sldId id="408" r:id="rId32"/>
    <p:sldId id="274" r:id="rId33"/>
    <p:sldId id="275" r:id="rId34"/>
    <p:sldId id="282" r:id="rId35"/>
    <p:sldId id="276" r:id="rId36"/>
    <p:sldId id="279" r:id="rId37"/>
    <p:sldId id="277" r:id="rId38"/>
    <p:sldId id="278" r:id="rId39"/>
    <p:sldId id="280" r:id="rId40"/>
    <p:sldId id="281" r:id="rId41"/>
    <p:sldId id="409" r:id="rId42"/>
    <p:sldId id="410" r:id="rId43"/>
    <p:sldId id="411" r:id="rId44"/>
    <p:sldId id="412" r:id="rId45"/>
    <p:sldId id="413" r:id="rId46"/>
    <p:sldId id="414" r:id="rId47"/>
    <p:sldId id="415" r:id="rId48"/>
    <p:sldId id="416" r:id="rId49"/>
    <p:sldId id="417" r:id="rId50"/>
    <p:sldId id="418" r:id="rId51"/>
    <p:sldId id="284" r:id="rId52"/>
    <p:sldId id="419" r:id="rId53"/>
    <p:sldId id="286" r:id="rId54"/>
    <p:sldId id="287" r:id="rId55"/>
    <p:sldId id="420" r:id="rId56"/>
    <p:sldId id="421" r:id="rId57"/>
    <p:sldId id="422" r:id="rId58"/>
    <p:sldId id="423" r:id="rId59"/>
    <p:sldId id="424" r:id="rId60"/>
    <p:sldId id="425" r:id="rId61"/>
    <p:sldId id="426" r:id="rId62"/>
    <p:sldId id="427" r:id="rId63"/>
    <p:sldId id="428" r:id="rId64"/>
    <p:sldId id="429" r:id="rId65"/>
    <p:sldId id="430" r:id="rId66"/>
    <p:sldId id="431" r:id="rId67"/>
    <p:sldId id="432" r:id="rId68"/>
    <p:sldId id="433" r:id="rId69"/>
    <p:sldId id="434" r:id="rId70"/>
    <p:sldId id="435" r:id="rId71"/>
    <p:sldId id="436" r:id="rId72"/>
    <p:sldId id="437" r:id="rId73"/>
    <p:sldId id="438" r:id="rId74"/>
    <p:sldId id="439" r:id="rId75"/>
    <p:sldId id="440" r:id="rId76"/>
    <p:sldId id="441" r:id="rId77"/>
    <p:sldId id="442" r:id="rId78"/>
    <p:sldId id="443" r:id="rId79"/>
    <p:sldId id="444" r:id="rId80"/>
    <p:sldId id="445" r:id="rId8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8522"/>
    <a:srgbClr val="2E6CA4"/>
    <a:srgbClr val="115EA5"/>
    <a:srgbClr val="FF8080"/>
    <a:srgbClr val="FFC8C8"/>
    <a:srgbClr val="562F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7684D9-0245-457A-8D73-035F28784B18}" type="doc">
      <dgm:prSet loTypeId="urn:microsoft.com/office/officeart/2005/8/layout/hList1" loCatId="list" qsTypeId="urn:microsoft.com/office/officeart/2005/8/quickstyle/simple5" qsCatId="simple" csTypeId="urn:microsoft.com/office/officeart/2005/8/colors/colorful4" csCatId="colorful" phldr="1"/>
      <dgm:spPr/>
      <dgm:t>
        <a:bodyPr/>
        <a:lstStyle/>
        <a:p>
          <a:endParaRPr lang="en-US"/>
        </a:p>
      </dgm:t>
    </dgm:pt>
    <dgm:pt modelId="{AB049345-58C8-4D9B-9141-2191C84EAB48}">
      <dgm:prSet phldrT="[Text]"/>
      <dgm:spPr/>
      <dgm:t>
        <a:bodyPr/>
        <a:lstStyle/>
        <a:p>
          <a:r>
            <a:rPr lang="en-US" b="1"/>
            <a:t>Centroid Based</a:t>
          </a:r>
          <a:endParaRPr lang="en-US"/>
        </a:p>
      </dgm:t>
    </dgm:pt>
    <dgm:pt modelId="{9EB8EEF9-46CD-4392-9BDA-37562A410891}" type="parTrans" cxnId="{9AFD7C66-12B9-4D38-AC21-26CDCFE2C78D}">
      <dgm:prSet/>
      <dgm:spPr/>
      <dgm:t>
        <a:bodyPr/>
        <a:lstStyle/>
        <a:p>
          <a:endParaRPr lang="en-US"/>
        </a:p>
      </dgm:t>
    </dgm:pt>
    <dgm:pt modelId="{604707DE-D119-4BE1-B76D-0139F8F5BD6A}" type="sibTrans" cxnId="{9AFD7C66-12B9-4D38-AC21-26CDCFE2C78D}">
      <dgm:prSet/>
      <dgm:spPr/>
      <dgm:t>
        <a:bodyPr/>
        <a:lstStyle/>
        <a:p>
          <a:endParaRPr lang="en-US"/>
        </a:p>
      </dgm:t>
    </dgm:pt>
    <dgm:pt modelId="{837790F3-1ED0-4E09-84F5-E21ECE8BB186}">
      <dgm:prSet phldrT="[Text]"/>
      <dgm:spPr/>
      <dgm:t>
        <a:bodyPr/>
        <a:lstStyle/>
        <a:p>
          <a:r>
            <a:rPr lang="en-US" dirty="0"/>
            <a:t>The clusters are formed by the closeness of data points to the centroid of clusters. Here, the cluster center, i.e. centroid is constructed such that the distance of data points is minimum with the center.</a:t>
          </a:r>
        </a:p>
      </dgm:t>
    </dgm:pt>
    <dgm:pt modelId="{BF8B7569-0745-4533-92ED-D67704484324}" type="parTrans" cxnId="{6943E6B7-B2CB-4503-ACC1-7E86199A4FA3}">
      <dgm:prSet/>
      <dgm:spPr/>
      <dgm:t>
        <a:bodyPr/>
        <a:lstStyle/>
        <a:p>
          <a:endParaRPr lang="en-US"/>
        </a:p>
      </dgm:t>
    </dgm:pt>
    <dgm:pt modelId="{76507590-F26E-4C19-AD2B-FDA7DE0E28AD}" type="sibTrans" cxnId="{6943E6B7-B2CB-4503-ACC1-7E86199A4FA3}">
      <dgm:prSet/>
      <dgm:spPr/>
      <dgm:t>
        <a:bodyPr/>
        <a:lstStyle/>
        <a:p>
          <a:endParaRPr lang="en-US"/>
        </a:p>
      </dgm:t>
    </dgm:pt>
    <dgm:pt modelId="{DE5AA06D-147F-49D9-854F-F39B3856A42E}">
      <dgm:prSet phldrT="[Text]"/>
      <dgm:spPr/>
      <dgm:t>
        <a:bodyPr/>
        <a:lstStyle/>
        <a:p>
          <a:r>
            <a:rPr lang="en-US" b="1" dirty="0"/>
            <a:t>Hierarchical Based</a:t>
          </a:r>
          <a:endParaRPr lang="en-US" dirty="0"/>
        </a:p>
      </dgm:t>
    </dgm:pt>
    <dgm:pt modelId="{82A636F8-3FD3-4632-8EE2-1DDD2BD95794}" type="parTrans" cxnId="{CA378ECA-DF4A-4BB7-B9A4-8C6ED3CB9457}">
      <dgm:prSet/>
      <dgm:spPr/>
      <dgm:t>
        <a:bodyPr/>
        <a:lstStyle/>
        <a:p>
          <a:endParaRPr lang="en-US"/>
        </a:p>
      </dgm:t>
    </dgm:pt>
    <dgm:pt modelId="{86D79E0E-BCE8-4825-9ED7-0302640208AC}" type="sibTrans" cxnId="{CA378ECA-DF4A-4BB7-B9A4-8C6ED3CB9457}">
      <dgm:prSet/>
      <dgm:spPr/>
      <dgm:t>
        <a:bodyPr/>
        <a:lstStyle/>
        <a:p>
          <a:endParaRPr lang="en-US"/>
        </a:p>
      </dgm:t>
    </dgm:pt>
    <dgm:pt modelId="{78710340-DCDE-4863-B5F1-61814A80C9BB}">
      <dgm:prSet phldrT="[Text]"/>
      <dgm:spPr/>
      <dgm:t>
        <a:bodyPr/>
        <a:lstStyle/>
        <a:p>
          <a:r>
            <a:rPr lang="en-US" dirty="0"/>
            <a:t>Clusters are constructed as a tree-type structure based on the hierarchy. They have two categories, namely, Agglomerative (Bottom-up approach) and Divisive (Top-down approach). </a:t>
          </a:r>
        </a:p>
      </dgm:t>
    </dgm:pt>
    <dgm:pt modelId="{FDF04A80-5D24-4AFB-BD71-EB84B33E09B8}" type="parTrans" cxnId="{E338611F-657C-4E63-95A6-A10CB587678E}">
      <dgm:prSet/>
      <dgm:spPr/>
      <dgm:t>
        <a:bodyPr/>
        <a:lstStyle/>
        <a:p>
          <a:endParaRPr lang="en-US"/>
        </a:p>
      </dgm:t>
    </dgm:pt>
    <dgm:pt modelId="{619CC690-211E-44A8-A283-46ECD8CF1A78}" type="sibTrans" cxnId="{E338611F-657C-4E63-95A6-A10CB587678E}">
      <dgm:prSet/>
      <dgm:spPr/>
      <dgm:t>
        <a:bodyPr/>
        <a:lstStyle/>
        <a:p>
          <a:endParaRPr lang="en-US"/>
        </a:p>
      </dgm:t>
    </dgm:pt>
    <dgm:pt modelId="{D990AD3B-34EE-4EE3-B8C1-A78C0E8393B4}">
      <dgm:prSet phldrT="[Text]"/>
      <dgm:spPr/>
      <dgm:t>
        <a:bodyPr/>
        <a:lstStyle/>
        <a:p>
          <a:r>
            <a:rPr lang="en-US" b="1" dirty="0"/>
            <a:t>Density Based</a:t>
          </a:r>
          <a:endParaRPr lang="en-US" dirty="0"/>
        </a:p>
      </dgm:t>
    </dgm:pt>
    <dgm:pt modelId="{644C876E-B0B9-4B96-BA8E-5AC322910DD2}" type="parTrans" cxnId="{A4653C1E-5D45-4774-8730-722303D51223}">
      <dgm:prSet/>
      <dgm:spPr/>
      <dgm:t>
        <a:bodyPr/>
        <a:lstStyle/>
        <a:p>
          <a:endParaRPr lang="en-US"/>
        </a:p>
      </dgm:t>
    </dgm:pt>
    <dgm:pt modelId="{088E4F0D-8F23-4721-B0F9-4C0411D73E9E}" type="sibTrans" cxnId="{A4653C1E-5D45-4774-8730-722303D51223}">
      <dgm:prSet/>
      <dgm:spPr/>
      <dgm:t>
        <a:bodyPr/>
        <a:lstStyle/>
        <a:p>
          <a:endParaRPr lang="en-US"/>
        </a:p>
      </dgm:t>
    </dgm:pt>
    <dgm:pt modelId="{873857E0-A092-4533-B4BD-60974C9B1956}">
      <dgm:prSet phldrT="[Text]"/>
      <dgm:spPr/>
      <dgm:t>
        <a:bodyPr/>
        <a:lstStyle/>
        <a:p>
          <a:r>
            <a:rPr lang="en-US" dirty="0"/>
            <a:t>It isolates various density regions based on different densities present in the data space.</a:t>
          </a:r>
        </a:p>
      </dgm:t>
    </dgm:pt>
    <dgm:pt modelId="{1E038419-33A9-4BFE-99F0-D42D09B9F7F4}" type="parTrans" cxnId="{57791C90-C63E-409D-8D29-84321A766CD6}">
      <dgm:prSet/>
      <dgm:spPr/>
      <dgm:t>
        <a:bodyPr/>
        <a:lstStyle/>
        <a:p>
          <a:endParaRPr lang="en-US"/>
        </a:p>
      </dgm:t>
    </dgm:pt>
    <dgm:pt modelId="{7D9430D5-2CBE-438B-867A-3602DC50C6E2}" type="sibTrans" cxnId="{57791C90-C63E-409D-8D29-84321A766CD6}">
      <dgm:prSet/>
      <dgm:spPr/>
      <dgm:t>
        <a:bodyPr/>
        <a:lstStyle/>
        <a:p>
          <a:endParaRPr lang="en-US"/>
        </a:p>
      </dgm:t>
    </dgm:pt>
    <dgm:pt modelId="{F49E7EAF-F2F3-482C-90B9-4FE996D7328B}" type="pres">
      <dgm:prSet presAssocID="{1B7684D9-0245-457A-8D73-035F28784B18}" presName="Name0" presStyleCnt="0">
        <dgm:presLayoutVars>
          <dgm:dir/>
          <dgm:animLvl val="lvl"/>
          <dgm:resizeHandles val="exact"/>
        </dgm:presLayoutVars>
      </dgm:prSet>
      <dgm:spPr/>
    </dgm:pt>
    <dgm:pt modelId="{D811DB10-7C00-4ADF-83C4-8F773FBAB623}" type="pres">
      <dgm:prSet presAssocID="{AB049345-58C8-4D9B-9141-2191C84EAB48}" presName="composite" presStyleCnt="0"/>
      <dgm:spPr/>
    </dgm:pt>
    <dgm:pt modelId="{4701D081-B492-4F22-A6E2-D2AF03EBDA66}" type="pres">
      <dgm:prSet presAssocID="{AB049345-58C8-4D9B-9141-2191C84EAB48}" presName="parTx" presStyleLbl="alignNode1" presStyleIdx="0" presStyleCnt="3">
        <dgm:presLayoutVars>
          <dgm:chMax val="0"/>
          <dgm:chPref val="0"/>
          <dgm:bulletEnabled val="1"/>
        </dgm:presLayoutVars>
      </dgm:prSet>
      <dgm:spPr/>
    </dgm:pt>
    <dgm:pt modelId="{D99ED820-B400-476A-9FDA-520EDC073479}" type="pres">
      <dgm:prSet presAssocID="{AB049345-58C8-4D9B-9141-2191C84EAB48}" presName="desTx" presStyleLbl="alignAccFollowNode1" presStyleIdx="0" presStyleCnt="3">
        <dgm:presLayoutVars>
          <dgm:bulletEnabled val="1"/>
        </dgm:presLayoutVars>
      </dgm:prSet>
      <dgm:spPr/>
    </dgm:pt>
    <dgm:pt modelId="{74D42630-C4C5-4550-B52A-6C6A1B3775C9}" type="pres">
      <dgm:prSet presAssocID="{604707DE-D119-4BE1-B76D-0139F8F5BD6A}" presName="space" presStyleCnt="0"/>
      <dgm:spPr/>
    </dgm:pt>
    <dgm:pt modelId="{42755657-C1AD-4BC8-BD65-5CB9B65DF3D1}" type="pres">
      <dgm:prSet presAssocID="{DE5AA06D-147F-49D9-854F-F39B3856A42E}" presName="composite" presStyleCnt="0"/>
      <dgm:spPr/>
    </dgm:pt>
    <dgm:pt modelId="{9A90F19D-0AD0-4A4F-A3B6-736B6FE9E3A4}" type="pres">
      <dgm:prSet presAssocID="{DE5AA06D-147F-49D9-854F-F39B3856A42E}" presName="parTx" presStyleLbl="alignNode1" presStyleIdx="1" presStyleCnt="3">
        <dgm:presLayoutVars>
          <dgm:chMax val="0"/>
          <dgm:chPref val="0"/>
          <dgm:bulletEnabled val="1"/>
        </dgm:presLayoutVars>
      </dgm:prSet>
      <dgm:spPr/>
    </dgm:pt>
    <dgm:pt modelId="{B860313B-FED2-4AC1-8DC0-F05483279926}" type="pres">
      <dgm:prSet presAssocID="{DE5AA06D-147F-49D9-854F-F39B3856A42E}" presName="desTx" presStyleLbl="alignAccFollowNode1" presStyleIdx="1" presStyleCnt="3">
        <dgm:presLayoutVars>
          <dgm:bulletEnabled val="1"/>
        </dgm:presLayoutVars>
      </dgm:prSet>
      <dgm:spPr/>
    </dgm:pt>
    <dgm:pt modelId="{6505E777-D7B8-43EC-A01B-E55C6D283D62}" type="pres">
      <dgm:prSet presAssocID="{86D79E0E-BCE8-4825-9ED7-0302640208AC}" presName="space" presStyleCnt="0"/>
      <dgm:spPr/>
    </dgm:pt>
    <dgm:pt modelId="{44B3B119-87BB-4A5D-8DF6-CB29DC918EC7}" type="pres">
      <dgm:prSet presAssocID="{D990AD3B-34EE-4EE3-B8C1-A78C0E8393B4}" presName="composite" presStyleCnt="0"/>
      <dgm:spPr/>
    </dgm:pt>
    <dgm:pt modelId="{89DAF8AF-AA5F-43A4-975F-332A0B039B5E}" type="pres">
      <dgm:prSet presAssocID="{D990AD3B-34EE-4EE3-B8C1-A78C0E8393B4}" presName="parTx" presStyleLbl="alignNode1" presStyleIdx="2" presStyleCnt="3">
        <dgm:presLayoutVars>
          <dgm:chMax val="0"/>
          <dgm:chPref val="0"/>
          <dgm:bulletEnabled val="1"/>
        </dgm:presLayoutVars>
      </dgm:prSet>
      <dgm:spPr/>
    </dgm:pt>
    <dgm:pt modelId="{32B457BD-2AA6-455E-B859-3E7505A108DF}" type="pres">
      <dgm:prSet presAssocID="{D990AD3B-34EE-4EE3-B8C1-A78C0E8393B4}" presName="desTx" presStyleLbl="alignAccFollowNode1" presStyleIdx="2" presStyleCnt="3">
        <dgm:presLayoutVars>
          <dgm:bulletEnabled val="1"/>
        </dgm:presLayoutVars>
      </dgm:prSet>
      <dgm:spPr/>
    </dgm:pt>
  </dgm:ptLst>
  <dgm:cxnLst>
    <dgm:cxn modelId="{90B72C04-9E31-44D7-B46F-2210B323F75E}" type="presOf" srcId="{D990AD3B-34EE-4EE3-B8C1-A78C0E8393B4}" destId="{89DAF8AF-AA5F-43A4-975F-332A0B039B5E}" srcOrd="0" destOrd="0" presId="urn:microsoft.com/office/officeart/2005/8/layout/hList1"/>
    <dgm:cxn modelId="{A4653C1E-5D45-4774-8730-722303D51223}" srcId="{1B7684D9-0245-457A-8D73-035F28784B18}" destId="{D990AD3B-34EE-4EE3-B8C1-A78C0E8393B4}" srcOrd="2" destOrd="0" parTransId="{644C876E-B0B9-4B96-BA8E-5AC322910DD2}" sibTransId="{088E4F0D-8F23-4721-B0F9-4C0411D73E9E}"/>
    <dgm:cxn modelId="{E338611F-657C-4E63-95A6-A10CB587678E}" srcId="{DE5AA06D-147F-49D9-854F-F39B3856A42E}" destId="{78710340-DCDE-4863-B5F1-61814A80C9BB}" srcOrd="0" destOrd="0" parTransId="{FDF04A80-5D24-4AFB-BD71-EB84B33E09B8}" sibTransId="{619CC690-211E-44A8-A283-46ECD8CF1A78}"/>
    <dgm:cxn modelId="{9AFD7C66-12B9-4D38-AC21-26CDCFE2C78D}" srcId="{1B7684D9-0245-457A-8D73-035F28784B18}" destId="{AB049345-58C8-4D9B-9141-2191C84EAB48}" srcOrd="0" destOrd="0" parTransId="{9EB8EEF9-46CD-4392-9BDA-37562A410891}" sibTransId="{604707DE-D119-4BE1-B76D-0139F8F5BD6A}"/>
    <dgm:cxn modelId="{0E7DA84B-B2FF-4638-91C6-B3B3A68CF08D}" type="presOf" srcId="{DE5AA06D-147F-49D9-854F-F39B3856A42E}" destId="{9A90F19D-0AD0-4A4F-A3B6-736B6FE9E3A4}" srcOrd="0" destOrd="0" presId="urn:microsoft.com/office/officeart/2005/8/layout/hList1"/>
    <dgm:cxn modelId="{268D974D-9170-4C05-9481-82618217C5D9}" type="presOf" srcId="{837790F3-1ED0-4E09-84F5-E21ECE8BB186}" destId="{D99ED820-B400-476A-9FDA-520EDC073479}" srcOrd="0" destOrd="0" presId="urn:microsoft.com/office/officeart/2005/8/layout/hList1"/>
    <dgm:cxn modelId="{7B5BAA85-BF2D-4FBA-9375-00A5AF8D265F}" type="presOf" srcId="{1B7684D9-0245-457A-8D73-035F28784B18}" destId="{F49E7EAF-F2F3-482C-90B9-4FE996D7328B}" srcOrd="0" destOrd="0" presId="urn:microsoft.com/office/officeart/2005/8/layout/hList1"/>
    <dgm:cxn modelId="{57791C90-C63E-409D-8D29-84321A766CD6}" srcId="{D990AD3B-34EE-4EE3-B8C1-A78C0E8393B4}" destId="{873857E0-A092-4533-B4BD-60974C9B1956}" srcOrd="0" destOrd="0" parTransId="{1E038419-33A9-4BFE-99F0-D42D09B9F7F4}" sibTransId="{7D9430D5-2CBE-438B-867A-3602DC50C6E2}"/>
    <dgm:cxn modelId="{6943E6B7-B2CB-4503-ACC1-7E86199A4FA3}" srcId="{AB049345-58C8-4D9B-9141-2191C84EAB48}" destId="{837790F3-1ED0-4E09-84F5-E21ECE8BB186}" srcOrd="0" destOrd="0" parTransId="{BF8B7569-0745-4533-92ED-D67704484324}" sibTransId="{76507590-F26E-4C19-AD2B-FDA7DE0E28AD}"/>
    <dgm:cxn modelId="{CA378ECA-DF4A-4BB7-B9A4-8C6ED3CB9457}" srcId="{1B7684D9-0245-457A-8D73-035F28784B18}" destId="{DE5AA06D-147F-49D9-854F-F39B3856A42E}" srcOrd="1" destOrd="0" parTransId="{82A636F8-3FD3-4632-8EE2-1DDD2BD95794}" sibTransId="{86D79E0E-BCE8-4825-9ED7-0302640208AC}"/>
    <dgm:cxn modelId="{E79375CB-338E-4F77-A949-A0362A7CCA42}" type="presOf" srcId="{AB049345-58C8-4D9B-9141-2191C84EAB48}" destId="{4701D081-B492-4F22-A6E2-D2AF03EBDA66}" srcOrd="0" destOrd="0" presId="urn:microsoft.com/office/officeart/2005/8/layout/hList1"/>
    <dgm:cxn modelId="{5191DAD3-29DB-4112-9B62-74298FDCC020}" type="presOf" srcId="{78710340-DCDE-4863-B5F1-61814A80C9BB}" destId="{B860313B-FED2-4AC1-8DC0-F05483279926}" srcOrd="0" destOrd="0" presId="urn:microsoft.com/office/officeart/2005/8/layout/hList1"/>
    <dgm:cxn modelId="{F7CBE2FC-6ACE-45FA-80AB-5068425D3403}" type="presOf" srcId="{873857E0-A092-4533-B4BD-60974C9B1956}" destId="{32B457BD-2AA6-455E-B859-3E7505A108DF}" srcOrd="0" destOrd="0" presId="urn:microsoft.com/office/officeart/2005/8/layout/hList1"/>
    <dgm:cxn modelId="{7BA37933-4B5D-48DD-9383-192DCD9764B0}" type="presParOf" srcId="{F49E7EAF-F2F3-482C-90B9-4FE996D7328B}" destId="{D811DB10-7C00-4ADF-83C4-8F773FBAB623}" srcOrd="0" destOrd="0" presId="urn:microsoft.com/office/officeart/2005/8/layout/hList1"/>
    <dgm:cxn modelId="{42650117-55CF-4DA9-B89F-15FB9E3E21A1}" type="presParOf" srcId="{D811DB10-7C00-4ADF-83C4-8F773FBAB623}" destId="{4701D081-B492-4F22-A6E2-D2AF03EBDA66}" srcOrd="0" destOrd="0" presId="urn:microsoft.com/office/officeart/2005/8/layout/hList1"/>
    <dgm:cxn modelId="{4A0DD56F-EB12-49D7-9AF2-DE5D763297BD}" type="presParOf" srcId="{D811DB10-7C00-4ADF-83C4-8F773FBAB623}" destId="{D99ED820-B400-476A-9FDA-520EDC073479}" srcOrd="1" destOrd="0" presId="urn:microsoft.com/office/officeart/2005/8/layout/hList1"/>
    <dgm:cxn modelId="{0B054702-4084-44E8-BBA9-D68867C45DA3}" type="presParOf" srcId="{F49E7EAF-F2F3-482C-90B9-4FE996D7328B}" destId="{74D42630-C4C5-4550-B52A-6C6A1B3775C9}" srcOrd="1" destOrd="0" presId="urn:microsoft.com/office/officeart/2005/8/layout/hList1"/>
    <dgm:cxn modelId="{9B385609-5019-40AF-9D2B-D90FA200B52C}" type="presParOf" srcId="{F49E7EAF-F2F3-482C-90B9-4FE996D7328B}" destId="{42755657-C1AD-4BC8-BD65-5CB9B65DF3D1}" srcOrd="2" destOrd="0" presId="urn:microsoft.com/office/officeart/2005/8/layout/hList1"/>
    <dgm:cxn modelId="{860E4386-4E02-4A82-B787-CD295549E3B0}" type="presParOf" srcId="{42755657-C1AD-4BC8-BD65-5CB9B65DF3D1}" destId="{9A90F19D-0AD0-4A4F-A3B6-736B6FE9E3A4}" srcOrd="0" destOrd="0" presId="urn:microsoft.com/office/officeart/2005/8/layout/hList1"/>
    <dgm:cxn modelId="{68227B52-C6E5-4E45-AA2B-4B10A7112695}" type="presParOf" srcId="{42755657-C1AD-4BC8-BD65-5CB9B65DF3D1}" destId="{B860313B-FED2-4AC1-8DC0-F05483279926}" srcOrd="1" destOrd="0" presId="urn:microsoft.com/office/officeart/2005/8/layout/hList1"/>
    <dgm:cxn modelId="{06AE0DD0-AF64-4E4A-8E17-3D7749DAB0C0}" type="presParOf" srcId="{F49E7EAF-F2F3-482C-90B9-4FE996D7328B}" destId="{6505E777-D7B8-43EC-A01B-E55C6D283D62}" srcOrd="3" destOrd="0" presId="urn:microsoft.com/office/officeart/2005/8/layout/hList1"/>
    <dgm:cxn modelId="{10D21476-BC42-43BF-B67D-85AC3F37B8FE}" type="presParOf" srcId="{F49E7EAF-F2F3-482C-90B9-4FE996D7328B}" destId="{44B3B119-87BB-4A5D-8DF6-CB29DC918EC7}" srcOrd="4" destOrd="0" presId="urn:microsoft.com/office/officeart/2005/8/layout/hList1"/>
    <dgm:cxn modelId="{9B71BB62-F660-41CD-BAE7-18DE3C93165A}" type="presParOf" srcId="{44B3B119-87BB-4A5D-8DF6-CB29DC918EC7}" destId="{89DAF8AF-AA5F-43A4-975F-332A0B039B5E}" srcOrd="0" destOrd="0" presId="urn:microsoft.com/office/officeart/2005/8/layout/hList1"/>
    <dgm:cxn modelId="{69FEA777-A393-4A2B-8B1E-C4BA56CDC8B8}" type="presParOf" srcId="{44B3B119-87BB-4A5D-8DF6-CB29DC918EC7}" destId="{32B457BD-2AA6-455E-B859-3E7505A108D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01D081-B492-4F22-A6E2-D2AF03EBDA66}">
      <dsp:nvSpPr>
        <dsp:cNvPr id="0" name=""/>
        <dsp:cNvSpPr/>
      </dsp:nvSpPr>
      <dsp:spPr>
        <a:xfrm>
          <a:off x="3558" y="97024"/>
          <a:ext cx="3469914" cy="720000"/>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a:t>Centroid Based</a:t>
          </a:r>
          <a:endParaRPr lang="en-US" sz="2500" kern="1200"/>
        </a:p>
      </dsp:txBody>
      <dsp:txXfrm>
        <a:off x="3558" y="97024"/>
        <a:ext cx="3469914" cy="720000"/>
      </dsp:txXfrm>
    </dsp:sp>
    <dsp:sp modelId="{D99ED820-B400-476A-9FDA-520EDC073479}">
      <dsp:nvSpPr>
        <dsp:cNvPr id="0" name=""/>
        <dsp:cNvSpPr/>
      </dsp:nvSpPr>
      <dsp:spPr>
        <a:xfrm>
          <a:off x="3558" y="817024"/>
          <a:ext cx="3469914" cy="4186125"/>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The clusters are formed by the closeness of data points to the centroid of clusters. Here, the cluster center, i.e. centroid is constructed such that the distance of data points is minimum with the center.</a:t>
          </a:r>
        </a:p>
      </dsp:txBody>
      <dsp:txXfrm>
        <a:off x="3558" y="817024"/>
        <a:ext cx="3469914" cy="4186125"/>
      </dsp:txXfrm>
    </dsp:sp>
    <dsp:sp modelId="{9A90F19D-0AD0-4A4F-A3B6-736B6FE9E3A4}">
      <dsp:nvSpPr>
        <dsp:cNvPr id="0" name=""/>
        <dsp:cNvSpPr/>
      </dsp:nvSpPr>
      <dsp:spPr>
        <a:xfrm>
          <a:off x="3959260" y="97024"/>
          <a:ext cx="3469914" cy="720000"/>
        </a:xfrm>
        <a:prstGeom prst="rect">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w="6350" cap="flat" cmpd="sng" algn="ctr">
          <a:solidFill>
            <a:schemeClr val="accent4">
              <a:hueOff val="4900445"/>
              <a:satOff val="-20388"/>
              <a:lumOff val="480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Hierarchical Based</a:t>
          </a:r>
          <a:endParaRPr lang="en-US" sz="2500" kern="1200" dirty="0"/>
        </a:p>
      </dsp:txBody>
      <dsp:txXfrm>
        <a:off x="3959260" y="97024"/>
        <a:ext cx="3469914" cy="720000"/>
      </dsp:txXfrm>
    </dsp:sp>
    <dsp:sp modelId="{B860313B-FED2-4AC1-8DC0-F05483279926}">
      <dsp:nvSpPr>
        <dsp:cNvPr id="0" name=""/>
        <dsp:cNvSpPr/>
      </dsp:nvSpPr>
      <dsp:spPr>
        <a:xfrm>
          <a:off x="3959260" y="817024"/>
          <a:ext cx="3469914" cy="4186125"/>
        </a:xfrm>
        <a:prstGeom prst="rect">
          <a:avLst/>
        </a:prstGeom>
        <a:solidFill>
          <a:schemeClr val="accent4">
            <a:tint val="40000"/>
            <a:alpha val="90000"/>
            <a:hueOff val="5430963"/>
            <a:satOff val="-25622"/>
            <a:lumOff val="-925"/>
            <a:alphaOff val="0"/>
          </a:schemeClr>
        </a:solidFill>
        <a:ln w="6350" cap="flat" cmpd="sng" algn="ctr">
          <a:solidFill>
            <a:schemeClr val="accent4">
              <a:tint val="40000"/>
              <a:alpha val="90000"/>
              <a:hueOff val="5430963"/>
              <a:satOff val="-25622"/>
              <a:lumOff val="-92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Clusters are constructed as a tree-type structure based on the hierarchy. They have two categories, namely, Agglomerative (Bottom-up approach) and Divisive (Top-down approach). </a:t>
          </a:r>
        </a:p>
      </dsp:txBody>
      <dsp:txXfrm>
        <a:off x="3959260" y="817024"/>
        <a:ext cx="3469914" cy="4186125"/>
      </dsp:txXfrm>
    </dsp:sp>
    <dsp:sp modelId="{89DAF8AF-AA5F-43A4-975F-332A0B039B5E}">
      <dsp:nvSpPr>
        <dsp:cNvPr id="0" name=""/>
        <dsp:cNvSpPr/>
      </dsp:nvSpPr>
      <dsp:spPr>
        <a:xfrm>
          <a:off x="7914963" y="97024"/>
          <a:ext cx="3469914" cy="720000"/>
        </a:xfrm>
        <a:prstGeom prst="rect">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w="6350" cap="flat" cmpd="sng" algn="ctr">
          <a:solidFill>
            <a:schemeClr val="accent4">
              <a:hueOff val="9800891"/>
              <a:satOff val="-40777"/>
              <a:lumOff val="960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Density Based</a:t>
          </a:r>
          <a:endParaRPr lang="en-US" sz="2500" kern="1200" dirty="0"/>
        </a:p>
      </dsp:txBody>
      <dsp:txXfrm>
        <a:off x="7914963" y="97024"/>
        <a:ext cx="3469914" cy="720000"/>
      </dsp:txXfrm>
    </dsp:sp>
    <dsp:sp modelId="{32B457BD-2AA6-455E-B859-3E7505A108DF}">
      <dsp:nvSpPr>
        <dsp:cNvPr id="0" name=""/>
        <dsp:cNvSpPr/>
      </dsp:nvSpPr>
      <dsp:spPr>
        <a:xfrm>
          <a:off x="7914963" y="817024"/>
          <a:ext cx="3469914" cy="4186125"/>
        </a:xfrm>
        <a:prstGeom prst="rect">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It isolates various density regions based on different densities present in the data space.</a:t>
          </a:r>
        </a:p>
      </dsp:txBody>
      <dsp:txXfrm>
        <a:off x="7914963" y="817024"/>
        <a:ext cx="3469914" cy="418612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D8FE5-ECE5-4370-913A-35ADCD901DA6}"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6F1BE5-B7E6-4025-B54C-A2B10B87ABDE}" type="slidenum">
              <a:rPr lang="en-US" smtClean="0"/>
              <a:t>‹#›</a:t>
            </a:fld>
            <a:endParaRPr lang="en-US"/>
          </a:p>
        </p:txBody>
      </p:sp>
    </p:spTree>
    <p:extLst>
      <p:ext uri="{BB962C8B-B14F-4D97-AF65-F5344CB8AC3E}">
        <p14:creationId xmlns:p14="http://schemas.microsoft.com/office/powerpoint/2010/main" val="901986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Core Points</a:t>
            </a:r>
            <a:r>
              <a:rPr lang="en-US" dirty="0"/>
              <a:t>: A data point </a:t>
            </a:r>
            <a:r>
              <a:rPr lang="en-US" i="1" dirty="0"/>
              <a:t>p</a:t>
            </a:r>
            <a:r>
              <a:rPr lang="en-US" dirty="0"/>
              <a:t> is a </a:t>
            </a:r>
            <a:r>
              <a:rPr lang="en-US" i="1" dirty="0"/>
              <a:t>core point</a:t>
            </a:r>
            <a:r>
              <a:rPr lang="en-US" dirty="0"/>
              <a:t> if </a:t>
            </a:r>
            <a:r>
              <a:rPr lang="en-US" b="1" dirty="0" err="1"/>
              <a:t>Nbhd</a:t>
            </a:r>
            <a:r>
              <a:rPr lang="en-US" dirty="0"/>
              <a:t>(</a:t>
            </a:r>
            <a:r>
              <a:rPr lang="en-US" i="1" dirty="0" err="1"/>
              <a:t>p</a:t>
            </a:r>
            <a:r>
              <a:rPr lang="en-US" dirty="0" err="1"/>
              <a:t>,</a:t>
            </a:r>
            <a:r>
              <a:rPr lang="en-US" i="1" dirty="0" err="1"/>
              <a:t>ɛ</a:t>
            </a:r>
            <a:r>
              <a:rPr lang="en-US" dirty="0"/>
              <a:t>) [ɛ-neighborhood of </a:t>
            </a:r>
            <a:r>
              <a:rPr lang="en-US" i="1" dirty="0"/>
              <a:t>p</a:t>
            </a:r>
            <a:r>
              <a:rPr lang="en-US" dirty="0"/>
              <a:t>] contains at least </a:t>
            </a:r>
            <a:r>
              <a:rPr lang="en-US" i="1" dirty="0" err="1"/>
              <a:t>minPts</a:t>
            </a:r>
            <a:r>
              <a:rPr lang="en-US" dirty="0"/>
              <a:t> ; |</a:t>
            </a:r>
            <a:r>
              <a:rPr lang="en-US" b="1" dirty="0" err="1"/>
              <a:t>Nbhd</a:t>
            </a:r>
            <a:r>
              <a:rPr lang="en-US" dirty="0"/>
              <a:t>(</a:t>
            </a:r>
            <a:r>
              <a:rPr lang="en-US" i="1" dirty="0" err="1"/>
              <a:t>p</a:t>
            </a:r>
            <a:r>
              <a:rPr lang="en-US" dirty="0" err="1"/>
              <a:t>,</a:t>
            </a:r>
            <a:r>
              <a:rPr lang="en-US" i="1" dirty="0" err="1"/>
              <a:t>ɛ</a:t>
            </a:r>
            <a:r>
              <a:rPr lang="en-US" dirty="0"/>
              <a:t>)| &gt;= </a:t>
            </a:r>
            <a:r>
              <a:rPr lang="en-US" i="1" dirty="0" err="1"/>
              <a:t>minPts</a:t>
            </a:r>
            <a:r>
              <a:rPr lang="en-US" dirty="0"/>
              <a:t>.</a:t>
            </a:r>
          </a:p>
          <a:p>
            <a:r>
              <a:rPr lang="en-US" i="1" dirty="0"/>
              <a:t>Border Points: A data point *q</a:t>
            </a:r>
            <a:r>
              <a:rPr lang="en-US" dirty="0"/>
              <a:t> is a </a:t>
            </a:r>
            <a:r>
              <a:rPr lang="en-US" i="1" dirty="0"/>
              <a:t>border point</a:t>
            </a:r>
            <a:r>
              <a:rPr lang="en-US" dirty="0"/>
              <a:t> if </a:t>
            </a:r>
            <a:r>
              <a:rPr lang="en-US" b="1" dirty="0" err="1"/>
              <a:t>Nbhd</a:t>
            </a:r>
            <a:r>
              <a:rPr lang="en-US" dirty="0"/>
              <a:t>(</a:t>
            </a:r>
            <a:r>
              <a:rPr lang="en-US" i="1" dirty="0"/>
              <a:t>q</a:t>
            </a:r>
            <a:r>
              <a:rPr lang="en-US" dirty="0"/>
              <a:t>, </a:t>
            </a:r>
            <a:r>
              <a:rPr lang="en-US" i="1" dirty="0"/>
              <a:t>ɛ</a:t>
            </a:r>
            <a:r>
              <a:rPr lang="en-US" dirty="0"/>
              <a:t>) contains less than </a:t>
            </a:r>
            <a:r>
              <a:rPr lang="en-US" i="1" dirty="0" err="1"/>
              <a:t>minPts</a:t>
            </a:r>
            <a:r>
              <a:rPr lang="en-US" dirty="0"/>
              <a:t> data points, but </a:t>
            </a:r>
            <a:r>
              <a:rPr lang="en-US" i="1" dirty="0"/>
              <a:t>q</a:t>
            </a:r>
            <a:r>
              <a:rPr lang="en-US" dirty="0"/>
              <a:t> is </a:t>
            </a:r>
            <a:r>
              <a:rPr lang="en-US" i="1" dirty="0"/>
              <a:t>reachable</a:t>
            </a:r>
            <a:r>
              <a:rPr lang="en-US" dirty="0"/>
              <a:t> from some </a:t>
            </a:r>
            <a:r>
              <a:rPr lang="en-US" i="1" dirty="0"/>
              <a:t>core point</a:t>
            </a:r>
            <a:r>
              <a:rPr lang="en-US" dirty="0"/>
              <a:t> </a:t>
            </a:r>
            <a:r>
              <a:rPr lang="en-US" i="1" dirty="0"/>
              <a:t>p</a:t>
            </a:r>
            <a:r>
              <a:rPr lang="en-US" dirty="0"/>
              <a:t>.</a:t>
            </a:r>
          </a:p>
          <a:p>
            <a:r>
              <a:rPr lang="en-US" i="1" dirty="0"/>
              <a:t>Outlier</a:t>
            </a:r>
            <a:r>
              <a:rPr lang="en-US" dirty="0"/>
              <a:t>: A data point </a:t>
            </a:r>
            <a:r>
              <a:rPr lang="en-US" i="1" dirty="0"/>
              <a:t>o</a:t>
            </a:r>
            <a:r>
              <a:rPr lang="en-US" dirty="0"/>
              <a:t> is an </a:t>
            </a:r>
            <a:r>
              <a:rPr lang="en-US" i="1" dirty="0"/>
              <a:t>outlier</a:t>
            </a:r>
            <a:r>
              <a:rPr lang="en-US" dirty="0"/>
              <a:t> if it is neither a core point nor a border point. Essentially, this is the “other” class.</a:t>
            </a:r>
          </a:p>
        </p:txBody>
      </p:sp>
      <p:sp>
        <p:nvSpPr>
          <p:cNvPr id="4" name="Slide Number Placeholder 3"/>
          <p:cNvSpPr>
            <a:spLocks noGrp="1"/>
          </p:cNvSpPr>
          <p:nvPr>
            <p:ph type="sldNum" sz="quarter" idx="5"/>
          </p:nvPr>
        </p:nvSpPr>
        <p:spPr/>
        <p:txBody>
          <a:bodyPr/>
          <a:lstStyle/>
          <a:p>
            <a:fld id="{AE43D2D4-B0AB-4FEA-9DB2-E0AE38DC26D7}" type="slidenum">
              <a:rPr lang="en-US" smtClean="0"/>
              <a:t>71</a:t>
            </a:fld>
            <a:endParaRPr lang="en-US"/>
          </a:p>
        </p:txBody>
      </p:sp>
    </p:spTree>
    <p:extLst>
      <p:ext uri="{BB962C8B-B14F-4D97-AF65-F5344CB8AC3E}">
        <p14:creationId xmlns:p14="http://schemas.microsoft.com/office/powerpoint/2010/main" val="2693329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748E00-82FF-43F1-8BAE-1185B590377D}"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C025FC-8595-493D-A46F-2FDFDC85D9BC}" type="slidenum">
              <a:rPr lang="en-US" smtClean="0"/>
              <a:t>‹#›</a:t>
            </a:fld>
            <a:endParaRPr lang="en-US"/>
          </a:p>
        </p:txBody>
      </p:sp>
      <p:sp>
        <p:nvSpPr>
          <p:cNvPr id="2" name="Title 1"/>
          <p:cNvSpPr>
            <a:spLocks noGrp="1"/>
          </p:cNvSpPr>
          <p:nvPr>
            <p:ph type="ctrTitle"/>
          </p:nvPr>
        </p:nvSpPr>
        <p:spPr>
          <a:xfrm>
            <a:off x="1524000" y="1122363"/>
            <a:ext cx="9144000" cy="2387600"/>
          </a:xfrm>
        </p:spPr>
        <p:txBody>
          <a:bodyPr anchor="b"/>
          <a:lstStyle>
            <a:lvl1pPr algn="ctr">
              <a:defRPr sz="6000">
                <a:solidFill>
                  <a:schemeClr val="tx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367A1B48-730F-4468-97B5-E1019D39764E}"/>
              </a:ext>
            </a:extLst>
          </p:cNvPr>
          <p:cNvSpPr/>
          <p:nvPr userDrawn="1"/>
        </p:nvSpPr>
        <p:spPr>
          <a:xfrm>
            <a:off x="0" y="0"/>
            <a:ext cx="12192000" cy="1510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6933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A1B678-DF2B-4949-A968-558CCE10D315}"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3833555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AA4CB-237A-4EF9-A6A0-99C41F2517D2}"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1665519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3C1248-3526-4AFD-881C-D8B2BFE1BA69}"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2561890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5F6DF1-AFBB-4690-AD5D-C5AF5034BBCA}"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4029528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C5E5F9-AACD-40D5-A73E-0F2FE90CDBD3}"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357649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136C8E-489F-4873-8880-377AE32000C8}"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146075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CB022B-B59B-4A9B-8F6A-0120D84C7286}"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297665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82F41D-0E41-4468-BE78-84780F043F4B}"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2772041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C9F21-0AA0-4FF5-8886-FBC97A8125D6}"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226272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5C0C8-B868-45B1-AB90-25E9163CC83C}"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C025FC-8595-493D-A46F-2FDFDC85D9BC}" type="slidenum">
              <a:rPr lang="en-US" smtClean="0"/>
              <a:t>‹#›</a:t>
            </a:fld>
            <a:endParaRPr lang="en-US"/>
          </a:p>
        </p:txBody>
      </p:sp>
    </p:spTree>
    <p:extLst>
      <p:ext uri="{BB962C8B-B14F-4D97-AF65-F5344CB8AC3E}">
        <p14:creationId xmlns:p14="http://schemas.microsoft.com/office/powerpoint/2010/main" val="3591331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7ADE6B8-1486-4EAD-B1DA-C855F1727FC4}"/>
              </a:ext>
            </a:extLst>
          </p:cNvPr>
          <p:cNvSpPr/>
          <p:nvPr userDrawn="1"/>
        </p:nvSpPr>
        <p:spPr>
          <a:xfrm>
            <a:off x="11640456" y="6400480"/>
            <a:ext cx="454561" cy="365125"/>
          </a:xfrm>
          <a:prstGeom prst="roundRect">
            <a:avLst/>
          </a:prstGeom>
          <a:solidFill>
            <a:srgbClr val="4A8522"/>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263236" y="1057848"/>
            <a:ext cx="11665528" cy="511911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43948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108A36-AA60-43D1-96E3-88FC298044A2}" type="datetime1">
              <a:rPr lang="en-US" smtClean="0"/>
              <a:t>1/14/2025</a:t>
            </a:fld>
            <a:endParaRPr lang="en-US"/>
          </a:p>
        </p:txBody>
      </p:sp>
      <p:sp>
        <p:nvSpPr>
          <p:cNvPr id="5" name="Footer Placeholder 4"/>
          <p:cNvSpPr>
            <a:spLocks noGrp="1"/>
          </p:cNvSpPr>
          <p:nvPr>
            <p:ph type="ftr" sz="quarter" idx="3"/>
          </p:nvPr>
        </p:nvSpPr>
        <p:spPr>
          <a:xfrm>
            <a:off x="4038600" y="643948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640456" y="6400480"/>
            <a:ext cx="454561" cy="348212"/>
          </a:xfrm>
          <a:prstGeom prst="rect">
            <a:avLst/>
          </a:prstGeom>
          <a:noFill/>
        </p:spPr>
        <p:txBody>
          <a:bodyPr vert="horz" lIns="91440" tIns="45720" rIns="91440" bIns="45720" rtlCol="0" anchor="ctr"/>
          <a:lstStyle>
            <a:lvl1pPr algn="ctr">
              <a:defRPr sz="1600" b="0">
                <a:solidFill>
                  <a:schemeClr val="bg1"/>
                </a:solidFill>
                <a:effectLst>
                  <a:outerShdw blurRad="38100" dist="38100" dir="2700000" algn="tl">
                    <a:srgbClr val="000000">
                      <a:alpha val="43137"/>
                    </a:srgbClr>
                  </a:outerShdw>
                </a:effectLst>
                <a:latin typeface="Arial Rounded MT Bold" panose="020F0704030504030204" pitchFamily="34" charset="0"/>
                <a:ea typeface="Cambria" panose="02040503050406030204" pitchFamily="18" charset="0"/>
                <a:cs typeface="Aharoni" panose="02010803020104030203" pitchFamily="2" charset="-79"/>
              </a:defRPr>
            </a:lvl1pPr>
          </a:lstStyle>
          <a:p>
            <a:fld id="{4CC025FC-8595-493D-A46F-2FDFDC85D9BC}" type="slidenum">
              <a:rPr lang="en-US" smtClean="0"/>
              <a:pPr/>
              <a:t>‹#›</a:t>
            </a:fld>
            <a:endParaRPr lang="en-US" dirty="0"/>
          </a:p>
        </p:txBody>
      </p:sp>
      <p:sp>
        <p:nvSpPr>
          <p:cNvPr id="7" name="Rectangle: Rounded Corners 6">
            <a:extLst>
              <a:ext uri="{FF2B5EF4-FFF2-40B4-BE49-F238E27FC236}">
                <a16:creationId xmlns:a16="http://schemas.microsoft.com/office/drawing/2014/main" id="{C1F262DC-6842-44CC-9183-E53BBECFB35F}"/>
              </a:ext>
            </a:extLst>
          </p:cNvPr>
          <p:cNvSpPr/>
          <p:nvPr userDrawn="1"/>
        </p:nvSpPr>
        <p:spPr>
          <a:xfrm>
            <a:off x="110836" y="96982"/>
            <a:ext cx="11984182" cy="831273"/>
          </a:xfrm>
          <a:prstGeom prst="roundRect">
            <a:avLst/>
          </a:prstGeom>
          <a:gradFill flip="none" rotWithShape="1">
            <a:gsLst>
              <a:gs pos="0">
                <a:schemeClr val="accent6">
                  <a:lumMod val="50000"/>
                </a:schemeClr>
              </a:gs>
              <a:gs pos="50000">
                <a:schemeClr val="accent6">
                  <a:lumMod val="75000"/>
                </a:schemeClr>
              </a:gs>
              <a:gs pos="100000">
                <a:schemeClr val="accent6">
                  <a:lumMod val="20000"/>
                  <a:lumOff val="80000"/>
                </a:schemeClr>
              </a:gs>
            </a:gsLst>
            <a:lin ang="0" scaled="1"/>
            <a:tileRec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263236" y="270117"/>
            <a:ext cx="11665528" cy="590843"/>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153391168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hdr="0" ftr="0" dt="0"/>
  <p:txStyles>
    <p:titleStyle>
      <a:lvl1pPr algn="l" defTabSz="914400" rtl="0" eaLnBrk="1" latinLnBrk="0" hangingPunct="1">
        <a:lnSpc>
          <a:spcPct val="90000"/>
        </a:lnSpc>
        <a:spcBef>
          <a:spcPct val="0"/>
        </a:spcBef>
        <a:buNone/>
        <a:defRPr sz="4000" b="0" kern="1200">
          <a:solidFill>
            <a:schemeClr val="bg1"/>
          </a:solidFill>
          <a:effectLst>
            <a:outerShdw blurRad="38100" dist="38100" dir="2700000" algn="tl">
              <a:srgbClr val="000000">
                <a:alpha val="43137"/>
              </a:srgbClr>
            </a:outerShdw>
          </a:effectLst>
          <a:latin typeface="Arial Rounded MT Bold" panose="020F0704030504030204" pitchFamily="34" charset="0"/>
          <a:ea typeface="Cambria" panose="02040503050406030204" pitchFamily="18" charset="0"/>
          <a:cs typeface="Aharoni" panose="02010803020104030203"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NUL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NUL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NUL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22.xml.rels><?xml version="1.0" encoding="UTF-8" standalone="yes"?>
<Relationships xmlns="http://schemas.openxmlformats.org/package/2006/relationships"><Relationship Id="rId7" Type="http://schemas.openxmlformats.org/officeDocument/2006/relationships/image" Target="NUL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24.xml.rels><?xml version="1.0" encoding="UTF-8" standalone="yes"?>
<Relationships xmlns="http://schemas.openxmlformats.org/package/2006/relationships"><Relationship Id="rId7" Type="http://schemas.openxmlformats.org/officeDocument/2006/relationships/image" Target="NUL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25.xml.rels><?xml version="1.0" encoding="UTF-8" standalone="yes"?>
<Relationships xmlns="http://schemas.openxmlformats.org/package/2006/relationships"><Relationship Id="rId7"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NUL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NUL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NUL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NUL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3364-8FB0-4E2B-ADF7-0EAB97EA028D}"/>
              </a:ext>
            </a:extLst>
          </p:cNvPr>
          <p:cNvSpPr>
            <a:spLocks noGrp="1"/>
          </p:cNvSpPr>
          <p:nvPr>
            <p:ph type="ctrTitle"/>
          </p:nvPr>
        </p:nvSpPr>
        <p:spPr>
          <a:xfrm>
            <a:off x="934948" y="2554357"/>
            <a:ext cx="10231816" cy="2453740"/>
          </a:xfrm>
        </p:spPr>
        <p:txBody>
          <a:bodyPr anchor="ctr">
            <a:noAutofit/>
          </a:bodyPr>
          <a:lstStyle/>
          <a:p>
            <a:r>
              <a:rPr lang="en-US" dirty="0">
                <a:solidFill>
                  <a:srgbClr val="4A8522"/>
                </a:solidFill>
              </a:rPr>
              <a:t>Clustering</a:t>
            </a:r>
          </a:p>
        </p:txBody>
      </p:sp>
      <p:sp>
        <p:nvSpPr>
          <p:cNvPr id="3" name="Subtitle 2">
            <a:extLst>
              <a:ext uri="{FF2B5EF4-FFF2-40B4-BE49-F238E27FC236}">
                <a16:creationId xmlns:a16="http://schemas.microsoft.com/office/drawing/2014/main" id="{1F159239-3E5B-434A-8698-68A7A1023791}"/>
              </a:ext>
            </a:extLst>
          </p:cNvPr>
          <p:cNvSpPr>
            <a:spLocks noGrp="1"/>
          </p:cNvSpPr>
          <p:nvPr>
            <p:ph type="subTitle" idx="1"/>
          </p:nvPr>
        </p:nvSpPr>
        <p:spPr>
          <a:xfrm>
            <a:off x="1524000" y="5036233"/>
            <a:ext cx="9144000" cy="978258"/>
          </a:xfrm>
        </p:spPr>
        <p:txBody>
          <a:bodyPr anchor="ctr">
            <a:normAutofit/>
          </a:bodyPr>
          <a:lstStyle/>
          <a:p>
            <a:r>
              <a:rPr lang="en-US" sz="3600" b="1" dirty="0">
                <a:solidFill>
                  <a:schemeClr val="bg1"/>
                </a:solidFill>
              </a:rPr>
              <a:t>Dr. Kashif Ayyub</a:t>
            </a:r>
          </a:p>
        </p:txBody>
      </p:sp>
      <p:sp>
        <p:nvSpPr>
          <p:cNvPr id="4" name="Slide Number Placeholder 3">
            <a:extLst>
              <a:ext uri="{FF2B5EF4-FFF2-40B4-BE49-F238E27FC236}">
                <a16:creationId xmlns:a16="http://schemas.microsoft.com/office/drawing/2014/main" id="{5C8FD768-02AD-4FC9-856A-4F43F60FFECB}"/>
              </a:ext>
            </a:extLst>
          </p:cNvPr>
          <p:cNvSpPr>
            <a:spLocks noGrp="1"/>
          </p:cNvSpPr>
          <p:nvPr>
            <p:ph type="sldNum" sz="quarter" idx="12"/>
          </p:nvPr>
        </p:nvSpPr>
        <p:spPr/>
        <p:txBody>
          <a:bodyPr/>
          <a:lstStyle/>
          <a:p>
            <a:fld id="{4CC025FC-8595-493D-A46F-2FDFDC85D9BC}" type="slidenum">
              <a:rPr lang="en-US" smtClean="0"/>
              <a:t>1</a:t>
            </a:fld>
            <a:endParaRPr lang="en-US"/>
          </a:p>
        </p:txBody>
      </p:sp>
      <p:sp>
        <p:nvSpPr>
          <p:cNvPr id="13" name="Rectangle 12">
            <a:extLst>
              <a:ext uri="{FF2B5EF4-FFF2-40B4-BE49-F238E27FC236}">
                <a16:creationId xmlns:a16="http://schemas.microsoft.com/office/drawing/2014/main" id="{AB20FE11-F087-4F80-A691-4712D35AA5F4}"/>
              </a:ext>
            </a:extLst>
          </p:cNvPr>
          <p:cNvSpPr/>
          <p:nvPr/>
        </p:nvSpPr>
        <p:spPr>
          <a:xfrm>
            <a:off x="11493305" y="6231988"/>
            <a:ext cx="698695" cy="6260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7975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ED571-0C9C-4B0E-AD96-5A20900F0810}"/>
              </a:ext>
            </a:extLst>
          </p:cNvPr>
          <p:cNvSpPr>
            <a:spLocks noGrp="1"/>
          </p:cNvSpPr>
          <p:nvPr>
            <p:ph type="title"/>
          </p:nvPr>
        </p:nvSpPr>
        <p:spPr/>
        <p:txBody>
          <a:bodyPr>
            <a:normAutofit fontScale="90000"/>
          </a:bodyPr>
          <a:lstStyle/>
          <a:p>
            <a:r>
              <a:rPr lang="en-US" dirty="0"/>
              <a:t>Unsupervised Mining</a:t>
            </a:r>
          </a:p>
        </p:txBody>
      </p:sp>
      <p:sp>
        <p:nvSpPr>
          <p:cNvPr id="3" name="Content Placeholder 2">
            <a:extLst>
              <a:ext uri="{FF2B5EF4-FFF2-40B4-BE49-F238E27FC236}">
                <a16:creationId xmlns:a16="http://schemas.microsoft.com/office/drawing/2014/main" id="{F1DCDBE8-71CF-4A28-B89A-637901E39525}"/>
              </a:ext>
            </a:extLst>
          </p:cNvPr>
          <p:cNvSpPr>
            <a:spLocks noGrp="1"/>
          </p:cNvSpPr>
          <p:nvPr>
            <p:ph idx="1"/>
          </p:nvPr>
        </p:nvSpPr>
        <p:spPr/>
        <p:txBody>
          <a:bodyPr/>
          <a:lstStyle/>
          <a:p>
            <a:r>
              <a:rPr lang="en-US" dirty="0"/>
              <a:t>The users do not need to supervise the model.</a:t>
            </a:r>
          </a:p>
          <a:p>
            <a:r>
              <a:rPr lang="en-US" dirty="0"/>
              <a:t>Instead, it allows the model to work on its own to discover patterns and information that was previously undetected.</a:t>
            </a:r>
          </a:p>
          <a:p>
            <a:r>
              <a:rPr lang="en-US" dirty="0"/>
              <a:t>It mainly deals with the unlabeled data.</a:t>
            </a:r>
          </a:p>
        </p:txBody>
      </p:sp>
      <p:sp>
        <p:nvSpPr>
          <p:cNvPr id="4" name="Slide Number Placeholder 3">
            <a:extLst>
              <a:ext uri="{FF2B5EF4-FFF2-40B4-BE49-F238E27FC236}">
                <a16:creationId xmlns:a16="http://schemas.microsoft.com/office/drawing/2014/main" id="{19176A51-79B1-4A94-A36F-9736E17FEC62}"/>
              </a:ext>
            </a:extLst>
          </p:cNvPr>
          <p:cNvSpPr>
            <a:spLocks noGrp="1"/>
          </p:cNvSpPr>
          <p:nvPr>
            <p:ph type="sldNum" sz="quarter" idx="12"/>
          </p:nvPr>
        </p:nvSpPr>
        <p:spPr/>
        <p:txBody>
          <a:bodyPr/>
          <a:lstStyle/>
          <a:p>
            <a:fld id="{4CC025FC-8595-493D-A46F-2FDFDC85D9BC}" type="slidenum">
              <a:rPr lang="en-US" smtClean="0"/>
              <a:t>2</a:t>
            </a:fld>
            <a:endParaRPr lang="en-US"/>
          </a:p>
        </p:txBody>
      </p:sp>
      <p:pic>
        <p:nvPicPr>
          <p:cNvPr id="5" name="Picture 4">
            <a:extLst>
              <a:ext uri="{FF2B5EF4-FFF2-40B4-BE49-F238E27FC236}">
                <a16:creationId xmlns:a16="http://schemas.microsoft.com/office/drawing/2014/main" id="{98D1D05C-A553-48BA-9E29-D61C7FCD2AEE}"/>
              </a:ext>
            </a:extLst>
          </p:cNvPr>
          <p:cNvPicPr>
            <a:picLocks noChangeAspect="1"/>
          </p:cNvPicPr>
          <p:nvPr/>
        </p:nvPicPr>
        <p:blipFill>
          <a:blip r:embed="rId2"/>
          <a:stretch>
            <a:fillRect/>
          </a:stretch>
        </p:blipFill>
        <p:spPr>
          <a:xfrm>
            <a:off x="1752600" y="3756696"/>
            <a:ext cx="8686800" cy="2790825"/>
          </a:xfrm>
          <a:prstGeom prst="rect">
            <a:avLst/>
          </a:prstGeom>
        </p:spPr>
      </p:pic>
    </p:spTree>
    <p:extLst>
      <p:ext uri="{BB962C8B-B14F-4D97-AF65-F5344CB8AC3E}">
        <p14:creationId xmlns:p14="http://schemas.microsoft.com/office/powerpoint/2010/main" val="1333152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EE400C-853B-487A-BF52-34254CA49125}"/>
              </a:ext>
            </a:extLst>
          </p:cNvPr>
          <p:cNvSpPr>
            <a:spLocks noGrp="1"/>
          </p:cNvSpPr>
          <p:nvPr>
            <p:ph type="title"/>
          </p:nvPr>
        </p:nvSpPr>
        <p:spPr/>
        <p:txBody>
          <a:bodyPr>
            <a:normAutofit fontScale="90000"/>
          </a:bodyPr>
          <a:lstStyle/>
          <a:p>
            <a:r>
              <a:rPr lang="en-US" dirty="0"/>
              <a:t>Applications</a:t>
            </a:r>
          </a:p>
        </p:txBody>
      </p:sp>
      <p:sp>
        <p:nvSpPr>
          <p:cNvPr id="5" name="Content Placeholder 4">
            <a:extLst>
              <a:ext uri="{FF2B5EF4-FFF2-40B4-BE49-F238E27FC236}">
                <a16:creationId xmlns:a16="http://schemas.microsoft.com/office/drawing/2014/main" id="{0A072D08-2578-4141-8C48-028064DAF7CC}"/>
              </a:ext>
            </a:extLst>
          </p:cNvPr>
          <p:cNvSpPr>
            <a:spLocks noGrp="1"/>
          </p:cNvSpPr>
          <p:nvPr>
            <p:ph idx="1"/>
          </p:nvPr>
        </p:nvSpPr>
        <p:spPr/>
        <p:txBody>
          <a:bodyPr>
            <a:normAutofit lnSpcReduction="10000"/>
          </a:bodyPr>
          <a:lstStyle/>
          <a:p>
            <a:r>
              <a:rPr lang="en-US" b="1" i="1" dirty="0">
                <a:solidFill>
                  <a:srgbClr val="0070C0"/>
                </a:solidFill>
              </a:rPr>
              <a:t>Clustering </a:t>
            </a:r>
            <a:r>
              <a:rPr lang="en-US" dirty="0"/>
              <a:t>allows you to automatically split the dataset into groups according to similarity. Often, however, cluster analysis overestimates the similarity between groups and doesn’t treat data points as individuals. For this reason, cluster analysis is a poor choice for applications like customer segmentation and targeting.</a:t>
            </a:r>
          </a:p>
          <a:p>
            <a:r>
              <a:rPr lang="en-US" b="1" i="1" dirty="0">
                <a:solidFill>
                  <a:srgbClr val="0070C0"/>
                </a:solidFill>
              </a:rPr>
              <a:t>Anomaly detection </a:t>
            </a:r>
            <a:r>
              <a:rPr lang="en-US" dirty="0"/>
              <a:t>can automatically discover unusual data points in your dataset. This is useful in pinpointing fraudulent transactions, discovering faulty pieces of hardware, or identifying an outlier caused by a human error during data entry.</a:t>
            </a:r>
          </a:p>
          <a:p>
            <a:r>
              <a:rPr lang="en-US" b="1" i="1" dirty="0">
                <a:solidFill>
                  <a:srgbClr val="0070C0"/>
                </a:solidFill>
              </a:rPr>
              <a:t>Association rules discovery </a:t>
            </a:r>
            <a:r>
              <a:rPr lang="en-US" dirty="0"/>
              <a:t>identifies sets of items that frequently occur together in your dataset. Retailers often use it for basket analysis, because it allows analysts to discover goods often purchased at the same time and develop more effective marketing and merchandising strategies.</a:t>
            </a:r>
          </a:p>
        </p:txBody>
      </p:sp>
      <p:sp>
        <p:nvSpPr>
          <p:cNvPr id="3" name="Slide Number Placeholder 2">
            <a:extLst>
              <a:ext uri="{FF2B5EF4-FFF2-40B4-BE49-F238E27FC236}">
                <a16:creationId xmlns:a16="http://schemas.microsoft.com/office/drawing/2014/main" id="{344B9028-EBD2-4C5A-80D8-8A6186116DB3}"/>
              </a:ext>
            </a:extLst>
          </p:cNvPr>
          <p:cNvSpPr>
            <a:spLocks noGrp="1"/>
          </p:cNvSpPr>
          <p:nvPr>
            <p:ph type="sldNum" sz="quarter" idx="12"/>
          </p:nvPr>
        </p:nvSpPr>
        <p:spPr/>
        <p:txBody>
          <a:bodyPr/>
          <a:lstStyle/>
          <a:p>
            <a:fld id="{4CC025FC-8595-493D-A46F-2FDFDC85D9BC}" type="slidenum">
              <a:rPr lang="en-US" smtClean="0"/>
              <a:t>3</a:t>
            </a:fld>
            <a:endParaRPr lang="en-US"/>
          </a:p>
        </p:txBody>
      </p:sp>
    </p:spTree>
    <p:extLst>
      <p:ext uri="{BB962C8B-B14F-4D97-AF65-F5344CB8AC3E}">
        <p14:creationId xmlns:p14="http://schemas.microsoft.com/office/powerpoint/2010/main" val="1395268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A9BF4-D499-4891-896B-126862C4C558}"/>
              </a:ext>
            </a:extLst>
          </p:cNvPr>
          <p:cNvSpPr>
            <a:spLocks noGrp="1"/>
          </p:cNvSpPr>
          <p:nvPr>
            <p:ph type="title"/>
          </p:nvPr>
        </p:nvSpPr>
        <p:spPr/>
        <p:txBody>
          <a:bodyPr>
            <a:normAutofit fontScale="90000"/>
          </a:bodyPr>
          <a:lstStyle/>
          <a:p>
            <a:r>
              <a:rPr lang="en-US" dirty="0"/>
              <a:t>Clustering for Understanding</a:t>
            </a:r>
          </a:p>
        </p:txBody>
      </p:sp>
      <p:sp>
        <p:nvSpPr>
          <p:cNvPr id="3" name="Content Placeholder 2">
            <a:extLst>
              <a:ext uri="{FF2B5EF4-FFF2-40B4-BE49-F238E27FC236}">
                <a16:creationId xmlns:a16="http://schemas.microsoft.com/office/drawing/2014/main" id="{169EDD3B-5E53-4457-BEDC-C8C4CCF2AEDE}"/>
              </a:ext>
            </a:extLst>
          </p:cNvPr>
          <p:cNvSpPr>
            <a:spLocks noGrp="1"/>
          </p:cNvSpPr>
          <p:nvPr>
            <p:ph idx="1"/>
          </p:nvPr>
        </p:nvSpPr>
        <p:spPr/>
        <p:txBody>
          <a:bodyPr>
            <a:normAutofit fontScale="92500"/>
          </a:bodyPr>
          <a:lstStyle/>
          <a:p>
            <a:r>
              <a:rPr lang="en-US" sz="3200" dirty="0"/>
              <a:t>Classes, or conceptually meaningful groups of objects that share common characteristics, play an important role in how people analyze and describe the world. </a:t>
            </a:r>
          </a:p>
          <a:p>
            <a:r>
              <a:rPr lang="en-US" sz="3200" dirty="0"/>
              <a:t>Indeed, human beings are skilled at dividing objects into groups (clustering) and assigning particular objects to these groups (classification). </a:t>
            </a:r>
          </a:p>
          <a:p>
            <a:r>
              <a:rPr lang="en-US" sz="3200" dirty="0"/>
              <a:t>For example, even relatively young children can quickly label the objects in a photograph as buildings, vehicles, people, animals, plants, etc. </a:t>
            </a:r>
          </a:p>
          <a:p>
            <a:r>
              <a:rPr lang="en-US" sz="3200" dirty="0"/>
              <a:t>In the context of understanding data, clusters are potential classes and cluster analysis is the study of techniques for automatically finding classes.</a:t>
            </a:r>
          </a:p>
        </p:txBody>
      </p:sp>
      <p:sp>
        <p:nvSpPr>
          <p:cNvPr id="6" name="Slide Number Placeholder 5">
            <a:extLst>
              <a:ext uri="{FF2B5EF4-FFF2-40B4-BE49-F238E27FC236}">
                <a16:creationId xmlns:a16="http://schemas.microsoft.com/office/drawing/2014/main" id="{A5C89D8F-049B-4C8A-A198-477AE226CF48}"/>
              </a:ext>
            </a:extLst>
          </p:cNvPr>
          <p:cNvSpPr>
            <a:spLocks noGrp="1"/>
          </p:cNvSpPr>
          <p:nvPr>
            <p:ph type="sldNum" sz="quarter" idx="12"/>
          </p:nvPr>
        </p:nvSpPr>
        <p:spPr/>
        <p:txBody>
          <a:bodyPr/>
          <a:lstStyle/>
          <a:p>
            <a:fld id="{4CC025FC-8595-493D-A46F-2FDFDC85D9BC}" type="slidenum">
              <a:rPr lang="en-US" smtClean="0"/>
              <a:t>4</a:t>
            </a:fld>
            <a:endParaRPr lang="en-US"/>
          </a:p>
        </p:txBody>
      </p:sp>
    </p:spTree>
    <p:extLst>
      <p:ext uri="{BB962C8B-B14F-4D97-AF65-F5344CB8AC3E}">
        <p14:creationId xmlns:p14="http://schemas.microsoft.com/office/powerpoint/2010/main" val="2179360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F895-DA8E-4AE2-81E4-2A8696E37253}"/>
              </a:ext>
            </a:extLst>
          </p:cNvPr>
          <p:cNvSpPr>
            <a:spLocks noGrp="1"/>
          </p:cNvSpPr>
          <p:nvPr>
            <p:ph type="title"/>
          </p:nvPr>
        </p:nvSpPr>
        <p:spPr/>
        <p:txBody>
          <a:bodyPr>
            <a:normAutofit fontScale="90000"/>
          </a:bodyPr>
          <a:lstStyle/>
          <a:p>
            <a:r>
              <a:rPr lang="en-US" dirty="0"/>
              <a:t>What is Cluster Analysis?</a:t>
            </a:r>
          </a:p>
        </p:txBody>
      </p:sp>
      <p:sp>
        <p:nvSpPr>
          <p:cNvPr id="3" name="Content Placeholder 2">
            <a:extLst>
              <a:ext uri="{FF2B5EF4-FFF2-40B4-BE49-F238E27FC236}">
                <a16:creationId xmlns:a16="http://schemas.microsoft.com/office/drawing/2014/main" id="{80DCA4E7-7C2F-4A37-8711-3B7DA4D29FBA}"/>
              </a:ext>
            </a:extLst>
          </p:cNvPr>
          <p:cNvSpPr>
            <a:spLocks noGrp="1"/>
          </p:cNvSpPr>
          <p:nvPr>
            <p:ph idx="1"/>
          </p:nvPr>
        </p:nvSpPr>
        <p:spPr>
          <a:xfrm>
            <a:off x="401782" y="1343891"/>
            <a:ext cx="11388436" cy="4833072"/>
          </a:xfrm>
        </p:spPr>
        <p:txBody>
          <a:bodyPr>
            <a:normAutofit/>
          </a:bodyPr>
          <a:lstStyle/>
          <a:p>
            <a:r>
              <a:rPr lang="en-US" sz="4000" dirty="0"/>
              <a:t>Finding groups of objects such that the objects in a group will be similar (or related) to one another and different from (or unrelated to) the objects in other groups</a:t>
            </a:r>
          </a:p>
        </p:txBody>
      </p:sp>
      <p:grpSp>
        <p:nvGrpSpPr>
          <p:cNvPr id="4" name="Group 6">
            <a:extLst>
              <a:ext uri="{FF2B5EF4-FFF2-40B4-BE49-F238E27FC236}">
                <a16:creationId xmlns:a16="http://schemas.microsoft.com/office/drawing/2014/main" id="{2AA96279-6F26-4A8A-A0A3-3314F27ADB4E}"/>
              </a:ext>
            </a:extLst>
          </p:cNvPr>
          <p:cNvGrpSpPr>
            <a:grpSpLocks/>
          </p:cNvGrpSpPr>
          <p:nvPr/>
        </p:nvGrpSpPr>
        <p:grpSpPr bwMode="auto">
          <a:xfrm>
            <a:off x="4711504" y="4119563"/>
            <a:ext cx="3048000" cy="2678112"/>
            <a:chOff x="2160" y="2544"/>
            <a:chExt cx="1920" cy="1687"/>
          </a:xfrm>
        </p:grpSpPr>
        <p:sp>
          <p:nvSpPr>
            <p:cNvPr id="5" name="Line 7">
              <a:extLst>
                <a:ext uri="{FF2B5EF4-FFF2-40B4-BE49-F238E27FC236}">
                  <a16:creationId xmlns:a16="http://schemas.microsoft.com/office/drawing/2014/main" id="{15B285E3-B31C-4B0A-AD0B-FE195DDA432E}"/>
                </a:ext>
              </a:extLst>
            </p:cNvPr>
            <p:cNvSpPr>
              <a:spLocks noChangeShapeType="1"/>
            </p:cNvSpPr>
            <p:nvPr/>
          </p:nvSpPr>
          <p:spPr bwMode="auto">
            <a:xfrm>
              <a:off x="2736" y="254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8">
              <a:extLst>
                <a:ext uri="{FF2B5EF4-FFF2-40B4-BE49-F238E27FC236}">
                  <a16:creationId xmlns:a16="http://schemas.microsoft.com/office/drawing/2014/main" id="{0579B2D6-7B25-4537-928C-1E45288A2650}"/>
                </a:ext>
              </a:extLst>
            </p:cNvPr>
            <p:cNvSpPr>
              <a:spLocks noChangeShapeType="1"/>
            </p:cNvSpPr>
            <p:nvPr/>
          </p:nvSpPr>
          <p:spPr bwMode="auto">
            <a:xfrm>
              <a:off x="2736" y="3696"/>
              <a:ext cx="13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Freeform 9">
              <a:extLst>
                <a:ext uri="{FF2B5EF4-FFF2-40B4-BE49-F238E27FC236}">
                  <a16:creationId xmlns:a16="http://schemas.microsoft.com/office/drawing/2014/main" id="{7331FBF1-EA2A-4E79-903E-54BE46E1E04D}"/>
                </a:ext>
              </a:extLst>
            </p:cNvPr>
            <p:cNvSpPr>
              <a:spLocks/>
            </p:cNvSpPr>
            <p:nvPr/>
          </p:nvSpPr>
          <p:spPr bwMode="auto">
            <a:xfrm>
              <a:off x="2226" y="3696"/>
              <a:ext cx="510" cy="535"/>
            </a:xfrm>
            <a:custGeom>
              <a:avLst/>
              <a:gdLst>
                <a:gd name="T0" fmla="*/ 510 w 510"/>
                <a:gd name="T1" fmla="*/ 0 h 535"/>
                <a:gd name="T2" fmla="*/ 0 w 510"/>
                <a:gd name="T3" fmla="*/ 535 h 535"/>
              </a:gdLst>
              <a:ahLst/>
              <a:cxnLst>
                <a:cxn ang="0">
                  <a:pos x="T0" y="T1"/>
                </a:cxn>
                <a:cxn ang="0">
                  <a:pos x="T2" y="T3"/>
                </a:cxn>
              </a:cxnLst>
              <a:rect l="0" t="0" r="r" b="b"/>
              <a:pathLst>
                <a:path w="510" h="535">
                  <a:moveTo>
                    <a:pt x="510" y="0"/>
                  </a:moveTo>
                  <a:lnTo>
                    <a:pt x="0" y="535"/>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AutoShape 10">
              <a:extLst>
                <a:ext uri="{FF2B5EF4-FFF2-40B4-BE49-F238E27FC236}">
                  <a16:creationId xmlns:a16="http://schemas.microsoft.com/office/drawing/2014/main" id="{AB40682A-657F-43CD-B3B1-A497DF4D2A64}"/>
                </a:ext>
              </a:extLst>
            </p:cNvPr>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AutoShape 11">
              <a:extLst>
                <a:ext uri="{FF2B5EF4-FFF2-40B4-BE49-F238E27FC236}">
                  <a16:creationId xmlns:a16="http://schemas.microsoft.com/office/drawing/2014/main" id="{F26931AD-5339-4E31-8BB7-829524B63F4F}"/>
                </a:ext>
              </a:extLst>
            </p:cNvPr>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AutoShape 12">
              <a:extLst>
                <a:ext uri="{FF2B5EF4-FFF2-40B4-BE49-F238E27FC236}">
                  <a16:creationId xmlns:a16="http://schemas.microsoft.com/office/drawing/2014/main" id="{B1482926-3706-40E9-8F7D-DD94890F9221}"/>
                </a:ext>
              </a:extLst>
            </p:cNvPr>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AutoShape 13">
              <a:extLst>
                <a:ext uri="{FF2B5EF4-FFF2-40B4-BE49-F238E27FC236}">
                  <a16:creationId xmlns:a16="http://schemas.microsoft.com/office/drawing/2014/main" id="{5446C95D-2704-4298-94DF-1B184685A72A}"/>
                </a:ext>
              </a:extLst>
            </p:cNvPr>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AutoShape 14">
              <a:extLst>
                <a:ext uri="{FF2B5EF4-FFF2-40B4-BE49-F238E27FC236}">
                  <a16:creationId xmlns:a16="http://schemas.microsoft.com/office/drawing/2014/main" id="{097D329F-1543-4FF8-9A6D-6830611716CE}"/>
                </a:ext>
              </a:extLst>
            </p:cNvPr>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AutoShape 15">
              <a:extLst>
                <a:ext uri="{FF2B5EF4-FFF2-40B4-BE49-F238E27FC236}">
                  <a16:creationId xmlns:a16="http://schemas.microsoft.com/office/drawing/2014/main" id="{2DAC5E75-8C90-40E5-9447-0D8375FA73E5}"/>
                </a:ext>
              </a:extLst>
            </p:cNvPr>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AutoShape 16">
              <a:extLst>
                <a:ext uri="{FF2B5EF4-FFF2-40B4-BE49-F238E27FC236}">
                  <a16:creationId xmlns:a16="http://schemas.microsoft.com/office/drawing/2014/main" id="{D9975128-774B-4D94-831B-3A5789982C7E}"/>
                </a:ext>
              </a:extLst>
            </p:cNvPr>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AutoShape 17">
              <a:extLst>
                <a:ext uri="{FF2B5EF4-FFF2-40B4-BE49-F238E27FC236}">
                  <a16:creationId xmlns:a16="http://schemas.microsoft.com/office/drawing/2014/main" id="{C20B243B-A19F-4598-B670-4A1B6B3A9703}"/>
                </a:ext>
              </a:extLst>
            </p:cNvPr>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AutoShape 18">
              <a:extLst>
                <a:ext uri="{FF2B5EF4-FFF2-40B4-BE49-F238E27FC236}">
                  <a16:creationId xmlns:a16="http://schemas.microsoft.com/office/drawing/2014/main" id="{35C8807F-F7D6-4EEB-B5C1-84D058845900}"/>
                </a:ext>
              </a:extLst>
            </p:cNvPr>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AutoShape 19">
              <a:extLst>
                <a:ext uri="{FF2B5EF4-FFF2-40B4-BE49-F238E27FC236}">
                  <a16:creationId xmlns:a16="http://schemas.microsoft.com/office/drawing/2014/main" id="{6173C726-1417-43DA-9D40-1D50F5645BED}"/>
                </a:ext>
              </a:extLst>
            </p:cNvPr>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AutoShape 20">
              <a:extLst>
                <a:ext uri="{FF2B5EF4-FFF2-40B4-BE49-F238E27FC236}">
                  <a16:creationId xmlns:a16="http://schemas.microsoft.com/office/drawing/2014/main" id="{69763C43-32A6-40FD-AAEA-61D40D90C8FE}"/>
                </a:ext>
              </a:extLst>
            </p:cNvPr>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AutoShape 21">
              <a:extLst>
                <a:ext uri="{FF2B5EF4-FFF2-40B4-BE49-F238E27FC236}">
                  <a16:creationId xmlns:a16="http://schemas.microsoft.com/office/drawing/2014/main" id="{8CE74BAE-321C-4971-8556-44C4C8048D80}"/>
                </a:ext>
              </a:extLst>
            </p:cNvPr>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AutoShape 22">
              <a:extLst>
                <a:ext uri="{FF2B5EF4-FFF2-40B4-BE49-F238E27FC236}">
                  <a16:creationId xmlns:a16="http://schemas.microsoft.com/office/drawing/2014/main" id="{A901215B-2BCB-40AA-84A9-F9190BF674DE}"/>
                </a:ext>
              </a:extLst>
            </p:cNvPr>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AutoShape 23">
              <a:extLst>
                <a:ext uri="{FF2B5EF4-FFF2-40B4-BE49-F238E27FC236}">
                  <a16:creationId xmlns:a16="http://schemas.microsoft.com/office/drawing/2014/main" id="{C14E5312-AA56-4012-89AE-2BE95C16F8E4}"/>
                </a:ext>
              </a:extLst>
            </p:cNvPr>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AutoShape 24">
              <a:extLst>
                <a:ext uri="{FF2B5EF4-FFF2-40B4-BE49-F238E27FC236}">
                  <a16:creationId xmlns:a16="http://schemas.microsoft.com/office/drawing/2014/main" id="{489C2A18-7E1B-4099-AC5B-33D760DB883B}"/>
                </a:ext>
              </a:extLst>
            </p:cNvPr>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AutoShape 25">
              <a:extLst>
                <a:ext uri="{FF2B5EF4-FFF2-40B4-BE49-F238E27FC236}">
                  <a16:creationId xmlns:a16="http://schemas.microsoft.com/office/drawing/2014/main" id="{730D94F7-38E9-42DB-9EB4-899E4C70F677}"/>
                </a:ext>
              </a:extLst>
            </p:cNvPr>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AutoShape 26">
              <a:extLst>
                <a:ext uri="{FF2B5EF4-FFF2-40B4-BE49-F238E27FC236}">
                  <a16:creationId xmlns:a16="http://schemas.microsoft.com/office/drawing/2014/main" id="{C7A9AC12-0A1C-4A8F-8AEC-D17D1D900953}"/>
                </a:ext>
              </a:extLst>
            </p:cNvPr>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AutoShape 27">
              <a:extLst>
                <a:ext uri="{FF2B5EF4-FFF2-40B4-BE49-F238E27FC236}">
                  <a16:creationId xmlns:a16="http://schemas.microsoft.com/office/drawing/2014/main" id="{2DAE95D4-CC6C-476B-BB8B-F55F26913D00}"/>
                </a:ext>
              </a:extLst>
            </p:cNvPr>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AutoShape 28">
              <a:extLst>
                <a:ext uri="{FF2B5EF4-FFF2-40B4-BE49-F238E27FC236}">
                  <a16:creationId xmlns:a16="http://schemas.microsoft.com/office/drawing/2014/main" id="{4F702A87-DDB9-4365-BD55-E33744F9CA96}"/>
                </a:ext>
              </a:extLst>
            </p:cNvPr>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AutoShape 29">
              <a:extLst>
                <a:ext uri="{FF2B5EF4-FFF2-40B4-BE49-F238E27FC236}">
                  <a16:creationId xmlns:a16="http://schemas.microsoft.com/office/drawing/2014/main" id="{C6E9BC6F-14F1-4222-8EA3-CF97B7B446AB}"/>
                </a:ext>
              </a:extLst>
            </p:cNvPr>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AutoShape 30">
              <a:extLst>
                <a:ext uri="{FF2B5EF4-FFF2-40B4-BE49-F238E27FC236}">
                  <a16:creationId xmlns:a16="http://schemas.microsoft.com/office/drawing/2014/main" id="{4B2B4729-7659-43B3-A5C3-7EF0B974C371}"/>
                </a:ext>
              </a:extLst>
            </p:cNvPr>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AutoShape 31">
              <a:extLst>
                <a:ext uri="{FF2B5EF4-FFF2-40B4-BE49-F238E27FC236}">
                  <a16:creationId xmlns:a16="http://schemas.microsoft.com/office/drawing/2014/main" id="{4747ADA5-F533-4690-B5F3-5027F9C35D5D}"/>
                </a:ext>
              </a:extLst>
            </p:cNvPr>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AutoShape 32">
              <a:extLst>
                <a:ext uri="{FF2B5EF4-FFF2-40B4-BE49-F238E27FC236}">
                  <a16:creationId xmlns:a16="http://schemas.microsoft.com/office/drawing/2014/main" id="{654B4A97-2BE2-452F-AA8B-0C5F65C1CB09}"/>
                </a:ext>
              </a:extLst>
            </p:cNvPr>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 name="Group 33">
            <a:extLst>
              <a:ext uri="{FF2B5EF4-FFF2-40B4-BE49-F238E27FC236}">
                <a16:creationId xmlns:a16="http://schemas.microsoft.com/office/drawing/2014/main" id="{38A0B364-CABD-4BAA-9BA4-8734EB4C117D}"/>
              </a:ext>
            </a:extLst>
          </p:cNvPr>
          <p:cNvGrpSpPr>
            <a:grpSpLocks/>
          </p:cNvGrpSpPr>
          <p:nvPr/>
        </p:nvGrpSpPr>
        <p:grpSpPr bwMode="auto">
          <a:xfrm>
            <a:off x="6692704" y="3216275"/>
            <a:ext cx="3048000" cy="2514600"/>
            <a:chOff x="3312" y="1584"/>
            <a:chExt cx="1920" cy="1584"/>
          </a:xfrm>
        </p:grpSpPr>
        <p:sp>
          <p:nvSpPr>
            <p:cNvPr id="32" name="Line 34">
              <a:extLst>
                <a:ext uri="{FF2B5EF4-FFF2-40B4-BE49-F238E27FC236}">
                  <a16:creationId xmlns:a16="http://schemas.microsoft.com/office/drawing/2014/main" id="{2ACB954B-3B54-4284-888B-1479C5DA1EF2}"/>
                </a:ext>
              </a:extLst>
            </p:cNvPr>
            <p:cNvSpPr>
              <a:spLocks noChangeShapeType="1"/>
            </p:cNvSpPr>
            <p:nvPr/>
          </p:nvSpPr>
          <p:spPr bwMode="auto">
            <a:xfrm flipH="1" flipV="1">
              <a:off x="3312" y="2736"/>
              <a:ext cx="144" cy="432"/>
            </a:xfrm>
            <a:prstGeom prst="line">
              <a:avLst/>
            </a:prstGeom>
            <a:noFill/>
            <a:ln w="25400">
              <a:solidFill>
                <a:srgbClr val="CC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AutoShape 35">
              <a:extLst>
                <a:ext uri="{FF2B5EF4-FFF2-40B4-BE49-F238E27FC236}">
                  <a16:creationId xmlns:a16="http://schemas.microsoft.com/office/drawing/2014/main" id="{DD14623A-BE65-473E-A985-BAD6BB7451C7}"/>
                </a:ext>
              </a:extLst>
            </p:cNvPr>
            <p:cNvSpPr>
              <a:spLocks noChangeArrowheads="1"/>
            </p:cNvSpPr>
            <p:nvPr/>
          </p:nvSpPr>
          <p:spPr bwMode="auto">
            <a:xfrm>
              <a:off x="3984" y="1584"/>
              <a:ext cx="1248" cy="672"/>
            </a:xfrm>
            <a:prstGeom prst="wedgeRectCallout">
              <a:avLst>
                <a:gd name="adj1" fmla="val -93509"/>
                <a:gd name="adj2" fmla="val 150894"/>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spcBef>
                  <a:spcPct val="50000"/>
                </a:spcBef>
              </a:pPr>
              <a:r>
                <a:rPr lang="en-US" sz="2000" b="0">
                  <a:latin typeface="Tahoma" pitchFamily="34" charset="0"/>
                </a:rPr>
                <a:t>Inter-cluster distances are maximized</a:t>
              </a:r>
            </a:p>
          </p:txBody>
        </p:sp>
      </p:grpSp>
      <p:grpSp>
        <p:nvGrpSpPr>
          <p:cNvPr id="34" name="Group 36">
            <a:extLst>
              <a:ext uri="{FF2B5EF4-FFF2-40B4-BE49-F238E27FC236}">
                <a16:creationId xmlns:a16="http://schemas.microsoft.com/office/drawing/2014/main" id="{E68B400E-78B6-4035-8EF7-F6EE046FE6C2}"/>
              </a:ext>
            </a:extLst>
          </p:cNvPr>
          <p:cNvGrpSpPr>
            <a:grpSpLocks/>
          </p:cNvGrpSpPr>
          <p:nvPr/>
        </p:nvGrpSpPr>
        <p:grpSpPr bwMode="auto">
          <a:xfrm>
            <a:off x="4330504" y="4206875"/>
            <a:ext cx="3276600" cy="2286000"/>
            <a:chOff x="1824" y="2208"/>
            <a:chExt cx="2064" cy="1440"/>
          </a:xfrm>
        </p:grpSpPr>
        <p:sp>
          <p:nvSpPr>
            <p:cNvPr id="35" name="Oval 37">
              <a:extLst>
                <a:ext uri="{FF2B5EF4-FFF2-40B4-BE49-F238E27FC236}">
                  <a16:creationId xmlns:a16="http://schemas.microsoft.com/office/drawing/2014/main" id="{C7D9AC2A-C8F4-48C6-BDCF-652A38290BBC}"/>
                </a:ext>
              </a:extLst>
            </p:cNvPr>
            <p:cNvSpPr>
              <a:spLocks noChangeArrowheads="1"/>
            </p:cNvSpPr>
            <p:nvPr/>
          </p:nvSpPr>
          <p:spPr bwMode="auto">
            <a:xfrm>
              <a:off x="1824" y="2592"/>
              <a:ext cx="816" cy="720"/>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38">
              <a:extLst>
                <a:ext uri="{FF2B5EF4-FFF2-40B4-BE49-F238E27FC236}">
                  <a16:creationId xmlns:a16="http://schemas.microsoft.com/office/drawing/2014/main" id="{FD7C73AA-8E3A-4552-BC7C-92D2AC375775}"/>
                </a:ext>
              </a:extLst>
            </p:cNvPr>
            <p:cNvSpPr>
              <a:spLocks noChangeArrowheads="1"/>
            </p:cNvSpPr>
            <p:nvPr/>
          </p:nvSpPr>
          <p:spPr bwMode="auto">
            <a:xfrm>
              <a:off x="2928" y="2208"/>
              <a:ext cx="720" cy="624"/>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Oval 39">
              <a:extLst>
                <a:ext uri="{FF2B5EF4-FFF2-40B4-BE49-F238E27FC236}">
                  <a16:creationId xmlns:a16="http://schemas.microsoft.com/office/drawing/2014/main" id="{560417B9-AA4B-449E-B5E2-36662D26C8C7}"/>
                </a:ext>
              </a:extLst>
            </p:cNvPr>
            <p:cNvSpPr>
              <a:spLocks noChangeArrowheads="1"/>
            </p:cNvSpPr>
            <p:nvPr/>
          </p:nvSpPr>
          <p:spPr bwMode="auto">
            <a:xfrm>
              <a:off x="3216" y="3024"/>
              <a:ext cx="672" cy="624"/>
            </a:xfrm>
            <a:prstGeom prst="ellipse">
              <a:avLst/>
            </a:prstGeom>
            <a:noFill/>
            <a:ln w="25400"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8" name="Group 40">
            <a:extLst>
              <a:ext uri="{FF2B5EF4-FFF2-40B4-BE49-F238E27FC236}">
                <a16:creationId xmlns:a16="http://schemas.microsoft.com/office/drawing/2014/main" id="{A25B7FEC-B45F-452F-BBD9-6095B127DF94}"/>
              </a:ext>
            </a:extLst>
          </p:cNvPr>
          <p:cNvGrpSpPr>
            <a:grpSpLocks/>
          </p:cNvGrpSpPr>
          <p:nvPr/>
        </p:nvGrpSpPr>
        <p:grpSpPr bwMode="auto">
          <a:xfrm>
            <a:off x="2730304" y="3521075"/>
            <a:ext cx="2286000" cy="1676400"/>
            <a:chOff x="816" y="1776"/>
            <a:chExt cx="1440" cy="1056"/>
          </a:xfrm>
        </p:grpSpPr>
        <p:sp>
          <p:nvSpPr>
            <p:cNvPr id="39" name="Line 41">
              <a:extLst>
                <a:ext uri="{FF2B5EF4-FFF2-40B4-BE49-F238E27FC236}">
                  <a16:creationId xmlns:a16="http://schemas.microsoft.com/office/drawing/2014/main" id="{26419FEF-7BD3-4D6B-B8CC-4D137AFFF59B}"/>
                </a:ext>
              </a:extLst>
            </p:cNvPr>
            <p:cNvSpPr>
              <a:spLocks noChangeShapeType="1"/>
            </p:cNvSpPr>
            <p:nvPr/>
          </p:nvSpPr>
          <p:spPr bwMode="auto">
            <a:xfrm flipV="1">
              <a:off x="2064" y="2736"/>
              <a:ext cx="192" cy="96"/>
            </a:xfrm>
            <a:prstGeom prst="line">
              <a:avLst/>
            </a:prstGeom>
            <a:noFill/>
            <a:ln w="25400">
              <a:solidFill>
                <a:srgbClr val="CC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AutoShape 42">
              <a:extLst>
                <a:ext uri="{FF2B5EF4-FFF2-40B4-BE49-F238E27FC236}">
                  <a16:creationId xmlns:a16="http://schemas.microsoft.com/office/drawing/2014/main" id="{B2F2F87B-3E6C-4B4E-8D24-BC52EB6E125B}"/>
                </a:ext>
              </a:extLst>
            </p:cNvPr>
            <p:cNvSpPr>
              <a:spLocks noChangeArrowheads="1"/>
            </p:cNvSpPr>
            <p:nvPr/>
          </p:nvSpPr>
          <p:spPr bwMode="auto">
            <a:xfrm>
              <a:off x="816" y="1776"/>
              <a:ext cx="1248" cy="672"/>
            </a:xfrm>
            <a:prstGeom prst="wedgeRectCallout">
              <a:avLst>
                <a:gd name="adj1" fmla="val 56250"/>
                <a:gd name="adj2" fmla="val 92856"/>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spcBef>
                  <a:spcPct val="50000"/>
                </a:spcBef>
              </a:pPr>
              <a:r>
                <a:rPr lang="en-US" sz="2000" b="0">
                  <a:latin typeface="Tahoma" pitchFamily="34" charset="0"/>
                </a:rPr>
                <a:t>Intra-cluster distances are minimized</a:t>
              </a:r>
            </a:p>
          </p:txBody>
        </p:sp>
      </p:grpSp>
      <p:sp>
        <p:nvSpPr>
          <p:cNvPr id="43" name="Slide Number Placeholder 42">
            <a:extLst>
              <a:ext uri="{FF2B5EF4-FFF2-40B4-BE49-F238E27FC236}">
                <a16:creationId xmlns:a16="http://schemas.microsoft.com/office/drawing/2014/main" id="{74DB874C-8C16-4D92-AA0F-EB15C9FC129C}"/>
              </a:ext>
            </a:extLst>
          </p:cNvPr>
          <p:cNvSpPr>
            <a:spLocks noGrp="1"/>
          </p:cNvSpPr>
          <p:nvPr>
            <p:ph type="sldNum" sz="quarter" idx="12"/>
          </p:nvPr>
        </p:nvSpPr>
        <p:spPr/>
        <p:txBody>
          <a:bodyPr/>
          <a:lstStyle/>
          <a:p>
            <a:fld id="{4CC025FC-8595-493D-A46F-2FDFDC85D9BC}" type="slidenum">
              <a:rPr lang="en-US" smtClean="0"/>
              <a:t>5</a:t>
            </a:fld>
            <a:endParaRPr lang="en-US"/>
          </a:p>
        </p:txBody>
      </p:sp>
    </p:spTree>
    <p:custDataLst>
      <p:tags r:id="rId1"/>
    </p:custDataLst>
    <p:extLst>
      <p:ext uri="{BB962C8B-B14F-4D97-AF65-F5344CB8AC3E}">
        <p14:creationId xmlns:p14="http://schemas.microsoft.com/office/powerpoint/2010/main" val="283433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B3E7A4-E30D-456C-A61F-05F97A04DEF1}"/>
              </a:ext>
            </a:extLst>
          </p:cNvPr>
          <p:cNvSpPr>
            <a:spLocks noGrp="1"/>
          </p:cNvSpPr>
          <p:nvPr>
            <p:ph type="title"/>
          </p:nvPr>
        </p:nvSpPr>
        <p:spPr/>
        <p:txBody>
          <a:bodyPr>
            <a:normAutofit fontScale="90000"/>
          </a:bodyPr>
          <a:lstStyle/>
          <a:p>
            <a:r>
              <a:rPr lang="en-US" dirty="0"/>
              <a:t>Clustering Example – news.google.com</a:t>
            </a:r>
          </a:p>
        </p:txBody>
      </p:sp>
      <p:sp>
        <p:nvSpPr>
          <p:cNvPr id="4" name="Slide Number Placeholder 3">
            <a:extLst>
              <a:ext uri="{FF2B5EF4-FFF2-40B4-BE49-F238E27FC236}">
                <a16:creationId xmlns:a16="http://schemas.microsoft.com/office/drawing/2014/main" id="{1826C70D-E1FA-472F-81E4-ABF1A3DB951E}"/>
              </a:ext>
            </a:extLst>
          </p:cNvPr>
          <p:cNvSpPr>
            <a:spLocks noGrp="1"/>
          </p:cNvSpPr>
          <p:nvPr>
            <p:ph type="sldNum" sz="quarter" idx="12"/>
          </p:nvPr>
        </p:nvSpPr>
        <p:spPr/>
        <p:txBody>
          <a:bodyPr/>
          <a:lstStyle/>
          <a:p>
            <a:fld id="{4CC025FC-8595-493D-A46F-2FDFDC85D9BC}" type="slidenum">
              <a:rPr lang="en-US" smtClean="0"/>
              <a:t>6</a:t>
            </a:fld>
            <a:endParaRPr lang="en-US"/>
          </a:p>
        </p:txBody>
      </p:sp>
      <p:pic>
        <p:nvPicPr>
          <p:cNvPr id="6" name="Picture 5">
            <a:extLst>
              <a:ext uri="{FF2B5EF4-FFF2-40B4-BE49-F238E27FC236}">
                <a16:creationId xmlns:a16="http://schemas.microsoft.com/office/drawing/2014/main" id="{6A75EE03-38E1-4F80-81DA-0517AD5285A9}"/>
              </a:ext>
            </a:extLst>
          </p:cNvPr>
          <p:cNvPicPr>
            <a:picLocks noChangeAspect="1"/>
          </p:cNvPicPr>
          <p:nvPr/>
        </p:nvPicPr>
        <p:blipFill>
          <a:blip r:embed="rId2"/>
          <a:stretch>
            <a:fillRect/>
          </a:stretch>
        </p:blipFill>
        <p:spPr>
          <a:xfrm>
            <a:off x="1553029" y="986662"/>
            <a:ext cx="9085942" cy="5762030"/>
          </a:xfrm>
          <a:prstGeom prst="rect">
            <a:avLst/>
          </a:prstGeom>
        </p:spPr>
      </p:pic>
    </p:spTree>
    <p:extLst>
      <p:ext uri="{BB962C8B-B14F-4D97-AF65-F5344CB8AC3E}">
        <p14:creationId xmlns:p14="http://schemas.microsoft.com/office/powerpoint/2010/main" val="1855623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D4142-4C1C-4118-ACB5-A1D6240C2BDC}"/>
              </a:ext>
            </a:extLst>
          </p:cNvPr>
          <p:cNvSpPr>
            <a:spLocks noGrp="1"/>
          </p:cNvSpPr>
          <p:nvPr>
            <p:ph type="title"/>
          </p:nvPr>
        </p:nvSpPr>
        <p:spPr/>
        <p:txBody>
          <a:bodyPr>
            <a:normAutofit fontScale="90000"/>
          </a:bodyPr>
          <a:lstStyle/>
          <a:p>
            <a:r>
              <a:rPr lang="en-US" dirty="0"/>
              <a:t>Cluster formation methods</a:t>
            </a:r>
          </a:p>
        </p:txBody>
      </p:sp>
      <p:graphicFrame>
        <p:nvGraphicFramePr>
          <p:cNvPr id="6" name="Diagram 5">
            <a:extLst>
              <a:ext uri="{FF2B5EF4-FFF2-40B4-BE49-F238E27FC236}">
                <a16:creationId xmlns:a16="http://schemas.microsoft.com/office/drawing/2014/main" id="{D1E11B58-5384-44B0-9EE7-2E08CB23D5DC}"/>
              </a:ext>
            </a:extLst>
          </p:cNvPr>
          <p:cNvGraphicFramePr/>
          <p:nvPr/>
        </p:nvGraphicFramePr>
        <p:xfrm>
          <a:off x="401782" y="1392702"/>
          <a:ext cx="11388436" cy="51001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D4AECB63-A9EE-44F4-A205-55D21DEE3F14}"/>
              </a:ext>
            </a:extLst>
          </p:cNvPr>
          <p:cNvSpPr>
            <a:spLocks noGrp="1"/>
          </p:cNvSpPr>
          <p:nvPr>
            <p:ph type="sldNum" sz="quarter" idx="12"/>
          </p:nvPr>
        </p:nvSpPr>
        <p:spPr/>
        <p:txBody>
          <a:bodyPr/>
          <a:lstStyle/>
          <a:p>
            <a:fld id="{4CC025FC-8595-493D-A46F-2FDFDC85D9BC}" type="slidenum">
              <a:rPr lang="en-US" smtClean="0"/>
              <a:t>7</a:t>
            </a:fld>
            <a:endParaRPr lang="en-US"/>
          </a:p>
        </p:txBody>
      </p:sp>
    </p:spTree>
    <p:extLst>
      <p:ext uri="{BB962C8B-B14F-4D97-AF65-F5344CB8AC3E}">
        <p14:creationId xmlns:p14="http://schemas.microsoft.com/office/powerpoint/2010/main" val="105816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3954C9-CF2F-47DA-B821-9A77ED781918}"/>
              </a:ext>
            </a:extLst>
          </p:cNvPr>
          <p:cNvSpPr>
            <a:spLocks noGrp="1"/>
          </p:cNvSpPr>
          <p:nvPr>
            <p:ph type="sldNum" sz="quarter" idx="12"/>
          </p:nvPr>
        </p:nvSpPr>
        <p:spPr/>
        <p:txBody>
          <a:bodyPr/>
          <a:lstStyle/>
          <a:p>
            <a:fld id="{4CC025FC-8595-493D-A46F-2FDFDC85D9BC}" type="slidenum">
              <a:rPr lang="en-US" smtClean="0"/>
              <a:t>8</a:t>
            </a:fld>
            <a:endParaRPr lang="en-US"/>
          </a:p>
        </p:txBody>
      </p:sp>
      <p:sp>
        <p:nvSpPr>
          <p:cNvPr id="5" name="Title 1">
            <a:extLst>
              <a:ext uri="{FF2B5EF4-FFF2-40B4-BE49-F238E27FC236}">
                <a16:creationId xmlns:a16="http://schemas.microsoft.com/office/drawing/2014/main" id="{4E726254-398D-4FED-BE81-698F189238E2}"/>
              </a:ext>
            </a:extLst>
          </p:cNvPr>
          <p:cNvSpPr txBox="1">
            <a:spLocks/>
          </p:cNvSpPr>
          <p:nvPr/>
        </p:nvSpPr>
        <p:spPr>
          <a:xfrm>
            <a:off x="1025236" y="2603455"/>
            <a:ext cx="10141528" cy="1651090"/>
          </a:xfrm>
          <a:prstGeom prst="rect">
            <a:avLst/>
          </a:prstGeom>
        </p:spPr>
        <p:txBody>
          <a:bodyPr anchor="ctr">
            <a:noAutofit/>
          </a:bodyPr>
          <a:lstStyle>
            <a:lvl1pPr algn="l" defTabSz="914400" rtl="0" eaLnBrk="1" latinLnBrk="0" hangingPunct="1">
              <a:lnSpc>
                <a:spcPct val="90000"/>
              </a:lnSpc>
              <a:spcBef>
                <a:spcPct val="0"/>
              </a:spcBef>
              <a:buNone/>
              <a:defRPr sz="4000" b="0" kern="1200">
                <a:solidFill>
                  <a:schemeClr val="bg1"/>
                </a:solidFill>
                <a:effectLst>
                  <a:outerShdw blurRad="38100" dist="38100" dir="2700000" algn="tl">
                    <a:srgbClr val="000000">
                      <a:alpha val="43137"/>
                    </a:srgbClr>
                  </a:outerShdw>
                </a:effectLst>
                <a:latin typeface="Arial Rounded MT Bold" panose="020F0704030504030204" pitchFamily="34" charset="0"/>
                <a:ea typeface="Cambria" panose="02040503050406030204" pitchFamily="18" charset="0"/>
                <a:cs typeface="Aharoni" panose="02010803020104030203" pitchFamily="2" charset="-79"/>
              </a:defRPr>
            </a:lvl1pPr>
          </a:lstStyle>
          <a:p>
            <a:pPr algn="ctr"/>
            <a:r>
              <a:rPr lang="en-US" sz="5400" dirty="0">
                <a:solidFill>
                  <a:srgbClr val="4A8522"/>
                </a:solidFill>
              </a:rPr>
              <a:t>K-Means</a:t>
            </a:r>
          </a:p>
        </p:txBody>
      </p:sp>
    </p:spTree>
    <p:extLst>
      <p:ext uri="{BB962C8B-B14F-4D97-AF65-F5344CB8AC3E}">
        <p14:creationId xmlns:p14="http://schemas.microsoft.com/office/powerpoint/2010/main" val="632708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5FFFB-1B11-4C6C-8EB5-76E818BD3179}"/>
              </a:ext>
            </a:extLst>
          </p:cNvPr>
          <p:cNvSpPr>
            <a:spLocks noGrp="1"/>
          </p:cNvSpPr>
          <p:nvPr>
            <p:ph type="title"/>
          </p:nvPr>
        </p:nvSpPr>
        <p:spPr/>
        <p:txBody>
          <a:bodyPr>
            <a:normAutofit fontScale="90000"/>
          </a:bodyPr>
          <a:lstStyle/>
          <a:p>
            <a:r>
              <a:rPr lang="en-US" dirty="0"/>
              <a:t>Centroid based clusters</a:t>
            </a:r>
          </a:p>
        </p:txBody>
      </p:sp>
      <p:sp>
        <p:nvSpPr>
          <p:cNvPr id="3" name="Content Placeholder 2">
            <a:extLst>
              <a:ext uri="{FF2B5EF4-FFF2-40B4-BE49-F238E27FC236}">
                <a16:creationId xmlns:a16="http://schemas.microsoft.com/office/drawing/2014/main" id="{176BE755-04BB-4DC2-A044-2F5CB376DB75}"/>
              </a:ext>
            </a:extLst>
          </p:cNvPr>
          <p:cNvSpPr>
            <a:spLocks noGrp="1"/>
          </p:cNvSpPr>
          <p:nvPr>
            <p:ph idx="1"/>
          </p:nvPr>
        </p:nvSpPr>
        <p:spPr>
          <a:xfrm>
            <a:off x="401782" y="1343891"/>
            <a:ext cx="5694218" cy="4833072"/>
          </a:xfrm>
        </p:spPr>
        <p:txBody>
          <a:bodyPr>
            <a:normAutofit/>
          </a:bodyPr>
          <a:lstStyle/>
          <a:p>
            <a:r>
              <a:rPr lang="en-US" dirty="0"/>
              <a:t>An iterative clustering algorithm in which the clusters are formed by the closeness of data points to the centroid of clusters. Here , the cluster center i.e. centroid is formed such that the distance of data points is minimum with the center. </a:t>
            </a:r>
          </a:p>
        </p:txBody>
      </p:sp>
      <p:pic>
        <p:nvPicPr>
          <p:cNvPr id="5" name="Picture 4" descr="Fireworks in the sky&#10;&#10;Description automatically generated">
            <a:extLst>
              <a:ext uri="{FF2B5EF4-FFF2-40B4-BE49-F238E27FC236}">
                <a16:creationId xmlns:a16="http://schemas.microsoft.com/office/drawing/2014/main" id="{5939454B-E35F-4560-8D7F-94AEACEBAC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145" y="1410712"/>
            <a:ext cx="4887805" cy="4916141"/>
          </a:xfrm>
          <a:prstGeom prst="rect">
            <a:avLst/>
          </a:prstGeom>
        </p:spPr>
      </p:pic>
      <p:sp>
        <p:nvSpPr>
          <p:cNvPr id="7" name="Slide Number Placeholder 6">
            <a:extLst>
              <a:ext uri="{FF2B5EF4-FFF2-40B4-BE49-F238E27FC236}">
                <a16:creationId xmlns:a16="http://schemas.microsoft.com/office/drawing/2014/main" id="{51E480EE-4A4E-4C76-BB8A-26C2B8F8B6B4}"/>
              </a:ext>
            </a:extLst>
          </p:cNvPr>
          <p:cNvSpPr>
            <a:spLocks noGrp="1"/>
          </p:cNvSpPr>
          <p:nvPr>
            <p:ph type="sldNum" sz="quarter" idx="12"/>
          </p:nvPr>
        </p:nvSpPr>
        <p:spPr/>
        <p:txBody>
          <a:bodyPr/>
          <a:lstStyle/>
          <a:p>
            <a:fld id="{4CC025FC-8595-493D-A46F-2FDFDC85D9BC}" type="slidenum">
              <a:rPr lang="en-US" smtClean="0"/>
              <a:t>9</a:t>
            </a:fld>
            <a:endParaRPr lang="en-US"/>
          </a:p>
        </p:txBody>
      </p:sp>
    </p:spTree>
    <p:extLst>
      <p:ext uri="{BB962C8B-B14F-4D97-AF65-F5344CB8AC3E}">
        <p14:creationId xmlns:p14="http://schemas.microsoft.com/office/powerpoint/2010/main" val="917368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8FF8B-960D-4C1D-A57B-508F27FABEB5}"/>
              </a:ext>
            </a:extLst>
          </p:cNvPr>
          <p:cNvSpPr>
            <a:spLocks noGrp="1"/>
          </p:cNvSpPr>
          <p:nvPr>
            <p:ph type="title"/>
          </p:nvPr>
        </p:nvSpPr>
        <p:spPr/>
        <p:txBody>
          <a:bodyPr>
            <a:normAutofit fontScale="90000"/>
          </a:bodyPr>
          <a:lstStyle/>
          <a:p>
            <a:r>
              <a:rPr lang="en-US" dirty="0"/>
              <a:t>k-Means Clustering Algorithm</a:t>
            </a:r>
          </a:p>
        </p:txBody>
      </p:sp>
      <p:sp>
        <p:nvSpPr>
          <p:cNvPr id="3" name="Content Placeholder 2">
            <a:extLst>
              <a:ext uri="{FF2B5EF4-FFF2-40B4-BE49-F238E27FC236}">
                <a16:creationId xmlns:a16="http://schemas.microsoft.com/office/drawing/2014/main" id="{FE3870B9-5A57-4D0A-88D9-AC81778E8F77}"/>
              </a:ext>
            </a:extLst>
          </p:cNvPr>
          <p:cNvSpPr>
            <a:spLocks noGrp="1"/>
          </p:cNvSpPr>
          <p:nvPr>
            <p:ph idx="1"/>
          </p:nvPr>
        </p:nvSpPr>
        <p:spPr>
          <a:xfrm>
            <a:off x="401782" y="1223886"/>
            <a:ext cx="11388436" cy="4840533"/>
          </a:xfrm>
        </p:spPr>
        <p:txBody>
          <a:bodyPr>
            <a:noAutofit/>
          </a:bodyPr>
          <a:lstStyle/>
          <a:p>
            <a:pPr>
              <a:lnSpc>
                <a:spcPct val="75000"/>
              </a:lnSpc>
            </a:pPr>
            <a:r>
              <a:rPr lang="en-US" sz="3700" dirty="0"/>
              <a:t>An iterative algorithm that partitions the dataset according to their features into K number of predefined non- overlapping distinct clusters or subgroups.</a:t>
            </a:r>
          </a:p>
          <a:p>
            <a:pPr>
              <a:lnSpc>
                <a:spcPct val="75000"/>
              </a:lnSpc>
            </a:pPr>
            <a:r>
              <a:rPr lang="en-US" sz="3700" dirty="0"/>
              <a:t>It makes the data points of inter clusters as similar as possible and also tries to keep the clusters as far as possible.</a:t>
            </a:r>
          </a:p>
          <a:p>
            <a:pPr>
              <a:lnSpc>
                <a:spcPct val="75000"/>
              </a:lnSpc>
            </a:pPr>
            <a:r>
              <a:rPr lang="en-US" sz="3700" dirty="0"/>
              <a:t>It allocates the data points to a cluster if the sum of the squared distance between the cluster’s centroid and the data points is at a minimum where the cluster’s centroid is the arithmetic mean of the data points that are in the cluster.</a:t>
            </a:r>
          </a:p>
        </p:txBody>
      </p:sp>
      <p:sp>
        <p:nvSpPr>
          <p:cNvPr id="6" name="Slide Number Placeholder 5">
            <a:extLst>
              <a:ext uri="{FF2B5EF4-FFF2-40B4-BE49-F238E27FC236}">
                <a16:creationId xmlns:a16="http://schemas.microsoft.com/office/drawing/2014/main" id="{2B95089D-17DE-4306-AA75-2ADAB48808D1}"/>
              </a:ext>
            </a:extLst>
          </p:cNvPr>
          <p:cNvSpPr>
            <a:spLocks noGrp="1"/>
          </p:cNvSpPr>
          <p:nvPr>
            <p:ph type="sldNum" sz="quarter" idx="12"/>
          </p:nvPr>
        </p:nvSpPr>
        <p:spPr/>
        <p:txBody>
          <a:bodyPr/>
          <a:lstStyle/>
          <a:p>
            <a:fld id="{4CC025FC-8595-493D-A46F-2FDFDC85D9BC}" type="slidenum">
              <a:rPr lang="en-US" smtClean="0"/>
              <a:t>10</a:t>
            </a:fld>
            <a:endParaRPr lang="en-US"/>
          </a:p>
        </p:txBody>
      </p:sp>
    </p:spTree>
    <p:extLst>
      <p:ext uri="{BB962C8B-B14F-4D97-AF65-F5344CB8AC3E}">
        <p14:creationId xmlns:p14="http://schemas.microsoft.com/office/powerpoint/2010/main" val="1369662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72BF-CB81-4955-8F87-76FC908BA7F2}"/>
              </a:ext>
            </a:extLst>
          </p:cNvPr>
          <p:cNvSpPr>
            <a:spLocks noGrp="1"/>
          </p:cNvSpPr>
          <p:nvPr>
            <p:ph type="title"/>
          </p:nvPr>
        </p:nvSpPr>
        <p:spPr/>
        <p:txBody>
          <a:bodyPr>
            <a:normAutofit fontScale="90000"/>
          </a:bodyPr>
          <a:lstStyle/>
          <a:p>
            <a:r>
              <a:rPr lang="en-US" dirty="0"/>
              <a:t>Step 1: Initialization</a:t>
            </a:r>
          </a:p>
        </p:txBody>
      </p:sp>
      <p:sp>
        <p:nvSpPr>
          <p:cNvPr id="3" name="Content Placeholder 2">
            <a:extLst>
              <a:ext uri="{FF2B5EF4-FFF2-40B4-BE49-F238E27FC236}">
                <a16:creationId xmlns:a16="http://schemas.microsoft.com/office/drawing/2014/main" id="{DD2DE932-9D15-4BBD-B011-371F496C6B48}"/>
              </a:ext>
            </a:extLst>
          </p:cNvPr>
          <p:cNvSpPr>
            <a:spLocks noGrp="1"/>
          </p:cNvSpPr>
          <p:nvPr>
            <p:ph idx="1"/>
          </p:nvPr>
        </p:nvSpPr>
        <p:spPr>
          <a:xfrm>
            <a:off x="401782" y="1343891"/>
            <a:ext cx="5694218" cy="4833072"/>
          </a:xfrm>
        </p:spPr>
        <p:txBody>
          <a:bodyPr>
            <a:normAutofit/>
          </a:bodyPr>
          <a:lstStyle/>
          <a:p>
            <a:r>
              <a:rPr lang="en-US" sz="3200" dirty="0"/>
              <a:t>Initialize any random points called as the centroids of the cluster. While initializing you must take care that the centroids of the cluster must be less than the number of training data points. This algorithm is an iterative algorithm hence the next two steps are performed iteratively.</a:t>
            </a:r>
          </a:p>
        </p:txBody>
      </p:sp>
      <p:pic>
        <p:nvPicPr>
          <p:cNvPr id="5" name="Picture 4" descr="A close up of a map&#10;&#10;Description automatically generated">
            <a:extLst>
              <a:ext uri="{FF2B5EF4-FFF2-40B4-BE49-F238E27FC236}">
                <a16:creationId xmlns:a16="http://schemas.microsoft.com/office/drawing/2014/main" id="{E9DADD83-A7A0-438A-B75A-E50D7FC901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7200" y="1343891"/>
            <a:ext cx="5633550" cy="4833072"/>
          </a:xfrm>
          <a:prstGeom prst="rect">
            <a:avLst/>
          </a:prstGeom>
        </p:spPr>
      </p:pic>
      <p:sp>
        <p:nvSpPr>
          <p:cNvPr id="4" name="Slide Number Placeholder 3">
            <a:extLst>
              <a:ext uri="{FF2B5EF4-FFF2-40B4-BE49-F238E27FC236}">
                <a16:creationId xmlns:a16="http://schemas.microsoft.com/office/drawing/2014/main" id="{12E75EE6-6E80-4BD0-B95E-EC25EF8915D8}"/>
              </a:ext>
            </a:extLst>
          </p:cNvPr>
          <p:cNvSpPr>
            <a:spLocks noGrp="1"/>
          </p:cNvSpPr>
          <p:nvPr>
            <p:ph type="sldNum" sz="quarter" idx="12"/>
          </p:nvPr>
        </p:nvSpPr>
        <p:spPr/>
        <p:txBody>
          <a:bodyPr/>
          <a:lstStyle/>
          <a:p>
            <a:fld id="{4CC025FC-8595-493D-A46F-2FDFDC85D9BC}" type="slidenum">
              <a:rPr lang="en-US" smtClean="0"/>
              <a:t>11</a:t>
            </a:fld>
            <a:endParaRPr lang="en-US"/>
          </a:p>
        </p:txBody>
      </p:sp>
    </p:spTree>
    <p:extLst>
      <p:ext uri="{BB962C8B-B14F-4D97-AF65-F5344CB8AC3E}">
        <p14:creationId xmlns:p14="http://schemas.microsoft.com/office/powerpoint/2010/main" val="3977828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72BF-CB81-4955-8F87-76FC908BA7F2}"/>
              </a:ext>
            </a:extLst>
          </p:cNvPr>
          <p:cNvSpPr>
            <a:spLocks noGrp="1"/>
          </p:cNvSpPr>
          <p:nvPr>
            <p:ph type="title"/>
          </p:nvPr>
        </p:nvSpPr>
        <p:spPr/>
        <p:txBody>
          <a:bodyPr>
            <a:normAutofit fontScale="90000"/>
          </a:bodyPr>
          <a:lstStyle/>
          <a:p>
            <a:r>
              <a:rPr lang="en-US" dirty="0"/>
              <a:t>Step 2: Cluster Assignment</a:t>
            </a:r>
          </a:p>
        </p:txBody>
      </p:sp>
      <p:sp>
        <p:nvSpPr>
          <p:cNvPr id="3" name="Content Placeholder 2">
            <a:extLst>
              <a:ext uri="{FF2B5EF4-FFF2-40B4-BE49-F238E27FC236}">
                <a16:creationId xmlns:a16="http://schemas.microsoft.com/office/drawing/2014/main" id="{DD2DE932-9D15-4BBD-B011-371F496C6B48}"/>
              </a:ext>
            </a:extLst>
          </p:cNvPr>
          <p:cNvSpPr>
            <a:spLocks noGrp="1"/>
          </p:cNvSpPr>
          <p:nvPr>
            <p:ph idx="1"/>
          </p:nvPr>
        </p:nvSpPr>
        <p:spPr>
          <a:xfrm>
            <a:off x="401782" y="1343891"/>
            <a:ext cx="5694218" cy="4833072"/>
          </a:xfrm>
        </p:spPr>
        <p:txBody>
          <a:bodyPr>
            <a:normAutofit/>
          </a:bodyPr>
          <a:lstStyle/>
          <a:p>
            <a:r>
              <a:rPr lang="en-US" sz="3200" dirty="0"/>
              <a:t>After initialization, all data points are traversed and the distance between all the centroids and the data points are calculated. Now the clusters would be formed depending upon the minimum distance from the centroids. In this example, the data is divided into two clusters.</a:t>
            </a:r>
          </a:p>
        </p:txBody>
      </p:sp>
      <p:pic>
        <p:nvPicPr>
          <p:cNvPr id="6" name="Picture 5" descr="A close up of a logo&#10;&#10;Description automatically generated">
            <a:extLst>
              <a:ext uri="{FF2B5EF4-FFF2-40B4-BE49-F238E27FC236}">
                <a16:creationId xmlns:a16="http://schemas.microsoft.com/office/drawing/2014/main" id="{581CF929-17B6-4BD5-92FE-0603CFD5CD1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84011" y="3888471"/>
            <a:ext cx="3461358" cy="2969529"/>
          </a:xfrm>
          <a:prstGeom prst="rect">
            <a:avLst/>
          </a:prstGeom>
        </p:spPr>
      </p:pic>
      <p:pic>
        <p:nvPicPr>
          <p:cNvPr id="7" name="Picture 6" descr="A close up of a map&#10;&#10;Description automatically generated">
            <a:extLst>
              <a:ext uri="{FF2B5EF4-FFF2-40B4-BE49-F238E27FC236}">
                <a16:creationId xmlns:a16="http://schemas.microsoft.com/office/drawing/2014/main" id="{0946679D-3706-416E-9E23-AA00072997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250906"/>
            <a:ext cx="3170627" cy="2720109"/>
          </a:xfrm>
          <a:prstGeom prst="rect">
            <a:avLst/>
          </a:prstGeom>
        </p:spPr>
      </p:pic>
      <p:sp>
        <p:nvSpPr>
          <p:cNvPr id="9" name="Arrow: Bent 8">
            <a:extLst>
              <a:ext uri="{FF2B5EF4-FFF2-40B4-BE49-F238E27FC236}">
                <a16:creationId xmlns:a16="http://schemas.microsoft.com/office/drawing/2014/main" id="{281A888E-2EBE-4E55-BC02-C7A1172417DB}"/>
              </a:ext>
            </a:extLst>
          </p:cNvPr>
          <p:cNvSpPr/>
          <p:nvPr/>
        </p:nvSpPr>
        <p:spPr>
          <a:xfrm flipV="1">
            <a:off x="7076049" y="4251029"/>
            <a:ext cx="1575581" cy="164592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Slide Number Placeholder 4">
            <a:extLst>
              <a:ext uri="{FF2B5EF4-FFF2-40B4-BE49-F238E27FC236}">
                <a16:creationId xmlns:a16="http://schemas.microsoft.com/office/drawing/2014/main" id="{7D5A38AB-22DE-4A73-A486-CE76B3E8D9D1}"/>
              </a:ext>
            </a:extLst>
          </p:cNvPr>
          <p:cNvSpPr>
            <a:spLocks noGrp="1"/>
          </p:cNvSpPr>
          <p:nvPr>
            <p:ph type="sldNum" sz="quarter" idx="12"/>
          </p:nvPr>
        </p:nvSpPr>
        <p:spPr/>
        <p:txBody>
          <a:bodyPr/>
          <a:lstStyle/>
          <a:p>
            <a:fld id="{4CC025FC-8595-493D-A46F-2FDFDC85D9BC}" type="slidenum">
              <a:rPr lang="en-US" smtClean="0"/>
              <a:t>12</a:t>
            </a:fld>
            <a:endParaRPr lang="en-US"/>
          </a:p>
        </p:txBody>
      </p:sp>
    </p:spTree>
    <p:extLst>
      <p:ext uri="{BB962C8B-B14F-4D97-AF65-F5344CB8AC3E}">
        <p14:creationId xmlns:p14="http://schemas.microsoft.com/office/powerpoint/2010/main" val="3855162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95BF61F7-4E47-445F-B165-0CEBD7635957}"/>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84012" y="3888470"/>
            <a:ext cx="3461358" cy="2969530"/>
          </a:xfrm>
          <a:prstGeom prst="rect">
            <a:avLst/>
          </a:prstGeom>
        </p:spPr>
      </p:pic>
      <p:sp>
        <p:nvSpPr>
          <p:cNvPr id="2" name="Title 1">
            <a:extLst>
              <a:ext uri="{FF2B5EF4-FFF2-40B4-BE49-F238E27FC236}">
                <a16:creationId xmlns:a16="http://schemas.microsoft.com/office/drawing/2014/main" id="{752472BF-CB81-4955-8F87-76FC908BA7F2}"/>
              </a:ext>
            </a:extLst>
          </p:cNvPr>
          <p:cNvSpPr>
            <a:spLocks noGrp="1"/>
          </p:cNvSpPr>
          <p:nvPr>
            <p:ph type="title"/>
          </p:nvPr>
        </p:nvSpPr>
        <p:spPr/>
        <p:txBody>
          <a:bodyPr>
            <a:normAutofit fontScale="90000"/>
          </a:bodyPr>
          <a:lstStyle/>
          <a:p>
            <a:r>
              <a:rPr lang="en-US" dirty="0"/>
              <a:t>Step 3: Moving Centroid</a:t>
            </a:r>
          </a:p>
        </p:txBody>
      </p:sp>
      <p:sp>
        <p:nvSpPr>
          <p:cNvPr id="3" name="Content Placeholder 2">
            <a:extLst>
              <a:ext uri="{FF2B5EF4-FFF2-40B4-BE49-F238E27FC236}">
                <a16:creationId xmlns:a16="http://schemas.microsoft.com/office/drawing/2014/main" id="{DD2DE932-9D15-4BBD-B011-371F496C6B48}"/>
              </a:ext>
            </a:extLst>
          </p:cNvPr>
          <p:cNvSpPr>
            <a:spLocks noGrp="1"/>
          </p:cNvSpPr>
          <p:nvPr>
            <p:ph idx="1"/>
          </p:nvPr>
        </p:nvSpPr>
        <p:spPr>
          <a:xfrm>
            <a:off x="401782" y="1343891"/>
            <a:ext cx="5694218" cy="4833072"/>
          </a:xfrm>
        </p:spPr>
        <p:txBody>
          <a:bodyPr>
            <a:normAutofit/>
          </a:bodyPr>
          <a:lstStyle/>
          <a:p>
            <a:r>
              <a:rPr lang="en-US" dirty="0"/>
              <a:t>As the clusters formed in the above step are not optimized so we need to form optimized clusters. For this, we need to move the centroids iteratively to a new location. Take data points of one cluster, compute their average and then move the centroid of that cluster to this new location. Repeat the same step for all other clusters.</a:t>
            </a:r>
          </a:p>
        </p:txBody>
      </p:sp>
      <p:pic>
        <p:nvPicPr>
          <p:cNvPr id="8" name="Picture 7" descr="A close up of a logo&#10;&#10;Description automatically generated">
            <a:extLst>
              <a:ext uri="{FF2B5EF4-FFF2-40B4-BE49-F238E27FC236}">
                <a16:creationId xmlns:a16="http://schemas.microsoft.com/office/drawing/2014/main" id="{4097E7A8-3CDE-4432-B579-0F5637D4AA8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081932" y="1235008"/>
            <a:ext cx="3189160" cy="2736008"/>
          </a:xfrm>
          <a:prstGeom prst="rect">
            <a:avLst/>
          </a:prstGeom>
        </p:spPr>
      </p:pic>
      <p:sp>
        <p:nvSpPr>
          <p:cNvPr id="9" name="Arrow: Bent 8">
            <a:extLst>
              <a:ext uri="{FF2B5EF4-FFF2-40B4-BE49-F238E27FC236}">
                <a16:creationId xmlns:a16="http://schemas.microsoft.com/office/drawing/2014/main" id="{281A888E-2EBE-4E55-BC02-C7A1172417DB}"/>
              </a:ext>
            </a:extLst>
          </p:cNvPr>
          <p:cNvSpPr/>
          <p:nvPr/>
        </p:nvSpPr>
        <p:spPr>
          <a:xfrm flipV="1">
            <a:off x="7076049" y="4251029"/>
            <a:ext cx="1575581" cy="164592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5">
            <a:extLst>
              <a:ext uri="{FF2B5EF4-FFF2-40B4-BE49-F238E27FC236}">
                <a16:creationId xmlns:a16="http://schemas.microsoft.com/office/drawing/2014/main" id="{5F07DCB3-9B0C-4DB3-BF92-85917CA422F8}"/>
              </a:ext>
            </a:extLst>
          </p:cNvPr>
          <p:cNvSpPr>
            <a:spLocks noGrp="1"/>
          </p:cNvSpPr>
          <p:nvPr>
            <p:ph type="sldNum" sz="quarter" idx="12"/>
          </p:nvPr>
        </p:nvSpPr>
        <p:spPr/>
        <p:txBody>
          <a:bodyPr/>
          <a:lstStyle/>
          <a:p>
            <a:fld id="{4CC025FC-8595-493D-A46F-2FDFDC85D9BC}" type="slidenum">
              <a:rPr lang="en-US" smtClean="0"/>
              <a:t>13</a:t>
            </a:fld>
            <a:endParaRPr lang="en-US"/>
          </a:p>
        </p:txBody>
      </p:sp>
    </p:spTree>
    <p:extLst>
      <p:ext uri="{BB962C8B-B14F-4D97-AF65-F5344CB8AC3E}">
        <p14:creationId xmlns:p14="http://schemas.microsoft.com/office/powerpoint/2010/main" val="629098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72BF-CB81-4955-8F87-76FC908BA7F2}"/>
              </a:ext>
            </a:extLst>
          </p:cNvPr>
          <p:cNvSpPr>
            <a:spLocks noGrp="1"/>
          </p:cNvSpPr>
          <p:nvPr>
            <p:ph type="title"/>
          </p:nvPr>
        </p:nvSpPr>
        <p:spPr/>
        <p:txBody>
          <a:bodyPr>
            <a:normAutofit fontScale="90000"/>
          </a:bodyPr>
          <a:lstStyle/>
          <a:p>
            <a:r>
              <a:rPr lang="en-US" dirty="0"/>
              <a:t>Step 4: Optimization</a:t>
            </a:r>
          </a:p>
        </p:txBody>
      </p:sp>
      <p:sp>
        <p:nvSpPr>
          <p:cNvPr id="6" name="Content Placeholder 5">
            <a:extLst>
              <a:ext uri="{FF2B5EF4-FFF2-40B4-BE49-F238E27FC236}">
                <a16:creationId xmlns:a16="http://schemas.microsoft.com/office/drawing/2014/main" id="{3A8204BA-A0ED-4F8C-A068-70E778A07AB9}"/>
              </a:ext>
            </a:extLst>
          </p:cNvPr>
          <p:cNvSpPr>
            <a:spLocks noGrp="1"/>
          </p:cNvSpPr>
          <p:nvPr>
            <p:ph idx="1"/>
          </p:nvPr>
        </p:nvSpPr>
        <p:spPr/>
        <p:txBody>
          <a:bodyPr>
            <a:normAutofit/>
          </a:bodyPr>
          <a:lstStyle/>
          <a:p>
            <a:r>
              <a:rPr lang="en-US" sz="4000" dirty="0"/>
              <a:t>The steps 2 and 3 are done iteratively until the centroids stop moving i.e. they do not change their positions anymore and have become static. Once this is done the k- means algorithm is termed to be converged.</a:t>
            </a:r>
          </a:p>
          <a:p>
            <a:endParaRPr lang="en-US" sz="4000" dirty="0"/>
          </a:p>
        </p:txBody>
      </p:sp>
      <p:sp>
        <p:nvSpPr>
          <p:cNvPr id="5" name="Slide Number Placeholder 4">
            <a:extLst>
              <a:ext uri="{FF2B5EF4-FFF2-40B4-BE49-F238E27FC236}">
                <a16:creationId xmlns:a16="http://schemas.microsoft.com/office/drawing/2014/main" id="{DDB70EBB-FF3F-4600-9C19-1B697945D108}"/>
              </a:ext>
            </a:extLst>
          </p:cNvPr>
          <p:cNvSpPr>
            <a:spLocks noGrp="1"/>
          </p:cNvSpPr>
          <p:nvPr>
            <p:ph type="sldNum" sz="quarter" idx="12"/>
          </p:nvPr>
        </p:nvSpPr>
        <p:spPr/>
        <p:txBody>
          <a:bodyPr/>
          <a:lstStyle/>
          <a:p>
            <a:fld id="{4CC025FC-8595-493D-A46F-2FDFDC85D9BC}" type="slidenum">
              <a:rPr lang="en-US" smtClean="0"/>
              <a:t>14</a:t>
            </a:fld>
            <a:endParaRPr lang="en-US"/>
          </a:p>
        </p:txBody>
      </p:sp>
    </p:spTree>
    <p:extLst>
      <p:ext uri="{BB962C8B-B14F-4D97-AF65-F5344CB8AC3E}">
        <p14:creationId xmlns:p14="http://schemas.microsoft.com/office/powerpoint/2010/main" val="2753719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72BF-CB81-4955-8F87-76FC908BA7F2}"/>
              </a:ext>
            </a:extLst>
          </p:cNvPr>
          <p:cNvSpPr>
            <a:spLocks noGrp="1"/>
          </p:cNvSpPr>
          <p:nvPr>
            <p:ph type="title"/>
          </p:nvPr>
        </p:nvSpPr>
        <p:spPr/>
        <p:txBody>
          <a:bodyPr>
            <a:normAutofit fontScale="90000"/>
          </a:bodyPr>
          <a:lstStyle/>
          <a:p>
            <a:r>
              <a:rPr lang="en-US" dirty="0"/>
              <a:t>Step 5: Convergence</a:t>
            </a:r>
          </a:p>
        </p:txBody>
      </p:sp>
      <p:pic>
        <p:nvPicPr>
          <p:cNvPr id="6" name="Picture 5" descr="A picture containing different, food, holding, man&#10;&#10;Description automatically generated">
            <a:extLst>
              <a:ext uri="{FF2B5EF4-FFF2-40B4-BE49-F238E27FC236}">
                <a16:creationId xmlns:a16="http://schemas.microsoft.com/office/drawing/2014/main" id="{BFAC697A-C373-49D1-B2E3-201F439DDB9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317200" y="1352212"/>
            <a:ext cx="5633550" cy="4833072"/>
          </a:xfrm>
          <a:prstGeom prst="rect">
            <a:avLst/>
          </a:prstGeom>
        </p:spPr>
      </p:pic>
      <p:sp>
        <p:nvSpPr>
          <p:cNvPr id="3" name="Content Placeholder 2">
            <a:extLst>
              <a:ext uri="{FF2B5EF4-FFF2-40B4-BE49-F238E27FC236}">
                <a16:creationId xmlns:a16="http://schemas.microsoft.com/office/drawing/2014/main" id="{DD2DE932-9D15-4BBD-B011-371F496C6B48}"/>
              </a:ext>
            </a:extLst>
          </p:cNvPr>
          <p:cNvSpPr>
            <a:spLocks noGrp="1"/>
          </p:cNvSpPr>
          <p:nvPr>
            <p:ph idx="1"/>
          </p:nvPr>
        </p:nvSpPr>
        <p:spPr>
          <a:xfrm>
            <a:off x="401782" y="1343891"/>
            <a:ext cx="5694218" cy="4833072"/>
          </a:xfrm>
        </p:spPr>
        <p:txBody>
          <a:bodyPr>
            <a:normAutofit/>
          </a:bodyPr>
          <a:lstStyle/>
          <a:p>
            <a:r>
              <a:rPr lang="en-US" sz="3600" dirty="0"/>
              <a:t>Now this algorithm has converged and distinct clusters are formed and clearly visible. This algorithm can give different results depending on how the clusters were initialized in the first step.</a:t>
            </a:r>
          </a:p>
        </p:txBody>
      </p:sp>
      <p:sp>
        <p:nvSpPr>
          <p:cNvPr id="5" name="Slide Number Placeholder 4">
            <a:extLst>
              <a:ext uri="{FF2B5EF4-FFF2-40B4-BE49-F238E27FC236}">
                <a16:creationId xmlns:a16="http://schemas.microsoft.com/office/drawing/2014/main" id="{C938B0D6-732E-400B-8A24-CCDED4506225}"/>
              </a:ext>
            </a:extLst>
          </p:cNvPr>
          <p:cNvSpPr>
            <a:spLocks noGrp="1"/>
          </p:cNvSpPr>
          <p:nvPr>
            <p:ph type="sldNum" sz="quarter" idx="12"/>
          </p:nvPr>
        </p:nvSpPr>
        <p:spPr/>
        <p:txBody>
          <a:bodyPr/>
          <a:lstStyle/>
          <a:p>
            <a:fld id="{4CC025FC-8595-493D-A46F-2FDFDC85D9BC}" type="slidenum">
              <a:rPr lang="en-US" smtClean="0"/>
              <a:t>15</a:t>
            </a:fld>
            <a:endParaRPr lang="en-US"/>
          </a:p>
        </p:txBody>
      </p:sp>
    </p:spTree>
    <p:extLst>
      <p:ext uri="{BB962C8B-B14F-4D97-AF65-F5344CB8AC3E}">
        <p14:creationId xmlns:p14="http://schemas.microsoft.com/office/powerpoint/2010/main" val="3450143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F8FD-32EE-47D1-BD38-F55D79A5E8D5}"/>
              </a:ext>
            </a:extLst>
          </p:cNvPr>
          <p:cNvSpPr>
            <a:spLocks noGrp="1"/>
          </p:cNvSpPr>
          <p:nvPr>
            <p:ph type="title"/>
          </p:nvPr>
        </p:nvSpPr>
        <p:spPr/>
        <p:txBody>
          <a:bodyPr>
            <a:normAutofit fontScale="90000"/>
          </a:bodyPr>
          <a:lstStyle/>
          <a:p>
            <a:r>
              <a:rPr lang="en-US" dirty="0"/>
              <a:t>Euclidean Distance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02DD4A-C72E-4528-B83C-EABCD3B86457}"/>
                  </a:ext>
                </a:extLst>
              </p:cNvPr>
              <p:cNvSpPr>
                <a:spLocks noGrp="1"/>
              </p:cNvSpPr>
              <p:nvPr>
                <p:ph idx="1"/>
              </p:nvPr>
            </p:nvSpPr>
            <p:spPr>
              <a:xfrm>
                <a:off x="401782" y="1343891"/>
                <a:ext cx="5365972" cy="4833072"/>
              </a:xfrm>
            </p:spPr>
            <p:txBody>
              <a:bodyPr>
                <a:normAutofit/>
              </a:bodyPr>
              <a:lstStyle/>
              <a:p>
                <a:r>
                  <a:rPr lang="en-US" dirty="0"/>
                  <a:t>A distance measure between a pair of samples </a:t>
                </a:r>
                <a:r>
                  <a:rPr lang="en-US" b="1" i="1" dirty="0">
                    <a:solidFill>
                      <a:srgbClr val="FF0000"/>
                    </a:solidFill>
                  </a:rPr>
                  <a:t>p</a:t>
                </a:r>
                <a:r>
                  <a:rPr lang="en-US" dirty="0"/>
                  <a:t> and </a:t>
                </a:r>
                <a:r>
                  <a:rPr lang="en-US" b="1" i="1" dirty="0">
                    <a:solidFill>
                      <a:srgbClr val="FF0000"/>
                    </a:solidFill>
                  </a:rPr>
                  <a:t>q</a:t>
                </a:r>
                <a:r>
                  <a:rPr lang="en-US" dirty="0"/>
                  <a:t> in an n-dimensional feature space:</a:t>
                </a:r>
              </a:p>
              <a:p>
                <a:endParaRPr lang="en-US" dirty="0"/>
              </a:p>
              <a:p>
                <a:pPr marL="0" indent="0">
                  <a:buNone/>
                </a:pPr>
                <a14:m>
                  <m:oMathPara xmlns:m="http://schemas.openxmlformats.org/officeDocument/2006/math">
                    <m:oMathParaPr>
                      <m:jc m:val="centerGroup"/>
                    </m:oMathParaPr>
                    <m:oMath xmlns:m="http://schemas.openxmlformats.org/officeDocument/2006/math">
                      <m:rad>
                        <m:radPr>
                          <m:degHide m:val="on"/>
                          <m:ctrlPr>
                            <a:rPr lang="en-US" i="1" smtClean="0">
                              <a:latin typeface="Cambria Math" panose="02040503050406030204" pitchFamily="18" charset="0"/>
                            </a:rPr>
                          </m:ctrlPr>
                        </m:radPr>
                        <m:deg/>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e>
                          </m:nary>
                        </m:e>
                      </m:rad>
                    </m:oMath>
                  </m:oMathPara>
                </a14:m>
                <a:endParaRPr lang="en-US" dirty="0"/>
              </a:p>
              <a:p>
                <a:pPr marL="0" indent="0">
                  <a:buNone/>
                </a:pP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002DD4A-C72E-4528-B83C-EABCD3B86457}"/>
                  </a:ext>
                </a:extLst>
              </p:cNvPr>
              <p:cNvSpPr>
                <a:spLocks noGrp="1" noRot="1" noChangeAspect="1" noMove="1" noResize="1" noEditPoints="1" noAdjustHandles="1" noChangeArrowheads="1" noChangeShapeType="1" noTextEdit="1"/>
              </p:cNvSpPr>
              <p:nvPr>
                <p:ph idx="1"/>
              </p:nvPr>
            </p:nvSpPr>
            <p:spPr>
              <a:xfrm>
                <a:off x="401782" y="1343891"/>
                <a:ext cx="5365972" cy="4833072"/>
              </a:xfrm>
              <a:blipFill>
                <a:blip r:embed="rId4"/>
                <a:stretch>
                  <a:fillRect l="-2045" t="-2018"/>
                </a:stretch>
              </a:blipFill>
            </p:spPr>
            <p:txBody>
              <a:bodyPr/>
              <a:lstStyle/>
              <a:p>
                <a:r>
                  <a:rPr lang="en-US">
                    <a:noFill/>
                  </a:rPr>
                  <a:t> </a:t>
                </a:r>
              </a:p>
            </p:txBody>
          </p:sp>
        </mc:Fallback>
      </mc:AlternateContent>
      <p:pic>
        <p:nvPicPr>
          <p:cNvPr id="7" name="Picture 6" descr="A picture containing object, clock, man, baseball&#10;&#10;Description automatically generated">
            <a:extLst>
              <a:ext uri="{FF2B5EF4-FFF2-40B4-BE49-F238E27FC236}">
                <a16:creationId xmlns:a16="http://schemas.microsoft.com/office/drawing/2014/main" id="{7F45ED17-CB38-4E13-9E3E-1DC7F76E78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42026" y="3102438"/>
            <a:ext cx="3779082" cy="3433682"/>
          </a:xfrm>
          <a:prstGeom prst="rect">
            <a:avLst/>
          </a:prstGeom>
        </p:spPr>
      </p:pic>
      <p:sp>
        <p:nvSpPr>
          <p:cNvPr id="8" name="Rectangle 7">
            <a:extLst>
              <a:ext uri="{FF2B5EF4-FFF2-40B4-BE49-F238E27FC236}">
                <a16:creationId xmlns:a16="http://schemas.microsoft.com/office/drawing/2014/main" id="{EE3ACABC-203F-4EB6-A134-BE9F48E0DDA4}"/>
              </a:ext>
            </a:extLst>
          </p:cNvPr>
          <p:cNvSpPr/>
          <p:nvPr/>
        </p:nvSpPr>
        <p:spPr>
          <a:xfrm>
            <a:off x="6096000" y="1229299"/>
            <a:ext cx="5694218" cy="1569660"/>
          </a:xfrm>
          <a:prstGeom prst="rect">
            <a:avLst/>
          </a:prstGeom>
        </p:spPr>
        <p:txBody>
          <a:bodyPr wrap="square">
            <a:spAutoFit/>
          </a:bodyPr>
          <a:lstStyle/>
          <a:p>
            <a:r>
              <a:rPr lang="en-US" sz="3200" dirty="0"/>
              <a:t>For example, picture it as a “straight, connecting” line in a 2D feature space:</a:t>
            </a:r>
          </a:p>
        </p:txBody>
      </p:sp>
      <p:sp>
        <p:nvSpPr>
          <p:cNvPr id="6" name="Slide Number Placeholder 5">
            <a:extLst>
              <a:ext uri="{FF2B5EF4-FFF2-40B4-BE49-F238E27FC236}">
                <a16:creationId xmlns:a16="http://schemas.microsoft.com/office/drawing/2014/main" id="{928B853C-B656-45E7-B90F-33BDEBE8541D}"/>
              </a:ext>
            </a:extLst>
          </p:cNvPr>
          <p:cNvSpPr>
            <a:spLocks noGrp="1"/>
          </p:cNvSpPr>
          <p:nvPr>
            <p:ph type="sldNum" sz="quarter" idx="12"/>
          </p:nvPr>
        </p:nvSpPr>
        <p:spPr/>
        <p:txBody>
          <a:bodyPr/>
          <a:lstStyle/>
          <a:p>
            <a:fld id="{4CC025FC-8595-493D-A46F-2FDFDC85D9BC}" type="slidenum">
              <a:rPr lang="en-US" smtClean="0"/>
              <a:t>16</a:t>
            </a:fld>
            <a:endParaRPr lang="en-US"/>
          </a:p>
        </p:txBody>
      </p:sp>
    </p:spTree>
    <p:extLst>
      <p:ext uri="{BB962C8B-B14F-4D97-AF65-F5344CB8AC3E}">
        <p14:creationId xmlns:p14="http://schemas.microsoft.com/office/powerpoint/2010/main" val="247653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1: Initialization</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8" y="1519816"/>
          <a:ext cx="1890159" cy="2743200"/>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S#</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708003762"/>
                  </a:ext>
                </a:extLst>
              </a:tr>
            </a:tbl>
          </a:graphicData>
        </a:graphic>
      </p:graphicFrame>
      <p:pic>
        <p:nvPicPr>
          <p:cNvPr id="9" name="Picture 8">
            <a:extLst>
              <a:ext uri="{FF2B5EF4-FFF2-40B4-BE49-F238E27FC236}">
                <a16:creationId xmlns:a16="http://schemas.microsoft.com/office/drawing/2014/main" id="{412472FB-553E-41DD-99C4-4E870472922A}"/>
              </a:ext>
            </a:extLst>
          </p:cNvPr>
          <p:cNvPicPr>
            <a:picLocks noChangeAspect="1"/>
          </p:cNvPicPr>
          <p:nvPr/>
        </p:nvPicPr>
        <p:blipFill>
          <a:blip r:embed="rId2"/>
          <a:stretch>
            <a:fillRect/>
          </a:stretch>
        </p:blipFill>
        <p:spPr>
          <a:xfrm>
            <a:off x="7211725" y="1519816"/>
            <a:ext cx="4578493" cy="2743438"/>
          </a:xfrm>
          <a:prstGeom prst="rect">
            <a:avLst/>
          </a:prstGeom>
        </p:spPr>
      </p:pic>
      <p:sp>
        <p:nvSpPr>
          <p:cNvPr id="6" name="Slide Number Placeholder 5">
            <a:extLst>
              <a:ext uri="{FF2B5EF4-FFF2-40B4-BE49-F238E27FC236}">
                <a16:creationId xmlns:a16="http://schemas.microsoft.com/office/drawing/2014/main" id="{6C6C3717-FAE5-4791-B4B9-80B313E9C83C}"/>
              </a:ext>
            </a:extLst>
          </p:cNvPr>
          <p:cNvSpPr>
            <a:spLocks noGrp="1"/>
          </p:cNvSpPr>
          <p:nvPr>
            <p:ph type="sldNum" sz="quarter" idx="12"/>
          </p:nvPr>
        </p:nvSpPr>
        <p:spPr/>
        <p:txBody>
          <a:bodyPr/>
          <a:lstStyle/>
          <a:p>
            <a:fld id="{4CC025FC-8595-493D-A46F-2FDFDC85D9BC}" type="slidenum">
              <a:rPr lang="en-US" smtClean="0"/>
              <a:t>17</a:t>
            </a:fld>
            <a:endParaRPr lang="en-US"/>
          </a:p>
        </p:txBody>
      </p:sp>
    </p:spTree>
    <p:extLst>
      <p:ext uri="{BB962C8B-B14F-4D97-AF65-F5344CB8AC3E}">
        <p14:creationId xmlns:p14="http://schemas.microsoft.com/office/powerpoint/2010/main" val="3765058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CFD56A-C4F8-4F7A-8731-44A8E2A1E6F4}"/>
              </a:ext>
            </a:extLst>
          </p:cNvPr>
          <p:cNvPicPr>
            <a:picLocks noChangeAspect="1"/>
          </p:cNvPicPr>
          <p:nvPr/>
        </p:nvPicPr>
        <p:blipFill>
          <a:blip r:embed="rId2"/>
          <a:stretch>
            <a:fillRect/>
          </a:stretch>
        </p:blipFill>
        <p:spPr>
          <a:xfrm>
            <a:off x="7205629" y="1513600"/>
            <a:ext cx="4584589" cy="2755631"/>
          </a:xfrm>
          <a:prstGeom prst="rect">
            <a:avLst/>
          </a:prstGeom>
        </p:spPr>
      </p:pic>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2: Cluster Assignment</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8" y="1519816"/>
          <a:ext cx="1890159" cy="2743200"/>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extLst>
                  <p:ext uri="{D42A27DB-BD31-4B8C-83A1-F6EECF244321}">
                    <p14:modId xmlns:p14="http://schemas.microsoft.com/office/powerpoint/2010/main" val="2534972613"/>
                  </p:ext>
                </p:extLst>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3677">
                    <a:tc>
                      <a:txBody>
                        <a:bodyPr/>
                        <a:lstStyle/>
                        <a:p>
                          <a:endParaRPr lang="en-US"/>
                        </a:p>
                      </a:txBody>
                      <a:tcPr anchor="b">
                        <a:blipFill>
                          <a:blip r:embed="rId5"/>
                          <a:stretch>
                            <a:fillRect l="-1923" t="-106494" r="-202885" b="-128571"/>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4439">
                    <a:tc>
                      <a:txBody>
                        <a:bodyPr/>
                        <a:lstStyle/>
                        <a:p>
                          <a:endParaRPr lang="en-US"/>
                        </a:p>
                      </a:txBody>
                      <a:tcPr anchor="b">
                        <a:blipFill>
                          <a:blip r:embed="rId5"/>
                          <a:stretch>
                            <a:fillRect l="-1923" t="-209211" r="-202885" b="-30263"/>
                          </a:stretch>
                        </a:blipFill>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B24EB7AE-5F0F-41C5-91A5-CE9412E2ED01}"/>
                  </a:ext>
                </a:extLst>
              </p:cNvPr>
              <p:cNvSpPr/>
              <p:nvPr/>
            </p:nvSpPr>
            <p:spPr>
              <a:xfrm>
                <a:off x="2743201" y="1339211"/>
                <a:ext cx="2728686" cy="4115166"/>
              </a:xfrm>
              <a:prstGeom prst="rect">
                <a:avLst/>
              </a:prstGeom>
            </p:spPr>
            <p:txBody>
              <a:bodyPr wrap="square">
                <a:spAutoFit/>
              </a:bodyPr>
              <a:lstStyle/>
              <a:p>
                <a:r>
                  <a:rPr lang="en-US" i="1" dirty="0">
                    <a:latin typeface="Cambria Math" panose="02040503050406030204" pitchFamily="18" charset="0"/>
                  </a:rPr>
                  <a:t>Consider:</a:t>
                </a:r>
              </a:p>
              <a:p>
                <a:r>
                  <a:rPr lang="en-US" i="1" dirty="0">
                    <a:latin typeface="Cambria Math" panose="02040503050406030204" pitchFamily="18" charset="0"/>
                  </a:rPr>
                  <a:t>q(1, 1)</a:t>
                </a:r>
              </a:p>
              <a:p>
                <a:r>
                  <a:rPr lang="en-US" i="1" dirty="0">
                    <a:latin typeface="Cambria Math" panose="02040503050406030204" pitchFamily="18" charset="0"/>
                  </a:rPr>
                  <a:t>p(1,0)</a:t>
                </a:r>
              </a:p>
              <a:p>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ad>
                        <m:radPr>
                          <m:degHide m:val="on"/>
                          <m:ctrlPr>
                            <a:rPr lang="en-US" i="1" smtClean="0">
                              <a:latin typeface="Cambria Math" panose="02040503050406030204" pitchFamily="18" charset="0"/>
                            </a:rPr>
                          </m:ctrlPr>
                        </m:radPr>
                        <m:deg/>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e>
                      </m:rad>
                    </m:oMath>
                  </m:oMathPara>
                </a14:m>
                <a:endParaRPr lang="en-US" dirty="0"/>
              </a:p>
              <a:p>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ad>
                        <m:radPr>
                          <m:degHide m:val="on"/>
                          <m:ctrlPr>
                            <a:rPr lang="en-US" i="1" smtClean="0">
                              <a:latin typeface="Cambria Math" panose="02040503050406030204" pitchFamily="18" charset="0"/>
                            </a:rPr>
                          </m:ctrlPr>
                        </m:radPr>
                        <m:deg/>
                        <m:e>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𝑥</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𝑥</m:t>
                                      </m:r>
                                      <m:r>
                                        <a:rPr lang="en-US" b="0" i="1" smtClean="0">
                                          <a:latin typeface="Cambria Math" panose="02040503050406030204" pitchFamily="18" charset="0"/>
                                        </a:rPr>
                                        <m:t>1</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𝑥</m:t>
                                      </m:r>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𝑥</m:t>
                                      </m:r>
                                      <m:r>
                                        <a:rPr lang="en-US" b="0" i="1" smtClean="0">
                                          <a:latin typeface="Cambria Math" panose="02040503050406030204" pitchFamily="18" charset="0"/>
                                        </a:rPr>
                                        <m:t>2</m:t>
                                      </m:r>
                                    </m:sub>
                                  </m:sSub>
                                </m:e>
                              </m:d>
                            </m:e>
                            <m:sup>
                              <m:r>
                                <a:rPr lang="en-US" b="0" i="1" smtClean="0">
                                  <a:latin typeface="Cambria Math" panose="02040503050406030204" pitchFamily="18" charset="0"/>
                                </a:rPr>
                                <m:t>2</m:t>
                              </m:r>
                            </m:sup>
                          </m:sSup>
                        </m:e>
                      </m:rad>
                    </m:oMath>
                  </m:oMathPara>
                </a14:m>
                <a:endParaRPr lang="en-US" dirty="0"/>
              </a:p>
              <a:p>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1</m:t>
                                  </m:r>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0</m:t>
                                  </m:r>
                                </m:e>
                              </m:d>
                            </m:e>
                            <m:sup>
                              <m:r>
                                <a:rPr lang="en-US" i="1">
                                  <a:latin typeface="Cambria Math" panose="02040503050406030204" pitchFamily="18" charset="0"/>
                                </a:rPr>
                                <m:t>2</m:t>
                              </m:r>
                            </m:sup>
                          </m:sSup>
                        </m:e>
                      </m:rad>
                    </m:oMath>
                  </m:oMathPara>
                </a14:m>
                <a:endParaRPr lang="en-US" dirty="0"/>
              </a:p>
              <a:p>
                <a:endParaRPr lang="en-US" dirty="0"/>
              </a:p>
              <a:p>
                <a:pPr/>
                <a14:m>
                  <m:oMathPara xmlns:m="http://schemas.openxmlformats.org/officeDocument/2006/math">
                    <m:oMathParaPr>
                      <m:jc m:val="left"/>
                    </m:oMathParaPr>
                    <m:oMath xmlns:m="http://schemas.openxmlformats.org/officeDocument/2006/math">
                      <m:rad>
                        <m:radPr>
                          <m:degHide m:val="on"/>
                          <m:ctrlPr>
                            <a:rPr lang="en-US" i="1">
                              <a:latin typeface="Cambria Math" panose="02040503050406030204" pitchFamily="18" charset="0"/>
                            </a:rPr>
                          </m:ctrlPr>
                        </m:radPr>
                        <m:deg/>
                        <m:e>
                          <m:r>
                            <a:rPr lang="en-US" b="0" i="1" smtClean="0">
                              <a:latin typeface="Cambria Math" panose="02040503050406030204" pitchFamily="18" charset="0"/>
                            </a:rPr>
                            <m:t>1</m:t>
                          </m:r>
                        </m:e>
                      </m:rad>
                      <m:r>
                        <a:rPr lang="en-US" b="0" i="1" smtClean="0">
                          <a:latin typeface="Cambria Math" panose="02040503050406030204" pitchFamily="18" charset="0"/>
                        </a:rPr>
                        <m:t>=1</m:t>
                      </m:r>
                    </m:oMath>
                  </m:oMathPara>
                </a14:m>
                <a:endParaRPr lang="en-US" dirty="0"/>
              </a:p>
            </p:txBody>
          </p:sp>
        </mc:Choice>
        <mc:Fallback xmlns="">
          <p:sp>
            <p:nvSpPr>
              <p:cNvPr id="7" name="Rectangle 6">
                <a:extLst>
                  <a:ext uri="{FF2B5EF4-FFF2-40B4-BE49-F238E27FC236}">
                    <a16:creationId xmlns:a16="http://schemas.microsoft.com/office/drawing/2014/main" id="{B24EB7AE-5F0F-41C5-91A5-CE9412E2ED01}"/>
                  </a:ext>
                </a:extLst>
              </p:cNvPr>
              <p:cNvSpPr>
                <a:spLocks noRot="1" noChangeAspect="1" noMove="1" noResize="1" noEditPoints="1" noAdjustHandles="1" noChangeArrowheads="1" noChangeShapeType="1" noTextEdit="1"/>
              </p:cNvSpPr>
              <p:nvPr/>
            </p:nvSpPr>
            <p:spPr>
              <a:xfrm>
                <a:off x="2743201" y="1339211"/>
                <a:ext cx="2728686" cy="4115166"/>
              </a:xfrm>
              <a:prstGeom prst="rect">
                <a:avLst/>
              </a:prstGeom>
              <a:blipFill>
                <a:blip r:embed="rId6"/>
                <a:stretch>
                  <a:fillRect l="-1786" t="-1037" r="-10714"/>
                </a:stretch>
              </a:blipFill>
            </p:spPr>
            <p:txBody>
              <a:bodyPr/>
              <a:lstStyle/>
              <a:p>
                <a:r>
                  <a:rPr lang="en-US">
                    <a:noFill/>
                  </a:rPr>
                  <a:t> </a:t>
                </a:r>
              </a:p>
            </p:txBody>
          </p:sp>
        </mc:Fallback>
      </mc:AlternateContent>
      <p:sp>
        <p:nvSpPr>
          <p:cNvPr id="8" name="Slide Number Placeholder 7">
            <a:extLst>
              <a:ext uri="{FF2B5EF4-FFF2-40B4-BE49-F238E27FC236}">
                <a16:creationId xmlns:a16="http://schemas.microsoft.com/office/drawing/2014/main" id="{BCA0D08E-92AE-465D-9BD2-2780FF0247CD}"/>
              </a:ext>
            </a:extLst>
          </p:cNvPr>
          <p:cNvSpPr>
            <a:spLocks noGrp="1"/>
          </p:cNvSpPr>
          <p:nvPr>
            <p:ph type="sldNum" sz="quarter" idx="12"/>
          </p:nvPr>
        </p:nvSpPr>
        <p:spPr/>
        <p:txBody>
          <a:bodyPr/>
          <a:lstStyle/>
          <a:p>
            <a:fld id="{4CC025FC-8595-493D-A46F-2FDFDC85D9BC}" type="slidenum">
              <a:rPr lang="en-US" smtClean="0"/>
              <a:t>18</a:t>
            </a:fld>
            <a:endParaRPr lang="en-US"/>
          </a:p>
        </p:txBody>
      </p:sp>
    </p:spTree>
    <p:extLst>
      <p:ext uri="{BB962C8B-B14F-4D97-AF65-F5344CB8AC3E}">
        <p14:creationId xmlns:p14="http://schemas.microsoft.com/office/powerpoint/2010/main" val="1447152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CFD56A-C4F8-4F7A-8731-44A8E2A1E6F4}"/>
              </a:ext>
            </a:extLst>
          </p:cNvPr>
          <p:cNvPicPr>
            <a:picLocks noChangeAspect="1"/>
          </p:cNvPicPr>
          <p:nvPr/>
        </p:nvPicPr>
        <p:blipFill>
          <a:blip r:embed="rId2"/>
          <a:stretch>
            <a:fillRect/>
          </a:stretch>
        </p:blipFill>
        <p:spPr>
          <a:xfrm>
            <a:off x="7205629" y="1513600"/>
            <a:ext cx="4584589" cy="2755631"/>
          </a:xfrm>
          <a:prstGeom prst="rect">
            <a:avLst/>
          </a:prstGeom>
        </p:spPr>
      </p:pic>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2: Cluster Assignment</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8" y="1519816"/>
          <a:ext cx="3058875" cy="2743200"/>
        </p:xfrm>
        <a:graphic>
          <a:graphicData uri="http://schemas.openxmlformats.org/drawingml/2006/table">
            <a:tbl>
              <a:tblPr firstRow="1" bandRow="1">
                <a:tableStyleId>{5C22544A-7EE6-4342-B048-85BDC9FD1C3A}</a:tableStyleId>
              </a:tblPr>
              <a:tblGrid>
                <a:gridCol w="611775">
                  <a:extLst>
                    <a:ext uri="{9D8B030D-6E8A-4147-A177-3AD203B41FA5}">
                      <a16:colId xmlns:a16="http://schemas.microsoft.com/office/drawing/2014/main" val="1426228962"/>
                    </a:ext>
                  </a:extLst>
                </a:gridCol>
                <a:gridCol w="611775">
                  <a:extLst>
                    <a:ext uri="{9D8B030D-6E8A-4147-A177-3AD203B41FA5}">
                      <a16:colId xmlns:a16="http://schemas.microsoft.com/office/drawing/2014/main" val="1903537073"/>
                    </a:ext>
                  </a:extLst>
                </a:gridCol>
                <a:gridCol w="611775">
                  <a:extLst>
                    <a:ext uri="{9D8B030D-6E8A-4147-A177-3AD203B41FA5}">
                      <a16:colId xmlns:a16="http://schemas.microsoft.com/office/drawing/2014/main" val="3532606374"/>
                    </a:ext>
                  </a:extLst>
                </a:gridCol>
                <a:gridCol w="611775">
                  <a:extLst>
                    <a:ext uri="{9D8B030D-6E8A-4147-A177-3AD203B41FA5}">
                      <a16:colId xmlns:a16="http://schemas.microsoft.com/office/drawing/2014/main" val="898962947"/>
                    </a:ext>
                  </a:extLst>
                </a:gridCol>
                <a:gridCol w="611775">
                  <a:extLst>
                    <a:ext uri="{9D8B030D-6E8A-4147-A177-3AD203B41FA5}">
                      <a16:colId xmlns:a16="http://schemas.microsoft.com/office/drawing/2014/main" val="3232601046"/>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2.2</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3.2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2.8</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4.5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3677">
                    <a:tc>
                      <a:txBody>
                        <a:bodyPr/>
                        <a:lstStyle/>
                        <a:p>
                          <a:endParaRPr lang="en-US"/>
                        </a:p>
                      </a:txBody>
                      <a:tcPr anchor="b">
                        <a:blipFill>
                          <a:blip r:embed="rId5"/>
                          <a:stretch>
                            <a:fillRect l="-1923" t="-106494" r="-202885" b="-128571"/>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4439">
                    <a:tc>
                      <a:txBody>
                        <a:bodyPr/>
                        <a:lstStyle/>
                        <a:p>
                          <a:endParaRPr lang="en-US"/>
                        </a:p>
                      </a:txBody>
                      <a:tcPr anchor="b">
                        <a:blipFill>
                          <a:blip r:embed="rId5"/>
                          <a:stretch>
                            <a:fillRect l="-1923" t="-209211" r="-202885" b="-30263"/>
                          </a:stretch>
                        </a:blipFill>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6" name="Slide Number Placeholder 5">
            <a:extLst>
              <a:ext uri="{FF2B5EF4-FFF2-40B4-BE49-F238E27FC236}">
                <a16:creationId xmlns:a16="http://schemas.microsoft.com/office/drawing/2014/main" id="{86FB0BF1-8759-4C87-A860-897681973A6E}"/>
              </a:ext>
            </a:extLst>
          </p:cNvPr>
          <p:cNvSpPr>
            <a:spLocks noGrp="1"/>
          </p:cNvSpPr>
          <p:nvPr>
            <p:ph type="sldNum" sz="quarter" idx="12"/>
          </p:nvPr>
        </p:nvSpPr>
        <p:spPr/>
        <p:txBody>
          <a:bodyPr/>
          <a:lstStyle/>
          <a:p>
            <a:fld id="{4CC025FC-8595-493D-A46F-2FDFDC85D9BC}" type="slidenum">
              <a:rPr lang="en-US" smtClean="0"/>
              <a:t>19</a:t>
            </a:fld>
            <a:endParaRPr lang="en-US"/>
          </a:p>
        </p:txBody>
      </p:sp>
    </p:spTree>
    <p:extLst>
      <p:ext uri="{BB962C8B-B14F-4D97-AF65-F5344CB8AC3E}">
        <p14:creationId xmlns:p14="http://schemas.microsoft.com/office/powerpoint/2010/main" val="3899918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FDA445F-C31B-4274-B2C5-59BF7135B8BB}"/>
              </a:ext>
            </a:extLst>
          </p:cNvPr>
          <p:cNvPicPr>
            <a:picLocks noChangeAspect="1"/>
          </p:cNvPicPr>
          <p:nvPr/>
        </p:nvPicPr>
        <p:blipFill>
          <a:blip r:embed="rId2"/>
          <a:stretch>
            <a:fillRect/>
          </a:stretch>
        </p:blipFill>
        <p:spPr>
          <a:xfrm>
            <a:off x="7205629" y="1507385"/>
            <a:ext cx="4584589" cy="2755631"/>
          </a:xfrm>
          <a:prstGeom prst="rect">
            <a:avLst/>
          </a:prstGeom>
        </p:spPr>
      </p:pic>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2: Cluster Assignment</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7" y="1519816"/>
          <a:ext cx="3734796" cy="2743200"/>
        </p:xfrm>
        <a:graphic>
          <a:graphicData uri="http://schemas.openxmlformats.org/drawingml/2006/table">
            <a:tbl>
              <a:tblPr firstRow="1" bandRow="1">
                <a:tableStyleId>{5C22544A-7EE6-4342-B048-85BDC9FD1C3A}</a:tableStyleId>
              </a:tblPr>
              <a:tblGrid>
                <a:gridCol w="622466">
                  <a:extLst>
                    <a:ext uri="{9D8B030D-6E8A-4147-A177-3AD203B41FA5}">
                      <a16:colId xmlns:a16="http://schemas.microsoft.com/office/drawing/2014/main" val="1426228962"/>
                    </a:ext>
                  </a:extLst>
                </a:gridCol>
                <a:gridCol w="622466">
                  <a:extLst>
                    <a:ext uri="{9D8B030D-6E8A-4147-A177-3AD203B41FA5}">
                      <a16:colId xmlns:a16="http://schemas.microsoft.com/office/drawing/2014/main" val="1903537073"/>
                    </a:ext>
                  </a:extLst>
                </a:gridCol>
                <a:gridCol w="622466">
                  <a:extLst>
                    <a:ext uri="{9D8B030D-6E8A-4147-A177-3AD203B41FA5}">
                      <a16:colId xmlns:a16="http://schemas.microsoft.com/office/drawing/2014/main" val="3532606374"/>
                    </a:ext>
                  </a:extLst>
                </a:gridCol>
                <a:gridCol w="622466">
                  <a:extLst>
                    <a:ext uri="{9D8B030D-6E8A-4147-A177-3AD203B41FA5}">
                      <a16:colId xmlns:a16="http://schemas.microsoft.com/office/drawing/2014/main" val="898962947"/>
                    </a:ext>
                  </a:extLst>
                </a:gridCol>
                <a:gridCol w="622466">
                  <a:extLst>
                    <a:ext uri="{9D8B030D-6E8A-4147-A177-3AD203B41FA5}">
                      <a16:colId xmlns:a16="http://schemas.microsoft.com/office/drawing/2014/main" val="3232601046"/>
                    </a:ext>
                  </a:extLst>
                </a:gridCol>
                <a:gridCol w="622466">
                  <a:extLst>
                    <a:ext uri="{9D8B030D-6E8A-4147-A177-3AD203B41FA5}">
                      <a16:colId xmlns:a16="http://schemas.microsoft.com/office/drawing/2014/main" val="4119415008"/>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CID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3.2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4.5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3677">
                    <a:tc>
                      <a:txBody>
                        <a:bodyPr/>
                        <a:lstStyle/>
                        <a:p>
                          <a:endParaRPr lang="en-US"/>
                        </a:p>
                      </a:txBody>
                      <a:tcPr anchor="b">
                        <a:blipFill>
                          <a:blip r:embed="rId5"/>
                          <a:stretch>
                            <a:fillRect l="-1923" t="-106494" r="-202885" b="-128571"/>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4439">
                    <a:tc>
                      <a:txBody>
                        <a:bodyPr/>
                        <a:lstStyle/>
                        <a:p>
                          <a:endParaRPr lang="en-US"/>
                        </a:p>
                      </a:txBody>
                      <a:tcPr anchor="b">
                        <a:blipFill>
                          <a:blip r:embed="rId5"/>
                          <a:stretch>
                            <a:fillRect l="-1923" t="-209211" r="-202885" b="-30263"/>
                          </a:stretch>
                        </a:blipFill>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5" name="Rectangle 4">
            <a:extLst>
              <a:ext uri="{FF2B5EF4-FFF2-40B4-BE49-F238E27FC236}">
                <a16:creationId xmlns:a16="http://schemas.microsoft.com/office/drawing/2014/main" id="{B63C7FBA-706F-4A76-B44F-32D5FCA24171}"/>
              </a:ext>
            </a:extLst>
          </p:cNvPr>
          <p:cNvSpPr/>
          <p:nvPr/>
        </p:nvSpPr>
        <p:spPr>
          <a:xfrm>
            <a:off x="2308440" y="2025748"/>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BF2B8FC-A373-4BCA-B035-4A3E9EB104D1}"/>
              </a:ext>
            </a:extLst>
          </p:cNvPr>
          <p:cNvSpPr/>
          <p:nvPr/>
        </p:nvSpPr>
        <p:spPr>
          <a:xfrm>
            <a:off x="2308440" y="2500924"/>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A21688-C6DB-4C2F-9591-EA84F455D59E}"/>
              </a:ext>
            </a:extLst>
          </p:cNvPr>
          <p:cNvSpPr/>
          <p:nvPr/>
        </p:nvSpPr>
        <p:spPr>
          <a:xfrm>
            <a:off x="2933672" y="2929209"/>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047853-E851-4F04-B31B-C273BE07DAC8}"/>
              </a:ext>
            </a:extLst>
          </p:cNvPr>
          <p:cNvSpPr/>
          <p:nvPr/>
        </p:nvSpPr>
        <p:spPr>
          <a:xfrm>
            <a:off x="2933672" y="3389871"/>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C04058-CED1-4ED8-A0B6-E14BA04640FA}"/>
              </a:ext>
            </a:extLst>
          </p:cNvPr>
          <p:cNvSpPr/>
          <p:nvPr/>
        </p:nvSpPr>
        <p:spPr>
          <a:xfrm>
            <a:off x="2933672" y="3850533"/>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D980C780-7A82-4E98-AE68-883D399A0ECE}"/>
              </a:ext>
            </a:extLst>
          </p:cNvPr>
          <p:cNvSpPr>
            <a:spLocks noGrp="1"/>
          </p:cNvSpPr>
          <p:nvPr>
            <p:ph type="sldNum" sz="quarter" idx="12"/>
          </p:nvPr>
        </p:nvSpPr>
        <p:spPr/>
        <p:txBody>
          <a:bodyPr/>
          <a:lstStyle/>
          <a:p>
            <a:fld id="{4CC025FC-8595-493D-A46F-2FDFDC85D9BC}" type="slidenum">
              <a:rPr lang="en-US" smtClean="0"/>
              <a:t>20</a:t>
            </a:fld>
            <a:endParaRPr lang="en-US"/>
          </a:p>
        </p:txBody>
      </p:sp>
    </p:spTree>
    <p:extLst>
      <p:ext uri="{BB962C8B-B14F-4D97-AF65-F5344CB8AC3E}">
        <p14:creationId xmlns:p14="http://schemas.microsoft.com/office/powerpoint/2010/main" val="3950052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FDA445F-C31B-4274-B2C5-59BF7135B8BB}"/>
              </a:ext>
            </a:extLst>
          </p:cNvPr>
          <p:cNvPicPr>
            <a:picLocks noChangeAspect="1"/>
          </p:cNvPicPr>
          <p:nvPr/>
        </p:nvPicPr>
        <p:blipFill>
          <a:blip r:embed="rId2"/>
          <a:stretch>
            <a:fillRect/>
          </a:stretch>
        </p:blipFill>
        <p:spPr>
          <a:xfrm>
            <a:off x="7205629" y="1507385"/>
            <a:ext cx="4584589" cy="2755631"/>
          </a:xfrm>
          <a:prstGeom prst="rect">
            <a:avLst/>
          </a:prstGeom>
        </p:spPr>
      </p:pic>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3: Moving Centroid</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7" y="1519816"/>
          <a:ext cx="3734796" cy="2743200"/>
        </p:xfrm>
        <a:graphic>
          <a:graphicData uri="http://schemas.openxmlformats.org/drawingml/2006/table">
            <a:tbl>
              <a:tblPr firstRow="1" bandRow="1">
                <a:tableStyleId>{5C22544A-7EE6-4342-B048-85BDC9FD1C3A}</a:tableStyleId>
              </a:tblPr>
              <a:tblGrid>
                <a:gridCol w="622466">
                  <a:extLst>
                    <a:ext uri="{9D8B030D-6E8A-4147-A177-3AD203B41FA5}">
                      <a16:colId xmlns:a16="http://schemas.microsoft.com/office/drawing/2014/main" val="1426228962"/>
                    </a:ext>
                  </a:extLst>
                </a:gridCol>
                <a:gridCol w="622466">
                  <a:extLst>
                    <a:ext uri="{9D8B030D-6E8A-4147-A177-3AD203B41FA5}">
                      <a16:colId xmlns:a16="http://schemas.microsoft.com/office/drawing/2014/main" val="1903537073"/>
                    </a:ext>
                  </a:extLst>
                </a:gridCol>
                <a:gridCol w="622466">
                  <a:extLst>
                    <a:ext uri="{9D8B030D-6E8A-4147-A177-3AD203B41FA5}">
                      <a16:colId xmlns:a16="http://schemas.microsoft.com/office/drawing/2014/main" val="3532606374"/>
                    </a:ext>
                  </a:extLst>
                </a:gridCol>
                <a:gridCol w="622466">
                  <a:extLst>
                    <a:ext uri="{9D8B030D-6E8A-4147-A177-3AD203B41FA5}">
                      <a16:colId xmlns:a16="http://schemas.microsoft.com/office/drawing/2014/main" val="898962947"/>
                    </a:ext>
                  </a:extLst>
                </a:gridCol>
                <a:gridCol w="622466">
                  <a:extLst>
                    <a:ext uri="{9D8B030D-6E8A-4147-A177-3AD203B41FA5}">
                      <a16:colId xmlns:a16="http://schemas.microsoft.com/office/drawing/2014/main" val="3232601046"/>
                    </a:ext>
                  </a:extLst>
                </a:gridCol>
                <a:gridCol w="622466">
                  <a:extLst>
                    <a:ext uri="{9D8B030D-6E8A-4147-A177-3AD203B41FA5}">
                      <a16:colId xmlns:a16="http://schemas.microsoft.com/office/drawing/2014/main" val="4119415008"/>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CID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3.2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4.5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extLst>
                  <p:ext uri="{D42A27DB-BD31-4B8C-83A1-F6EECF244321}">
                    <p14:modId xmlns:p14="http://schemas.microsoft.com/office/powerpoint/2010/main" val="2501507744"/>
                  </p:ext>
                </p:extLst>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3677">
                    <a:tc>
                      <a:txBody>
                        <a:bodyPr/>
                        <a:lstStyle/>
                        <a:p>
                          <a:endParaRPr lang="en-US"/>
                        </a:p>
                      </a:txBody>
                      <a:tcPr anchor="b">
                        <a:blipFill>
                          <a:blip r:embed="rId5"/>
                          <a:stretch>
                            <a:fillRect l="-1923" t="-106494" r="-202885" b="-128571"/>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4439">
                    <a:tc>
                      <a:txBody>
                        <a:bodyPr/>
                        <a:lstStyle/>
                        <a:p>
                          <a:endParaRPr lang="en-US"/>
                        </a:p>
                      </a:txBody>
                      <a:tcPr anchor="b">
                        <a:blipFill>
                          <a:blip r:embed="rId5"/>
                          <a:stretch>
                            <a:fillRect l="-1923" t="-209211" r="-202885" b="-30263"/>
                          </a:stretch>
                        </a:blipFill>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5" name="Rectangle 4">
            <a:extLst>
              <a:ext uri="{FF2B5EF4-FFF2-40B4-BE49-F238E27FC236}">
                <a16:creationId xmlns:a16="http://schemas.microsoft.com/office/drawing/2014/main" id="{B63C7FBA-706F-4A76-B44F-32D5FCA24171}"/>
              </a:ext>
            </a:extLst>
          </p:cNvPr>
          <p:cNvSpPr/>
          <p:nvPr/>
        </p:nvSpPr>
        <p:spPr>
          <a:xfrm>
            <a:off x="2308440" y="2025748"/>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BF2B8FC-A373-4BCA-B035-4A3E9EB104D1}"/>
              </a:ext>
            </a:extLst>
          </p:cNvPr>
          <p:cNvSpPr/>
          <p:nvPr/>
        </p:nvSpPr>
        <p:spPr>
          <a:xfrm>
            <a:off x="2308440" y="2500924"/>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A21688-C6DB-4C2F-9591-EA84F455D59E}"/>
              </a:ext>
            </a:extLst>
          </p:cNvPr>
          <p:cNvSpPr/>
          <p:nvPr/>
        </p:nvSpPr>
        <p:spPr>
          <a:xfrm>
            <a:off x="2933672" y="2929209"/>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047853-E851-4F04-B31B-C273BE07DAC8}"/>
              </a:ext>
            </a:extLst>
          </p:cNvPr>
          <p:cNvSpPr/>
          <p:nvPr/>
        </p:nvSpPr>
        <p:spPr>
          <a:xfrm>
            <a:off x="2933672" y="3389871"/>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C04058-CED1-4ED8-A0B6-E14BA04640FA}"/>
              </a:ext>
            </a:extLst>
          </p:cNvPr>
          <p:cNvSpPr/>
          <p:nvPr/>
        </p:nvSpPr>
        <p:spPr>
          <a:xfrm>
            <a:off x="2933672" y="3850533"/>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F27FAC8C-2BB3-4460-A949-02C090651AC4}"/>
                  </a:ext>
                </a:extLst>
              </p:cNvPr>
              <p:cNvGraphicFramePr>
                <a:graphicFrameLocks noGrp="1"/>
              </p:cNvGraphicFramePr>
              <p:nvPr/>
            </p:nvGraphicFramePr>
            <p:xfrm>
              <a:off x="379014" y="4645526"/>
              <a:ext cx="6544298" cy="2019427"/>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1+1</m:t>
                                    </m:r>
                                  </m:num>
                                  <m:den>
                                    <m:r>
                                      <a:rPr lang="en-US" sz="2400" i="1" dirty="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=1</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0</m:t>
                                    </m:r>
                                  </m:num>
                                  <m:den>
                                    <m:r>
                                      <a:rPr lang="en-US" sz="2400" i="1" dirty="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0.5</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0+2</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3</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.67</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f>
                                  <m:fPr>
                                    <m:ctrlPr>
                                      <a:rPr lang="en-US" sz="2400" i="1" dirty="0" smtClean="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2+4</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5</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3.67</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5" name="Table 14">
                <a:extLst>
                  <a:ext uri="{FF2B5EF4-FFF2-40B4-BE49-F238E27FC236}">
                    <a16:creationId xmlns:a16="http://schemas.microsoft.com/office/drawing/2014/main" id="{F27FAC8C-2BB3-4460-A949-02C090651AC4}"/>
                  </a:ext>
                </a:extLst>
              </p:cNvPr>
              <p:cNvGraphicFramePr>
                <a:graphicFrameLocks noGrp="1"/>
              </p:cNvGraphicFramePr>
              <p:nvPr>
                <p:extLst>
                  <p:ext uri="{D42A27DB-BD31-4B8C-83A1-F6EECF244321}">
                    <p14:modId xmlns:p14="http://schemas.microsoft.com/office/powerpoint/2010/main" val="43687067"/>
                  </p:ext>
                </p:extLst>
              </p:nvPr>
            </p:nvGraphicFramePr>
            <p:xfrm>
              <a:off x="379014" y="4645526"/>
              <a:ext cx="6544298" cy="2019427"/>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776224">
                    <a:tc>
                      <a:txBody>
                        <a:bodyPr/>
                        <a:lstStyle/>
                        <a:p>
                          <a:endParaRPr lang="en-US"/>
                        </a:p>
                      </a:txBody>
                      <a:tcPr anchor="ctr">
                        <a:blipFill>
                          <a:blip r:embed="rId6"/>
                          <a:stretch>
                            <a:fillRect l="-617" t="-64844" r="-565432" b="-102344"/>
                          </a:stretch>
                        </a:blipFill>
                      </a:tcPr>
                    </a:tc>
                    <a:tc>
                      <a:txBody>
                        <a:bodyPr/>
                        <a:lstStyle/>
                        <a:p>
                          <a:endParaRPr lang="en-US"/>
                        </a:p>
                      </a:txBody>
                      <a:tcPr anchor="b">
                        <a:blipFill>
                          <a:blip r:embed="rId6"/>
                          <a:stretch>
                            <a:fillRect l="-35667" t="-64844" r="-100438" b="-102344"/>
                          </a:stretch>
                        </a:blipFill>
                      </a:tcPr>
                    </a:tc>
                    <a:tc>
                      <a:txBody>
                        <a:bodyPr/>
                        <a:lstStyle/>
                        <a:p>
                          <a:endParaRPr lang="en-US"/>
                        </a:p>
                      </a:txBody>
                      <a:tcPr anchor="b">
                        <a:blipFill>
                          <a:blip r:embed="rId6"/>
                          <a:stretch>
                            <a:fillRect l="-136264" t="-64844" r="-879" b="-102344"/>
                          </a:stretch>
                        </a:blipFill>
                      </a:tcPr>
                    </a:tc>
                    <a:extLst>
                      <a:ext uri="{0D108BD9-81ED-4DB2-BD59-A6C34878D82A}">
                        <a16:rowId xmlns:a16="http://schemas.microsoft.com/office/drawing/2014/main" val="250012933"/>
                      </a:ext>
                    </a:extLst>
                  </a:tr>
                  <a:tr h="786003">
                    <a:tc>
                      <a:txBody>
                        <a:bodyPr/>
                        <a:lstStyle/>
                        <a:p>
                          <a:endParaRPr lang="en-US"/>
                        </a:p>
                      </a:txBody>
                      <a:tcPr anchor="ctr">
                        <a:blipFill>
                          <a:blip r:embed="rId6"/>
                          <a:stretch>
                            <a:fillRect l="-617" t="-163566" r="-565432" b="-1550"/>
                          </a:stretch>
                        </a:blipFill>
                      </a:tcPr>
                    </a:tc>
                    <a:tc>
                      <a:txBody>
                        <a:bodyPr/>
                        <a:lstStyle/>
                        <a:p>
                          <a:endParaRPr lang="en-US"/>
                        </a:p>
                      </a:txBody>
                      <a:tcPr anchor="b">
                        <a:blipFill>
                          <a:blip r:embed="rId6"/>
                          <a:stretch>
                            <a:fillRect l="-35667" t="-163566" r="-100438" b="-1550"/>
                          </a:stretch>
                        </a:blipFill>
                      </a:tcPr>
                    </a:tc>
                    <a:tc>
                      <a:txBody>
                        <a:bodyPr/>
                        <a:lstStyle/>
                        <a:p>
                          <a:endParaRPr lang="en-US"/>
                        </a:p>
                      </a:txBody>
                      <a:tcPr anchor="b">
                        <a:blipFill>
                          <a:blip r:embed="rId6"/>
                          <a:stretch>
                            <a:fillRect l="-136264" t="-163566" r="-879" b="-1550"/>
                          </a:stretch>
                        </a:blipFill>
                      </a:tcPr>
                    </a:tc>
                    <a:extLst>
                      <a:ext uri="{0D108BD9-81ED-4DB2-BD59-A6C34878D82A}">
                        <a16:rowId xmlns:a16="http://schemas.microsoft.com/office/drawing/2014/main" val="3862792953"/>
                      </a:ext>
                    </a:extLst>
                  </a:tr>
                </a:tbl>
              </a:graphicData>
            </a:graphic>
          </p:graphicFrame>
        </mc:Fallback>
      </mc:AlternateContent>
      <p:sp>
        <p:nvSpPr>
          <p:cNvPr id="9" name="Slide Number Placeholder 8">
            <a:extLst>
              <a:ext uri="{FF2B5EF4-FFF2-40B4-BE49-F238E27FC236}">
                <a16:creationId xmlns:a16="http://schemas.microsoft.com/office/drawing/2014/main" id="{446C4DC4-2C8E-4082-8659-314522B10E8C}"/>
              </a:ext>
            </a:extLst>
          </p:cNvPr>
          <p:cNvSpPr>
            <a:spLocks noGrp="1"/>
          </p:cNvSpPr>
          <p:nvPr>
            <p:ph type="sldNum" sz="quarter" idx="12"/>
          </p:nvPr>
        </p:nvSpPr>
        <p:spPr/>
        <p:txBody>
          <a:bodyPr/>
          <a:lstStyle/>
          <a:p>
            <a:fld id="{4CC025FC-8595-493D-A46F-2FDFDC85D9BC}" type="slidenum">
              <a:rPr lang="en-US" smtClean="0"/>
              <a:t>21</a:t>
            </a:fld>
            <a:endParaRPr lang="en-US"/>
          </a:p>
        </p:txBody>
      </p:sp>
    </p:spTree>
    <p:extLst>
      <p:ext uri="{BB962C8B-B14F-4D97-AF65-F5344CB8AC3E}">
        <p14:creationId xmlns:p14="http://schemas.microsoft.com/office/powerpoint/2010/main" val="2606123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C675A5-65E8-4862-B3E6-D3CBB479C89F}"/>
              </a:ext>
            </a:extLst>
          </p:cNvPr>
          <p:cNvPicPr>
            <a:picLocks noChangeAspect="1"/>
          </p:cNvPicPr>
          <p:nvPr/>
        </p:nvPicPr>
        <p:blipFill>
          <a:blip r:embed="rId2"/>
          <a:stretch>
            <a:fillRect/>
          </a:stretch>
        </p:blipFill>
        <p:spPr>
          <a:xfrm>
            <a:off x="7205629" y="1519816"/>
            <a:ext cx="4584589" cy="2755631"/>
          </a:xfrm>
          <a:prstGeom prst="rect">
            <a:avLst/>
          </a:prstGeom>
        </p:spPr>
      </p:pic>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3: Moving Centroid</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7" y="1519816"/>
          <a:ext cx="3734796" cy="2743200"/>
        </p:xfrm>
        <a:graphic>
          <a:graphicData uri="http://schemas.openxmlformats.org/drawingml/2006/table">
            <a:tbl>
              <a:tblPr firstRow="1" bandRow="1">
                <a:tableStyleId>{5C22544A-7EE6-4342-B048-85BDC9FD1C3A}</a:tableStyleId>
              </a:tblPr>
              <a:tblGrid>
                <a:gridCol w="622466">
                  <a:extLst>
                    <a:ext uri="{9D8B030D-6E8A-4147-A177-3AD203B41FA5}">
                      <a16:colId xmlns:a16="http://schemas.microsoft.com/office/drawing/2014/main" val="1426228962"/>
                    </a:ext>
                  </a:extLst>
                </a:gridCol>
                <a:gridCol w="622466">
                  <a:extLst>
                    <a:ext uri="{9D8B030D-6E8A-4147-A177-3AD203B41FA5}">
                      <a16:colId xmlns:a16="http://schemas.microsoft.com/office/drawing/2014/main" val="1903537073"/>
                    </a:ext>
                  </a:extLst>
                </a:gridCol>
                <a:gridCol w="622466">
                  <a:extLst>
                    <a:ext uri="{9D8B030D-6E8A-4147-A177-3AD203B41FA5}">
                      <a16:colId xmlns:a16="http://schemas.microsoft.com/office/drawing/2014/main" val="3532606374"/>
                    </a:ext>
                  </a:extLst>
                </a:gridCol>
                <a:gridCol w="622466">
                  <a:extLst>
                    <a:ext uri="{9D8B030D-6E8A-4147-A177-3AD203B41FA5}">
                      <a16:colId xmlns:a16="http://schemas.microsoft.com/office/drawing/2014/main" val="898962947"/>
                    </a:ext>
                  </a:extLst>
                </a:gridCol>
                <a:gridCol w="622466">
                  <a:extLst>
                    <a:ext uri="{9D8B030D-6E8A-4147-A177-3AD203B41FA5}">
                      <a16:colId xmlns:a16="http://schemas.microsoft.com/office/drawing/2014/main" val="3232601046"/>
                    </a:ext>
                  </a:extLst>
                </a:gridCol>
                <a:gridCol w="622466">
                  <a:extLst>
                    <a:ext uri="{9D8B030D-6E8A-4147-A177-3AD203B41FA5}">
                      <a16:colId xmlns:a16="http://schemas.microsoft.com/office/drawing/2014/main" val="4119415008"/>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CID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3.2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4.5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4.2</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extLst>
                  <p:ext uri="{D42A27DB-BD31-4B8C-83A1-F6EECF244321}">
                    <p14:modId xmlns:p14="http://schemas.microsoft.com/office/powerpoint/2010/main" val="3491675349"/>
                  </p:ext>
                </p:extLst>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3677">
                    <a:tc>
                      <a:txBody>
                        <a:bodyPr/>
                        <a:lstStyle/>
                        <a:p>
                          <a:endParaRPr lang="en-US"/>
                        </a:p>
                      </a:txBody>
                      <a:tcPr anchor="b">
                        <a:blipFill>
                          <a:blip r:embed="rId5"/>
                          <a:stretch>
                            <a:fillRect l="-1923" t="-106494" r="-202885" b="-128571"/>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4439">
                    <a:tc>
                      <a:txBody>
                        <a:bodyPr/>
                        <a:lstStyle/>
                        <a:p>
                          <a:endParaRPr lang="en-US"/>
                        </a:p>
                      </a:txBody>
                      <a:tcPr anchor="b">
                        <a:blipFill>
                          <a:blip r:embed="rId5"/>
                          <a:stretch>
                            <a:fillRect l="-1923" t="-209211" r="-202885" b="-30263"/>
                          </a:stretch>
                        </a:blipFill>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5" name="Rectangle 4">
            <a:extLst>
              <a:ext uri="{FF2B5EF4-FFF2-40B4-BE49-F238E27FC236}">
                <a16:creationId xmlns:a16="http://schemas.microsoft.com/office/drawing/2014/main" id="{B63C7FBA-706F-4A76-B44F-32D5FCA24171}"/>
              </a:ext>
            </a:extLst>
          </p:cNvPr>
          <p:cNvSpPr/>
          <p:nvPr/>
        </p:nvSpPr>
        <p:spPr>
          <a:xfrm>
            <a:off x="2308440" y="2025748"/>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BF2B8FC-A373-4BCA-B035-4A3E9EB104D1}"/>
              </a:ext>
            </a:extLst>
          </p:cNvPr>
          <p:cNvSpPr/>
          <p:nvPr/>
        </p:nvSpPr>
        <p:spPr>
          <a:xfrm>
            <a:off x="2308440" y="2500924"/>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A21688-C6DB-4C2F-9591-EA84F455D59E}"/>
              </a:ext>
            </a:extLst>
          </p:cNvPr>
          <p:cNvSpPr/>
          <p:nvPr/>
        </p:nvSpPr>
        <p:spPr>
          <a:xfrm>
            <a:off x="2933672" y="2929209"/>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047853-E851-4F04-B31B-C273BE07DAC8}"/>
              </a:ext>
            </a:extLst>
          </p:cNvPr>
          <p:cNvSpPr/>
          <p:nvPr/>
        </p:nvSpPr>
        <p:spPr>
          <a:xfrm>
            <a:off x="2933672" y="3389871"/>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C04058-CED1-4ED8-A0B6-E14BA04640FA}"/>
              </a:ext>
            </a:extLst>
          </p:cNvPr>
          <p:cNvSpPr/>
          <p:nvPr/>
        </p:nvSpPr>
        <p:spPr>
          <a:xfrm>
            <a:off x="2933672" y="3850533"/>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F27FAC8C-2BB3-4460-A949-02C090651AC4}"/>
                  </a:ext>
                </a:extLst>
              </p:cNvPr>
              <p:cNvGraphicFramePr>
                <a:graphicFrameLocks noGrp="1"/>
              </p:cNvGraphicFramePr>
              <p:nvPr/>
            </p:nvGraphicFramePr>
            <p:xfrm>
              <a:off x="379014" y="4645526"/>
              <a:ext cx="6544298" cy="2019427"/>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1+1</m:t>
                                    </m:r>
                                  </m:num>
                                  <m:den>
                                    <m:r>
                                      <a:rPr lang="en-US" sz="2400" i="1" dirty="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=1</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0</m:t>
                                    </m:r>
                                  </m:num>
                                  <m:den>
                                    <m:r>
                                      <a:rPr lang="en-US" sz="2400" i="1" dirty="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0.5</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0+2</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3</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.67</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f>
                                  <m:fPr>
                                    <m:ctrlPr>
                                      <a:rPr lang="en-US" sz="2400" i="1" dirty="0" smtClean="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2+4</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5</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3.67</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5" name="Table 14">
                <a:extLst>
                  <a:ext uri="{FF2B5EF4-FFF2-40B4-BE49-F238E27FC236}">
                    <a16:creationId xmlns:a16="http://schemas.microsoft.com/office/drawing/2014/main" id="{F27FAC8C-2BB3-4460-A949-02C090651AC4}"/>
                  </a:ext>
                </a:extLst>
              </p:cNvPr>
              <p:cNvGraphicFramePr>
                <a:graphicFrameLocks noGrp="1"/>
              </p:cNvGraphicFramePr>
              <p:nvPr/>
            </p:nvGraphicFramePr>
            <p:xfrm>
              <a:off x="379014" y="4645526"/>
              <a:ext cx="6544298" cy="2019427"/>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776224">
                    <a:tc>
                      <a:txBody>
                        <a:bodyPr/>
                        <a:lstStyle/>
                        <a:p>
                          <a:endParaRPr lang="en-US"/>
                        </a:p>
                      </a:txBody>
                      <a:tcPr anchor="ctr">
                        <a:blipFill>
                          <a:blip r:embed="rId6"/>
                          <a:stretch>
                            <a:fillRect l="-617" t="-64844" r="-565432" b="-102344"/>
                          </a:stretch>
                        </a:blipFill>
                      </a:tcPr>
                    </a:tc>
                    <a:tc>
                      <a:txBody>
                        <a:bodyPr/>
                        <a:lstStyle/>
                        <a:p>
                          <a:endParaRPr lang="en-US"/>
                        </a:p>
                      </a:txBody>
                      <a:tcPr anchor="b">
                        <a:blipFill>
                          <a:blip r:embed="rId6"/>
                          <a:stretch>
                            <a:fillRect l="-35667" t="-64844" r="-100438" b="-102344"/>
                          </a:stretch>
                        </a:blipFill>
                      </a:tcPr>
                    </a:tc>
                    <a:tc>
                      <a:txBody>
                        <a:bodyPr/>
                        <a:lstStyle/>
                        <a:p>
                          <a:endParaRPr lang="en-US"/>
                        </a:p>
                      </a:txBody>
                      <a:tcPr anchor="b">
                        <a:blipFill>
                          <a:blip r:embed="rId6"/>
                          <a:stretch>
                            <a:fillRect l="-136264" t="-64844" r="-879" b="-102344"/>
                          </a:stretch>
                        </a:blipFill>
                      </a:tcPr>
                    </a:tc>
                    <a:extLst>
                      <a:ext uri="{0D108BD9-81ED-4DB2-BD59-A6C34878D82A}">
                        <a16:rowId xmlns:a16="http://schemas.microsoft.com/office/drawing/2014/main" val="250012933"/>
                      </a:ext>
                    </a:extLst>
                  </a:tr>
                  <a:tr h="786003">
                    <a:tc>
                      <a:txBody>
                        <a:bodyPr/>
                        <a:lstStyle/>
                        <a:p>
                          <a:endParaRPr lang="en-US"/>
                        </a:p>
                      </a:txBody>
                      <a:tcPr anchor="ctr">
                        <a:blipFill>
                          <a:blip r:embed="rId6"/>
                          <a:stretch>
                            <a:fillRect l="-617" t="-163566" r="-565432" b="-1550"/>
                          </a:stretch>
                        </a:blipFill>
                      </a:tcPr>
                    </a:tc>
                    <a:tc>
                      <a:txBody>
                        <a:bodyPr/>
                        <a:lstStyle/>
                        <a:p>
                          <a:endParaRPr lang="en-US"/>
                        </a:p>
                      </a:txBody>
                      <a:tcPr anchor="b">
                        <a:blipFill>
                          <a:blip r:embed="rId6"/>
                          <a:stretch>
                            <a:fillRect l="-35667" t="-163566" r="-100438" b="-1550"/>
                          </a:stretch>
                        </a:blipFill>
                      </a:tcPr>
                    </a:tc>
                    <a:tc>
                      <a:txBody>
                        <a:bodyPr/>
                        <a:lstStyle/>
                        <a:p>
                          <a:endParaRPr lang="en-US"/>
                        </a:p>
                      </a:txBody>
                      <a:tcPr anchor="b">
                        <a:blipFill>
                          <a:blip r:embed="rId6"/>
                          <a:stretch>
                            <a:fillRect l="-136264" t="-163566" r="-879" b="-1550"/>
                          </a:stretch>
                        </a:blipFill>
                      </a:tcPr>
                    </a:tc>
                    <a:extLst>
                      <a:ext uri="{0D108BD9-81ED-4DB2-BD59-A6C34878D82A}">
                        <a16:rowId xmlns:a16="http://schemas.microsoft.com/office/drawing/2014/main" val="38627929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9535887"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extLst>
                  <p:ext uri="{D42A27DB-BD31-4B8C-83A1-F6EECF244321}">
                    <p14:modId xmlns:p14="http://schemas.microsoft.com/office/powerpoint/2010/main" val="1598133209"/>
                  </p:ext>
                </p:extLst>
              </p:nvPr>
            </p:nvGraphicFramePr>
            <p:xfrm>
              <a:off x="9535887"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0693">
                    <a:tc>
                      <a:txBody>
                        <a:bodyPr/>
                        <a:lstStyle/>
                        <a:p>
                          <a:endParaRPr lang="en-US"/>
                        </a:p>
                      </a:txBody>
                      <a:tcPr anchor="ctr">
                        <a:blipFill>
                          <a:blip r:embed="rId7"/>
                          <a:stretch>
                            <a:fillRect l="-893" t="-107895" r="-234821" b="-130263"/>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1391">
                    <a:tc>
                      <a:txBody>
                        <a:bodyPr/>
                        <a:lstStyle/>
                        <a:p>
                          <a:endParaRPr lang="en-US"/>
                        </a:p>
                      </a:txBody>
                      <a:tcPr anchor="ctr">
                        <a:blipFill>
                          <a:blip r:embed="rId7"/>
                          <a:stretch>
                            <a:fillRect l="-893" t="-207895" r="-234821" b="-30263"/>
                          </a:stretch>
                        </a:blipFill>
                      </a:tcP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7" name="Slide Number Placeholder 6">
            <a:extLst>
              <a:ext uri="{FF2B5EF4-FFF2-40B4-BE49-F238E27FC236}">
                <a16:creationId xmlns:a16="http://schemas.microsoft.com/office/drawing/2014/main" id="{54574D1A-C048-4195-A6B3-9EC525342E5E}"/>
              </a:ext>
            </a:extLst>
          </p:cNvPr>
          <p:cNvSpPr>
            <a:spLocks noGrp="1"/>
          </p:cNvSpPr>
          <p:nvPr>
            <p:ph type="sldNum" sz="quarter" idx="12"/>
          </p:nvPr>
        </p:nvSpPr>
        <p:spPr/>
        <p:txBody>
          <a:bodyPr/>
          <a:lstStyle/>
          <a:p>
            <a:fld id="{4CC025FC-8595-493D-A46F-2FDFDC85D9BC}" type="slidenum">
              <a:rPr lang="en-US" smtClean="0"/>
              <a:t>22</a:t>
            </a:fld>
            <a:endParaRPr lang="en-US"/>
          </a:p>
        </p:txBody>
      </p:sp>
    </p:spTree>
    <p:extLst>
      <p:ext uri="{BB962C8B-B14F-4D97-AF65-F5344CB8AC3E}">
        <p14:creationId xmlns:p14="http://schemas.microsoft.com/office/powerpoint/2010/main" val="2873671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BE1F97-693C-424F-8113-A492409CC3E4}"/>
              </a:ext>
            </a:extLst>
          </p:cNvPr>
          <p:cNvPicPr>
            <a:picLocks noChangeAspect="1"/>
          </p:cNvPicPr>
          <p:nvPr/>
        </p:nvPicPr>
        <p:blipFill>
          <a:blip r:embed="rId2"/>
          <a:stretch>
            <a:fillRect/>
          </a:stretch>
        </p:blipFill>
        <p:spPr>
          <a:xfrm>
            <a:off x="7205629" y="1513600"/>
            <a:ext cx="4584589" cy="2755631"/>
          </a:xfrm>
          <a:prstGeom prst="rect">
            <a:avLst/>
          </a:prstGeom>
        </p:spPr>
      </p:pic>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4: Optimization</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7" y="1519816"/>
          <a:ext cx="3734796" cy="2743200"/>
        </p:xfrm>
        <a:graphic>
          <a:graphicData uri="http://schemas.openxmlformats.org/drawingml/2006/table">
            <a:tbl>
              <a:tblPr firstRow="1" bandRow="1">
                <a:tableStyleId>{5C22544A-7EE6-4342-B048-85BDC9FD1C3A}</a:tableStyleId>
              </a:tblPr>
              <a:tblGrid>
                <a:gridCol w="622466">
                  <a:extLst>
                    <a:ext uri="{9D8B030D-6E8A-4147-A177-3AD203B41FA5}">
                      <a16:colId xmlns:a16="http://schemas.microsoft.com/office/drawing/2014/main" val="1426228962"/>
                    </a:ext>
                  </a:extLst>
                </a:gridCol>
                <a:gridCol w="622466">
                  <a:extLst>
                    <a:ext uri="{9D8B030D-6E8A-4147-A177-3AD203B41FA5}">
                      <a16:colId xmlns:a16="http://schemas.microsoft.com/office/drawing/2014/main" val="1903537073"/>
                    </a:ext>
                  </a:extLst>
                </a:gridCol>
                <a:gridCol w="622466">
                  <a:extLst>
                    <a:ext uri="{9D8B030D-6E8A-4147-A177-3AD203B41FA5}">
                      <a16:colId xmlns:a16="http://schemas.microsoft.com/office/drawing/2014/main" val="3532606374"/>
                    </a:ext>
                  </a:extLst>
                </a:gridCol>
                <a:gridCol w="622466">
                  <a:extLst>
                    <a:ext uri="{9D8B030D-6E8A-4147-A177-3AD203B41FA5}">
                      <a16:colId xmlns:a16="http://schemas.microsoft.com/office/drawing/2014/main" val="898962947"/>
                    </a:ext>
                  </a:extLst>
                </a:gridCol>
                <a:gridCol w="622466">
                  <a:extLst>
                    <a:ext uri="{9D8B030D-6E8A-4147-A177-3AD203B41FA5}">
                      <a16:colId xmlns:a16="http://schemas.microsoft.com/office/drawing/2014/main" val="3232601046"/>
                    </a:ext>
                  </a:extLst>
                </a:gridCol>
                <a:gridCol w="622466">
                  <a:extLst>
                    <a:ext uri="{9D8B030D-6E8A-4147-A177-3AD203B41FA5}">
                      <a16:colId xmlns:a16="http://schemas.microsoft.com/office/drawing/2014/main" val="4119415008"/>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CID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3.6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4.9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3677">
                    <a:tc>
                      <a:txBody>
                        <a:bodyPr/>
                        <a:lstStyle/>
                        <a:p>
                          <a:endParaRPr lang="en-US"/>
                        </a:p>
                      </a:txBody>
                      <a:tcPr anchor="b">
                        <a:blipFill>
                          <a:blip r:embed="rId5"/>
                          <a:stretch>
                            <a:fillRect l="-1923" t="-106494" r="-202885" b="-128571"/>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4439">
                    <a:tc>
                      <a:txBody>
                        <a:bodyPr/>
                        <a:lstStyle/>
                        <a:p>
                          <a:endParaRPr lang="en-US"/>
                        </a:p>
                      </a:txBody>
                      <a:tcPr anchor="b">
                        <a:blipFill>
                          <a:blip r:embed="rId5"/>
                          <a:stretch>
                            <a:fillRect l="-1923" t="-209211" r="-202885" b="-30263"/>
                          </a:stretch>
                        </a:blipFill>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9535887"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9535887"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0693">
                    <a:tc>
                      <a:txBody>
                        <a:bodyPr/>
                        <a:lstStyle/>
                        <a:p>
                          <a:endParaRPr lang="en-US"/>
                        </a:p>
                      </a:txBody>
                      <a:tcPr anchor="ctr">
                        <a:blipFill>
                          <a:blip r:embed="rId6"/>
                          <a:stretch>
                            <a:fillRect l="-893" t="-107895" r="-234821" b="-130263"/>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1391">
                    <a:tc>
                      <a:txBody>
                        <a:bodyPr/>
                        <a:lstStyle/>
                        <a:p>
                          <a:endParaRPr lang="en-US"/>
                        </a:p>
                      </a:txBody>
                      <a:tcPr anchor="ctr">
                        <a:blipFill>
                          <a:blip r:embed="rId6"/>
                          <a:stretch>
                            <a:fillRect l="-893" t="-207895" r="-234821" b="-30263"/>
                          </a:stretch>
                        </a:blipFill>
                      </a:tcP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17" name="Rectangle 16">
            <a:extLst>
              <a:ext uri="{FF2B5EF4-FFF2-40B4-BE49-F238E27FC236}">
                <a16:creationId xmlns:a16="http://schemas.microsoft.com/office/drawing/2014/main" id="{2D3A2376-DCDC-4AD7-A7CF-A7D2912D52FC}"/>
              </a:ext>
            </a:extLst>
          </p:cNvPr>
          <p:cNvSpPr/>
          <p:nvPr/>
        </p:nvSpPr>
        <p:spPr>
          <a:xfrm>
            <a:off x="2308440" y="2025748"/>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8E24B58-830E-4B0F-95FE-5D5331FB9D76}"/>
              </a:ext>
            </a:extLst>
          </p:cNvPr>
          <p:cNvSpPr/>
          <p:nvPr/>
        </p:nvSpPr>
        <p:spPr>
          <a:xfrm>
            <a:off x="2308440" y="2500924"/>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E0D3FC-6654-4104-9DF4-DC569D0089F9}"/>
              </a:ext>
            </a:extLst>
          </p:cNvPr>
          <p:cNvSpPr/>
          <p:nvPr/>
        </p:nvSpPr>
        <p:spPr>
          <a:xfrm>
            <a:off x="2309560" y="2929209"/>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995078E-3AF5-4042-B08A-ED9A5768BCEE}"/>
              </a:ext>
            </a:extLst>
          </p:cNvPr>
          <p:cNvSpPr/>
          <p:nvPr/>
        </p:nvSpPr>
        <p:spPr>
          <a:xfrm>
            <a:off x="2933672" y="3389871"/>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83CC787-459D-497C-8E00-FD4E260D2D6D}"/>
              </a:ext>
            </a:extLst>
          </p:cNvPr>
          <p:cNvSpPr/>
          <p:nvPr/>
        </p:nvSpPr>
        <p:spPr>
          <a:xfrm>
            <a:off x="2933672" y="3850533"/>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8CE93345-384A-4F31-ACD7-DC7EB0D300FA}"/>
              </a:ext>
            </a:extLst>
          </p:cNvPr>
          <p:cNvSpPr>
            <a:spLocks noGrp="1"/>
          </p:cNvSpPr>
          <p:nvPr>
            <p:ph type="sldNum" sz="quarter" idx="12"/>
          </p:nvPr>
        </p:nvSpPr>
        <p:spPr/>
        <p:txBody>
          <a:bodyPr/>
          <a:lstStyle/>
          <a:p>
            <a:fld id="{4CC025FC-8595-493D-A46F-2FDFDC85D9BC}" type="slidenum">
              <a:rPr lang="en-US" smtClean="0"/>
              <a:t>23</a:t>
            </a:fld>
            <a:endParaRPr lang="en-US"/>
          </a:p>
        </p:txBody>
      </p:sp>
    </p:spTree>
    <p:extLst>
      <p:ext uri="{BB962C8B-B14F-4D97-AF65-F5344CB8AC3E}">
        <p14:creationId xmlns:p14="http://schemas.microsoft.com/office/powerpoint/2010/main" val="3866729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BE1F97-693C-424F-8113-A492409CC3E4}"/>
              </a:ext>
            </a:extLst>
          </p:cNvPr>
          <p:cNvPicPr>
            <a:picLocks noChangeAspect="1"/>
          </p:cNvPicPr>
          <p:nvPr/>
        </p:nvPicPr>
        <p:blipFill>
          <a:blip r:embed="rId2"/>
          <a:stretch>
            <a:fillRect/>
          </a:stretch>
        </p:blipFill>
        <p:spPr>
          <a:xfrm>
            <a:off x="7205629" y="1513600"/>
            <a:ext cx="4584589" cy="2755631"/>
          </a:xfrm>
          <a:prstGeom prst="rect">
            <a:avLst/>
          </a:prstGeom>
        </p:spPr>
      </p:pic>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4: Optimization</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7" y="1519816"/>
          <a:ext cx="3734796" cy="2743200"/>
        </p:xfrm>
        <a:graphic>
          <a:graphicData uri="http://schemas.openxmlformats.org/drawingml/2006/table">
            <a:tbl>
              <a:tblPr firstRow="1" bandRow="1">
                <a:tableStyleId>{5C22544A-7EE6-4342-B048-85BDC9FD1C3A}</a:tableStyleId>
              </a:tblPr>
              <a:tblGrid>
                <a:gridCol w="622466">
                  <a:extLst>
                    <a:ext uri="{9D8B030D-6E8A-4147-A177-3AD203B41FA5}">
                      <a16:colId xmlns:a16="http://schemas.microsoft.com/office/drawing/2014/main" val="1426228962"/>
                    </a:ext>
                  </a:extLst>
                </a:gridCol>
                <a:gridCol w="622466">
                  <a:extLst>
                    <a:ext uri="{9D8B030D-6E8A-4147-A177-3AD203B41FA5}">
                      <a16:colId xmlns:a16="http://schemas.microsoft.com/office/drawing/2014/main" val="1903537073"/>
                    </a:ext>
                  </a:extLst>
                </a:gridCol>
                <a:gridCol w="622466">
                  <a:extLst>
                    <a:ext uri="{9D8B030D-6E8A-4147-A177-3AD203B41FA5}">
                      <a16:colId xmlns:a16="http://schemas.microsoft.com/office/drawing/2014/main" val="3532606374"/>
                    </a:ext>
                  </a:extLst>
                </a:gridCol>
                <a:gridCol w="622466">
                  <a:extLst>
                    <a:ext uri="{9D8B030D-6E8A-4147-A177-3AD203B41FA5}">
                      <a16:colId xmlns:a16="http://schemas.microsoft.com/office/drawing/2014/main" val="898962947"/>
                    </a:ext>
                  </a:extLst>
                </a:gridCol>
                <a:gridCol w="622466">
                  <a:extLst>
                    <a:ext uri="{9D8B030D-6E8A-4147-A177-3AD203B41FA5}">
                      <a16:colId xmlns:a16="http://schemas.microsoft.com/office/drawing/2014/main" val="3232601046"/>
                    </a:ext>
                  </a:extLst>
                </a:gridCol>
                <a:gridCol w="622466">
                  <a:extLst>
                    <a:ext uri="{9D8B030D-6E8A-4147-A177-3AD203B41FA5}">
                      <a16:colId xmlns:a16="http://schemas.microsoft.com/office/drawing/2014/main" val="4119415008"/>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CID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3.6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4.9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0</m:t>
                                    </m:r>
                                  </m:sup>
                                </m:sSubSup>
                              </m:oMath>
                            </m:oMathPara>
                          </a14:m>
                          <a:endParaRPr lang="en-US" sz="2400" b="0" i="0" u="none" strike="noStrike" dirty="0">
                            <a:solidFill>
                              <a:srgbClr val="000000"/>
                            </a:solidFill>
                            <a:effectLst/>
                            <a:latin typeface="+mn-lt"/>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0" name="Table 9">
                <a:extLst>
                  <a:ext uri="{FF2B5EF4-FFF2-40B4-BE49-F238E27FC236}">
                    <a16:creationId xmlns:a16="http://schemas.microsoft.com/office/drawing/2014/main" id="{2D1C3227-E492-49F5-9BE0-29807929E770}"/>
                  </a:ext>
                </a:extLst>
              </p:cNvPr>
              <p:cNvGraphicFramePr>
                <a:graphicFrameLocks noGrp="1"/>
              </p:cNvGraphicFramePr>
              <p:nvPr/>
            </p:nvGraphicFramePr>
            <p:xfrm>
              <a:off x="7205629" y="4618328"/>
              <a:ext cx="1890159" cy="1385316"/>
            </p:xfrm>
            <a:graphic>
              <a:graphicData uri="http://schemas.openxmlformats.org/drawingml/2006/table">
                <a:tbl>
                  <a:tblPr firstRow="1" bandRow="1">
                    <a:tableStyleId>{5C22544A-7EE6-4342-B048-85BDC9FD1C3A}</a:tableStyleId>
                  </a:tblPr>
                  <a:tblGrid>
                    <a:gridCol w="630053">
                      <a:extLst>
                        <a:ext uri="{9D8B030D-6E8A-4147-A177-3AD203B41FA5}">
                          <a16:colId xmlns:a16="http://schemas.microsoft.com/office/drawing/2014/main" val="1426228962"/>
                        </a:ext>
                      </a:extLst>
                    </a:gridCol>
                    <a:gridCol w="630053">
                      <a:extLst>
                        <a:ext uri="{9D8B030D-6E8A-4147-A177-3AD203B41FA5}">
                          <a16:colId xmlns:a16="http://schemas.microsoft.com/office/drawing/2014/main" val="1903537073"/>
                        </a:ext>
                      </a:extLst>
                    </a:gridCol>
                    <a:gridCol w="630053">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3677">
                    <a:tc>
                      <a:txBody>
                        <a:bodyPr/>
                        <a:lstStyle/>
                        <a:p>
                          <a:endParaRPr lang="en-US"/>
                        </a:p>
                      </a:txBody>
                      <a:tcPr anchor="b">
                        <a:blipFill>
                          <a:blip r:embed="rId5"/>
                          <a:stretch>
                            <a:fillRect l="-1923" t="-106494" r="-202885" b="-128571"/>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4439">
                    <a:tc>
                      <a:txBody>
                        <a:bodyPr/>
                        <a:lstStyle/>
                        <a:p>
                          <a:endParaRPr lang="en-US"/>
                        </a:p>
                      </a:txBody>
                      <a:tcPr anchor="b">
                        <a:blipFill>
                          <a:blip r:embed="rId5"/>
                          <a:stretch>
                            <a:fillRect l="-1923" t="-209211" r="-202885" b="-30263"/>
                          </a:stretch>
                        </a:blipFill>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9535887"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9535887"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0693">
                    <a:tc>
                      <a:txBody>
                        <a:bodyPr/>
                        <a:lstStyle/>
                        <a:p>
                          <a:endParaRPr lang="en-US"/>
                        </a:p>
                      </a:txBody>
                      <a:tcPr anchor="ctr">
                        <a:blipFill>
                          <a:blip r:embed="rId6"/>
                          <a:stretch>
                            <a:fillRect l="-893" t="-107895" r="-234821" b="-130263"/>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1391">
                    <a:tc>
                      <a:txBody>
                        <a:bodyPr/>
                        <a:lstStyle/>
                        <a:p>
                          <a:endParaRPr lang="en-US"/>
                        </a:p>
                      </a:txBody>
                      <a:tcPr anchor="ctr">
                        <a:blipFill>
                          <a:blip r:embed="rId6"/>
                          <a:stretch>
                            <a:fillRect l="-893" t="-207895" r="-234821" b="-30263"/>
                          </a:stretch>
                        </a:blipFill>
                      </a:tcP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17" name="Rectangle 16">
            <a:extLst>
              <a:ext uri="{FF2B5EF4-FFF2-40B4-BE49-F238E27FC236}">
                <a16:creationId xmlns:a16="http://schemas.microsoft.com/office/drawing/2014/main" id="{2D3A2376-DCDC-4AD7-A7CF-A7D2912D52FC}"/>
              </a:ext>
            </a:extLst>
          </p:cNvPr>
          <p:cNvSpPr/>
          <p:nvPr/>
        </p:nvSpPr>
        <p:spPr>
          <a:xfrm>
            <a:off x="2308440" y="2025748"/>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8E24B58-830E-4B0F-95FE-5D5331FB9D76}"/>
              </a:ext>
            </a:extLst>
          </p:cNvPr>
          <p:cNvSpPr/>
          <p:nvPr/>
        </p:nvSpPr>
        <p:spPr>
          <a:xfrm>
            <a:off x="2308440" y="2500924"/>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E0D3FC-6654-4104-9DF4-DC569D0089F9}"/>
              </a:ext>
            </a:extLst>
          </p:cNvPr>
          <p:cNvSpPr/>
          <p:nvPr/>
        </p:nvSpPr>
        <p:spPr>
          <a:xfrm>
            <a:off x="2309560" y="2929209"/>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995078E-3AF5-4042-B08A-ED9A5768BCEE}"/>
              </a:ext>
            </a:extLst>
          </p:cNvPr>
          <p:cNvSpPr/>
          <p:nvPr/>
        </p:nvSpPr>
        <p:spPr>
          <a:xfrm>
            <a:off x="2933672" y="3389871"/>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83CC787-459D-497C-8E00-FD4E260D2D6D}"/>
              </a:ext>
            </a:extLst>
          </p:cNvPr>
          <p:cNvSpPr/>
          <p:nvPr/>
        </p:nvSpPr>
        <p:spPr>
          <a:xfrm>
            <a:off x="2933672" y="3850533"/>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59AB0FD7-4CFC-478B-923B-EB16E9CFA936}"/>
                  </a:ext>
                </a:extLst>
              </p:cNvPr>
              <p:cNvGraphicFramePr>
                <a:graphicFrameLocks noGrp="1"/>
              </p:cNvGraphicFramePr>
              <p:nvPr/>
            </p:nvGraphicFramePr>
            <p:xfrm>
              <a:off x="379014" y="4645526"/>
              <a:ext cx="6544298" cy="2019428"/>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1+0</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0.67</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0+2</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1</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2</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3</m:t>
                                    </m:r>
                                  </m:num>
                                  <m:den>
                                    <m:r>
                                      <a:rPr lang="en-US" sz="2400" b="0" i="1" dirty="0" smtClean="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2</m:t>
                                </m:r>
                                <m:r>
                                  <a:rPr lang="en-US" sz="2400" b="0" i="1" dirty="0" smtClean="0">
                                    <a:solidFill>
                                      <a:srgbClr val="000000"/>
                                    </a:solidFill>
                                    <a:latin typeface="Cambria Math" panose="02040503050406030204" pitchFamily="18" charset="0"/>
                                  </a:rPr>
                                  <m:t>.5</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f>
                                  <m:fPr>
                                    <m:ctrlPr>
                                      <a:rPr lang="en-US" sz="2400" i="1" dirty="0" smtClean="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4</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5</m:t>
                                    </m:r>
                                  </m:num>
                                  <m:den>
                                    <m:r>
                                      <a:rPr lang="en-US" sz="2400" b="0" i="1" dirty="0" smtClean="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4.5</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2" name="Table 11">
                <a:extLst>
                  <a:ext uri="{FF2B5EF4-FFF2-40B4-BE49-F238E27FC236}">
                    <a16:creationId xmlns:a16="http://schemas.microsoft.com/office/drawing/2014/main" id="{59AB0FD7-4CFC-478B-923B-EB16E9CFA936}"/>
                  </a:ext>
                </a:extLst>
              </p:cNvPr>
              <p:cNvGraphicFramePr>
                <a:graphicFrameLocks noGrp="1"/>
              </p:cNvGraphicFramePr>
              <p:nvPr>
                <p:extLst>
                  <p:ext uri="{D42A27DB-BD31-4B8C-83A1-F6EECF244321}">
                    <p14:modId xmlns:p14="http://schemas.microsoft.com/office/powerpoint/2010/main" val="193051726"/>
                  </p:ext>
                </p:extLst>
              </p:nvPr>
            </p:nvGraphicFramePr>
            <p:xfrm>
              <a:off x="379014" y="4645526"/>
              <a:ext cx="6544298" cy="2019428"/>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778574">
                    <a:tc>
                      <a:txBody>
                        <a:bodyPr/>
                        <a:lstStyle/>
                        <a:p>
                          <a:endParaRPr lang="en-US"/>
                        </a:p>
                      </a:txBody>
                      <a:tcPr anchor="ctr">
                        <a:blipFill>
                          <a:blip r:embed="rId7"/>
                          <a:stretch>
                            <a:fillRect l="-617" t="-64844" r="-565432" b="-102344"/>
                          </a:stretch>
                        </a:blipFill>
                      </a:tcPr>
                    </a:tc>
                    <a:tc>
                      <a:txBody>
                        <a:bodyPr/>
                        <a:lstStyle/>
                        <a:p>
                          <a:endParaRPr lang="en-US"/>
                        </a:p>
                      </a:txBody>
                      <a:tcPr anchor="b">
                        <a:blipFill>
                          <a:blip r:embed="rId7"/>
                          <a:stretch>
                            <a:fillRect l="-35667" t="-64844" r="-100438" b="-102344"/>
                          </a:stretch>
                        </a:blipFill>
                      </a:tcPr>
                    </a:tc>
                    <a:tc>
                      <a:txBody>
                        <a:bodyPr/>
                        <a:lstStyle/>
                        <a:p>
                          <a:endParaRPr lang="en-US"/>
                        </a:p>
                      </a:txBody>
                      <a:tcPr anchor="b">
                        <a:blipFill>
                          <a:blip r:embed="rId7"/>
                          <a:stretch>
                            <a:fillRect l="-136264" t="-64844" r="-879" b="-102344"/>
                          </a:stretch>
                        </a:blipFill>
                      </a:tcPr>
                    </a:tc>
                    <a:extLst>
                      <a:ext uri="{0D108BD9-81ED-4DB2-BD59-A6C34878D82A}">
                        <a16:rowId xmlns:a16="http://schemas.microsoft.com/office/drawing/2014/main" val="250012933"/>
                      </a:ext>
                    </a:extLst>
                  </a:tr>
                  <a:tr h="783654">
                    <a:tc>
                      <a:txBody>
                        <a:bodyPr/>
                        <a:lstStyle/>
                        <a:p>
                          <a:endParaRPr lang="en-US"/>
                        </a:p>
                      </a:txBody>
                      <a:tcPr anchor="ctr">
                        <a:blipFill>
                          <a:blip r:embed="rId7"/>
                          <a:stretch>
                            <a:fillRect l="-617" t="-163566" r="-565432" b="-1550"/>
                          </a:stretch>
                        </a:blipFill>
                      </a:tcPr>
                    </a:tc>
                    <a:tc>
                      <a:txBody>
                        <a:bodyPr/>
                        <a:lstStyle/>
                        <a:p>
                          <a:endParaRPr lang="en-US"/>
                        </a:p>
                      </a:txBody>
                      <a:tcPr anchor="b">
                        <a:blipFill>
                          <a:blip r:embed="rId7"/>
                          <a:stretch>
                            <a:fillRect l="-35667" t="-163566" r="-100438" b="-1550"/>
                          </a:stretch>
                        </a:blipFill>
                      </a:tcPr>
                    </a:tc>
                    <a:tc>
                      <a:txBody>
                        <a:bodyPr/>
                        <a:lstStyle/>
                        <a:p>
                          <a:endParaRPr lang="en-US"/>
                        </a:p>
                      </a:txBody>
                      <a:tcPr anchor="b">
                        <a:blipFill>
                          <a:blip r:embed="rId7"/>
                          <a:stretch>
                            <a:fillRect l="-136264" t="-163566" r="-879" b="-1550"/>
                          </a:stretch>
                        </a:blipFill>
                      </a:tcPr>
                    </a:tc>
                    <a:extLst>
                      <a:ext uri="{0D108BD9-81ED-4DB2-BD59-A6C34878D82A}">
                        <a16:rowId xmlns:a16="http://schemas.microsoft.com/office/drawing/2014/main" val="3862792953"/>
                      </a:ext>
                    </a:extLst>
                  </a:tr>
                </a:tbl>
              </a:graphicData>
            </a:graphic>
          </p:graphicFrame>
        </mc:Fallback>
      </mc:AlternateContent>
      <p:sp>
        <p:nvSpPr>
          <p:cNvPr id="7" name="Slide Number Placeholder 6">
            <a:extLst>
              <a:ext uri="{FF2B5EF4-FFF2-40B4-BE49-F238E27FC236}">
                <a16:creationId xmlns:a16="http://schemas.microsoft.com/office/drawing/2014/main" id="{C637F2C3-E978-4F7E-B465-E71EFE98D5CE}"/>
              </a:ext>
            </a:extLst>
          </p:cNvPr>
          <p:cNvSpPr>
            <a:spLocks noGrp="1"/>
          </p:cNvSpPr>
          <p:nvPr>
            <p:ph type="sldNum" sz="quarter" idx="12"/>
          </p:nvPr>
        </p:nvSpPr>
        <p:spPr/>
        <p:txBody>
          <a:bodyPr/>
          <a:lstStyle/>
          <a:p>
            <a:fld id="{4CC025FC-8595-493D-A46F-2FDFDC85D9BC}" type="slidenum">
              <a:rPr lang="en-US" smtClean="0"/>
              <a:t>24</a:t>
            </a:fld>
            <a:endParaRPr lang="en-US"/>
          </a:p>
        </p:txBody>
      </p:sp>
    </p:spTree>
    <p:extLst>
      <p:ext uri="{BB962C8B-B14F-4D97-AF65-F5344CB8AC3E}">
        <p14:creationId xmlns:p14="http://schemas.microsoft.com/office/powerpoint/2010/main" val="971823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4: Optimization</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7" y="1519816"/>
          <a:ext cx="3734796" cy="2743200"/>
        </p:xfrm>
        <a:graphic>
          <a:graphicData uri="http://schemas.openxmlformats.org/drawingml/2006/table">
            <a:tbl>
              <a:tblPr firstRow="1" bandRow="1">
                <a:tableStyleId>{5C22544A-7EE6-4342-B048-85BDC9FD1C3A}</a:tableStyleId>
              </a:tblPr>
              <a:tblGrid>
                <a:gridCol w="622466">
                  <a:extLst>
                    <a:ext uri="{9D8B030D-6E8A-4147-A177-3AD203B41FA5}">
                      <a16:colId xmlns:a16="http://schemas.microsoft.com/office/drawing/2014/main" val="1426228962"/>
                    </a:ext>
                  </a:extLst>
                </a:gridCol>
                <a:gridCol w="622466">
                  <a:extLst>
                    <a:ext uri="{9D8B030D-6E8A-4147-A177-3AD203B41FA5}">
                      <a16:colId xmlns:a16="http://schemas.microsoft.com/office/drawing/2014/main" val="1903537073"/>
                    </a:ext>
                  </a:extLst>
                </a:gridCol>
                <a:gridCol w="622466">
                  <a:extLst>
                    <a:ext uri="{9D8B030D-6E8A-4147-A177-3AD203B41FA5}">
                      <a16:colId xmlns:a16="http://schemas.microsoft.com/office/drawing/2014/main" val="3532606374"/>
                    </a:ext>
                  </a:extLst>
                </a:gridCol>
                <a:gridCol w="622466">
                  <a:extLst>
                    <a:ext uri="{9D8B030D-6E8A-4147-A177-3AD203B41FA5}">
                      <a16:colId xmlns:a16="http://schemas.microsoft.com/office/drawing/2014/main" val="898962947"/>
                    </a:ext>
                  </a:extLst>
                </a:gridCol>
                <a:gridCol w="622466">
                  <a:extLst>
                    <a:ext uri="{9D8B030D-6E8A-4147-A177-3AD203B41FA5}">
                      <a16:colId xmlns:a16="http://schemas.microsoft.com/office/drawing/2014/main" val="3232601046"/>
                    </a:ext>
                  </a:extLst>
                </a:gridCol>
                <a:gridCol w="622466">
                  <a:extLst>
                    <a:ext uri="{9D8B030D-6E8A-4147-A177-3AD203B41FA5}">
                      <a16:colId xmlns:a16="http://schemas.microsoft.com/office/drawing/2014/main" val="4119415008"/>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CID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2.4</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3.6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0.5</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4.9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1.9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7205629"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extLst>
                  <p:ext uri="{D42A27DB-BD31-4B8C-83A1-F6EECF244321}">
                    <p14:modId xmlns:p14="http://schemas.microsoft.com/office/powerpoint/2010/main" val="144478477"/>
                  </p:ext>
                </p:extLst>
              </p:nvPr>
            </p:nvGraphicFramePr>
            <p:xfrm>
              <a:off x="7205629"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0693">
                    <a:tc>
                      <a:txBody>
                        <a:bodyPr/>
                        <a:lstStyle/>
                        <a:p>
                          <a:endParaRPr lang="en-US"/>
                        </a:p>
                      </a:txBody>
                      <a:tcPr anchor="ctr">
                        <a:blipFill>
                          <a:blip r:embed="rId4"/>
                          <a:stretch>
                            <a:fillRect l="-1786" t="-107895" r="-233929" b="-130263"/>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1391">
                    <a:tc>
                      <a:txBody>
                        <a:bodyPr/>
                        <a:lstStyle/>
                        <a:p>
                          <a:endParaRPr lang="en-US"/>
                        </a:p>
                      </a:txBody>
                      <a:tcPr anchor="ctr">
                        <a:blipFill>
                          <a:blip r:embed="rId4"/>
                          <a:stretch>
                            <a:fillRect l="-1786" t="-207895" r="-233929" b="-30263"/>
                          </a:stretch>
                        </a:blipFill>
                      </a:tcP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sp>
        <p:nvSpPr>
          <p:cNvPr id="17" name="Rectangle 16">
            <a:extLst>
              <a:ext uri="{FF2B5EF4-FFF2-40B4-BE49-F238E27FC236}">
                <a16:creationId xmlns:a16="http://schemas.microsoft.com/office/drawing/2014/main" id="{2D3A2376-DCDC-4AD7-A7CF-A7D2912D52FC}"/>
              </a:ext>
            </a:extLst>
          </p:cNvPr>
          <p:cNvSpPr/>
          <p:nvPr/>
        </p:nvSpPr>
        <p:spPr>
          <a:xfrm>
            <a:off x="2308440" y="2025748"/>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8E24B58-830E-4B0F-95FE-5D5331FB9D76}"/>
              </a:ext>
            </a:extLst>
          </p:cNvPr>
          <p:cNvSpPr/>
          <p:nvPr/>
        </p:nvSpPr>
        <p:spPr>
          <a:xfrm>
            <a:off x="2308440" y="2500924"/>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E0D3FC-6654-4104-9DF4-DC569D0089F9}"/>
              </a:ext>
            </a:extLst>
          </p:cNvPr>
          <p:cNvSpPr/>
          <p:nvPr/>
        </p:nvSpPr>
        <p:spPr>
          <a:xfrm>
            <a:off x="2309560" y="2929209"/>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995078E-3AF5-4042-B08A-ED9A5768BCEE}"/>
              </a:ext>
            </a:extLst>
          </p:cNvPr>
          <p:cNvSpPr/>
          <p:nvPr/>
        </p:nvSpPr>
        <p:spPr>
          <a:xfrm>
            <a:off x="2933672" y="3389871"/>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83CC787-459D-497C-8E00-FD4E260D2D6D}"/>
              </a:ext>
            </a:extLst>
          </p:cNvPr>
          <p:cNvSpPr/>
          <p:nvPr/>
        </p:nvSpPr>
        <p:spPr>
          <a:xfrm>
            <a:off x="2933672" y="3850533"/>
            <a:ext cx="548640" cy="365760"/>
          </a:xfrm>
          <a:prstGeom prst="rect">
            <a:avLst/>
          </a:prstGeom>
          <a:solidFill>
            <a:srgbClr val="FF00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59AB0FD7-4CFC-478B-923B-EB16E9CFA936}"/>
                  </a:ext>
                </a:extLst>
              </p:cNvPr>
              <p:cNvGraphicFramePr>
                <a:graphicFrameLocks noGrp="1"/>
              </p:cNvGraphicFramePr>
              <p:nvPr/>
            </p:nvGraphicFramePr>
            <p:xfrm>
              <a:off x="379014" y="4645526"/>
              <a:ext cx="6544298" cy="2019428"/>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2</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1+0</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0.67</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i="1" dirty="0">
                                        <a:solidFill>
                                          <a:srgbClr val="000000"/>
                                        </a:solidFill>
                                        <a:latin typeface="Cambria Math" panose="02040503050406030204" pitchFamily="18" charset="0"/>
                                      </a:rPr>
                                      <m:t>1+</m:t>
                                    </m:r>
                                    <m:r>
                                      <a:rPr lang="en-US" sz="2400" b="0" i="1" dirty="0" smtClean="0">
                                        <a:solidFill>
                                          <a:srgbClr val="000000"/>
                                        </a:solidFill>
                                        <a:latin typeface="Cambria Math" panose="02040503050406030204" pitchFamily="18" charset="0"/>
                                      </a:rPr>
                                      <m:t>0+2</m:t>
                                    </m:r>
                                  </m:num>
                                  <m:den>
                                    <m:r>
                                      <a:rPr lang="en-US" sz="2400" b="0" i="1" dirty="0" smtClean="0">
                                        <a:solidFill>
                                          <a:srgbClr val="000000"/>
                                        </a:solidFill>
                                        <a:latin typeface="Cambria Math" panose="02040503050406030204" pitchFamily="18" charset="0"/>
                                      </a:rPr>
                                      <m:t>3</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1</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2</m:t>
                                    </m:r>
                                  </m:sup>
                                </m:sSubSup>
                              </m:oMath>
                            </m:oMathPara>
                          </a14:m>
                          <a:endParaRPr lang="en-US" sz="2400" b="0" i="0" u="none" strike="noStrike" dirty="0">
                            <a:solidFill>
                              <a:srgbClr val="000000"/>
                            </a:solidFill>
                            <a:effectLst/>
                            <a:latin typeface="+mn-lt"/>
                          </a:endParaRPr>
                        </a:p>
                      </a:txBody>
                      <a:tcPr anchor="ctr"/>
                    </a:tc>
                    <a:tc>
                      <a:txBody>
                        <a:bodyPr/>
                        <a:lstStyle/>
                        <a:p>
                          <a:pPr algn="r" fontAlgn="b"/>
                          <a14:m>
                            <m:oMathPara xmlns:m="http://schemas.openxmlformats.org/officeDocument/2006/math">
                              <m:oMathParaPr>
                                <m:jc m:val="centerGroup"/>
                              </m:oMathParaPr>
                              <m:oMath xmlns:m="http://schemas.openxmlformats.org/officeDocument/2006/math">
                                <m:r>
                                  <a:rPr lang="en-US" sz="2400" i="1" dirty="0" smtClean="0">
                                    <a:solidFill>
                                      <a:srgbClr val="000000"/>
                                    </a:solidFill>
                                    <a:latin typeface="Cambria Math" panose="02040503050406030204" pitchFamily="18" charset="0"/>
                                  </a:rPr>
                                  <m:t> </m:t>
                                </m:r>
                                <m:f>
                                  <m:fPr>
                                    <m:ctrlPr>
                                      <a:rPr lang="en-US" sz="2400" i="1" dirty="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2</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3</m:t>
                                    </m:r>
                                  </m:num>
                                  <m:den>
                                    <m:r>
                                      <a:rPr lang="en-US" sz="2400" b="0" i="1" dirty="0" smtClean="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m:t>
                                </m:r>
                                <m:r>
                                  <a:rPr lang="en-US" sz="2400" i="1" dirty="0" smtClean="0">
                                    <a:solidFill>
                                      <a:srgbClr val="000000"/>
                                    </a:solidFill>
                                    <a:latin typeface="Cambria Math" panose="02040503050406030204" pitchFamily="18" charset="0"/>
                                  </a:rPr>
                                  <m:t>2</m:t>
                                </m:r>
                                <m:r>
                                  <a:rPr lang="en-US" sz="2400" b="0" i="1" dirty="0" smtClean="0">
                                    <a:solidFill>
                                      <a:srgbClr val="000000"/>
                                    </a:solidFill>
                                    <a:latin typeface="Cambria Math" panose="02040503050406030204" pitchFamily="18" charset="0"/>
                                  </a:rPr>
                                  <m:t>.5</m:t>
                                </m:r>
                              </m:oMath>
                            </m:oMathPara>
                          </a14:m>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14:m>
                            <m:oMathPara xmlns:m="http://schemas.openxmlformats.org/officeDocument/2006/math">
                              <m:oMathParaPr>
                                <m:jc m:val="centerGroup"/>
                              </m:oMathParaPr>
                              <m:oMath xmlns:m="http://schemas.openxmlformats.org/officeDocument/2006/math">
                                <m:f>
                                  <m:fPr>
                                    <m:ctrlPr>
                                      <a:rPr lang="en-US" sz="2400" i="1" dirty="0" smtClean="0">
                                        <a:solidFill>
                                          <a:srgbClr val="000000"/>
                                        </a:solidFill>
                                        <a:latin typeface="Cambria Math" panose="02040503050406030204" pitchFamily="18" charset="0"/>
                                      </a:rPr>
                                    </m:ctrlPr>
                                  </m:fPr>
                                  <m:num>
                                    <m:r>
                                      <a:rPr lang="en-US" sz="2400" b="0" i="1" dirty="0" smtClean="0">
                                        <a:solidFill>
                                          <a:srgbClr val="000000"/>
                                        </a:solidFill>
                                        <a:latin typeface="Cambria Math" panose="02040503050406030204" pitchFamily="18" charset="0"/>
                                      </a:rPr>
                                      <m:t>4</m:t>
                                    </m:r>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5</m:t>
                                    </m:r>
                                  </m:num>
                                  <m:den>
                                    <m:r>
                                      <a:rPr lang="en-US" sz="2400" b="0" i="1" dirty="0" smtClean="0">
                                        <a:solidFill>
                                          <a:srgbClr val="000000"/>
                                        </a:solidFill>
                                        <a:latin typeface="Cambria Math" panose="02040503050406030204" pitchFamily="18" charset="0"/>
                                      </a:rPr>
                                      <m:t>2</m:t>
                                    </m:r>
                                  </m:den>
                                </m:f>
                                <m:r>
                                  <a:rPr lang="en-US" sz="2400" i="1" dirty="0">
                                    <a:solidFill>
                                      <a:srgbClr val="000000"/>
                                    </a:solidFill>
                                    <a:latin typeface="Cambria Math" panose="02040503050406030204" pitchFamily="18" charset="0"/>
                                  </a:rPr>
                                  <m:t>=</m:t>
                                </m:r>
                                <m:r>
                                  <a:rPr lang="en-US" sz="2400" b="0" i="1" dirty="0" smtClean="0">
                                    <a:solidFill>
                                      <a:srgbClr val="000000"/>
                                    </a:solidFill>
                                    <a:latin typeface="Cambria Math" panose="02040503050406030204" pitchFamily="18" charset="0"/>
                                  </a:rPr>
                                  <m:t>4.5</m:t>
                                </m:r>
                              </m:oMath>
                            </m:oMathPara>
                          </a14:m>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2" name="Table 11">
                <a:extLst>
                  <a:ext uri="{FF2B5EF4-FFF2-40B4-BE49-F238E27FC236}">
                    <a16:creationId xmlns:a16="http://schemas.microsoft.com/office/drawing/2014/main" id="{59AB0FD7-4CFC-478B-923B-EB16E9CFA936}"/>
                  </a:ext>
                </a:extLst>
              </p:cNvPr>
              <p:cNvGraphicFramePr>
                <a:graphicFrameLocks noGrp="1"/>
              </p:cNvGraphicFramePr>
              <p:nvPr>
                <p:extLst>
                  <p:ext uri="{D42A27DB-BD31-4B8C-83A1-F6EECF244321}">
                    <p14:modId xmlns:p14="http://schemas.microsoft.com/office/powerpoint/2010/main" val="3994356792"/>
                  </p:ext>
                </p:extLst>
              </p:nvPr>
            </p:nvGraphicFramePr>
            <p:xfrm>
              <a:off x="379014" y="4645526"/>
              <a:ext cx="6544298" cy="2019428"/>
            </p:xfrm>
            <a:graphic>
              <a:graphicData uri="http://schemas.openxmlformats.org/drawingml/2006/table">
                <a:tbl>
                  <a:tblPr firstRow="1" bandRow="1">
                    <a:tableStyleId>{5C22544A-7EE6-4342-B048-85BDC9FD1C3A}</a:tableStyleId>
                  </a:tblPr>
                  <a:tblGrid>
                    <a:gridCol w="985329">
                      <a:extLst>
                        <a:ext uri="{9D8B030D-6E8A-4147-A177-3AD203B41FA5}">
                          <a16:colId xmlns:a16="http://schemas.microsoft.com/office/drawing/2014/main" val="1426228962"/>
                        </a:ext>
                      </a:extLst>
                    </a:gridCol>
                    <a:gridCol w="2786743">
                      <a:extLst>
                        <a:ext uri="{9D8B030D-6E8A-4147-A177-3AD203B41FA5}">
                          <a16:colId xmlns:a16="http://schemas.microsoft.com/office/drawing/2014/main" val="1903537073"/>
                        </a:ext>
                      </a:extLst>
                    </a:gridCol>
                    <a:gridCol w="2772226">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778574">
                    <a:tc>
                      <a:txBody>
                        <a:bodyPr/>
                        <a:lstStyle/>
                        <a:p>
                          <a:endParaRPr lang="en-US"/>
                        </a:p>
                      </a:txBody>
                      <a:tcPr anchor="ctr">
                        <a:blipFill>
                          <a:blip r:embed="rId5"/>
                          <a:stretch>
                            <a:fillRect l="-617" t="-64844" r="-565432" b="-102344"/>
                          </a:stretch>
                        </a:blipFill>
                      </a:tcPr>
                    </a:tc>
                    <a:tc>
                      <a:txBody>
                        <a:bodyPr/>
                        <a:lstStyle/>
                        <a:p>
                          <a:endParaRPr lang="en-US"/>
                        </a:p>
                      </a:txBody>
                      <a:tcPr anchor="b">
                        <a:blipFill>
                          <a:blip r:embed="rId5"/>
                          <a:stretch>
                            <a:fillRect l="-35667" t="-64844" r="-100438" b="-102344"/>
                          </a:stretch>
                        </a:blipFill>
                      </a:tcPr>
                    </a:tc>
                    <a:tc>
                      <a:txBody>
                        <a:bodyPr/>
                        <a:lstStyle/>
                        <a:p>
                          <a:endParaRPr lang="en-US"/>
                        </a:p>
                      </a:txBody>
                      <a:tcPr anchor="b">
                        <a:blipFill>
                          <a:blip r:embed="rId5"/>
                          <a:stretch>
                            <a:fillRect l="-136264" t="-64844" r="-879" b="-102344"/>
                          </a:stretch>
                        </a:blipFill>
                      </a:tcPr>
                    </a:tc>
                    <a:extLst>
                      <a:ext uri="{0D108BD9-81ED-4DB2-BD59-A6C34878D82A}">
                        <a16:rowId xmlns:a16="http://schemas.microsoft.com/office/drawing/2014/main" val="250012933"/>
                      </a:ext>
                    </a:extLst>
                  </a:tr>
                  <a:tr h="783654">
                    <a:tc>
                      <a:txBody>
                        <a:bodyPr/>
                        <a:lstStyle/>
                        <a:p>
                          <a:endParaRPr lang="en-US"/>
                        </a:p>
                      </a:txBody>
                      <a:tcPr anchor="ctr">
                        <a:blipFill>
                          <a:blip r:embed="rId5"/>
                          <a:stretch>
                            <a:fillRect l="-617" t="-163566" r="-565432" b="-1550"/>
                          </a:stretch>
                        </a:blipFill>
                      </a:tcPr>
                    </a:tc>
                    <a:tc>
                      <a:txBody>
                        <a:bodyPr/>
                        <a:lstStyle/>
                        <a:p>
                          <a:endParaRPr lang="en-US"/>
                        </a:p>
                      </a:txBody>
                      <a:tcPr anchor="b">
                        <a:blipFill>
                          <a:blip r:embed="rId5"/>
                          <a:stretch>
                            <a:fillRect l="-35667" t="-163566" r="-100438" b="-1550"/>
                          </a:stretch>
                        </a:blipFill>
                      </a:tcPr>
                    </a:tc>
                    <a:tc>
                      <a:txBody>
                        <a:bodyPr/>
                        <a:lstStyle/>
                        <a:p>
                          <a:endParaRPr lang="en-US"/>
                        </a:p>
                      </a:txBody>
                      <a:tcPr anchor="b">
                        <a:blipFill>
                          <a:blip r:embed="rId5"/>
                          <a:stretch>
                            <a:fillRect l="-136264" t="-163566" r="-879" b="-1550"/>
                          </a:stretch>
                        </a:blipFill>
                      </a:tcPr>
                    </a:tc>
                    <a:extLst>
                      <a:ext uri="{0D108BD9-81ED-4DB2-BD59-A6C34878D82A}">
                        <a16:rowId xmlns:a16="http://schemas.microsoft.com/office/drawing/2014/main" val="38627929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B0AC2792-FB7D-4A86-B577-3BE426D49CC4}"/>
                  </a:ext>
                </a:extLst>
              </p:cNvPr>
              <p:cNvGraphicFramePr>
                <a:graphicFrameLocks noGrp="1"/>
              </p:cNvGraphicFramePr>
              <p:nvPr/>
            </p:nvGraphicFramePr>
            <p:xfrm>
              <a:off x="9535886" y="4618328"/>
              <a:ext cx="2254332" cy="1380808"/>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2</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0.67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2</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2.5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4" name="Table 13">
                <a:extLst>
                  <a:ext uri="{FF2B5EF4-FFF2-40B4-BE49-F238E27FC236}">
                    <a16:creationId xmlns:a16="http://schemas.microsoft.com/office/drawing/2014/main" id="{B0AC2792-FB7D-4A86-B577-3BE426D49CC4}"/>
                  </a:ext>
                </a:extLst>
              </p:cNvPr>
              <p:cNvGraphicFramePr>
                <a:graphicFrameLocks noGrp="1"/>
              </p:cNvGraphicFramePr>
              <p:nvPr>
                <p:extLst>
                  <p:ext uri="{D42A27DB-BD31-4B8C-83A1-F6EECF244321}">
                    <p14:modId xmlns:p14="http://schemas.microsoft.com/office/powerpoint/2010/main" val="3504739301"/>
                  </p:ext>
                </p:extLst>
              </p:nvPr>
            </p:nvGraphicFramePr>
            <p:xfrm>
              <a:off x="9535886" y="4618328"/>
              <a:ext cx="2254332" cy="1380808"/>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1455">
                    <a:tc>
                      <a:txBody>
                        <a:bodyPr/>
                        <a:lstStyle/>
                        <a:p>
                          <a:endParaRPr lang="en-US"/>
                        </a:p>
                      </a:txBody>
                      <a:tcPr anchor="ctr">
                        <a:blipFill>
                          <a:blip r:embed="rId6"/>
                          <a:stretch>
                            <a:fillRect l="-893" t="-106494" r="-234821" b="-127273"/>
                          </a:stretch>
                        </a:blipFill>
                      </a:tcPr>
                    </a:tc>
                    <a:tc>
                      <a:txBody>
                        <a:bodyPr/>
                        <a:lstStyle/>
                        <a:p>
                          <a:pPr algn="r" fontAlgn="b"/>
                          <a:r>
                            <a:rPr lang="en-US" sz="2400" u="none" strike="noStrike" dirty="0">
                              <a:effectLst/>
                            </a:rPr>
                            <a:t>0.67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2153">
                    <a:tc>
                      <a:txBody>
                        <a:bodyPr/>
                        <a:lstStyle/>
                        <a:p>
                          <a:endParaRPr lang="en-US"/>
                        </a:p>
                      </a:txBody>
                      <a:tcPr anchor="ctr">
                        <a:blipFill>
                          <a:blip r:embed="rId6"/>
                          <a:stretch>
                            <a:fillRect l="-893" t="-209211" r="-234821" b="-28947"/>
                          </a:stretch>
                        </a:blipFill>
                      </a:tcPr>
                    </a:tc>
                    <a:tc>
                      <a:txBody>
                        <a:bodyPr/>
                        <a:lstStyle/>
                        <a:p>
                          <a:pPr algn="r" fontAlgn="b"/>
                          <a:r>
                            <a:rPr lang="en-US" sz="2400" u="none" strike="noStrike" dirty="0">
                              <a:effectLst/>
                            </a:rPr>
                            <a:t>2.5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pic>
        <p:nvPicPr>
          <p:cNvPr id="3" name="Picture 2">
            <a:extLst>
              <a:ext uri="{FF2B5EF4-FFF2-40B4-BE49-F238E27FC236}">
                <a16:creationId xmlns:a16="http://schemas.microsoft.com/office/drawing/2014/main" id="{11793924-5A10-416B-8403-5F8593587013}"/>
              </a:ext>
            </a:extLst>
          </p:cNvPr>
          <p:cNvPicPr>
            <a:picLocks noChangeAspect="1"/>
          </p:cNvPicPr>
          <p:nvPr/>
        </p:nvPicPr>
        <p:blipFill>
          <a:blip r:embed="rId7"/>
          <a:stretch>
            <a:fillRect/>
          </a:stretch>
        </p:blipFill>
        <p:spPr>
          <a:xfrm>
            <a:off x="7205629" y="1507385"/>
            <a:ext cx="4584589" cy="2755631"/>
          </a:xfrm>
          <a:prstGeom prst="rect">
            <a:avLst/>
          </a:prstGeom>
        </p:spPr>
      </p:pic>
      <p:sp>
        <p:nvSpPr>
          <p:cNvPr id="7" name="Slide Number Placeholder 6">
            <a:extLst>
              <a:ext uri="{FF2B5EF4-FFF2-40B4-BE49-F238E27FC236}">
                <a16:creationId xmlns:a16="http://schemas.microsoft.com/office/drawing/2014/main" id="{5FFB4192-B25A-4EC8-9990-EF1D3638EF43}"/>
              </a:ext>
            </a:extLst>
          </p:cNvPr>
          <p:cNvSpPr>
            <a:spLocks noGrp="1"/>
          </p:cNvSpPr>
          <p:nvPr>
            <p:ph type="sldNum" sz="quarter" idx="12"/>
          </p:nvPr>
        </p:nvSpPr>
        <p:spPr/>
        <p:txBody>
          <a:bodyPr/>
          <a:lstStyle/>
          <a:p>
            <a:fld id="{4CC025FC-8595-493D-A46F-2FDFDC85D9BC}" type="slidenum">
              <a:rPr lang="en-US" smtClean="0"/>
              <a:t>25</a:t>
            </a:fld>
            <a:endParaRPr lang="en-US"/>
          </a:p>
        </p:txBody>
      </p:sp>
    </p:spTree>
    <p:extLst>
      <p:ext uri="{BB962C8B-B14F-4D97-AF65-F5344CB8AC3E}">
        <p14:creationId xmlns:p14="http://schemas.microsoft.com/office/powerpoint/2010/main" val="654679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C4798-44DB-4669-A64E-BC807E0EFEEB}"/>
              </a:ext>
            </a:extLst>
          </p:cNvPr>
          <p:cNvSpPr>
            <a:spLocks noGrp="1"/>
          </p:cNvSpPr>
          <p:nvPr>
            <p:ph type="title"/>
          </p:nvPr>
        </p:nvSpPr>
        <p:spPr/>
        <p:txBody>
          <a:bodyPr>
            <a:normAutofit fontScale="90000"/>
          </a:bodyPr>
          <a:lstStyle/>
          <a:p>
            <a:r>
              <a:rPr lang="en-US" dirty="0"/>
              <a:t>k-Means Demo – Step 5: Convergence</a:t>
            </a:r>
          </a:p>
        </p:txBody>
      </p:sp>
      <p:graphicFrame>
        <p:nvGraphicFramePr>
          <p:cNvPr id="4" name="Table 3">
            <a:extLst>
              <a:ext uri="{FF2B5EF4-FFF2-40B4-BE49-F238E27FC236}">
                <a16:creationId xmlns:a16="http://schemas.microsoft.com/office/drawing/2014/main" id="{05DE8E96-56DF-4AAC-B06E-4B80CD4B40E9}"/>
              </a:ext>
            </a:extLst>
          </p:cNvPr>
          <p:cNvGraphicFramePr>
            <a:graphicFrameLocks noGrp="1"/>
          </p:cNvGraphicFramePr>
          <p:nvPr/>
        </p:nvGraphicFramePr>
        <p:xfrm>
          <a:off x="401777" y="1519816"/>
          <a:ext cx="4445994" cy="2743200"/>
        </p:xfrm>
        <a:graphic>
          <a:graphicData uri="http://schemas.openxmlformats.org/drawingml/2006/table">
            <a:tbl>
              <a:tblPr firstRow="1" bandRow="1">
                <a:tableStyleId>{5C22544A-7EE6-4342-B048-85BDC9FD1C3A}</a:tableStyleId>
              </a:tblPr>
              <a:tblGrid>
                <a:gridCol w="740999">
                  <a:extLst>
                    <a:ext uri="{9D8B030D-6E8A-4147-A177-3AD203B41FA5}">
                      <a16:colId xmlns:a16="http://schemas.microsoft.com/office/drawing/2014/main" val="1426228962"/>
                    </a:ext>
                  </a:extLst>
                </a:gridCol>
                <a:gridCol w="740999">
                  <a:extLst>
                    <a:ext uri="{9D8B030D-6E8A-4147-A177-3AD203B41FA5}">
                      <a16:colId xmlns:a16="http://schemas.microsoft.com/office/drawing/2014/main" val="1903537073"/>
                    </a:ext>
                  </a:extLst>
                </a:gridCol>
                <a:gridCol w="740999">
                  <a:extLst>
                    <a:ext uri="{9D8B030D-6E8A-4147-A177-3AD203B41FA5}">
                      <a16:colId xmlns:a16="http://schemas.microsoft.com/office/drawing/2014/main" val="3532606374"/>
                    </a:ext>
                  </a:extLst>
                </a:gridCol>
                <a:gridCol w="740999">
                  <a:extLst>
                    <a:ext uri="{9D8B030D-6E8A-4147-A177-3AD203B41FA5}">
                      <a16:colId xmlns:a16="http://schemas.microsoft.com/office/drawing/2014/main" val="898962947"/>
                    </a:ext>
                  </a:extLst>
                </a:gridCol>
                <a:gridCol w="740999">
                  <a:extLst>
                    <a:ext uri="{9D8B030D-6E8A-4147-A177-3AD203B41FA5}">
                      <a16:colId xmlns:a16="http://schemas.microsoft.com/office/drawing/2014/main" val="3232601046"/>
                    </a:ext>
                  </a:extLst>
                </a:gridCol>
                <a:gridCol w="740999">
                  <a:extLst>
                    <a:ext uri="{9D8B030D-6E8A-4147-A177-3AD203B41FA5}">
                      <a16:colId xmlns:a16="http://schemas.microsoft.com/office/drawing/2014/main" val="4119415008"/>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CID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A</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0.33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3.81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B</a:t>
                      </a: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1.05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4.74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C</a:t>
                      </a: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1.20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3.54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1</a:t>
                      </a: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D</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3.28</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0.71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E</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4.63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0.71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b="0" i="0" u="none" strike="noStrike" dirty="0">
                          <a:solidFill>
                            <a:srgbClr val="000000"/>
                          </a:solidFill>
                          <a:effectLst/>
                          <a:latin typeface="Calibri" panose="020F0502020204030204" pitchFamily="34" charset="0"/>
                        </a:rPr>
                        <a:t>2</a:t>
                      </a:r>
                    </a:p>
                  </a:txBody>
                  <a:tcPr anchor="b"/>
                </a:tc>
                <a:extLst>
                  <a:ext uri="{0D108BD9-81ED-4DB2-BD59-A6C34878D82A}">
                    <a16:rowId xmlns:a16="http://schemas.microsoft.com/office/drawing/2014/main" val="708003762"/>
                  </a:ext>
                </a:extLst>
              </a:tr>
            </a:tbl>
          </a:graphicData>
        </a:graphic>
      </p:graphicFrame>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7205629"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1</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3" name="Table 12">
                <a:extLst>
                  <a:ext uri="{FF2B5EF4-FFF2-40B4-BE49-F238E27FC236}">
                    <a16:creationId xmlns:a16="http://schemas.microsoft.com/office/drawing/2014/main" id="{E58E1E3F-C3C6-4C0B-B8D7-25794C668680}"/>
                  </a:ext>
                </a:extLst>
              </p:cNvPr>
              <p:cNvGraphicFramePr>
                <a:graphicFrameLocks noGrp="1"/>
              </p:cNvGraphicFramePr>
              <p:nvPr/>
            </p:nvGraphicFramePr>
            <p:xfrm>
              <a:off x="7205629" y="4618328"/>
              <a:ext cx="2254332" cy="1379284"/>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0693">
                    <a:tc>
                      <a:txBody>
                        <a:bodyPr/>
                        <a:lstStyle/>
                        <a:p>
                          <a:endParaRPr lang="en-US"/>
                        </a:p>
                      </a:txBody>
                      <a:tcPr anchor="ctr">
                        <a:blipFill>
                          <a:blip r:embed="rId4"/>
                          <a:stretch>
                            <a:fillRect l="-1786" t="-107895" r="-233929" b="-130263"/>
                          </a:stretch>
                        </a:blipFill>
                      </a:tcPr>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1391">
                    <a:tc>
                      <a:txBody>
                        <a:bodyPr/>
                        <a:lstStyle/>
                        <a:p>
                          <a:endParaRPr lang="en-US"/>
                        </a:p>
                      </a:txBody>
                      <a:tcPr anchor="ctr">
                        <a:blipFill>
                          <a:blip r:embed="rId4"/>
                          <a:stretch>
                            <a:fillRect l="-1786" t="-207895" r="-233929" b="-30263"/>
                          </a:stretch>
                        </a:blipFill>
                      </a:tcPr>
                    </a:tc>
                    <a:tc>
                      <a:txBody>
                        <a:bodyPr/>
                        <a:lstStyle/>
                        <a:p>
                          <a:pPr algn="r" fontAlgn="b"/>
                          <a:r>
                            <a:rPr lang="en-US" sz="2400" u="none" strike="noStrike" dirty="0">
                              <a:effectLst/>
                            </a:rPr>
                            <a:t>1.67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B0AC2792-FB7D-4A86-B577-3BE426D49CC4}"/>
                  </a:ext>
                </a:extLst>
              </p:cNvPr>
              <p:cNvGraphicFramePr>
                <a:graphicFrameLocks noGrp="1"/>
              </p:cNvGraphicFramePr>
              <p:nvPr/>
            </p:nvGraphicFramePr>
            <p:xfrm>
              <a:off x="9535886" y="4618328"/>
              <a:ext cx="2254332" cy="1380808"/>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1</m:t>
                                    </m:r>
                                  </m:sub>
                                  <m:sup>
                                    <m:r>
                                      <a:rPr lang="en-US" sz="2400" b="0" i="1" u="none" strike="noStrike" dirty="0" smtClean="0">
                                        <a:solidFill>
                                          <a:srgbClr val="000000"/>
                                        </a:solidFill>
                                        <a:effectLst/>
                                        <a:latin typeface="Cambria Math" panose="02040503050406030204" pitchFamily="18" charset="0"/>
                                      </a:rPr>
                                      <m:t>2</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0.67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2400" b="0" i="1" u="none" strike="noStrike" dirty="0" smtClean="0">
                                        <a:solidFill>
                                          <a:srgbClr val="000000"/>
                                        </a:solidFill>
                                        <a:effectLst/>
                                        <a:latin typeface="Cambria Math" panose="02040503050406030204" pitchFamily="18" charset="0"/>
                                      </a:rPr>
                                    </m:ctrlPr>
                                  </m:sSubSupPr>
                                  <m:e>
                                    <m:r>
                                      <a:rPr lang="en-US" sz="2400" b="0" i="1" u="none" strike="noStrike" dirty="0" smtClean="0">
                                        <a:solidFill>
                                          <a:srgbClr val="000000"/>
                                        </a:solidFill>
                                        <a:effectLst/>
                                        <a:latin typeface="Cambria Math" panose="02040503050406030204" pitchFamily="18" charset="0"/>
                                      </a:rPr>
                                      <m:t>𝐶</m:t>
                                    </m:r>
                                  </m:e>
                                  <m:sub>
                                    <m:r>
                                      <a:rPr lang="en-US" sz="2400" b="0" i="1" u="none" strike="noStrike" dirty="0" smtClean="0">
                                        <a:solidFill>
                                          <a:srgbClr val="000000"/>
                                        </a:solidFill>
                                        <a:effectLst/>
                                        <a:latin typeface="Cambria Math" panose="02040503050406030204" pitchFamily="18" charset="0"/>
                                      </a:rPr>
                                      <m:t>2</m:t>
                                    </m:r>
                                  </m:sub>
                                  <m:sup>
                                    <m:r>
                                      <a:rPr lang="en-US" sz="2400" b="0" i="1" u="none" strike="noStrike" dirty="0" smtClean="0">
                                        <a:solidFill>
                                          <a:srgbClr val="000000"/>
                                        </a:solidFill>
                                        <a:effectLst/>
                                        <a:latin typeface="Cambria Math" panose="02040503050406030204" pitchFamily="18" charset="0"/>
                                      </a:rPr>
                                      <m:t>2</m:t>
                                    </m:r>
                                  </m:sup>
                                </m:sSubSup>
                              </m:oMath>
                            </m:oMathPara>
                          </a14:m>
                          <a:endParaRPr lang="en-US" sz="2400" b="0" i="0" u="none" strike="noStrike" dirty="0">
                            <a:solidFill>
                              <a:srgbClr val="000000"/>
                            </a:solidFill>
                            <a:effectLst/>
                            <a:latin typeface="+mn-lt"/>
                          </a:endParaRPr>
                        </a:p>
                      </a:txBody>
                      <a:tcPr anchor="ctr"/>
                    </a:tc>
                    <a:tc>
                      <a:txBody>
                        <a:bodyPr/>
                        <a:lstStyle/>
                        <a:p>
                          <a:pPr algn="r" fontAlgn="b"/>
                          <a:r>
                            <a:rPr lang="en-US" sz="2400" u="none" strike="noStrike" dirty="0">
                              <a:effectLst/>
                            </a:rPr>
                            <a:t>2.5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Choice>
        <mc:Fallback xmlns="">
          <p:graphicFrame>
            <p:nvGraphicFramePr>
              <p:cNvPr id="14" name="Table 13">
                <a:extLst>
                  <a:ext uri="{FF2B5EF4-FFF2-40B4-BE49-F238E27FC236}">
                    <a16:creationId xmlns:a16="http://schemas.microsoft.com/office/drawing/2014/main" id="{B0AC2792-FB7D-4A86-B577-3BE426D49CC4}"/>
                  </a:ext>
                </a:extLst>
              </p:cNvPr>
              <p:cNvGraphicFramePr>
                <a:graphicFrameLocks noGrp="1"/>
              </p:cNvGraphicFramePr>
              <p:nvPr/>
            </p:nvGraphicFramePr>
            <p:xfrm>
              <a:off x="9535886" y="4618328"/>
              <a:ext cx="2254332" cy="1380808"/>
            </p:xfrm>
            <a:graphic>
              <a:graphicData uri="http://schemas.openxmlformats.org/drawingml/2006/table">
                <a:tbl>
                  <a:tblPr firstRow="1" bandRow="1">
                    <a:tableStyleId>{5C22544A-7EE6-4342-B048-85BDC9FD1C3A}</a:tableStyleId>
                  </a:tblPr>
                  <a:tblGrid>
                    <a:gridCol w="682170">
                      <a:extLst>
                        <a:ext uri="{9D8B030D-6E8A-4147-A177-3AD203B41FA5}">
                          <a16:colId xmlns:a16="http://schemas.microsoft.com/office/drawing/2014/main" val="1426228962"/>
                        </a:ext>
                      </a:extLst>
                    </a:gridCol>
                    <a:gridCol w="820718">
                      <a:extLst>
                        <a:ext uri="{9D8B030D-6E8A-4147-A177-3AD203B41FA5}">
                          <a16:colId xmlns:a16="http://schemas.microsoft.com/office/drawing/2014/main" val="1903537073"/>
                        </a:ext>
                      </a:extLst>
                    </a:gridCol>
                    <a:gridCol w="751444">
                      <a:extLst>
                        <a:ext uri="{9D8B030D-6E8A-4147-A177-3AD203B41FA5}">
                          <a16:colId xmlns:a16="http://schemas.microsoft.com/office/drawing/2014/main" val="3532606374"/>
                        </a:ext>
                      </a:extLst>
                    </a:gridCol>
                  </a:tblGrid>
                  <a:tr h="457200">
                    <a:tc>
                      <a:txBody>
                        <a:bodyPr/>
                        <a:lstStyle/>
                        <a:p>
                          <a:pPr algn="ctr" fontAlgn="b"/>
                          <a:r>
                            <a:rPr lang="en-US" sz="2400" b="1" u="none" strike="noStrike" kern="1200" dirty="0">
                              <a:solidFill>
                                <a:schemeClr val="lt1"/>
                              </a:solidFill>
                              <a:effectLst/>
                              <a:latin typeface="+mn-lt"/>
                              <a:ea typeface="+mn-ea"/>
                              <a:cs typeface="+mn-cs"/>
                            </a:rPr>
                            <a:t>CID</a:t>
                          </a:r>
                        </a:p>
                      </a:txBody>
                      <a:tcPr anchor="b"/>
                    </a:tc>
                    <a:tc>
                      <a:txBody>
                        <a:bodyPr/>
                        <a:lstStyle/>
                        <a:p>
                          <a:pPr algn="ctr" fontAlgn="b"/>
                          <a:r>
                            <a:rPr lang="en-US" sz="2400" u="none" strike="noStrike" dirty="0">
                              <a:effectLst/>
                              <a:latin typeface="+mn-lt"/>
                            </a:rPr>
                            <a:t>X1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X2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461455">
                    <a:tc>
                      <a:txBody>
                        <a:bodyPr/>
                        <a:lstStyle/>
                        <a:p>
                          <a:endParaRPr lang="en-US"/>
                        </a:p>
                      </a:txBody>
                      <a:tcPr anchor="ctr">
                        <a:blipFill>
                          <a:blip r:embed="rId5"/>
                          <a:stretch>
                            <a:fillRect l="-893" t="-106494" r="-234821" b="-127273"/>
                          </a:stretch>
                        </a:blipFill>
                      </a:tcPr>
                    </a:tc>
                    <a:tc>
                      <a:txBody>
                        <a:bodyPr/>
                        <a:lstStyle/>
                        <a:p>
                          <a:pPr algn="r" fontAlgn="b"/>
                          <a:r>
                            <a:rPr lang="en-US" sz="2400" u="none" strike="noStrike" dirty="0">
                              <a:effectLst/>
                            </a:rPr>
                            <a:t>0.67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462153">
                    <a:tc>
                      <a:txBody>
                        <a:bodyPr/>
                        <a:lstStyle/>
                        <a:p>
                          <a:endParaRPr lang="en-US"/>
                        </a:p>
                      </a:txBody>
                      <a:tcPr anchor="ctr">
                        <a:blipFill>
                          <a:blip r:embed="rId5"/>
                          <a:stretch>
                            <a:fillRect l="-893" t="-209211" r="-234821" b="-28947"/>
                          </a:stretch>
                        </a:blipFill>
                      </a:tcPr>
                    </a:tc>
                    <a:tc>
                      <a:txBody>
                        <a:bodyPr/>
                        <a:lstStyle/>
                        <a:p>
                          <a:pPr algn="r" fontAlgn="b"/>
                          <a:r>
                            <a:rPr lang="en-US" sz="2400" u="none" strike="noStrike" dirty="0">
                              <a:effectLst/>
                            </a:rPr>
                            <a:t>2.5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4.5</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bl>
              </a:graphicData>
            </a:graphic>
          </p:graphicFrame>
        </mc:Fallback>
      </mc:AlternateContent>
      <p:pic>
        <p:nvPicPr>
          <p:cNvPr id="3" name="Picture 2">
            <a:extLst>
              <a:ext uri="{FF2B5EF4-FFF2-40B4-BE49-F238E27FC236}">
                <a16:creationId xmlns:a16="http://schemas.microsoft.com/office/drawing/2014/main" id="{11793924-5A10-416B-8403-5F8593587013}"/>
              </a:ext>
            </a:extLst>
          </p:cNvPr>
          <p:cNvPicPr>
            <a:picLocks noChangeAspect="1"/>
          </p:cNvPicPr>
          <p:nvPr/>
        </p:nvPicPr>
        <p:blipFill>
          <a:blip r:embed="rId6"/>
          <a:stretch>
            <a:fillRect/>
          </a:stretch>
        </p:blipFill>
        <p:spPr>
          <a:xfrm>
            <a:off x="7205629" y="1507385"/>
            <a:ext cx="4584589" cy="2755631"/>
          </a:xfrm>
          <a:prstGeom prst="rect">
            <a:avLst/>
          </a:prstGeom>
        </p:spPr>
      </p:pic>
      <p:sp>
        <p:nvSpPr>
          <p:cNvPr id="6" name="TextBox 5">
            <a:extLst>
              <a:ext uri="{FF2B5EF4-FFF2-40B4-BE49-F238E27FC236}">
                <a16:creationId xmlns:a16="http://schemas.microsoft.com/office/drawing/2014/main" id="{B31E3766-91D5-43A8-9D34-9717E6914EFA}"/>
              </a:ext>
            </a:extLst>
          </p:cNvPr>
          <p:cNvSpPr txBox="1"/>
          <p:nvPr/>
        </p:nvSpPr>
        <p:spPr>
          <a:xfrm>
            <a:off x="508000" y="4891314"/>
            <a:ext cx="5254171" cy="707886"/>
          </a:xfrm>
          <a:prstGeom prst="rect">
            <a:avLst/>
          </a:prstGeom>
          <a:noFill/>
        </p:spPr>
        <p:txBody>
          <a:bodyPr wrap="square" rtlCol="0">
            <a:spAutoFit/>
          </a:bodyPr>
          <a:lstStyle/>
          <a:p>
            <a:r>
              <a:rPr lang="en-US" sz="4000" dirty="0"/>
              <a:t>No change, Done!</a:t>
            </a:r>
          </a:p>
        </p:txBody>
      </p:sp>
      <p:sp>
        <p:nvSpPr>
          <p:cNvPr id="8" name="Slide Number Placeholder 7">
            <a:extLst>
              <a:ext uri="{FF2B5EF4-FFF2-40B4-BE49-F238E27FC236}">
                <a16:creationId xmlns:a16="http://schemas.microsoft.com/office/drawing/2014/main" id="{EE780D56-81F3-4538-9714-81E0EBBF9AE7}"/>
              </a:ext>
            </a:extLst>
          </p:cNvPr>
          <p:cNvSpPr>
            <a:spLocks noGrp="1"/>
          </p:cNvSpPr>
          <p:nvPr>
            <p:ph type="sldNum" sz="quarter" idx="12"/>
          </p:nvPr>
        </p:nvSpPr>
        <p:spPr/>
        <p:txBody>
          <a:bodyPr/>
          <a:lstStyle/>
          <a:p>
            <a:fld id="{4CC025FC-8595-493D-A46F-2FDFDC85D9BC}" type="slidenum">
              <a:rPr lang="en-US" smtClean="0"/>
              <a:t>26</a:t>
            </a:fld>
            <a:endParaRPr lang="en-US"/>
          </a:p>
        </p:txBody>
      </p:sp>
    </p:spTree>
    <p:extLst>
      <p:ext uri="{BB962C8B-B14F-4D97-AF65-F5344CB8AC3E}">
        <p14:creationId xmlns:p14="http://schemas.microsoft.com/office/powerpoint/2010/main" val="3388342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12EA-383F-4BA2-A664-21D02359946D}"/>
              </a:ext>
            </a:extLst>
          </p:cNvPr>
          <p:cNvSpPr>
            <a:spLocks noGrp="1"/>
          </p:cNvSpPr>
          <p:nvPr>
            <p:ph type="title"/>
          </p:nvPr>
        </p:nvSpPr>
        <p:spPr/>
        <p:txBody>
          <a:bodyPr>
            <a:normAutofit fontScale="90000"/>
          </a:bodyPr>
          <a:lstStyle/>
          <a:p>
            <a:r>
              <a:rPr lang="en-US" dirty="0"/>
              <a:t>Another Example</a:t>
            </a:r>
          </a:p>
        </p:txBody>
      </p:sp>
      <p:sp>
        <p:nvSpPr>
          <p:cNvPr id="4" name="Text Box 3">
            <a:extLst>
              <a:ext uri="{FF2B5EF4-FFF2-40B4-BE49-F238E27FC236}">
                <a16:creationId xmlns:a16="http://schemas.microsoft.com/office/drawing/2014/main" id="{F1CC5791-AC26-4CD9-B487-1F1690E437BE}"/>
              </a:ext>
            </a:extLst>
          </p:cNvPr>
          <p:cNvSpPr txBox="1">
            <a:spLocks noChangeArrowheads="1"/>
          </p:cNvSpPr>
          <p:nvPr/>
        </p:nvSpPr>
        <p:spPr bwMode="auto">
          <a:xfrm>
            <a:off x="1011382" y="4743450"/>
            <a:ext cx="800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pic>
        <p:nvPicPr>
          <p:cNvPr id="5" name="Picture 4">
            <a:extLst>
              <a:ext uri="{FF2B5EF4-FFF2-40B4-BE49-F238E27FC236}">
                <a16:creationId xmlns:a16="http://schemas.microsoft.com/office/drawing/2014/main" id="{DE6ED013-D050-402F-954F-3D6F17407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782" y="1466850"/>
            <a:ext cx="30432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A5A9781C-E056-4498-BEDD-B3E34BBBF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2262" y="1466850"/>
            <a:ext cx="30432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1881ABD2-291D-46A6-9F9D-28F6F34519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2344" y="1466850"/>
            <a:ext cx="30432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a:extLst>
              <a:ext uri="{FF2B5EF4-FFF2-40B4-BE49-F238E27FC236}">
                <a16:creationId xmlns:a16="http://schemas.microsoft.com/office/drawing/2014/main" id="{D6782767-CFDF-48AE-92F1-3E3659F4CF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782" y="4210050"/>
            <a:ext cx="30432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a:extLst>
              <a:ext uri="{FF2B5EF4-FFF2-40B4-BE49-F238E27FC236}">
                <a16:creationId xmlns:a16="http://schemas.microsoft.com/office/drawing/2014/main" id="{1384D8F0-53F5-411C-AB9C-10DBC774D1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2262" y="4210050"/>
            <a:ext cx="30432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a:extLst>
              <a:ext uri="{FF2B5EF4-FFF2-40B4-BE49-F238E27FC236}">
                <a16:creationId xmlns:a16="http://schemas.microsoft.com/office/drawing/2014/main" id="{6D47EDFD-1B94-4462-B2D6-CBC8685A40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12344" y="4210050"/>
            <a:ext cx="30432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Slide Number Placeholder 10">
            <a:extLst>
              <a:ext uri="{FF2B5EF4-FFF2-40B4-BE49-F238E27FC236}">
                <a16:creationId xmlns:a16="http://schemas.microsoft.com/office/drawing/2014/main" id="{5F382059-C121-4264-A989-4961F48CAC92}"/>
              </a:ext>
            </a:extLst>
          </p:cNvPr>
          <p:cNvSpPr>
            <a:spLocks noGrp="1"/>
          </p:cNvSpPr>
          <p:nvPr>
            <p:ph type="sldNum" sz="quarter" idx="12"/>
          </p:nvPr>
        </p:nvSpPr>
        <p:spPr/>
        <p:txBody>
          <a:bodyPr/>
          <a:lstStyle/>
          <a:p>
            <a:fld id="{4CC025FC-8595-493D-A46F-2FDFDC85D9BC}" type="slidenum">
              <a:rPr lang="en-US" smtClean="0"/>
              <a:t>27</a:t>
            </a:fld>
            <a:endParaRPr lang="en-US"/>
          </a:p>
        </p:txBody>
      </p:sp>
    </p:spTree>
    <p:extLst>
      <p:ext uri="{BB962C8B-B14F-4D97-AF65-F5344CB8AC3E}">
        <p14:creationId xmlns:p14="http://schemas.microsoft.com/office/powerpoint/2010/main" val="3562532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06ECF-98EF-4F4A-8790-6B02B7C8BD6D}"/>
              </a:ext>
            </a:extLst>
          </p:cNvPr>
          <p:cNvSpPr>
            <a:spLocks noGrp="1"/>
          </p:cNvSpPr>
          <p:nvPr>
            <p:ph type="title"/>
          </p:nvPr>
        </p:nvSpPr>
        <p:spPr/>
        <p:txBody>
          <a:bodyPr>
            <a:normAutofit fontScale="90000"/>
          </a:bodyPr>
          <a:lstStyle/>
          <a:p>
            <a:r>
              <a:rPr lang="en-US" dirty="0"/>
              <a:t>k-Means Clustering: Discussion</a:t>
            </a:r>
          </a:p>
        </p:txBody>
      </p:sp>
      <p:sp>
        <p:nvSpPr>
          <p:cNvPr id="3" name="Content Placeholder 2">
            <a:extLst>
              <a:ext uri="{FF2B5EF4-FFF2-40B4-BE49-F238E27FC236}">
                <a16:creationId xmlns:a16="http://schemas.microsoft.com/office/drawing/2014/main" id="{BDF7C8C9-4ACD-46E6-B7CD-00970025B3D2}"/>
              </a:ext>
            </a:extLst>
          </p:cNvPr>
          <p:cNvSpPr>
            <a:spLocks noGrp="1"/>
          </p:cNvSpPr>
          <p:nvPr>
            <p:ph idx="1"/>
          </p:nvPr>
        </p:nvSpPr>
        <p:spPr/>
        <p:txBody>
          <a:bodyPr>
            <a:normAutofit/>
          </a:bodyPr>
          <a:lstStyle/>
          <a:p>
            <a:r>
              <a:rPr lang="en-US" dirty="0"/>
              <a:t>finds a local optimum</a:t>
            </a:r>
          </a:p>
          <a:p>
            <a:r>
              <a:rPr lang="en-US" dirty="0"/>
              <a:t>often converges quickly</a:t>
            </a:r>
          </a:p>
          <a:p>
            <a:pPr lvl="1"/>
            <a:r>
              <a:rPr lang="en-US" dirty="0"/>
              <a:t>but not always</a:t>
            </a:r>
          </a:p>
          <a:p>
            <a:r>
              <a:rPr lang="en-US" dirty="0"/>
              <a:t>the choice of initial points can have large influence in the result</a:t>
            </a:r>
          </a:p>
          <a:p>
            <a:r>
              <a:rPr lang="en-US" dirty="0"/>
              <a:t>tends to find spherical clusters</a:t>
            </a:r>
          </a:p>
          <a:p>
            <a:r>
              <a:rPr lang="en-US" dirty="0"/>
              <a:t>outliers can cause a problem</a:t>
            </a:r>
          </a:p>
          <a:p>
            <a:r>
              <a:rPr lang="en-US" dirty="0"/>
              <a:t>different densities may cause a problem</a:t>
            </a:r>
          </a:p>
        </p:txBody>
      </p:sp>
      <p:sp>
        <p:nvSpPr>
          <p:cNvPr id="6" name="Slide Number Placeholder 5">
            <a:extLst>
              <a:ext uri="{FF2B5EF4-FFF2-40B4-BE49-F238E27FC236}">
                <a16:creationId xmlns:a16="http://schemas.microsoft.com/office/drawing/2014/main" id="{68ECF00A-6E68-4488-AC40-F966B3F7E63A}"/>
              </a:ext>
            </a:extLst>
          </p:cNvPr>
          <p:cNvSpPr>
            <a:spLocks noGrp="1"/>
          </p:cNvSpPr>
          <p:nvPr>
            <p:ph type="sldNum" sz="quarter" idx="12"/>
          </p:nvPr>
        </p:nvSpPr>
        <p:spPr/>
        <p:txBody>
          <a:bodyPr/>
          <a:lstStyle/>
          <a:p>
            <a:fld id="{4CC025FC-8595-493D-A46F-2FDFDC85D9BC}" type="slidenum">
              <a:rPr lang="en-US" smtClean="0"/>
              <a:t>28</a:t>
            </a:fld>
            <a:endParaRPr lang="en-US"/>
          </a:p>
        </p:txBody>
      </p:sp>
    </p:spTree>
    <p:extLst>
      <p:ext uri="{BB962C8B-B14F-4D97-AF65-F5344CB8AC3E}">
        <p14:creationId xmlns:p14="http://schemas.microsoft.com/office/powerpoint/2010/main" val="751547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06ECF-98EF-4F4A-8790-6B02B7C8BD6D}"/>
              </a:ext>
            </a:extLst>
          </p:cNvPr>
          <p:cNvSpPr>
            <a:spLocks noGrp="1"/>
          </p:cNvSpPr>
          <p:nvPr>
            <p:ph type="title"/>
          </p:nvPr>
        </p:nvSpPr>
        <p:spPr/>
        <p:txBody>
          <a:bodyPr>
            <a:normAutofit fontScale="90000"/>
          </a:bodyPr>
          <a:lstStyle/>
          <a:p>
            <a:r>
              <a:rPr lang="en-US" dirty="0"/>
              <a:t>k-Means Clustering: Advantages</a:t>
            </a:r>
          </a:p>
        </p:txBody>
      </p:sp>
      <p:sp>
        <p:nvSpPr>
          <p:cNvPr id="3" name="Content Placeholder 2">
            <a:extLst>
              <a:ext uri="{FF2B5EF4-FFF2-40B4-BE49-F238E27FC236}">
                <a16:creationId xmlns:a16="http://schemas.microsoft.com/office/drawing/2014/main" id="{BDF7C8C9-4ACD-46E6-B7CD-00970025B3D2}"/>
              </a:ext>
            </a:extLst>
          </p:cNvPr>
          <p:cNvSpPr>
            <a:spLocks noGrp="1"/>
          </p:cNvSpPr>
          <p:nvPr>
            <p:ph idx="1"/>
          </p:nvPr>
        </p:nvSpPr>
        <p:spPr/>
        <p:txBody>
          <a:bodyPr>
            <a:normAutofit/>
          </a:bodyPr>
          <a:lstStyle/>
          <a:p>
            <a:r>
              <a:rPr lang="en-US" sz="4000" dirty="0"/>
              <a:t>K-means is relatively scalable and efficient in processing large data sets</a:t>
            </a:r>
          </a:p>
          <a:p>
            <a:r>
              <a:rPr lang="en-US" sz="4000" dirty="0"/>
              <a:t>The computational complexity of the algorithm is O(</a:t>
            </a:r>
            <a:r>
              <a:rPr lang="en-US" sz="4000" dirty="0" err="1"/>
              <a:t>nkt</a:t>
            </a:r>
            <a:r>
              <a:rPr lang="en-US" sz="4000" dirty="0"/>
              <a:t>)</a:t>
            </a:r>
          </a:p>
          <a:p>
            <a:pPr lvl="1"/>
            <a:r>
              <a:rPr lang="en-US" sz="3600" dirty="0"/>
              <a:t>n: the total number of objects</a:t>
            </a:r>
          </a:p>
          <a:p>
            <a:pPr lvl="1"/>
            <a:r>
              <a:rPr lang="en-US" sz="3600" dirty="0"/>
              <a:t>k: the number of clusters</a:t>
            </a:r>
          </a:p>
          <a:p>
            <a:pPr lvl="1"/>
            <a:r>
              <a:rPr lang="en-US" sz="3600" dirty="0"/>
              <a:t>t: the number of iterations</a:t>
            </a:r>
          </a:p>
          <a:p>
            <a:pPr lvl="1"/>
            <a:r>
              <a:rPr lang="en-US" sz="3600" dirty="0"/>
              <a:t>Normally: k&lt;&lt;n and t&lt;&lt;n</a:t>
            </a:r>
          </a:p>
        </p:txBody>
      </p:sp>
      <p:sp>
        <p:nvSpPr>
          <p:cNvPr id="6" name="Slide Number Placeholder 5">
            <a:extLst>
              <a:ext uri="{FF2B5EF4-FFF2-40B4-BE49-F238E27FC236}">
                <a16:creationId xmlns:a16="http://schemas.microsoft.com/office/drawing/2014/main" id="{6D10D35F-29B1-468E-8FC0-FCCD5E350917}"/>
              </a:ext>
            </a:extLst>
          </p:cNvPr>
          <p:cNvSpPr>
            <a:spLocks noGrp="1"/>
          </p:cNvSpPr>
          <p:nvPr>
            <p:ph type="sldNum" sz="quarter" idx="12"/>
          </p:nvPr>
        </p:nvSpPr>
        <p:spPr/>
        <p:txBody>
          <a:bodyPr/>
          <a:lstStyle/>
          <a:p>
            <a:fld id="{4CC025FC-8595-493D-A46F-2FDFDC85D9BC}" type="slidenum">
              <a:rPr lang="en-US" smtClean="0"/>
              <a:t>29</a:t>
            </a:fld>
            <a:endParaRPr lang="en-US"/>
          </a:p>
        </p:txBody>
      </p:sp>
    </p:spTree>
    <p:extLst>
      <p:ext uri="{BB962C8B-B14F-4D97-AF65-F5344CB8AC3E}">
        <p14:creationId xmlns:p14="http://schemas.microsoft.com/office/powerpoint/2010/main" val="744774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06ECF-98EF-4F4A-8790-6B02B7C8BD6D}"/>
              </a:ext>
            </a:extLst>
          </p:cNvPr>
          <p:cNvSpPr>
            <a:spLocks noGrp="1"/>
          </p:cNvSpPr>
          <p:nvPr>
            <p:ph type="title"/>
          </p:nvPr>
        </p:nvSpPr>
        <p:spPr/>
        <p:txBody>
          <a:bodyPr>
            <a:normAutofit fontScale="90000"/>
          </a:bodyPr>
          <a:lstStyle/>
          <a:p>
            <a:r>
              <a:rPr lang="en-US" dirty="0"/>
              <a:t>k-Means Clustering: Disadvantages</a:t>
            </a:r>
          </a:p>
        </p:txBody>
      </p:sp>
      <p:sp>
        <p:nvSpPr>
          <p:cNvPr id="3" name="Content Placeholder 2">
            <a:extLst>
              <a:ext uri="{FF2B5EF4-FFF2-40B4-BE49-F238E27FC236}">
                <a16:creationId xmlns:a16="http://schemas.microsoft.com/office/drawing/2014/main" id="{BDF7C8C9-4ACD-46E6-B7CD-00970025B3D2}"/>
              </a:ext>
            </a:extLst>
          </p:cNvPr>
          <p:cNvSpPr>
            <a:spLocks noGrp="1"/>
          </p:cNvSpPr>
          <p:nvPr>
            <p:ph idx="1"/>
          </p:nvPr>
        </p:nvSpPr>
        <p:spPr/>
        <p:txBody>
          <a:bodyPr>
            <a:normAutofit/>
          </a:bodyPr>
          <a:lstStyle/>
          <a:p>
            <a:r>
              <a:rPr lang="en-US" sz="3600" dirty="0"/>
              <a:t>Can be applied only when the mean of a cluster is defined</a:t>
            </a:r>
          </a:p>
          <a:p>
            <a:r>
              <a:rPr lang="en-US" sz="3600" dirty="0"/>
              <a:t>Users need to specify k</a:t>
            </a:r>
          </a:p>
          <a:p>
            <a:r>
              <a:rPr lang="en-US" sz="3600" dirty="0"/>
              <a:t>K-means is not suitable for clusters of very different size</a:t>
            </a:r>
          </a:p>
          <a:p>
            <a:r>
              <a:rPr lang="en-US" sz="3600" dirty="0"/>
              <a:t>It is sensitive to noise and outlier data points (can influence the mean value)</a:t>
            </a:r>
          </a:p>
        </p:txBody>
      </p:sp>
      <p:sp>
        <p:nvSpPr>
          <p:cNvPr id="4" name="Slide Number Placeholder 3">
            <a:extLst>
              <a:ext uri="{FF2B5EF4-FFF2-40B4-BE49-F238E27FC236}">
                <a16:creationId xmlns:a16="http://schemas.microsoft.com/office/drawing/2014/main" id="{8A86AC56-1B7A-427D-833D-6D0A6DE22FC8}"/>
              </a:ext>
            </a:extLst>
          </p:cNvPr>
          <p:cNvSpPr>
            <a:spLocks noGrp="1"/>
          </p:cNvSpPr>
          <p:nvPr>
            <p:ph type="sldNum" sz="quarter" idx="12"/>
          </p:nvPr>
        </p:nvSpPr>
        <p:spPr/>
        <p:txBody>
          <a:bodyPr/>
          <a:lstStyle/>
          <a:p>
            <a:fld id="{4CC025FC-8595-493D-A46F-2FDFDC85D9BC}" type="slidenum">
              <a:rPr lang="en-US" smtClean="0"/>
              <a:t>30</a:t>
            </a:fld>
            <a:endParaRPr lang="en-US"/>
          </a:p>
        </p:txBody>
      </p:sp>
    </p:spTree>
    <p:extLst>
      <p:ext uri="{BB962C8B-B14F-4D97-AF65-F5344CB8AC3E}">
        <p14:creationId xmlns:p14="http://schemas.microsoft.com/office/powerpoint/2010/main" val="1073513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3954C9-CF2F-47DA-B821-9A77ED781918}"/>
              </a:ext>
            </a:extLst>
          </p:cNvPr>
          <p:cNvSpPr>
            <a:spLocks noGrp="1"/>
          </p:cNvSpPr>
          <p:nvPr>
            <p:ph type="sldNum" sz="quarter" idx="12"/>
          </p:nvPr>
        </p:nvSpPr>
        <p:spPr/>
        <p:txBody>
          <a:bodyPr/>
          <a:lstStyle/>
          <a:p>
            <a:fld id="{4CC025FC-8595-493D-A46F-2FDFDC85D9BC}" type="slidenum">
              <a:rPr lang="en-US" smtClean="0"/>
              <a:t>31</a:t>
            </a:fld>
            <a:endParaRPr lang="en-US"/>
          </a:p>
        </p:txBody>
      </p:sp>
      <p:sp>
        <p:nvSpPr>
          <p:cNvPr id="5" name="Title 1">
            <a:extLst>
              <a:ext uri="{FF2B5EF4-FFF2-40B4-BE49-F238E27FC236}">
                <a16:creationId xmlns:a16="http://schemas.microsoft.com/office/drawing/2014/main" id="{4E726254-398D-4FED-BE81-698F189238E2}"/>
              </a:ext>
            </a:extLst>
          </p:cNvPr>
          <p:cNvSpPr txBox="1">
            <a:spLocks/>
          </p:cNvSpPr>
          <p:nvPr/>
        </p:nvSpPr>
        <p:spPr>
          <a:xfrm>
            <a:off x="1025236" y="2603455"/>
            <a:ext cx="10141528" cy="1651090"/>
          </a:xfrm>
          <a:prstGeom prst="rect">
            <a:avLst/>
          </a:prstGeom>
        </p:spPr>
        <p:txBody>
          <a:bodyPr anchor="ctr">
            <a:noAutofit/>
          </a:bodyPr>
          <a:lstStyle>
            <a:lvl1pPr algn="l" defTabSz="914400" rtl="0" eaLnBrk="1" latinLnBrk="0" hangingPunct="1">
              <a:lnSpc>
                <a:spcPct val="90000"/>
              </a:lnSpc>
              <a:spcBef>
                <a:spcPct val="0"/>
              </a:spcBef>
              <a:buNone/>
              <a:defRPr sz="4000" b="0" kern="1200">
                <a:solidFill>
                  <a:schemeClr val="bg1"/>
                </a:solidFill>
                <a:effectLst>
                  <a:outerShdw blurRad="38100" dist="38100" dir="2700000" algn="tl">
                    <a:srgbClr val="000000">
                      <a:alpha val="43137"/>
                    </a:srgbClr>
                  </a:outerShdw>
                </a:effectLst>
                <a:latin typeface="Arial Rounded MT Bold" panose="020F0704030504030204" pitchFamily="34" charset="0"/>
                <a:ea typeface="Cambria" panose="02040503050406030204" pitchFamily="18" charset="0"/>
                <a:cs typeface="Aharoni" panose="02010803020104030203" pitchFamily="2" charset="-79"/>
              </a:defRPr>
            </a:lvl1pPr>
          </a:lstStyle>
          <a:p>
            <a:pPr algn="ctr"/>
            <a:r>
              <a:rPr lang="en-US" dirty="0">
                <a:solidFill>
                  <a:srgbClr val="4A8522"/>
                </a:solidFill>
              </a:rPr>
              <a:t>k-Medoids Algorithm</a:t>
            </a:r>
            <a:br>
              <a:rPr lang="en-US" dirty="0">
                <a:solidFill>
                  <a:srgbClr val="4A8522"/>
                </a:solidFill>
              </a:rPr>
            </a:br>
            <a:r>
              <a:rPr lang="en-US" dirty="0">
                <a:solidFill>
                  <a:srgbClr val="4A8522"/>
                </a:solidFill>
              </a:rPr>
              <a:t>or PAM(Partitioning Around Medoids)</a:t>
            </a:r>
          </a:p>
        </p:txBody>
      </p:sp>
    </p:spTree>
    <p:extLst>
      <p:ext uri="{BB962C8B-B14F-4D97-AF65-F5344CB8AC3E}">
        <p14:creationId xmlns:p14="http://schemas.microsoft.com/office/powerpoint/2010/main" val="2862723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k-Medoid Algorithm – The Idea</a:t>
            </a:r>
          </a:p>
        </p:txBody>
      </p:sp>
      <p:sp>
        <p:nvSpPr>
          <p:cNvPr id="3" name="Content Placeholder 2">
            <a:extLst>
              <a:ext uri="{FF2B5EF4-FFF2-40B4-BE49-F238E27FC236}">
                <a16:creationId xmlns:a16="http://schemas.microsoft.com/office/drawing/2014/main" id="{52C9F294-7443-409C-AB3B-3B873DBD468B}"/>
              </a:ext>
            </a:extLst>
          </p:cNvPr>
          <p:cNvSpPr>
            <a:spLocks noGrp="1"/>
          </p:cNvSpPr>
          <p:nvPr>
            <p:ph idx="1"/>
          </p:nvPr>
        </p:nvSpPr>
        <p:spPr/>
        <p:txBody>
          <a:bodyPr>
            <a:normAutofit/>
          </a:bodyPr>
          <a:lstStyle/>
          <a:p>
            <a:r>
              <a:rPr lang="en-US" sz="3200" dirty="0"/>
              <a:t>Initial representatives are chosen randomly</a:t>
            </a:r>
          </a:p>
          <a:p>
            <a:r>
              <a:rPr lang="en-US" sz="3200" dirty="0"/>
              <a:t>The iterative process of replacing representative objects by new representative objects continues as long as the quality of the clustering is improved</a:t>
            </a:r>
          </a:p>
          <a:p>
            <a:r>
              <a:rPr lang="en-US" sz="3200" dirty="0"/>
              <a:t>For each representative Object O</a:t>
            </a:r>
          </a:p>
          <a:p>
            <a:pPr lvl="1"/>
            <a:r>
              <a:rPr lang="en-US" sz="2800" dirty="0"/>
              <a:t>For each non-representative object R, swap O and R</a:t>
            </a:r>
          </a:p>
          <a:p>
            <a:r>
              <a:rPr lang="en-US" sz="3200" dirty="0"/>
              <a:t>Choose the configuration with the lowest cost</a:t>
            </a:r>
          </a:p>
          <a:p>
            <a:r>
              <a:rPr lang="en-US" sz="3200" dirty="0"/>
              <a:t>Cost function is the difference in absolute error-value if a current representative object is replaced by a non-representative object</a:t>
            </a:r>
          </a:p>
        </p:txBody>
      </p:sp>
      <p:sp>
        <p:nvSpPr>
          <p:cNvPr id="6" name="Slide Number Placeholder 5">
            <a:extLst>
              <a:ext uri="{FF2B5EF4-FFF2-40B4-BE49-F238E27FC236}">
                <a16:creationId xmlns:a16="http://schemas.microsoft.com/office/drawing/2014/main" id="{B4D07067-5733-4989-A0AB-77266110CEA5}"/>
              </a:ext>
            </a:extLst>
          </p:cNvPr>
          <p:cNvSpPr>
            <a:spLocks noGrp="1"/>
          </p:cNvSpPr>
          <p:nvPr>
            <p:ph type="sldNum" sz="quarter" idx="12"/>
          </p:nvPr>
        </p:nvSpPr>
        <p:spPr/>
        <p:txBody>
          <a:bodyPr/>
          <a:lstStyle/>
          <a:p>
            <a:fld id="{4CC025FC-8595-493D-A46F-2FDFDC85D9BC}" type="slidenum">
              <a:rPr lang="en-US" smtClean="0"/>
              <a:t>32</a:t>
            </a:fld>
            <a:endParaRPr lang="en-US"/>
          </a:p>
        </p:txBody>
      </p:sp>
    </p:spTree>
    <p:extLst>
      <p:ext uri="{BB962C8B-B14F-4D97-AF65-F5344CB8AC3E}">
        <p14:creationId xmlns:p14="http://schemas.microsoft.com/office/powerpoint/2010/main" val="254107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k-Medoid Algorithm</a:t>
            </a:r>
          </a:p>
        </p:txBody>
      </p:sp>
      <p:sp>
        <p:nvSpPr>
          <p:cNvPr id="3" name="Content Placeholder 2">
            <a:extLst>
              <a:ext uri="{FF2B5EF4-FFF2-40B4-BE49-F238E27FC236}">
                <a16:creationId xmlns:a16="http://schemas.microsoft.com/office/drawing/2014/main" id="{52C9F294-7443-409C-AB3B-3B873DBD468B}"/>
              </a:ext>
            </a:extLst>
          </p:cNvPr>
          <p:cNvSpPr>
            <a:spLocks noGrp="1"/>
          </p:cNvSpPr>
          <p:nvPr>
            <p:ph idx="1"/>
          </p:nvPr>
        </p:nvSpPr>
        <p:spPr/>
        <p:txBody>
          <a:bodyPr>
            <a:normAutofit/>
          </a:bodyPr>
          <a:lstStyle/>
          <a:p>
            <a:r>
              <a:rPr lang="en-US" sz="3200" dirty="0"/>
              <a:t>Minimize the sensitivity of k-means to outliers</a:t>
            </a:r>
          </a:p>
          <a:p>
            <a:r>
              <a:rPr lang="en-US" sz="3200" dirty="0"/>
              <a:t>Pick actual objects to represent clusters instead of mean values</a:t>
            </a:r>
          </a:p>
          <a:p>
            <a:r>
              <a:rPr lang="en-US" sz="3200" dirty="0"/>
              <a:t>Each remaining object is clustered with the representative object (Medoid) to which is the most similar</a:t>
            </a:r>
          </a:p>
          <a:p>
            <a:r>
              <a:rPr lang="en-US" sz="3200" dirty="0"/>
              <a:t>The algorithm minimizes the sum of the dissimilarities between each object and its corresponding reference point</a:t>
            </a:r>
          </a:p>
        </p:txBody>
      </p:sp>
      <p:pic>
        <p:nvPicPr>
          <p:cNvPr id="4" name="Picture 3">
            <a:extLst>
              <a:ext uri="{FF2B5EF4-FFF2-40B4-BE49-F238E27FC236}">
                <a16:creationId xmlns:a16="http://schemas.microsoft.com/office/drawing/2014/main" id="{C4E64274-208B-4C1E-BBA1-EDC54075D209}"/>
              </a:ext>
            </a:extLst>
          </p:cNvPr>
          <p:cNvPicPr>
            <a:picLocks noChangeAspect="1"/>
          </p:cNvPicPr>
          <p:nvPr/>
        </p:nvPicPr>
        <p:blipFill>
          <a:blip r:embed="rId2"/>
          <a:stretch>
            <a:fillRect/>
          </a:stretch>
        </p:blipFill>
        <p:spPr>
          <a:xfrm>
            <a:off x="401782" y="4770769"/>
            <a:ext cx="4419600" cy="1057275"/>
          </a:xfrm>
          <a:prstGeom prst="rect">
            <a:avLst/>
          </a:prstGeom>
        </p:spPr>
      </p:pic>
      <p:sp>
        <p:nvSpPr>
          <p:cNvPr id="5" name="Rectangle 4">
            <a:extLst>
              <a:ext uri="{FF2B5EF4-FFF2-40B4-BE49-F238E27FC236}">
                <a16:creationId xmlns:a16="http://schemas.microsoft.com/office/drawing/2014/main" id="{55697343-DD43-4DBC-8552-9B0824E10162}"/>
              </a:ext>
            </a:extLst>
          </p:cNvPr>
          <p:cNvSpPr/>
          <p:nvPr/>
        </p:nvSpPr>
        <p:spPr>
          <a:xfrm>
            <a:off x="5403166" y="4812381"/>
            <a:ext cx="6387052" cy="1015663"/>
          </a:xfrm>
          <a:prstGeom prst="rect">
            <a:avLst/>
          </a:prstGeom>
        </p:spPr>
        <p:txBody>
          <a:bodyPr wrap="square">
            <a:spAutoFit/>
          </a:bodyPr>
          <a:lstStyle/>
          <a:p>
            <a:r>
              <a:rPr lang="en-US" sz="2000" b="1" dirty="0">
                <a:solidFill>
                  <a:srgbClr val="650065"/>
                </a:solidFill>
                <a:latin typeface="CenturyGothic-Bold"/>
              </a:rPr>
              <a:t>E</a:t>
            </a:r>
            <a:r>
              <a:rPr lang="en-US" sz="2000" dirty="0">
                <a:solidFill>
                  <a:srgbClr val="000000"/>
                </a:solidFill>
                <a:latin typeface="CenturyGothic"/>
              </a:rPr>
              <a:t>: the sum of absolute error for all objects in the data set</a:t>
            </a:r>
            <a:br>
              <a:rPr lang="en-US" sz="2000" dirty="0">
                <a:solidFill>
                  <a:srgbClr val="000000"/>
                </a:solidFill>
                <a:latin typeface="CenturyGothic"/>
              </a:rPr>
            </a:br>
            <a:r>
              <a:rPr lang="en-US" sz="2000" b="1" dirty="0">
                <a:solidFill>
                  <a:srgbClr val="650065"/>
                </a:solidFill>
                <a:latin typeface="CenturyGothic-Bold"/>
              </a:rPr>
              <a:t>P</a:t>
            </a:r>
            <a:r>
              <a:rPr lang="en-US" sz="2000" dirty="0">
                <a:solidFill>
                  <a:srgbClr val="000000"/>
                </a:solidFill>
                <a:latin typeface="CenturyGothic"/>
              </a:rPr>
              <a:t>: the data point in the space representing an object</a:t>
            </a:r>
          </a:p>
          <a:p>
            <a:r>
              <a:rPr lang="en-US" sz="2000" b="1" dirty="0">
                <a:solidFill>
                  <a:srgbClr val="650065"/>
                </a:solidFill>
                <a:latin typeface="CenturyGothic-Bold"/>
              </a:rPr>
              <a:t>O</a:t>
            </a:r>
            <a:r>
              <a:rPr lang="en-US" sz="1400" b="1" dirty="0">
                <a:solidFill>
                  <a:srgbClr val="650065"/>
                </a:solidFill>
                <a:latin typeface="CenturyGothic-Bold"/>
              </a:rPr>
              <a:t>i</a:t>
            </a:r>
            <a:r>
              <a:rPr lang="en-US" sz="2000" dirty="0">
                <a:solidFill>
                  <a:srgbClr val="000000"/>
                </a:solidFill>
                <a:latin typeface="CenturyGothic"/>
              </a:rPr>
              <a:t>: is the representative object of cluster C</a:t>
            </a:r>
            <a:r>
              <a:rPr lang="en-US" sz="1400" dirty="0">
                <a:solidFill>
                  <a:srgbClr val="000000"/>
                </a:solidFill>
                <a:latin typeface="CenturyGothic"/>
              </a:rPr>
              <a:t>i</a:t>
            </a:r>
            <a:r>
              <a:rPr lang="en-US" sz="2000" dirty="0"/>
              <a:t> </a:t>
            </a:r>
          </a:p>
        </p:txBody>
      </p:sp>
      <p:sp>
        <p:nvSpPr>
          <p:cNvPr id="8" name="Slide Number Placeholder 7">
            <a:extLst>
              <a:ext uri="{FF2B5EF4-FFF2-40B4-BE49-F238E27FC236}">
                <a16:creationId xmlns:a16="http://schemas.microsoft.com/office/drawing/2014/main" id="{A84A294C-A082-4D76-9835-B4D22EFBC663}"/>
              </a:ext>
            </a:extLst>
          </p:cNvPr>
          <p:cNvSpPr>
            <a:spLocks noGrp="1"/>
          </p:cNvSpPr>
          <p:nvPr>
            <p:ph type="sldNum" sz="quarter" idx="12"/>
          </p:nvPr>
        </p:nvSpPr>
        <p:spPr/>
        <p:txBody>
          <a:bodyPr/>
          <a:lstStyle/>
          <a:p>
            <a:fld id="{4CC025FC-8595-493D-A46F-2FDFDC85D9BC}" type="slidenum">
              <a:rPr lang="en-US" smtClean="0"/>
              <a:t>33</a:t>
            </a:fld>
            <a:endParaRPr lang="en-US"/>
          </a:p>
        </p:txBody>
      </p:sp>
    </p:spTree>
    <p:extLst>
      <p:ext uri="{BB962C8B-B14F-4D97-AF65-F5344CB8AC3E}">
        <p14:creationId xmlns:p14="http://schemas.microsoft.com/office/powerpoint/2010/main" val="3616866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45A2-3D43-4E05-A47D-455CD790B171}"/>
              </a:ext>
            </a:extLst>
          </p:cNvPr>
          <p:cNvSpPr>
            <a:spLocks noGrp="1"/>
          </p:cNvSpPr>
          <p:nvPr>
            <p:ph type="title"/>
          </p:nvPr>
        </p:nvSpPr>
        <p:spPr/>
        <p:txBody>
          <a:bodyPr>
            <a:normAutofit fontScale="90000"/>
          </a:bodyPr>
          <a:lstStyle/>
          <a:p>
            <a:r>
              <a:rPr lang="en-US" dirty="0"/>
              <a:t>k-Medoids Summarized</a:t>
            </a:r>
          </a:p>
        </p:txBody>
      </p:sp>
      <p:pic>
        <p:nvPicPr>
          <p:cNvPr id="4" name="Picture 3">
            <a:extLst>
              <a:ext uri="{FF2B5EF4-FFF2-40B4-BE49-F238E27FC236}">
                <a16:creationId xmlns:a16="http://schemas.microsoft.com/office/drawing/2014/main" id="{1473C766-C20C-40AD-9D9F-4BC38ECD4B62}"/>
              </a:ext>
            </a:extLst>
          </p:cNvPr>
          <p:cNvPicPr>
            <a:picLocks noChangeAspect="1"/>
          </p:cNvPicPr>
          <p:nvPr/>
        </p:nvPicPr>
        <p:blipFill>
          <a:blip r:embed="rId2"/>
          <a:stretch>
            <a:fillRect/>
          </a:stretch>
        </p:blipFill>
        <p:spPr>
          <a:xfrm>
            <a:off x="1428383" y="1204912"/>
            <a:ext cx="9335233" cy="5329528"/>
          </a:xfrm>
          <a:prstGeom prst="rect">
            <a:avLst/>
          </a:prstGeom>
        </p:spPr>
      </p:pic>
      <p:sp>
        <p:nvSpPr>
          <p:cNvPr id="6" name="Slide Number Placeholder 5">
            <a:extLst>
              <a:ext uri="{FF2B5EF4-FFF2-40B4-BE49-F238E27FC236}">
                <a16:creationId xmlns:a16="http://schemas.microsoft.com/office/drawing/2014/main" id="{F8B68871-8513-4117-B401-2A9E7C1D3643}"/>
              </a:ext>
            </a:extLst>
          </p:cNvPr>
          <p:cNvSpPr>
            <a:spLocks noGrp="1"/>
          </p:cNvSpPr>
          <p:nvPr>
            <p:ph type="sldNum" sz="quarter" idx="12"/>
          </p:nvPr>
        </p:nvSpPr>
        <p:spPr/>
        <p:txBody>
          <a:bodyPr/>
          <a:lstStyle/>
          <a:p>
            <a:fld id="{4CC025FC-8595-493D-A46F-2FDFDC85D9BC}" type="slidenum">
              <a:rPr lang="en-US" smtClean="0"/>
              <a:t>34</a:t>
            </a:fld>
            <a:endParaRPr lang="en-US"/>
          </a:p>
        </p:txBody>
      </p:sp>
    </p:spTree>
    <p:extLst>
      <p:ext uri="{BB962C8B-B14F-4D97-AF65-F5344CB8AC3E}">
        <p14:creationId xmlns:p14="http://schemas.microsoft.com/office/powerpoint/2010/main" val="1474491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CCA3-A23C-428D-ACC0-51B5FC3685ED}"/>
              </a:ext>
            </a:extLst>
          </p:cNvPr>
          <p:cNvSpPr>
            <a:spLocks noGrp="1"/>
          </p:cNvSpPr>
          <p:nvPr>
            <p:ph type="title"/>
          </p:nvPr>
        </p:nvSpPr>
        <p:spPr/>
        <p:txBody>
          <a:bodyPr>
            <a:normAutofit fontScale="90000"/>
          </a:bodyPr>
          <a:lstStyle/>
          <a:p>
            <a:r>
              <a:rPr lang="en-US" dirty="0"/>
              <a:t>k-Medoid: Example</a:t>
            </a:r>
          </a:p>
        </p:txBody>
      </p:sp>
      <p:graphicFrame>
        <p:nvGraphicFramePr>
          <p:cNvPr id="4" name="Table 3">
            <a:extLst>
              <a:ext uri="{FF2B5EF4-FFF2-40B4-BE49-F238E27FC236}">
                <a16:creationId xmlns:a16="http://schemas.microsoft.com/office/drawing/2014/main" id="{3EAFF898-857E-44A8-91CC-47301DFFF473}"/>
              </a:ext>
            </a:extLst>
          </p:cNvPr>
          <p:cNvGraphicFramePr>
            <a:graphicFrameLocks noGrp="1"/>
          </p:cNvGraphicFramePr>
          <p:nvPr/>
        </p:nvGraphicFramePr>
        <p:xfrm>
          <a:off x="401778" y="1519816"/>
          <a:ext cx="2116338" cy="5029200"/>
        </p:xfrm>
        <a:graphic>
          <a:graphicData uri="http://schemas.openxmlformats.org/drawingml/2006/table">
            <a:tbl>
              <a:tblPr firstRow="1" bandRow="1">
                <a:tableStyleId>{5C22544A-7EE6-4342-B048-85BDC9FD1C3A}</a:tableStyleId>
              </a:tblPr>
              <a:tblGrid>
                <a:gridCol w="705446">
                  <a:extLst>
                    <a:ext uri="{9D8B030D-6E8A-4147-A177-3AD203B41FA5}">
                      <a16:colId xmlns:a16="http://schemas.microsoft.com/office/drawing/2014/main" val="1426228962"/>
                    </a:ext>
                  </a:extLst>
                </a:gridCol>
                <a:gridCol w="705446">
                  <a:extLst>
                    <a:ext uri="{9D8B030D-6E8A-4147-A177-3AD203B41FA5}">
                      <a16:colId xmlns:a16="http://schemas.microsoft.com/office/drawing/2014/main" val="1903537073"/>
                    </a:ext>
                  </a:extLst>
                </a:gridCol>
                <a:gridCol w="705446">
                  <a:extLst>
                    <a:ext uri="{9D8B030D-6E8A-4147-A177-3AD203B41FA5}">
                      <a16:colId xmlns:a16="http://schemas.microsoft.com/office/drawing/2014/main" val="3532606374"/>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A1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A2</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2</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3</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8</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4</a:t>
                      </a: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7</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5</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70800376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extLst>
                  <a:ext uri="{0D108BD9-81ED-4DB2-BD59-A6C34878D82A}">
                    <a16:rowId xmlns:a16="http://schemas.microsoft.com/office/drawing/2014/main" val="3503834581"/>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a:t>
                      </a:r>
                    </a:p>
                  </a:txBody>
                  <a:tcPr anchor="b"/>
                </a:tc>
                <a:extLst>
                  <a:ext uri="{0D108BD9-81ED-4DB2-BD59-A6C34878D82A}">
                    <a16:rowId xmlns:a16="http://schemas.microsoft.com/office/drawing/2014/main" val="7490881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extLst>
                  <a:ext uri="{0D108BD9-81ED-4DB2-BD59-A6C34878D82A}">
                    <a16:rowId xmlns:a16="http://schemas.microsoft.com/office/drawing/2014/main" val="38724073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5</a:t>
                      </a:r>
                    </a:p>
                  </a:txBody>
                  <a:tcPr anchor="b"/>
                </a:tc>
                <a:extLst>
                  <a:ext uri="{0D108BD9-81ED-4DB2-BD59-A6C34878D82A}">
                    <a16:rowId xmlns:a16="http://schemas.microsoft.com/office/drawing/2014/main" val="3002095035"/>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extLst>
                  <a:ext uri="{0D108BD9-81ED-4DB2-BD59-A6C34878D82A}">
                    <a16:rowId xmlns:a16="http://schemas.microsoft.com/office/drawing/2014/main" val="162415058"/>
                  </a:ext>
                </a:extLst>
              </a:tr>
            </a:tbl>
          </a:graphicData>
        </a:graphic>
      </p:graphicFrame>
      <p:pic>
        <p:nvPicPr>
          <p:cNvPr id="5" name="Picture 4">
            <a:extLst>
              <a:ext uri="{FF2B5EF4-FFF2-40B4-BE49-F238E27FC236}">
                <a16:creationId xmlns:a16="http://schemas.microsoft.com/office/drawing/2014/main" id="{F9FD12D3-621A-4E95-A08A-95A18CE521A9}"/>
              </a:ext>
            </a:extLst>
          </p:cNvPr>
          <p:cNvPicPr>
            <a:picLocks noChangeAspect="1"/>
          </p:cNvPicPr>
          <p:nvPr/>
        </p:nvPicPr>
        <p:blipFill>
          <a:blip r:embed="rId2"/>
          <a:stretch>
            <a:fillRect/>
          </a:stretch>
        </p:blipFill>
        <p:spPr>
          <a:xfrm>
            <a:off x="6532418" y="1519816"/>
            <a:ext cx="5257800" cy="3781425"/>
          </a:xfrm>
          <a:prstGeom prst="rect">
            <a:avLst/>
          </a:prstGeom>
        </p:spPr>
      </p:pic>
      <p:sp>
        <p:nvSpPr>
          <p:cNvPr id="7" name="TextBox 6">
            <a:extLst>
              <a:ext uri="{FF2B5EF4-FFF2-40B4-BE49-F238E27FC236}">
                <a16:creationId xmlns:a16="http://schemas.microsoft.com/office/drawing/2014/main" id="{698D798C-39DD-4473-B9B0-202D6EDA523B}"/>
              </a:ext>
            </a:extLst>
          </p:cNvPr>
          <p:cNvSpPr txBox="1"/>
          <p:nvPr/>
        </p:nvSpPr>
        <p:spPr>
          <a:xfrm>
            <a:off x="2672862" y="4684540"/>
            <a:ext cx="3123027" cy="1908215"/>
          </a:xfrm>
          <a:prstGeom prst="rect">
            <a:avLst/>
          </a:prstGeom>
          <a:noFill/>
        </p:spPr>
        <p:txBody>
          <a:bodyPr wrap="square" rtlCol="0">
            <a:spAutoFit/>
          </a:bodyPr>
          <a:lstStyle/>
          <a:p>
            <a:r>
              <a:rPr lang="en-US" dirty="0"/>
              <a:t>Goal: create two clusters</a:t>
            </a:r>
          </a:p>
          <a:p>
            <a:r>
              <a:rPr lang="en-US" dirty="0"/>
              <a:t>Choose randomly two medoids </a:t>
            </a:r>
            <a:br>
              <a:rPr lang="en-US" dirty="0"/>
            </a:br>
            <a:br>
              <a:rPr lang="pt-BR" dirty="0"/>
            </a:br>
            <a:r>
              <a:rPr lang="pt-BR" sz="3200" dirty="0"/>
              <a:t>O</a:t>
            </a:r>
            <a:r>
              <a:rPr lang="pt-BR" sz="3200" baseline="-25000" dirty="0"/>
              <a:t>2</a:t>
            </a:r>
            <a:r>
              <a:rPr lang="pt-BR" sz="3200" dirty="0"/>
              <a:t> = (3,4)</a:t>
            </a:r>
            <a:br>
              <a:rPr lang="pt-BR" sz="3200" dirty="0"/>
            </a:br>
            <a:r>
              <a:rPr lang="pt-BR" sz="3200" dirty="0"/>
              <a:t>O</a:t>
            </a:r>
            <a:r>
              <a:rPr lang="pt-BR" sz="3200" baseline="-25000" dirty="0"/>
              <a:t>8</a:t>
            </a:r>
            <a:r>
              <a:rPr lang="pt-BR" sz="3200" dirty="0"/>
              <a:t> = (7,4) </a:t>
            </a:r>
            <a:endParaRPr lang="en-US" sz="3200" dirty="0"/>
          </a:p>
        </p:txBody>
      </p:sp>
      <p:sp>
        <p:nvSpPr>
          <p:cNvPr id="6" name="Slide Number Placeholder 5">
            <a:extLst>
              <a:ext uri="{FF2B5EF4-FFF2-40B4-BE49-F238E27FC236}">
                <a16:creationId xmlns:a16="http://schemas.microsoft.com/office/drawing/2014/main" id="{1FBA0D53-E4B1-403A-84C4-D0B35A4FEBB3}"/>
              </a:ext>
            </a:extLst>
          </p:cNvPr>
          <p:cNvSpPr>
            <a:spLocks noGrp="1"/>
          </p:cNvSpPr>
          <p:nvPr>
            <p:ph type="sldNum" sz="quarter" idx="12"/>
          </p:nvPr>
        </p:nvSpPr>
        <p:spPr/>
        <p:txBody>
          <a:bodyPr/>
          <a:lstStyle/>
          <a:p>
            <a:fld id="{4CC025FC-8595-493D-A46F-2FDFDC85D9BC}" type="slidenum">
              <a:rPr lang="en-US" smtClean="0"/>
              <a:t>35</a:t>
            </a:fld>
            <a:endParaRPr lang="en-US"/>
          </a:p>
        </p:txBody>
      </p:sp>
    </p:spTree>
    <p:extLst>
      <p:ext uri="{BB962C8B-B14F-4D97-AF65-F5344CB8AC3E}">
        <p14:creationId xmlns:p14="http://schemas.microsoft.com/office/powerpoint/2010/main" val="21172876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0815-6E3D-4468-B70A-064DCBF93D7F}"/>
              </a:ext>
            </a:extLst>
          </p:cNvPr>
          <p:cNvSpPr>
            <a:spLocks noGrp="1"/>
          </p:cNvSpPr>
          <p:nvPr>
            <p:ph type="title"/>
          </p:nvPr>
        </p:nvSpPr>
        <p:spPr/>
        <p:txBody>
          <a:bodyPr>
            <a:normAutofit fontScale="90000"/>
          </a:bodyPr>
          <a:lstStyle/>
          <a:p>
            <a:r>
              <a:rPr lang="en-US" dirty="0"/>
              <a:t>Manhattan Distance</a:t>
            </a:r>
          </a:p>
        </p:txBody>
      </p:sp>
      <p:sp>
        <p:nvSpPr>
          <p:cNvPr id="3" name="Content Placeholder 2">
            <a:extLst>
              <a:ext uri="{FF2B5EF4-FFF2-40B4-BE49-F238E27FC236}">
                <a16:creationId xmlns:a16="http://schemas.microsoft.com/office/drawing/2014/main" id="{F3B1BDD3-09F7-49D5-BA94-36DAF5A796D4}"/>
              </a:ext>
            </a:extLst>
          </p:cNvPr>
          <p:cNvSpPr>
            <a:spLocks noGrp="1"/>
          </p:cNvSpPr>
          <p:nvPr>
            <p:ph idx="1"/>
          </p:nvPr>
        </p:nvSpPr>
        <p:spPr/>
        <p:txBody>
          <a:bodyPr/>
          <a:lstStyle/>
          <a:p>
            <a:r>
              <a:rPr lang="en-US" dirty="0"/>
              <a:t>The distance between two points in a grid based on a strictly horizontal and/or vertical path (that is, along the grid lines).</a:t>
            </a:r>
          </a:p>
        </p:txBody>
      </p:sp>
      <p:pic>
        <p:nvPicPr>
          <p:cNvPr id="4" name="Picture 3">
            <a:extLst>
              <a:ext uri="{FF2B5EF4-FFF2-40B4-BE49-F238E27FC236}">
                <a16:creationId xmlns:a16="http://schemas.microsoft.com/office/drawing/2014/main" id="{62DA0828-D99A-40AA-BA55-CB0B346D0617}"/>
              </a:ext>
            </a:extLst>
          </p:cNvPr>
          <p:cNvPicPr>
            <a:picLocks noChangeAspect="1"/>
          </p:cNvPicPr>
          <p:nvPr/>
        </p:nvPicPr>
        <p:blipFill>
          <a:blip r:embed="rId2"/>
          <a:stretch>
            <a:fillRect/>
          </a:stretch>
        </p:blipFill>
        <p:spPr>
          <a:xfrm>
            <a:off x="4343626" y="2667000"/>
            <a:ext cx="4752975" cy="3800475"/>
          </a:xfrm>
          <a:prstGeom prst="rect">
            <a:avLst/>
          </a:prstGeom>
        </p:spPr>
      </p:pic>
      <p:sp>
        <p:nvSpPr>
          <p:cNvPr id="6" name="Slide Number Placeholder 5">
            <a:extLst>
              <a:ext uri="{FF2B5EF4-FFF2-40B4-BE49-F238E27FC236}">
                <a16:creationId xmlns:a16="http://schemas.microsoft.com/office/drawing/2014/main" id="{D5948C19-109B-4365-A789-B10FCBBEC505}"/>
              </a:ext>
            </a:extLst>
          </p:cNvPr>
          <p:cNvSpPr>
            <a:spLocks noGrp="1"/>
          </p:cNvSpPr>
          <p:nvPr>
            <p:ph type="sldNum" sz="quarter" idx="12"/>
          </p:nvPr>
        </p:nvSpPr>
        <p:spPr/>
        <p:txBody>
          <a:bodyPr/>
          <a:lstStyle/>
          <a:p>
            <a:fld id="{4CC025FC-8595-493D-A46F-2FDFDC85D9BC}" type="slidenum">
              <a:rPr lang="en-US" smtClean="0"/>
              <a:t>36</a:t>
            </a:fld>
            <a:endParaRPr lang="en-US"/>
          </a:p>
        </p:txBody>
      </p:sp>
    </p:spTree>
    <p:extLst>
      <p:ext uri="{BB962C8B-B14F-4D97-AF65-F5344CB8AC3E}">
        <p14:creationId xmlns:p14="http://schemas.microsoft.com/office/powerpoint/2010/main" val="12111457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CCA3-A23C-428D-ACC0-51B5FC3685ED}"/>
              </a:ext>
            </a:extLst>
          </p:cNvPr>
          <p:cNvSpPr>
            <a:spLocks noGrp="1"/>
          </p:cNvSpPr>
          <p:nvPr>
            <p:ph type="title"/>
          </p:nvPr>
        </p:nvSpPr>
        <p:spPr/>
        <p:txBody>
          <a:bodyPr>
            <a:normAutofit fontScale="90000"/>
          </a:bodyPr>
          <a:lstStyle/>
          <a:p>
            <a:r>
              <a:rPr lang="en-US" dirty="0"/>
              <a:t>k-Medoid: Example</a:t>
            </a:r>
          </a:p>
        </p:txBody>
      </p:sp>
      <p:pic>
        <p:nvPicPr>
          <p:cNvPr id="6" name="Picture 5">
            <a:extLst>
              <a:ext uri="{FF2B5EF4-FFF2-40B4-BE49-F238E27FC236}">
                <a16:creationId xmlns:a16="http://schemas.microsoft.com/office/drawing/2014/main" id="{DA3C8A09-0F50-47E9-84D3-AC0613A0258F}"/>
              </a:ext>
            </a:extLst>
          </p:cNvPr>
          <p:cNvPicPr>
            <a:picLocks noChangeAspect="1"/>
          </p:cNvPicPr>
          <p:nvPr/>
        </p:nvPicPr>
        <p:blipFill>
          <a:blip r:embed="rId2"/>
          <a:stretch>
            <a:fillRect/>
          </a:stretch>
        </p:blipFill>
        <p:spPr>
          <a:xfrm>
            <a:off x="6532418" y="1481716"/>
            <a:ext cx="5314950" cy="3819525"/>
          </a:xfrm>
          <a:prstGeom prst="rect">
            <a:avLst/>
          </a:prstGeom>
        </p:spPr>
      </p:pic>
      <p:graphicFrame>
        <p:nvGraphicFramePr>
          <p:cNvPr id="4" name="Table 3">
            <a:extLst>
              <a:ext uri="{FF2B5EF4-FFF2-40B4-BE49-F238E27FC236}">
                <a16:creationId xmlns:a16="http://schemas.microsoft.com/office/drawing/2014/main" id="{3EAFF898-857E-44A8-91CC-47301DFFF473}"/>
              </a:ext>
            </a:extLst>
          </p:cNvPr>
          <p:cNvGraphicFramePr>
            <a:graphicFrameLocks noGrp="1"/>
          </p:cNvGraphicFramePr>
          <p:nvPr/>
        </p:nvGraphicFramePr>
        <p:xfrm>
          <a:off x="401778" y="1519816"/>
          <a:ext cx="3185992" cy="502920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426228962"/>
                    </a:ext>
                  </a:extLst>
                </a:gridCol>
                <a:gridCol w="548640">
                  <a:extLst>
                    <a:ext uri="{9D8B030D-6E8A-4147-A177-3AD203B41FA5}">
                      <a16:colId xmlns:a16="http://schemas.microsoft.com/office/drawing/2014/main" val="1903537073"/>
                    </a:ext>
                  </a:extLst>
                </a:gridCol>
                <a:gridCol w="548640">
                  <a:extLst>
                    <a:ext uri="{9D8B030D-6E8A-4147-A177-3AD203B41FA5}">
                      <a16:colId xmlns:a16="http://schemas.microsoft.com/office/drawing/2014/main" val="3532606374"/>
                    </a:ext>
                  </a:extLst>
                </a:gridCol>
                <a:gridCol w="724316">
                  <a:extLst>
                    <a:ext uri="{9D8B030D-6E8A-4147-A177-3AD203B41FA5}">
                      <a16:colId xmlns:a16="http://schemas.microsoft.com/office/drawing/2014/main" val="1914340152"/>
                    </a:ext>
                  </a:extLst>
                </a:gridCol>
                <a:gridCol w="724316">
                  <a:extLst>
                    <a:ext uri="{9D8B030D-6E8A-4147-A177-3AD203B41FA5}">
                      <a16:colId xmlns:a16="http://schemas.microsoft.com/office/drawing/2014/main" val="3229072336"/>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A1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A2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C1D</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2</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3</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8</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8</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4</a:t>
                      </a: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5</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70800376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a:effectLst/>
                        </a:rPr>
                        <a:t>3</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503834581"/>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a:t>
                      </a:r>
                    </a:p>
                  </a:txBody>
                  <a:tcPr anchor="b"/>
                </a:tc>
                <a:tc>
                  <a:txBody>
                    <a:bodyPr/>
                    <a:lstStyle/>
                    <a:p>
                      <a:pPr algn="r" fontAlgn="b"/>
                      <a:r>
                        <a:rPr lang="en-US" sz="2400" u="none" strike="noStrike">
                          <a:effectLst/>
                        </a:rPr>
                        <a:t>5</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7490881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a:effectLst/>
                        </a:rPr>
                        <a:t>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0</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724073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5</a:t>
                      </a:r>
                    </a:p>
                  </a:txBody>
                  <a:tcPr anchor="b"/>
                </a:tc>
                <a:tc>
                  <a:txBody>
                    <a:bodyPr/>
                    <a:lstStyle/>
                    <a:p>
                      <a:pPr algn="r" fontAlgn="b"/>
                      <a:r>
                        <a:rPr lang="en-US" sz="2400" u="none" strike="noStrike">
                          <a:effectLst/>
                        </a:rPr>
                        <a:t>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2</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002095035"/>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u="none" strike="noStrike">
                          <a:effectLst/>
                        </a:rPr>
                        <a:t>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62415058"/>
                  </a:ext>
                </a:extLst>
              </a:tr>
            </a:tbl>
          </a:graphicData>
        </a:graphic>
      </p:graphicFrame>
      <p:sp>
        <p:nvSpPr>
          <p:cNvPr id="8" name="TextBox 7">
            <a:extLst>
              <a:ext uri="{FF2B5EF4-FFF2-40B4-BE49-F238E27FC236}">
                <a16:creationId xmlns:a16="http://schemas.microsoft.com/office/drawing/2014/main" id="{319005DC-EB6C-4FB6-B110-1E129725A6BE}"/>
              </a:ext>
            </a:extLst>
          </p:cNvPr>
          <p:cNvSpPr txBox="1"/>
          <p:nvPr/>
        </p:nvSpPr>
        <p:spPr>
          <a:xfrm>
            <a:off x="3713871" y="5471798"/>
            <a:ext cx="4332849" cy="1077218"/>
          </a:xfrm>
          <a:prstGeom prst="rect">
            <a:avLst/>
          </a:prstGeom>
          <a:noFill/>
        </p:spPr>
        <p:txBody>
          <a:bodyPr wrap="square" rtlCol="0">
            <a:spAutoFit/>
          </a:bodyPr>
          <a:lstStyle/>
          <a:p>
            <a:r>
              <a:rPr lang="pt-BR" sz="3200" b="1" i="1" dirty="0">
                <a:solidFill>
                  <a:srgbClr val="FF0000"/>
                </a:solidFill>
              </a:rPr>
              <a:t>Cluster 1:</a:t>
            </a:r>
            <a:r>
              <a:rPr lang="pt-BR" sz="3200" dirty="0"/>
              <a:t> 1, 2, 3, 4</a:t>
            </a:r>
          </a:p>
          <a:p>
            <a:r>
              <a:rPr lang="pt-BR" sz="3200" b="1" i="1" dirty="0">
                <a:solidFill>
                  <a:schemeClr val="accent1"/>
                </a:solidFill>
              </a:rPr>
              <a:t>Cluster 2:</a:t>
            </a:r>
            <a:r>
              <a:rPr lang="pt-BR" sz="3200" dirty="0"/>
              <a:t> 5, 6, 7, 8, 9, 10</a:t>
            </a:r>
            <a:endParaRPr lang="en-US" sz="3200" dirty="0"/>
          </a:p>
        </p:txBody>
      </p:sp>
      <p:sp>
        <p:nvSpPr>
          <p:cNvPr id="7" name="Slide Number Placeholder 6">
            <a:extLst>
              <a:ext uri="{FF2B5EF4-FFF2-40B4-BE49-F238E27FC236}">
                <a16:creationId xmlns:a16="http://schemas.microsoft.com/office/drawing/2014/main" id="{983C013B-358B-4CA5-AEEC-61862F0200CD}"/>
              </a:ext>
            </a:extLst>
          </p:cNvPr>
          <p:cNvSpPr>
            <a:spLocks noGrp="1"/>
          </p:cNvSpPr>
          <p:nvPr>
            <p:ph type="sldNum" sz="quarter" idx="12"/>
          </p:nvPr>
        </p:nvSpPr>
        <p:spPr/>
        <p:txBody>
          <a:bodyPr/>
          <a:lstStyle/>
          <a:p>
            <a:fld id="{4CC025FC-8595-493D-A46F-2FDFDC85D9BC}" type="slidenum">
              <a:rPr lang="en-US" smtClean="0"/>
              <a:t>37</a:t>
            </a:fld>
            <a:endParaRPr lang="en-US"/>
          </a:p>
        </p:txBody>
      </p:sp>
    </p:spTree>
    <p:extLst>
      <p:ext uri="{BB962C8B-B14F-4D97-AF65-F5344CB8AC3E}">
        <p14:creationId xmlns:p14="http://schemas.microsoft.com/office/powerpoint/2010/main" val="1745973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CCA3-A23C-428D-ACC0-51B5FC3685ED}"/>
              </a:ext>
            </a:extLst>
          </p:cNvPr>
          <p:cNvSpPr>
            <a:spLocks noGrp="1"/>
          </p:cNvSpPr>
          <p:nvPr>
            <p:ph type="title"/>
          </p:nvPr>
        </p:nvSpPr>
        <p:spPr/>
        <p:txBody>
          <a:bodyPr>
            <a:normAutofit fontScale="90000"/>
          </a:bodyPr>
          <a:lstStyle/>
          <a:p>
            <a:r>
              <a:rPr lang="en-US" dirty="0"/>
              <a:t>k-Medoid: Example</a:t>
            </a:r>
          </a:p>
        </p:txBody>
      </p:sp>
      <p:pic>
        <p:nvPicPr>
          <p:cNvPr id="6" name="Picture 5">
            <a:extLst>
              <a:ext uri="{FF2B5EF4-FFF2-40B4-BE49-F238E27FC236}">
                <a16:creationId xmlns:a16="http://schemas.microsoft.com/office/drawing/2014/main" id="{DA3C8A09-0F50-47E9-84D3-AC0613A0258F}"/>
              </a:ext>
            </a:extLst>
          </p:cNvPr>
          <p:cNvPicPr>
            <a:picLocks noChangeAspect="1"/>
          </p:cNvPicPr>
          <p:nvPr/>
        </p:nvPicPr>
        <p:blipFill>
          <a:blip r:embed="rId2"/>
          <a:stretch>
            <a:fillRect/>
          </a:stretch>
        </p:blipFill>
        <p:spPr>
          <a:xfrm>
            <a:off x="8388918" y="1481716"/>
            <a:ext cx="3458449" cy="2485373"/>
          </a:xfrm>
          <a:prstGeom prst="rect">
            <a:avLst/>
          </a:prstGeom>
        </p:spPr>
      </p:pic>
      <p:sp>
        <p:nvSpPr>
          <p:cNvPr id="8" name="TextBox 7">
            <a:extLst>
              <a:ext uri="{FF2B5EF4-FFF2-40B4-BE49-F238E27FC236}">
                <a16:creationId xmlns:a16="http://schemas.microsoft.com/office/drawing/2014/main" id="{319005DC-EB6C-4FB6-B110-1E129725A6BE}"/>
              </a:ext>
            </a:extLst>
          </p:cNvPr>
          <p:cNvSpPr txBox="1"/>
          <p:nvPr/>
        </p:nvSpPr>
        <p:spPr>
          <a:xfrm>
            <a:off x="3713871" y="2383361"/>
            <a:ext cx="4501661" cy="1569660"/>
          </a:xfrm>
          <a:prstGeom prst="rect">
            <a:avLst/>
          </a:prstGeom>
          <a:noFill/>
        </p:spPr>
        <p:txBody>
          <a:bodyPr wrap="square" rtlCol="0">
            <a:spAutoFit/>
          </a:bodyPr>
          <a:lstStyle/>
          <a:p>
            <a:r>
              <a:rPr lang="en-US" sz="3200" dirty="0"/>
              <a:t>Compute the absolute error criterion [for the set of Medoids (O</a:t>
            </a:r>
            <a:r>
              <a:rPr lang="en-US" sz="3200" baseline="-25000" dirty="0"/>
              <a:t>2</a:t>
            </a:r>
            <a:r>
              <a:rPr lang="en-US" sz="3200" dirty="0"/>
              <a:t>, O</a:t>
            </a:r>
            <a:r>
              <a:rPr lang="en-US" sz="3200" baseline="-25000" dirty="0"/>
              <a:t>8</a:t>
            </a:r>
            <a:r>
              <a:rPr lang="en-US" sz="3200" dirty="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CB6005-A95D-4289-938B-933FE3530200}"/>
                  </a:ext>
                </a:extLst>
              </p:cNvPr>
              <p:cNvSpPr txBox="1"/>
              <p:nvPr/>
            </p:nvSpPr>
            <p:spPr>
              <a:xfrm>
                <a:off x="3713870" y="3935942"/>
                <a:ext cx="4501661" cy="118635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dirty="0" smtClean="0">
                          <a:latin typeface="Cambria Math" panose="02040503050406030204" pitchFamily="18" charset="0"/>
                        </a:rPr>
                        <m:t>𝐸</m:t>
                      </m:r>
                      <m:r>
                        <a:rPr lang="en-US" sz="2400" b="0" i="1" dirty="0" smtClean="0">
                          <a:latin typeface="Cambria Math" panose="02040503050406030204" pitchFamily="18" charset="0"/>
                        </a:rPr>
                        <m:t>= </m:t>
                      </m:r>
                      <m:nary>
                        <m:naryPr>
                          <m:chr m:val="∑"/>
                          <m:ctrlPr>
                            <a:rPr lang="en-US" sz="2400" b="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𝑖</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𝑘</m:t>
                          </m:r>
                        </m:sup>
                        <m:e>
                          <m:nary>
                            <m:naryPr>
                              <m:chr m:val="∑"/>
                              <m:supHide m:val="on"/>
                              <m:ctrlPr>
                                <a:rPr lang="en-US" sz="2400" b="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𝑝</m:t>
                              </m:r>
                              <m:r>
                                <a:rPr lang="en-US" sz="2400" b="0" i="1"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𝐶</m:t>
                                  </m:r>
                                </m:e>
                                <m:sub>
                                  <m:r>
                                    <a:rPr lang="en-US" sz="2400" b="0" i="1" dirty="0" smtClean="0">
                                      <a:latin typeface="Cambria Math" panose="02040503050406030204" pitchFamily="18" charset="0"/>
                                      <a:ea typeface="Cambria Math" panose="02040503050406030204" pitchFamily="18" charset="0"/>
                                    </a:rPr>
                                    <m:t>𝑖</m:t>
                                  </m:r>
                                </m:sub>
                              </m:sSub>
                            </m:sub>
                            <m:sup/>
                            <m:e>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𝑝</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𝑜</m:t>
                                      </m:r>
                                    </m:e>
                                    <m:sub>
                                      <m:r>
                                        <a:rPr lang="en-US" sz="2400" b="0" i="1" dirty="0" smtClean="0">
                                          <a:latin typeface="Cambria Math" panose="02040503050406030204" pitchFamily="18" charset="0"/>
                                        </a:rPr>
                                        <m:t>𝑖</m:t>
                                      </m:r>
                                    </m:sub>
                                  </m:sSub>
                                </m:e>
                              </m:d>
                            </m:e>
                          </m:nary>
                        </m:e>
                      </m:nary>
                    </m:oMath>
                  </m:oMathPara>
                </a14:m>
                <a:endParaRPr lang="en-US" sz="2400" dirty="0"/>
              </a:p>
            </p:txBody>
          </p:sp>
        </mc:Choice>
        <mc:Fallback xmlns="">
          <p:sp>
            <p:nvSpPr>
              <p:cNvPr id="9" name="TextBox 8">
                <a:extLst>
                  <a:ext uri="{FF2B5EF4-FFF2-40B4-BE49-F238E27FC236}">
                    <a16:creationId xmlns:a16="http://schemas.microsoft.com/office/drawing/2014/main" id="{7FCB6005-A95D-4289-938B-933FE3530200}"/>
                  </a:ext>
                </a:extLst>
              </p:cNvPr>
              <p:cNvSpPr txBox="1">
                <a:spLocks noRot="1" noChangeAspect="1" noMove="1" noResize="1" noEditPoints="1" noAdjustHandles="1" noChangeArrowheads="1" noChangeShapeType="1" noTextEdit="1"/>
              </p:cNvSpPr>
              <p:nvPr/>
            </p:nvSpPr>
            <p:spPr>
              <a:xfrm>
                <a:off x="3713870" y="3935942"/>
                <a:ext cx="4501661" cy="118635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6DB00A-E916-46DA-B855-CB2277831610}"/>
                  </a:ext>
                </a:extLst>
              </p:cNvPr>
              <p:cNvSpPr txBox="1"/>
              <p:nvPr/>
            </p:nvSpPr>
            <p:spPr>
              <a:xfrm>
                <a:off x="3713869" y="5140123"/>
                <a:ext cx="8133498" cy="120032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dirty="0" smtClean="0">
                          <a:latin typeface="Cambria Math" panose="02040503050406030204" pitchFamily="18" charset="0"/>
                        </a:rPr>
                        <m:t>𝐸</m:t>
                      </m:r>
                      <m:r>
                        <a:rPr lang="en-US" sz="2400" b="0" i="1" dirty="0" smtClean="0">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1</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2</m:t>
                              </m:r>
                            </m:sub>
                          </m:sSub>
                        </m:e>
                      </m:d>
                      <m:r>
                        <a:rPr lang="en-US" sz="2400" i="1" dirty="0">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3</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2</m:t>
                              </m:r>
                            </m:sub>
                          </m:sSub>
                        </m:e>
                      </m:d>
                      <m:r>
                        <a:rPr lang="en-US" sz="2400" i="1" dirty="0">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4</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2</m:t>
                              </m:r>
                            </m:sub>
                          </m:sSub>
                        </m:e>
                      </m:d>
                      <m:r>
                        <a:rPr lang="en-US" sz="2400" i="1" dirty="0">
                          <a:latin typeface="Cambria Math" panose="02040503050406030204" pitchFamily="18" charset="0"/>
                        </a:rPr>
                        <m:t>+</m:t>
                      </m:r>
                    </m:oMath>
                  </m:oMathPara>
                </a14:m>
                <a:endParaRPr lang="en-US" sz="2400" dirty="0"/>
              </a:p>
              <a:p>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5</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8</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6</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8</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smtClean="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7</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8</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9</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8</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10</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8</m:t>
                            </m:r>
                          </m:sub>
                        </m:sSub>
                      </m:e>
                    </m:d>
                  </m:oMath>
                </a14:m>
                <a:endParaRPr lang="en-US" sz="2400" dirty="0"/>
              </a:p>
              <a:p>
                <a:pPr/>
                <a14:m>
                  <m:oMathPara xmlns:m="http://schemas.openxmlformats.org/officeDocument/2006/math">
                    <m:oMathParaPr>
                      <m:jc m:val="left"/>
                    </m:oMathParaPr>
                    <m:oMath xmlns:m="http://schemas.openxmlformats.org/officeDocument/2006/math">
                      <m:r>
                        <a:rPr lang="en-US" sz="2400" i="1" dirty="0">
                          <a:latin typeface="Cambria Math" panose="02040503050406030204" pitchFamily="18" charset="0"/>
                        </a:rPr>
                        <m:t>𝐸</m:t>
                      </m:r>
                      <m:r>
                        <a:rPr lang="en-US" sz="2400" i="1" dirty="0">
                          <a:latin typeface="Cambria Math" panose="02040503050406030204" pitchFamily="18" charset="0"/>
                        </a:rPr>
                        <m:t>=</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3+4+4</m:t>
                          </m:r>
                        </m:e>
                      </m:d>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3+1+1+2+2</m:t>
                          </m:r>
                        </m:e>
                      </m:d>
                      <m:r>
                        <a:rPr lang="en-US" sz="2400" b="0" i="1" dirty="0" smtClean="0">
                          <a:latin typeface="Cambria Math" panose="02040503050406030204" pitchFamily="18" charset="0"/>
                        </a:rPr>
                        <m:t>=20</m:t>
                      </m:r>
                    </m:oMath>
                  </m:oMathPara>
                </a14:m>
                <a:endParaRPr lang="en-US" sz="2400" dirty="0"/>
              </a:p>
            </p:txBody>
          </p:sp>
        </mc:Choice>
        <mc:Fallback xmlns="">
          <p:sp>
            <p:nvSpPr>
              <p:cNvPr id="10" name="TextBox 9">
                <a:extLst>
                  <a:ext uri="{FF2B5EF4-FFF2-40B4-BE49-F238E27FC236}">
                    <a16:creationId xmlns:a16="http://schemas.microsoft.com/office/drawing/2014/main" id="{9C6DB00A-E916-46DA-B855-CB2277831610}"/>
                  </a:ext>
                </a:extLst>
              </p:cNvPr>
              <p:cNvSpPr txBox="1">
                <a:spLocks noRot="1" noChangeAspect="1" noMove="1" noResize="1" noEditPoints="1" noAdjustHandles="1" noChangeArrowheads="1" noChangeShapeType="1" noTextEdit="1"/>
              </p:cNvSpPr>
              <p:nvPr/>
            </p:nvSpPr>
            <p:spPr>
              <a:xfrm>
                <a:off x="3713869" y="5140123"/>
                <a:ext cx="8133498" cy="1200329"/>
              </a:xfrm>
              <a:prstGeom prst="rect">
                <a:avLst/>
              </a:prstGeom>
              <a:blipFill>
                <a:blip r:embed="rId6"/>
                <a:stretch>
                  <a:fillRect l="-150"/>
                </a:stretch>
              </a:blipFill>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B40DD956-59EE-49DF-ACCF-50EBF49614BA}"/>
              </a:ext>
            </a:extLst>
          </p:cNvPr>
          <p:cNvGraphicFramePr>
            <a:graphicFrameLocks noGrp="1"/>
          </p:cNvGraphicFramePr>
          <p:nvPr/>
        </p:nvGraphicFramePr>
        <p:xfrm>
          <a:off x="401778" y="1519816"/>
          <a:ext cx="3185992" cy="502920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426228962"/>
                    </a:ext>
                  </a:extLst>
                </a:gridCol>
                <a:gridCol w="548640">
                  <a:extLst>
                    <a:ext uri="{9D8B030D-6E8A-4147-A177-3AD203B41FA5}">
                      <a16:colId xmlns:a16="http://schemas.microsoft.com/office/drawing/2014/main" val="1903537073"/>
                    </a:ext>
                  </a:extLst>
                </a:gridCol>
                <a:gridCol w="548640">
                  <a:extLst>
                    <a:ext uri="{9D8B030D-6E8A-4147-A177-3AD203B41FA5}">
                      <a16:colId xmlns:a16="http://schemas.microsoft.com/office/drawing/2014/main" val="3532606374"/>
                    </a:ext>
                  </a:extLst>
                </a:gridCol>
                <a:gridCol w="724316">
                  <a:extLst>
                    <a:ext uri="{9D8B030D-6E8A-4147-A177-3AD203B41FA5}">
                      <a16:colId xmlns:a16="http://schemas.microsoft.com/office/drawing/2014/main" val="1914340152"/>
                    </a:ext>
                  </a:extLst>
                </a:gridCol>
                <a:gridCol w="724316">
                  <a:extLst>
                    <a:ext uri="{9D8B030D-6E8A-4147-A177-3AD203B41FA5}">
                      <a16:colId xmlns:a16="http://schemas.microsoft.com/office/drawing/2014/main" val="3229072336"/>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A1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A2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C1D</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3</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7</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2</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3</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8</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4</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8</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4</a:t>
                      </a: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4</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6</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5</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3</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70800376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a:effectLst/>
                        </a:rPr>
                        <a:t>3</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kern="1200" dirty="0">
                          <a:solidFill>
                            <a:srgbClr val="0070C0"/>
                          </a:solidFill>
                          <a:effectLst/>
                          <a:latin typeface="+mn-lt"/>
                          <a:ea typeface="+mn-ea"/>
                          <a:cs typeface="+mn-cs"/>
                        </a:rPr>
                        <a:t>1</a:t>
                      </a:r>
                    </a:p>
                  </a:txBody>
                  <a:tcPr anchor="b"/>
                </a:tc>
                <a:extLst>
                  <a:ext uri="{0D108BD9-81ED-4DB2-BD59-A6C34878D82A}">
                    <a16:rowId xmlns:a16="http://schemas.microsoft.com/office/drawing/2014/main" val="3503834581"/>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a:t>
                      </a:r>
                    </a:p>
                  </a:txBody>
                  <a:tcPr anchor="b"/>
                </a:tc>
                <a:tc>
                  <a:txBody>
                    <a:bodyPr/>
                    <a:lstStyle/>
                    <a:p>
                      <a:pPr algn="r" fontAlgn="b"/>
                      <a:r>
                        <a:rPr lang="en-US" sz="2400" u="none" strike="noStrike">
                          <a:effectLst/>
                        </a:rPr>
                        <a:t>5</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kern="1200" dirty="0">
                          <a:solidFill>
                            <a:srgbClr val="0070C0"/>
                          </a:solidFill>
                          <a:effectLst/>
                          <a:latin typeface="+mn-lt"/>
                          <a:ea typeface="+mn-ea"/>
                          <a:cs typeface="+mn-cs"/>
                        </a:rPr>
                        <a:t>1</a:t>
                      </a:r>
                    </a:p>
                  </a:txBody>
                  <a:tcPr anchor="b"/>
                </a:tc>
                <a:extLst>
                  <a:ext uri="{0D108BD9-81ED-4DB2-BD59-A6C34878D82A}">
                    <a16:rowId xmlns:a16="http://schemas.microsoft.com/office/drawing/2014/main" val="7490881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a:effectLst/>
                        </a:rPr>
                        <a:t>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0</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724073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5</a:t>
                      </a:r>
                    </a:p>
                  </a:txBody>
                  <a:tcPr anchor="b"/>
                </a:tc>
                <a:tc>
                  <a:txBody>
                    <a:bodyPr/>
                    <a:lstStyle/>
                    <a:p>
                      <a:pPr algn="r" fontAlgn="b"/>
                      <a:r>
                        <a:rPr lang="en-US" sz="2400" u="none" strike="noStrike">
                          <a:effectLst/>
                        </a:rPr>
                        <a:t>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kern="1200" dirty="0">
                          <a:solidFill>
                            <a:srgbClr val="0070C0"/>
                          </a:solidFill>
                          <a:effectLst/>
                          <a:latin typeface="+mn-lt"/>
                          <a:ea typeface="+mn-ea"/>
                          <a:cs typeface="+mn-cs"/>
                        </a:rPr>
                        <a:t>2</a:t>
                      </a:r>
                    </a:p>
                  </a:txBody>
                  <a:tcPr anchor="b"/>
                </a:tc>
                <a:extLst>
                  <a:ext uri="{0D108BD9-81ED-4DB2-BD59-A6C34878D82A}">
                    <a16:rowId xmlns:a16="http://schemas.microsoft.com/office/drawing/2014/main" val="3002095035"/>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u="none" strike="noStrike">
                          <a:effectLst/>
                        </a:rPr>
                        <a:t>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kern="1200" dirty="0">
                          <a:solidFill>
                            <a:srgbClr val="0070C0"/>
                          </a:solidFill>
                          <a:effectLst/>
                          <a:latin typeface="+mn-lt"/>
                          <a:ea typeface="+mn-ea"/>
                          <a:cs typeface="+mn-cs"/>
                        </a:rPr>
                        <a:t>2</a:t>
                      </a:r>
                    </a:p>
                  </a:txBody>
                  <a:tcPr anchor="b"/>
                </a:tc>
                <a:extLst>
                  <a:ext uri="{0D108BD9-81ED-4DB2-BD59-A6C34878D82A}">
                    <a16:rowId xmlns:a16="http://schemas.microsoft.com/office/drawing/2014/main" val="162415058"/>
                  </a:ext>
                </a:extLst>
              </a:tr>
            </a:tbl>
          </a:graphicData>
        </a:graphic>
      </p:graphicFrame>
      <p:sp>
        <p:nvSpPr>
          <p:cNvPr id="5" name="Slide Number Placeholder 4">
            <a:extLst>
              <a:ext uri="{FF2B5EF4-FFF2-40B4-BE49-F238E27FC236}">
                <a16:creationId xmlns:a16="http://schemas.microsoft.com/office/drawing/2014/main" id="{A23FB065-48A4-47DB-BE71-E1FF54C5B000}"/>
              </a:ext>
            </a:extLst>
          </p:cNvPr>
          <p:cNvSpPr>
            <a:spLocks noGrp="1"/>
          </p:cNvSpPr>
          <p:nvPr>
            <p:ph type="sldNum" sz="quarter" idx="12"/>
          </p:nvPr>
        </p:nvSpPr>
        <p:spPr/>
        <p:txBody>
          <a:bodyPr/>
          <a:lstStyle/>
          <a:p>
            <a:fld id="{4CC025FC-8595-493D-A46F-2FDFDC85D9BC}" type="slidenum">
              <a:rPr lang="en-US" smtClean="0"/>
              <a:t>38</a:t>
            </a:fld>
            <a:endParaRPr lang="en-US"/>
          </a:p>
        </p:txBody>
      </p:sp>
    </p:spTree>
    <p:extLst>
      <p:ext uri="{BB962C8B-B14F-4D97-AF65-F5344CB8AC3E}">
        <p14:creationId xmlns:p14="http://schemas.microsoft.com/office/powerpoint/2010/main" val="2620360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CC52CD-4C0B-4809-A90A-85FB023C3812}"/>
              </a:ext>
            </a:extLst>
          </p:cNvPr>
          <p:cNvPicPr>
            <a:picLocks noChangeAspect="1"/>
          </p:cNvPicPr>
          <p:nvPr/>
        </p:nvPicPr>
        <p:blipFill>
          <a:blip r:embed="rId2"/>
          <a:stretch>
            <a:fillRect/>
          </a:stretch>
        </p:blipFill>
        <p:spPr>
          <a:xfrm>
            <a:off x="8430844" y="1481716"/>
            <a:ext cx="3359374" cy="2463134"/>
          </a:xfrm>
          <a:prstGeom prst="rect">
            <a:avLst/>
          </a:prstGeom>
        </p:spPr>
      </p:pic>
      <p:sp>
        <p:nvSpPr>
          <p:cNvPr id="2" name="Title 1">
            <a:extLst>
              <a:ext uri="{FF2B5EF4-FFF2-40B4-BE49-F238E27FC236}">
                <a16:creationId xmlns:a16="http://schemas.microsoft.com/office/drawing/2014/main" id="{8B0FCCA3-A23C-428D-ACC0-51B5FC3685ED}"/>
              </a:ext>
            </a:extLst>
          </p:cNvPr>
          <p:cNvSpPr>
            <a:spLocks noGrp="1"/>
          </p:cNvSpPr>
          <p:nvPr>
            <p:ph type="title"/>
          </p:nvPr>
        </p:nvSpPr>
        <p:spPr/>
        <p:txBody>
          <a:bodyPr>
            <a:normAutofit fontScale="90000"/>
          </a:bodyPr>
          <a:lstStyle/>
          <a:p>
            <a:r>
              <a:rPr lang="en-US" dirty="0"/>
              <a:t>k-Medoid: Example</a:t>
            </a:r>
          </a:p>
        </p:txBody>
      </p:sp>
      <p:sp>
        <p:nvSpPr>
          <p:cNvPr id="8" name="TextBox 7">
            <a:extLst>
              <a:ext uri="{FF2B5EF4-FFF2-40B4-BE49-F238E27FC236}">
                <a16:creationId xmlns:a16="http://schemas.microsoft.com/office/drawing/2014/main" id="{319005DC-EB6C-4FB6-B110-1E129725A6BE}"/>
              </a:ext>
            </a:extLst>
          </p:cNvPr>
          <p:cNvSpPr txBox="1"/>
          <p:nvPr/>
        </p:nvSpPr>
        <p:spPr>
          <a:xfrm>
            <a:off x="3713871" y="2383361"/>
            <a:ext cx="4501661" cy="1569660"/>
          </a:xfrm>
          <a:prstGeom prst="rect">
            <a:avLst/>
          </a:prstGeom>
          <a:noFill/>
        </p:spPr>
        <p:txBody>
          <a:bodyPr wrap="square" rtlCol="0">
            <a:spAutoFit/>
          </a:bodyPr>
          <a:lstStyle/>
          <a:p>
            <a:r>
              <a:rPr lang="en-US" sz="3200" dirty="0"/>
              <a:t>Compute the absolute error criterion [for the set of Medoids (O</a:t>
            </a:r>
            <a:r>
              <a:rPr lang="en-US" sz="3200" baseline="-25000" dirty="0"/>
              <a:t>2</a:t>
            </a:r>
            <a:r>
              <a:rPr lang="en-US" sz="3200" dirty="0"/>
              <a:t>, O</a:t>
            </a:r>
            <a:r>
              <a:rPr lang="en-US" sz="3200" baseline="-25000" dirty="0"/>
              <a:t>8</a:t>
            </a:r>
            <a:r>
              <a:rPr lang="en-US" sz="3200" dirty="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CB6005-A95D-4289-938B-933FE3530200}"/>
                  </a:ext>
                </a:extLst>
              </p:cNvPr>
              <p:cNvSpPr txBox="1"/>
              <p:nvPr/>
            </p:nvSpPr>
            <p:spPr>
              <a:xfrm>
                <a:off x="3713870" y="3935942"/>
                <a:ext cx="4501661" cy="118635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dirty="0" smtClean="0">
                          <a:latin typeface="Cambria Math" panose="02040503050406030204" pitchFamily="18" charset="0"/>
                        </a:rPr>
                        <m:t>𝐸</m:t>
                      </m:r>
                      <m:r>
                        <a:rPr lang="en-US" sz="2400" b="0" i="1" dirty="0" smtClean="0">
                          <a:latin typeface="Cambria Math" panose="02040503050406030204" pitchFamily="18" charset="0"/>
                        </a:rPr>
                        <m:t>= </m:t>
                      </m:r>
                      <m:nary>
                        <m:naryPr>
                          <m:chr m:val="∑"/>
                          <m:ctrlPr>
                            <a:rPr lang="en-US" sz="2400" b="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𝑖</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𝑘</m:t>
                          </m:r>
                        </m:sup>
                        <m:e>
                          <m:nary>
                            <m:naryPr>
                              <m:chr m:val="∑"/>
                              <m:supHide m:val="on"/>
                              <m:ctrlPr>
                                <a:rPr lang="en-US" sz="2400" b="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𝑝</m:t>
                              </m:r>
                              <m:r>
                                <a:rPr lang="en-US" sz="2400" b="0" i="1"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𝐶</m:t>
                                  </m:r>
                                </m:e>
                                <m:sub>
                                  <m:r>
                                    <a:rPr lang="en-US" sz="2400" b="0" i="1" dirty="0" smtClean="0">
                                      <a:latin typeface="Cambria Math" panose="02040503050406030204" pitchFamily="18" charset="0"/>
                                      <a:ea typeface="Cambria Math" panose="02040503050406030204" pitchFamily="18" charset="0"/>
                                    </a:rPr>
                                    <m:t>𝑖</m:t>
                                  </m:r>
                                </m:sub>
                              </m:sSub>
                            </m:sub>
                            <m:sup/>
                            <m:e>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𝑝</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𝑜</m:t>
                                      </m:r>
                                    </m:e>
                                    <m:sub>
                                      <m:r>
                                        <a:rPr lang="en-US" sz="2400" b="0" i="1" dirty="0" smtClean="0">
                                          <a:latin typeface="Cambria Math" panose="02040503050406030204" pitchFamily="18" charset="0"/>
                                        </a:rPr>
                                        <m:t>𝑖</m:t>
                                      </m:r>
                                    </m:sub>
                                  </m:sSub>
                                </m:e>
                              </m:d>
                            </m:e>
                          </m:nary>
                        </m:e>
                      </m:nary>
                    </m:oMath>
                  </m:oMathPara>
                </a14:m>
                <a:endParaRPr lang="en-US" sz="2400" dirty="0"/>
              </a:p>
            </p:txBody>
          </p:sp>
        </mc:Choice>
        <mc:Fallback xmlns="">
          <p:sp>
            <p:nvSpPr>
              <p:cNvPr id="9" name="TextBox 8">
                <a:extLst>
                  <a:ext uri="{FF2B5EF4-FFF2-40B4-BE49-F238E27FC236}">
                    <a16:creationId xmlns:a16="http://schemas.microsoft.com/office/drawing/2014/main" id="{7FCB6005-A95D-4289-938B-933FE3530200}"/>
                  </a:ext>
                </a:extLst>
              </p:cNvPr>
              <p:cNvSpPr txBox="1">
                <a:spLocks noRot="1" noChangeAspect="1" noMove="1" noResize="1" noEditPoints="1" noAdjustHandles="1" noChangeArrowheads="1" noChangeShapeType="1" noTextEdit="1"/>
              </p:cNvSpPr>
              <p:nvPr/>
            </p:nvSpPr>
            <p:spPr>
              <a:xfrm>
                <a:off x="3713870" y="3935942"/>
                <a:ext cx="4501661" cy="118635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6DB00A-E916-46DA-B855-CB2277831610}"/>
                  </a:ext>
                </a:extLst>
              </p:cNvPr>
              <p:cNvSpPr txBox="1"/>
              <p:nvPr/>
            </p:nvSpPr>
            <p:spPr>
              <a:xfrm>
                <a:off x="3713869" y="5140123"/>
                <a:ext cx="8133498" cy="120032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dirty="0" smtClean="0">
                          <a:latin typeface="Cambria Math" panose="02040503050406030204" pitchFamily="18" charset="0"/>
                        </a:rPr>
                        <m:t>𝐸</m:t>
                      </m:r>
                      <m:r>
                        <a:rPr lang="en-US" sz="2400" b="0" i="1" dirty="0" smtClean="0">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1</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2</m:t>
                              </m:r>
                            </m:sub>
                          </m:sSub>
                        </m:e>
                      </m:d>
                      <m:r>
                        <a:rPr lang="en-US" sz="2400" i="1" dirty="0">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3</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2</m:t>
                              </m:r>
                            </m:sub>
                          </m:sSub>
                        </m:e>
                      </m:d>
                      <m:r>
                        <a:rPr lang="en-US" sz="2400" i="1" dirty="0">
                          <a:latin typeface="Cambria Math" panose="02040503050406030204" pitchFamily="18" charset="0"/>
                        </a:rPr>
                        <m:t>+</m:t>
                      </m:r>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4</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i="1" dirty="0">
                                  <a:latin typeface="Cambria Math" panose="02040503050406030204" pitchFamily="18" charset="0"/>
                                </a:rPr>
                                <m:t>2</m:t>
                              </m:r>
                            </m:sub>
                          </m:sSub>
                        </m:e>
                      </m:d>
                      <m:r>
                        <a:rPr lang="en-US" sz="2400" i="1" dirty="0">
                          <a:latin typeface="Cambria Math" panose="02040503050406030204" pitchFamily="18" charset="0"/>
                        </a:rPr>
                        <m:t>+</m:t>
                      </m:r>
                    </m:oMath>
                  </m:oMathPara>
                </a14:m>
                <a:endParaRPr lang="en-US" sz="2400" dirty="0"/>
              </a:p>
              <a:p>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5</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7</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6</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7</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smtClean="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8</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7</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9</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7</m:t>
                            </m:r>
                          </m:sub>
                        </m:sSub>
                      </m:e>
                    </m:d>
                    <m:r>
                      <a:rPr lang="en-US" sz="2400" i="1" dirty="0">
                        <a:latin typeface="Cambria Math" panose="02040503050406030204" pitchFamily="18" charset="0"/>
                      </a:rPr>
                      <m:t>+</m:t>
                    </m:r>
                  </m:oMath>
                </a14:m>
                <a:r>
                  <a:rPr lang="en-US" sz="2400" dirty="0"/>
                  <a:t> </a:t>
                </a:r>
                <a14:m>
                  <m:oMath xmlns:m="http://schemas.openxmlformats.org/officeDocument/2006/math">
                    <m:d>
                      <m:dPr>
                        <m:begChr m:val="|"/>
                        <m:endChr m:val="|"/>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10</m:t>
                            </m:r>
                          </m:sub>
                        </m:sSub>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𝑜</m:t>
                            </m:r>
                          </m:e>
                          <m:sub>
                            <m:r>
                              <a:rPr lang="en-US" sz="2400" b="0" i="1" dirty="0" smtClean="0">
                                <a:latin typeface="Cambria Math" panose="02040503050406030204" pitchFamily="18" charset="0"/>
                              </a:rPr>
                              <m:t>7</m:t>
                            </m:r>
                          </m:sub>
                        </m:sSub>
                      </m:e>
                    </m:d>
                  </m:oMath>
                </a14:m>
                <a:endParaRPr lang="en-US" sz="2400" dirty="0"/>
              </a:p>
              <a:p>
                <a:pPr/>
                <a14:m>
                  <m:oMathPara xmlns:m="http://schemas.openxmlformats.org/officeDocument/2006/math">
                    <m:oMathParaPr>
                      <m:jc m:val="left"/>
                    </m:oMathParaPr>
                    <m:oMath xmlns:m="http://schemas.openxmlformats.org/officeDocument/2006/math">
                      <m:r>
                        <a:rPr lang="en-US" sz="2400" i="1" dirty="0">
                          <a:latin typeface="Cambria Math" panose="02040503050406030204" pitchFamily="18" charset="0"/>
                        </a:rPr>
                        <m:t>𝐸</m:t>
                      </m:r>
                      <m:r>
                        <a:rPr lang="en-US" sz="2400" i="1" dirty="0">
                          <a:latin typeface="Cambria Math" panose="02040503050406030204" pitchFamily="18" charset="0"/>
                        </a:rPr>
                        <m:t>=</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3+4+4</m:t>
                          </m:r>
                        </m:e>
                      </m:d>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2+2+1+3+3</m:t>
                          </m:r>
                        </m:e>
                      </m:d>
                      <m:r>
                        <a:rPr lang="en-US" sz="2400" b="0" i="1" dirty="0" smtClean="0">
                          <a:latin typeface="Cambria Math" panose="02040503050406030204" pitchFamily="18" charset="0"/>
                        </a:rPr>
                        <m:t>=22</m:t>
                      </m:r>
                    </m:oMath>
                  </m:oMathPara>
                </a14:m>
                <a:endParaRPr lang="en-US" sz="2400" dirty="0"/>
              </a:p>
            </p:txBody>
          </p:sp>
        </mc:Choice>
        <mc:Fallback xmlns="">
          <p:sp>
            <p:nvSpPr>
              <p:cNvPr id="10" name="TextBox 9">
                <a:extLst>
                  <a:ext uri="{FF2B5EF4-FFF2-40B4-BE49-F238E27FC236}">
                    <a16:creationId xmlns:a16="http://schemas.microsoft.com/office/drawing/2014/main" id="{9C6DB00A-E916-46DA-B855-CB2277831610}"/>
                  </a:ext>
                </a:extLst>
              </p:cNvPr>
              <p:cNvSpPr txBox="1">
                <a:spLocks noRot="1" noChangeAspect="1" noMove="1" noResize="1" noEditPoints="1" noAdjustHandles="1" noChangeArrowheads="1" noChangeShapeType="1" noTextEdit="1"/>
              </p:cNvSpPr>
              <p:nvPr/>
            </p:nvSpPr>
            <p:spPr>
              <a:xfrm>
                <a:off x="3713869" y="5140123"/>
                <a:ext cx="8133498" cy="1200329"/>
              </a:xfrm>
              <a:prstGeom prst="rect">
                <a:avLst/>
              </a:prstGeom>
              <a:blipFill>
                <a:blip r:embed="rId6"/>
                <a:stretch>
                  <a:fillRect l="-150"/>
                </a:stretch>
              </a:blipFill>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B40DD956-59EE-49DF-ACCF-50EBF49614BA}"/>
              </a:ext>
            </a:extLst>
          </p:cNvPr>
          <p:cNvGraphicFramePr>
            <a:graphicFrameLocks noGrp="1"/>
          </p:cNvGraphicFramePr>
          <p:nvPr/>
        </p:nvGraphicFramePr>
        <p:xfrm>
          <a:off x="401778" y="1519816"/>
          <a:ext cx="3185992" cy="502920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426228962"/>
                    </a:ext>
                  </a:extLst>
                </a:gridCol>
                <a:gridCol w="548640">
                  <a:extLst>
                    <a:ext uri="{9D8B030D-6E8A-4147-A177-3AD203B41FA5}">
                      <a16:colId xmlns:a16="http://schemas.microsoft.com/office/drawing/2014/main" val="1903537073"/>
                    </a:ext>
                  </a:extLst>
                </a:gridCol>
                <a:gridCol w="548640">
                  <a:extLst>
                    <a:ext uri="{9D8B030D-6E8A-4147-A177-3AD203B41FA5}">
                      <a16:colId xmlns:a16="http://schemas.microsoft.com/office/drawing/2014/main" val="3532606374"/>
                    </a:ext>
                  </a:extLst>
                </a:gridCol>
                <a:gridCol w="724316">
                  <a:extLst>
                    <a:ext uri="{9D8B030D-6E8A-4147-A177-3AD203B41FA5}">
                      <a16:colId xmlns:a16="http://schemas.microsoft.com/office/drawing/2014/main" val="1914340152"/>
                    </a:ext>
                  </a:extLst>
                </a:gridCol>
                <a:gridCol w="724316">
                  <a:extLst>
                    <a:ext uri="{9D8B030D-6E8A-4147-A177-3AD203B41FA5}">
                      <a16:colId xmlns:a16="http://schemas.microsoft.com/office/drawing/2014/main" val="3229072336"/>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A1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A2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C1D</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3</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8</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2</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3</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8</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4</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9</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4</a:t>
                      </a: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4</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7</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5</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2</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70800376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2</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3503834581"/>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a:t>
                      </a: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7490881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1</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38724073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5</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3</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3002095035"/>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3</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162415058"/>
                  </a:ext>
                </a:extLst>
              </a:tr>
            </a:tbl>
          </a:graphicData>
        </a:graphic>
      </p:graphicFrame>
      <p:sp>
        <p:nvSpPr>
          <p:cNvPr id="3" name="Rectangle 2">
            <a:extLst>
              <a:ext uri="{FF2B5EF4-FFF2-40B4-BE49-F238E27FC236}">
                <a16:creationId xmlns:a16="http://schemas.microsoft.com/office/drawing/2014/main" id="{0178DDE5-E97F-4F08-973F-60B5829D89D7}"/>
              </a:ext>
            </a:extLst>
          </p:cNvPr>
          <p:cNvSpPr/>
          <p:nvPr/>
        </p:nvSpPr>
        <p:spPr>
          <a:xfrm>
            <a:off x="3803083" y="1481716"/>
            <a:ext cx="392008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pt-BR" sz="2400" b="1" dirty="0">
                <a:solidFill>
                  <a:schemeClr val="bg1"/>
                </a:solidFill>
                <a:latin typeface="CenturyGothic"/>
              </a:rPr>
              <a:t>Choose a random object </a:t>
            </a:r>
            <a:r>
              <a:rPr lang="pt-BR" sz="2400" b="1" dirty="0">
                <a:solidFill>
                  <a:schemeClr val="bg1"/>
                </a:solidFill>
                <a:latin typeface="CenturyGothic-Bold"/>
              </a:rPr>
              <a:t>O</a:t>
            </a:r>
            <a:r>
              <a:rPr lang="pt-BR" sz="1600" b="1" dirty="0">
                <a:solidFill>
                  <a:schemeClr val="bg1"/>
                </a:solidFill>
                <a:latin typeface="CenturyGothic-Bold"/>
              </a:rPr>
              <a:t>7</a:t>
            </a:r>
            <a:r>
              <a:rPr lang="pt-BR" sz="2400" b="1" dirty="0">
                <a:solidFill>
                  <a:schemeClr val="bg1"/>
                </a:solidFill>
              </a:rPr>
              <a:t> </a:t>
            </a:r>
          </a:p>
          <a:p>
            <a:r>
              <a:rPr lang="en-US" sz="2400" b="1" dirty="0">
                <a:solidFill>
                  <a:schemeClr val="bg1"/>
                </a:solidFill>
              </a:rPr>
              <a:t>Swap O</a:t>
            </a:r>
            <a:r>
              <a:rPr lang="en-US" sz="2400" b="1" baseline="-25000" dirty="0">
                <a:solidFill>
                  <a:schemeClr val="bg1"/>
                </a:solidFill>
              </a:rPr>
              <a:t>8</a:t>
            </a:r>
            <a:r>
              <a:rPr lang="en-US" sz="2400" b="1" dirty="0">
                <a:solidFill>
                  <a:schemeClr val="bg1"/>
                </a:solidFill>
              </a:rPr>
              <a:t> and O</a:t>
            </a:r>
            <a:r>
              <a:rPr lang="en-US" sz="2400" b="1" baseline="-25000" dirty="0">
                <a:solidFill>
                  <a:schemeClr val="bg1"/>
                </a:solidFill>
              </a:rPr>
              <a:t>7</a:t>
            </a:r>
          </a:p>
        </p:txBody>
      </p:sp>
      <p:sp>
        <p:nvSpPr>
          <p:cNvPr id="7" name="Slide Number Placeholder 6">
            <a:extLst>
              <a:ext uri="{FF2B5EF4-FFF2-40B4-BE49-F238E27FC236}">
                <a16:creationId xmlns:a16="http://schemas.microsoft.com/office/drawing/2014/main" id="{EB2FE14F-90D6-4419-9251-79F22CDD3C0F}"/>
              </a:ext>
            </a:extLst>
          </p:cNvPr>
          <p:cNvSpPr>
            <a:spLocks noGrp="1"/>
          </p:cNvSpPr>
          <p:nvPr>
            <p:ph type="sldNum" sz="quarter" idx="12"/>
          </p:nvPr>
        </p:nvSpPr>
        <p:spPr/>
        <p:txBody>
          <a:bodyPr/>
          <a:lstStyle/>
          <a:p>
            <a:fld id="{4CC025FC-8595-493D-A46F-2FDFDC85D9BC}" type="slidenum">
              <a:rPr lang="en-US" smtClean="0"/>
              <a:t>39</a:t>
            </a:fld>
            <a:endParaRPr lang="en-US"/>
          </a:p>
        </p:txBody>
      </p:sp>
    </p:spTree>
    <p:extLst>
      <p:ext uri="{BB962C8B-B14F-4D97-AF65-F5344CB8AC3E}">
        <p14:creationId xmlns:p14="http://schemas.microsoft.com/office/powerpoint/2010/main" val="461004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CCA3-A23C-428D-ACC0-51B5FC3685ED}"/>
              </a:ext>
            </a:extLst>
          </p:cNvPr>
          <p:cNvSpPr>
            <a:spLocks noGrp="1"/>
          </p:cNvSpPr>
          <p:nvPr>
            <p:ph type="title"/>
          </p:nvPr>
        </p:nvSpPr>
        <p:spPr/>
        <p:txBody>
          <a:bodyPr>
            <a:normAutofit fontScale="90000"/>
          </a:bodyPr>
          <a:lstStyle/>
          <a:p>
            <a:r>
              <a:rPr lang="en-US" dirty="0"/>
              <a:t>k-Medoid: Example</a:t>
            </a:r>
          </a:p>
        </p:txBody>
      </p:sp>
      <p:sp>
        <p:nvSpPr>
          <p:cNvPr id="8" name="TextBox 7">
            <a:extLst>
              <a:ext uri="{FF2B5EF4-FFF2-40B4-BE49-F238E27FC236}">
                <a16:creationId xmlns:a16="http://schemas.microsoft.com/office/drawing/2014/main" id="{319005DC-EB6C-4FB6-B110-1E129725A6BE}"/>
              </a:ext>
            </a:extLst>
          </p:cNvPr>
          <p:cNvSpPr txBox="1"/>
          <p:nvPr/>
        </p:nvSpPr>
        <p:spPr>
          <a:xfrm>
            <a:off x="3713871" y="4252899"/>
            <a:ext cx="8076347" cy="2246769"/>
          </a:xfrm>
          <a:prstGeom prst="rect">
            <a:avLst/>
          </a:prstGeom>
          <a:noFill/>
        </p:spPr>
        <p:txBody>
          <a:bodyPr wrap="square" rtlCol="0">
            <a:spAutoFit/>
          </a:bodyPr>
          <a:lstStyle/>
          <a:p>
            <a:r>
              <a:rPr lang="en-US" sz="2800" dirty="0"/>
              <a:t>Cost = Absolute Error [for (O</a:t>
            </a:r>
            <a:r>
              <a:rPr lang="en-US" sz="2800" baseline="-25000" dirty="0"/>
              <a:t>2</a:t>
            </a:r>
            <a:r>
              <a:rPr lang="en-US" sz="2800" dirty="0"/>
              <a:t>, O</a:t>
            </a:r>
            <a:r>
              <a:rPr lang="en-US" sz="2800" baseline="-25000" dirty="0"/>
              <a:t>7</a:t>
            </a:r>
            <a:r>
              <a:rPr lang="en-US" sz="2800" dirty="0"/>
              <a:t>)] </a:t>
            </a:r>
          </a:p>
          <a:p>
            <a:r>
              <a:rPr lang="en-US" sz="2800" dirty="0"/>
              <a:t>           - Absolute Error [for (O</a:t>
            </a:r>
            <a:r>
              <a:rPr lang="en-US" sz="2800" baseline="-25000" dirty="0"/>
              <a:t>2</a:t>
            </a:r>
            <a:r>
              <a:rPr lang="en-US" sz="2800" dirty="0"/>
              <a:t>, O</a:t>
            </a:r>
            <a:r>
              <a:rPr lang="en-US" sz="2800" baseline="-25000" dirty="0"/>
              <a:t>8</a:t>
            </a:r>
            <a:r>
              <a:rPr lang="en-US" sz="2800" dirty="0"/>
              <a:t>)]</a:t>
            </a:r>
          </a:p>
          <a:p>
            <a:r>
              <a:rPr lang="en-US" sz="2800" dirty="0"/>
              <a:t>Cost = 22 – 20</a:t>
            </a:r>
          </a:p>
          <a:p>
            <a:r>
              <a:rPr lang="en-US" sz="2800" dirty="0"/>
              <a:t>Cost &gt; 0</a:t>
            </a:r>
          </a:p>
          <a:p>
            <a:r>
              <a:rPr lang="en-US" sz="2800" dirty="0">
                <a:sym typeface="Symbol" panose="05050102010706020507" pitchFamily="18" charset="2"/>
              </a:rPr>
              <a:t> it is a bad idea to replace O</a:t>
            </a:r>
            <a:r>
              <a:rPr lang="en-US" sz="2800" baseline="-25000" dirty="0">
                <a:sym typeface="Symbol" panose="05050102010706020507" pitchFamily="18" charset="2"/>
              </a:rPr>
              <a:t>8</a:t>
            </a:r>
            <a:r>
              <a:rPr lang="en-US" sz="2800" dirty="0">
                <a:sym typeface="Symbol" panose="05050102010706020507" pitchFamily="18" charset="2"/>
              </a:rPr>
              <a:t> by O</a:t>
            </a:r>
            <a:r>
              <a:rPr lang="en-US" sz="2800" baseline="-25000" dirty="0">
                <a:sym typeface="Symbol" panose="05050102010706020507" pitchFamily="18" charset="2"/>
              </a:rPr>
              <a:t>7</a:t>
            </a:r>
            <a:endParaRPr lang="en-US" sz="2800" baseline="-25000" dirty="0"/>
          </a:p>
        </p:txBody>
      </p:sp>
      <p:graphicFrame>
        <p:nvGraphicFramePr>
          <p:cNvPr id="11" name="Table 10">
            <a:extLst>
              <a:ext uri="{FF2B5EF4-FFF2-40B4-BE49-F238E27FC236}">
                <a16:creationId xmlns:a16="http://schemas.microsoft.com/office/drawing/2014/main" id="{B40DD956-59EE-49DF-ACCF-50EBF49614BA}"/>
              </a:ext>
            </a:extLst>
          </p:cNvPr>
          <p:cNvGraphicFramePr>
            <a:graphicFrameLocks noGrp="1"/>
          </p:cNvGraphicFramePr>
          <p:nvPr/>
        </p:nvGraphicFramePr>
        <p:xfrm>
          <a:off x="401778" y="1519816"/>
          <a:ext cx="3185992" cy="502920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1426228962"/>
                    </a:ext>
                  </a:extLst>
                </a:gridCol>
                <a:gridCol w="548640">
                  <a:extLst>
                    <a:ext uri="{9D8B030D-6E8A-4147-A177-3AD203B41FA5}">
                      <a16:colId xmlns:a16="http://schemas.microsoft.com/office/drawing/2014/main" val="1903537073"/>
                    </a:ext>
                  </a:extLst>
                </a:gridCol>
                <a:gridCol w="548640">
                  <a:extLst>
                    <a:ext uri="{9D8B030D-6E8A-4147-A177-3AD203B41FA5}">
                      <a16:colId xmlns:a16="http://schemas.microsoft.com/office/drawing/2014/main" val="3532606374"/>
                    </a:ext>
                  </a:extLst>
                </a:gridCol>
                <a:gridCol w="724316">
                  <a:extLst>
                    <a:ext uri="{9D8B030D-6E8A-4147-A177-3AD203B41FA5}">
                      <a16:colId xmlns:a16="http://schemas.microsoft.com/office/drawing/2014/main" val="1914340152"/>
                    </a:ext>
                  </a:extLst>
                </a:gridCol>
                <a:gridCol w="724316">
                  <a:extLst>
                    <a:ext uri="{9D8B030D-6E8A-4147-A177-3AD203B41FA5}">
                      <a16:colId xmlns:a16="http://schemas.microsoft.com/office/drawing/2014/main" val="3229072336"/>
                    </a:ext>
                  </a:extLst>
                </a:gridCol>
              </a:tblGrid>
              <a:tr h="190500">
                <a:tc>
                  <a:txBody>
                    <a:bodyPr/>
                    <a:lstStyle/>
                    <a:p>
                      <a:pPr algn="ctr" fontAlgn="b"/>
                      <a:r>
                        <a:rPr lang="en-US" sz="2400" b="1" u="none" strike="noStrike" kern="1200" dirty="0">
                          <a:solidFill>
                            <a:schemeClr val="lt1"/>
                          </a:solidFill>
                          <a:effectLst/>
                          <a:latin typeface="+mn-lt"/>
                          <a:ea typeface="+mn-ea"/>
                          <a:cs typeface="+mn-cs"/>
                        </a:rPr>
                        <a:t>ID</a:t>
                      </a:r>
                    </a:p>
                  </a:txBody>
                  <a:tcPr anchor="b"/>
                </a:tc>
                <a:tc>
                  <a:txBody>
                    <a:bodyPr/>
                    <a:lstStyle/>
                    <a:p>
                      <a:pPr algn="ctr" fontAlgn="b"/>
                      <a:r>
                        <a:rPr lang="en-US" sz="2400" u="none" strike="noStrike" dirty="0">
                          <a:effectLst/>
                          <a:latin typeface="+mn-lt"/>
                        </a:rPr>
                        <a:t>A1</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A2</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C1D</a:t>
                      </a:r>
                      <a:endParaRPr lang="en-US" sz="2400" b="0" i="0" u="none" strike="noStrike" dirty="0">
                        <a:solidFill>
                          <a:srgbClr val="000000"/>
                        </a:solidFill>
                        <a:effectLst/>
                        <a:latin typeface="+mn-lt"/>
                      </a:endParaRPr>
                    </a:p>
                  </a:txBody>
                  <a:tcPr anchor="b"/>
                </a:tc>
                <a:tc>
                  <a:txBody>
                    <a:bodyPr/>
                    <a:lstStyle/>
                    <a:p>
                      <a:pPr algn="ctr" fontAlgn="b"/>
                      <a:r>
                        <a:rPr lang="en-US" sz="2400" u="none" strike="noStrike" dirty="0">
                          <a:effectLst/>
                          <a:latin typeface="+mn-lt"/>
                        </a:rPr>
                        <a:t>C2D</a:t>
                      </a:r>
                      <a:endParaRPr lang="en-US" sz="2400" b="0" i="0" u="none" strike="noStrike" dirty="0">
                        <a:solidFill>
                          <a:srgbClr val="000000"/>
                        </a:solidFill>
                        <a:effectLst/>
                        <a:latin typeface="+mn-lt"/>
                      </a:endParaRPr>
                    </a:p>
                  </a:txBody>
                  <a:tcPr anchor="b"/>
                </a:tc>
                <a:extLst>
                  <a:ext uri="{0D108BD9-81ED-4DB2-BD59-A6C34878D82A}">
                    <a16:rowId xmlns:a16="http://schemas.microsoft.com/office/drawing/2014/main" val="356270238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a:t>
                      </a: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3</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8</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001293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2</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291115954"/>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3</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8</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4</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9</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86279295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4</a:t>
                      </a: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7</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FF0000"/>
                          </a:solidFill>
                          <a:effectLst/>
                        </a:rPr>
                        <a:t>4</a:t>
                      </a:r>
                      <a:endParaRPr lang="en-US" sz="2400" b="0" i="0" u="none" strike="noStrike" dirty="0">
                        <a:solidFill>
                          <a:srgbClr val="FF0000"/>
                        </a:solidFill>
                        <a:effectLst/>
                        <a:latin typeface="Calibri" panose="020F0502020204030204" pitchFamily="34" charset="0"/>
                      </a:endParaRPr>
                    </a:p>
                  </a:txBody>
                  <a:tcPr anchor="b"/>
                </a:tc>
                <a:tc>
                  <a:txBody>
                    <a:bodyPr/>
                    <a:lstStyle/>
                    <a:p>
                      <a:pPr algn="r" fontAlgn="b"/>
                      <a:r>
                        <a:rPr lang="en-US" sz="2400" u="none" strike="noStrike">
                          <a:effectLst/>
                        </a:rPr>
                        <a:t>7</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480853087"/>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5</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2</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708003762"/>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dirty="0">
                          <a:effectLst/>
                        </a:rPr>
                        <a:t>3</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2</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3503834581"/>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3</a:t>
                      </a:r>
                    </a:p>
                  </a:txBody>
                  <a:tcPr anchor="b"/>
                </a:tc>
                <a:tc>
                  <a:txBody>
                    <a:bodyPr/>
                    <a:lstStyle/>
                    <a:p>
                      <a:pPr algn="r" fontAlgn="b"/>
                      <a:r>
                        <a:rPr lang="en-US" sz="2400" u="none" strike="noStrike" dirty="0">
                          <a:effectLst/>
                        </a:rPr>
                        <a:t>5</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7490881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4</a:t>
                      </a:r>
                    </a:p>
                  </a:txBody>
                  <a:tcPr anchor="b"/>
                </a:tc>
                <a:tc>
                  <a:txBody>
                    <a:bodyPr/>
                    <a:lstStyle/>
                    <a:p>
                      <a:pPr algn="r" fontAlgn="b"/>
                      <a:r>
                        <a:rPr lang="en-US" sz="2400" u="none" strike="noStrike" dirty="0">
                          <a:effectLst/>
                        </a:rPr>
                        <a:t>4</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1</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3872407363"/>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9</a:t>
                      </a:r>
                    </a:p>
                  </a:txBody>
                  <a:tcPr anchor="b"/>
                </a:tc>
                <a:tc>
                  <a:txBody>
                    <a:bodyPr/>
                    <a:lstStyle/>
                    <a:p>
                      <a:pPr algn="r" fontAlgn="b"/>
                      <a:r>
                        <a:rPr lang="en-US" sz="2400" b="0" i="0" u="none" strike="noStrike" dirty="0">
                          <a:solidFill>
                            <a:srgbClr val="000000"/>
                          </a:solidFill>
                          <a:effectLst/>
                          <a:latin typeface="Calibri" panose="020F0502020204030204" pitchFamily="34" charset="0"/>
                        </a:rPr>
                        <a:t>8</a:t>
                      </a:r>
                    </a:p>
                  </a:txBody>
                  <a:tcPr anchor="b"/>
                </a:tc>
                <a:tc>
                  <a:txBody>
                    <a:bodyPr/>
                    <a:lstStyle/>
                    <a:p>
                      <a:pPr algn="r" fontAlgn="b"/>
                      <a:r>
                        <a:rPr lang="en-US" sz="2400" b="0" i="0" u="none" strike="noStrike" dirty="0">
                          <a:solidFill>
                            <a:srgbClr val="000000"/>
                          </a:solidFill>
                          <a:effectLst/>
                          <a:latin typeface="Calibri" panose="020F0502020204030204" pitchFamily="34" charset="0"/>
                        </a:rPr>
                        <a:t>5</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3</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3002095035"/>
                  </a:ext>
                </a:extLst>
              </a:tr>
              <a:tr h="190500">
                <a:tc>
                  <a:txBody>
                    <a:bodyPr/>
                    <a:lstStyle/>
                    <a:p>
                      <a:pPr algn="ctr" fontAlgn="b"/>
                      <a:r>
                        <a:rPr lang="en-US" sz="2400" b="0" i="0" u="none" strike="noStrike" dirty="0">
                          <a:solidFill>
                            <a:srgbClr val="000000"/>
                          </a:solidFill>
                          <a:effectLst/>
                          <a:latin typeface="+mn-lt"/>
                        </a:rPr>
                        <a:t>O</a:t>
                      </a:r>
                      <a:r>
                        <a:rPr lang="en-US" sz="2400" b="0" i="0" u="none" strike="noStrike" baseline="-25000" dirty="0">
                          <a:solidFill>
                            <a:srgbClr val="000000"/>
                          </a:solidFill>
                          <a:effectLst/>
                          <a:latin typeface="+mn-lt"/>
                        </a:rPr>
                        <a:t>10</a:t>
                      </a:r>
                    </a:p>
                  </a:txBody>
                  <a:tcPr anchor="b"/>
                </a:tc>
                <a:tc>
                  <a:txBody>
                    <a:bodyPr/>
                    <a:lstStyle/>
                    <a:p>
                      <a:pPr algn="r" fontAlgn="b"/>
                      <a:r>
                        <a:rPr lang="en-US" sz="2400" b="0" i="0" u="none" strike="noStrike" dirty="0">
                          <a:solidFill>
                            <a:srgbClr val="000000"/>
                          </a:solidFill>
                          <a:effectLst/>
                          <a:latin typeface="Calibri" panose="020F0502020204030204" pitchFamily="34" charset="0"/>
                        </a:rPr>
                        <a:t>7</a:t>
                      </a:r>
                    </a:p>
                  </a:txBody>
                  <a:tcPr anchor="b"/>
                </a:tc>
                <a:tc>
                  <a:txBody>
                    <a:bodyPr/>
                    <a:lstStyle/>
                    <a:p>
                      <a:pPr algn="r" fontAlgn="b"/>
                      <a:r>
                        <a:rPr lang="en-US" sz="2400" b="0" i="0" u="none" strike="noStrike" dirty="0">
                          <a:solidFill>
                            <a:srgbClr val="000000"/>
                          </a:solidFill>
                          <a:effectLst/>
                          <a:latin typeface="Calibri" panose="020F0502020204030204" pitchFamily="34" charset="0"/>
                        </a:rPr>
                        <a:t>6</a:t>
                      </a:r>
                    </a:p>
                  </a:txBody>
                  <a:tcPr anchor="b"/>
                </a:tc>
                <a:tc>
                  <a:txBody>
                    <a:bodyPr/>
                    <a:lstStyle/>
                    <a:p>
                      <a:pPr algn="r" fontAlgn="b"/>
                      <a:r>
                        <a:rPr lang="en-US" sz="2400" u="none" strike="noStrike" dirty="0">
                          <a:effectLst/>
                        </a:rPr>
                        <a:t>6</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solidFill>
                            <a:srgbClr val="0070C0"/>
                          </a:solidFill>
                          <a:effectLst/>
                        </a:rPr>
                        <a:t>3</a:t>
                      </a:r>
                      <a:endParaRPr lang="en-US" sz="2400" b="0" i="0" u="none" strike="noStrike" dirty="0">
                        <a:solidFill>
                          <a:srgbClr val="0070C0"/>
                        </a:solidFill>
                        <a:effectLst/>
                        <a:latin typeface="Calibri" panose="020F0502020204030204" pitchFamily="34" charset="0"/>
                      </a:endParaRPr>
                    </a:p>
                  </a:txBody>
                  <a:tcPr anchor="b"/>
                </a:tc>
                <a:extLst>
                  <a:ext uri="{0D108BD9-81ED-4DB2-BD59-A6C34878D82A}">
                    <a16:rowId xmlns:a16="http://schemas.microsoft.com/office/drawing/2014/main" val="162415058"/>
                  </a:ext>
                </a:extLst>
              </a:tr>
            </a:tbl>
          </a:graphicData>
        </a:graphic>
      </p:graphicFrame>
      <p:sp>
        <p:nvSpPr>
          <p:cNvPr id="3" name="Rectangle 2">
            <a:extLst>
              <a:ext uri="{FF2B5EF4-FFF2-40B4-BE49-F238E27FC236}">
                <a16:creationId xmlns:a16="http://schemas.microsoft.com/office/drawing/2014/main" id="{0178DDE5-E97F-4F08-973F-60B5829D89D7}"/>
              </a:ext>
            </a:extLst>
          </p:cNvPr>
          <p:cNvSpPr/>
          <p:nvPr/>
        </p:nvSpPr>
        <p:spPr>
          <a:xfrm>
            <a:off x="3803083" y="1481716"/>
            <a:ext cx="3920080" cy="46166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pt-BR" sz="2400" b="1" dirty="0">
                <a:solidFill>
                  <a:schemeClr val="bg1"/>
                </a:solidFill>
                <a:latin typeface="CenturyGothic"/>
              </a:rPr>
              <a:t>Compute Cost Function</a:t>
            </a:r>
            <a:endParaRPr lang="pt-BR" sz="2400" b="1" dirty="0">
              <a:solidFill>
                <a:schemeClr val="bg1"/>
              </a:solidFill>
            </a:endParaRPr>
          </a:p>
        </p:txBody>
      </p:sp>
      <p:pic>
        <p:nvPicPr>
          <p:cNvPr id="12" name="Picture 11">
            <a:extLst>
              <a:ext uri="{FF2B5EF4-FFF2-40B4-BE49-F238E27FC236}">
                <a16:creationId xmlns:a16="http://schemas.microsoft.com/office/drawing/2014/main" id="{EA4E6795-AC67-401E-900D-CBB1C18B8C7A}"/>
              </a:ext>
            </a:extLst>
          </p:cNvPr>
          <p:cNvPicPr>
            <a:picLocks noChangeAspect="1"/>
          </p:cNvPicPr>
          <p:nvPr/>
        </p:nvPicPr>
        <p:blipFill>
          <a:blip r:embed="rId2"/>
          <a:stretch>
            <a:fillRect/>
          </a:stretch>
        </p:blipFill>
        <p:spPr>
          <a:xfrm>
            <a:off x="8430844" y="1481716"/>
            <a:ext cx="3359374" cy="2463134"/>
          </a:xfrm>
          <a:prstGeom prst="rect">
            <a:avLst/>
          </a:prstGeom>
        </p:spPr>
      </p:pic>
      <p:sp>
        <p:nvSpPr>
          <p:cNvPr id="5" name="Slide Number Placeholder 4">
            <a:extLst>
              <a:ext uri="{FF2B5EF4-FFF2-40B4-BE49-F238E27FC236}">
                <a16:creationId xmlns:a16="http://schemas.microsoft.com/office/drawing/2014/main" id="{D335D53F-9490-4735-8F55-2CF3C8C21442}"/>
              </a:ext>
            </a:extLst>
          </p:cNvPr>
          <p:cNvSpPr>
            <a:spLocks noGrp="1"/>
          </p:cNvSpPr>
          <p:nvPr>
            <p:ph type="sldNum" sz="quarter" idx="12"/>
          </p:nvPr>
        </p:nvSpPr>
        <p:spPr/>
        <p:txBody>
          <a:bodyPr/>
          <a:lstStyle/>
          <a:p>
            <a:fld id="{4CC025FC-8595-493D-A46F-2FDFDC85D9BC}" type="slidenum">
              <a:rPr lang="en-US" smtClean="0"/>
              <a:t>40</a:t>
            </a:fld>
            <a:endParaRPr lang="en-US"/>
          </a:p>
        </p:txBody>
      </p:sp>
    </p:spTree>
    <p:extLst>
      <p:ext uri="{BB962C8B-B14F-4D97-AF65-F5344CB8AC3E}">
        <p14:creationId xmlns:p14="http://schemas.microsoft.com/office/powerpoint/2010/main" val="2753283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3954C9-CF2F-47DA-B821-9A77ED781918}"/>
              </a:ext>
            </a:extLst>
          </p:cNvPr>
          <p:cNvSpPr>
            <a:spLocks noGrp="1"/>
          </p:cNvSpPr>
          <p:nvPr>
            <p:ph type="sldNum" sz="quarter" idx="12"/>
          </p:nvPr>
        </p:nvSpPr>
        <p:spPr/>
        <p:txBody>
          <a:bodyPr/>
          <a:lstStyle/>
          <a:p>
            <a:fld id="{4CC025FC-8595-493D-A46F-2FDFDC85D9BC}" type="slidenum">
              <a:rPr lang="en-US" smtClean="0"/>
              <a:t>41</a:t>
            </a:fld>
            <a:endParaRPr lang="en-US"/>
          </a:p>
        </p:txBody>
      </p:sp>
      <p:sp>
        <p:nvSpPr>
          <p:cNvPr id="5" name="Title 1">
            <a:extLst>
              <a:ext uri="{FF2B5EF4-FFF2-40B4-BE49-F238E27FC236}">
                <a16:creationId xmlns:a16="http://schemas.microsoft.com/office/drawing/2014/main" id="{4E726254-398D-4FED-BE81-698F189238E2}"/>
              </a:ext>
            </a:extLst>
          </p:cNvPr>
          <p:cNvSpPr txBox="1">
            <a:spLocks/>
          </p:cNvSpPr>
          <p:nvPr/>
        </p:nvSpPr>
        <p:spPr>
          <a:xfrm>
            <a:off x="1025236" y="2603455"/>
            <a:ext cx="10141528" cy="1651090"/>
          </a:xfrm>
          <a:prstGeom prst="rect">
            <a:avLst/>
          </a:prstGeom>
        </p:spPr>
        <p:txBody>
          <a:bodyPr anchor="ctr">
            <a:noAutofit/>
          </a:bodyPr>
          <a:lstStyle>
            <a:lvl1pPr algn="l" defTabSz="914400" rtl="0" eaLnBrk="1" latinLnBrk="0" hangingPunct="1">
              <a:lnSpc>
                <a:spcPct val="90000"/>
              </a:lnSpc>
              <a:spcBef>
                <a:spcPct val="0"/>
              </a:spcBef>
              <a:buNone/>
              <a:defRPr sz="4000" b="0" kern="1200">
                <a:solidFill>
                  <a:schemeClr val="bg1"/>
                </a:solidFill>
                <a:effectLst>
                  <a:outerShdw blurRad="38100" dist="38100" dir="2700000" algn="tl">
                    <a:srgbClr val="000000">
                      <a:alpha val="43137"/>
                    </a:srgbClr>
                  </a:outerShdw>
                </a:effectLst>
                <a:latin typeface="Arial Rounded MT Bold" panose="020F0704030504030204" pitchFamily="34" charset="0"/>
                <a:ea typeface="Cambria" panose="02040503050406030204" pitchFamily="18" charset="0"/>
                <a:cs typeface="Aharoni" panose="02010803020104030203" pitchFamily="2" charset="-79"/>
              </a:defRPr>
            </a:lvl1pPr>
          </a:lstStyle>
          <a:p>
            <a:pPr algn="ctr"/>
            <a:r>
              <a:rPr lang="en-US" sz="6600" dirty="0">
                <a:solidFill>
                  <a:srgbClr val="4A8522"/>
                </a:solidFill>
              </a:rPr>
              <a:t>Hierarchical Clustering</a:t>
            </a:r>
          </a:p>
        </p:txBody>
      </p:sp>
    </p:spTree>
    <p:extLst>
      <p:ext uri="{BB962C8B-B14F-4D97-AF65-F5344CB8AC3E}">
        <p14:creationId xmlns:p14="http://schemas.microsoft.com/office/powerpoint/2010/main" val="1785141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Hierarchical Clustering</a:t>
            </a:r>
          </a:p>
        </p:txBody>
      </p:sp>
      <p:sp>
        <p:nvSpPr>
          <p:cNvPr id="3" name="Content Placeholder 2">
            <a:extLst>
              <a:ext uri="{FF2B5EF4-FFF2-40B4-BE49-F238E27FC236}">
                <a16:creationId xmlns:a16="http://schemas.microsoft.com/office/drawing/2014/main" id="{52C9F294-7443-409C-AB3B-3B873DBD468B}"/>
              </a:ext>
            </a:extLst>
          </p:cNvPr>
          <p:cNvSpPr>
            <a:spLocks noGrp="1"/>
          </p:cNvSpPr>
          <p:nvPr>
            <p:ph idx="1"/>
          </p:nvPr>
        </p:nvSpPr>
        <p:spPr/>
        <p:txBody>
          <a:bodyPr>
            <a:normAutofit/>
          </a:bodyPr>
          <a:lstStyle/>
          <a:p>
            <a:r>
              <a:rPr lang="en-US" sz="3200" dirty="0"/>
              <a:t>Hierarchical clustering (also called hierarchical cluster analysis or HCA) is a method of cluster analysis which seeks to build a hierarchy of clusters. E.g. All files and folders on our hard disk are organized in a hierarchy.</a:t>
            </a:r>
          </a:p>
        </p:txBody>
      </p:sp>
      <p:pic>
        <p:nvPicPr>
          <p:cNvPr id="7" name="Picture 6" descr="A screenshot of a cell phone&#10;&#10;Description automatically generated">
            <a:extLst>
              <a:ext uri="{FF2B5EF4-FFF2-40B4-BE49-F238E27FC236}">
                <a16:creationId xmlns:a16="http://schemas.microsoft.com/office/drawing/2014/main" id="{7740F3B3-FF9B-4AF8-8707-AFD5BF4B9C05}"/>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22712" y="2721376"/>
            <a:ext cx="7483133" cy="3771499"/>
          </a:xfrm>
          <a:prstGeom prst="rect">
            <a:avLst/>
          </a:prstGeom>
        </p:spPr>
      </p:pic>
      <p:sp>
        <p:nvSpPr>
          <p:cNvPr id="6" name="Slide Number Placeholder 5">
            <a:extLst>
              <a:ext uri="{FF2B5EF4-FFF2-40B4-BE49-F238E27FC236}">
                <a16:creationId xmlns:a16="http://schemas.microsoft.com/office/drawing/2014/main" id="{2A726A92-5A2E-4007-9267-C2C4C380AC5F}"/>
              </a:ext>
            </a:extLst>
          </p:cNvPr>
          <p:cNvSpPr>
            <a:spLocks noGrp="1"/>
          </p:cNvSpPr>
          <p:nvPr>
            <p:ph type="sldNum" sz="quarter" idx="12"/>
          </p:nvPr>
        </p:nvSpPr>
        <p:spPr/>
        <p:txBody>
          <a:bodyPr/>
          <a:lstStyle/>
          <a:p>
            <a:fld id="{4CC025FC-8595-493D-A46F-2FDFDC85D9BC}" type="slidenum">
              <a:rPr lang="en-US" smtClean="0"/>
              <a:t>42</a:t>
            </a:fld>
            <a:endParaRPr lang="en-US"/>
          </a:p>
        </p:txBody>
      </p:sp>
    </p:spTree>
    <p:extLst>
      <p:ext uri="{BB962C8B-B14F-4D97-AF65-F5344CB8AC3E}">
        <p14:creationId xmlns:p14="http://schemas.microsoft.com/office/powerpoint/2010/main" val="14079583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Hierarchical Clustering - Dendrogram</a:t>
            </a:r>
          </a:p>
        </p:txBody>
      </p:sp>
      <p:sp>
        <p:nvSpPr>
          <p:cNvPr id="3" name="Content Placeholder 2">
            <a:extLst>
              <a:ext uri="{FF2B5EF4-FFF2-40B4-BE49-F238E27FC236}">
                <a16:creationId xmlns:a16="http://schemas.microsoft.com/office/drawing/2014/main" id="{52C9F294-7443-409C-AB3B-3B873DBD468B}"/>
              </a:ext>
            </a:extLst>
          </p:cNvPr>
          <p:cNvSpPr>
            <a:spLocks noGrp="1"/>
          </p:cNvSpPr>
          <p:nvPr>
            <p:ph idx="1"/>
          </p:nvPr>
        </p:nvSpPr>
        <p:spPr/>
        <p:txBody>
          <a:bodyPr>
            <a:normAutofit/>
          </a:bodyPr>
          <a:lstStyle/>
          <a:p>
            <a:r>
              <a:rPr lang="en-US" sz="2000" dirty="0"/>
              <a:t>It constructs a binary tree of the data that consecutively combines related ensembles of points.  The graphical representation of the resultant hierarchy is a tree-structured graph named dendrogram.</a:t>
            </a:r>
          </a:p>
        </p:txBody>
      </p:sp>
      <p:pic>
        <p:nvPicPr>
          <p:cNvPr id="6" name="Picture 5" descr="A screenshot of a cell phone&#10;&#10;Description automatically generated">
            <a:extLst>
              <a:ext uri="{FF2B5EF4-FFF2-40B4-BE49-F238E27FC236}">
                <a16:creationId xmlns:a16="http://schemas.microsoft.com/office/drawing/2014/main" id="{854625A2-687C-4E4B-9AF3-583484E08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26" y="2018321"/>
            <a:ext cx="10095748" cy="4833072"/>
          </a:xfrm>
          <a:prstGeom prst="rect">
            <a:avLst/>
          </a:prstGeom>
        </p:spPr>
      </p:pic>
      <p:sp>
        <p:nvSpPr>
          <p:cNvPr id="5" name="Slide Number Placeholder 4">
            <a:extLst>
              <a:ext uri="{FF2B5EF4-FFF2-40B4-BE49-F238E27FC236}">
                <a16:creationId xmlns:a16="http://schemas.microsoft.com/office/drawing/2014/main" id="{FF4502F8-71EC-4BBC-90B1-97E2B80D6596}"/>
              </a:ext>
            </a:extLst>
          </p:cNvPr>
          <p:cNvSpPr>
            <a:spLocks noGrp="1"/>
          </p:cNvSpPr>
          <p:nvPr>
            <p:ph type="sldNum" sz="quarter" idx="12"/>
          </p:nvPr>
        </p:nvSpPr>
        <p:spPr/>
        <p:txBody>
          <a:bodyPr/>
          <a:lstStyle/>
          <a:p>
            <a:fld id="{4CC025FC-8595-493D-A46F-2FDFDC85D9BC}" type="slidenum">
              <a:rPr lang="en-US" smtClean="0"/>
              <a:t>43</a:t>
            </a:fld>
            <a:endParaRPr lang="en-US"/>
          </a:p>
        </p:txBody>
      </p:sp>
    </p:spTree>
    <p:extLst>
      <p:ext uri="{BB962C8B-B14F-4D97-AF65-F5344CB8AC3E}">
        <p14:creationId xmlns:p14="http://schemas.microsoft.com/office/powerpoint/2010/main" val="33382509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BC309-36FE-4240-97AC-F91575D9AF9F}"/>
              </a:ext>
            </a:extLst>
          </p:cNvPr>
          <p:cNvSpPr>
            <a:spLocks noGrp="1"/>
          </p:cNvSpPr>
          <p:nvPr>
            <p:ph type="title"/>
          </p:nvPr>
        </p:nvSpPr>
        <p:spPr/>
        <p:txBody>
          <a:bodyPr>
            <a:normAutofit fontScale="90000"/>
          </a:bodyPr>
          <a:lstStyle/>
          <a:p>
            <a:r>
              <a:rPr lang="en-US" dirty="0"/>
              <a:t>Hierarchical Clustering - Strategies</a:t>
            </a:r>
          </a:p>
        </p:txBody>
      </p:sp>
      <p:sp>
        <p:nvSpPr>
          <p:cNvPr id="3" name="Content Placeholder 2">
            <a:extLst>
              <a:ext uri="{FF2B5EF4-FFF2-40B4-BE49-F238E27FC236}">
                <a16:creationId xmlns:a16="http://schemas.microsoft.com/office/drawing/2014/main" id="{A16C1CAD-AF04-426D-A618-A6A0BAF7B6B0}"/>
              </a:ext>
            </a:extLst>
          </p:cNvPr>
          <p:cNvSpPr>
            <a:spLocks noGrp="1"/>
          </p:cNvSpPr>
          <p:nvPr>
            <p:ph idx="1"/>
          </p:nvPr>
        </p:nvSpPr>
        <p:spPr/>
        <p:txBody>
          <a:bodyPr>
            <a:normAutofit/>
          </a:bodyPr>
          <a:lstStyle/>
          <a:p>
            <a:r>
              <a:rPr lang="en-US" dirty="0"/>
              <a:t>Agglomerative (bottom-up):</a:t>
            </a:r>
          </a:p>
          <a:p>
            <a:pPr lvl="1"/>
            <a:r>
              <a:rPr lang="en-US" dirty="0"/>
              <a:t>Beginning with singletons (sets with 1 element)</a:t>
            </a:r>
          </a:p>
          <a:p>
            <a:pPr lvl="1"/>
            <a:r>
              <a:rPr lang="en-US" dirty="0"/>
              <a:t>Merging them until S is achieved as the root</a:t>
            </a:r>
          </a:p>
          <a:p>
            <a:pPr lvl="1"/>
            <a:r>
              <a:rPr lang="en-US" dirty="0"/>
              <a:t>In each step, the two closest clusters are aggregates into a new combined cluster</a:t>
            </a:r>
          </a:p>
          <a:p>
            <a:pPr lvl="1"/>
            <a:r>
              <a:rPr lang="en-US" dirty="0"/>
              <a:t>In this way, number of clusters in the dataset is reduced at each step</a:t>
            </a:r>
          </a:p>
          <a:p>
            <a:pPr lvl="1"/>
            <a:r>
              <a:rPr lang="en-US" dirty="0"/>
              <a:t>Eventually, all records/elements are combined into a single huge cluster</a:t>
            </a:r>
          </a:p>
          <a:p>
            <a:pPr lvl="1"/>
            <a:r>
              <a:rPr lang="en-US" dirty="0"/>
              <a:t>It is the most common approach</a:t>
            </a:r>
          </a:p>
          <a:p>
            <a:r>
              <a:rPr lang="en-US" dirty="0"/>
              <a:t>Divisive (top-down):</a:t>
            </a:r>
          </a:p>
          <a:p>
            <a:pPr lvl="1"/>
            <a:r>
              <a:rPr lang="en-US" dirty="0"/>
              <a:t>All records are combined in to a one big cluster</a:t>
            </a:r>
          </a:p>
          <a:p>
            <a:pPr lvl="1"/>
            <a:r>
              <a:rPr lang="en-US" dirty="0"/>
              <a:t>Then the most dissimilar records being split off recursively partitioning S until singleton sets are reached.</a:t>
            </a:r>
          </a:p>
        </p:txBody>
      </p:sp>
      <p:sp>
        <p:nvSpPr>
          <p:cNvPr id="5" name="Slide Number Placeholder 4">
            <a:extLst>
              <a:ext uri="{FF2B5EF4-FFF2-40B4-BE49-F238E27FC236}">
                <a16:creationId xmlns:a16="http://schemas.microsoft.com/office/drawing/2014/main" id="{53D751A3-9B9B-4671-ADFB-B5AD2884D2F3}"/>
              </a:ext>
            </a:extLst>
          </p:cNvPr>
          <p:cNvSpPr>
            <a:spLocks noGrp="1"/>
          </p:cNvSpPr>
          <p:nvPr>
            <p:ph type="sldNum" sz="quarter" idx="12"/>
          </p:nvPr>
        </p:nvSpPr>
        <p:spPr/>
        <p:txBody>
          <a:bodyPr/>
          <a:lstStyle/>
          <a:p>
            <a:fld id="{4CC025FC-8595-493D-A46F-2FDFDC85D9BC}" type="slidenum">
              <a:rPr lang="en-US" smtClean="0"/>
              <a:t>44</a:t>
            </a:fld>
            <a:endParaRPr lang="en-US"/>
          </a:p>
        </p:txBody>
      </p:sp>
    </p:spTree>
    <p:extLst>
      <p:ext uri="{BB962C8B-B14F-4D97-AF65-F5344CB8AC3E}">
        <p14:creationId xmlns:p14="http://schemas.microsoft.com/office/powerpoint/2010/main" val="3886773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Hierarchical Clustering - Strategies</a:t>
            </a:r>
          </a:p>
        </p:txBody>
      </p:sp>
      <p:pic>
        <p:nvPicPr>
          <p:cNvPr id="6" name="Picture 5">
            <a:extLst>
              <a:ext uri="{FF2B5EF4-FFF2-40B4-BE49-F238E27FC236}">
                <a16:creationId xmlns:a16="http://schemas.microsoft.com/office/drawing/2014/main" id="{2D890BD1-6F26-4832-870B-74956C262FE1}"/>
              </a:ext>
            </a:extLst>
          </p:cNvPr>
          <p:cNvPicPr>
            <a:picLocks noChangeAspect="1"/>
          </p:cNvPicPr>
          <p:nvPr/>
        </p:nvPicPr>
        <p:blipFill>
          <a:blip r:embed="rId2"/>
          <a:stretch>
            <a:fillRect/>
          </a:stretch>
        </p:blipFill>
        <p:spPr>
          <a:xfrm>
            <a:off x="585787" y="1349375"/>
            <a:ext cx="11020425" cy="5143500"/>
          </a:xfrm>
          <a:prstGeom prst="rect">
            <a:avLst/>
          </a:prstGeom>
        </p:spPr>
      </p:pic>
      <p:sp>
        <p:nvSpPr>
          <p:cNvPr id="4" name="Slide Number Placeholder 3">
            <a:extLst>
              <a:ext uri="{FF2B5EF4-FFF2-40B4-BE49-F238E27FC236}">
                <a16:creationId xmlns:a16="http://schemas.microsoft.com/office/drawing/2014/main" id="{92973F3E-4F59-4E16-8540-9FE5499D8C35}"/>
              </a:ext>
            </a:extLst>
          </p:cNvPr>
          <p:cNvSpPr>
            <a:spLocks noGrp="1"/>
          </p:cNvSpPr>
          <p:nvPr>
            <p:ph type="sldNum" sz="quarter" idx="12"/>
          </p:nvPr>
        </p:nvSpPr>
        <p:spPr/>
        <p:txBody>
          <a:bodyPr/>
          <a:lstStyle/>
          <a:p>
            <a:fld id="{4CC025FC-8595-493D-A46F-2FDFDC85D9BC}" type="slidenum">
              <a:rPr lang="en-US" smtClean="0"/>
              <a:t>45</a:t>
            </a:fld>
            <a:endParaRPr lang="en-US"/>
          </a:p>
        </p:txBody>
      </p:sp>
    </p:spTree>
    <p:extLst>
      <p:ext uri="{BB962C8B-B14F-4D97-AF65-F5344CB8AC3E}">
        <p14:creationId xmlns:p14="http://schemas.microsoft.com/office/powerpoint/2010/main" val="1585825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Hierarchical Agglomerative Clustering - Steps</a:t>
            </a:r>
          </a:p>
        </p:txBody>
      </p:sp>
      <p:sp>
        <p:nvSpPr>
          <p:cNvPr id="3" name="Content Placeholder 2">
            <a:extLst>
              <a:ext uri="{FF2B5EF4-FFF2-40B4-BE49-F238E27FC236}">
                <a16:creationId xmlns:a16="http://schemas.microsoft.com/office/drawing/2014/main" id="{C8496B59-B366-461E-A7FA-7344B1B03EA2}"/>
              </a:ext>
            </a:extLst>
          </p:cNvPr>
          <p:cNvSpPr>
            <a:spLocks noGrp="1"/>
          </p:cNvSpPr>
          <p:nvPr>
            <p:ph idx="1"/>
          </p:nvPr>
        </p:nvSpPr>
        <p:spPr/>
        <p:txBody>
          <a:bodyPr>
            <a:normAutofit/>
          </a:bodyPr>
          <a:lstStyle/>
          <a:p>
            <a:pPr marL="742950" indent="-742950">
              <a:buFont typeface="+mj-lt"/>
              <a:buAutoNum type="arabicPeriod"/>
            </a:pPr>
            <a:r>
              <a:rPr lang="en-US" sz="3200" dirty="0"/>
              <a:t>Start by assigning each item to its own cluster, so that if you have N items, you now have N clusters, each containing just one item. Let the distances (similarities) between the clusters equal the distances (similarities) between the items they contain.</a:t>
            </a:r>
          </a:p>
          <a:p>
            <a:pPr marL="742950" indent="-742950">
              <a:buFont typeface="+mj-lt"/>
              <a:buAutoNum type="arabicPeriod"/>
            </a:pPr>
            <a:r>
              <a:rPr lang="en-US" sz="3200" dirty="0"/>
              <a:t>Find the closest (most similar) pair of clusters and merge them into a single cluster, so that now you have one less cluster.</a:t>
            </a:r>
          </a:p>
          <a:p>
            <a:pPr marL="742950" indent="-742950">
              <a:buFont typeface="+mj-lt"/>
              <a:buAutoNum type="arabicPeriod"/>
            </a:pPr>
            <a:r>
              <a:rPr lang="en-US" sz="3200" dirty="0"/>
              <a:t>Compute distances (similarities) between the new cluster and each of the old clusters.</a:t>
            </a:r>
          </a:p>
          <a:p>
            <a:pPr marL="742950" indent="-742950">
              <a:buFont typeface="+mj-lt"/>
              <a:buAutoNum type="arabicPeriod"/>
            </a:pPr>
            <a:r>
              <a:rPr lang="en-US" sz="3200" dirty="0"/>
              <a:t>Repeat steps 2 and 3 until all items are clustered into a single cluster of size N.</a:t>
            </a:r>
          </a:p>
        </p:txBody>
      </p:sp>
      <p:sp>
        <p:nvSpPr>
          <p:cNvPr id="5" name="Slide Number Placeholder 4">
            <a:extLst>
              <a:ext uri="{FF2B5EF4-FFF2-40B4-BE49-F238E27FC236}">
                <a16:creationId xmlns:a16="http://schemas.microsoft.com/office/drawing/2014/main" id="{D4635554-40C1-4821-AB0E-72667161B95A}"/>
              </a:ext>
            </a:extLst>
          </p:cNvPr>
          <p:cNvSpPr>
            <a:spLocks noGrp="1"/>
          </p:cNvSpPr>
          <p:nvPr>
            <p:ph type="sldNum" sz="quarter" idx="12"/>
          </p:nvPr>
        </p:nvSpPr>
        <p:spPr/>
        <p:txBody>
          <a:bodyPr/>
          <a:lstStyle/>
          <a:p>
            <a:fld id="{4CC025FC-8595-493D-A46F-2FDFDC85D9BC}" type="slidenum">
              <a:rPr lang="en-US" smtClean="0"/>
              <a:t>46</a:t>
            </a:fld>
            <a:endParaRPr lang="en-US"/>
          </a:p>
        </p:txBody>
      </p:sp>
    </p:spTree>
    <p:extLst>
      <p:ext uri="{BB962C8B-B14F-4D97-AF65-F5344CB8AC3E}">
        <p14:creationId xmlns:p14="http://schemas.microsoft.com/office/powerpoint/2010/main" val="25450034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Problem</a:t>
            </a:r>
          </a:p>
        </p:txBody>
      </p:sp>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p:txBody>
          <a:bodyPr>
            <a:normAutofit/>
          </a:bodyPr>
          <a:lstStyle/>
          <a:p>
            <a:r>
              <a:rPr lang="en-US" dirty="0"/>
              <a:t>Suppose I want to divide my students into different groups.</a:t>
            </a:r>
          </a:p>
          <a:p>
            <a:r>
              <a:rPr lang="en-US" dirty="0"/>
              <a:t>I have the marks scored by each student in an assignment and based on these marks, I want to segment them into groups.</a:t>
            </a:r>
          </a:p>
          <a:p>
            <a:r>
              <a:rPr lang="en-US" dirty="0"/>
              <a:t>There’s no fixed target here as to how many groups to have.</a:t>
            </a:r>
          </a:p>
          <a:p>
            <a:r>
              <a:rPr lang="en-US" dirty="0"/>
              <a:t>Since I don’t know what type of students should be assigned to which group, it cannot be solved as a supervised mining problem.</a:t>
            </a:r>
          </a:p>
          <a:p>
            <a:r>
              <a:rPr lang="en-US" dirty="0"/>
              <a:t>So, I shall try to apply hierarchical clustering here and segment the students into different groups.</a:t>
            </a:r>
          </a:p>
        </p:txBody>
      </p:sp>
      <p:sp>
        <p:nvSpPr>
          <p:cNvPr id="5" name="Slide Number Placeholder 4">
            <a:extLst>
              <a:ext uri="{FF2B5EF4-FFF2-40B4-BE49-F238E27FC236}">
                <a16:creationId xmlns:a16="http://schemas.microsoft.com/office/drawing/2014/main" id="{29C68C74-6D06-44E0-83FD-185533B4BD25}"/>
              </a:ext>
            </a:extLst>
          </p:cNvPr>
          <p:cNvSpPr>
            <a:spLocks noGrp="1"/>
          </p:cNvSpPr>
          <p:nvPr>
            <p:ph type="sldNum" sz="quarter" idx="12"/>
          </p:nvPr>
        </p:nvSpPr>
        <p:spPr/>
        <p:txBody>
          <a:bodyPr/>
          <a:lstStyle/>
          <a:p>
            <a:fld id="{4CC025FC-8595-493D-A46F-2FDFDC85D9BC}" type="slidenum">
              <a:rPr lang="en-US" smtClean="0"/>
              <a:t>47</a:t>
            </a:fld>
            <a:endParaRPr lang="en-US"/>
          </a:p>
        </p:txBody>
      </p:sp>
    </p:spTree>
    <p:extLst>
      <p:ext uri="{BB962C8B-B14F-4D97-AF65-F5344CB8AC3E}">
        <p14:creationId xmlns:p14="http://schemas.microsoft.com/office/powerpoint/2010/main" val="3292637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Dataset</a:t>
            </a:r>
          </a:p>
        </p:txBody>
      </p:sp>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p:txBody>
          <a:bodyPr>
            <a:normAutofit/>
          </a:bodyPr>
          <a:lstStyle/>
          <a:p>
            <a:r>
              <a:rPr lang="en-US" dirty="0"/>
              <a:t>Let’s take a sample of five students</a:t>
            </a:r>
          </a:p>
        </p:txBody>
      </p:sp>
      <p:graphicFrame>
        <p:nvGraphicFramePr>
          <p:cNvPr id="4" name="Table 4">
            <a:extLst>
              <a:ext uri="{FF2B5EF4-FFF2-40B4-BE49-F238E27FC236}">
                <a16:creationId xmlns:a16="http://schemas.microsoft.com/office/drawing/2014/main" id="{2F9B19B9-6BA3-4711-8065-20D36FF87511}"/>
              </a:ext>
            </a:extLst>
          </p:cNvPr>
          <p:cNvGraphicFramePr>
            <a:graphicFrameLocks noGrp="1"/>
          </p:cNvGraphicFramePr>
          <p:nvPr/>
        </p:nvGraphicFramePr>
        <p:xfrm>
          <a:off x="528394" y="2140503"/>
          <a:ext cx="3002600" cy="3840480"/>
        </p:xfrm>
        <a:graphic>
          <a:graphicData uri="http://schemas.openxmlformats.org/drawingml/2006/table">
            <a:tbl>
              <a:tblPr firstRow="1" bandRow="1">
                <a:tableStyleId>{5C22544A-7EE6-4342-B048-85BDC9FD1C3A}</a:tableStyleId>
              </a:tblPr>
              <a:tblGrid>
                <a:gridCol w="1501300">
                  <a:extLst>
                    <a:ext uri="{9D8B030D-6E8A-4147-A177-3AD203B41FA5}">
                      <a16:colId xmlns:a16="http://schemas.microsoft.com/office/drawing/2014/main" val="1805294303"/>
                    </a:ext>
                  </a:extLst>
                </a:gridCol>
                <a:gridCol w="1501300">
                  <a:extLst>
                    <a:ext uri="{9D8B030D-6E8A-4147-A177-3AD203B41FA5}">
                      <a16:colId xmlns:a16="http://schemas.microsoft.com/office/drawing/2014/main" val="3647138510"/>
                    </a:ext>
                  </a:extLst>
                </a:gridCol>
              </a:tblGrid>
              <a:tr h="370840">
                <a:tc>
                  <a:txBody>
                    <a:bodyPr/>
                    <a:lstStyle/>
                    <a:p>
                      <a:pPr algn="ctr"/>
                      <a:r>
                        <a:rPr lang="en-US" sz="3600" dirty="0"/>
                        <a:t>Reg#</a:t>
                      </a:r>
                    </a:p>
                  </a:txBody>
                  <a:tcPr/>
                </a:tc>
                <a:tc>
                  <a:txBody>
                    <a:bodyPr/>
                    <a:lstStyle/>
                    <a:p>
                      <a:pPr algn="ctr"/>
                      <a:r>
                        <a:rPr lang="en-US" sz="3600" dirty="0"/>
                        <a:t>Marks</a:t>
                      </a:r>
                    </a:p>
                  </a:txBody>
                  <a:tcPr/>
                </a:tc>
                <a:extLst>
                  <a:ext uri="{0D108BD9-81ED-4DB2-BD59-A6C34878D82A}">
                    <a16:rowId xmlns:a16="http://schemas.microsoft.com/office/drawing/2014/main" val="3979186866"/>
                  </a:ext>
                </a:extLst>
              </a:tr>
              <a:tr h="370840">
                <a:tc>
                  <a:txBody>
                    <a:bodyPr/>
                    <a:lstStyle/>
                    <a:p>
                      <a:pPr algn="ctr"/>
                      <a:r>
                        <a:rPr lang="en-US" sz="3600" dirty="0"/>
                        <a:t>1</a:t>
                      </a:r>
                    </a:p>
                  </a:txBody>
                  <a:tcPr/>
                </a:tc>
                <a:tc>
                  <a:txBody>
                    <a:bodyPr/>
                    <a:lstStyle/>
                    <a:p>
                      <a:pPr algn="ctr"/>
                      <a:r>
                        <a:rPr lang="en-US" sz="3600" dirty="0"/>
                        <a:t>10</a:t>
                      </a:r>
                    </a:p>
                  </a:txBody>
                  <a:tcPr/>
                </a:tc>
                <a:extLst>
                  <a:ext uri="{0D108BD9-81ED-4DB2-BD59-A6C34878D82A}">
                    <a16:rowId xmlns:a16="http://schemas.microsoft.com/office/drawing/2014/main" val="3215972794"/>
                  </a:ext>
                </a:extLst>
              </a:tr>
              <a:tr h="370840">
                <a:tc>
                  <a:txBody>
                    <a:bodyPr/>
                    <a:lstStyle/>
                    <a:p>
                      <a:pPr algn="ctr"/>
                      <a:r>
                        <a:rPr lang="en-US" sz="3600" dirty="0"/>
                        <a:t>2</a:t>
                      </a:r>
                    </a:p>
                  </a:txBody>
                  <a:tcPr/>
                </a:tc>
                <a:tc>
                  <a:txBody>
                    <a:bodyPr/>
                    <a:lstStyle/>
                    <a:p>
                      <a:pPr algn="ctr"/>
                      <a:r>
                        <a:rPr lang="en-US" sz="3600" dirty="0"/>
                        <a:t>7</a:t>
                      </a:r>
                    </a:p>
                  </a:txBody>
                  <a:tcPr/>
                </a:tc>
                <a:extLst>
                  <a:ext uri="{0D108BD9-81ED-4DB2-BD59-A6C34878D82A}">
                    <a16:rowId xmlns:a16="http://schemas.microsoft.com/office/drawing/2014/main" val="1164287607"/>
                  </a:ext>
                </a:extLst>
              </a:tr>
              <a:tr h="370840">
                <a:tc>
                  <a:txBody>
                    <a:bodyPr/>
                    <a:lstStyle/>
                    <a:p>
                      <a:pPr algn="ctr"/>
                      <a:r>
                        <a:rPr lang="en-US" sz="3600" dirty="0"/>
                        <a:t>3</a:t>
                      </a:r>
                    </a:p>
                  </a:txBody>
                  <a:tcPr/>
                </a:tc>
                <a:tc>
                  <a:txBody>
                    <a:bodyPr/>
                    <a:lstStyle/>
                    <a:p>
                      <a:pPr algn="ctr"/>
                      <a:r>
                        <a:rPr lang="en-US" sz="3600" dirty="0"/>
                        <a:t>28</a:t>
                      </a:r>
                    </a:p>
                  </a:txBody>
                  <a:tcPr/>
                </a:tc>
                <a:extLst>
                  <a:ext uri="{0D108BD9-81ED-4DB2-BD59-A6C34878D82A}">
                    <a16:rowId xmlns:a16="http://schemas.microsoft.com/office/drawing/2014/main" val="1107901026"/>
                  </a:ext>
                </a:extLst>
              </a:tr>
              <a:tr h="370840">
                <a:tc>
                  <a:txBody>
                    <a:bodyPr/>
                    <a:lstStyle/>
                    <a:p>
                      <a:pPr algn="ctr"/>
                      <a:r>
                        <a:rPr lang="en-US" sz="3600" dirty="0"/>
                        <a:t>4</a:t>
                      </a:r>
                    </a:p>
                  </a:txBody>
                  <a:tcPr/>
                </a:tc>
                <a:tc>
                  <a:txBody>
                    <a:bodyPr/>
                    <a:lstStyle/>
                    <a:p>
                      <a:pPr algn="ctr"/>
                      <a:r>
                        <a:rPr lang="en-US" sz="3600" dirty="0"/>
                        <a:t>20</a:t>
                      </a:r>
                    </a:p>
                  </a:txBody>
                  <a:tcPr/>
                </a:tc>
                <a:extLst>
                  <a:ext uri="{0D108BD9-81ED-4DB2-BD59-A6C34878D82A}">
                    <a16:rowId xmlns:a16="http://schemas.microsoft.com/office/drawing/2014/main" val="1217031025"/>
                  </a:ext>
                </a:extLst>
              </a:tr>
              <a:tr h="370840">
                <a:tc>
                  <a:txBody>
                    <a:bodyPr/>
                    <a:lstStyle/>
                    <a:p>
                      <a:pPr algn="ctr"/>
                      <a:r>
                        <a:rPr lang="en-US" sz="3600" dirty="0"/>
                        <a:t>5</a:t>
                      </a:r>
                    </a:p>
                  </a:txBody>
                  <a:tcPr/>
                </a:tc>
                <a:tc>
                  <a:txBody>
                    <a:bodyPr/>
                    <a:lstStyle/>
                    <a:p>
                      <a:pPr algn="ctr"/>
                      <a:r>
                        <a:rPr lang="en-US" sz="3600" dirty="0"/>
                        <a:t>35</a:t>
                      </a:r>
                    </a:p>
                  </a:txBody>
                  <a:tcPr/>
                </a:tc>
                <a:extLst>
                  <a:ext uri="{0D108BD9-81ED-4DB2-BD59-A6C34878D82A}">
                    <a16:rowId xmlns:a16="http://schemas.microsoft.com/office/drawing/2014/main" val="1917570298"/>
                  </a:ext>
                </a:extLst>
              </a:tr>
            </a:tbl>
          </a:graphicData>
        </a:graphic>
      </p:graphicFrame>
      <p:sp>
        <p:nvSpPr>
          <p:cNvPr id="6" name="Slide Number Placeholder 5">
            <a:extLst>
              <a:ext uri="{FF2B5EF4-FFF2-40B4-BE49-F238E27FC236}">
                <a16:creationId xmlns:a16="http://schemas.microsoft.com/office/drawing/2014/main" id="{43245EAD-F347-40B0-B7AE-990F6E0D1485}"/>
              </a:ext>
            </a:extLst>
          </p:cNvPr>
          <p:cNvSpPr>
            <a:spLocks noGrp="1"/>
          </p:cNvSpPr>
          <p:nvPr>
            <p:ph type="sldNum" sz="quarter" idx="12"/>
          </p:nvPr>
        </p:nvSpPr>
        <p:spPr/>
        <p:txBody>
          <a:bodyPr/>
          <a:lstStyle/>
          <a:p>
            <a:fld id="{4CC025FC-8595-493D-A46F-2FDFDC85D9BC}" type="slidenum">
              <a:rPr lang="en-US" smtClean="0"/>
              <a:t>48</a:t>
            </a:fld>
            <a:endParaRPr lang="en-US"/>
          </a:p>
        </p:txBody>
      </p:sp>
    </p:spTree>
    <p:extLst>
      <p:ext uri="{BB962C8B-B14F-4D97-AF65-F5344CB8AC3E}">
        <p14:creationId xmlns:p14="http://schemas.microsoft.com/office/powerpoint/2010/main" val="28261383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Proximity Matrix</a:t>
            </a:r>
          </a:p>
        </p:txBody>
      </p:sp>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p:txBody>
          <a:bodyPr>
            <a:normAutofit/>
          </a:bodyPr>
          <a:lstStyle/>
          <a:p>
            <a:r>
              <a:rPr lang="en-US" sz="3600" dirty="0"/>
              <a:t>Proximity matrix stores the distances between each point.</a:t>
            </a:r>
          </a:p>
        </p:txBody>
      </p:sp>
      <p:graphicFrame>
        <p:nvGraphicFramePr>
          <p:cNvPr id="4" name="Table 4">
            <a:extLst>
              <a:ext uri="{FF2B5EF4-FFF2-40B4-BE49-F238E27FC236}">
                <a16:creationId xmlns:a16="http://schemas.microsoft.com/office/drawing/2014/main" id="{2F9B19B9-6BA3-4711-8065-20D36FF87511}"/>
              </a:ext>
            </a:extLst>
          </p:cNvPr>
          <p:cNvGraphicFramePr>
            <a:graphicFrameLocks noGrp="1"/>
          </p:cNvGraphicFramePr>
          <p:nvPr/>
        </p:nvGraphicFramePr>
        <p:xfrm>
          <a:off x="528394" y="2140503"/>
          <a:ext cx="3002600" cy="3840480"/>
        </p:xfrm>
        <a:graphic>
          <a:graphicData uri="http://schemas.openxmlformats.org/drawingml/2006/table">
            <a:tbl>
              <a:tblPr firstRow="1" bandRow="1">
                <a:tableStyleId>{5C22544A-7EE6-4342-B048-85BDC9FD1C3A}</a:tableStyleId>
              </a:tblPr>
              <a:tblGrid>
                <a:gridCol w="1501300">
                  <a:extLst>
                    <a:ext uri="{9D8B030D-6E8A-4147-A177-3AD203B41FA5}">
                      <a16:colId xmlns:a16="http://schemas.microsoft.com/office/drawing/2014/main" val="1805294303"/>
                    </a:ext>
                  </a:extLst>
                </a:gridCol>
                <a:gridCol w="1501300">
                  <a:extLst>
                    <a:ext uri="{9D8B030D-6E8A-4147-A177-3AD203B41FA5}">
                      <a16:colId xmlns:a16="http://schemas.microsoft.com/office/drawing/2014/main" val="3647138510"/>
                    </a:ext>
                  </a:extLst>
                </a:gridCol>
              </a:tblGrid>
              <a:tr h="370840">
                <a:tc>
                  <a:txBody>
                    <a:bodyPr/>
                    <a:lstStyle/>
                    <a:p>
                      <a:pPr algn="ctr"/>
                      <a:r>
                        <a:rPr lang="en-US" sz="3600" dirty="0"/>
                        <a:t>Reg#</a:t>
                      </a:r>
                    </a:p>
                  </a:txBody>
                  <a:tcPr/>
                </a:tc>
                <a:tc>
                  <a:txBody>
                    <a:bodyPr/>
                    <a:lstStyle/>
                    <a:p>
                      <a:pPr algn="ctr"/>
                      <a:r>
                        <a:rPr lang="en-US" sz="3600" dirty="0"/>
                        <a:t>Marks</a:t>
                      </a:r>
                    </a:p>
                  </a:txBody>
                  <a:tcPr/>
                </a:tc>
                <a:extLst>
                  <a:ext uri="{0D108BD9-81ED-4DB2-BD59-A6C34878D82A}">
                    <a16:rowId xmlns:a16="http://schemas.microsoft.com/office/drawing/2014/main" val="3979186866"/>
                  </a:ext>
                </a:extLst>
              </a:tr>
              <a:tr h="370840">
                <a:tc>
                  <a:txBody>
                    <a:bodyPr/>
                    <a:lstStyle/>
                    <a:p>
                      <a:pPr algn="ctr"/>
                      <a:r>
                        <a:rPr lang="en-US" sz="3600" dirty="0"/>
                        <a:t>1</a:t>
                      </a:r>
                    </a:p>
                  </a:txBody>
                  <a:tcPr/>
                </a:tc>
                <a:tc>
                  <a:txBody>
                    <a:bodyPr/>
                    <a:lstStyle/>
                    <a:p>
                      <a:pPr algn="ctr"/>
                      <a:r>
                        <a:rPr lang="en-US" sz="3600" dirty="0"/>
                        <a:t>10</a:t>
                      </a:r>
                    </a:p>
                  </a:txBody>
                  <a:tcPr/>
                </a:tc>
                <a:extLst>
                  <a:ext uri="{0D108BD9-81ED-4DB2-BD59-A6C34878D82A}">
                    <a16:rowId xmlns:a16="http://schemas.microsoft.com/office/drawing/2014/main" val="3215972794"/>
                  </a:ext>
                </a:extLst>
              </a:tr>
              <a:tr h="370840">
                <a:tc>
                  <a:txBody>
                    <a:bodyPr/>
                    <a:lstStyle/>
                    <a:p>
                      <a:pPr algn="ctr"/>
                      <a:r>
                        <a:rPr lang="en-US" sz="3600" dirty="0"/>
                        <a:t>2</a:t>
                      </a:r>
                    </a:p>
                  </a:txBody>
                  <a:tcPr/>
                </a:tc>
                <a:tc>
                  <a:txBody>
                    <a:bodyPr/>
                    <a:lstStyle/>
                    <a:p>
                      <a:pPr algn="ctr"/>
                      <a:r>
                        <a:rPr lang="en-US" sz="3600" dirty="0"/>
                        <a:t>7</a:t>
                      </a:r>
                    </a:p>
                  </a:txBody>
                  <a:tcPr/>
                </a:tc>
                <a:extLst>
                  <a:ext uri="{0D108BD9-81ED-4DB2-BD59-A6C34878D82A}">
                    <a16:rowId xmlns:a16="http://schemas.microsoft.com/office/drawing/2014/main" val="1164287607"/>
                  </a:ext>
                </a:extLst>
              </a:tr>
              <a:tr h="370840">
                <a:tc>
                  <a:txBody>
                    <a:bodyPr/>
                    <a:lstStyle/>
                    <a:p>
                      <a:pPr algn="ctr"/>
                      <a:r>
                        <a:rPr lang="en-US" sz="3600" dirty="0"/>
                        <a:t>3</a:t>
                      </a:r>
                    </a:p>
                  </a:txBody>
                  <a:tcPr/>
                </a:tc>
                <a:tc>
                  <a:txBody>
                    <a:bodyPr/>
                    <a:lstStyle/>
                    <a:p>
                      <a:pPr algn="ctr"/>
                      <a:r>
                        <a:rPr lang="en-US" sz="3600" dirty="0"/>
                        <a:t>28</a:t>
                      </a:r>
                    </a:p>
                  </a:txBody>
                  <a:tcPr/>
                </a:tc>
                <a:extLst>
                  <a:ext uri="{0D108BD9-81ED-4DB2-BD59-A6C34878D82A}">
                    <a16:rowId xmlns:a16="http://schemas.microsoft.com/office/drawing/2014/main" val="1107901026"/>
                  </a:ext>
                </a:extLst>
              </a:tr>
              <a:tr h="370840">
                <a:tc>
                  <a:txBody>
                    <a:bodyPr/>
                    <a:lstStyle/>
                    <a:p>
                      <a:pPr algn="ctr"/>
                      <a:r>
                        <a:rPr lang="en-US" sz="3600" dirty="0"/>
                        <a:t>4</a:t>
                      </a:r>
                    </a:p>
                  </a:txBody>
                  <a:tcPr/>
                </a:tc>
                <a:tc>
                  <a:txBody>
                    <a:bodyPr/>
                    <a:lstStyle/>
                    <a:p>
                      <a:pPr algn="ctr"/>
                      <a:r>
                        <a:rPr lang="en-US" sz="3600" dirty="0"/>
                        <a:t>20</a:t>
                      </a:r>
                    </a:p>
                  </a:txBody>
                  <a:tcPr/>
                </a:tc>
                <a:extLst>
                  <a:ext uri="{0D108BD9-81ED-4DB2-BD59-A6C34878D82A}">
                    <a16:rowId xmlns:a16="http://schemas.microsoft.com/office/drawing/2014/main" val="1217031025"/>
                  </a:ext>
                </a:extLst>
              </a:tr>
              <a:tr h="370840">
                <a:tc>
                  <a:txBody>
                    <a:bodyPr/>
                    <a:lstStyle/>
                    <a:p>
                      <a:pPr algn="ctr"/>
                      <a:r>
                        <a:rPr lang="en-US" sz="3600" dirty="0"/>
                        <a:t>5</a:t>
                      </a:r>
                    </a:p>
                  </a:txBody>
                  <a:tcPr/>
                </a:tc>
                <a:tc>
                  <a:txBody>
                    <a:bodyPr/>
                    <a:lstStyle/>
                    <a:p>
                      <a:pPr algn="ctr"/>
                      <a:r>
                        <a:rPr lang="en-US" sz="3600" dirty="0"/>
                        <a:t>35</a:t>
                      </a:r>
                    </a:p>
                  </a:txBody>
                  <a:tcPr/>
                </a:tc>
                <a:extLst>
                  <a:ext uri="{0D108BD9-81ED-4DB2-BD59-A6C34878D82A}">
                    <a16:rowId xmlns:a16="http://schemas.microsoft.com/office/drawing/2014/main" val="1917570298"/>
                  </a:ext>
                </a:extLst>
              </a:tr>
            </a:tbl>
          </a:graphicData>
        </a:graphic>
      </p:graphicFrame>
      <p:pic>
        <p:nvPicPr>
          <p:cNvPr id="7" name="Picture 6">
            <a:extLst>
              <a:ext uri="{FF2B5EF4-FFF2-40B4-BE49-F238E27FC236}">
                <a16:creationId xmlns:a16="http://schemas.microsoft.com/office/drawing/2014/main" id="{83E76302-4B1B-4261-87CB-62F29187C46A}"/>
              </a:ext>
            </a:extLst>
          </p:cNvPr>
          <p:cNvPicPr>
            <a:picLocks noChangeAspect="1"/>
          </p:cNvPicPr>
          <p:nvPr/>
        </p:nvPicPr>
        <p:blipFill>
          <a:blip r:embed="rId2"/>
          <a:stretch>
            <a:fillRect/>
          </a:stretch>
        </p:blipFill>
        <p:spPr>
          <a:xfrm>
            <a:off x="8491781" y="2904408"/>
            <a:ext cx="3171825" cy="307657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4C9B70-5055-42F9-944E-0AFC75D0EE27}"/>
                  </a:ext>
                </a:extLst>
              </p:cNvPr>
              <p:cNvSpPr txBox="1"/>
              <p:nvPr/>
            </p:nvSpPr>
            <p:spPr>
              <a:xfrm>
                <a:off x="4037428" y="2363372"/>
                <a:ext cx="3713870" cy="3124894"/>
              </a:xfrm>
              <a:prstGeom prst="rect">
                <a:avLst/>
              </a:prstGeom>
              <a:noFill/>
            </p:spPr>
            <p:txBody>
              <a:bodyPr wrap="square" rtlCol="0">
                <a:spAutoFit/>
              </a:bodyPr>
              <a:lstStyle/>
              <a:p>
                <a:r>
                  <a:rPr lang="en-US" sz="2400" dirty="0"/>
                  <a:t>Distances have been calculated using Euclidean Distance.</a:t>
                </a:r>
              </a:p>
              <a:p>
                <a:endParaRPr lang="en-US" sz="2400" dirty="0"/>
              </a:p>
              <a:p>
                <a:r>
                  <a:rPr lang="en-US" sz="2400" dirty="0"/>
                  <a:t>For example: distance between 1 and 2</a:t>
                </a:r>
              </a:p>
              <a:p>
                <a:endParaRPr lang="en-US" sz="2400" dirty="0"/>
              </a:p>
              <a:p>
                <a:pPr/>
                <a14:m>
                  <m:oMathPara xmlns:m="http://schemas.openxmlformats.org/officeDocument/2006/math">
                    <m:oMathParaPr>
                      <m:jc m:val="left"/>
                    </m:oMathParaPr>
                    <m:oMath xmlns:m="http://schemas.openxmlformats.org/officeDocument/2006/math">
                      <m:rad>
                        <m:radPr>
                          <m:degHide m:val="on"/>
                          <m:ctrlPr>
                            <a:rPr lang="en-US" sz="2400" i="1" smtClean="0">
                              <a:latin typeface="Cambria Math" panose="02040503050406030204" pitchFamily="18" charset="0"/>
                            </a:rPr>
                          </m:ctrlPr>
                        </m:radPr>
                        <m:deg/>
                        <m:e>
                          <m:sSup>
                            <m:sSupPr>
                              <m:ctrlPr>
                                <a:rPr lang="en-US" sz="2400" i="1" smtClean="0">
                                  <a:latin typeface="Cambria Math" panose="02040503050406030204" pitchFamily="18" charset="0"/>
                                </a:rPr>
                              </m:ctrlPr>
                            </m:sSupPr>
                            <m:e>
                              <m:d>
                                <m:dPr>
                                  <m:ctrlPr>
                                    <a:rPr lang="en-US" sz="2400" i="1" smtClean="0">
                                      <a:latin typeface="Cambria Math" panose="02040503050406030204" pitchFamily="18" charset="0"/>
                                    </a:rPr>
                                  </m:ctrlPr>
                                </m:dPr>
                                <m:e>
                                  <m:r>
                                    <a:rPr lang="en-US" sz="2400" b="0" i="1" smtClean="0">
                                      <a:latin typeface="Cambria Math" panose="02040503050406030204" pitchFamily="18" charset="0"/>
                                    </a:rPr>
                                    <m:t>10−7</m:t>
                                  </m:r>
                                </m:e>
                              </m:d>
                            </m:e>
                            <m:sup>
                              <m:r>
                                <a:rPr lang="en-US" sz="2400" b="0" i="1" smtClean="0">
                                  <a:latin typeface="Cambria Math" panose="02040503050406030204" pitchFamily="18" charset="0"/>
                                </a:rPr>
                                <m:t>2</m:t>
                              </m:r>
                            </m:sup>
                          </m:sSup>
                        </m:e>
                      </m:ra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9</m:t>
                          </m:r>
                        </m:e>
                      </m:rad>
                      <m:r>
                        <a:rPr lang="en-US" sz="2400" b="0" i="1" smtClean="0">
                          <a:latin typeface="Cambria Math" panose="02040503050406030204" pitchFamily="18" charset="0"/>
                        </a:rPr>
                        <m:t>=3</m:t>
                      </m:r>
                    </m:oMath>
                  </m:oMathPara>
                </a14:m>
                <a:endParaRPr lang="en-US" sz="2400" dirty="0"/>
              </a:p>
            </p:txBody>
          </p:sp>
        </mc:Choice>
        <mc:Fallback xmlns="">
          <p:sp>
            <p:nvSpPr>
              <p:cNvPr id="8" name="TextBox 7">
                <a:extLst>
                  <a:ext uri="{FF2B5EF4-FFF2-40B4-BE49-F238E27FC236}">
                    <a16:creationId xmlns:a16="http://schemas.microsoft.com/office/drawing/2014/main" id="{5E4C9B70-5055-42F9-944E-0AFC75D0EE27}"/>
                  </a:ext>
                </a:extLst>
              </p:cNvPr>
              <p:cNvSpPr txBox="1">
                <a:spLocks noRot="1" noChangeAspect="1" noMove="1" noResize="1" noEditPoints="1" noAdjustHandles="1" noChangeArrowheads="1" noChangeShapeType="1" noTextEdit="1"/>
              </p:cNvSpPr>
              <p:nvPr/>
            </p:nvSpPr>
            <p:spPr>
              <a:xfrm>
                <a:off x="4037428" y="2363372"/>
                <a:ext cx="3713870" cy="3124894"/>
              </a:xfrm>
              <a:prstGeom prst="rect">
                <a:avLst/>
              </a:prstGeom>
              <a:blipFill>
                <a:blip r:embed="rId5"/>
                <a:stretch>
                  <a:fillRect l="-2459" t="-1563"/>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F5157749-B7C8-4E1F-AACB-53ABDC114B35}"/>
              </a:ext>
            </a:extLst>
          </p:cNvPr>
          <p:cNvSpPr>
            <a:spLocks noGrp="1"/>
          </p:cNvSpPr>
          <p:nvPr>
            <p:ph type="sldNum" sz="quarter" idx="12"/>
          </p:nvPr>
        </p:nvSpPr>
        <p:spPr/>
        <p:txBody>
          <a:bodyPr/>
          <a:lstStyle/>
          <a:p>
            <a:fld id="{4CC025FC-8595-493D-A46F-2FDFDC85D9BC}" type="slidenum">
              <a:rPr lang="en-US" smtClean="0"/>
              <a:t>49</a:t>
            </a:fld>
            <a:endParaRPr lang="en-US"/>
          </a:p>
        </p:txBody>
      </p:sp>
    </p:spTree>
    <p:extLst>
      <p:ext uri="{BB962C8B-B14F-4D97-AF65-F5344CB8AC3E}">
        <p14:creationId xmlns:p14="http://schemas.microsoft.com/office/powerpoint/2010/main" val="1744338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Step 1</a:t>
            </a:r>
          </a:p>
        </p:txBody>
      </p:sp>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a:xfrm>
            <a:off x="401782" y="1343891"/>
            <a:ext cx="6941553" cy="2085109"/>
          </a:xfrm>
        </p:spPr>
        <p:txBody>
          <a:bodyPr>
            <a:normAutofit/>
          </a:bodyPr>
          <a:lstStyle/>
          <a:p>
            <a:r>
              <a:rPr lang="en-US" sz="3600" dirty="0"/>
              <a:t>Assign all the points to an individual cluster.</a:t>
            </a:r>
          </a:p>
        </p:txBody>
      </p:sp>
      <p:pic>
        <p:nvPicPr>
          <p:cNvPr id="6" name="Picture 5">
            <a:extLst>
              <a:ext uri="{FF2B5EF4-FFF2-40B4-BE49-F238E27FC236}">
                <a16:creationId xmlns:a16="http://schemas.microsoft.com/office/drawing/2014/main" id="{6AB9C46A-8429-4F2A-8515-8D37B8CCCF51}"/>
              </a:ext>
            </a:extLst>
          </p:cNvPr>
          <p:cNvPicPr>
            <a:picLocks noChangeAspect="1"/>
          </p:cNvPicPr>
          <p:nvPr/>
        </p:nvPicPr>
        <p:blipFill>
          <a:blip r:embed="rId2"/>
          <a:stretch>
            <a:fillRect/>
          </a:stretch>
        </p:blipFill>
        <p:spPr>
          <a:xfrm>
            <a:off x="683135" y="3173509"/>
            <a:ext cx="5687928" cy="869756"/>
          </a:xfrm>
          <a:prstGeom prst="rect">
            <a:avLst/>
          </a:prstGeom>
        </p:spPr>
      </p:pic>
      <p:pic>
        <p:nvPicPr>
          <p:cNvPr id="9" name="Picture 8">
            <a:extLst>
              <a:ext uri="{FF2B5EF4-FFF2-40B4-BE49-F238E27FC236}">
                <a16:creationId xmlns:a16="http://schemas.microsoft.com/office/drawing/2014/main" id="{B44763C3-6498-4874-A2AF-9ACBC883D9D5}"/>
              </a:ext>
            </a:extLst>
          </p:cNvPr>
          <p:cNvPicPr>
            <a:picLocks noChangeAspect="1"/>
          </p:cNvPicPr>
          <p:nvPr/>
        </p:nvPicPr>
        <p:blipFill>
          <a:blip r:embed="rId3"/>
          <a:stretch>
            <a:fillRect/>
          </a:stretch>
        </p:blipFill>
        <p:spPr>
          <a:xfrm>
            <a:off x="8491781" y="2904408"/>
            <a:ext cx="3171825" cy="3076575"/>
          </a:xfrm>
          <a:prstGeom prst="rect">
            <a:avLst/>
          </a:prstGeom>
        </p:spPr>
      </p:pic>
      <p:sp>
        <p:nvSpPr>
          <p:cNvPr id="7" name="Slide Number Placeholder 6">
            <a:extLst>
              <a:ext uri="{FF2B5EF4-FFF2-40B4-BE49-F238E27FC236}">
                <a16:creationId xmlns:a16="http://schemas.microsoft.com/office/drawing/2014/main" id="{996FB967-AC79-4FA7-BD44-0487C002A16A}"/>
              </a:ext>
            </a:extLst>
          </p:cNvPr>
          <p:cNvSpPr>
            <a:spLocks noGrp="1"/>
          </p:cNvSpPr>
          <p:nvPr>
            <p:ph type="sldNum" sz="quarter" idx="12"/>
          </p:nvPr>
        </p:nvSpPr>
        <p:spPr/>
        <p:txBody>
          <a:bodyPr/>
          <a:lstStyle/>
          <a:p>
            <a:fld id="{4CC025FC-8595-493D-A46F-2FDFDC85D9BC}" type="slidenum">
              <a:rPr lang="en-US" smtClean="0"/>
              <a:t>50</a:t>
            </a:fld>
            <a:endParaRPr lang="en-US"/>
          </a:p>
        </p:txBody>
      </p:sp>
    </p:spTree>
    <p:extLst>
      <p:ext uri="{BB962C8B-B14F-4D97-AF65-F5344CB8AC3E}">
        <p14:creationId xmlns:p14="http://schemas.microsoft.com/office/powerpoint/2010/main" val="38470967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Step 2</a:t>
            </a:r>
          </a:p>
        </p:txBody>
      </p:sp>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a:xfrm>
            <a:off x="401781" y="1343891"/>
            <a:ext cx="11107083" cy="2085109"/>
          </a:xfrm>
        </p:spPr>
        <p:txBody>
          <a:bodyPr>
            <a:normAutofit/>
          </a:bodyPr>
          <a:lstStyle/>
          <a:p>
            <a:r>
              <a:rPr lang="en-US" sz="3600" dirty="0"/>
              <a:t>Find smallest distance in the proximity matrix and merge the points with the smallest distance:</a:t>
            </a:r>
          </a:p>
        </p:txBody>
      </p:sp>
      <p:pic>
        <p:nvPicPr>
          <p:cNvPr id="5" name="Picture 4">
            <a:extLst>
              <a:ext uri="{FF2B5EF4-FFF2-40B4-BE49-F238E27FC236}">
                <a16:creationId xmlns:a16="http://schemas.microsoft.com/office/drawing/2014/main" id="{0995F38A-C35C-4DFA-8EC0-6BE3BD66911F}"/>
              </a:ext>
            </a:extLst>
          </p:cNvPr>
          <p:cNvPicPr>
            <a:picLocks noChangeAspect="1"/>
          </p:cNvPicPr>
          <p:nvPr/>
        </p:nvPicPr>
        <p:blipFill>
          <a:blip r:embed="rId2"/>
          <a:stretch>
            <a:fillRect/>
          </a:stretch>
        </p:blipFill>
        <p:spPr>
          <a:xfrm>
            <a:off x="683135" y="3173509"/>
            <a:ext cx="5687928" cy="2126070"/>
          </a:xfrm>
          <a:prstGeom prst="rect">
            <a:avLst/>
          </a:prstGeom>
        </p:spPr>
      </p:pic>
      <p:pic>
        <p:nvPicPr>
          <p:cNvPr id="4" name="Picture 3">
            <a:extLst>
              <a:ext uri="{FF2B5EF4-FFF2-40B4-BE49-F238E27FC236}">
                <a16:creationId xmlns:a16="http://schemas.microsoft.com/office/drawing/2014/main" id="{C37B3B94-972D-4686-8B1A-426D11745EB7}"/>
              </a:ext>
            </a:extLst>
          </p:cNvPr>
          <p:cNvPicPr>
            <a:picLocks noChangeAspect="1"/>
          </p:cNvPicPr>
          <p:nvPr/>
        </p:nvPicPr>
        <p:blipFill>
          <a:blip r:embed="rId3"/>
          <a:stretch>
            <a:fillRect/>
          </a:stretch>
        </p:blipFill>
        <p:spPr>
          <a:xfrm>
            <a:off x="8491781" y="2904407"/>
            <a:ext cx="3171824" cy="3242835"/>
          </a:xfrm>
          <a:prstGeom prst="rect">
            <a:avLst/>
          </a:prstGeom>
        </p:spPr>
      </p:pic>
      <p:sp>
        <p:nvSpPr>
          <p:cNvPr id="8" name="Slide Number Placeholder 7">
            <a:extLst>
              <a:ext uri="{FF2B5EF4-FFF2-40B4-BE49-F238E27FC236}">
                <a16:creationId xmlns:a16="http://schemas.microsoft.com/office/drawing/2014/main" id="{688E7117-07A5-406E-A0FE-17AD65A55869}"/>
              </a:ext>
            </a:extLst>
          </p:cNvPr>
          <p:cNvSpPr>
            <a:spLocks noGrp="1"/>
          </p:cNvSpPr>
          <p:nvPr>
            <p:ph type="sldNum" sz="quarter" idx="12"/>
          </p:nvPr>
        </p:nvSpPr>
        <p:spPr/>
        <p:txBody>
          <a:bodyPr/>
          <a:lstStyle/>
          <a:p>
            <a:fld id="{4CC025FC-8595-493D-A46F-2FDFDC85D9BC}" type="slidenum">
              <a:rPr lang="en-US" smtClean="0"/>
              <a:t>51</a:t>
            </a:fld>
            <a:endParaRPr lang="en-US"/>
          </a:p>
        </p:txBody>
      </p:sp>
    </p:spTree>
    <p:extLst>
      <p:ext uri="{BB962C8B-B14F-4D97-AF65-F5344CB8AC3E}">
        <p14:creationId xmlns:p14="http://schemas.microsoft.com/office/powerpoint/2010/main" val="418197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Step 2</a:t>
            </a:r>
          </a:p>
        </p:txBody>
      </p:sp>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a:xfrm>
            <a:off x="401781" y="1343891"/>
            <a:ext cx="11107083" cy="2085109"/>
          </a:xfrm>
        </p:spPr>
        <p:txBody>
          <a:bodyPr>
            <a:normAutofit/>
          </a:bodyPr>
          <a:lstStyle/>
          <a:p>
            <a:r>
              <a:rPr lang="en-US" sz="3600" dirty="0"/>
              <a:t>Update the tables</a:t>
            </a:r>
          </a:p>
        </p:txBody>
      </p:sp>
      <p:pic>
        <p:nvPicPr>
          <p:cNvPr id="5" name="Picture 4">
            <a:extLst>
              <a:ext uri="{FF2B5EF4-FFF2-40B4-BE49-F238E27FC236}">
                <a16:creationId xmlns:a16="http://schemas.microsoft.com/office/drawing/2014/main" id="{0995F38A-C35C-4DFA-8EC0-6BE3BD66911F}"/>
              </a:ext>
            </a:extLst>
          </p:cNvPr>
          <p:cNvPicPr>
            <a:picLocks noChangeAspect="1"/>
          </p:cNvPicPr>
          <p:nvPr/>
        </p:nvPicPr>
        <p:blipFill>
          <a:blip r:embed="rId2"/>
          <a:stretch>
            <a:fillRect/>
          </a:stretch>
        </p:blipFill>
        <p:spPr>
          <a:xfrm>
            <a:off x="683135" y="3173509"/>
            <a:ext cx="5687928" cy="2126070"/>
          </a:xfrm>
          <a:prstGeom prst="rect">
            <a:avLst/>
          </a:prstGeom>
        </p:spPr>
      </p:pic>
      <p:pic>
        <p:nvPicPr>
          <p:cNvPr id="4" name="Picture 3">
            <a:extLst>
              <a:ext uri="{FF2B5EF4-FFF2-40B4-BE49-F238E27FC236}">
                <a16:creationId xmlns:a16="http://schemas.microsoft.com/office/drawing/2014/main" id="{C37B3B94-972D-4686-8B1A-426D11745EB7}"/>
              </a:ext>
            </a:extLst>
          </p:cNvPr>
          <p:cNvPicPr>
            <a:picLocks noChangeAspect="1"/>
          </p:cNvPicPr>
          <p:nvPr/>
        </p:nvPicPr>
        <p:blipFill>
          <a:blip r:embed="rId3"/>
          <a:stretch>
            <a:fillRect/>
          </a:stretch>
        </p:blipFill>
        <p:spPr>
          <a:xfrm>
            <a:off x="9827795" y="1552091"/>
            <a:ext cx="1835809" cy="1876909"/>
          </a:xfrm>
          <a:prstGeom prst="rect">
            <a:avLst/>
          </a:prstGeom>
        </p:spPr>
      </p:pic>
      <p:pic>
        <p:nvPicPr>
          <p:cNvPr id="6" name="Picture 5">
            <a:extLst>
              <a:ext uri="{FF2B5EF4-FFF2-40B4-BE49-F238E27FC236}">
                <a16:creationId xmlns:a16="http://schemas.microsoft.com/office/drawing/2014/main" id="{287E677F-AA50-4EC3-AD9B-2A1FC4AA8F34}"/>
              </a:ext>
            </a:extLst>
          </p:cNvPr>
          <p:cNvPicPr>
            <a:picLocks noChangeAspect="1"/>
          </p:cNvPicPr>
          <p:nvPr/>
        </p:nvPicPr>
        <p:blipFill>
          <a:blip r:embed="rId4"/>
          <a:stretch>
            <a:fillRect/>
          </a:stretch>
        </p:blipFill>
        <p:spPr>
          <a:xfrm>
            <a:off x="8473948" y="3722013"/>
            <a:ext cx="3189657" cy="2240255"/>
          </a:xfrm>
          <a:prstGeom prst="rect">
            <a:avLst/>
          </a:prstGeom>
        </p:spPr>
      </p:pic>
      <p:graphicFrame>
        <p:nvGraphicFramePr>
          <p:cNvPr id="8" name="Table 4">
            <a:extLst>
              <a:ext uri="{FF2B5EF4-FFF2-40B4-BE49-F238E27FC236}">
                <a16:creationId xmlns:a16="http://schemas.microsoft.com/office/drawing/2014/main" id="{8B30A9CC-60FF-4562-947B-906C34A78C88}"/>
              </a:ext>
            </a:extLst>
          </p:cNvPr>
          <p:cNvGraphicFramePr>
            <a:graphicFrameLocks noGrp="1"/>
          </p:cNvGraphicFramePr>
          <p:nvPr/>
        </p:nvGraphicFramePr>
        <p:xfrm>
          <a:off x="6761976" y="1552091"/>
          <a:ext cx="1482763" cy="2225040"/>
        </p:xfrm>
        <a:graphic>
          <a:graphicData uri="http://schemas.openxmlformats.org/drawingml/2006/table">
            <a:tbl>
              <a:tblPr firstRow="1" bandRow="1">
                <a:tableStyleId>{5C22544A-7EE6-4342-B048-85BDC9FD1C3A}</a:tableStyleId>
              </a:tblPr>
              <a:tblGrid>
                <a:gridCol w="655675">
                  <a:extLst>
                    <a:ext uri="{9D8B030D-6E8A-4147-A177-3AD203B41FA5}">
                      <a16:colId xmlns:a16="http://schemas.microsoft.com/office/drawing/2014/main" val="1805294303"/>
                    </a:ext>
                  </a:extLst>
                </a:gridCol>
                <a:gridCol w="827088">
                  <a:extLst>
                    <a:ext uri="{9D8B030D-6E8A-4147-A177-3AD203B41FA5}">
                      <a16:colId xmlns:a16="http://schemas.microsoft.com/office/drawing/2014/main" val="3647138510"/>
                    </a:ext>
                  </a:extLst>
                </a:gridCol>
              </a:tblGrid>
              <a:tr h="370840">
                <a:tc>
                  <a:txBody>
                    <a:bodyPr/>
                    <a:lstStyle/>
                    <a:p>
                      <a:pPr algn="ctr"/>
                      <a:r>
                        <a:rPr lang="en-US" sz="1800" dirty="0"/>
                        <a:t>Reg#</a:t>
                      </a:r>
                    </a:p>
                  </a:txBody>
                  <a:tcPr/>
                </a:tc>
                <a:tc>
                  <a:txBody>
                    <a:bodyPr/>
                    <a:lstStyle/>
                    <a:p>
                      <a:pPr algn="ctr"/>
                      <a:r>
                        <a:rPr lang="en-US" sz="1800" dirty="0"/>
                        <a:t>Marks</a:t>
                      </a:r>
                    </a:p>
                  </a:txBody>
                  <a:tcPr/>
                </a:tc>
                <a:extLst>
                  <a:ext uri="{0D108BD9-81ED-4DB2-BD59-A6C34878D82A}">
                    <a16:rowId xmlns:a16="http://schemas.microsoft.com/office/drawing/2014/main" val="3979186866"/>
                  </a:ext>
                </a:extLst>
              </a:tr>
              <a:tr h="370840">
                <a:tc>
                  <a:txBody>
                    <a:bodyPr/>
                    <a:lstStyle/>
                    <a:p>
                      <a:pPr algn="ctr"/>
                      <a:r>
                        <a:rPr lang="en-US" sz="1800" dirty="0"/>
                        <a:t>1</a:t>
                      </a:r>
                    </a:p>
                  </a:txBody>
                  <a:tcPr/>
                </a:tc>
                <a:tc>
                  <a:txBody>
                    <a:bodyPr/>
                    <a:lstStyle/>
                    <a:p>
                      <a:pPr algn="ctr"/>
                      <a:r>
                        <a:rPr lang="en-US" sz="1800" dirty="0"/>
                        <a:t>10</a:t>
                      </a:r>
                    </a:p>
                  </a:txBody>
                  <a:tcPr/>
                </a:tc>
                <a:extLst>
                  <a:ext uri="{0D108BD9-81ED-4DB2-BD59-A6C34878D82A}">
                    <a16:rowId xmlns:a16="http://schemas.microsoft.com/office/drawing/2014/main" val="3215972794"/>
                  </a:ext>
                </a:extLst>
              </a:tr>
              <a:tr h="370840">
                <a:tc>
                  <a:txBody>
                    <a:bodyPr/>
                    <a:lstStyle/>
                    <a:p>
                      <a:pPr algn="ctr"/>
                      <a:r>
                        <a:rPr lang="en-US" sz="1800" dirty="0"/>
                        <a:t>2</a:t>
                      </a:r>
                    </a:p>
                  </a:txBody>
                  <a:tcPr/>
                </a:tc>
                <a:tc>
                  <a:txBody>
                    <a:bodyPr/>
                    <a:lstStyle/>
                    <a:p>
                      <a:pPr algn="ctr"/>
                      <a:r>
                        <a:rPr lang="en-US" sz="1800" dirty="0"/>
                        <a:t>7</a:t>
                      </a:r>
                    </a:p>
                  </a:txBody>
                  <a:tcPr/>
                </a:tc>
                <a:extLst>
                  <a:ext uri="{0D108BD9-81ED-4DB2-BD59-A6C34878D82A}">
                    <a16:rowId xmlns:a16="http://schemas.microsoft.com/office/drawing/2014/main" val="1164287607"/>
                  </a:ext>
                </a:extLst>
              </a:tr>
              <a:tr h="370840">
                <a:tc>
                  <a:txBody>
                    <a:bodyPr/>
                    <a:lstStyle/>
                    <a:p>
                      <a:pPr algn="ctr"/>
                      <a:r>
                        <a:rPr lang="en-US" sz="1800" dirty="0"/>
                        <a:t>3</a:t>
                      </a:r>
                    </a:p>
                  </a:txBody>
                  <a:tcPr/>
                </a:tc>
                <a:tc>
                  <a:txBody>
                    <a:bodyPr/>
                    <a:lstStyle/>
                    <a:p>
                      <a:pPr algn="ctr"/>
                      <a:r>
                        <a:rPr lang="en-US" sz="1800" dirty="0"/>
                        <a:t>28</a:t>
                      </a:r>
                    </a:p>
                  </a:txBody>
                  <a:tcPr/>
                </a:tc>
                <a:extLst>
                  <a:ext uri="{0D108BD9-81ED-4DB2-BD59-A6C34878D82A}">
                    <a16:rowId xmlns:a16="http://schemas.microsoft.com/office/drawing/2014/main" val="1107901026"/>
                  </a:ext>
                </a:extLst>
              </a:tr>
              <a:tr h="370840">
                <a:tc>
                  <a:txBody>
                    <a:bodyPr/>
                    <a:lstStyle/>
                    <a:p>
                      <a:pPr algn="ctr"/>
                      <a:r>
                        <a:rPr lang="en-US" sz="1800" dirty="0"/>
                        <a:t>4</a:t>
                      </a:r>
                    </a:p>
                  </a:txBody>
                  <a:tcPr/>
                </a:tc>
                <a:tc>
                  <a:txBody>
                    <a:bodyPr/>
                    <a:lstStyle/>
                    <a:p>
                      <a:pPr algn="ctr"/>
                      <a:r>
                        <a:rPr lang="en-US" sz="1800" dirty="0"/>
                        <a:t>20</a:t>
                      </a:r>
                    </a:p>
                  </a:txBody>
                  <a:tcPr/>
                </a:tc>
                <a:extLst>
                  <a:ext uri="{0D108BD9-81ED-4DB2-BD59-A6C34878D82A}">
                    <a16:rowId xmlns:a16="http://schemas.microsoft.com/office/drawing/2014/main" val="1217031025"/>
                  </a:ext>
                </a:extLst>
              </a:tr>
              <a:tr h="370840">
                <a:tc>
                  <a:txBody>
                    <a:bodyPr/>
                    <a:lstStyle/>
                    <a:p>
                      <a:pPr algn="ctr"/>
                      <a:r>
                        <a:rPr lang="en-US" sz="1800" dirty="0"/>
                        <a:t>5</a:t>
                      </a:r>
                    </a:p>
                  </a:txBody>
                  <a:tcPr/>
                </a:tc>
                <a:tc>
                  <a:txBody>
                    <a:bodyPr/>
                    <a:lstStyle/>
                    <a:p>
                      <a:pPr algn="ctr"/>
                      <a:r>
                        <a:rPr lang="en-US" sz="1800" dirty="0"/>
                        <a:t>35</a:t>
                      </a:r>
                    </a:p>
                  </a:txBody>
                  <a:tcPr/>
                </a:tc>
                <a:extLst>
                  <a:ext uri="{0D108BD9-81ED-4DB2-BD59-A6C34878D82A}">
                    <a16:rowId xmlns:a16="http://schemas.microsoft.com/office/drawing/2014/main" val="1917570298"/>
                  </a:ext>
                </a:extLst>
              </a:tr>
            </a:tbl>
          </a:graphicData>
        </a:graphic>
      </p:graphicFrame>
      <p:graphicFrame>
        <p:nvGraphicFramePr>
          <p:cNvPr id="9" name="Table 4">
            <a:extLst>
              <a:ext uri="{FF2B5EF4-FFF2-40B4-BE49-F238E27FC236}">
                <a16:creationId xmlns:a16="http://schemas.microsoft.com/office/drawing/2014/main" id="{3E98BF7B-26D5-44E8-B116-808C065026AB}"/>
              </a:ext>
            </a:extLst>
          </p:cNvPr>
          <p:cNvGraphicFramePr>
            <a:graphicFrameLocks noGrp="1"/>
          </p:cNvGraphicFramePr>
          <p:nvPr/>
        </p:nvGraphicFramePr>
        <p:xfrm>
          <a:off x="6761975" y="4108068"/>
          <a:ext cx="1482763" cy="1854200"/>
        </p:xfrm>
        <a:graphic>
          <a:graphicData uri="http://schemas.openxmlformats.org/drawingml/2006/table">
            <a:tbl>
              <a:tblPr firstRow="1" bandRow="1">
                <a:tableStyleId>{5C22544A-7EE6-4342-B048-85BDC9FD1C3A}</a:tableStyleId>
              </a:tblPr>
              <a:tblGrid>
                <a:gridCol w="655675">
                  <a:extLst>
                    <a:ext uri="{9D8B030D-6E8A-4147-A177-3AD203B41FA5}">
                      <a16:colId xmlns:a16="http://schemas.microsoft.com/office/drawing/2014/main" val="1805294303"/>
                    </a:ext>
                  </a:extLst>
                </a:gridCol>
                <a:gridCol w="827088">
                  <a:extLst>
                    <a:ext uri="{9D8B030D-6E8A-4147-A177-3AD203B41FA5}">
                      <a16:colId xmlns:a16="http://schemas.microsoft.com/office/drawing/2014/main" val="3647138510"/>
                    </a:ext>
                  </a:extLst>
                </a:gridCol>
              </a:tblGrid>
              <a:tr h="370840">
                <a:tc>
                  <a:txBody>
                    <a:bodyPr/>
                    <a:lstStyle/>
                    <a:p>
                      <a:pPr algn="ctr"/>
                      <a:r>
                        <a:rPr lang="en-US" sz="1800" dirty="0"/>
                        <a:t>Reg#</a:t>
                      </a:r>
                    </a:p>
                  </a:txBody>
                  <a:tcPr/>
                </a:tc>
                <a:tc>
                  <a:txBody>
                    <a:bodyPr/>
                    <a:lstStyle/>
                    <a:p>
                      <a:pPr algn="ctr"/>
                      <a:r>
                        <a:rPr lang="en-US" sz="1800" dirty="0"/>
                        <a:t>Marks</a:t>
                      </a:r>
                    </a:p>
                  </a:txBody>
                  <a:tcPr/>
                </a:tc>
                <a:extLst>
                  <a:ext uri="{0D108BD9-81ED-4DB2-BD59-A6C34878D82A}">
                    <a16:rowId xmlns:a16="http://schemas.microsoft.com/office/drawing/2014/main" val="3979186866"/>
                  </a:ext>
                </a:extLst>
              </a:tr>
              <a:tr h="370840">
                <a:tc>
                  <a:txBody>
                    <a:bodyPr/>
                    <a:lstStyle/>
                    <a:p>
                      <a:pPr algn="ctr"/>
                      <a:r>
                        <a:rPr lang="en-US" sz="1800" dirty="0"/>
                        <a:t>(1,2)</a:t>
                      </a:r>
                    </a:p>
                  </a:txBody>
                  <a:tcPr/>
                </a:tc>
                <a:tc>
                  <a:txBody>
                    <a:bodyPr/>
                    <a:lstStyle/>
                    <a:p>
                      <a:pPr algn="ctr"/>
                      <a:r>
                        <a:rPr lang="en-US" sz="1800" dirty="0"/>
                        <a:t>10</a:t>
                      </a:r>
                    </a:p>
                  </a:txBody>
                  <a:tcPr/>
                </a:tc>
                <a:extLst>
                  <a:ext uri="{0D108BD9-81ED-4DB2-BD59-A6C34878D82A}">
                    <a16:rowId xmlns:a16="http://schemas.microsoft.com/office/drawing/2014/main" val="3215972794"/>
                  </a:ext>
                </a:extLst>
              </a:tr>
              <a:tr h="370840">
                <a:tc>
                  <a:txBody>
                    <a:bodyPr/>
                    <a:lstStyle/>
                    <a:p>
                      <a:pPr algn="ctr"/>
                      <a:r>
                        <a:rPr lang="en-US" sz="1800" dirty="0"/>
                        <a:t>3</a:t>
                      </a:r>
                    </a:p>
                  </a:txBody>
                  <a:tcPr/>
                </a:tc>
                <a:tc>
                  <a:txBody>
                    <a:bodyPr/>
                    <a:lstStyle/>
                    <a:p>
                      <a:pPr algn="ctr"/>
                      <a:r>
                        <a:rPr lang="en-US" sz="1800" dirty="0"/>
                        <a:t>28</a:t>
                      </a:r>
                    </a:p>
                  </a:txBody>
                  <a:tcPr/>
                </a:tc>
                <a:extLst>
                  <a:ext uri="{0D108BD9-81ED-4DB2-BD59-A6C34878D82A}">
                    <a16:rowId xmlns:a16="http://schemas.microsoft.com/office/drawing/2014/main" val="1107901026"/>
                  </a:ext>
                </a:extLst>
              </a:tr>
              <a:tr h="370840">
                <a:tc>
                  <a:txBody>
                    <a:bodyPr/>
                    <a:lstStyle/>
                    <a:p>
                      <a:pPr algn="ctr"/>
                      <a:r>
                        <a:rPr lang="en-US" sz="1800" dirty="0"/>
                        <a:t>4</a:t>
                      </a:r>
                    </a:p>
                  </a:txBody>
                  <a:tcPr/>
                </a:tc>
                <a:tc>
                  <a:txBody>
                    <a:bodyPr/>
                    <a:lstStyle/>
                    <a:p>
                      <a:pPr algn="ctr"/>
                      <a:r>
                        <a:rPr lang="en-US" sz="1800" dirty="0"/>
                        <a:t>20</a:t>
                      </a:r>
                    </a:p>
                  </a:txBody>
                  <a:tcPr/>
                </a:tc>
                <a:extLst>
                  <a:ext uri="{0D108BD9-81ED-4DB2-BD59-A6C34878D82A}">
                    <a16:rowId xmlns:a16="http://schemas.microsoft.com/office/drawing/2014/main" val="1217031025"/>
                  </a:ext>
                </a:extLst>
              </a:tr>
              <a:tr h="370840">
                <a:tc>
                  <a:txBody>
                    <a:bodyPr/>
                    <a:lstStyle/>
                    <a:p>
                      <a:pPr algn="ctr"/>
                      <a:r>
                        <a:rPr lang="en-US" sz="1800" dirty="0"/>
                        <a:t>5</a:t>
                      </a:r>
                    </a:p>
                  </a:txBody>
                  <a:tcPr/>
                </a:tc>
                <a:tc>
                  <a:txBody>
                    <a:bodyPr/>
                    <a:lstStyle/>
                    <a:p>
                      <a:pPr algn="ctr"/>
                      <a:r>
                        <a:rPr lang="en-US" sz="1800" dirty="0"/>
                        <a:t>35</a:t>
                      </a:r>
                    </a:p>
                  </a:txBody>
                  <a:tcPr/>
                </a:tc>
                <a:extLst>
                  <a:ext uri="{0D108BD9-81ED-4DB2-BD59-A6C34878D82A}">
                    <a16:rowId xmlns:a16="http://schemas.microsoft.com/office/drawing/2014/main" val="1917570298"/>
                  </a:ext>
                </a:extLst>
              </a:tr>
            </a:tbl>
          </a:graphicData>
        </a:graphic>
      </p:graphicFrame>
      <p:sp>
        <p:nvSpPr>
          <p:cNvPr id="11" name="Slide Number Placeholder 10">
            <a:extLst>
              <a:ext uri="{FF2B5EF4-FFF2-40B4-BE49-F238E27FC236}">
                <a16:creationId xmlns:a16="http://schemas.microsoft.com/office/drawing/2014/main" id="{7818FA5F-5642-482C-84E4-41DBF53A7C36}"/>
              </a:ext>
            </a:extLst>
          </p:cNvPr>
          <p:cNvSpPr>
            <a:spLocks noGrp="1"/>
          </p:cNvSpPr>
          <p:nvPr>
            <p:ph type="sldNum" sz="quarter" idx="12"/>
          </p:nvPr>
        </p:nvSpPr>
        <p:spPr/>
        <p:txBody>
          <a:bodyPr/>
          <a:lstStyle/>
          <a:p>
            <a:fld id="{4CC025FC-8595-493D-A46F-2FDFDC85D9BC}" type="slidenum">
              <a:rPr lang="en-US" smtClean="0"/>
              <a:t>52</a:t>
            </a:fld>
            <a:endParaRPr lang="en-US"/>
          </a:p>
        </p:txBody>
      </p:sp>
    </p:spTree>
    <p:extLst>
      <p:ext uri="{BB962C8B-B14F-4D97-AF65-F5344CB8AC3E}">
        <p14:creationId xmlns:p14="http://schemas.microsoft.com/office/powerpoint/2010/main" val="7031913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Step 3</a:t>
            </a:r>
          </a:p>
        </p:txBody>
      </p:sp>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a:xfrm>
            <a:off x="401781" y="1343891"/>
            <a:ext cx="11107083" cy="2085109"/>
          </a:xfrm>
        </p:spPr>
        <p:txBody>
          <a:bodyPr>
            <a:normAutofit/>
          </a:bodyPr>
          <a:lstStyle/>
          <a:p>
            <a:r>
              <a:rPr lang="en-US" sz="3600" dirty="0"/>
              <a:t>Now repeat step 2 until only a single cluster is left.</a:t>
            </a:r>
          </a:p>
        </p:txBody>
      </p:sp>
      <p:pic>
        <p:nvPicPr>
          <p:cNvPr id="6" name="Picture 5">
            <a:extLst>
              <a:ext uri="{FF2B5EF4-FFF2-40B4-BE49-F238E27FC236}">
                <a16:creationId xmlns:a16="http://schemas.microsoft.com/office/drawing/2014/main" id="{287E677F-AA50-4EC3-AD9B-2A1FC4AA8F34}"/>
              </a:ext>
            </a:extLst>
          </p:cNvPr>
          <p:cNvPicPr>
            <a:picLocks noChangeAspect="1"/>
          </p:cNvPicPr>
          <p:nvPr/>
        </p:nvPicPr>
        <p:blipFill>
          <a:blip r:embed="rId2"/>
          <a:stretch>
            <a:fillRect/>
          </a:stretch>
        </p:blipFill>
        <p:spPr>
          <a:xfrm>
            <a:off x="8473948" y="3722013"/>
            <a:ext cx="3189657" cy="2240255"/>
          </a:xfrm>
          <a:prstGeom prst="rect">
            <a:avLst/>
          </a:prstGeom>
        </p:spPr>
      </p:pic>
      <p:pic>
        <p:nvPicPr>
          <p:cNvPr id="7" name="Picture 6">
            <a:extLst>
              <a:ext uri="{FF2B5EF4-FFF2-40B4-BE49-F238E27FC236}">
                <a16:creationId xmlns:a16="http://schemas.microsoft.com/office/drawing/2014/main" id="{EB5D9D41-3D5D-4EC9-A92E-FA5751585F8F}"/>
              </a:ext>
            </a:extLst>
          </p:cNvPr>
          <p:cNvPicPr>
            <a:picLocks noChangeAspect="1"/>
          </p:cNvPicPr>
          <p:nvPr/>
        </p:nvPicPr>
        <p:blipFill>
          <a:blip r:embed="rId3"/>
          <a:stretch>
            <a:fillRect/>
          </a:stretch>
        </p:blipFill>
        <p:spPr>
          <a:xfrm>
            <a:off x="683135" y="2030665"/>
            <a:ext cx="3952875" cy="4667250"/>
          </a:xfrm>
          <a:prstGeom prst="rect">
            <a:avLst/>
          </a:prstGeom>
        </p:spPr>
      </p:pic>
      <p:grpSp>
        <p:nvGrpSpPr>
          <p:cNvPr id="15" name="Group 14">
            <a:extLst>
              <a:ext uri="{FF2B5EF4-FFF2-40B4-BE49-F238E27FC236}">
                <a16:creationId xmlns:a16="http://schemas.microsoft.com/office/drawing/2014/main" id="{754EE957-3999-482B-935F-A72630FC7A5A}"/>
              </a:ext>
            </a:extLst>
          </p:cNvPr>
          <p:cNvGrpSpPr/>
          <p:nvPr/>
        </p:nvGrpSpPr>
        <p:grpSpPr>
          <a:xfrm>
            <a:off x="697203" y="2052845"/>
            <a:ext cx="3904215" cy="313733"/>
            <a:chOff x="697203" y="2052845"/>
            <a:chExt cx="3904215" cy="313733"/>
          </a:xfrm>
        </p:grpSpPr>
        <p:sp>
          <p:nvSpPr>
            <p:cNvPr id="10" name="TextBox 9">
              <a:extLst>
                <a:ext uri="{FF2B5EF4-FFF2-40B4-BE49-F238E27FC236}">
                  <a16:creationId xmlns:a16="http://schemas.microsoft.com/office/drawing/2014/main" id="{645344C4-7F24-46C5-9577-CEBA961507B2}"/>
                </a:ext>
              </a:extLst>
            </p:cNvPr>
            <p:cNvSpPr txBox="1"/>
            <p:nvPr/>
          </p:nvSpPr>
          <p:spPr>
            <a:xfrm>
              <a:off x="697203" y="2058801"/>
              <a:ext cx="371942" cy="307777"/>
            </a:xfrm>
            <a:prstGeom prst="rect">
              <a:avLst/>
            </a:prstGeom>
            <a:noFill/>
          </p:spPr>
          <p:txBody>
            <a:bodyPr wrap="square" rtlCol="0">
              <a:spAutoFit/>
            </a:bodyPr>
            <a:lstStyle/>
            <a:p>
              <a:pPr algn="ctr"/>
              <a:r>
                <a:rPr lang="en-US" sz="1400" dirty="0">
                  <a:solidFill>
                    <a:schemeClr val="bg1"/>
                  </a:solidFill>
                </a:rPr>
                <a:t>10</a:t>
              </a:r>
            </a:p>
          </p:txBody>
        </p:sp>
        <p:sp>
          <p:nvSpPr>
            <p:cNvPr id="11" name="TextBox 10">
              <a:extLst>
                <a:ext uri="{FF2B5EF4-FFF2-40B4-BE49-F238E27FC236}">
                  <a16:creationId xmlns:a16="http://schemas.microsoft.com/office/drawing/2014/main" id="{276F40BA-A4FA-44C2-8A57-FD83F5805CC9}"/>
                </a:ext>
              </a:extLst>
            </p:cNvPr>
            <p:cNvSpPr txBox="1"/>
            <p:nvPr/>
          </p:nvSpPr>
          <p:spPr>
            <a:xfrm>
              <a:off x="1531035" y="2057312"/>
              <a:ext cx="371942" cy="307777"/>
            </a:xfrm>
            <a:prstGeom prst="rect">
              <a:avLst/>
            </a:prstGeom>
            <a:noFill/>
          </p:spPr>
          <p:txBody>
            <a:bodyPr wrap="square" rtlCol="0">
              <a:spAutoFit/>
            </a:bodyPr>
            <a:lstStyle/>
            <a:p>
              <a:pPr algn="ctr"/>
              <a:r>
                <a:rPr lang="en-US" sz="1400" dirty="0">
                  <a:solidFill>
                    <a:schemeClr val="bg1"/>
                  </a:solidFill>
                </a:rPr>
                <a:t>7</a:t>
              </a:r>
            </a:p>
          </p:txBody>
        </p:sp>
        <p:sp>
          <p:nvSpPr>
            <p:cNvPr id="12" name="TextBox 11">
              <a:extLst>
                <a:ext uri="{FF2B5EF4-FFF2-40B4-BE49-F238E27FC236}">
                  <a16:creationId xmlns:a16="http://schemas.microsoft.com/office/drawing/2014/main" id="{A1AA6416-3F72-4627-B0C5-917476779841}"/>
                </a:ext>
              </a:extLst>
            </p:cNvPr>
            <p:cNvSpPr txBox="1"/>
            <p:nvPr/>
          </p:nvSpPr>
          <p:spPr>
            <a:xfrm>
              <a:off x="2463343" y="2055823"/>
              <a:ext cx="371942" cy="307777"/>
            </a:xfrm>
            <a:prstGeom prst="rect">
              <a:avLst/>
            </a:prstGeom>
            <a:noFill/>
          </p:spPr>
          <p:txBody>
            <a:bodyPr wrap="square" rtlCol="0">
              <a:spAutoFit/>
            </a:bodyPr>
            <a:lstStyle/>
            <a:p>
              <a:pPr algn="ctr"/>
              <a:r>
                <a:rPr lang="en-US" sz="1400" dirty="0">
                  <a:solidFill>
                    <a:schemeClr val="bg1"/>
                  </a:solidFill>
                </a:rPr>
                <a:t>28</a:t>
              </a:r>
            </a:p>
          </p:txBody>
        </p:sp>
        <p:sp>
          <p:nvSpPr>
            <p:cNvPr id="13" name="TextBox 12">
              <a:extLst>
                <a:ext uri="{FF2B5EF4-FFF2-40B4-BE49-F238E27FC236}">
                  <a16:creationId xmlns:a16="http://schemas.microsoft.com/office/drawing/2014/main" id="{933788BD-A636-44C4-82F9-230098A59111}"/>
                </a:ext>
              </a:extLst>
            </p:cNvPr>
            <p:cNvSpPr txBox="1"/>
            <p:nvPr/>
          </p:nvSpPr>
          <p:spPr>
            <a:xfrm>
              <a:off x="3367513" y="2054334"/>
              <a:ext cx="371942" cy="307777"/>
            </a:xfrm>
            <a:prstGeom prst="rect">
              <a:avLst/>
            </a:prstGeom>
            <a:noFill/>
          </p:spPr>
          <p:txBody>
            <a:bodyPr wrap="square" rtlCol="0">
              <a:spAutoFit/>
            </a:bodyPr>
            <a:lstStyle/>
            <a:p>
              <a:pPr algn="ctr"/>
              <a:r>
                <a:rPr lang="en-US" sz="1400" dirty="0">
                  <a:solidFill>
                    <a:schemeClr val="bg1"/>
                  </a:solidFill>
                </a:rPr>
                <a:t>20</a:t>
              </a:r>
            </a:p>
          </p:txBody>
        </p:sp>
        <p:sp>
          <p:nvSpPr>
            <p:cNvPr id="14" name="TextBox 13">
              <a:extLst>
                <a:ext uri="{FF2B5EF4-FFF2-40B4-BE49-F238E27FC236}">
                  <a16:creationId xmlns:a16="http://schemas.microsoft.com/office/drawing/2014/main" id="{CBD81448-D47E-4D84-BD28-DA8459395052}"/>
                </a:ext>
              </a:extLst>
            </p:cNvPr>
            <p:cNvSpPr txBox="1"/>
            <p:nvPr/>
          </p:nvSpPr>
          <p:spPr>
            <a:xfrm>
              <a:off x="4229476" y="2052845"/>
              <a:ext cx="371942" cy="307777"/>
            </a:xfrm>
            <a:prstGeom prst="rect">
              <a:avLst/>
            </a:prstGeom>
            <a:noFill/>
          </p:spPr>
          <p:txBody>
            <a:bodyPr wrap="square" rtlCol="0">
              <a:spAutoFit/>
            </a:bodyPr>
            <a:lstStyle/>
            <a:p>
              <a:pPr algn="ctr"/>
              <a:r>
                <a:rPr lang="en-US" sz="1400" dirty="0">
                  <a:solidFill>
                    <a:schemeClr val="bg1"/>
                  </a:solidFill>
                </a:rPr>
                <a:t>35</a:t>
              </a:r>
            </a:p>
          </p:txBody>
        </p:sp>
      </p:grpSp>
      <p:pic>
        <p:nvPicPr>
          <p:cNvPr id="40" name="Picture 39">
            <a:extLst>
              <a:ext uri="{FF2B5EF4-FFF2-40B4-BE49-F238E27FC236}">
                <a16:creationId xmlns:a16="http://schemas.microsoft.com/office/drawing/2014/main" id="{12FD8F3E-3BDA-49A3-8B23-7FF938CF0DEA}"/>
              </a:ext>
            </a:extLst>
          </p:cNvPr>
          <p:cNvPicPr>
            <a:picLocks noChangeAspect="1"/>
          </p:cNvPicPr>
          <p:nvPr/>
        </p:nvPicPr>
        <p:blipFill>
          <a:blip r:embed="rId4"/>
          <a:stretch>
            <a:fillRect/>
          </a:stretch>
        </p:blipFill>
        <p:spPr>
          <a:xfrm>
            <a:off x="4969612" y="2799471"/>
            <a:ext cx="3362097" cy="3162797"/>
          </a:xfrm>
          <a:prstGeom prst="rect">
            <a:avLst/>
          </a:prstGeom>
        </p:spPr>
      </p:pic>
      <p:sp>
        <p:nvSpPr>
          <p:cNvPr id="8" name="Slide Number Placeholder 7">
            <a:extLst>
              <a:ext uri="{FF2B5EF4-FFF2-40B4-BE49-F238E27FC236}">
                <a16:creationId xmlns:a16="http://schemas.microsoft.com/office/drawing/2014/main" id="{185701AE-61AD-4F26-9349-D1A3CAF86841}"/>
              </a:ext>
            </a:extLst>
          </p:cNvPr>
          <p:cNvSpPr>
            <a:spLocks noGrp="1"/>
          </p:cNvSpPr>
          <p:nvPr>
            <p:ph type="sldNum" sz="quarter" idx="12"/>
          </p:nvPr>
        </p:nvSpPr>
        <p:spPr/>
        <p:txBody>
          <a:bodyPr/>
          <a:lstStyle/>
          <a:p>
            <a:fld id="{4CC025FC-8595-493D-A46F-2FDFDC85D9BC}" type="slidenum">
              <a:rPr lang="en-US" smtClean="0"/>
              <a:t>53</a:t>
            </a:fld>
            <a:endParaRPr lang="en-US"/>
          </a:p>
        </p:txBody>
      </p:sp>
    </p:spTree>
    <p:extLst>
      <p:ext uri="{BB962C8B-B14F-4D97-AF65-F5344CB8AC3E}">
        <p14:creationId xmlns:p14="http://schemas.microsoft.com/office/powerpoint/2010/main" val="10436881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CF01-F73B-4030-AD2B-5F4759D6BEE9}"/>
              </a:ext>
            </a:extLst>
          </p:cNvPr>
          <p:cNvSpPr>
            <a:spLocks noGrp="1"/>
          </p:cNvSpPr>
          <p:nvPr>
            <p:ph type="title"/>
          </p:nvPr>
        </p:nvSpPr>
        <p:spPr/>
        <p:txBody>
          <a:bodyPr>
            <a:normAutofit fontScale="90000"/>
          </a:bodyPr>
          <a:lstStyle/>
          <a:p>
            <a:r>
              <a:rPr lang="en-US" dirty="0"/>
              <a:t>Example – How many clusters?</a:t>
            </a:r>
          </a:p>
        </p:txBody>
      </p:sp>
      <p:pic>
        <p:nvPicPr>
          <p:cNvPr id="4" name="Picture 3">
            <a:extLst>
              <a:ext uri="{FF2B5EF4-FFF2-40B4-BE49-F238E27FC236}">
                <a16:creationId xmlns:a16="http://schemas.microsoft.com/office/drawing/2014/main" id="{13E0BE24-3B14-4098-82D1-F34421E03750}"/>
              </a:ext>
            </a:extLst>
          </p:cNvPr>
          <p:cNvPicPr>
            <a:picLocks noChangeAspect="1"/>
          </p:cNvPicPr>
          <p:nvPr/>
        </p:nvPicPr>
        <p:blipFill>
          <a:blip r:embed="rId2"/>
          <a:stretch>
            <a:fillRect/>
          </a:stretch>
        </p:blipFill>
        <p:spPr>
          <a:xfrm>
            <a:off x="8113568" y="1879599"/>
            <a:ext cx="3676650" cy="3457575"/>
          </a:xfrm>
          <a:prstGeom prst="rect">
            <a:avLst/>
          </a:prstGeom>
        </p:spPr>
      </p:pic>
      <p:sp>
        <p:nvSpPr>
          <p:cNvPr id="3" name="Content Placeholder 2">
            <a:extLst>
              <a:ext uri="{FF2B5EF4-FFF2-40B4-BE49-F238E27FC236}">
                <a16:creationId xmlns:a16="http://schemas.microsoft.com/office/drawing/2014/main" id="{B298D84C-EF11-4FEF-B5FE-1097DD1B921B}"/>
              </a:ext>
            </a:extLst>
          </p:cNvPr>
          <p:cNvSpPr>
            <a:spLocks noGrp="1"/>
          </p:cNvSpPr>
          <p:nvPr>
            <p:ph idx="1"/>
          </p:nvPr>
        </p:nvSpPr>
        <p:spPr>
          <a:xfrm>
            <a:off x="401782" y="1343891"/>
            <a:ext cx="7419856" cy="4761487"/>
          </a:xfrm>
        </p:spPr>
        <p:txBody>
          <a:bodyPr>
            <a:normAutofit/>
          </a:bodyPr>
          <a:lstStyle/>
          <a:p>
            <a:r>
              <a:rPr lang="en-US" sz="2800" dirty="0"/>
              <a:t>Now, we can set a threshold distance and draw a horizontal line (Generally, we try to set the threshold in such a way that it cuts the tallest vertical line). Let’s set this threshold as 12 and draw a horizontal line.</a:t>
            </a:r>
          </a:p>
          <a:p>
            <a:r>
              <a:rPr lang="en-US" sz="2800" dirty="0"/>
              <a:t>The number of clusters will be the number of vertical lines which are being intersected by the line drawn using the threshold. Since the red line intersects 2 vertical lines, we will have 2 clusters. One cluster will have a sample (1,2,4) and the other will have a sample (3,5). </a:t>
            </a:r>
          </a:p>
        </p:txBody>
      </p:sp>
      <p:sp>
        <p:nvSpPr>
          <p:cNvPr id="7" name="Slide Number Placeholder 6">
            <a:extLst>
              <a:ext uri="{FF2B5EF4-FFF2-40B4-BE49-F238E27FC236}">
                <a16:creationId xmlns:a16="http://schemas.microsoft.com/office/drawing/2014/main" id="{3467E1CC-B249-41C0-9A48-3BCCD6A852D4}"/>
              </a:ext>
            </a:extLst>
          </p:cNvPr>
          <p:cNvSpPr>
            <a:spLocks noGrp="1"/>
          </p:cNvSpPr>
          <p:nvPr>
            <p:ph type="sldNum" sz="quarter" idx="12"/>
          </p:nvPr>
        </p:nvSpPr>
        <p:spPr/>
        <p:txBody>
          <a:bodyPr/>
          <a:lstStyle/>
          <a:p>
            <a:fld id="{4CC025FC-8595-493D-A46F-2FDFDC85D9BC}" type="slidenum">
              <a:rPr lang="en-US" smtClean="0"/>
              <a:t>54</a:t>
            </a:fld>
            <a:endParaRPr lang="en-US"/>
          </a:p>
        </p:txBody>
      </p:sp>
    </p:spTree>
    <p:extLst>
      <p:ext uri="{BB962C8B-B14F-4D97-AF65-F5344CB8AC3E}">
        <p14:creationId xmlns:p14="http://schemas.microsoft.com/office/powerpoint/2010/main" val="3949799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EAFCD-8BB1-48D0-9807-2DE03E3421B6}"/>
              </a:ext>
            </a:extLst>
          </p:cNvPr>
          <p:cNvSpPr>
            <a:spLocks noGrp="1"/>
          </p:cNvSpPr>
          <p:nvPr>
            <p:ph type="title"/>
          </p:nvPr>
        </p:nvSpPr>
        <p:spPr/>
        <p:txBody>
          <a:bodyPr>
            <a:normAutofit fontScale="90000"/>
          </a:bodyPr>
          <a:lstStyle/>
          <a:p>
            <a:r>
              <a:rPr lang="en-US" dirty="0"/>
              <a:t>Distance Measures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0134CC-D2A6-4F4D-8CEB-5F49DC65719C}"/>
                  </a:ext>
                </a:extLst>
              </p:cNvPr>
              <p:cNvSpPr>
                <a:spLocks noGrp="1"/>
              </p:cNvSpPr>
              <p:nvPr>
                <p:ph idx="1"/>
              </p:nvPr>
            </p:nvSpPr>
            <p:spPr>
              <a:xfrm>
                <a:off x="401782" y="1343891"/>
                <a:ext cx="7110366" cy="4833072"/>
              </a:xfrm>
            </p:spPr>
            <p:txBody>
              <a:bodyPr>
                <a:normAutofit/>
              </a:bodyPr>
              <a:lstStyle/>
              <a:p>
                <a:r>
                  <a:rPr lang="en-US" b="1" i="1" dirty="0">
                    <a:solidFill>
                      <a:srgbClr val="FF0000"/>
                    </a:solidFill>
                  </a:rPr>
                  <a:t>Single link:</a:t>
                </a:r>
                <a:r>
                  <a:rPr lang="en-US" dirty="0"/>
                  <a:t> smallest distance between an element in one cluster and an element in the other, i.e.,</a:t>
                </a:r>
              </a:p>
              <a:p>
                <a:pPr lvl="1"/>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m:rPr>
                        <m:sty m:val="p"/>
                      </m:rPr>
                      <a:rPr lang="en-US" b="0" i="0" smtClean="0">
                        <a:latin typeface="Cambria Math" panose="02040503050406030204" pitchFamily="18" charset="0"/>
                      </a:rPr>
                      <m:t>min</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𝑖</m:t>
                        </m:r>
                        <m:r>
                          <a:rPr lang="en-US" b="0" i="1" smtClean="0">
                            <a:latin typeface="Cambria Math" panose="02040503050406030204" pitchFamily="18" charset="0"/>
                          </a:rPr>
                          <m:t>𝑝</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𝑗𝑞</m:t>
                        </m:r>
                      </m:sub>
                    </m:sSub>
                  </m:oMath>
                </a14:m>
                <a:r>
                  <a:rPr lang="en-US" dirty="0"/>
                  <a:t>)}</a:t>
                </a:r>
              </a:p>
              <a:p>
                <a:r>
                  <a:rPr lang="en-US" b="1" i="1" dirty="0">
                    <a:solidFill>
                      <a:srgbClr val="FF0000"/>
                    </a:solidFill>
                  </a:rPr>
                  <a:t>Complete link: </a:t>
                </a:r>
                <a:r>
                  <a:rPr lang="en-US" dirty="0"/>
                  <a:t>largest distance between an element in one cluster and an element in the other, i.e.,</a:t>
                </a:r>
              </a:p>
              <a:p>
                <a:pPr lvl="1"/>
                <a14:m>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𝑗</m:t>
                            </m:r>
                          </m:sub>
                        </m:sSub>
                      </m:e>
                    </m:d>
                    <m:r>
                      <a:rPr lang="en-US" i="1">
                        <a:latin typeface="Cambria Math" panose="02040503050406030204" pitchFamily="18" charset="0"/>
                      </a:rPr>
                      <m:t>=</m:t>
                    </m:r>
                    <m:r>
                      <m:rPr>
                        <m:sty m:val="p"/>
                      </m:rPr>
                      <a:rPr lang="en-US">
                        <a:latin typeface="Cambria Math" panose="02040503050406030204" pitchFamily="18" charset="0"/>
                      </a:rPr>
                      <m:t>m</m:t>
                    </m:r>
                    <m:r>
                      <m:rPr>
                        <m:sty m:val="p"/>
                      </m:rPr>
                      <a:rPr lang="en-US" b="0" i="0" smtClean="0">
                        <a:latin typeface="Cambria Math" panose="02040503050406030204" pitchFamily="18" charset="0"/>
                      </a:rPr>
                      <m:t>ax</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𝑖𝑝</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𝑗𝑞</m:t>
                        </m:r>
                      </m:sub>
                    </m:sSub>
                  </m:oMath>
                </a14:m>
                <a:r>
                  <a:rPr lang="en-US" dirty="0"/>
                  <a:t>)}</a:t>
                </a:r>
              </a:p>
              <a:p>
                <a:r>
                  <a:rPr lang="en-US" b="1" i="1" dirty="0">
                    <a:solidFill>
                      <a:srgbClr val="FF0000"/>
                    </a:solidFill>
                  </a:rPr>
                  <a:t>Average: </a:t>
                </a:r>
                <a:r>
                  <a:rPr lang="en-US" dirty="0"/>
                  <a:t>avg distance between elements in one cluster and elements in the other, i.e.,</a:t>
                </a:r>
              </a:p>
              <a:p>
                <a:pPr lvl="1"/>
                <a14:m>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𝑗</m:t>
                            </m:r>
                          </m:sub>
                        </m:sSub>
                      </m:e>
                    </m:d>
                    <m:r>
                      <a:rPr lang="en-US" i="1">
                        <a:latin typeface="Cambria Math" panose="02040503050406030204" pitchFamily="18" charset="0"/>
                      </a:rPr>
                      <m:t>=</m:t>
                    </m:r>
                    <m:r>
                      <a:rPr lang="en-US" b="0" i="1" smtClean="0">
                        <a:latin typeface="Cambria Math" panose="02040503050406030204" pitchFamily="18" charset="0"/>
                      </a:rPr>
                      <m:t>𝑎𝑣𝑔</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𝑖𝑝</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panose="02040503050406030204" pitchFamily="18" charset="0"/>
                          </a:rPr>
                          <m:t>𝑗𝑞</m:t>
                        </m:r>
                      </m:sub>
                    </m:sSub>
                  </m:oMath>
                </a14:m>
                <a:r>
                  <a:rPr lang="en-US" dirty="0"/>
                  <a:t>)}</a:t>
                </a:r>
              </a:p>
            </p:txBody>
          </p:sp>
        </mc:Choice>
        <mc:Fallback xmlns="">
          <p:sp>
            <p:nvSpPr>
              <p:cNvPr id="3" name="Content Placeholder 2">
                <a:extLst>
                  <a:ext uri="{FF2B5EF4-FFF2-40B4-BE49-F238E27FC236}">
                    <a16:creationId xmlns:a16="http://schemas.microsoft.com/office/drawing/2014/main" id="{8D0134CC-D2A6-4F4D-8CEB-5F49DC65719C}"/>
                  </a:ext>
                </a:extLst>
              </p:cNvPr>
              <p:cNvSpPr>
                <a:spLocks noGrp="1" noRot="1" noChangeAspect="1" noMove="1" noResize="1" noEditPoints="1" noAdjustHandles="1" noChangeArrowheads="1" noChangeShapeType="1" noTextEdit="1"/>
              </p:cNvSpPr>
              <p:nvPr>
                <p:ph idx="1"/>
              </p:nvPr>
            </p:nvSpPr>
            <p:spPr>
              <a:xfrm>
                <a:off x="401782" y="1343891"/>
                <a:ext cx="7110366" cy="4833072"/>
              </a:xfrm>
              <a:blipFill>
                <a:blip r:embed="rId4"/>
                <a:stretch>
                  <a:fillRect l="-1544" t="-2018" b="-75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1FA1503-FD47-4BE2-B03A-4B19CDDA2499}"/>
              </a:ext>
            </a:extLst>
          </p:cNvPr>
          <p:cNvPicPr>
            <a:picLocks noChangeAspect="1"/>
          </p:cNvPicPr>
          <p:nvPr/>
        </p:nvPicPr>
        <p:blipFill>
          <a:blip r:embed="rId5"/>
          <a:stretch>
            <a:fillRect/>
          </a:stretch>
        </p:blipFill>
        <p:spPr>
          <a:xfrm>
            <a:off x="7688213" y="1343891"/>
            <a:ext cx="3933825" cy="5276850"/>
          </a:xfrm>
          <a:prstGeom prst="rect">
            <a:avLst/>
          </a:prstGeom>
        </p:spPr>
      </p:pic>
      <p:sp>
        <p:nvSpPr>
          <p:cNvPr id="6" name="Slide Number Placeholder 5">
            <a:extLst>
              <a:ext uri="{FF2B5EF4-FFF2-40B4-BE49-F238E27FC236}">
                <a16:creationId xmlns:a16="http://schemas.microsoft.com/office/drawing/2014/main" id="{436E1CF5-921E-4B0C-A67E-401E1BB795C3}"/>
              </a:ext>
            </a:extLst>
          </p:cNvPr>
          <p:cNvSpPr>
            <a:spLocks noGrp="1"/>
          </p:cNvSpPr>
          <p:nvPr>
            <p:ph type="sldNum" sz="quarter" idx="12"/>
          </p:nvPr>
        </p:nvSpPr>
        <p:spPr/>
        <p:txBody>
          <a:bodyPr/>
          <a:lstStyle/>
          <a:p>
            <a:fld id="{4CC025FC-8595-493D-A46F-2FDFDC85D9BC}" type="slidenum">
              <a:rPr lang="en-US" smtClean="0"/>
              <a:t>55</a:t>
            </a:fld>
            <a:endParaRPr lang="en-US"/>
          </a:p>
        </p:txBody>
      </p:sp>
    </p:spTree>
    <p:extLst>
      <p:ext uri="{BB962C8B-B14F-4D97-AF65-F5344CB8AC3E}">
        <p14:creationId xmlns:p14="http://schemas.microsoft.com/office/powerpoint/2010/main" val="15809017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31832-1EDB-4A34-B097-C48F437ABEAE}"/>
              </a:ext>
            </a:extLst>
          </p:cNvPr>
          <p:cNvSpPr>
            <a:spLocks noGrp="1"/>
          </p:cNvSpPr>
          <p:nvPr>
            <p:ph type="title"/>
          </p:nvPr>
        </p:nvSpPr>
        <p:spPr/>
        <p:txBody>
          <a:bodyPr>
            <a:normAutofit fontScale="90000"/>
          </a:bodyPr>
          <a:lstStyle/>
          <a:p>
            <a:r>
              <a:rPr lang="en-US" dirty="0"/>
              <a:t>Summary</a:t>
            </a:r>
          </a:p>
        </p:txBody>
      </p:sp>
      <p:sp>
        <p:nvSpPr>
          <p:cNvPr id="3" name="Content Placeholder 2">
            <a:extLst>
              <a:ext uri="{FF2B5EF4-FFF2-40B4-BE49-F238E27FC236}">
                <a16:creationId xmlns:a16="http://schemas.microsoft.com/office/drawing/2014/main" id="{A2B65DE3-2620-4E5F-BA24-A0DFA15FA9C2}"/>
              </a:ext>
            </a:extLst>
          </p:cNvPr>
          <p:cNvSpPr>
            <a:spLocks noGrp="1"/>
          </p:cNvSpPr>
          <p:nvPr>
            <p:ph idx="1"/>
          </p:nvPr>
        </p:nvSpPr>
        <p:spPr>
          <a:xfrm>
            <a:off x="401782" y="1343891"/>
            <a:ext cx="5548852" cy="4833072"/>
          </a:xfrm>
        </p:spPr>
        <p:txBody>
          <a:bodyPr>
            <a:normAutofit/>
          </a:bodyPr>
          <a:lstStyle/>
          <a:p>
            <a:r>
              <a:rPr lang="en-US" sz="3200" dirty="0"/>
              <a:t>Hierarchical Clustering</a:t>
            </a:r>
          </a:p>
          <a:p>
            <a:pPr lvl="1"/>
            <a:r>
              <a:rPr lang="en-US" sz="2400" dirty="0"/>
              <a:t>For a dataset consisting of n points</a:t>
            </a:r>
          </a:p>
          <a:p>
            <a:pPr lvl="1"/>
            <a:r>
              <a:rPr lang="en-US" sz="2400" dirty="0"/>
              <a:t>O(n</a:t>
            </a:r>
            <a:r>
              <a:rPr lang="en-US" sz="2400" baseline="30000" dirty="0"/>
              <a:t>2</a:t>
            </a:r>
            <a:r>
              <a:rPr lang="en-US" sz="2400" dirty="0"/>
              <a:t>) space; it requires storing the distance matrix</a:t>
            </a:r>
          </a:p>
          <a:p>
            <a:pPr lvl="1"/>
            <a:r>
              <a:rPr lang="en-US" sz="2400" dirty="0"/>
              <a:t>O(n</a:t>
            </a:r>
            <a:r>
              <a:rPr lang="en-US" sz="2400" baseline="30000" dirty="0"/>
              <a:t>3</a:t>
            </a:r>
            <a:r>
              <a:rPr lang="en-US" sz="2400" dirty="0"/>
              <a:t>) time complexity in most of the cases(agglomerative clustering)</a:t>
            </a:r>
          </a:p>
          <a:p>
            <a:r>
              <a:rPr lang="en-US" sz="3200" dirty="0"/>
              <a:t>Advantages</a:t>
            </a:r>
          </a:p>
          <a:p>
            <a:pPr lvl="1"/>
            <a:r>
              <a:rPr lang="en-US" sz="2400" dirty="0"/>
              <a:t>Dendrograms are great for visualization</a:t>
            </a:r>
          </a:p>
          <a:p>
            <a:pPr lvl="1"/>
            <a:r>
              <a:rPr lang="en-US" sz="2400" dirty="0"/>
              <a:t>Provides hierarchical relations between clusters</a:t>
            </a:r>
          </a:p>
        </p:txBody>
      </p:sp>
      <p:sp>
        <p:nvSpPr>
          <p:cNvPr id="5" name="Content Placeholder 2">
            <a:extLst>
              <a:ext uri="{FF2B5EF4-FFF2-40B4-BE49-F238E27FC236}">
                <a16:creationId xmlns:a16="http://schemas.microsoft.com/office/drawing/2014/main" id="{2A43194D-2A33-418B-889E-7F5AFC7C82B3}"/>
              </a:ext>
            </a:extLst>
          </p:cNvPr>
          <p:cNvSpPr txBox="1">
            <a:spLocks/>
          </p:cNvSpPr>
          <p:nvPr/>
        </p:nvSpPr>
        <p:spPr>
          <a:xfrm>
            <a:off x="6584868" y="1343891"/>
            <a:ext cx="5205350" cy="483307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accent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Disadvantages</a:t>
            </a:r>
          </a:p>
          <a:p>
            <a:pPr lvl="1"/>
            <a:r>
              <a:rPr lang="en-US" dirty="0"/>
              <a:t>Not easy to define levels for clusters</a:t>
            </a:r>
          </a:p>
          <a:p>
            <a:pPr lvl="1"/>
            <a:r>
              <a:rPr lang="en-US" dirty="0"/>
              <a:t>Can never undo what was done previously</a:t>
            </a:r>
          </a:p>
          <a:p>
            <a:pPr lvl="1"/>
            <a:r>
              <a:rPr lang="en-US" dirty="0"/>
              <a:t>Sensitive to cluster distance measures and noise/outliers</a:t>
            </a:r>
          </a:p>
          <a:p>
            <a:pPr lvl="1"/>
            <a:r>
              <a:rPr lang="en-US" dirty="0"/>
              <a:t>Experiments showed that other clustering techniques</a:t>
            </a:r>
          </a:p>
          <a:p>
            <a:pPr lvl="1"/>
            <a:r>
              <a:rPr lang="en-US" dirty="0"/>
              <a:t>outperform hierarchical clustering</a:t>
            </a:r>
          </a:p>
          <a:p>
            <a:r>
              <a:rPr lang="en-US" dirty="0"/>
              <a:t>There are several variants to overcome its weaknesses</a:t>
            </a:r>
          </a:p>
          <a:p>
            <a:pPr lvl="1"/>
            <a:r>
              <a:rPr lang="en-US" dirty="0"/>
              <a:t>BIRCH: scalable to a large data set</a:t>
            </a:r>
          </a:p>
          <a:p>
            <a:pPr lvl="1"/>
            <a:r>
              <a:rPr lang="en-US" dirty="0"/>
              <a:t>ROCK: clustering categorical data</a:t>
            </a:r>
          </a:p>
          <a:p>
            <a:pPr lvl="1"/>
            <a:r>
              <a:rPr lang="en-US" dirty="0"/>
              <a:t>CHAMELEON: hierarchical clustering using dynamic modelling</a:t>
            </a:r>
          </a:p>
          <a:p>
            <a:endParaRPr lang="en-US" dirty="0"/>
          </a:p>
        </p:txBody>
      </p:sp>
      <p:sp>
        <p:nvSpPr>
          <p:cNvPr id="6" name="Slide Number Placeholder 5">
            <a:extLst>
              <a:ext uri="{FF2B5EF4-FFF2-40B4-BE49-F238E27FC236}">
                <a16:creationId xmlns:a16="http://schemas.microsoft.com/office/drawing/2014/main" id="{7B6CFF38-3EA9-4201-9E0E-AA9CECE74595}"/>
              </a:ext>
            </a:extLst>
          </p:cNvPr>
          <p:cNvSpPr>
            <a:spLocks noGrp="1"/>
          </p:cNvSpPr>
          <p:nvPr>
            <p:ph type="sldNum" sz="quarter" idx="12"/>
          </p:nvPr>
        </p:nvSpPr>
        <p:spPr/>
        <p:txBody>
          <a:bodyPr/>
          <a:lstStyle/>
          <a:p>
            <a:fld id="{4CC025FC-8595-493D-A46F-2FDFDC85D9BC}" type="slidenum">
              <a:rPr lang="en-US" smtClean="0"/>
              <a:t>56</a:t>
            </a:fld>
            <a:endParaRPr lang="en-US"/>
          </a:p>
        </p:txBody>
      </p:sp>
    </p:spTree>
    <p:extLst>
      <p:ext uri="{BB962C8B-B14F-4D97-AF65-F5344CB8AC3E}">
        <p14:creationId xmlns:p14="http://schemas.microsoft.com/office/powerpoint/2010/main" val="38906139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Divisive Hierarchical Clustering</a:t>
            </a:r>
          </a:p>
        </p:txBody>
      </p:sp>
      <p:sp>
        <p:nvSpPr>
          <p:cNvPr id="3" name="Content Placeholder 2">
            <a:extLst>
              <a:ext uri="{FF2B5EF4-FFF2-40B4-BE49-F238E27FC236}">
                <a16:creationId xmlns:a16="http://schemas.microsoft.com/office/drawing/2014/main" id="{72A9152A-246F-4593-80ED-0F2D33B9D513}"/>
              </a:ext>
            </a:extLst>
          </p:cNvPr>
          <p:cNvSpPr>
            <a:spLocks noGrp="1"/>
          </p:cNvSpPr>
          <p:nvPr>
            <p:ph idx="1"/>
          </p:nvPr>
        </p:nvSpPr>
        <p:spPr>
          <a:xfrm>
            <a:off x="401782" y="1336430"/>
            <a:ext cx="11388436" cy="4979964"/>
          </a:xfrm>
        </p:spPr>
        <p:txBody>
          <a:bodyPr>
            <a:normAutofit fontScale="92500" lnSpcReduction="20000"/>
          </a:bodyPr>
          <a:lstStyle/>
          <a:p>
            <a:r>
              <a:rPr lang="en-US" sz="4000" dirty="0"/>
              <a:t>Divisive or DIANA(</a:t>
            </a:r>
            <a:r>
              <a:rPr lang="en-US" sz="4000" dirty="0" err="1"/>
              <a:t>DIvisive</a:t>
            </a:r>
            <a:r>
              <a:rPr lang="en-US" sz="4000" dirty="0"/>
              <a:t> </a:t>
            </a:r>
            <a:r>
              <a:rPr lang="en-US" sz="4000" dirty="0" err="1"/>
              <a:t>ANAlysis</a:t>
            </a:r>
            <a:r>
              <a:rPr lang="en-US" sz="4000" dirty="0"/>
              <a:t> Clustering) is a top-down clustering approach.</a:t>
            </a:r>
          </a:p>
          <a:p>
            <a:r>
              <a:rPr lang="en-US" sz="4000" dirty="0"/>
              <a:t>The process starts at the root with all the points as one cluster.</a:t>
            </a:r>
          </a:p>
          <a:p>
            <a:r>
              <a:rPr lang="en-US" sz="4000" dirty="0"/>
              <a:t>It recursively splits the higher level clusters to build the dendrogram.</a:t>
            </a:r>
          </a:p>
          <a:p>
            <a:r>
              <a:rPr lang="en-US" sz="4000" dirty="0"/>
              <a:t>Can be considered as a global approach.</a:t>
            </a:r>
          </a:p>
          <a:p>
            <a:r>
              <a:rPr lang="en-US" sz="4000" dirty="0"/>
              <a:t>Divisive clustering is good at identifying large clusters while agglomerative clustering is good at identifying small clusters.</a:t>
            </a:r>
          </a:p>
        </p:txBody>
      </p:sp>
      <p:sp>
        <p:nvSpPr>
          <p:cNvPr id="6" name="Slide Number Placeholder 5">
            <a:extLst>
              <a:ext uri="{FF2B5EF4-FFF2-40B4-BE49-F238E27FC236}">
                <a16:creationId xmlns:a16="http://schemas.microsoft.com/office/drawing/2014/main" id="{CF051D8B-4ED4-47A4-BAF2-D0CA9F0DB71C}"/>
              </a:ext>
            </a:extLst>
          </p:cNvPr>
          <p:cNvSpPr>
            <a:spLocks noGrp="1"/>
          </p:cNvSpPr>
          <p:nvPr>
            <p:ph type="sldNum" sz="quarter" idx="12"/>
          </p:nvPr>
        </p:nvSpPr>
        <p:spPr/>
        <p:txBody>
          <a:bodyPr/>
          <a:lstStyle/>
          <a:p>
            <a:fld id="{4CC025FC-8595-493D-A46F-2FDFDC85D9BC}" type="slidenum">
              <a:rPr lang="en-US" smtClean="0"/>
              <a:t>57</a:t>
            </a:fld>
            <a:endParaRPr lang="en-US"/>
          </a:p>
        </p:txBody>
      </p:sp>
    </p:spTree>
    <p:extLst>
      <p:ext uri="{BB962C8B-B14F-4D97-AF65-F5344CB8AC3E}">
        <p14:creationId xmlns:p14="http://schemas.microsoft.com/office/powerpoint/2010/main" val="11307867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Hierarchical Clustering - Strategies</a:t>
            </a:r>
          </a:p>
        </p:txBody>
      </p:sp>
      <p:pic>
        <p:nvPicPr>
          <p:cNvPr id="6" name="Picture 5">
            <a:extLst>
              <a:ext uri="{FF2B5EF4-FFF2-40B4-BE49-F238E27FC236}">
                <a16:creationId xmlns:a16="http://schemas.microsoft.com/office/drawing/2014/main" id="{2D890BD1-6F26-4832-870B-74956C262FE1}"/>
              </a:ext>
            </a:extLst>
          </p:cNvPr>
          <p:cNvPicPr>
            <a:picLocks noChangeAspect="1"/>
          </p:cNvPicPr>
          <p:nvPr/>
        </p:nvPicPr>
        <p:blipFill>
          <a:blip r:embed="rId2"/>
          <a:stretch>
            <a:fillRect/>
          </a:stretch>
        </p:blipFill>
        <p:spPr>
          <a:xfrm>
            <a:off x="585787" y="1349375"/>
            <a:ext cx="11020425" cy="5143500"/>
          </a:xfrm>
          <a:prstGeom prst="rect">
            <a:avLst/>
          </a:prstGeom>
        </p:spPr>
      </p:pic>
      <p:sp>
        <p:nvSpPr>
          <p:cNvPr id="5" name="Slide Number Placeholder 4">
            <a:extLst>
              <a:ext uri="{FF2B5EF4-FFF2-40B4-BE49-F238E27FC236}">
                <a16:creationId xmlns:a16="http://schemas.microsoft.com/office/drawing/2014/main" id="{E7C7548B-C95A-4BA2-A645-8F501564D7ED}"/>
              </a:ext>
            </a:extLst>
          </p:cNvPr>
          <p:cNvSpPr>
            <a:spLocks noGrp="1"/>
          </p:cNvSpPr>
          <p:nvPr>
            <p:ph type="sldNum" sz="quarter" idx="12"/>
          </p:nvPr>
        </p:nvSpPr>
        <p:spPr/>
        <p:txBody>
          <a:bodyPr/>
          <a:lstStyle/>
          <a:p>
            <a:fld id="{4CC025FC-8595-493D-A46F-2FDFDC85D9BC}" type="slidenum">
              <a:rPr lang="en-US" smtClean="0"/>
              <a:t>58</a:t>
            </a:fld>
            <a:endParaRPr lang="en-US"/>
          </a:p>
        </p:txBody>
      </p:sp>
    </p:spTree>
    <p:extLst>
      <p:ext uri="{BB962C8B-B14F-4D97-AF65-F5344CB8AC3E}">
        <p14:creationId xmlns:p14="http://schemas.microsoft.com/office/powerpoint/2010/main" val="30482768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AF8B-9742-4F00-953D-9A60F22E9BA8}"/>
              </a:ext>
            </a:extLst>
          </p:cNvPr>
          <p:cNvSpPr>
            <a:spLocks noGrp="1"/>
          </p:cNvSpPr>
          <p:nvPr>
            <p:ph type="title"/>
          </p:nvPr>
        </p:nvSpPr>
        <p:spPr/>
        <p:txBody>
          <a:bodyPr>
            <a:normAutofit fontScale="90000"/>
          </a:bodyPr>
          <a:lstStyle/>
          <a:p>
            <a:r>
              <a:rPr lang="en-US" dirty="0"/>
              <a:t>Hierarchical Clustering - Steps</a:t>
            </a:r>
          </a:p>
        </p:txBody>
      </p:sp>
      <p:sp>
        <p:nvSpPr>
          <p:cNvPr id="3" name="Content Placeholder 2">
            <a:extLst>
              <a:ext uri="{FF2B5EF4-FFF2-40B4-BE49-F238E27FC236}">
                <a16:creationId xmlns:a16="http://schemas.microsoft.com/office/drawing/2014/main" id="{C8496B59-B366-461E-A7FA-7344B1B03EA2}"/>
              </a:ext>
            </a:extLst>
          </p:cNvPr>
          <p:cNvSpPr>
            <a:spLocks noGrp="1"/>
          </p:cNvSpPr>
          <p:nvPr>
            <p:ph idx="1"/>
          </p:nvPr>
        </p:nvSpPr>
        <p:spPr/>
        <p:txBody>
          <a:bodyPr>
            <a:normAutofit/>
          </a:bodyPr>
          <a:lstStyle/>
          <a:p>
            <a:pPr marL="742950" indent="-742950">
              <a:buFont typeface="+mj-lt"/>
              <a:buAutoNum type="arabicPeriod"/>
            </a:pPr>
            <a:r>
              <a:rPr lang="en-US" sz="4800" dirty="0"/>
              <a:t>Start with all data points in the cluster.</a:t>
            </a:r>
          </a:p>
          <a:p>
            <a:pPr marL="742950" indent="-742950">
              <a:buFont typeface="+mj-lt"/>
              <a:buAutoNum type="arabicPeriod"/>
            </a:pPr>
            <a:r>
              <a:rPr lang="en-US" sz="4800" dirty="0"/>
              <a:t>After each iteration, remove the outsiders/heterogeneous objects from the cluster.</a:t>
            </a:r>
          </a:p>
          <a:p>
            <a:pPr marL="742950" indent="-742950">
              <a:buFont typeface="+mj-lt"/>
              <a:buAutoNum type="arabicPeriod"/>
            </a:pPr>
            <a:r>
              <a:rPr lang="en-US" sz="4800" dirty="0"/>
              <a:t>Stop when each example is in its own singleton cluster, else go to step 2.</a:t>
            </a:r>
          </a:p>
        </p:txBody>
      </p:sp>
      <p:sp>
        <p:nvSpPr>
          <p:cNvPr id="6" name="Slide Number Placeholder 5">
            <a:extLst>
              <a:ext uri="{FF2B5EF4-FFF2-40B4-BE49-F238E27FC236}">
                <a16:creationId xmlns:a16="http://schemas.microsoft.com/office/drawing/2014/main" id="{08309615-18A0-467A-980F-EF4E938E7CA7}"/>
              </a:ext>
            </a:extLst>
          </p:cNvPr>
          <p:cNvSpPr>
            <a:spLocks noGrp="1"/>
          </p:cNvSpPr>
          <p:nvPr>
            <p:ph type="sldNum" sz="quarter" idx="12"/>
          </p:nvPr>
        </p:nvSpPr>
        <p:spPr/>
        <p:txBody>
          <a:bodyPr/>
          <a:lstStyle/>
          <a:p>
            <a:fld id="{4CC025FC-8595-493D-A46F-2FDFDC85D9BC}" type="slidenum">
              <a:rPr lang="en-US" smtClean="0"/>
              <a:t>59</a:t>
            </a:fld>
            <a:endParaRPr lang="en-US"/>
          </a:p>
        </p:txBody>
      </p:sp>
    </p:spTree>
    <p:extLst>
      <p:ext uri="{BB962C8B-B14F-4D97-AF65-F5344CB8AC3E}">
        <p14:creationId xmlns:p14="http://schemas.microsoft.com/office/powerpoint/2010/main" val="7261762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 - Divisive Hierarchical Clustering</a:t>
            </a:r>
          </a:p>
        </p:txBody>
      </p:sp>
      <p:graphicFrame>
        <p:nvGraphicFramePr>
          <p:cNvPr id="7" name="Table 4">
            <a:extLst>
              <a:ext uri="{FF2B5EF4-FFF2-40B4-BE49-F238E27FC236}">
                <a16:creationId xmlns:a16="http://schemas.microsoft.com/office/drawing/2014/main" id="{9363FEF6-129B-41E6-8A67-72A5E782EEEE}"/>
              </a:ext>
            </a:extLst>
          </p:cNvPr>
          <p:cNvGraphicFramePr>
            <a:graphicFrameLocks noGrp="1"/>
          </p:cNvGraphicFramePr>
          <p:nvPr/>
        </p:nvGraphicFramePr>
        <p:xfrm>
          <a:off x="401782" y="1549661"/>
          <a:ext cx="2538364" cy="3108960"/>
        </p:xfrm>
        <a:graphic>
          <a:graphicData uri="http://schemas.openxmlformats.org/drawingml/2006/table">
            <a:tbl>
              <a:tblPr firstRow="1" firstCol="1" bandRow="1">
                <a:tableStyleId>{5C22544A-7EE6-4342-B048-85BDC9FD1C3A}</a:tableStyleId>
              </a:tblPr>
              <a:tblGrid>
                <a:gridCol w="634591">
                  <a:extLst>
                    <a:ext uri="{9D8B030D-6E8A-4147-A177-3AD203B41FA5}">
                      <a16:colId xmlns:a16="http://schemas.microsoft.com/office/drawing/2014/main" val="1805294303"/>
                    </a:ext>
                  </a:extLst>
                </a:gridCol>
                <a:gridCol w="634591">
                  <a:extLst>
                    <a:ext uri="{9D8B030D-6E8A-4147-A177-3AD203B41FA5}">
                      <a16:colId xmlns:a16="http://schemas.microsoft.com/office/drawing/2014/main" val="3647138510"/>
                    </a:ext>
                  </a:extLst>
                </a:gridCol>
                <a:gridCol w="634591">
                  <a:extLst>
                    <a:ext uri="{9D8B030D-6E8A-4147-A177-3AD203B41FA5}">
                      <a16:colId xmlns:a16="http://schemas.microsoft.com/office/drawing/2014/main" val="2796514293"/>
                    </a:ext>
                  </a:extLst>
                </a:gridCol>
                <a:gridCol w="634591">
                  <a:extLst>
                    <a:ext uri="{9D8B030D-6E8A-4147-A177-3AD203B41FA5}">
                      <a16:colId xmlns:a16="http://schemas.microsoft.com/office/drawing/2014/main" val="101503152"/>
                    </a:ext>
                  </a:extLst>
                </a:gridCol>
              </a:tblGrid>
              <a:tr h="370840">
                <a:tc>
                  <a:txBody>
                    <a:bodyPr/>
                    <a:lstStyle/>
                    <a:p>
                      <a:pPr algn="ctr"/>
                      <a:r>
                        <a:rPr lang="en-US" sz="2800" dirty="0"/>
                        <a:t>ID</a:t>
                      </a:r>
                    </a:p>
                  </a:txBody>
                  <a:tcPr/>
                </a:tc>
                <a:tc>
                  <a:txBody>
                    <a:bodyPr/>
                    <a:lstStyle/>
                    <a:p>
                      <a:pPr algn="ctr"/>
                      <a:r>
                        <a:rPr lang="en-US" sz="2800" dirty="0"/>
                        <a:t>X</a:t>
                      </a:r>
                      <a:r>
                        <a:rPr lang="en-US" sz="2800" baseline="-25000" dirty="0"/>
                        <a:t>1</a:t>
                      </a:r>
                    </a:p>
                  </a:txBody>
                  <a:tcPr/>
                </a:tc>
                <a:tc>
                  <a:txBody>
                    <a:bodyPr/>
                    <a:lstStyle/>
                    <a:p>
                      <a:pPr algn="ctr"/>
                      <a:r>
                        <a:rPr lang="en-US" sz="2800" dirty="0"/>
                        <a:t>X</a:t>
                      </a:r>
                      <a:r>
                        <a:rPr lang="en-US" sz="2800" baseline="-25000" dirty="0"/>
                        <a:t>2</a:t>
                      </a:r>
                    </a:p>
                  </a:txBody>
                  <a:tcPr/>
                </a:tc>
                <a:tc>
                  <a:txBody>
                    <a:bodyPr/>
                    <a:lstStyle/>
                    <a:p>
                      <a:pPr algn="ctr"/>
                      <a:r>
                        <a:rPr lang="en-US" sz="2800" dirty="0"/>
                        <a:t>X</a:t>
                      </a:r>
                      <a:r>
                        <a:rPr lang="en-US" sz="2800" baseline="-25000" dirty="0"/>
                        <a:t>3</a:t>
                      </a:r>
                    </a:p>
                  </a:txBody>
                  <a:tcPr/>
                </a:tc>
                <a:extLst>
                  <a:ext uri="{0D108BD9-81ED-4DB2-BD59-A6C34878D82A}">
                    <a16:rowId xmlns:a16="http://schemas.microsoft.com/office/drawing/2014/main" val="3979186866"/>
                  </a:ext>
                </a:extLst>
              </a:tr>
              <a:tr h="370840">
                <a:tc>
                  <a:txBody>
                    <a:bodyPr/>
                    <a:lstStyle/>
                    <a:p>
                      <a:pPr algn="ctr"/>
                      <a:r>
                        <a:rPr lang="en-US" sz="2800" dirty="0"/>
                        <a:t>1</a:t>
                      </a:r>
                    </a:p>
                  </a:txBody>
                  <a:tcPr/>
                </a:tc>
                <a:tc>
                  <a:txBody>
                    <a:bodyPr/>
                    <a:lstStyle/>
                    <a:p>
                      <a:pPr algn="ctr"/>
                      <a:r>
                        <a:rPr lang="en-US" sz="2800" dirty="0"/>
                        <a:t>1</a:t>
                      </a:r>
                    </a:p>
                  </a:txBody>
                  <a:tcPr/>
                </a:tc>
                <a:tc>
                  <a:txBody>
                    <a:bodyPr/>
                    <a:lstStyle/>
                    <a:p>
                      <a:pPr algn="ctr"/>
                      <a:r>
                        <a:rPr lang="en-US" sz="2800" dirty="0"/>
                        <a:t>6</a:t>
                      </a:r>
                    </a:p>
                  </a:txBody>
                  <a:tcPr/>
                </a:tc>
                <a:tc>
                  <a:txBody>
                    <a:bodyPr/>
                    <a:lstStyle/>
                    <a:p>
                      <a:pPr algn="ctr"/>
                      <a:r>
                        <a:rPr lang="en-US" sz="2800" dirty="0"/>
                        <a:t>-1</a:t>
                      </a:r>
                    </a:p>
                  </a:txBody>
                  <a:tcPr/>
                </a:tc>
                <a:extLst>
                  <a:ext uri="{0D108BD9-81ED-4DB2-BD59-A6C34878D82A}">
                    <a16:rowId xmlns:a16="http://schemas.microsoft.com/office/drawing/2014/main" val="3215972794"/>
                  </a:ext>
                </a:extLst>
              </a:tr>
              <a:tr h="370840">
                <a:tc>
                  <a:txBody>
                    <a:bodyPr/>
                    <a:lstStyle/>
                    <a:p>
                      <a:pPr algn="ctr"/>
                      <a:r>
                        <a:rPr lang="en-US" sz="2800" dirty="0"/>
                        <a:t>2</a:t>
                      </a:r>
                    </a:p>
                  </a:txBody>
                  <a:tcPr/>
                </a:tc>
                <a:tc>
                  <a:txBody>
                    <a:bodyPr/>
                    <a:lstStyle/>
                    <a:p>
                      <a:pPr algn="ctr"/>
                      <a:r>
                        <a:rPr lang="en-US" sz="2800" dirty="0"/>
                        <a:t>3</a:t>
                      </a:r>
                    </a:p>
                  </a:txBody>
                  <a:tcPr/>
                </a:tc>
                <a:tc>
                  <a:txBody>
                    <a:bodyPr/>
                    <a:lstStyle/>
                    <a:p>
                      <a:pPr algn="ctr"/>
                      <a:r>
                        <a:rPr lang="en-US" sz="2800" dirty="0"/>
                        <a:t>7</a:t>
                      </a:r>
                    </a:p>
                  </a:txBody>
                  <a:tcPr/>
                </a:tc>
                <a:tc>
                  <a:txBody>
                    <a:bodyPr/>
                    <a:lstStyle/>
                    <a:p>
                      <a:pPr algn="ctr"/>
                      <a:r>
                        <a:rPr lang="en-US" sz="2800" dirty="0"/>
                        <a:t>0</a:t>
                      </a:r>
                    </a:p>
                  </a:txBody>
                  <a:tcPr/>
                </a:tc>
                <a:extLst>
                  <a:ext uri="{0D108BD9-81ED-4DB2-BD59-A6C34878D82A}">
                    <a16:rowId xmlns:a16="http://schemas.microsoft.com/office/drawing/2014/main" val="1164287607"/>
                  </a:ext>
                </a:extLst>
              </a:tr>
              <a:tr h="370840">
                <a:tc>
                  <a:txBody>
                    <a:bodyPr/>
                    <a:lstStyle/>
                    <a:p>
                      <a:pPr algn="ctr"/>
                      <a:r>
                        <a:rPr lang="en-US" sz="2800" dirty="0"/>
                        <a:t>3</a:t>
                      </a:r>
                    </a:p>
                  </a:txBody>
                  <a:tcPr/>
                </a:tc>
                <a:tc>
                  <a:txBody>
                    <a:bodyPr/>
                    <a:lstStyle/>
                    <a:p>
                      <a:pPr algn="ctr"/>
                      <a:r>
                        <a:rPr lang="en-US" sz="2800" dirty="0"/>
                        <a:t>3</a:t>
                      </a:r>
                    </a:p>
                  </a:txBody>
                  <a:tcPr/>
                </a:tc>
                <a:tc>
                  <a:txBody>
                    <a:bodyPr/>
                    <a:lstStyle/>
                    <a:p>
                      <a:pPr algn="ctr"/>
                      <a:r>
                        <a:rPr lang="en-US" sz="2800" dirty="0"/>
                        <a:t>5</a:t>
                      </a:r>
                    </a:p>
                  </a:txBody>
                  <a:tcPr/>
                </a:tc>
                <a:tc>
                  <a:txBody>
                    <a:bodyPr/>
                    <a:lstStyle/>
                    <a:p>
                      <a:pPr algn="ctr"/>
                      <a:r>
                        <a:rPr lang="en-US" sz="2800" dirty="0"/>
                        <a:t>-2</a:t>
                      </a:r>
                    </a:p>
                  </a:txBody>
                  <a:tcPr/>
                </a:tc>
                <a:extLst>
                  <a:ext uri="{0D108BD9-81ED-4DB2-BD59-A6C34878D82A}">
                    <a16:rowId xmlns:a16="http://schemas.microsoft.com/office/drawing/2014/main" val="1107901026"/>
                  </a:ext>
                </a:extLst>
              </a:tr>
              <a:tr h="370840">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8</a:t>
                      </a:r>
                    </a:p>
                  </a:txBody>
                  <a:tcPr/>
                </a:tc>
                <a:tc>
                  <a:txBody>
                    <a:bodyPr/>
                    <a:lstStyle/>
                    <a:p>
                      <a:pPr algn="ctr"/>
                      <a:r>
                        <a:rPr lang="en-US" sz="2800" dirty="0"/>
                        <a:t>-1</a:t>
                      </a:r>
                    </a:p>
                  </a:txBody>
                  <a:tcPr/>
                </a:tc>
                <a:extLst>
                  <a:ext uri="{0D108BD9-81ED-4DB2-BD59-A6C34878D82A}">
                    <a16:rowId xmlns:a16="http://schemas.microsoft.com/office/drawing/2014/main" val="1217031025"/>
                  </a:ext>
                </a:extLst>
              </a:tr>
              <a:tr h="370840">
                <a:tc>
                  <a:txBody>
                    <a:bodyPr/>
                    <a:lstStyle/>
                    <a:p>
                      <a:pPr algn="ctr"/>
                      <a:r>
                        <a:rPr lang="en-US" sz="2800" dirty="0"/>
                        <a:t>5</a:t>
                      </a:r>
                    </a:p>
                  </a:txBody>
                  <a:tcPr/>
                </a:tc>
                <a:tc>
                  <a:txBody>
                    <a:bodyPr/>
                    <a:lstStyle/>
                    <a:p>
                      <a:pPr algn="ctr"/>
                      <a:r>
                        <a:rPr lang="en-US" sz="2800" dirty="0"/>
                        <a:t>5</a:t>
                      </a:r>
                    </a:p>
                  </a:txBody>
                  <a:tcPr/>
                </a:tc>
                <a:tc>
                  <a:txBody>
                    <a:bodyPr/>
                    <a:lstStyle/>
                    <a:p>
                      <a:pPr algn="ctr"/>
                      <a:r>
                        <a:rPr lang="en-US" sz="2800" dirty="0"/>
                        <a:t>8</a:t>
                      </a:r>
                    </a:p>
                  </a:txBody>
                  <a:tcPr/>
                </a:tc>
                <a:tc>
                  <a:txBody>
                    <a:bodyPr/>
                    <a:lstStyle/>
                    <a:p>
                      <a:pPr algn="ctr"/>
                      <a:r>
                        <a:rPr lang="en-US" sz="2800" dirty="0"/>
                        <a:t>0</a:t>
                      </a:r>
                    </a:p>
                  </a:txBody>
                  <a:tcPr/>
                </a:tc>
                <a:extLst>
                  <a:ext uri="{0D108BD9-81ED-4DB2-BD59-A6C34878D82A}">
                    <a16:rowId xmlns:a16="http://schemas.microsoft.com/office/drawing/2014/main" val="1917570298"/>
                  </a:ext>
                </a:extLst>
              </a:tr>
            </a:tbl>
          </a:graphicData>
        </a:graphic>
      </p:graphicFrame>
      <p:graphicFrame>
        <p:nvGraphicFramePr>
          <p:cNvPr id="8" name="Table 4">
            <a:extLst>
              <a:ext uri="{FF2B5EF4-FFF2-40B4-BE49-F238E27FC236}">
                <a16:creationId xmlns:a16="http://schemas.microsoft.com/office/drawing/2014/main" id="{0BFB31FB-2A7C-4B15-B6DE-2362CF363728}"/>
              </a:ext>
            </a:extLst>
          </p:cNvPr>
          <p:cNvGraphicFramePr>
            <a:graphicFrameLocks noGrp="1"/>
          </p:cNvGraphicFramePr>
          <p:nvPr/>
        </p:nvGraphicFramePr>
        <p:xfrm>
          <a:off x="3622433" y="1549661"/>
          <a:ext cx="3652056" cy="3108960"/>
        </p:xfrm>
        <a:graphic>
          <a:graphicData uri="http://schemas.openxmlformats.org/drawingml/2006/table">
            <a:tbl>
              <a:tblPr firstRow="1" firstCol="1" bandRow="1">
                <a:tableStyleId>{5C22544A-7EE6-4342-B048-85BDC9FD1C3A}</a:tableStyleId>
              </a:tblPr>
              <a:tblGrid>
                <a:gridCol w="608676">
                  <a:extLst>
                    <a:ext uri="{9D8B030D-6E8A-4147-A177-3AD203B41FA5}">
                      <a16:colId xmlns:a16="http://schemas.microsoft.com/office/drawing/2014/main" val="1805294303"/>
                    </a:ext>
                  </a:extLst>
                </a:gridCol>
                <a:gridCol w="608676">
                  <a:extLst>
                    <a:ext uri="{9D8B030D-6E8A-4147-A177-3AD203B41FA5}">
                      <a16:colId xmlns:a16="http://schemas.microsoft.com/office/drawing/2014/main" val="3647138510"/>
                    </a:ext>
                  </a:extLst>
                </a:gridCol>
                <a:gridCol w="608676">
                  <a:extLst>
                    <a:ext uri="{9D8B030D-6E8A-4147-A177-3AD203B41FA5}">
                      <a16:colId xmlns:a16="http://schemas.microsoft.com/office/drawing/2014/main" val="2796514293"/>
                    </a:ext>
                  </a:extLst>
                </a:gridCol>
                <a:gridCol w="608676">
                  <a:extLst>
                    <a:ext uri="{9D8B030D-6E8A-4147-A177-3AD203B41FA5}">
                      <a16:colId xmlns:a16="http://schemas.microsoft.com/office/drawing/2014/main" val="101503152"/>
                    </a:ext>
                  </a:extLst>
                </a:gridCol>
                <a:gridCol w="608676">
                  <a:extLst>
                    <a:ext uri="{9D8B030D-6E8A-4147-A177-3AD203B41FA5}">
                      <a16:colId xmlns:a16="http://schemas.microsoft.com/office/drawing/2014/main" val="4084853948"/>
                    </a:ext>
                  </a:extLst>
                </a:gridCol>
                <a:gridCol w="608676">
                  <a:extLst>
                    <a:ext uri="{9D8B030D-6E8A-4147-A177-3AD203B41FA5}">
                      <a16:colId xmlns:a16="http://schemas.microsoft.com/office/drawing/2014/main" val="1758671543"/>
                    </a:ext>
                  </a:extLst>
                </a:gridCol>
              </a:tblGrid>
              <a:tr h="370840">
                <a:tc>
                  <a:txBody>
                    <a:bodyPr/>
                    <a:lstStyle/>
                    <a:p>
                      <a:pPr algn="ctr"/>
                      <a:r>
                        <a:rPr lang="en-US" sz="2800" dirty="0"/>
                        <a:t>ID</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ctr"/>
                      <a:r>
                        <a:rPr lang="en-US" sz="2800" dirty="0"/>
                        <a:t>1</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3215972794"/>
                  </a:ext>
                </a:extLst>
              </a:tr>
              <a:tr h="370840">
                <a:tc>
                  <a:txBody>
                    <a:bodyPr/>
                    <a:lstStyle/>
                    <a:p>
                      <a:pPr algn="ctr"/>
                      <a:r>
                        <a:rPr lang="en-US" sz="2800" dirty="0"/>
                        <a:t>2</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3</a:t>
                      </a:r>
                    </a:p>
                  </a:txBody>
                  <a:tcPr/>
                </a:tc>
                <a:tc>
                  <a:txBody>
                    <a:bodyPr/>
                    <a:lstStyle/>
                    <a:p>
                      <a:pPr algn="ctr"/>
                      <a:r>
                        <a:rPr lang="en-US" sz="2800" dirty="0"/>
                        <a:t>3</a:t>
                      </a:r>
                    </a:p>
                  </a:txBody>
                  <a:tcPr/>
                </a:tc>
                <a:extLst>
                  <a:ext uri="{0D108BD9-81ED-4DB2-BD59-A6C34878D82A}">
                    <a16:rowId xmlns:a16="http://schemas.microsoft.com/office/drawing/2014/main" val="1164287607"/>
                  </a:ext>
                </a:extLst>
              </a:tr>
              <a:tr h="370840">
                <a:tc>
                  <a:txBody>
                    <a:bodyPr/>
                    <a:lstStyle/>
                    <a:p>
                      <a:pPr algn="ctr"/>
                      <a:r>
                        <a:rPr lang="en-US" sz="2800" dirty="0"/>
                        <a:t>3</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1107901026"/>
                  </a:ext>
                </a:extLst>
              </a:tr>
              <a:tr h="370840">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3</a:t>
                      </a:r>
                    </a:p>
                  </a:txBody>
                  <a:tcPr/>
                </a:tc>
                <a:tc>
                  <a:txBody>
                    <a:bodyPr/>
                    <a:lstStyle/>
                    <a:p>
                      <a:pPr algn="ctr"/>
                      <a:r>
                        <a:rPr lang="en-US" sz="2800" dirty="0"/>
                        <a:t>5</a:t>
                      </a:r>
                    </a:p>
                  </a:txBody>
                  <a:tcPr/>
                </a:tc>
                <a:tc>
                  <a:txBody>
                    <a:bodyPr/>
                    <a:lstStyle/>
                    <a:p>
                      <a:pPr algn="ctr"/>
                      <a:r>
                        <a:rPr lang="en-US" sz="2800" dirty="0"/>
                        <a:t>0</a:t>
                      </a:r>
                    </a:p>
                  </a:txBody>
                  <a:tcPr/>
                </a:tc>
                <a:tc>
                  <a:txBody>
                    <a:bodyPr/>
                    <a:lstStyle/>
                    <a:p>
                      <a:pPr algn="ctr"/>
                      <a:r>
                        <a:rPr lang="en-US" sz="2800" dirty="0"/>
                        <a:t>2</a:t>
                      </a:r>
                    </a:p>
                  </a:txBody>
                  <a:tcPr/>
                </a:tc>
                <a:extLst>
                  <a:ext uri="{0D108BD9-81ED-4DB2-BD59-A6C34878D82A}">
                    <a16:rowId xmlns:a16="http://schemas.microsoft.com/office/drawing/2014/main" val="1217031025"/>
                  </a:ext>
                </a:extLst>
              </a:tr>
              <a:tr h="370840">
                <a:tc>
                  <a:txBody>
                    <a:bodyPr/>
                    <a:lstStyle/>
                    <a:p>
                      <a:pPr algn="ctr"/>
                      <a:r>
                        <a:rPr lang="en-US" sz="2800" dirty="0"/>
                        <a:t>5</a:t>
                      </a:r>
                    </a:p>
                  </a:txBody>
                  <a:tcPr/>
                </a:tc>
                <a:tc>
                  <a:txBody>
                    <a:bodyPr/>
                    <a:lstStyle/>
                    <a:p>
                      <a:pPr algn="ctr"/>
                      <a:r>
                        <a:rPr lang="en-US" sz="2800" dirty="0"/>
                        <a:t>7</a:t>
                      </a:r>
                    </a:p>
                  </a:txBody>
                  <a:tcPr/>
                </a:tc>
                <a:tc>
                  <a:txBody>
                    <a:bodyPr/>
                    <a:lstStyle/>
                    <a:p>
                      <a:pPr algn="ctr"/>
                      <a:r>
                        <a:rPr lang="en-US" sz="2800" dirty="0"/>
                        <a:t>3</a:t>
                      </a:r>
                    </a:p>
                  </a:txBody>
                  <a:tcPr/>
                </a:tc>
                <a:tc>
                  <a:txBody>
                    <a:bodyPr/>
                    <a:lstStyle/>
                    <a:p>
                      <a:pPr algn="ctr"/>
                      <a:r>
                        <a:rPr lang="en-US" sz="2800" dirty="0"/>
                        <a:t>7</a:t>
                      </a:r>
                    </a:p>
                  </a:txBody>
                  <a:tcPr/>
                </a:tc>
                <a:tc>
                  <a:txBody>
                    <a:bodyPr/>
                    <a:lstStyle/>
                    <a:p>
                      <a:pPr algn="ctr"/>
                      <a:r>
                        <a:rPr lang="en-US" sz="2800" dirty="0"/>
                        <a:t>2</a:t>
                      </a:r>
                    </a:p>
                  </a:txBody>
                  <a:tcPr/>
                </a:tc>
                <a:tc>
                  <a:txBody>
                    <a:bodyPr/>
                    <a:lstStyle/>
                    <a:p>
                      <a:pPr algn="ctr"/>
                      <a:r>
                        <a:rPr lang="en-US" sz="2800" dirty="0"/>
                        <a:t>0</a:t>
                      </a:r>
                    </a:p>
                  </a:txBody>
                  <a:tcPr/>
                </a:tc>
                <a:extLst>
                  <a:ext uri="{0D108BD9-81ED-4DB2-BD59-A6C34878D82A}">
                    <a16:rowId xmlns:a16="http://schemas.microsoft.com/office/drawing/2014/main" val="1917570298"/>
                  </a:ext>
                </a:extLst>
              </a:tr>
            </a:tbl>
          </a:graphicData>
        </a:graphic>
      </p:graphicFrame>
      <p:sp>
        <p:nvSpPr>
          <p:cNvPr id="9" name="TextBox 8">
            <a:extLst>
              <a:ext uri="{FF2B5EF4-FFF2-40B4-BE49-F238E27FC236}">
                <a16:creationId xmlns:a16="http://schemas.microsoft.com/office/drawing/2014/main" id="{5B859471-F9F9-467B-A579-BE9CA2ABAC55}"/>
              </a:ext>
            </a:extLst>
          </p:cNvPr>
          <p:cNvSpPr txBox="1"/>
          <p:nvPr/>
        </p:nvSpPr>
        <p:spPr>
          <a:xfrm>
            <a:off x="3622433" y="4712672"/>
            <a:ext cx="3652056" cy="307777"/>
          </a:xfrm>
          <a:prstGeom prst="rect">
            <a:avLst/>
          </a:prstGeom>
          <a:noFill/>
        </p:spPr>
        <p:txBody>
          <a:bodyPr wrap="square" rtlCol="0">
            <a:spAutoFit/>
          </a:bodyPr>
          <a:lstStyle/>
          <a:p>
            <a:pPr algn="ctr"/>
            <a:r>
              <a:rPr lang="en-US" sz="1400" dirty="0"/>
              <a:t>Proximity Matrix using Manhattan Distance</a:t>
            </a:r>
          </a:p>
        </p:txBody>
      </p:sp>
      <p:sp>
        <p:nvSpPr>
          <p:cNvPr id="10" name="TextBox 9">
            <a:extLst>
              <a:ext uri="{FF2B5EF4-FFF2-40B4-BE49-F238E27FC236}">
                <a16:creationId xmlns:a16="http://schemas.microsoft.com/office/drawing/2014/main" id="{E64E2B07-ABD1-480B-87F7-2978D829DADD}"/>
              </a:ext>
            </a:extLst>
          </p:cNvPr>
          <p:cNvSpPr txBox="1"/>
          <p:nvPr/>
        </p:nvSpPr>
        <p:spPr>
          <a:xfrm>
            <a:off x="529882" y="5269769"/>
            <a:ext cx="8937675" cy="646331"/>
          </a:xfrm>
          <a:prstGeom prst="rect">
            <a:avLst/>
          </a:prstGeom>
          <a:noFill/>
        </p:spPr>
        <p:txBody>
          <a:bodyPr wrap="square" rtlCol="0">
            <a:spAutoFit/>
          </a:bodyPr>
          <a:lstStyle/>
          <a:p>
            <a:r>
              <a:rPr lang="en-US" sz="3600" dirty="0"/>
              <a:t>Top level cluster A{1,2,3,4,5} is all the 5 points</a:t>
            </a:r>
          </a:p>
        </p:txBody>
      </p:sp>
      <p:sp>
        <p:nvSpPr>
          <p:cNvPr id="5" name="Slide Number Placeholder 4">
            <a:extLst>
              <a:ext uri="{FF2B5EF4-FFF2-40B4-BE49-F238E27FC236}">
                <a16:creationId xmlns:a16="http://schemas.microsoft.com/office/drawing/2014/main" id="{C53C9945-D63E-484F-BECA-3B79EB8D413E}"/>
              </a:ext>
            </a:extLst>
          </p:cNvPr>
          <p:cNvSpPr>
            <a:spLocks noGrp="1"/>
          </p:cNvSpPr>
          <p:nvPr>
            <p:ph type="sldNum" sz="quarter" idx="12"/>
          </p:nvPr>
        </p:nvSpPr>
        <p:spPr/>
        <p:txBody>
          <a:bodyPr/>
          <a:lstStyle/>
          <a:p>
            <a:fld id="{4CC025FC-8595-493D-A46F-2FDFDC85D9BC}" type="slidenum">
              <a:rPr lang="en-US" smtClean="0"/>
              <a:t>60</a:t>
            </a:fld>
            <a:endParaRPr lang="en-US"/>
          </a:p>
        </p:txBody>
      </p:sp>
    </p:spTree>
    <p:extLst>
      <p:ext uri="{BB962C8B-B14F-4D97-AF65-F5344CB8AC3E}">
        <p14:creationId xmlns:p14="http://schemas.microsoft.com/office/powerpoint/2010/main" val="40290504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a:t>
            </a:r>
          </a:p>
        </p:txBody>
      </p:sp>
      <p:graphicFrame>
        <p:nvGraphicFramePr>
          <p:cNvPr id="11" name="Table 4">
            <a:extLst>
              <a:ext uri="{FF2B5EF4-FFF2-40B4-BE49-F238E27FC236}">
                <a16:creationId xmlns:a16="http://schemas.microsoft.com/office/drawing/2014/main" id="{6817CDC0-657B-4A8C-A062-86C8C4DD010D}"/>
              </a:ext>
            </a:extLst>
          </p:cNvPr>
          <p:cNvGraphicFramePr>
            <a:graphicFrameLocks noGrp="1"/>
          </p:cNvGraphicFramePr>
          <p:nvPr/>
        </p:nvGraphicFramePr>
        <p:xfrm>
          <a:off x="401782" y="1647379"/>
          <a:ext cx="3652056" cy="3108960"/>
        </p:xfrm>
        <a:graphic>
          <a:graphicData uri="http://schemas.openxmlformats.org/drawingml/2006/table">
            <a:tbl>
              <a:tblPr firstRow="1" firstCol="1" bandRow="1">
                <a:tableStyleId>{5C22544A-7EE6-4342-B048-85BDC9FD1C3A}</a:tableStyleId>
              </a:tblPr>
              <a:tblGrid>
                <a:gridCol w="608676">
                  <a:extLst>
                    <a:ext uri="{9D8B030D-6E8A-4147-A177-3AD203B41FA5}">
                      <a16:colId xmlns:a16="http://schemas.microsoft.com/office/drawing/2014/main" val="1805294303"/>
                    </a:ext>
                  </a:extLst>
                </a:gridCol>
                <a:gridCol w="608676">
                  <a:extLst>
                    <a:ext uri="{9D8B030D-6E8A-4147-A177-3AD203B41FA5}">
                      <a16:colId xmlns:a16="http://schemas.microsoft.com/office/drawing/2014/main" val="3647138510"/>
                    </a:ext>
                  </a:extLst>
                </a:gridCol>
                <a:gridCol w="608676">
                  <a:extLst>
                    <a:ext uri="{9D8B030D-6E8A-4147-A177-3AD203B41FA5}">
                      <a16:colId xmlns:a16="http://schemas.microsoft.com/office/drawing/2014/main" val="2796514293"/>
                    </a:ext>
                  </a:extLst>
                </a:gridCol>
                <a:gridCol w="608676">
                  <a:extLst>
                    <a:ext uri="{9D8B030D-6E8A-4147-A177-3AD203B41FA5}">
                      <a16:colId xmlns:a16="http://schemas.microsoft.com/office/drawing/2014/main" val="101503152"/>
                    </a:ext>
                  </a:extLst>
                </a:gridCol>
                <a:gridCol w="608676">
                  <a:extLst>
                    <a:ext uri="{9D8B030D-6E8A-4147-A177-3AD203B41FA5}">
                      <a16:colId xmlns:a16="http://schemas.microsoft.com/office/drawing/2014/main" val="4084853948"/>
                    </a:ext>
                  </a:extLst>
                </a:gridCol>
                <a:gridCol w="608676">
                  <a:extLst>
                    <a:ext uri="{9D8B030D-6E8A-4147-A177-3AD203B41FA5}">
                      <a16:colId xmlns:a16="http://schemas.microsoft.com/office/drawing/2014/main" val="1758671543"/>
                    </a:ext>
                  </a:extLst>
                </a:gridCol>
              </a:tblGrid>
              <a:tr h="370840">
                <a:tc>
                  <a:txBody>
                    <a:bodyPr/>
                    <a:lstStyle/>
                    <a:p>
                      <a:pPr algn="ctr"/>
                      <a:r>
                        <a:rPr lang="en-US" sz="2800" dirty="0"/>
                        <a:t>ID</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ctr"/>
                      <a:r>
                        <a:rPr lang="en-US" sz="2800" dirty="0"/>
                        <a:t>1</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3215972794"/>
                  </a:ext>
                </a:extLst>
              </a:tr>
              <a:tr h="370840">
                <a:tc>
                  <a:txBody>
                    <a:bodyPr/>
                    <a:lstStyle/>
                    <a:p>
                      <a:pPr algn="ctr"/>
                      <a:r>
                        <a:rPr lang="en-US" sz="2800" dirty="0"/>
                        <a:t>2</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3</a:t>
                      </a:r>
                    </a:p>
                  </a:txBody>
                  <a:tcPr/>
                </a:tc>
                <a:tc>
                  <a:txBody>
                    <a:bodyPr/>
                    <a:lstStyle/>
                    <a:p>
                      <a:pPr algn="ctr"/>
                      <a:r>
                        <a:rPr lang="en-US" sz="2800" dirty="0"/>
                        <a:t>3</a:t>
                      </a:r>
                    </a:p>
                  </a:txBody>
                  <a:tcPr/>
                </a:tc>
                <a:extLst>
                  <a:ext uri="{0D108BD9-81ED-4DB2-BD59-A6C34878D82A}">
                    <a16:rowId xmlns:a16="http://schemas.microsoft.com/office/drawing/2014/main" val="1164287607"/>
                  </a:ext>
                </a:extLst>
              </a:tr>
              <a:tr h="370840">
                <a:tc>
                  <a:txBody>
                    <a:bodyPr/>
                    <a:lstStyle/>
                    <a:p>
                      <a:pPr algn="ctr"/>
                      <a:r>
                        <a:rPr lang="en-US" sz="2800" dirty="0"/>
                        <a:t>3</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1107901026"/>
                  </a:ext>
                </a:extLst>
              </a:tr>
              <a:tr h="370840">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3</a:t>
                      </a:r>
                    </a:p>
                  </a:txBody>
                  <a:tcPr/>
                </a:tc>
                <a:tc>
                  <a:txBody>
                    <a:bodyPr/>
                    <a:lstStyle/>
                    <a:p>
                      <a:pPr algn="ctr"/>
                      <a:r>
                        <a:rPr lang="en-US" sz="2800" dirty="0"/>
                        <a:t>5</a:t>
                      </a:r>
                    </a:p>
                  </a:txBody>
                  <a:tcPr/>
                </a:tc>
                <a:tc>
                  <a:txBody>
                    <a:bodyPr/>
                    <a:lstStyle/>
                    <a:p>
                      <a:pPr algn="ctr"/>
                      <a:r>
                        <a:rPr lang="en-US" sz="2800" dirty="0"/>
                        <a:t>0</a:t>
                      </a:r>
                    </a:p>
                  </a:txBody>
                  <a:tcPr/>
                </a:tc>
                <a:tc>
                  <a:txBody>
                    <a:bodyPr/>
                    <a:lstStyle/>
                    <a:p>
                      <a:pPr algn="ctr"/>
                      <a:r>
                        <a:rPr lang="en-US" sz="2800" dirty="0"/>
                        <a:t>2</a:t>
                      </a:r>
                    </a:p>
                  </a:txBody>
                  <a:tcPr/>
                </a:tc>
                <a:extLst>
                  <a:ext uri="{0D108BD9-81ED-4DB2-BD59-A6C34878D82A}">
                    <a16:rowId xmlns:a16="http://schemas.microsoft.com/office/drawing/2014/main" val="1217031025"/>
                  </a:ext>
                </a:extLst>
              </a:tr>
              <a:tr h="370840">
                <a:tc>
                  <a:txBody>
                    <a:bodyPr/>
                    <a:lstStyle/>
                    <a:p>
                      <a:pPr algn="ctr"/>
                      <a:r>
                        <a:rPr lang="en-US" sz="2800" dirty="0"/>
                        <a:t>5</a:t>
                      </a:r>
                    </a:p>
                  </a:txBody>
                  <a:tcPr/>
                </a:tc>
                <a:tc>
                  <a:txBody>
                    <a:bodyPr/>
                    <a:lstStyle/>
                    <a:p>
                      <a:pPr algn="ctr"/>
                      <a:r>
                        <a:rPr lang="en-US" sz="2800" dirty="0"/>
                        <a:t>7</a:t>
                      </a:r>
                    </a:p>
                  </a:txBody>
                  <a:tcPr/>
                </a:tc>
                <a:tc>
                  <a:txBody>
                    <a:bodyPr/>
                    <a:lstStyle/>
                    <a:p>
                      <a:pPr algn="ctr"/>
                      <a:r>
                        <a:rPr lang="en-US" sz="2800" dirty="0"/>
                        <a:t>3</a:t>
                      </a:r>
                    </a:p>
                  </a:txBody>
                  <a:tcPr/>
                </a:tc>
                <a:tc>
                  <a:txBody>
                    <a:bodyPr/>
                    <a:lstStyle/>
                    <a:p>
                      <a:pPr algn="ctr"/>
                      <a:r>
                        <a:rPr lang="en-US" sz="2800" dirty="0"/>
                        <a:t>7</a:t>
                      </a:r>
                    </a:p>
                  </a:txBody>
                  <a:tcPr/>
                </a:tc>
                <a:tc>
                  <a:txBody>
                    <a:bodyPr/>
                    <a:lstStyle/>
                    <a:p>
                      <a:pPr algn="ctr"/>
                      <a:r>
                        <a:rPr lang="en-US" sz="2800" dirty="0"/>
                        <a:t>2</a:t>
                      </a:r>
                    </a:p>
                  </a:txBody>
                  <a:tcPr/>
                </a:tc>
                <a:tc>
                  <a:txBody>
                    <a:bodyPr/>
                    <a:lstStyle/>
                    <a:p>
                      <a:pPr algn="ctr"/>
                      <a:r>
                        <a:rPr lang="en-US" sz="2800" dirty="0"/>
                        <a:t>0</a:t>
                      </a:r>
                    </a:p>
                  </a:txBody>
                  <a:tcPr/>
                </a:tc>
                <a:extLst>
                  <a:ext uri="{0D108BD9-81ED-4DB2-BD59-A6C34878D82A}">
                    <a16:rowId xmlns:a16="http://schemas.microsoft.com/office/drawing/2014/main" val="1917570298"/>
                  </a:ext>
                </a:extLst>
              </a:tr>
            </a:tbl>
          </a:graphicData>
        </a:graphic>
      </p:graphicFrame>
      <p:sp>
        <p:nvSpPr>
          <p:cNvPr id="12" name="TextBox 11">
            <a:extLst>
              <a:ext uri="{FF2B5EF4-FFF2-40B4-BE49-F238E27FC236}">
                <a16:creationId xmlns:a16="http://schemas.microsoft.com/office/drawing/2014/main" id="{14322BB0-066E-474A-8202-343F10C53478}"/>
              </a:ext>
            </a:extLst>
          </p:cNvPr>
          <p:cNvSpPr txBox="1"/>
          <p:nvPr/>
        </p:nvSpPr>
        <p:spPr>
          <a:xfrm>
            <a:off x="401782" y="4810390"/>
            <a:ext cx="3652056" cy="307777"/>
          </a:xfrm>
          <a:prstGeom prst="rect">
            <a:avLst/>
          </a:prstGeom>
          <a:noFill/>
        </p:spPr>
        <p:txBody>
          <a:bodyPr wrap="square" rtlCol="0">
            <a:spAutoFit/>
          </a:bodyPr>
          <a:lstStyle/>
          <a:p>
            <a:pPr algn="ctr"/>
            <a:r>
              <a:rPr lang="en-US" sz="1400" dirty="0"/>
              <a:t>Proximity Matrix using Manhattan Distance</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F380DD1-8040-4402-9F0B-8374192D3B2C}"/>
                  </a:ext>
                </a:extLst>
              </p:cNvPr>
              <p:cNvSpPr/>
              <p:nvPr/>
            </p:nvSpPr>
            <p:spPr>
              <a:xfrm>
                <a:off x="4257820" y="1496982"/>
                <a:ext cx="6419557" cy="3561744"/>
              </a:xfrm>
              <a:prstGeom prst="rect">
                <a:avLst/>
              </a:prstGeom>
            </p:spPr>
            <p:txBody>
              <a:bodyPr wrap="square">
                <a:spAutoFit/>
              </a:bodyPr>
              <a:lstStyle/>
              <a:p>
                <a:r>
                  <a:rPr lang="en-US" sz="2800" b="1" dirty="0"/>
                  <a:t>Find most dissimilar point</a:t>
                </a:r>
              </a:p>
              <a:p>
                <a:r>
                  <a:rPr lang="en-US" sz="2000" dirty="0"/>
                  <a:t>Take the average distance to the other points. So, just for example, for point 1 we compute</a:t>
                </a:r>
              </a:p>
              <a:p>
                <a:endParaRPr lang="en-US" sz="2000" dirty="0"/>
              </a:p>
              <a:p>
                <a:pPr/>
                <a14:m>
                  <m:oMathPara xmlns:m="http://schemas.openxmlformats.org/officeDocument/2006/math">
                    <m:oMathParaPr>
                      <m:jc m:val="left"/>
                    </m:oMathParaPr>
                    <m:oMath xmlns:m="http://schemas.openxmlformats.org/officeDocument/2006/math">
                      <m:f>
                        <m:fPr>
                          <m:ctrlPr>
                            <a:rPr lang="en-US" sz="2000" i="1" smtClean="0">
                              <a:latin typeface="Cambria Math" panose="02040503050406030204" pitchFamily="18" charset="0"/>
                            </a:rPr>
                          </m:ctrlPr>
                        </m:fPr>
                        <m:num>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m:t>
                                  </m:r>
                                </m:e>
                              </m:d>
                              <m:r>
                                <a:rPr lang="en-US" sz="2000" b="0" i="1" smtClean="0">
                                  <a:latin typeface="Cambria Math" panose="02040503050406030204" pitchFamily="18" charset="0"/>
                                </a:rPr>
                                <m:t>+</m:t>
                              </m:r>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1,3</m:t>
                                  </m:r>
                                </m:e>
                              </m:d>
                              <m:r>
                                <a:rPr lang="en-US" sz="2000" b="0" i="1" smtClean="0">
                                  <a:latin typeface="Cambria Math" panose="02040503050406030204" pitchFamily="18" charset="0"/>
                                </a:rPr>
                                <m:t>+</m:t>
                              </m:r>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1,4</m:t>
                                  </m:r>
                                </m:e>
                              </m:d>
                              <m:r>
                                <a:rPr lang="en-US" sz="2000" b="0" i="1" smtClean="0">
                                  <a:latin typeface="Cambria Math" panose="02040503050406030204" pitchFamily="18" charset="0"/>
                                </a:rPr>
                                <m:t>+</m:t>
                              </m:r>
                              <m:r>
                                <a:rPr lang="en-US" sz="2000" b="0" i="1" smtClean="0">
                                  <a:latin typeface="Cambria Math" panose="02040503050406030204" pitchFamily="18" charset="0"/>
                                </a:rPr>
                                <m:t>𝑑</m:t>
                              </m:r>
                              <m:r>
                                <a:rPr lang="en-US" sz="2000" b="0" i="1" smtClean="0">
                                  <a:latin typeface="Cambria Math" panose="02040503050406030204" pitchFamily="18" charset="0"/>
                                </a:rPr>
                                <m:t>(1,5)</m:t>
                              </m:r>
                            </m:e>
                          </m:d>
                        </m:num>
                        <m:den>
                          <m:r>
                            <a:rPr lang="en-US" sz="2000" b="0" i="1" smtClean="0">
                              <a:latin typeface="Cambria Math" panose="02040503050406030204" pitchFamily="18" charset="0"/>
                            </a:rPr>
                            <m:t>4</m:t>
                          </m:r>
                        </m:den>
                      </m:f>
                    </m:oMath>
                  </m:oMathPara>
                </a14:m>
                <a:endParaRPr lang="en-US" sz="2000" dirty="0"/>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m:t>
                      </m:r>
                      <m:f>
                        <m:fPr>
                          <m:ctrlPr>
                            <a:rPr lang="en-US" sz="2000" i="1">
                              <a:latin typeface="Cambria Math" panose="02040503050406030204" pitchFamily="18" charset="0"/>
                            </a:rPr>
                          </m:ctrlPr>
                        </m:fPr>
                        <m:num>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4+4+5+7</m:t>
                              </m:r>
                            </m:e>
                          </m:d>
                        </m:num>
                        <m:den>
                          <m:r>
                            <a:rPr lang="en-US" sz="2000" i="1">
                              <a:latin typeface="Cambria Math" panose="02040503050406030204" pitchFamily="18" charset="0"/>
                            </a:rPr>
                            <m:t>4</m:t>
                          </m:r>
                        </m:den>
                      </m:f>
                      <m:r>
                        <a:rPr lang="en-US" sz="2000" b="0" i="1" smtClean="0">
                          <a:latin typeface="Cambria Math" panose="02040503050406030204" pitchFamily="18" charset="0"/>
                        </a:rPr>
                        <m:t>=5</m:t>
                      </m:r>
                    </m:oMath>
                  </m:oMathPara>
                </a14:m>
                <a:endParaRPr lang="en-US" sz="2000" dirty="0"/>
              </a:p>
              <a:p>
                <a:endParaRPr lang="en-US" sz="2000" dirty="0"/>
              </a:p>
              <a:p>
                <a:r>
                  <a:rPr lang="en-US" sz="2000" dirty="0"/>
                  <a:t>Similarly, average distances for all the points are:</a:t>
                </a:r>
              </a:p>
              <a:p>
                <a:endParaRPr lang="en-US" sz="2000" dirty="0"/>
              </a:p>
            </p:txBody>
          </p:sp>
        </mc:Choice>
        <mc:Fallback xmlns="">
          <p:sp>
            <p:nvSpPr>
              <p:cNvPr id="3" name="Rectangle 2">
                <a:extLst>
                  <a:ext uri="{FF2B5EF4-FFF2-40B4-BE49-F238E27FC236}">
                    <a16:creationId xmlns:a16="http://schemas.microsoft.com/office/drawing/2014/main" id="{2F380DD1-8040-4402-9F0B-8374192D3B2C}"/>
                  </a:ext>
                </a:extLst>
              </p:cNvPr>
              <p:cNvSpPr>
                <a:spLocks noRot="1" noChangeAspect="1" noMove="1" noResize="1" noEditPoints="1" noAdjustHandles="1" noChangeArrowheads="1" noChangeShapeType="1" noTextEdit="1"/>
              </p:cNvSpPr>
              <p:nvPr/>
            </p:nvSpPr>
            <p:spPr>
              <a:xfrm>
                <a:off x="4257820" y="1496982"/>
                <a:ext cx="6419557" cy="3561744"/>
              </a:xfrm>
              <a:prstGeom prst="rect">
                <a:avLst/>
              </a:prstGeom>
              <a:blipFill>
                <a:blip r:embed="rId4"/>
                <a:stretch>
                  <a:fillRect l="-1898" t="-1712"/>
                </a:stretch>
              </a:blipFill>
            </p:spPr>
            <p:txBody>
              <a:bodyPr/>
              <a:lstStyle/>
              <a:p>
                <a:r>
                  <a:rPr lang="en-US">
                    <a:noFill/>
                  </a:rPr>
                  <a:t> </a:t>
                </a:r>
              </a:p>
            </p:txBody>
          </p:sp>
        </mc:Fallback>
      </mc:AlternateContent>
      <p:graphicFrame>
        <p:nvGraphicFramePr>
          <p:cNvPr id="14" name="Table 4">
            <a:extLst>
              <a:ext uri="{FF2B5EF4-FFF2-40B4-BE49-F238E27FC236}">
                <a16:creationId xmlns:a16="http://schemas.microsoft.com/office/drawing/2014/main" id="{C35ADB3A-5CC2-493C-A3BA-5E98ECFF39DF}"/>
              </a:ext>
            </a:extLst>
          </p:cNvPr>
          <p:cNvGraphicFramePr>
            <a:graphicFrameLocks noGrp="1"/>
          </p:cNvGraphicFramePr>
          <p:nvPr/>
        </p:nvGraphicFramePr>
        <p:xfrm>
          <a:off x="4380594" y="4756339"/>
          <a:ext cx="5577840" cy="103632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1805294303"/>
                    </a:ext>
                  </a:extLst>
                </a:gridCol>
                <a:gridCol w="822960">
                  <a:extLst>
                    <a:ext uri="{9D8B030D-6E8A-4147-A177-3AD203B41FA5}">
                      <a16:colId xmlns:a16="http://schemas.microsoft.com/office/drawing/2014/main" val="3647138510"/>
                    </a:ext>
                  </a:extLst>
                </a:gridCol>
                <a:gridCol w="822960">
                  <a:extLst>
                    <a:ext uri="{9D8B030D-6E8A-4147-A177-3AD203B41FA5}">
                      <a16:colId xmlns:a16="http://schemas.microsoft.com/office/drawing/2014/main" val="2796514293"/>
                    </a:ext>
                  </a:extLst>
                </a:gridCol>
                <a:gridCol w="822960">
                  <a:extLst>
                    <a:ext uri="{9D8B030D-6E8A-4147-A177-3AD203B41FA5}">
                      <a16:colId xmlns:a16="http://schemas.microsoft.com/office/drawing/2014/main" val="101503152"/>
                    </a:ext>
                  </a:extLst>
                </a:gridCol>
                <a:gridCol w="822960">
                  <a:extLst>
                    <a:ext uri="{9D8B030D-6E8A-4147-A177-3AD203B41FA5}">
                      <a16:colId xmlns:a16="http://schemas.microsoft.com/office/drawing/2014/main" val="4084853948"/>
                    </a:ext>
                  </a:extLst>
                </a:gridCol>
                <a:gridCol w="822960">
                  <a:extLst>
                    <a:ext uri="{9D8B030D-6E8A-4147-A177-3AD203B41FA5}">
                      <a16:colId xmlns:a16="http://schemas.microsoft.com/office/drawing/2014/main" val="1758671543"/>
                    </a:ext>
                  </a:extLst>
                </a:gridCol>
              </a:tblGrid>
              <a:tr h="370840">
                <a:tc>
                  <a:txBody>
                    <a:bodyPr/>
                    <a:lstStyle/>
                    <a:p>
                      <a:pPr algn="l"/>
                      <a:r>
                        <a:rPr lang="en-US" sz="2800" dirty="0"/>
                        <a:t>Point</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l"/>
                      <a:r>
                        <a:rPr lang="en-US" sz="2800" dirty="0"/>
                        <a:t>Distance</a:t>
                      </a:r>
                    </a:p>
                  </a:txBody>
                  <a:tcPr/>
                </a:tc>
                <a:tc>
                  <a:txBody>
                    <a:bodyPr/>
                    <a:lstStyle/>
                    <a:p>
                      <a:pPr algn="ctr"/>
                      <a:r>
                        <a:rPr lang="en-US" sz="2800" dirty="0"/>
                        <a:t>5.00</a:t>
                      </a:r>
                    </a:p>
                  </a:txBody>
                  <a:tcPr/>
                </a:tc>
                <a:tc>
                  <a:txBody>
                    <a:bodyPr/>
                    <a:lstStyle/>
                    <a:p>
                      <a:pPr algn="ctr"/>
                      <a:r>
                        <a:rPr lang="en-US" sz="2800" dirty="0"/>
                        <a:t>3.50</a:t>
                      </a:r>
                    </a:p>
                  </a:txBody>
                  <a:tcPr/>
                </a:tc>
                <a:tc>
                  <a:txBody>
                    <a:bodyPr/>
                    <a:lstStyle/>
                    <a:p>
                      <a:pPr algn="ctr"/>
                      <a:r>
                        <a:rPr lang="en-US" sz="2800" dirty="0"/>
                        <a:t>5.00</a:t>
                      </a:r>
                    </a:p>
                  </a:txBody>
                  <a:tcPr/>
                </a:tc>
                <a:tc>
                  <a:txBody>
                    <a:bodyPr/>
                    <a:lstStyle/>
                    <a:p>
                      <a:pPr algn="ctr"/>
                      <a:r>
                        <a:rPr lang="en-US" sz="2800" dirty="0"/>
                        <a:t>3.75</a:t>
                      </a:r>
                    </a:p>
                  </a:txBody>
                  <a:tcPr/>
                </a:tc>
                <a:tc>
                  <a:txBody>
                    <a:bodyPr/>
                    <a:lstStyle/>
                    <a:p>
                      <a:pPr algn="ctr"/>
                      <a:r>
                        <a:rPr lang="en-US" sz="2800" dirty="0"/>
                        <a:t>4.75</a:t>
                      </a:r>
                    </a:p>
                  </a:txBody>
                  <a:tcPr/>
                </a:tc>
                <a:extLst>
                  <a:ext uri="{0D108BD9-81ED-4DB2-BD59-A6C34878D82A}">
                    <a16:rowId xmlns:a16="http://schemas.microsoft.com/office/drawing/2014/main" val="3215972794"/>
                  </a:ext>
                </a:extLst>
              </a:tr>
            </a:tbl>
          </a:graphicData>
        </a:graphic>
      </p:graphicFrame>
      <p:sp>
        <p:nvSpPr>
          <p:cNvPr id="6" name="Slide Number Placeholder 5">
            <a:extLst>
              <a:ext uri="{FF2B5EF4-FFF2-40B4-BE49-F238E27FC236}">
                <a16:creationId xmlns:a16="http://schemas.microsoft.com/office/drawing/2014/main" id="{90D5D67F-98AF-4E1D-B4B7-87A99439B46D}"/>
              </a:ext>
            </a:extLst>
          </p:cNvPr>
          <p:cNvSpPr>
            <a:spLocks noGrp="1"/>
          </p:cNvSpPr>
          <p:nvPr>
            <p:ph type="sldNum" sz="quarter" idx="12"/>
          </p:nvPr>
        </p:nvSpPr>
        <p:spPr/>
        <p:txBody>
          <a:bodyPr/>
          <a:lstStyle/>
          <a:p>
            <a:fld id="{4CC025FC-8595-493D-A46F-2FDFDC85D9BC}" type="slidenum">
              <a:rPr lang="en-US" smtClean="0"/>
              <a:t>61</a:t>
            </a:fld>
            <a:endParaRPr lang="en-US"/>
          </a:p>
        </p:txBody>
      </p:sp>
    </p:spTree>
    <p:extLst>
      <p:ext uri="{BB962C8B-B14F-4D97-AF65-F5344CB8AC3E}">
        <p14:creationId xmlns:p14="http://schemas.microsoft.com/office/powerpoint/2010/main" val="35169688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a:t>
            </a:r>
          </a:p>
        </p:txBody>
      </p:sp>
      <p:graphicFrame>
        <p:nvGraphicFramePr>
          <p:cNvPr id="14" name="Table 4">
            <a:extLst>
              <a:ext uri="{FF2B5EF4-FFF2-40B4-BE49-F238E27FC236}">
                <a16:creationId xmlns:a16="http://schemas.microsoft.com/office/drawing/2014/main" id="{C35ADB3A-5CC2-493C-A3BA-5E98ECFF39DF}"/>
              </a:ext>
            </a:extLst>
          </p:cNvPr>
          <p:cNvGraphicFramePr>
            <a:graphicFrameLocks noGrp="1"/>
          </p:cNvGraphicFramePr>
          <p:nvPr/>
        </p:nvGraphicFramePr>
        <p:xfrm>
          <a:off x="6212378" y="1547318"/>
          <a:ext cx="5577840" cy="103632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1805294303"/>
                    </a:ext>
                  </a:extLst>
                </a:gridCol>
                <a:gridCol w="822960">
                  <a:extLst>
                    <a:ext uri="{9D8B030D-6E8A-4147-A177-3AD203B41FA5}">
                      <a16:colId xmlns:a16="http://schemas.microsoft.com/office/drawing/2014/main" val="3647138510"/>
                    </a:ext>
                  </a:extLst>
                </a:gridCol>
                <a:gridCol w="822960">
                  <a:extLst>
                    <a:ext uri="{9D8B030D-6E8A-4147-A177-3AD203B41FA5}">
                      <a16:colId xmlns:a16="http://schemas.microsoft.com/office/drawing/2014/main" val="2796514293"/>
                    </a:ext>
                  </a:extLst>
                </a:gridCol>
                <a:gridCol w="822960">
                  <a:extLst>
                    <a:ext uri="{9D8B030D-6E8A-4147-A177-3AD203B41FA5}">
                      <a16:colId xmlns:a16="http://schemas.microsoft.com/office/drawing/2014/main" val="101503152"/>
                    </a:ext>
                  </a:extLst>
                </a:gridCol>
                <a:gridCol w="822960">
                  <a:extLst>
                    <a:ext uri="{9D8B030D-6E8A-4147-A177-3AD203B41FA5}">
                      <a16:colId xmlns:a16="http://schemas.microsoft.com/office/drawing/2014/main" val="4084853948"/>
                    </a:ext>
                  </a:extLst>
                </a:gridCol>
                <a:gridCol w="822960">
                  <a:extLst>
                    <a:ext uri="{9D8B030D-6E8A-4147-A177-3AD203B41FA5}">
                      <a16:colId xmlns:a16="http://schemas.microsoft.com/office/drawing/2014/main" val="1758671543"/>
                    </a:ext>
                  </a:extLst>
                </a:gridCol>
              </a:tblGrid>
              <a:tr h="370840">
                <a:tc>
                  <a:txBody>
                    <a:bodyPr/>
                    <a:lstStyle/>
                    <a:p>
                      <a:pPr algn="l"/>
                      <a:r>
                        <a:rPr lang="en-US" sz="2800" dirty="0"/>
                        <a:t>Point</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l"/>
                      <a:r>
                        <a:rPr lang="en-US" sz="2800" dirty="0"/>
                        <a:t>Distance</a:t>
                      </a:r>
                    </a:p>
                  </a:txBody>
                  <a:tcPr/>
                </a:tc>
                <a:tc>
                  <a:txBody>
                    <a:bodyPr/>
                    <a:lstStyle/>
                    <a:p>
                      <a:pPr algn="ctr"/>
                      <a:r>
                        <a:rPr lang="en-US" sz="2800" dirty="0"/>
                        <a:t>5.00</a:t>
                      </a:r>
                    </a:p>
                  </a:txBody>
                  <a:tcPr/>
                </a:tc>
                <a:tc>
                  <a:txBody>
                    <a:bodyPr/>
                    <a:lstStyle/>
                    <a:p>
                      <a:pPr algn="ctr"/>
                      <a:r>
                        <a:rPr lang="en-US" sz="2800" dirty="0"/>
                        <a:t>3.50</a:t>
                      </a:r>
                    </a:p>
                  </a:txBody>
                  <a:tcPr/>
                </a:tc>
                <a:tc>
                  <a:txBody>
                    <a:bodyPr/>
                    <a:lstStyle/>
                    <a:p>
                      <a:pPr algn="ctr"/>
                      <a:r>
                        <a:rPr lang="en-US" sz="2800" dirty="0"/>
                        <a:t>5.00</a:t>
                      </a:r>
                    </a:p>
                  </a:txBody>
                  <a:tcPr/>
                </a:tc>
                <a:tc>
                  <a:txBody>
                    <a:bodyPr/>
                    <a:lstStyle/>
                    <a:p>
                      <a:pPr algn="ctr"/>
                      <a:r>
                        <a:rPr lang="en-US" sz="2800" dirty="0"/>
                        <a:t>3.75</a:t>
                      </a:r>
                    </a:p>
                  </a:txBody>
                  <a:tcPr/>
                </a:tc>
                <a:tc>
                  <a:txBody>
                    <a:bodyPr/>
                    <a:lstStyle/>
                    <a:p>
                      <a:pPr algn="ctr"/>
                      <a:r>
                        <a:rPr lang="en-US" sz="2800" dirty="0"/>
                        <a:t>4.75</a:t>
                      </a:r>
                    </a:p>
                  </a:txBody>
                  <a:tcPr/>
                </a:tc>
                <a:extLst>
                  <a:ext uri="{0D108BD9-81ED-4DB2-BD59-A6C34878D82A}">
                    <a16:rowId xmlns:a16="http://schemas.microsoft.com/office/drawing/2014/main" val="3215972794"/>
                  </a:ext>
                </a:extLst>
              </a:tr>
            </a:tbl>
          </a:graphicData>
        </a:graphic>
      </p:graphicFrame>
      <p:sp>
        <p:nvSpPr>
          <p:cNvPr id="4" name="Rectangle 3">
            <a:extLst>
              <a:ext uri="{FF2B5EF4-FFF2-40B4-BE49-F238E27FC236}">
                <a16:creationId xmlns:a16="http://schemas.microsoft.com/office/drawing/2014/main" id="{231660AB-9ADB-47F4-B17D-73162FE2533C}"/>
              </a:ext>
            </a:extLst>
          </p:cNvPr>
          <p:cNvSpPr/>
          <p:nvPr/>
        </p:nvSpPr>
        <p:spPr>
          <a:xfrm>
            <a:off x="401782" y="1547318"/>
            <a:ext cx="5577840" cy="4278094"/>
          </a:xfrm>
          <a:prstGeom prst="rect">
            <a:avLst/>
          </a:prstGeom>
        </p:spPr>
        <p:txBody>
          <a:bodyPr wrap="square">
            <a:spAutoFit/>
          </a:bodyPr>
          <a:lstStyle/>
          <a:p>
            <a:pPr marL="571500" indent="-571500">
              <a:buFont typeface="Arial" panose="020B0604020202020204" pitchFamily="34" charset="0"/>
              <a:buChar char="•"/>
            </a:pPr>
            <a:r>
              <a:rPr lang="en-US" sz="3600" dirty="0"/>
              <a:t>Since points 1 and 3 are tied for the most dissimilar, we pick one of these arbitrarily.</a:t>
            </a:r>
          </a:p>
          <a:p>
            <a:pPr marL="571500" indent="-571500">
              <a:buFont typeface="Arial" panose="020B0604020202020204" pitchFamily="34" charset="0"/>
              <a:buChar char="•"/>
            </a:pPr>
            <a:r>
              <a:rPr lang="en-US" sz="3600" dirty="0"/>
              <a:t>I will use point 1.</a:t>
            </a:r>
          </a:p>
          <a:p>
            <a:pPr marL="571500" indent="-571500">
              <a:buFont typeface="Arial" panose="020B0604020202020204" pitchFamily="34" charset="0"/>
              <a:buChar char="•"/>
            </a:pPr>
            <a:r>
              <a:rPr lang="en-US" sz="3600" dirty="0"/>
              <a:t>Now we have </a:t>
            </a:r>
          </a:p>
          <a:p>
            <a:pPr marL="1028700" lvl="1" indent="-571500">
              <a:buFont typeface="Arial" panose="020B0604020202020204" pitchFamily="34" charset="0"/>
              <a:buChar char="•"/>
            </a:pPr>
            <a:r>
              <a:rPr lang="en-US" sz="2800" dirty="0">
                <a:solidFill>
                  <a:schemeClr val="accent1"/>
                </a:solidFill>
              </a:rPr>
              <a:t>A = {2,3,4,5} </a:t>
            </a:r>
          </a:p>
          <a:p>
            <a:pPr marL="1028700" lvl="1" indent="-571500">
              <a:buFont typeface="Arial" panose="020B0604020202020204" pitchFamily="34" charset="0"/>
              <a:buChar char="•"/>
            </a:pPr>
            <a:r>
              <a:rPr lang="en-US" sz="2800" dirty="0">
                <a:solidFill>
                  <a:schemeClr val="accent1"/>
                </a:solidFill>
              </a:rPr>
              <a:t>B = {1}</a:t>
            </a:r>
          </a:p>
        </p:txBody>
      </p:sp>
      <p:sp>
        <p:nvSpPr>
          <p:cNvPr id="6" name="Slide Number Placeholder 5">
            <a:extLst>
              <a:ext uri="{FF2B5EF4-FFF2-40B4-BE49-F238E27FC236}">
                <a16:creationId xmlns:a16="http://schemas.microsoft.com/office/drawing/2014/main" id="{ADD087FB-54F2-481E-B42F-E705FE134E6F}"/>
              </a:ext>
            </a:extLst>
          </p:cNvPr>
          <p:cNvSpPr>
            <a:spLocks noGrp="1"/>
          </p:cNvSpPr>
          <p:nvPr>
            <p:ph type="sldNum" sz="quarter" idx="12"/>
          </p:nvPr>
        </p:nvSpPr>
        <p:spPr/>
        <p:txBody>
          <a:bodyPr/>
          <a:lstStyle/>
          <a:p>
            <a:fld id="{4CC025FC-8595-493D-A46F-2FDFDC85D9BC}" type="slidenum">
              <a:rPr lang="en-US" smtClean="0"/>
              <a:t>62</a:t>
            </a:fld>
            <a:endParaRPr lang="en-US"/>
          </a:p>
        </p:txBody>
      </p:sp>
    </p:spTree>
    <p:extLst>
      <p:ext uri="{BB962C8B-B14F-4D97-AF65-F5344CB8AC3E}">
        <p14:creationId xmlns:p14="http://schemas.microsoft.com/office/powerpoint/2010/main" val="40619047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a:t>
            </a:r>
          </a:p>
        </p:txBody>
      </p:sp>
      <p:graphicFrame>
        <p:nvGraphicFramePr>
          <p:cNvPr id="11" name="Table 4">
            <a:extLst>
              <a:ext uri="{FF2B5EF4-FFF2-40B4-BE49-F238E27FC236}">
                <a16:creationId xmlns:a16="http://schemas.microsoft.com/office/drawing/2014/main" id="{6817CDC0-657B-4A8C-A062-86C8C4DD010D}"/>
              </a:ext>
            </a:extLst>
          </p:cNvPr>
          <p:cNvGraphicFramePr>
            <a:graphicFrameLocks noGrp="1"/>
          </p:cNvGraphicFramePr>
          <p:nvPr/>
        </p:nvGraphicFramePr>
        <p:xfrm>
          <a:off x="401782" y="1647379"/>
          <a:ext cx="3652056" cy="3108960"/>
        </p:xfrm>
        <a:graphic>
          <a:graphicData uri="http://schemas.openxmlformats.org/drawingml/2006/table">
            <a:tbl>
              <a:tblPr firstRow="1" firstCol="1" bandRow="1">
                <a:tableStyleId>{5C22544A-7EE6-4342-B048-85BDC9FD1C3A}</a:tableStyleId>
              </a:tblPr>
              <a:tblGrid>
                <a:gridCol w="608676">
                  <a:extLst>
                    <a:ext uri="{9D8B030D-6E8A-4147-A177-3AD203B41FA5}">
                      <a16:colId xmlns:a16="http://schemas.microsoft.com/office/drawing/2014/main" val="1805294303"/>
                    </a:ext>
                  </a:extLst>
                </a:gridCol>
                <a:gridCol w="608676">
                  <a:extLst>
                    <a:ext uri="{9D8B030D-6E8A-4147-A177-3AD203B41FA5}">
                      <a16:colId xmlns:a16="http://schemas.microsoft.com/office/drawing/2014/main" val="3647138510"/>
                    </a:ext>
                  </a:extLst>
                </a:gridCol>
                <a:gridCol w="608676">
                  <a:extLst>
                    <a:ext uri="{9D8B030D-6E8A-4147-A177-3AD203B41FA5}">
                      <a16:colId xmlns:a16="http://schemas.microsoft.com/office/drawing/2014/main" val="2796514293"/>
                    </a:ext>
                  </a:extLst>
                </a:gridCol>
                <a:gridCol w="608676">
                  <a:extLst>
                    <a:ext uri="{9D8B030D-6E8A-4147-A177-3AD203B41FA5}">
                      <a16:colId xmlns:a16="http://schemas.microsoft.com/office/drawing/2014/main" val="101503152"/>
                    </a:ext>
                  </a:extLst>
                </a:gridCol>
                <a:gridCol w="608676">
                  <a:extLst>
                    <a:ext uri="{9D8B030D-6E8A-4147-A177-3AD203B41FA5}">
                      <a16:colId xmlns:a16="http://schemas.microsoft.com/office/drawing/2014/main" val="4084853948"/>
                    </a:ext>
                  </a:extLst>
                </a:gridCol>
                <a:gridCol w="608676">
                  <a:extLst>
                    <a:ext uri="{9D8B030D-6E8A-4147-A177-3AD203B41FA5}">
                      <a16:colId xmlns:a16="http://schemas.microsoft.com/office/drawing/2014/main" val="1758671543"/>
                    </a:ext>
                  </a:extLst>
                </a:gridCol>
              </a:tblGrid>
              <a:tr h="370840">
                <a:tc>
                  <a:txBody>
                    <a:bodyPr/>
                    <a:lstStyle/>
                    <a:p>
                      <a:pPr algn="ctr"/>
                      <a:r>
                        <a:rPr lang="en-US" sz="2800" dirty="0"/>
                        <a:t>ID</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ctr"/>
                      <a:r>
                        <a:rPr lang="en-US" sz="2800" dirty="0"/>
                        <a:t>1</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3215972794"/>
                  </a:ext>
                </a:extLst>
              </a:tr>
              <a:tr h="370840">
                <a:tc>
                  <a:txBody>
                    <a:bodyPr/>
                    <a:lstStyle/>
                    <a:p>
                      <a:pPr algn="ctr"/>
                      <a:r>
                        <a:rPr lang="en-US" sz="2800" dirty="0"/>
                        <a:t>2</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3</a:t>
                      </a:r>
                    </a:p>
                  </a:txBody>
                  <a:tcPr/>
                </a:tc>
                <a:tc>
                  <a:txBody>
                    <a:bodyPr/>
                    <a:lstStyle/>
                    <a:p>
                      <a:pPr algn="ctr"/>
                      <a:r>
                        <a:rPr lang="en-US" sz="2800" dirty="0"/>
                        <a:t>3</a:t>
                      </a:r>
                    </a:p>
                  </a:txBody>
                  <a:tcPr/>
                </a:tc>
                <a:extLst>
                  <a:ext uri="{0D108BD9-81ED-4DB2-BD59-A6C34878D82A}">
                    <a16:rowId xmlns:a16="http://schemas.microsoft.com/office/drawing/2014/main" val="1164287607"/>
                  </a:ext>
                </a:extLst>
              </a:tr>
              <a:tr h="370840">
                <a:tc>
                  <a:txBody>
                    <a:bodyPr/>
                    <a:lstStyle/>
                    <a:p>
                      <a:pPr algn="ctr"/>
                      <a:r>
                        <a:rPr lang="en-US" sz="2800" dirty="0"/>
                        <a:t>3</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1107901026"/>
                  </a:ext>
                </a:extLst>
              </a:tr>
              <a:tr h="370840">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3</a:t>
                      </a:r>
                    </a:p>
                  </a:txBody>
                  <a:tcPr/>
                </a:tc>
                <a:tc>
                  <a:txBody>
                    <a:bodyPr/>
                    <a:lstStyle/>
                    <a:p>
                      <a:pPr algn="ctr"/>
                      <a:r>
                        <a:rPr lang="en-US" sz="2800" dirty="0"/>
                        <a:t>5</a:t>
                      </a:r>
                    </a:p>
                  </a:txBody>
                  <a:tcPr/>
                </a:tc>
                <a:tc>
                  <a:txBody>
                    <a:bodyPr/>
                    <a:lstStyle/>
                    <a:p>
                      <a:pPr algn="ctr"/>
                      <a:r>
                        <a:rPr lang="en-US" sz="2800" dirty="0"/>
                        <a:t>0</a:t>
                      </a:r>
                    </a:p>
                  </a:txBody>
                  <a:tcPr/>
                </a:tc>
                <a:tc>
                  <a:txBody>
                    <a:bodyPr/>
                    <a:lstStyle/>
                    <a:p>
                      <a:pPr algn="ctr"/>
                      <a:r>
                        <a:rPr lang="en-US" sz="2800" dirty="0"/>
                        <a:t>2</a:t>
                      </a:r>
                    </a:p>
                  </a:txBody>
                  <a:tcPr/>
                </a:tc>
                <a:extLst>
                  <a:ext uri="{0D108BD9-81ED-4DB2-BD59-A6C34878D82A}">
                    <a16:rowId xmlns:a16="http://schemas.microsoft.com/office/drawing/2014/main" val="1217031025"/>
                  </a:ext>
                </a:extLst>
              </a:tr>
              <a:tr h="370840">
                <a:tc>
                  <a:txBody>
                    <a:bodyPr/>
                    <a:lstStyle/>
                    <a:p>
                      <a:pPr algn="ctr"/>
                      <a:r>
                        <a:rPr lang="en-US" sz="2800" dirty="0"/>
                        <a:t>5</a:t>
                      </a:r>
                    </a:p>
                  </a:txBody>
                  <a:tcPr/>
                </a:tc>
                <a:tc>
                  <a:txBody>
                    <a:bodyPr/>
                    <a:lstStyle/>
                    <a:p>
                      <a:pPr algn="ctr"/>
                      <a:r>
                        <a:rPr lang="en-US" sz="2800" dirty="0"/>
                        <a:t>7</a:t>
                      </a:r>
                    </a:p>
                  </a:txBody>
                  <a:tcPr/>
                </a:tc>
                <a:tc>
                  <a:txBody>
                    <a:bodyPr/>
                    <a:lstStyle/>
                    <a:p>
                      <a:pPr algn="ctr"/>
                      <a:r>
                        <a:rPr lang="en-US" sz="2800" dirty="0"/>
                        <a:t>3</a:t>
                      </a:r>
                    </a:p>
                  </a:txBody>
                  <a:tcPr/>
                </a:tc>
                <a:tc>
                  <a:txBody>
                    <a:bodyPr/>
                    <a:lstStyle/>
                    <a:p>
                      <a:pPr algn="ctr"/>
                      <a:r>
                        <a:rPr lang="en-US" sz="2800" dirty="0"/>
                        <a:t>7</a:t>
                      </a:r>
                    </a:p>
                  </a:txBody>
                  <a:tcPr/>
                </a:tc>
                <a:tc>
                  <a:txBody>
                    <a:bodyPr/>
                    <a:lstStyle/>
                    <a:p>
                      <a:pPr algn="ctr"/>
                      <a:r>
                        <a:rPr lang="en-US" sz="2800" dirty="0"/>
                        <a:t>2</a:t>
                      </a:r>
                    </a:p>
                  </a:txBody>
                  <a:tcPr/>
                </a:tc>
                <a:tc>
                  <a:txBody>
                    <a:bodyPr/>
                    <a:lstStyle/>
                    <a:p>
                      <a:pPr algn="ctr"/>
                      <a:r>
                        <a:rPr lang="en-US" sz="2800" dirty="0"/>
                        <a:t>0</a:t>
                      </a:r>
                    </a:p>
                  </a:txBody>
                  <a:tcPr/>
                </a:tc>
                <a:extLst>
                  <a:ext uri="{0D108BD9-81ED-4DB2-BD59-A6C34878D82A}">
                    <a16:rowId xmlns:a16="http://schemas.microsoft.com/office/drawing/2014/main" val="1917570298"/>
                  </a:ext>
                </a:extLst>
              </a:tr>
            </a:tbl>
          </a:graphicData>
        </a:graphic>
      </p:graphicFrame>
      <p:sp>
        <p:nvSpPr>
          <p:cNvPr id="12" name="TextBox 11">
            <a:extLst>
              <a:ext uri="{FF2B5EF4-FFF2-40B4-BE49-F238E27FC236}">
                <a16:creationId xmlns:a16="http://schemas.microsoft.com/office/drawing/2014/main" id="{14322BB0-066E-474A-8202-343F10C53478}"/>
              </a:ext>
            </a:extLst>
          </p:cNvPr>
          <p:cNvSpPr txBox="1"/>
          <p:nvPr/>
        </p:nvSpPr>
        <p:spPr>
          <a:xfrm>
            <a:off x="401782" y="4810390"/>
            <a:ext cx="3652056" cy="307777"/>
          </a:xfrm>
          <a:prstGeom prst="rect">
            <a:avLst/>
          </a:prstGeom>
          <a:noFill/>
        </p:spPr>
        <p:txBody>
          <a:bodyPr wrap="square" rtlCol="0">
            <a:spAutoFit/>
          </a:bodyPr>
          <a:lstStyle/>
          <a:p>
            <a:pPr algn="ctr"/>
            <a:r>
              <a:rPr lang="en-US" sz="1400" dirty="0"/>
              <a:t>Proximity Matrix using Manhattan Distance</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F380DD1-8040-4402-9F0B-8374192D3B2C}"/>
                  </a:ext>
                </a:extLst>
              </p:cNvPr>
              <p:cNvSpPr/>
              <p:nvPr/>
            </p:nvSpPr>
            <p:spPr>
              <a:xfrm>
                <a:off x="4257820" y="1496982"/>
                <a:ext cx="6419557" cy="3746410"/>
              </a:xfrm>
              <a:prstGeom prst="rect">
                <a:avLst/>
              </a:prstGeom>
            </p:spPr>
            <p:txBody>
              <a:bodyPr wrap="square">
                <a:spAutoFit/>
              </a:bodyPr>
              <a:lstStyle/>
              <a:p>
                <a:r>
                  <a:rPr lang="en-US" sz="2000" dirty="0"/>
                  <a:t>Now we want to move any points that are closer to B than (the other points in) A into B. So for each point x in A we compute d(x, A) and d(</a:t>
                </a:r>
                <a:r>
                  <a:rPr lang="en-US" sz="2000" dirty="0" err="1"/>
                  <a:t>x,B</a:t>
                </a:r>
                <a:r>
                  <a:rPr lang="en-US" sz="2000" dirty="0"/>
                  <a:t>). For example, for point 2 we compute:</a:t>
                </a:r>
              </a:p>
              <a:p>
                <a:endParaRPr lang="en-US" sz="2000" dirty="0"/>
              </a:p>
              <a:p>
                <a:pPr/>
                <a14:m>
                  <m:oMathPara xmlns:m="http://schemas.openxmlformats.org/officeDocument/2006/math">
                    <m:oMathParaPr>
                      <m:jc m:val="left"/>
                    </m:oMathParaPr>
                    <m:oMath xmlns:m="http://schemas.openxmlformats.org/officeDocument/2006/math">
                      <m:f>
                        <m:fPr>
                          <m:ctrlPr>
                            <a:rPr lang="en-US" sz="2000" i="1" smtClean="0">
                              <a:latin typeface="Cambria Math" panose="02040503050406030204" pitchFamily="18" charset="0"/>
                            </a:rPr>
                          </m:ctrlPr>
                        </m:fPr>
                        <m:num>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2,3</m:t>
                                  </m:r>
                                </m:e>
                              </m:d>
                              <m:r>
                                <a:rPr lang="en-US" sz="2000" b="0" i="1" smtClean="0">
                                  <a:latin typeface="Cambria Math" panose="02040503050406030204" pitchFamily="18" charset="0"/>
                                </a:rPr>
                                <m:t>+</m:t>
                              </m:r>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2,4</m:t>
                                  </m:r>
                                </m:e>
                              </m:d>
                              <m:r>
                                <a:rPr lang="en-US" sz="2000" b="0" i="1" smtClean="0">
                                  <a:latin typeface="Cambria Math" panose="02040503050406030204" pitchFamily="18" charset="0"/>
                                </a:rPr>
                                <m:t>+</m:t>
                              </m:r>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2,5</m:t>
                                  </m:r>
                                </m:e>
                              </m:d>
                            </m:e>
                          </m:d>
                        </m:num>
                        <m:den>
                          <m:r>
                            <a:rPr lang="en-US" sz="2000" b="0" i="1" smtClean="0">
                              <a:latin typeface="Cambria Math" panose="02040503050406030204" pitchFamily="18" charset="0"/>
                            </a:rPr>
                            <m:t>3</m:t>
                          </m:r>
                        </m:den>
                      </m:f>
                      <m:r>
                        <a:rPr lang="en-US" sz="2000" i="1">
                          <a:latin typeface="Cambria Math" panose="02040503050406030204" pitchFamily="18" charset="0"/>
                        </a:rPr>
                        <m:t>−[</m:t>
                      </m:r>
                      <m:r>
                        <a:rPr lang="en-US" sz="2000" i="1">
                          <a:latin typeface="Cambria Math" panose="02040503050406030204" pitchFamily="18" charset="0"/>
                        </a:rPr>
                        <m:t>𝑑</m:t>
                      </m:r>
                      <m:d>
                        <m:dPr>
                          <m:ctrlPr>
                            <a:rPr lang="en-US" sz="2000" i="1">
                              <a:latin typeface="Cambria Math" panose="02040503050406030204" pitchFamily="18" charset="0"/>
                            </a:rPr>
                          </m:ctrlPr>
                        </m:dPr>
                        <m:e>
                          <m:r>
                            <a:rPr lang="en-US" sz="2000" i="1">
                              <a:latin typeface="Cambria Math" panose="02040503050406030204" pitchFamily="18" charset="0"/>
                            </a:rPr>
                            <m:t>2,1</m:t>
                          </m:r>
                        </m:e>
                      </m:d>
                      <m:r>
                        <a:rPr lang="en-US" sz="2000" i="1">
                          <a:latin typeface="Cambria Math" panose="02040503050406030204" pitchFamily="18" charset="0"/>
                        </a:rPr>
                        <m:t>]</m:t>
                      </m:r>
                    </m:oMath>
                  </m:oMathPara>
                </a14:m>
                <a:endParaRPr lang="en-US" sz="2000" dirty="0"/>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m:t>
                      </m:r>
                      <m:f>
                        <m:fPr>
                          <m:ctrlPr>
                            <a:rPr lang="en-US" sz="2000" i="1">
                              <a:latin typeface="Cambria Math" panose="02040503050406030204" pitchFamily="18" charset="0"/>
                            </a:rPr>
                          </m:ctrlPr>
                        </m:fPr>
                        <m:num>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4+3+3</m:t>
                              </m:r>
                            </m:e>
                          </m:d>
                        </m:num>
                        <m:den>
                          <m:r>
                            <a:rPr lang="en-US" sz="2000" b="0" i="1" smtClean="0">
                              <a:latin typeface="Cambria Math" panose="02040503050406030204" pitchFamily="18" charset="0"/>
                            </a:rPr>
                            <m:t>3</m:t>
                          </m:r>
                        </m:den>
                      </m:f>
                      <m:r>
                        <a:rPr lang="en-US" sz="2000" b="0" i="1" smtClean="0">
                          <a:latin typeface="Cambria Math" panose="02040503050406030204" pitchFamily="18" charset="0"/>
                        </a:rPr>
                        <m:t>−4=−0.67</m:t>
                      </m:r>
                    </m:oMath>
                  </m:oMathPara>
                </a14:m>
                <a:endParaRPr lang="en-US" sz="2000" dirty="0"/>
              </a:p>
              <a:p>
                <a:endParaRPr lang="en-US" sz="2000" dirty="0"/>
              </a:p>
              <a:p>
                <a:r>
                  <a:rPr lang="en-US" sz="2000" dirty="0"/>
                  <a:t>Similarly, average distances for all the points are:</a:t>
                </a:r>
              </a:p>
              <a:p>
                <a:endParaRPr lang="en-US" sz="2000" dirty="0"/>
              </a:p>
            </p:txBody>
          </p:sp>
        </mc:Choice>
        <mc:Fallback xmlns="">
          <p:sp>
            <p:nvSpPr>
              <p:cNvPr id="3" name="Rectangle 2">
                <a:extLst>
                  <a:ext uri="{FF2B5EF4-FFF2-40B4-BE49-F238E27FC236}">
                    <a16:creationId xmlns:a16="http://schemas.microsoft.com/office/drawing/2014/main" id="{2F380DD1-8040-4402-9F0B-8374192D3B2C}"/>
                  </a:ext>
                </a:extLst>
              </p:cNvPr>
              <p:cNvSpPr>
                <a:spLocks noRot="1" noChangeAspect="1" noMove="1" noResize="1" noEditPoints="1" noAdjustHandles="1" noChangeArrowheads="1" noChangeShapeType="1" noTextEdit="1"/>
              </p:cNvSpPr>
              <p:nvPr/>
            </p:nvSpPr>
            <p:spPr>
              <a:xfrm>
                <a:off x="4257820" y="1496982"/>
                <a:ext cx="6419557" cy="3746410"/>
              </a:xfrm>
              <a:prstGeom prst="rect">
                <a:avLst/>
              </a:prstGeom>
              <a:blipFill>
                <a:blip r:embed="rId4"/>
                <a:stretch>
                  <a:fillRect l="-949" t="-977"/>
                </a:stretch>
              </a:blipFill>
            </p:spPr>
            <p:txBody>
              <a:bodyPr/>
              <a:lstStyle/>
              <a:p>
                <a:r>
                  <a:rPr lang="en-US">
                    <a:noFill/>
                  </a:rPr>
                  <a:t> </a:t>
                </a:r>
              </a:p>
            </p:txBody>
          </p:sp>
        </mc:Fallback>
      </mc:AlternateContent>
      <p:graphicFrame>
        <p:nvGraphicFramePr>
          <p:cNvPr id="14" name="Table 4">
            <a:extLst>
              <a:ext uri="{FF2B5EF4-FFF2-40B4-BE49-F238E27FC236}">
                <a16:creationId xmlns:a16="http://schemas.microsoft.com/office/drawing/2014/main" id="{C35ADB3A-5CC2-493C-A3BA-5E98ECFF39DF}"/>
              </a:ext>
            </a:extLst>
          </p:cNvPr>
          <p:cNvGraphicFramePr>
            <a:graphicFrameLocks noGrp="1"/>
          </p:cNvGraphicFramePr>
          <p:nvPr/>
        </p:nvGraphicFramePr>
        <p:xfrm>
          <a:off x="4380594" y="4600007"/>
          <a:ext cx="5486400" cy="103632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1805294303"/>
                    </a:ext>
                  </a:extLst>
                </a:gridCol>
                <a:gridCol w="1005840">
                  <a:extLst>
                    <a:ext uri="{9D8B030D-6E8A-4147-A177-3AD203B41FA5}">
                      <a16:colId xmlns:a16="http://schemas.microsoft.com/office/drawing/2014/main" val="2796514293"/>
                    </a:ext>
                  </a:extLst>
                </a:gridCol>
                <a:gridCol w="1005840">
                  <a:extLst>
                    <a:ext uri="{9D8B030D-6E8A-4147-A177-3AD203B41FA5}">
                      <a16:colId xmlns:a16="http://schemas.microsoft.com/office/drawing/2014/main" val="101503152"/>
                    </a:ext>
                  </a:extLst>
                </a:gridCol>
                <a:gridCol w="1005840">
                  <a:extLst>
                    <a:ext uri="{9D8B030D-6E8A-4147-A177-3AD203B41FA5}">
                      <a16:colId xmlns:a16="http://schemas.microsoft.com/office/drawing/2014/main" val="4084853948"/>
                    </a:ext>
                  </a:extLst>
                </a:gridCol>
                <a:gridCol w="1005840">
                  <a:extLst>
                    <a:ext uri="{9D8B030D-6E8A-4147-A177-3AD203B41FA5}">
                      <a16:colId xmlns:a16="http://schemas.microsoft.com/office/drawing/2014/main" val="1758671543"/>
                    </a:ext>
                  </a:extLst>
                </a:gridCol>
              </a:tblGrid>
              <a:tr h="370840">
                <a:tc>
                  <a:txBody>
                    <a:bodyPr/>
                    <a:lstStyle/>
                    <a:p>
                      <a:pPr algn="l"/>
                      <a:r>
                        <a:rPr lang="en-US" sz="2800" dirty="0"/>
                        <a:t>Point</a:t>
                      </a:r>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l"/>
                      <a:r>
                        <a:rPr lang="en-US" sz="2800" dirty="0"/>
                        <a:t>Distance</a:t>
                      </a:r>
                    </a:p>
                  </a:txBody>
                  <a:tcPr/>
                </a:tc>
                <a:tc>
                  <a:txBody>
                    <a:bodyPr/>
                    <a:lstStyle/>
                    <a:p>
                      <a:pPr algn="ctr"/>
                      <a:r>
                        <a:rPr lang="en-US" sz="2800" dirty="0"/>
                        <a:t>-0.67</a:t>
                      </a:r>
                    </a:p>
                  </a:txBody>
                  <a:tcPr/>
                </a:tc>
                <a:tc>
                  <a:txBody>
                    <a:bodyPr/>
                    <a:lstStyle/>
                    <a:p>
                      <a:pPr algn="ctr"/>
                      <a:r>
                        <a:rPr lang="en-US" sz="2800" dirty="0"/>
                        <a:t>1.33</a:t>
                      </a:r>
                    </a:p>
                  </a:txBody>
                  <a:tcPr/>
                </a:tc>
                <a:tc>
                  <a:txBody>
                    <a:bodyPr/>
                    <a:lstStyle/>
                    <a:p>
                      <a:pPr algn="ctr"/>
                      <a:r>
                        <a:rPr lang="en-US" sz="2800" dirty="0"/>
                        <a:t>-1.67</a:t>
                      </a:r>
                    </a:p>
                  </a:txBody>
                  <a:tcPr/>
                </a:tc>
                <a:tc>
                  <a:txBody>
                    <a:bodyPr/>
                    <a:lstStyle/>
                    <a:p>
                      <a:pPr algn="ctr"/>
                      <a:r>
                        <a:rPr lang="en-US" sz="2800" dirty="0"/>
                        <a:t>-3</a:t>
                      </a:r>
                    </a:p>
                  </a:txBody>
                  <a:tcPr/>
                </a:tc>
                <a:extLst>
                  <a:ext uri="{0D108BD9-81ED-4DB2-BD59-A6C34878D82A}">
                    <a16:rowId xmlns:a16="http://schemas.microsoft.com/office/drawing/2014/main" val="3215972794"/>
                  </a:ext>
                </a:extLst>
              </a:tr>
            </a:tbl>
          </a:graphicData>
        </a:graphic>
      </p:graphicFrame>
      <p:sp>
        <p:nvSpPr>
          <p:cNvPr id="6" name="Slide Number Placeholder 5">
            <a:extLst>
              <a:ext uri="{FF2B5EF4-FFF2-40B4-BE49-F238E27FC236}">
                <a16:creationId xmlns:a16="http://schemas.microsoft.com/office/drawing/2014/main" id="{1AC6C132-A39D-4C97-B010-5AE289587F9F}"/>
              </a:ext>
            </a:extLst>
          </p:cNvPr>
          <p:cNvSpPr>
            <a:spLocks noGrp="1"/>
          </p:cNvSpPr>
          <p:nvPr>
            <p:ph type="sldNum" sz="quarter" idx="12"/>
          </p:nvPr>
        </p:nvSpPr>
        <p:spPr/>
        <p:txBody>
          <a:bodyPr/>
          <a:lstStyle/>
          <a:p>
            <a:fld id="{4CC025FC-8595-493D-A46F-2FDFDC85D9BC}" type="slidenum">
              <a:rPr lang="en-US" smtClean="0"/>
              <a:t>63</a:t>
            </a:fld>
            <a:endParaRPr lang="en-US"/>
          </a:p>
        </p:txBody>
      </p:sp>
    </p:spTree>
    <p:extLst>
      <p:ext uri="{BB962C8B-B14F-4D97-AF65-F5344CB8AC3E}">
        <p14:creationId xmlns:p14="http://schemas.microsoft.com/office/powerpoint/2010/main" val="38195904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a:t>
            </a:r>
          </a:p>
        </p:txBody>
      </p:sp>
      <p:graphicFrame>
        <p:nvGraphicFramePr>
          <p:cNvPr id="14" name="Table 4">
            <a:extLst>
              <a:ext uri="{FF2B5EF4-FFF2-40B4-BE49-F238E27FC236}">
                <a16:creationId xmlns:a16="http://schemas.microsoft.com/office/drawing/2014/main" id="{C35ADB3A-5CC2-493C-A3BA-5E98ECFF39DF}"/>
              </a:ext>
            </a:extLst>
          </p:cNvPr>
          <p:cNvGraphicFramePr>
            <a:graphicFrameLocks noGrp="1"/>
          </p:cNvGraphicFramePr>
          <p:nvPr/>
        </p:nvGraphicFramePr>
        <p:xfrm>
          <a:off x="6303818" y="1647379"/>
          <a:ext cx="5486400" cy="103632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1805294303"/>
                    </a:ext>
                  </a:extLst>
                </a:gridCol>
                <a:gridCol w="1005840">
                  <a:extLst>
                    <a:ext uri="{9D8B030D-6E8A-4147-A177-3AD203B41FA5}">
                      <a16:colId xmlns:a16="http://schemas.microsoft.com/office/drawing/2014/main" val="2796514293"/>
                    </a:ext>
                  </a:extLst>
                </a:gridCol>
                <a:gridCol w="1005840">
                  <a:extLst>
                    <a:ext uri="{9D8B030D-6E8A-4147-A177-3AD203B41FA5}">
                      <a16:colId xmlns:a16="http://schemas.microsoft.com/office/drawing/2014/main" val="101503152"/>
                    </a:ext>
                  </a:extLst>
                </a:gridCol>
                <a:gridCol w="1005840">
                  <a:extLst>
                    <a:ext uri="{9D8B030D-6E8A-4147-A177-3AD203B41FA5}">
                      <a16:colId xmlns:a16="http://schemas.microsoft.com/office/drawing/2014/main" val="4084853948"/>
                    </a:ext>
                  </a:extLst>
                </a:gridCol>
                <a:gridCol w="1005840">
                  <a:extLst>
                    <a:ext uri="{9D8B030D-6E8A-4147-A177-3AD203B41FA5}">
                      <a16:colId xmlns:a16="http://schemas.microsoft.com/office/drawing/2014/main" val="1758671543"/>
                    </a:ext>
                  </a:extLst>
                </a:gridCol>
              </a:tblGrid>
              <a:tr h="370840">
                <a:tc>
                  <a:txBody>
                    <a:bodyPr/>
                    <a:lstStyle/>
                    <a:p>
                      <a:pPr algn="l"/>
                      <a:r>
                        <a:rPr lang="en-US" sz="2800" dirty="0"/>
                        <a:t>Point</a:t>
                      </a:r>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l"/>
                      <a:r>
                        <a:rPr lang="en-US" sz="2800" dirty="0"/>
                        <a:t>Distance</a:t>
                      </a:r>
                    </a:p>
                  </a:txBody>
                  <a:tcPr/>
                </a:tc>
                <a:tc>
                  <a:txBody>
                    <a:bodyPr/>
                    <a:lstStyle/>
                    <a:p>
                      <a:pPr algn="ctr"/>
                      <a:r>
                        <a:rPr lang="en-US" sz="2800" dirty="0"/>
                        <a:t>-0.67</a:t>
                      </a:r>
                    </a:p>
                  </a:txBody>
                  <a:tcPr/>
                </a:tc>
                <a:tc>
                  <a:txBody>
                    <a:bodyPr/>
                    <a:lstStyle/>
                    <a:p>
                      <a:pPr algn="ctr"/>
                      <a:r>
                        <a:rPr lang="en-US" sz="2800" dirty="0"/>
                        <a:t>1.33</a:t>
                      </a:r>
                    </a:p>
                  </a:txBody>
                  <a:tcPr/>
                </a:tc>
                <a:tc>
                  <a:txBody>
                    <a:bodyPr/>
                    <a:lstStyle/>
                    <a:p>
                      <a:pPr algn="ctr"/>
                      <a:r>
                        <a:rPr lang="en-US" sz="2800" dirty="0"/>
                        <a:t>-1.67</a:t>
                      </a:r>
                    </a:p>
                  </a:txBody>
                  <a:tcPr/>
                </a:tc>
                <a:tc>
                  <a:txBody>
                    <a:bodyPr/>
                    <a:lstStyle/>
                    <a:p>
                      <a:pPr algn="ctr"/>
                      <a:r>
                        <a:rPr lang="en-US" sz="2800" dirty="0"/>
                        <a:t>-3</a:t>
                      </a:r>
                    </a:p>
                  </a:txBody>
                  <a:tcPr/>
                </a:tc>
                <a:extLst>
                  <a:ext uri="{0D108BD9-81ED-4DB2-BD59-A6C34878D82A}">
                    <a16:rowId xmlns:a16="http://schemas.microsoft.com/office/drawing/2014/main" val="3215972794"/>
                  </a:ext>
                </a:extLst>
              </a:tr>
            </a:tbl>
          </a:graphicData>
        </a:graphic>
      </p:graphicFrame>
      <p:sp>
        <p:nvSpPr>
          <p:cNvPr id="7" name="Rectangle 6">
            <a:extLst>
              <a:ext uri="{FF2B5EF4-FFF2-40B4-BE49-F238E27FC236}">
                <a16:creationId xmlns:a16="http://schemas.microsoft.com/office/drawing/2014/main" id="{33DA0B62-2408-49D5-8325-2DD6A98F24B6}"/>
              </a:ext>
            </a:extLst>
          </p:cNvPr>
          <p:cNvSpPr/>
          <p:nvPr/>
        </p:nvSpPr>
        <p:spPr>
          <a:xfrm>
            <a:off x="401782" y="1547318"/>
            <a:ext cx="5577840" cy="3170099"/>
          </a:xfrm>
          <a:prstGeom prst="rect">
            <a:avLst/>
          </a:prstGeom>
        </p:spPr>
        <p:txBody>
          <a:bodyPr wrap="square">
            <a:spAutoFit/>
          </a:bodyPr>
          <a:lstStyle/>
          <a:p>
            <a:pPr marL="571500" indent="-571500">
              <a:buFont typeface="Arial" panose="020B0604020202020204" pitchFamily="34" charset="0"/>
              <a:buChar char="•"/>
            </a:pPr>
            <a:r>
              <a:rPr lang="en-US" sz="3600" dirty="0"/>
              <a:t>Only point 3 is bigger than zero so we move it to cluster B. </a:t>
            </a:r>
          </a:p>
          <a:p>
            <a:pPr marL="571500" indent="-571500">
              <a:buFont typeface="Arial" panose="020B0604020202020204" pitchFamily="34" charset="0"/>
              <a:buChar char="•"/>
            </a:pPr>
            <a:r>
              <a:rPr lang="en-US" sz="3600" dirty="0"/>
              <a:t>Now we have</a:t>
            </a:r>
          </a:p>
          <a:p>
            <a:pPr marL="1028700" lvl="1" indent="-571500">
              <a:buFont typeface="Arial" panose="020B0604020202020204" pitchFamily="34" charset="0"/>
              <a:buChar char="•"/>
            </a:pPr>
            <a:r>
              <a:rPr lang="en-US" sz="2800" dirty="0">
                <a:solidFill>
                  <a:schemeClr val="accent1"/>
                </a:solidFill>
              </a:rPr>
              <a:t>A = {2,4,5} </a:t>
            </a:r>
          </a:p>
          <a:p>
            <a:pPr marL="1028700" lvl="1" indent="-571500">
              <a:buFont typeface="Arial" panose="020B0604020202020204" pitchFamily="34" charset="0"/>
              <a:buChar char="•"/>
            </a:pPr>
            <a:r>
              <a:rPr lang="en-US" sz="2800" dirty="0">
                <a:solidFill>
                  <a:schemeClr val="accent1"/>
                </a:solidFill>
              </a:rPr>
              <a:t>B = {1,3}</a:t>
            </a:r>
          </a:p>
        </p:txBody>
      </p:sp>
      <p:sp>
        <p:nvSpPr>
          <p:cNvPr id="5" name="Slide Number Placeholder 4">
            <a:extLst>
              <a:ext uri="{FF2B5EF4-FFF2-40B4-BE49-F238E27FC236}">
                <a16:creationId xmlns:a16="http://schemas.microsoft.com/office/drawing/2014/main" id="{BB1A5F8C-FFA7-4D49-AFC2-D409151C2D49}"/>
              </a:ext>
            </a:extLst>
          </p:cNvPr>
          <p:cNvSpPr>
            <a:spLocks noGrp="1"/>
          </p:cNvSpPr>
          <p:nvPr>
            <p:ph type="sldNum" sz="quarter" idx="12"/>
          </p:nvPr>
        </p:nvSpPr>
        <p:spPr/>
        <p:txBody>
          <a:bodyPr/>
          <a:lstStyle/>
          <a:p>
            <a:fld id="{4CC025FC-8595-493D-A46F-2FDFDC85D9BC}" type="slidenum">
              <a:rPr lang="en-US" smtClean="0"/>
              <a:t>64</a:t>
            </a:fld>
            <a:endParaRPr lang="en-US"/>
          </a:p>
        </p:txBody>
      </p:sp>
    </p:spTree>
    <p:extLst>
      <p:ext uri="{BB962C8B-B14F-4D97-AF65-F5344CB8AC3E}">
        <p14:creationId xmlns:p14="http://schemas.microsoft.com/office/powerpoint/2010/main" val="28200366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a:t>
            </a:r>
          </a:p>
        </p:txBody>
      </p:sp>
      <p:graphicFrame>
        <p:nvGraphicFramePr>
          <p:cNvPr id="11" name="Table 4">
            <a:extLst>
              <a:ext uri="{FF2B5EF4-FFF2-40B4-BE49-F238E27FC236}">
                <a16:creationId xmlns:a16="http://schemas.microsoft.com/office/drawing/2014/main" id="{6817CDC0-657B-4A8C-A062-86C8C4DD010D}"/>
              </a:ext>
            </a:extLst>
          </p:cNvPr>
          <p:cNvGraphicFramePr>
            <a:graphicFrameLocks noGrp="1"/>
          </p:cNvGraphicFramePr>
          <p:nvPr/>
        </p:nvGraphicFramePr>
        <p:xfrm>
          <a:off x="401782" y="1647379"/>
          <a:ext cx="3652056" cy="3108960"/>
        </p:xfrm>
        <a:graphic>
          <a:graphicData uri="http://schemas.openxmlformats.org/drawingml/2006/table">
            <a:tbl>
              <a:tblPr firstRow="1" firstCol="1" bandRow="1">
                <a:tableStyleId>{5C22544A-7EE6-4342-B048-85BDC9FD1C3A}</a:tableStyleId>
              </a:tblPr>
              <a:tblGrid>
                <a:gridCol w="608676">
                  <a:extLst>
                    <a:ext uri="{9D8B030D-6E8A-4147-A177-3AD203B41FA5}">
                      <a16:colId xmlns:a16="http://schemas.microsoft.com/office/drawing/2014/main" val="1805294303"/>
                    </a:ext>
                  </a:extLst>
                </a:gridCol>
                <a:gridCol w="608676">
                  <a:extLst>
                    <a:ext uri="{9D8B030D-6E8A-4147-A177-3AD203B41FA5}">
                      <a16:colId xmlns:a16="http://schemas.microsoft.com/office/drawing/2014/main" val="3647138510"/>
                    </a:ext>
                  </a:extLst>
                </a:gridCol>
                <a:gridCol w="608676">
                  <a:extLst>
                    <a:ext uri="{9D8B030D-6E8A-4147-A177-3AD203B41FA5}">
                      <a16:colId xmlns:a16="http://schemas.microsoft.com/office/drawing/2014/main" val="2796514293"/>
                    </a:ext>
                  </a:extLst>
                </a:gridCol>
                <a:gridCol w="608676">
                  <a:extLst>
                    <a:ext uri="{9D8B030D-6E8A-4147-A177-3AD203B41FA5}">
                      <a16:colId xmlns:a16="http://schemas.microsoft.com/office/drawing/2014/main" val="101503152"/>
                    </a:ext>
                  </a:extLst>
                </a:gridCol>
                <a:gridCol w="608676">
                  <a:extLst>
                    <a:ext uri="{9D8B030D-6E8A-4147-A177-3AD203B41FA5}">
                      <a16:colId xmlns:a16="http://schemas.microsoft.com/office/drawing/2014/main" val="4084853948"/>
                    </a:ext>
                  </a:extLst>
                </a:gridCol>
                <a:gridCol w="608676">
                  <a:extLst>
                    <a:ext uri="{9D8B030D-6E8A-4147-A177-3AD203B41FA5}">
                      <a16:colId xmlns:a16="http://schemas.microsoft.com/office/drawing/2014/main" val="1758671543"/>
                    </a:ext>
                  </a:extLst>
                </a:gridCol>
              </a:tblGrid>
              <a:tr h="370840">
                <a:tc>
                  <a:txBody>
                    <a:bodyPr/>
                    <a:lstStyle/>
                    <a:p>
                      <a:pPr algn="ctr"/>
                      <a:r>
                        <a:rPr lang="en-US" sz="2800" dirty="0"/>
                        <a:t>ID</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ctr"/>
                      <a:r>
                        <a:rPr lang="en-US" sz="2800" dirty="0"/>
                        <a:t>1</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3215972794"/>
                  </a:ext>
                </a:extLst>
              </a:tr>
              <a:tr h="370840">
                <a:tc>
                  <a:txBody>
                    <a:bodyPr/>
                    <a:lstStyle/>
                    <a:p>
                      <a:pPr algn="ctr"/>
                      <a:r>
                        <a:rPr lang="en-US" sz="2800" dirty="0"/>
                        <a:t>2</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3</a:t>
                      </a:r>
                    </a:p>
                  </a:txBody>
                  <a:tcPr/>
                </a:tc>
                <a:tc>
                  <a:txBody>
                    <a:bodyPr/>
                    <a:lstStyle/>
                    <a:p>
                      <a:pPr algn="ctr"/>
                      <a:r>
                        <a:rPr lang="en-US" sz="2800" dirty="0"/>
                        <a:t>3</a:t>
                      </a:r>
                    </a:p>
                  </a:txBody>
                  <a:tcPr/>
                </a:tc>
                <a:extLst>
                  <a:ext uri="{0D108BD9-81ED-4DB2-BD59-A6C34878D82A}">
                    <a16:rowId xmlns:a16="http://schemas.microsoft.com/office/drawing/2014/main" val="1164287607"/>
                  </a:ext>
                </a:extLst>
              </a:tr>
              <a:tr h="370840">
                <a:tc>
                  <a:txBody>
                    <a:bodyPr/>
                    <a:lstStyle/>
                    <a:p>
                      <a:pPr algn="ctr"/>
                      <a:r>
                        <a:rPr lang="en-US" sz="2800" dirty="0"/>
                        <a:t>3</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1107901026"/>
                  </a:ext>
                </a:extLst>
              </a:tr>
              <a:tr h="370840">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3</a:t>
                      </a:r>
                    </a:p>
                  </a:txBody>
                  <a:tcPr/>
                </a:tc>
                <a:tc>
                  <a:txBody>
                    <a:bodyPr/>
                    <a:lstStyle/>
                    <a:p>
                      <a:pPr algn="ctr"/>
                      <a:r>
                        <a:rPr lang="en-US" sz="2800" dirty="0"/>
                        <a:t>5</a:t>
                      </a:r>
                    </a:p>
                  </a:txBody>
                  <a:tcPr/>
                </a:tc>
                <a:tc>
                  <a:txBody>
                    <a:bodyPr/>
                    <a:lstStyle/>
                    <a:p>
                      <a:pPr algn="ctr"/>
                      <a:r>
                        <a:rPr lang="en-US" sz="2800" dirty="0"/>
                        <a:t>0</a:t>
                      </a:r>
                    </a:p>
                  </a:txBody>
                  <a:tcPr/>
                </a:tc>
                <a:tc>
                  <a:txBody>
                    <a:bodyPr/>
                    <a:lstStyle/>
                    <a:p>
                      <a:pPr algn="ctr"/>
                      <a:r>
                        <a:rPr lang="en-US" sz="2800" dirty="0"/>
                        <a:t>2</a:t>
                      </a:r>
                    </a:p>
                  </a:txBody>
                  <a:tcPr/>
                </a:tc>
                <a:extLst>
                  <a:ext uri="{0D108BD9-81ED-4DB2-BD59-A6C34878D82A}">
                    <a16:rowId xmlns:a16="http://schemas.microsoft.com/office/drawing/2014/main" val="1217031025"/>
                  </a:ext>
                </a:extLst>
              </a:tr>
              <a:tr h="370840">
                <a:tc>
                  <a:txBody>
                    <a:bodyPr/>
                    <a:lstStyle/>
                    <a:p>
                      <a:pPr algn="ctr"/>
                      <a:r>
                        <a:rPr lang="en-US" sz="2800" dirty="0"/>
                        <a:t>5</a:t>
                      </a:r>
                    </a:p>
                  </a:txBody>
                  <a:tcPr/>
                </a:tc>
                <a:tc>
                  <a:txBody>
                    <a:bodyPr/>
                    <a:lstStyle/>
                    <a:p>
                      <a:pPr algn="ctr"/>
                      <a:r>
                        <a:rPr lang="en-US" sz="2800" dirty="0"/>
                        <a:t>7</a:t>
                      </a:r>
                    </a:p>
                  </a:txBody>
                  <a:tcPr/>
                </a:tc>
                <a:tc>
                  <a:txBody>
                    <a:bodyPr/>
                    <a:lstStyle/>
                    <a:p>
                      <a:pPr algn="ctr"/>
                      <a:r>
                        <a:rPr lang="en-US" sz="2800" dirty="0"/>
                        <a:t>3</a:t>
                      </a:r>
                    </a:p>
                  </a:txBody>
                  <a:tcPr/>
                </a:tc>
                <a:tc>
                  <a:txBody>
                    <a:bodyPr/>
                    <a:lstStyle/>
                    <a:p>
                      <a:pPr algn="ctr"/>
                      <a:r>
                        <a:rPr lang="en-US" sz="2800" dirty="0"/>
                        <a:t>7</a:t>
                      </a:r>
                    </a:p>
                  </a:txBody>
                  <a:tcPr/>
                </a:tc>
                <a:tc>
                  <a:txBody>
                    <a:bodyPr/>
                    <a:lstStyle/>
                    <a:p>
                      <a:pPr algn="ctr"/>
                      <a:r>
                        <a:rPr lang="en-US" sz="2800" dirty="0"/>
                        <a:t>2</a:t>
                      </a:r>
                    </a:p>
                  </a:txBody>
                  <a:tcPr/>
                </a:tc>
                <a:tc>
                  <a:txBody>
                    <a:bodyPr/>
                    <a:lstStyle/>
                    <a:p>
                      <a:pPr algn="ctr"/>
                      <a:r>
                        <a:rPr lang="en-US" sz="2800" dirty="0"/>
                        <a:t>0</a:t>
                      </a:r>
                    </a:p>
                  </a:txBody>
                  <a:tcPr/>
                </a:tc>
                <a:extLst>
                  <a:ext uri="{0D108BD9-81ED-4DB2-BD59-A6C34878D82A}">
                    <a16:rowId xmlns:a16="http://schemas.microsoft.com/office/drawing/2014/main" val="1917570298"/>
                  </a:ext>
                </a:extLst>
              </a:tr>
            </a:tbl>
          </a:graphicData>
        </a:graphic>
      </p:graphicFrame>
      <p:sp>
        <p:nvSpPr>
          <p:cNvPr id="12" name="TextBox 11">
            <a:extLst>
              <a:ext uri="{FF2B5EF4-FFF2-40B4-BE49-F238E27FC236}">
                <a16:creationId xmlns:a16="http://schemas.microsoft.com/office/drawing/2014/main" id="{14322BB0-066E-474A-8202-343F10C53478}"/>
              </a:ext>
            </a:extLst>
          </p:cNvPr>
          <p:cNvSpPr txBox="1"/>
          <p:nvPr/>
        </p:nvSpPr>
        <p:spPr>
          <a:xfrm>
            <a:off x="401782" y="4810390"/>
            <a:ext cx="3652056" cy="307777"/>
          </a:xfrm>
          <a:prstGeom prst="rect">
            <a:avLst/>
          </a:prstGeom>
          <a:noFill/>
        </p:spPr>
        <p:txBody>
          <a:bodyPr wrap="square" rtlCol="0">
            <a:spAutoFit/>
          </a:bodyPr>
          <a:lstStyle/>
          <a:p>
            <a:pPr algn="ctr"/>
            <a:r>
              <a:rPr lang="en-US" sz="1400" dirty="0"/>
              <a:t>Proximity Matrix using Manhattan Distance</a:t>
            </a:r>
          </a:p>
        </p:txBody>
      </p:sp>
      <p:sp>
        <p:nvSpPr>
          <p:cNvPr id="3" name="Rectangle 2">
            <a:extLst>
              <a:ext uri="{FF2B5EF4-FFF2-40B4-BE49-F238E27FC236}">
                <a16:creationId xmlns:a16="http://schemas.microsoft.com/office/drawing/2014/main" id="{2F380DD1-8040-4402-9F0B-8374192D3B2C}"/>
              </a:ext>
            </a:extLst>
          </p:cNvPr>
          <p:cNvSpPr/>
          <p:nvPr/>
        </p:nvSpPr>
        <p:spPr>
          <a:xfrm>
            <a:off x="4257820" y="1496982"/>
            <a:ext cx="6419557" cy="1015663"/>
          </a:xfrm>
          <a:prstGeom prst="rect">
            <a:avLst/>
          </a:prstGeom>
        </p:spPr>
        <p:txBody>
          <a:bodyPr wrap="square">
            <a:spAutoFit/>
          </a:bodyPr>
          <a:lstStyle/>
          <a:p>
            <a:r>
              <a:rPr lang="en-US" sz="2000" dirty="0"/>
              <a:t>We check if any additional points should be moved. Again, we compute d(x, A) - d(</a:t>
            </a:r>
            <a:r>
              <a:rPr lang="en-US" sz="2000" dirty="0" err="1"/>
              <a:t>x,B</a:t>
            </a:r>
            <a:r>
              <a:rPr lang="en-US" sz="2000" dirty="0"/>
              <a:t>) for each point in A. The differences are:</a:t>
            </a:r>
          </a:p>
        </p:txBody>
      </p:sp>
      <p:graphicFrame>
        <p:nvGraphicFramePr>
          <p:cNvPr id="14" name="Table 4">
            <a:extLst>
              <a:ext uri="{FF2B5EF4-FFF2-40B4-BE49-F238E27FC236}">
                <a16:creationId xmlns:a16="http://schemas.microsoft.com/office/drawing/2014/main" id="{C35ADB3A-5CC2-493C-A3BA-5E98ECFF39DF}"/>
              </a:ext>
            </a:extLst>
          </p:cNvPr>
          <p:cNvGraphicFramePr>
            <a:graphicFrameLocks noGrp="1"/>
          </p:cNvGraphicFramePr>
          <p:nvPr/>
        </p:nvGraphicFramePr>
        <p:xfrm>
          <a:off x="4380594" y="2683699"/>
          <a:ext cx="4480560" cy="1036320"/>
        </p:xfrm>
        <a:graphic>
          <a:graphicData uri="http://schemas.openxmlformats.org/drawingml/2006/table">
            <a:tbl>
              <a:tblPr firstRow="1" firstCol="1" bandRow="1">
                <a:tableStyleId>{5C22544A-7EE6-4342-B048-85BDC9FD1C3A}</a:tableStyleId>
              </a:tblPr>
              <a:tblGrid>
                <a:gridCol w="1463040">
                  <a:extLst>
                    <a:ext uri="{9D8B030D-6E8A-4147-A177-3AD203B41FA5}">
                      <a16:colId xmlns:a16="http://schemas.microsoft.com/office/drawing/2014/main" val="1805294303"/>
                    </a:ext>
                  </a:extLst>
                </a:gridCol>
                <a:gridCol w="1005840">
                  <a:extLst>
                    <a:ext uri="{9D8B030D-6E8A-4147-A177-3AD203B41FA5}">
                      <a16:colId xmlns:a16="http://schemas.microsoft.com/office/drawing/2014/main" val="2796514293"/>
                    </a:ext>
                  </a:extLst>
                </a:gridCol>
                <a:gridCol w="1005840">
                  <a:extLst>
                    <a:ext uri="{9D8B030D-6E8A-4147-A177-3AD203B41FA5}">
                      <a16:colId xmlns:a16="http://schemas.microsoft.com/office/drawing/2014/main" val="101503152"/>
                    </a:ext>
                  </a:extLst>
                </a:gridCol>
                <a:gridCol w="1005840">
                  <a:extLst>
                    <a:ext uri="{9D8B030D-6E8A-4147-A177-3AD203B41FA5}">
                      <a16:colId xmlns:a16="http://schemas.microsoft.com/office/drawing/2014/main" val="4084853948"/>
                    </a:ext>
                  </a:extLst>
                </a:gridCol>
              </a:tblGrid>
              <a:tr h="370840">
                <a:tc>
                  <a:txBody>
                    <a:bodyPr/>
                    <a:lstStyle/>
                    <a:p>
                      <a:pPr algn="l"/>
                      <a:r>
                        <a:rPr lang="en-US" sz="2800" dirty="0"/>
                        <a:t>Point</a:t>
                      </a:r>
                    </a:p>
                  </a:txBody>
                  <a:tcPr/>
                </a:tc>
                <a:tc>
                  <a:txBody>
                    <a:bodyPr/>
                    <a:lstStyle/>
                    <a:p>
                      <a:pPr algn="ctr"/>
                      <a:r>
                        <a:rPr lang="en-US" sz="2800" dirty="0"/>
                        <a:t>2</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l"/>
                      <a:r>
                        <a:rPr lang="en-US" sz="2800" dirty="0"/>
                        <a:t>Distance</a:t>
                      </a:r>
                    </a:p>
                  </a:txBody>
                  <a:tcPr/>
                </a:tc>
                <a:tc>
                  <a:txBody>
                    <a:bodyPr/>
                    <a:lstStyle/>
                    <a:p>
                      <a:pPr algn="ctr"/>
                      <a:r>
                        <a:rPr lang="en-US" sz="2800" dirty="0"/>
                        <a:t>-1.0</a:t>
                      </a:r>
                    </a:p>
                  </a:txBody>
                  <a:tcPr/>
                </a:tc>
                <a:tc>
                  <a:txBody>
                    <a:bodyPr/>
                    <a:lstStyle/>
                    <a:p>
                      <a:pPr algn="ctr"/>
                      <a:r>
                        <a:rPr lang="en-US" sz="2800" dirty="0"/>
                        <a:t>-2.5</a:t>
                      </a:r>
                    </a:p>
                  </a:txBody>
                  <a:tcPr/>
                </a:tc>
                <a:tc>
                  <a:txBody>
                    <a:bodyPr/>
                    <a:lstStyle/>
                    <a:p>
                      <a:pPr algn="ctr"/>
                      <a:r>
                        <a:rPr lang="en-US" sz="2800" dirty="0"/>
                        <a:t>-4.5</a:t>
                      </a:r>
                    </a:p>
                  </a:txBody>
                  <a:tcPr/>
                </a:tc>
                <a:extLst>
                  <a:ext uri="{0D108BD9-81ED-4DB2-BD59-A6C34878D82A}">
                    <a16:rowId xmlns:a16="http://schemas.microsoft.com/office/drawing/2014/main" val="3215972794"/>
                  </a:ext>
                </a:extLst>
              </a:tr>
            </a:tbl>
          </a:graphicData>
        </a:graphic>
      </p:graphicFrame>
      <p:sp>
        <p:nvSpPr>
          <p:cNvPr id="7" name="Rectangle 6">
            <a:extLst>
              <a:ext uri="{FF2B5EF4-FFF2-40B4-BE49-F238E27FC236}">
                <a16:creationId xmlns:a16="http://schemas.microsoft.com/office/drawing/2014/main" id="{8DC26671-3BE4-4B18-A7C8-5B74A6E2CF2B}"/>
              </a:ext>
            </a:extLst>
          </p:cNvPr>
          <p:cNvSpPr/>
          <p:nvPr/>
        </p:nvSpPr>
        <p:spPr>
          <a:xfrm>
            <a:off x="4380594" y="3948615"/>
            <a:ext cx="6419557" cy="2062103"/>
          </a:xfrm>
          <a:prstGeom prst="rect">
            <a:avLst/>
          </a:prstGeom>
        </p:spPr>
        <p:txBody>
          <a:bodyPr wrap="square">
            <a:spAutoFit/>
          </a:bodyPr>
          <a:lstStyle/>
          <a:p>
            <a:r>
              <a:rPr lang="en-US" sz="3200" dirty="0"/>
              <a:t>All are negative (that is the remaining points in A are closer to A than to B), so we stop this division and we have the two clusters {2,4,5} and {1,3}.</a:t>
            </a:r>
          </a:p>
        </p:txBody>
      </p:sp>
      <p:sp>
        <p:nvSpPr>
          <p:cNvPr id="6" name="Slide Number Placeholder 5">
            <a:extLst>
              <a:ext uri="{FF2B5EF4-FFF2-40B4-BE49-F238E27FC236}">
                <a16:creationId xmlns:a16="http://schemas.microsoft.com/office/drawing/2014/main" id="{A53927D5-8CDD-4437-92BF-EE489C40A546}"/>
              </a:ext>
            </a:extLst>
          </p:cNvPr>
          <p:cNvSpPr>
            <a:spLocks noGrp="1"/>
          </p:cNvSpPr>
          <p:nvPr>
            <p:ph type="sldNum" sz="quarter" idx="12"/>
          </p:nvPr>
        </p:nvSpPr>
        <p:spPr/>
        <p:txBody>
          <a:bodyPr/>
          <a:lstStyle/>
          <a:p>
            <a:fld id="{4CC025FC-8595-493D-A46F-2FDFDC85D9BC}" type="slidenum">
              <a:rPr lang="en-US" smtClean="0"/>
              <a:t>65</a:t>
            </a:fld>
            <a:endParaRPr lang="en-US"/>
          </a:p>
        </p:txBody>
      </p:sp>
    </p:spTree>
    <p:extLst>
      <p:ext uri="{BB962C8B-B14F-4D97-AF65-F5344CB8AC3E}">
        <p14:creationId xmlns:p14="http://schemas.microsoft.com/office/powerpoint/2010/main" val="4554250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a:t>
            </a:r>
          </a:p>
        </p:txBody>
      </p:sp>
      <p:graphicFrame>
        <p:nvGraphicFramePr>
          <p:cNvPr id="11" name="Table 4">
            <a:extLst>
              <a:ext uri="{FF2B5EF4-FFF2-40B4-BE49-F238E27FC236}">
                <a16:creationId xmlns:a16="http://schemas.microsoft.com/office/drawing/2014/main" id="{6817CDC0-657B-4A8C-A062-86C8C4DD010D}"/>
              </a:ext>
            </a:extLst>
          </p:cNvPr>
          <p:cNvGraphicFramePr>
            <a:graphicFrameLocks noGrp="1"/>
          </p:cNvGraphicFramePr>
          <p:nvPr/>
        </p:nvGraphicFramePr>
        <p:xfrm>
          <a:off x="401782" y="1647379"/>
          <a:ext cx="3652056" cy="3108960"/>
        </p:xfrm>
        <a:graphic>
          <a:graphicData uri="http://schemas.openxmlformats.org/drawingml/2006/table">
            <a:tbl>
              <a:tblPr firstRow="1" firstCol="1" bandRow="1">
                <a:tableStyleId>{5C22544A-7EE6-4342-B048-85BDC9FD1C3A}</a:tableStyleId>
              </a:tblPr>
              <a:tblGrid>
                <a:gridCol w="608676">
                  <a:extLst>
                    <a:ext uri="{9D8B030D-6E8A-4147-A177-3AD203B41FA5}">
                      <a16:colId xmlns:a16="http://schemas.microsoft.com/office/drawing/2014/main" val="1805294303"/>
                    </a:ext>
                  </a:extLst>
                </a:gridCol>
                <a:gridCol w="608676">
                  <a:extLst>
                    <a:ext uri="{9D8B030D-6E8A-4147-A177-3AD203B41FA5}">
                      <a16:colId xmlns:a16="http://schemas.microsoft.com/office/drawing/2014/main" val="3647138510"/>
                    </a:ext>
                  </a:extLst>
                </a:gridCol>
                <a:gridCol w="608676">
                  <a:extLst>
                    <a:ext uri="{9D8B030D-6E8A-4147-A177-3AD203B41FA5}">
                      <a16:colId xmlns:a16="http://schemas.microsoft.com/office/drawing/2014/main" val="2796514293"/>
                    </a:ext>
                  </a:extLst>
                </a:gridCol>
                <a:gridCol w="608676">
                  <a:extLst>
                    <a:ext uri="{9D8B030D-6E8A-4147-A177-3AD203B41FA5}">
                      <a16:colId xmlns:a16="http://schemas.microsoft.com/office/drawing/2014/main" val="101503152"/>
                    </a:ext>
                  </a:extLst>
                </a:gridCol>
                <a:gridCol w="608676">
                  <a:extLst>
                    <a:ext uri="{9D8B030D-6E8A-4147-A177-3AD203B41FA5}">
                      <a16:colId xmlns:a16="http://schemas.microsoft.com/office/drawing/2014/main" val="4084853948"/>
                    </a:ext>
                  </a:extLst>
                </a:gridCol>
                <a:gridCol w="608676">
                  <a:extLst>
                    <a:ext uri="{9D8B030D-6E8A-4147-A177-3AD203B41FA5}">
                      <a16:colId xmlns:a16="http://schemas.microsoft.com/office/drawing/2014/main" val="1758671543"/>
                    </a:ext>
                  </a:extLst>
                </a:gridCol>
              </a:tblGrid>
              <a:tr h="370840">
                <a:tc>
                  <a:txBody>
                    <a:bodyPr/>
                    <a:lstStyle/>
                    <a:p>
                      <a:pPr algn="ctr"/>
                      <a:r>
                        <a:rPr lang="en-US" sz="2800" dirty="0"/>
                        <a:t>ID</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ctr"/>
                      <a:r>
                        <a:rPr lang="en-US" sz="2800" dirty="0"/>
                        <a:t>1</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3215972794"/>
                  </a:ext>
                </a:extLst>
              </a:tr>
              <a:tr h="370840">
                <a:tc>
                  <a:txBody>
                    <a:bodyPr/>
                    <a:lstStyle/>
                    <a:p>
                      <a:pPr algn="ctr"/>
                      <a:r>
                        <a:rPr lang="en-US" sz="2800" dirty="0"/>
                        <a:t>2</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3</a:t>
                      </a:r>
                    </a:p>
                  </a:txBody>
                  <a:tcPr/>
                </a:tc>
                <a:tc>
                  <a:txBody>
                    <a:bodyPr/>
                    <a:lstStyle/>
                    <a:p>
                      <a:pPr algn="ctr"/>
                      <a:r>
                        <a:rPr lang="en-US" sz="2800" dirty="0"/>
                        <a:t>3</a:t>
                      </a:r>
                    </a:p>
                  </a:txBody>
                  <a:tcPr/>
                </a:tc>
                <a:extLst>
                  <a:ext uri="{0D108BD9-81ED-4DB2-BD59-A6C34878D82A}">
                    <a16:rowId xmlns:a16="http://schemas.microsoft.com/office/drawing/2014/main" val="1164287607"/>
                  </a:ext>
                </a:extLst>
              </a:tr>
              <a:tr h="370840">
                <a:tc>
                  <a:txBody>
                    <a:bodyPr/>
                    <a:lstStyle/>
                    <a:p>
                      <a:pPr algn="ctr"/>
                      <a:r>
                        <a:rPr lang="en-US" sz="2800" dirty="0"/>
                        <a:t>3</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1107901026"/>
                  </a:ext>
                </a:extLst>
              </a:tr>
              <a:tr h="370840">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3</a:t>
                      </a:r>
                    </a:p>
                  </a:txBody>
                  <a:tcPr/>
                </a:tc>
                <a:tc>
                  <a:txBody>
                    <a:bodyPr/>
                    <a:lstStyle/>
                    <a:p>
                      <a:pPr algn="ctr"/>
                      <a:r>
                        <a:rPr lang="en-US" sz="2800" dirty="0"/>
                        <a:t>5</a:t>
                      </a:r>
                    </a:p>
                  </a:txBody>
                  <a:tcPr/>
                </a:tc>
                <a:tc>
                  <a:txBody>
                    <a:bodyPr/>
                    <a:lstStyle/>
                    <a:p>
                      <a:pPr algn="ctr"/>
                      <a:r>
                        <a:rPr lang="en-US" sz="2800" dirty="0"/>
                        <a:t>0</a:t>
                      </a:r>
                    </a:p>
                  </a:txBody>
                  <a:tcPr/>
                </a:tc>
                <a:tc>
                  <a:txBody>
                    <a:bodyPr/>
                    <a:lstStyle/>
                    <a:p>
                      <a:pPr algn="ctr"/>
                      <a:r>
                        <a:rPr lang="en-US" sz="2800" dirty="0"/>
                        <a:t>2</a:t>
                      </a:r>
                    </a:p>
                  </a:txBody>
                  <a:tcPr/>
                </a:tc>
                <a:extLst>
                  <a:ext uri="{0D108BD9-81ED-4DB2-BD59-A6C34878D82A}">
                    <a16:rowId xmlns:a16="http://schemas.microsoft.com/office/drawing/2014/main" val="1217031025"/>
                  </a:ext>
                </a:extLst>
              </a:tr>
              <a:tr h="370840">
                <a:tc>
                  <a:txBody>
                    <a:bodyPr/>
                    <a:lstStyle/>
                    <a:p>
                      <a:pPr algn="ctr"/>
                      <a:r>
                        <a:rPr lang="en-US" sz="2800" dirty="0"/>
                        <a:t>5</a:t>
                      </a:r>
                    </a:p>
                  </a:txBody>
                  <a:tcPr/>
                </a:tc>
                <a:tc>
                  <a:txBody>
                    <a:bodyPr/>
                    <a:lstStyle/>
                    <a:p>
                      <a:pPr algn="ctr"/>
                      <a:r>
                        <a:rPr lang="en-US" sz="2800" dirty="0"/>
                        <a:t>7</a:t>
                      </a:r>
                    </a:p>
                  </a:txBody>
                  <a:tcPr/>
                </a:tc>
                <a:tc>
                  <a:txBody>
                    <a:bodyPr/>
                    <a:lstStyle/>
                    <a:p>
                      <a:pPr algn="ctr"/>
                      <a:r>
                        <a:rPr lang="en-US" sz="2800" dirty="0"/>
                        <a:t>3</a:t>
                      </a:r>
                    </a:p>
                  </a:txBody>
                  <a:tcPr/>
                </a:tc>
                <a:tc>
                  <a:txBody>
                    <a:bodyPr/>
                    <a:lstStyle/>
                    <a:p>
                      <a:pPr algn="ctr"/>
                      <a:r>
                        <a:rPr lang="en-US" sz="2800" dirty="0"/>
                        <a:t>7</a:t>
                      </a:r>
                    </a:p>
                  </a:txBody>
                  <a:tcPr/>
                </a:tc>
                <a:tc>
                  <a:txBody>
                    <a:bodyPr/>
                    <a:lstStyle/>
                    <a:p>
                      <a:pPr algn="ctr"/>
                      <a:r>
                        <a:rPr lang="en-US" sz="2800" dirty="0"/>
                        <a:t>2</a:t>
                      </a:r>
                    </a:p>
                  </a:txBody>
                  <a:tcPr/>
                </a:tc>
                <a:tc>
                  <a:txBody>
                    <a:bodyPr/>
                    <a:lstStyle/>
                    <a:p>
                      <a:pPr algn="ctr"/>
                      <a:r>
                        <a:rPr lang="en-US" sz="2800" dirty="0"/>
                        <a:t>0</a:t>
                      </a:r>
                    </a:p>
                  </a:txBody>
                  <a:tcPr/>
                </a:tc>
                <a:extLst>
                  <a:ext uri="{0D108BD9-81ED-4DB2-BD59-A6C34878D82A}">
                    <a16:rowId xmlns:a16="http://schemas.microsoft.com/office/drawing/2014/main" val="1917570298"/>
                  </a:ext>
                </a:extLst>
              </a:tr>
            </a:tbl>
          </a:graphicData>
        </a:graphic>
      </p:graphicFrame>
      <p:sp>
        <p:nvSpPr>
          <p:cNvPr id="12" name="TextBox 11">
            <a:extLst>
              <a:ext uri="{FF2B5EF4-FFF2-40B4-BE49-F238E27FC236}">
                <a16:creationId xmlns:a16="http://schemas.microsoft.com/office/drawing/2014/main" id="{14322BB0-066E-474A-8202-343F10C53478}"/>
              </a:ext>
            </a:extLst>
          </p:cNvPr>
          <p:cNvSpPr txBox="1"/>
          <p:nvPr/>
        </p:nvSpPr>
        <p:spPr>
          <a:xfrm>
            <a:off x="401782" y="4810390"/>
            <a:ext cx="3652056" cy="307777"/>
          </a:xfrm>
          <a:prstGeom prst="rect">
            <a:avLst/>
          </a:prstGeom>
          <a:noFill/>
        </p:spPr>
        <p:txBody>
          <a:bodyPr wrap="square" rtlCol="0">
            <a:spAutoFit/>
          </a:bodyPr>
          <a:lstStyle/>
          <a:p>
            <a:pPr algn="ctr"/>
            <a:r>
              <a:rPr lang="en-US" sz="1400" dirty="0"/>
              <a:t>Proximity Matrix using Manhattan Distance</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F380DD1-8040-4402-9F0B-8374192D3B2C}"/>
                  </a:ext>
                </a:extLst>
              </p:cNvPr>
              <p:cNvSpPr/>
              <p:nvPr/>
            </p:nvSpPr>
            <p:spPr>
              <a:xfrm>
                <a:off x="4257820" y="1496982"/>
                <a:ext cx="7532398" cy="3477875"/>
              </a:xfrm>
              <a:prstGeom prst="rect">
                <a:avLst/>
              </a:prstGeom>
            </p:spPr>
            <p:txBody>
              <a:bodyPr wrap="square">
                <a:spAutoFit/>
              </a:bodyPr>
              <a:lstStyle/>
              <a:p>
                <a:r>
                  <a:rPr lang="en-US" sz="2000" dirty="0"/>
                  <a:t>For the next step, we choose the cluster with the largest diameter, that is the cluster with the greatest distance between two points in the cluster.</a:t>
                </a:r>
              </a:p>
              <a:p>
                <a:endParaRPr lang="en-US" sz="2000" dirty="0"/>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𝑑𝑖𝑎𝑚𝑒𝑡𝑒𝑟</m:t>
                      </m:r>
                      <m:d>
                        <m:dPr>
                          <m:ctrlPr>
                            <a:rPr lang="en-US" sz="2000" b="0" i="1" smtClean="0">
                              <a:latin typeface="Cambria Math" panose="02040503050406030204" pitchFamily="18" charset="0"/>
                            </a:rPr>
                          </m:ctrlPr>
                        </m:d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1,3</m:t>
                              </m:r>
                            </m:e>
                          </m:d>
                        </m:e>
                      </m:d>
                      <m:r>
                        <a:rPr lang="en-US" sz="2000" b="0" i="1" smtClean="0">
                          <a:latin typeface="Cambria Math" panose="02040503050406030204" pitchFamily="18" charset="0"/>
                        </a:rPr>
                        <m:t>   =</m:t>
                      </m:r>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1,3</m:t>
                          </m:r>
                        </m:e>
                      </m:d>
                      <m:r>
                        <a:rPr lang="en-US" sz="2000" b="0" i="1" smtClean="0">
                          <a:latin typeface="Cambria Math" panose="02040503050406030204" pitchFamily="18" charset="0"/>
                        </a:rPr>
                        <m:t>=4</m:t>
                      </m:r>
                    </m:oMath>
                  </m:oMathPara>
                </a14:m>
                <a:endParaRPr lang="en-US" sz="2000" b="0" dirty="0"/>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𝑑𝑖𝑎𝑚𝑒𝑡𝑒𝑟</m:t>
                      </m:r>
                      <m:d>
                        <m:dPr>
                          <m:ctrlPr>
                            <a:rPr lang="en-US" sz="2000" b="0" i="1" smtClean="0">
                              <a:latin typeface="Cambria Math" panose="02040503050406030204" pitchFamily="18" charset="0"/>
                            </a:rPr>
                          </m:ctrlPr>
                        </m:d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2,4,5</m:t>
                              </m:r>
                            </m:e>
                          </m:d>
                        </m:e>
                      </m:d>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max</m:t>
                          </m:r>
                        </m:fName>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2,4</m:t>
                                  </m:r>
                                </m:e>
                              </m:d>
                              <m:r>
                                <a:rPr lang="en-US" sz="2000" b="0" i="1" smtClean="0">
                                  <a:latin typeface="Cambria Math" panose="02040503050406030204" pitchFamily="18" charset="0"/>
                                </a:rPr>
                                <m:t>,</m:t>
                              </m:r>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2,5</m:t>
                                  </m:r>
                                </m:e>
                              </m:d>
                              <m:r>
                                <a:rPr lang="en-US" sz="2000" b="0" i="1" smtClean="0">
                                  <a:latin typeface="Cambria Math" panose="02040503050406030204" pitchFamily="18" charset="0"/>
                                </a:rPr>
                                <m:t>,</m:t>
                              </m:r>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4,5</m:t>
                                  </m:r>
                                </m:e>
                              </m:d>
                            </m:e>
                          </m:d>
                        </m:e>
                      </m:func>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max</m:t>
                          </m:r>
                        </m:fName>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3,3,2</m:t>
                              </m:r>
                            </m:e>
                          </m:d>
                        </m:e>
                      </m:func>
                      <m:r>
                        <a:rPr lang="en-US" sz="2000" b="0" i="1" smtClean="0">
                          <a:latin typeface="Cambria Math" panose="02040503050406030204" pitchFamily="18" charset="0"/>
                        </a:rPr>
                        <m:t>=3</m:t>
                      </m:r>
                    </m:oMath>
                  </m:oMathPara>
                </a14:m>
                <a:endParaRPr lang="en-US" sz="2000" b="0" dirty="0"/>
              </a:p>
              <a:p>
                <a:endParaRPr lang="en-US" sz="2000" dirty="0"/>
              </a:p>
              <a:p>
                <a:r>
                  <a:rPr lang="en-US" sz="2000" dirty="0"/>
                  <a:t>So cluster {1,3} has the largest diameter. Trivially, this will be split into {1} and {3}. So now we have clusters {2,4,5}, {1} and {3}.</a:t>
                </a:r>
              </a:p>
              <a:p>
                <a:endParaRPr lang="en-US" sz="2000" dirty="0"/>
              </a:p>
              <a:p>
                <a:r>
                  <a:rPr lang="en-US" sz="2000"/>
                  <a:t>Now </a:t>
                </a:r>
                <a:r>
                  <a:rPr lang="en-US" sz="2000" dirty="0"/>
                  <a:t>recursively apply the same steps to {2,4,5} to split it further.</a:t>
                </a:r>
              </a:p>
            </p:txBody>
          </p:sp>
        </mc:Choice>
        <mc:Fallback xmlns="">
          <p:sp>
            <p:nvSpPr>
              <p:cNvPr id="3" name="Rectangle 2">
                <a:extLst>
                  <a:ext uri="{FF2B5EF4-FFF2-40B4-BE49-F238E27FC236}">
                    <a16:creationId xmlns:a16="http://schemas.microsoft.com/office/drawing/2014/main" id="{2F380DD1-8040-4402-9F0B-8374192D3B2C}"/>
                  </a:ext>
                </a:extLst>
              </p:cNvPr>
              <p:cNvSpPr>
                <a:spLocks noRot="1" noChangeAspect="1" noMove="1" noResize="1" noEditPoints="1" noAdjustHandles="1" noChangeArrowheads="1" noChangeShapeType="1" noTextEdit="1"/>
              </p:cNvSpPr>
              <p:nvPr/>
            </p:nvSpPr>
            <p:spPr>
              <a:xfrm>
                <a:off x="4257820" y="1496982"/>
                <a:ext cx="7532398" cy="3477875"/>
              </a:xfrm>
              <a:prstGeom prst="rect">
                <a:avLst/>
              </a:prstGeom>
              <a:blipFill>
                <a:blip r:embed="rId2"/>
                <a:stretch>
                  <a:fillRect l="-809" t="-1053" r="-1133" b="-2281"/>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21B08107-83A3-41AE-B03F-4873B738F661}"/>
              </a:ext>
            </a:extLst>
          </p:cNvPr>
          <p:cNvSpPr>
            <a:spLocks noGrp="1"/>
          </p:cNvSpPr>
          <p:nvPr>
            <p:ph type="sldNum" sz="quarter" idx="12"/>
          </p:nvPr>
        </p:nvSpPr>
        <p:spPr/>
        <p:txBody>
          <a:bodyPr/>
          <a:lstStyle/>
          <a:p>
            <a:fld id="{4CC025FC-8595-493D-A46F-2FDFDC85D9BC}" type="slidenum">
              <a:rPr lang="en-US" smtClean="0"/>
              <a:t>66</a:t>
            </a:fld>
            <a:endParaRPr lang="en-US"/>
          </a:p>
        </p:txBody>
      </p:sp>
    </p:spTree>
    <p:extLst>
      <p:ext uri="{BB962C8B-B14F-4D97-AF65-F5344CB8AC3E}">
        <p14:creationId xmlns:p14="http://schemas.microsoft.com/office/powerpoint/2010/main" val="22427193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Example - Dendrogram</a:t>
            </a:r>
          </a:p>
        </p:txBody>
      </p:sp>
      <p:graphicFrame>
        <p:nvGraphicFramePr>
          <p:cNvPr id="11" name="Table 4">
            <a:extLst>
              <a:ext uri="{FF2B5EF4-FFF2-40B4-BE49-F238E27FC236}">
                <a16:creationId xmlns:a16="http://schemas.microsoft.com/office/drawing/2014/main" id="{6817CDC0-657B-4A8C-A062-86C8C4DD010D}"/>
              </a:ext>
            </a:extLst>
          </p:cNvPr>
          <p:cNvGraphicFramePr>
            <a:graphicFrameLocks noGrp="1"/>
          </p:cNvGraphicFramePr>
          <p:nvPr/>
        </p:nvGraphicFramePr>
        <p:xfrm>
          <a:off x="401782" y="1647379"/>
          <a:ext cx="3652056" cy="3108960"/>
        </p:xfrm>
        <a:graphic>
          <a:graphicData uri="http://schemas.openxmlformats.org/drawingml/2006/table">
            <a:tbl>
              <a:tblPr firstRow="1" firstCol="1" bandRow="1">
                <a:tableStyleId>{5C22544A-7EE6-4342-B048-85BDC9FD1C3A}</a:tableStyleId>
              </a:tblPr>
              <a:tblGrid>
                <a:gridCol w="608676">
                  <a:extLst>
                    <a:ext uri="{9D8B030D-6E8A-4147-A177-3AD203B41FA5}">
                      <a16:colId xmlns:a16="http://schemas.microsoft.com/office/drawing/2014/main" val="1805294303"/>
                    </a:ext>
                  </a:extLst>
                </a:gridCol>
                <a:gridCol w="608676">
                  <a:extLst>
                    <a:ext uri="{9D8B030D-6E8A-4147-A177-3AD203B41FA5}">
                      <a16:colId xmlns:a16="http://schemas.microsoft.com/office/drawing/2014/main" val="3647138510"/>
                    </a:ext>
                  </a:extLst>
                </a:gridCol>
                <a:gridCol w="608676">
                  <a:extLst>
                    <a:ext uri="{9D8B030D-6E8A-4147-A177-3AD203B41FA5}">
                      <a16:colId xmlns:a16="http://schemas.microsoft.com/office/drawing/2014/main" val="2796514293"/>
                    </a:ext>
                  </a:extLst>
                </a:gridCol>
                <a:gridCol w="608676">
                  <a:extLst>
                    <a:ext uri="{9D8B030D-6E8A-4147-A177-3AD203B41FA5}">
                      <a16:colId xmlns:a16="http://schemas.microsoft.com/office/drawing/2014/main" val="101503152"/>
                    </a:ext>
                  </a:extLst>
                </a:gridCol>
                <a:gridCol w="608676">
                  <a:extLst>
                    <a:ext uri="{9D8B030D-6E8A-4147-A177-3AD203B41FA5}">
                      <a16:colId xmlns:a16="http://schemas.microsoft.com/office/drawing/2014/main" val="4084853948"/>
                    </a:ext>
                  </a:extLst>
                </a:gridCol>
                <a:gridCol w="608676">
                  <a:extLst>
                    <a:ext uri="{9D8B030D-6E8A-4147-A177-3AD203B41FA5}">
                      <a16:colId xmlns:a16="http://schemas.microsoft.com/office/drawing/2014/main" val="1758671543"/>
                    </a:ext>
                  </a:extLst>
                </a:gridCol>
              </a:tblGrid>
              <a:tr h="370840">
                <a:tc>
                  <a:txBody>
                    <a:bodyPr/>
                    <a:lstStyle/>
                    <a:p>
                      <a:pPr algn="ctr"/>
                      <a:r>
                        <a:rPr lang="en-US" sz="2800" dirty="0"/>
                        <a:t>ID</a:t>
                      </a:r>
                    </a:p>
                  </a:txBody>
                  <a:tcPr/>
                </a:tc>
                <a:tc>
                  <a:txBody>
                    <a:bodyPr/>
                    <a:lstStyle/>
                    <a:p>
                      <a:pPr algn="ctr"/>
                      <a:r>
                        <a:rPr lang="en-US" sz="2800" dirty="0"/>
                        <a:t>1</a:t>
                      </a:r>
                      <a:endParaRPr lang="en-US" sz="2800" baseline="-25000" dirty="0"/>
                    </a:p>
                  </a:txBody>
                  <a:tcPr/>
                </a:tc>
                <a:tc>
                  <a:txBody>
                    <a:bodyPr/>
                    <a:lstStyle/>
                    <a:p>
                      <a:pPr algn="ctr"/>
                      <a:r>
                        <a:rPr lang="en-US" sz="2800" dirty="0"/>
                        <a:t>2</a:t>
                      </a:r>
                      <a:endParaRPr lang="en-US" sz="2800" baseline="-25000" dirty="0"/>
                    </a:p>
                  </a:txBody>
                  <a:tcPr/>
                </a:tc>
                <a:tc>
                  <a:txBody>
                    <a:bodyPr/>
                    <a:lstStyle/>
                    <a:p>
                      <a:pPr algn="ctr"/>
                      <a:r>
                        <a:rPr lang="en-US" sz="2800" dirty="0"/>
                        <a:t>3</a:t>
                      </a:r>
                      <a:endParaRPr lang="en-US" sz="2800" baseline="-25000" dirty="0"/>
                    </a:p>
                  </a:txBody>
                  <a:tcPr/>
                </a:tc>
                <a:tc>
                  <a:txBody>
                    <a:bodyPr/>
                    <a:lstStyle/>
                    <a:p>
                      <a:pPr algn="ctr"/>
                      <a:r>
                        <a:rPr lang="en-US" sz="2800" dirty="0"/>
                        <a:t>4</a:t>
                      </a:r>
                      <a:endParaRPr lang="en-US" sz="2800" baseline="-25000" dirty="0"/>
                    </a:p>
                  </a:txBody>
                  <a:tcPr/>
                </a:tc>
                <a:tc>
                  <a:txBody>
                    <a:bodyPr/>
                    <a:lstStyle/>
                    <a:p>
                      <a:pPr algn="ctr"/>
                      <a:r>
                        <a:rPr lang="en-US" sz="2800" dirty="0"/>
                        <a:t>5</a:t>
                      </a:r>
                      <a:endParaRPr lang="en-US" sz="2800" baseline="-25000" dirty="0"/>
                    </a:p>
                  </a:txBody>
                  <a:tcPr/>
                </a:tc>
                <a:extLst>
                  <a:ext uri="{0D108BD9-81ED-4DB2-BD59-A6C34878D82A}">
                    <a16:rowId xmlns:a16="http://schemas.microsoft.com/office/drawing/2014/main" val="3979186866"/>
                  </a:ext>
                </a:extLst>
              </a:tr>
              <a:tr h="370840">
                <a:tc>
                  <a:txBody>
                    <a:bodyPr/>
                    <a:lstStyle/>
                    <a:p>
                      <a:pPr algn="ctr"/>
                      <a:r>
                        <a:rPr lang="en-US" sz="2800" dirty="0"/>
                        <a:t>1</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3215972794"/>
                  </a:ext>
                </a:extLst>
              </a:tr>
              <a:tr h="370840">
                <a:tc>
                  <a:txBody>
                    <a:bodyPr/>
                    <a:lstStyle/>
                    <a:p>
                      <a:pPr algn="ctr"/>
                      <a:r>
                        <a:rPr lang="en-US" sz="2800" dirty="0"/>
                        <a:t>2</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4</a:t>
                      </a:r>
                    </a:p>
                  </a:txBody>
                  <a:tcPr/>
                </a:tc>
                <a:tc>
                  <a:txBody>
                    <a:bodyPr/>
                    <a:lstStyle/>
                    <a:p>
                      <a:pPr algn="ctr"/>
                      <a:r>
                        <a:rPr lang="en-US" sz="2800" dirty="0"/>
                        <a:t>3</a:t>
                      </a:r>
                    </a:p>
                  </a:txBody>
                  <a:tcPr/>
                </a:tc>
                <a:tc>
                  <a:txBody>
                    <a:bodyPr/>
                    <a:lstStyle/>
                    <a:p>
                      <a:pPr algn="ctr"/>
                      <a:r>
                        <a:rPr lang="en-US" sz="2800" dirty="0"/>
                        <a:t>3</a:t>
                      </a:r>
                    </a:p>
                  </a:txBody>
                  <a:tcPr/>
                </a:tc>
                <a:extLst>
                  <a:ext uri="{0D108BD9-81ED-4DB2-BD59-A6C34878D82A}">
                    <a16:rowId xmlns:a16="http://schemas.microsoft.com/office/drawing/2014/main" val="1164287607"/>
                  </a:ext>
                </a:extLst>
              </a:tr>
              <a:tr h="370840">
                <a:tc>
                  <a:txBody>
                    <a:bodyPr/>
                    <a:lstStyle/>
                    <a:p>
                      <a:pPr algn="ctr"/>
                      <a:r>
                        <a:rPr lang="en-US" sz="2800" dirty="0"/>
                        <a:t>3</a:t>
                      </a:r>
                    </a:p>
                  </a:txBody>
                  <a:tcPr/>
                </a:tc>
                <a:tc>
                  <a:txBody>
                    <a:bodyPr/>
                    <a:lstStyle/>
                    <a:p>
                      <a:pPr algn="ctr"/>
                      <a:r>
                        <a:rPr lang="en-US" sz="2800" dirty="0"/>
                        <a:t>4</a:t>
                      </a:r>
                    </a:p>
                  </a:txBody>
                  <a:tcPr/>
                </a:tc>
                <a:tc>
                  <a:txBody>
                    <a:bodyPr/>
                    <a:lstStyle/>
                    <a:p>
                      <a:pPr algn="ctr"/>
                      <a:r>
                        <a:rPr lang="en-US" sz="2800" dirty="0"/>
                        <a:t>4</a:t>
                      </a:r>
                    </a:p>
                  </a:txBody>
                  <a:tcPr/>
                </a:tc>
                <a:tc>
                  <a:txBody>
                    <a:bodyPr/>
                    <a:lstStyle/>
                    <a:p>
                      <a:pPr algn="ctr"/>
                      <a:r>
                        <a:rPr lang="en-US" sz="2800" dirty="0"/>
                        <a:t>0</a:t>
                      </a:r>
                    </a:p>
                  </a:txBody>
                  <a:tcPr/>
                </a:tc>
                <a:tc>
                  <a:txBody>
                    <a:bodyPr/>
                    <a:lstStyle/>
                    <a:p>
                      <a:pPr algn="ctr"/>
                      <a:r>
                        <a:rPr lang="en-US" sz="2800" dirty="0"/>
                        <a:t>5</a:t>
                      </a:r>
                    </a:p>
                  </a:txBody>
                  <a:tcPr/>
                </a:tc>
                <a:tc>
                  <a:txBody>
                    <a:bodyPr/>
                    <a:lstStyle/>
                    <a:p>
                      <a:pPr algn="ctr"/>
                      <a:r>
                        <a:rPr lang="en-US" sz="2800" dirty="0"/>
                        <a:t>7</a:t>
                      </a:r>
                    </a:p>
                  </a:txBody>
                  <a:tcPr/>
                </a:tc>
                <a:extLst>
                  <a:ext uri="{0D108BD9-81ED-4DB2-BD59-A6C34878D82A}">
                    <a16:rowId xmlns:a16="http://schemas.microsoft.com/office/drawing/2014/main" val="1107901026"/>
                  </a:ext>
                </a:extLst>
              </a:tr>
              <a:tr h="370840">
                <a:tc>
                  <a:txBody>
                    <a:bodyPr/>
                    <a:lstStyle/>
                    <a:p>
                      <a:pPr algn="ctr"/>
                      <a:r>
                        <a:rPr lang="en-US" sz="2800" dirty="0"/>
                        <a:t>4</a:t>
                      </a:r>
                    </a:p>
                  </a:txBody>
                  <a:tcPr/>
                </a:tc>
                <a:tc>
                  <a:txBody>
                    <a:bodyPr/>
                    <a:lstStyle/>
                    <a:p>
                      <a:pPr algn="ctr"/>
                      <a:r>
                        <a:rPr lang="en-US" sz="2800" dirty="0"/>
                        <a:t>5</a:t>
                      </a:r>
                    </a:p>
                  </a:txBody>
                  <a:tcPr/>
                </a:tc>
                <a:tc>
                  <a:txBody>
                    <a:bodyPr/>
                    <a:lstStyle/>
                    <a:p>
                      <a:pPr algn="ctr"/>
                      <a:r>
                        <a:rPr lang="en-US" sz="2800" dirty="0"/>
                        <a:t>3</a:t>
                      </a:r>
                    </a:p>
                  </a:txBody>
                  <a:tcPr/>
                </a:tc>
                <a:tc>
                  <a:txBody>
                    <a:bodyPr/>
                    <a:lstStyle/>
                    <a:p>
                      <a:pPr algn="ctr"/>
                      <a:r>
                        <a:rPr lang="en-US" sz="2800" dirty="0"/>
                        <a:t>5</a:t>
                      </a:r>
                    </a:p>
                  </a:txBody>
                  <a:tcPr/>
                </a:tc>
                <a:tc>
                  <a:txBody>
                    <a:bodyPr/>
                    <a:lstStyle/>
                    <a:p>
                      <a:pPr algn="ctr"/>
                      <a:r>
                        <a:rPr lang="en-US" sz="2800" dirty="0"/>
                        <a:t>0</a:t>
                      </a:r>
                    </a:p>
                  </a:txBody>
                  <a:tcPr/>
                </a:tc>
                <a:tc>
                  <a:txBody>
                    <a:bodyPr/>
                    <a:lstStyle/>
                    <a:p>
                      <a:pPr algn="ctr"/>
                      <a:r>
                        <a:rPr lang="en-US" sz="2800" dirty="0"/>
                        <a:t>2</a:t>
                      </a:r>
                    </a:p>
                  </a:txBody>
                  <a:tcPr/>
                </a:tc>
                <a:extLst>
                  <a:ext uri="{0D108BD9-81ED-4DB2-BD59-A6C34878D82A}">
                    <a16:rowId xmlns:a16="http://schemas.microsoft.com/office/drawing/2014/main" val="1217031025"/>
                  </a:ext>
                </a:extLst>
              </a:tr>
              <a:tr h="370840">
                <a:tc>
                  <a:txBody>
                    <a:bodyPr/>
                    <a:lstStyle/>
                    <a:p>
                      <a:pPr algn="ctr"/>
                      <a:r>
                        <a:rPr lang="en-US" sz="2800" dirty="0"/>
                        <a:t>5</a:t>
                      </a:r>
                    </a:p>
                  </a:txBody>
                  <a:tcPr/>
                </a:tc>
                <a:tc>
                  <a:txBody>
                    <a:bodyPr/>
                    <a:lstStyle/>
                    <a:p>
                      <a:pPr algn="ctr"/>
                      <a:r>
                        <a:rPr lang="en-US" sz="2800" dirty="0"/>
                        <a:t>7</a:t>
                      </a:r>
                    </a:p>
                  </a:txBody>
                  <a:tcPr/>
                </a:tc>
                <a:tc>
                  <a:txBody>
                    <a:bodyPr/>
                    <a:lstStyle/>
                    <a:p>
                      <a:pPr algn="ctr"/>
                      <a:r>
                        <a:rPr lang="en-US" sz="2800" dirty="0"/>
                        <a:t>3</a:t>
                      </a:r>
                    </a:p>
                  </a:txBody>
                  <a:tcPr/>
                </a:tc>
                <a:tc>
                  <a:txBody>
                    <a:bodyPr/>
                    <a:lstStyle/>
                    <a:p>
                      <a:pPr algn="ctr"/>
                      <a:r>
                        <a:rPr lang="en-US" sz="2800" dirty="0"/>
                        <a:t>7</a:t>
                      </a:r>
                    </a:p>
                  </a:txBody>
                  <a:tcPr/>
                </a:tc>
                <a:tc>
                  <a:txBody>
                    <a:bodyPr/>
                    <a:lstStyle/>
                    <a:p>
                      <a:pPr algn="ctr"/>
                      <a:r>
                        <a:rPr lang="en-US" sz="2800" dirty="0"/>
                        <a:t>2</a:t>
                      </a:r>
                    </a:p>
                  </a:txBody>
                  <a:tcPr/>
                </a:tc>
                <a:tc>
                  <a:txBody>
                    <a:bodyPr/>
                    <a:lstStyle/>
                    <a:p>
                      <a:pPr algn="ctr"/>
                      <a:r>
                        <a:rPr lang="en-US" sz="2800" dirty="0"/>
                        <a:t>0</a:t>
                      </a:r>
                    </a:p>
                  </a:txBody>
                  <a:tcPr/>
                </a:tc>
                <a:extLst>
                  <a:ext uri="{0D108BD9-81ED-4DB2-BD59-A6C34878D82A}">
                    <a16:rowId xmlns:a16="http://schemas.microsoft.com/office/drawing/2014/main" val="1917570298"/>
                  </a:ext>
                </a:extLst>
              </a:tr>
            </a:tbl>
          </a:graphicData>
        </a:graphic>
      </p:graphicFrame>
      <p:sp>
        <p:nvSpPr>
          <p:cNvPr id="12" name="TextBox 11">
            <a:extLst>
              <a:ext uri="{FF2B5EF4-FFF2-40B4-BE49-F238E27FC236}">
                <a16:creationId xmlns:a16="http://schemas.microsoft.com/office/drawing/2014/main" id="{14322BB0-066E-474A-8202-343F10C53478}"/>
              </a:ext>
            </a:extLst>
          </p:cNvPr>
          <p:cNvSpPr txBox="1"/>
          <p:nvPr/>
        </p:nvSpPr>
        <p:spPr>
          <a:xfrm>
            <a:off x="401782" y="4810390"/>
            <a:ext cx="3652056" cy="307777"/>
          </a:xfrm>
          <a:prstGeom prst="rect">
            <a:avLst/>
          </a:prstGeom>
          <a:noFill/>
        </p:spPr>
        <p:txBody>
          <a:bodyPr wrap="square" rtlCol="0">
            <a:spAutoFit/>
          </a:bodyPr>
          <a:lstStyle/>
          <a:p>
            <a:pPr algn="ctr"/>
            <a:r>
              <a:rPr lang="en-US" sz="1400" dirty="0"/>
              <a:t>Proximity Matrix using Manhattan Distance</a:t>
            </a:r>
          </a:p>
        </p:txBody>
      </p:sp>
      <p:pic>
        <p:nvPicPr>
          <p:cNvPr id="5" name="Picture 4" descr="A picture containing clock&#10;&#10;Description automatically generated">
            <a:extLst>
              <a:ext uri="{FF2B5EF4-FFF2-40B4-BE49-F238E27FC236}">
                <a16:creationId xmlns:a16="http://schemas.microsoft.com/office/drawing/2014/main" id="{4F59CF77-10AF-49BE-A816-1C5A151846BB}"/>
              </a:ext>
            </a:extLst>
          </p:cNvPr>
          <p:cNvPicPr>
            <a:picLocks noChangeAspect="1"/>
          </p:cNvPicPr>
          <p:nvPr/>
        </p:nvPicPr>
        <p:blipFill rotWithShape="1">
          <a:blip r:embed="rId2">
            <a:extLst>
              <a:ext uri="{28A0092B-C50C-407E-A947-70E740481C1C}">
                <a14:useLocalDpi xmlns:a14="http://schemas.microsoft.com/office/drawing/2010/main" val="0"/>
              </a:ext>
            </a:extLst>
          </a:blip>
          <a:srcRect l="21938" t="12376" r="11119" b="22384"/>
          <a:stretch/>
        </p:blipFill>
        <p:spPr>
          <a:xfrm>
            <a:off x="5666397" y="1911748"/>
            <a:ext cx="4266886" cy="2844592"/>
          </a:xfrm>
          <a:prstGeom prst="rect">
            <a:avLst/>
          </a:prstGeom>
        </p:spPr>
      </p:pic>
      <p:sp>
        <p:nvSpPr>
          <p:cNvPr id="4" name="Slide Number Placeholder 3">
            <a:extLst>
              <a:ext uri="{FF2B5EF4-FFF2-40B4-BE49-F238E27FC236}">
                <a16:creationId xmlns:a16="http://schemas.microsoft.com/office/drawing/2014/main" id="{78131406-D60D-47DD-B5E9-1EF066B9CBA9}"/>
              </a:ext>
            </a:extLst>
          </p:cNvPr>
          <p:cNvSpPr>
            <a:spLocks noGrp="1"/>
          </p:cNvSpPr>
          <p:nvPr>
            <p:ph type="sldNum" sz="quarter" idx="12"/>
          </p:nvPr>
        </p:nvSpPr>
        <p:spPr/>
        <p:txBody>
          <a:bodyPr/>
          <a:lstStyle/>
          <a:p>
            <a:fld id="{4CC025FC-8595-493D-A46F-2FDFDC85D9BC}" type="slidenum">
              <a:rPr lang="en-US" smtClean="0"/>
              <a:t>67</a:t>
            </a:fld>
            <a:endParaRPr lang="en-US"/>
          </a:p>
        </p:txBody>
      </p:sp>
    </p:spTree>
    <p:extLst>
      <p:ext uri="{BB962C8B-B14F-4D97-AF65-F5344CB8AC3E}">
        <p14:creationId xmlns:p14="http://schemas.microsoft.com/office/powerpoint/2010/main" val="41667937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3954C9-CF2F-47DA-B821-9A77ED781918}"/>
              </a:ext>
            </a:extLst>
          </p:cNvPr>
          <p:cNvSpPr>
            <a:spLocks noGrp="1"/>
          </p:cNvSpPr>
          <p:nvPr>
            <p:ph type="sldNum" sz="quarter" idx="12"/>
          </p:nvPr>
        </p:nvSpPr>
        <p:spPr/>
        <p:txBody>
          <a:bodyPr/>
          <a:lstStyle/>
          <a:p>
            <a:fld id="{4CC025FC-8595-493D-A46F-2FDFDC85D9BC}" type="slidenum">
              <a:rPr lang="en-US" smtClean="0"/>
              <a:t>68</a:t>
            </a:fld>
            <a:endParaRPr lang="en-US"/>
          </a:p>
        </p:txBody>
      </p:sp>
      <p:sp>
        <p:nvSpPr>
          <p:cNvPr id="5" name="Title 1">
            <a:extLst>
              <a:ext uri="{FF2B5EF4-FFF2-40B4-BE49-F238E27FC236}">
                <a16:creationId xmlns:a16="http://schemas.microsoft.com/office/drawing/2014/main" id="{4E726254-398D-4FED-BE81-698F189238E2}"/>
              </a:ext>
            </a:extLst>
          </p:cNvPr>
          <p:cNvSpPr txBox="1">
            <a:spLocks/>
          </p:cNvSpPr>
          <p:nvPr/>
        </p:nvSpPr>
        <p:spPr>
          <a:xfrm>
            <a:off x="1025236" y="2603455"/>
            <a:ext cx="10141528" cy="1651090"/>
          </a:xfrm>
          <a:prstGeom prst="rect">
            <a:avLst/>
          </a:prstGeom>
        </p:spPr>
        <p:txBody>
          <a:bodyPr anchor="ctr">
            <a:noAutofit/>
          </a:bodyPr>
          <a:lstStyle>
            <a:lvl1pPr algn="l" defTabSz="914400" rtl="0" eaLnBrk="1" latinLnBrk="0" hangingPunct="1">
              <a:lnSpc>
                <a:spcPct val="90000"/>
              </a:lnSpc>
              <a:spcBef>
                <a:spcPct val="0"/>
              </a:spcBef>
              <a:buNone/>
              <a:defRPr sz="4000" b="0" kern="1200">
                <a:solidFill>
                  <a:schemeClr val="bg1"/>
                </a:solidFill>
                <a:effectLst>
                  <a:outerShdw blurRad="38100" dist="38100" dir="2700000" algn="tl">
                    <a:srgbClr val="000000">
                      <a:alpha val="43137"/>
                    </a:srgbClr>
                  </a:outerShdw>
                </a:effectLst>
                <a:latin typeface="Arial Rounded MT Bold" panose="020F0704030504030204" pitchFamily="34" charset="0"/>
                <a:ea typeface="Cambria" panose="02040503050406030204" pitchFamily="18" charset="0"/>
                <a:cs typeface="Aharoni" panose="02010803020104030203" pitchFamily="2" charset="-79"/>
              </a:defRPr>
            </a:lvl1pPr>
          </a:lstStyle>
          <a:p>
            <a:pPr algn="ctr"/>
            <a:r>
              <a:rPr lang="en-US" sz="4800" dirty="0">
                <a:solidFill>
                  <a:srgbClr val="4A8522"/>
                </a:solidFill>
              </a:rPr>
              <a:t>Density-Based Spatial Clustering of Applications with Noise (DBSCAN)</a:t>
            </a:r>
          </a:p>
        </p:txBody>
      </p:sp>
    </p:spTree>
    <p:extLst>
      <p:ext uri="{BB962C8B-B14F-4D97-AF65-F5344CB8AC3E}">
        <p14:creationId xmlns:p14="http://schemas.microsoft.com/office/powerpoint/2010/main" val="4426701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388-5C01-4B38-B1C2-591E306DA59D}"/>
              </a:ext>
            </a:extLst>
          </p:cNvPr>
          <p:cNvSpPr>
            <a:spLocks noGrp="1"/>
          </p:cNvSpPr>
          <p:nvPr>
            <p:ph type="title"/>
          </p:nvPr>
        </p:nvSpPr>
        <p:spPr/>
        <p:txBody>
          <a:bodyPr>
            <a:normAutofit fontScale="90000"/>
          </a:bodyPr>
          <a:lstStyle/>
          <a:p>
            <a:r>
              <a:rPr lang="en-US" dirty="0"/>
              <a:t>DBSCAN</a:t>
            </a:r>
          </a:p>
        </p:txBody>
      </p:sp>
      <p:sp>
        <p:nvSpPr>
          <p:cNvPr id="3" name="Content Placeholder 2">
            <a:extLst>
              <a:ext uri="{FF2B5EF4-FFF2-40B4-BE49-F238E27FC236}">
                <a16:creationId xmlns:a16="http://schemas.microsoft.com/office/drawing/2014/main" id="{72A9152A-246F-4593-80ED-0F2D33B9D513}"/>
              </a:ext>
            </a:extLst>
          </p:cNvPr>
          <p:cNvSpPr>
            <a:spLocks noGrp="1"/>
          </p:cNvSpPr>
          <p:nvPr>
            <p:ph idx="1"/>
          </p:nvPr>
        </p:nvSpPr>
        <p:spPr>
          <a:xfrm>
            <a:off x="401782" y="1343891"/>
            <a:ext cx="6575793" cy="4833072"/>
          </a:xfrm>
        </p:spPr>
        <p:txBody>
          <a:bodyPr>
            <a:normAutofit/>
          </a:bodyPr>
          <a:lstStyle/>
          <a:p>
            <a:r>
              <a:rPr lang="en-US" sz="3200" dirty="0"/>
              <a:t>Density-based spatial clustering of applications with noise (DBSCAN).</a:t>
            </a:r>
          </a:p>
          <a:p>
            <a:r>
              <a:rPr lang="en-US" sz="3200" dirty="0"/>
              <a:t>Clusters are dense regions in the data space, separated by regions of lower object density</a:t>
            </a:r>
          </a:p>
          <a:p>
            <a:r>
              <a:rPr lang="en-US" sz="3200" dirty="0"/>
              <a:t>A cluster is defined as a maximal set of density connected points</a:t>
            </a:r>
          </a:p>
          <a:p>
            <a:r>
              <a:rPr lang="en-US" sz="3200" dirty="0"/>
              <a:t>Discovers clusters of arbitrary shape</a:t>
            </a:r>
          </a:p>
        </p:txBody>
      </p:sp>
      <p:pic>
        <p:nvPicPr>
          <p:cNvPr id="4" name="Picture 3">
            <a:extLst>
              <a:ext uri="{FF2B5EF4-FFF2-40B4-BE49-F238E27FC236}">
                <a16:creationId xmlns:a16="http://schemas.microsoft.com/office/drawing/2014/main" id="{BCC7E1D1-535C-4408-9FFA-E3163B1ED441}"/>
              </a:ext>
            </a:extLst>
          </p:cNvPr>
          <p:cNvPicPr>
            <a:picLocks noChangeAspect="1"/>
          </p:cNvPicPr>
          <p:nvPr/>
        </p:nvPicPr>
        <p:blipFill>
          <a:blip r:embed="rId2"/>
          <a:stretch>
            <a:fillRect/>
          </a:stretch>
        </p:blipFill>
        <p:spPr>
          <a:xfrm>
            <a:off x="7137621" y="1382577"/>
            <a:ext cx="4601015" cy="2598580"/>
          </a:xfrm>
          <a:prstGeom prst="rect">
            <a:avLst/>
          </a:prstGeom>
        </p:spPr>
      </p:pic>
      <p:sp>
        <p:nvSpPr>
          <p:cNvPr id="7" name="Slide Number Placeholder 6">
            <a:extLst>
              <a:ext uri="{FF2B5EF4-FFF2-40B4-BE49-F238E27FC236}">
                <a16:creationId xmlns:a16="http://schemas.microsoft.com/office/drawing/2014/main" id="{3E65CA86-ADBC-48EE-BFE5-57F189289D46}"/>
              </a:ext>
            </a:extLst>
          </p:cNvPr>
          <p:cNvSpPr>
            <a:spLocks noGrp="1"/>
          </p:cNvSpPr>
          <p:nvPr>
            <p:ph type="sldNum" sz="quarter" idx="12"/>
          </p:nvPr>
        </p:nvSpPr>
        <p:spPr/>
        <p:txBody>
          <a:bodyPr/>
          <a:lstStyle/>
          <a:p>
            <a:fld id="{4CC025FC-8595-493D-A46F-2FDFDC85D9BC}" type="slidenum">
              <a:rPr lang="en-US" smtClean="0"/>
              <a:t>69</a:t>
            </a:fld>
            <a:endParaRPr lang="en-US"/>
          </a:p>
        </p:txBody>
      </p:sp>
    </p:spTree>
    <p:extLst>
      <p:ext uri="{BB962C8B-B14F-4D97-AF65-F5344CB8AC3E}">
        <p14:creationId xmlns:p14="http://schemas.microsoft.com/office/powerpoint/2010/main" val="1235041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D110-4216-4D38-BCBA-B338C36227D7}"/>
              </a:ext>
            </a:extLst>
          </p:cNvPr>
          <p:cNvSpPr>
            <a:spLocks noGrp="1"/>
          </p:cNvSpPr>
          <p:nvPr>
            <p:ph type="title"/>
          </p:nvPr>
        </p:nvSpPr>
        <p:spPr/>
        <p:txBody>
          <a:bodyPr>
            <a:normAutofit fontScale="90000"/>
          </a:bodyPr>
          <a:lstStyle/>
          <a:p>
            <a:r>
              <a:rPr lang="en-US" dirty="0"/>
              <a:t>Density Definition</a:t>
            </a:r>
          </a:p>
        </p:txBody>
      </p:sp>
      <p:sp>
        <p:nvSpPr>
          <p:cNvPr id="3" name="Content Placeholder 2">
            <a:extLst>
              <a:ext uri="{FF2B5EF4-FFF2-40B4-BE49-F238E27FC236}">
                <a16:creationId xmlns:a16="http://schemas.microsoft.com/office/drawing/2014/main" id="{0925E102-4F6E-4518-AF25-003D291860E0}"/>
              </a:ext>
            </a:extLst>
          </p:cNvPr>
          <p:cNvSpPr>
            <a:spLocks noGrp="1"/>
          </p:cNvSpPr>
          <p:nvPr>
            <p:ph idx="1"/>
          </p:nvPr>
        </p:nvSpPr>
        <p:spPr/>
        <p:txBody>
          <a:bodyPr>
            <a:normAutofit/>
          </a:bodyPr>
          <a:lstStyle/>
          <a:p>
            <a:r>
              <a:rPr lang="en-US" sz="4000" b="1" dirty="0">
                <a:solidFill>
                  <a:srgbClr val="FF0000"/>
                </a:solidFill>
                <a:sym typeface="Symbol" panose="05050102010706020507" pitchFamily="18" charset="2"/>
              </a:rPr>
              <a:t></a:t>
            </a:r>
            <a:r>
              <a:rPr lang="en-US" sz="4000" b="1" dirty="0">
                <a:solidFill>
                  <a:srgbClr val="FF0000"/>
                </a:solidFill>
              </a:rPr>
              <a:t>-Neighborhood:</a:t>
            </a:r>
            <a:r>
              <a:rPr lang="en-US" sz="4000" dirty="0"/>
              <a:t> Objects within a radius of </a:t>
            </a:r>
            <a:r>
              <a:rPr lang="en-US" sz="4000" dirty="0">
                <a:solidFill>
                  <a:schemeClr val="accent1"/>
                </a:solidFill>
                <a:sym typeface="Symbol" panose="05050102010706020507" pitchFamily="18" charset="2"/>
              </a:rPr>
              <a:t></a:t>
            </a:r>
            <a:r>
              <a:rPr lang="en-US" sz="4000" dirty="0"/>
              <a:t> from an object.</a:t>
            </a:r>
          </a:p>
          <a:p>
            <a:r>
              <a:rPr lang="en-US" sz="4000" b="1" dirty="0">
                <a:solidFill>
                  <a:srgbClr val="FF0000"/>
                </a:solidFill>
              </a:rPr>
              <a:t>High density:</a:t>
            </a:r>
            <a:r>
              <a:rPr lang="en-US" sz="4000" b="1" dirty="0"/>
              <a:t> </a:t>
            </a:r>
            <a:r>
              <a:rPr lang="en-US" sz="4000" dirty="0">
                <a:sym typeface="Symbol" panose="05050102010706020507" pitchFamily="18" charset="2"/>
              </a:rPr>
              <a:t> </a:t>
            </a:r>
            <a:r>
              <a:rPr lang="en-US" sz="4000" dirty="0"/>
              <a:t>-Neighborhood of an object contains at least </a:t>
            </a:r>
            <a:r>
              <a:rPr lang="en-US" sz="4000" i="1" dirty="0" err="1">
                <a:solidFill>
                  <a:schemeClr val="accent1"/>
                </a:solidFill>
              </a:rPr>
              <a:t>MinPts</a:t>
            </a:r>
            <a:r>
              <a:rPr lang="en-US" sz="4000" i="1" dirty="0">
                <a:solidFill>
                  <a:schemeClr val="accent1"/>
                </a:solidFill>
              </a:rPr>
              <a:t> </a:t>
            </a:r>
            <a:r>
              <a:rPr lang="en-US" sz="4000" dirty="0"/>
              <a:t>of objects.</a:t>
            </a:r>
          </a:p>
          <a:p>
            <a:r>
              <a:rPr lang="en-US" sz="4000" dirty="0"/>
              <a:t>For example:</a:t>
            </a:r>
          </a:p>
          <a:p>
            <a:pPr lvl="1"/>
            <a:r>
              <a:rPr lang="en-US" sz="3600" dirty="0"/>
              <a:t>Density of p is “high” (</a:t>
            </a:r>
            <a:r>
              <a:rPr lang="en-US" sz="3600" dirty="0" err="1"/>
              <a:t>MinPts</a:t>
            </a:r>
            <a:r>
              <a:rPr lang="en-US" sz="3600" dirty="0"/>
              <a:t> = 4)</a:t>
            </a:r>
          </a:p>
          <a:p>
            <a:pPr lvl="1"/>
            <a:r>
              <a:rPr lang="en-US" sz="3600" dirty="0"/>
              <a:t>Density of q is “low” (</a:t>
            </a:r>
            <a:r>
              <a:rPr lang="en-US" sz="3600" dirty="0" err="1"/>
              <a:t>MinPts</a:t>
            </a:r>
            <a:r>
              <a:rPr lang="en-US" sz="3600" dirty="0"/>
              <a:t> = 4)</a:t>
            </a:r>
          </a:p>
        </p:txBody>
      </p:sp>
      <p:pic>
        <p:nvPicPr>
          <p:cNvPr id="4" name="Picture 3">
            <a:extLst>
              <a:ext uri="{FF2B5EF4-FFF2-40B4-BE49-F238E27FC236}">
                <a16:creationId xmlns:a16="http://schemas.microsoft.com/office/drawing/2014/main" id="{10B88B54-48DD-4A8D-8E17-67AB48730778}"/>
              </a:ext>
            </a:extLst>
          </p:cNvPr>
          <p:cNvPicPr>
            <a:picLocks noChangeAspect="1"/>
          </p:cNvPicPr>
          <p:nvPr/>
        </p:nvPicPr>
        <p:blipFill>
          <a:blip r:embed="rId2"/>
          <a:stretch>
            <a:fillRect/>
          </a:stretch>
        </p:blipFill>
        <p:spPr>
          <a:xfrm>
            <a:off x="7788513" y="3429000"/>
            <a:ext cx="4001705" cy="2875684"/>
          </a:xfrm>
          <a:prstGeom prst="rect">
            <a:avLst/>
          </a:prstGeom>
        </p:spPr>
      </p:pic>
      <p:sp>
        <p:nvSpPr>
          <p:cNvPr id="7" name="Slide Number Placeholder 6">
            <a:extLst>
              <a:ext uri="{FF2B5EF4-FFF2-40B4-BE49-F238E27FC236}">
                <a16:creationId xmlns:a16="http://schemas.microsoft.com/office/drawing/2014/main" id="{22B011F5-AC4A-4DD7-B909-BE82F02934BC}"/>
              </a:ext>
            </a:extLst>
          </p:cNvPr>
          <p:cNvSpPr>
            <a:spLocks noGrp="1"/>
          </p:cNvSpPr>
          <p:nvPr>
            <p:ph type="sldNum" sz="quarter" idx="12"/>
          </p:nvPr>
        </p:nvSpPr>
        <p:spPr/>
        <p:txBody>
          <a:bodyPr/>
          <a:lstStyle/>
          <a:p>
            <a:fld id="{4CC025FC-8595-493D-A46F-2FDFDC85D9BC}" type="slidenum">
              <a:rPr lang="en-US" smtClean="0"/>
              <a:t>70</a:t>
            </a:fld>
            <a:endParaRPr lang="en-US"/>
          </a:p>
        </p:txBody>
      </p:sp>
    </p:spTree>
    <p:extLst>
      <p:ext uri="{BB962C8B-B14F-4D97-AF65-F5344CB8AC3E}">
        <p14:creationId xmlns:p14="http://schemas.microsoft.com/office/powerpoint/2010/main" val="21166514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CF184-980D-41D1-BB0A-4A34AD265741}"/>
              </a:ext>
            </a:extLst>
          </p:cNvPr>
          <p:cNvSpPr>
            <a:spLocks noGrp="1"/>
          </p:cNvSpPr>
          <p:nvPr>
            <p:ph type="title"/>
          </p:nvPr>
        </p:nvSpPr>
        <p:spPr/>
        <p:txBody>
          <a:bodyPr>
            <a:normAutofit fontScale="90000"/>
          </a:bodyPr>
          <a:lstStyle/>
          <a:p>
            <a:r>
              <a:rPr lang="en-US" dirty="0"/>
              <a:t>Core, Border, &amp; Outlier</a:t>
            </a:r>
          </a:p>
        </p:txBody>
      </p:sp>
      <p:sp>
        <p:nvSpPr>
          <p:cNvPr id="3" name="Content Placeholder 2">
            <a:extLst>
              <a:ext uri="{FF2B5EF4-FFF2-40B4-BE49-F238E27FC236}">
                <a16:creationId xmlns:a16="http://schemas.microsoft.com/office/drawing/2014/main" id="{4A52666E-B5E8-46E4-91A5-E14741F62080}"/>
              </a:ext>
            </a:extLst>
          </p:cNvPr>
          <p:cNvSpPr>
            <a:spLocks noGrp="1"/>
          </p:cNvSpPr>
          <p:nvPr>
            <p:ph idx="1"/>
          </p:nvPr>
        </p:nvSpPr>
        <p:spPr>
          <a:xfrm>
            <a:off x="401782" y="1343891"/>
            <a:ext cx="5694218" cy="4833072"/>
          </a:xfrm>
        </p:spPr>
        <p:txBody>
          <a:bodyPr>
            <a:normAutofit fontScale="92500" lnSpcReduction="20000"/>
          </a:bodyPr>
          <a:lstStyle/>
          <a:p>
            <a:r>
              <a:rPr lang="en-US" sz="3600" dirty="0"/>
              <a:t>Three category for each point</a:t>
            </a:r>
          </a:p>
          <a:p>
            <a:r>
              <a:rPr lang="en-US" sz="3600" b="1" i="1" dirty="0">
                <a:solidFill>
                  <a:srgbClr val="FF0000"/>
                </a:solidFill>
              </a:rPr>
              <a:t>Core Point:</a:t>
            </a:r>
            <a:r>
              <a:rPr lang="en-US" sz="3600" dirty="0"/>
              <a:t> if its density is high (i.e. </a:t>
            </a:r>
            <a:r>
              <a:rPr lang="en-US" sz="3600" dirty="0" err="1"/>
              <a:t>Nbhd</a:t>
            </a:r>
            <a:r>
              <a:rPr lang="en-US" sz="3600" dirty="0"/>
              <a:t>(p,</a:t>
            </a:r>
            <a:r>
              <a:rPr lang="en-US" sz="3600" dirty="0">
                <a:sym typeface="Symbol" panose="05050102010706020507" pitchFamily="18" charset="2"/>
              </a:rPr>
              <a:t></a:t>
            </a:r>
            <a:r>
              <a:rPr lang="en-US" sz="3600" dirty="0"/>
              <a:t>)&gt;=</a:t>
            </a:r>
            <a:r>
              <a:rPr lang="en-US" sz="3600" dirty="0" err="1"/>
              <a:t>MinPts</a:t>
            </a:r>
            <a:r>
              <a:rPr lang="en-US" sz="3600" dirty="0"/>
              <a:t>)</a:t>
            </a:r>
          </a:p>
          <a:p>
            <a:r>
              <a:rPr lang="en-US" sz="3600" b="1" i="1" dirty="0">
                <a:solidFill>
                  <a:srgbClr val="FF0000"/>
                </a:solidFill>
              </a:rPr>
              <a:t>Border Point: </a:t>
            </a:r>
            <a:r>
              <a:rPr lang="en-US" sz="3600" dirty="0"/>
              <a:t>density is low (but in the neighborhood of a core point) [i.e. directly reachable from some core point (e.g. p)]</a:t>
            </a:r>
          </a:p>
          <a:p>
            <a:r>
              <a:rPr lang="en-US" sz="3600" b="1" i="1" dirty="0">
                <a:solidFill>
                  <a:srgbClr val="FF0000"/>
                </a:solidFill>
              </a:rPr>
              <a:t>Noise Point: </a:t>
            </a:r>
            <a:r>
              <a:rPr lang="en-US" sz="3600" dirty="0"/>
              <a:t>any point that is neither a core point nor a border point</a:t>
            </a:r>
          </a:p>
        </p:txBody>
      </p:sp>
      <p:pic>
        <p:nvPicPr>
          <p:cNvPr id="6" name="Picture 5">
            <a:extLst>
              <a:ext uri="{FF2B5EF4-FFF2-40B4-BE49-F238E27FC236}">
                <a16:creationId xmlns:a16="http://schemas.microsoft.com/office/drawing/2014/main" id="{84A12A1F-14E7-44FB-B716-095D2E0470AB}"/>
              </a:ext>
            </a:extLst>
          </p:cNvPr>
          <p:cNvPicPr>
            <a:picLocks noChangeAspect="1"/>
          </p:cNvPicPr>
          <p:nvPr/>
        </p:nvPicPr>
        <p:blipFill>
          <a:blip r:embed="rId3"/>
          <a:stretch>
            <a:fillRect/>
          </a:stretch>
        </p:blipFill>
        <p:spPr>
          <a:xfrm>
            <a:off x="6294293" y="1847850"/>
            <a:ext cx="5495925" cy="3162300"/>
          </a:xfrm>
          <a:prstGeom prst="rect">
            <a:avLst/>
          </a:prstGeom>
        </p:spPr>
      </p:pic>
      <p:sp>
        <p:nvSpPr>
          <p:cNvPr id="4" name="Rectangle 3">
            <a:extLst>
              <a:ext uri="{FF2B5EF4-FFF2-40B4-BE49-F238E27FC236}">
                <a16:creationId xmlns:a16="http://schemas.microsoft.com/office/drawing/2014/main" id="{A493E98F-3D4D-436B-A1C2-91775DF5B867}"/>
              </a:ext>
            </a:extLst>
          </p:cNvPr>
          <p:cNvSpPr/>
          <p:nvPr/>
        </p:nvSpPr>
        <p:spPr>
          <a:xfrm>
            <a:off x="2758190" y="6176963"/>
            <a:ext cx="9032028" cy="369332"/>
          </a:xfrm>
          <a:prstGeom prst="rect">
            <a:avLst/>
          </a:prstGeom>
        </p:spPr>
        <p:txBody>
          <a:bodyPr wrap="square">
            <a:spAutoFit/>
          </a:bodyPr>
          <a:lstStyle/>
          <a:p>
            <a:r>
              <a:rPr lang="en-US" dirty="0"/>
              <a:t>For further reading: https://blog.dominodatalab.com/topology-and-density-based-clustering/</a:t>
            </a:r>
          </a:p>
        </p:txBody>
      </p:sp>
      <p:sp>
        <p:nvSpPr>
          <p:cNvPr id="7" name="Slide Number Placeholder 6">
            <a:extLst>
              <a:ext uri="{FF2B5EF4-FFF2-40B4-BE49-F238E27FC236}">
                <a16:creationId xmlns:a16="http://schemas.microsoft.com/office/drawing/2014/main" id="{8FAF2AD7-7957-4A22-953E-842FA64C6CF7}"/>
              </a:ext>
            </a:extLst>
          </p:cNvPr>
          <p:cNvSpPr>
            <a:spLocks noGrp="1"/>
          </p:cNvSpPr>
          <p:nvPr>
            <p:ph type="sldNum" sz="quarter" idx="12"/>
          </p:nvPr>
        </p:nvSpPr>
        <p:spPr/>
        <p:txBody>
          <a:bodyPr/>
          <a:lstStyle/>
          <a:p>
            <a:fld id="{4CC025FC-8595-493D-A46F-2FDFDC85D9BC}" type="slidenum">
              <a:rPr lang="en-US" smtClean="0"/>
              <a:t>71</a:t>
            </a:fld>
            <a:endParaRPr lang="en-US"/>
          </a:p>
        </p:txBody>
      </p:sp>
    </p:spTree>
    <p:extLst>
      <p:ext uri="{BB962C8B-B14F-4D97-AF65-F5344CB8AC3E}">
        <p14:creationId xmlns:p14="http://schemas.microsoft.com/office/powerpoint/2010/main" val="11998707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8B1E-4B3C-4912-9C83-8F123670E598}"/>
              </a:ext>
            </a:extLst>
          </p:cNvPr>
          <p:cNvSpPr>
            <a:spLocks noGrp="1"/>
          </p:cNvSpPr>
          <p:nvPr>
            <p:ph type="title"/>
          </p:nvPr>
        </p:nvSpPr>
        <p:spPr/>
        <p:txBody>
          <a:bodyPr>
            <a:normAutofit fontScale="90000"/>
          </a:bodyPr>
          <a:lstStyle/>
          <a:p>
            <a:r>
              <a:rPr lang="en-US" dirty="0"/>
              <a:t>Density Reachability</a:t>
            </a:r>
          </a:p>
        </p:txBody>
      </p:sp>
      <p:sp>
        <p:nvSpPr>
          <p:cNvPr id="3" name="Content Placeholder 2">
            <a:extLst>
              <a:ext uri="{FF2B5EF4-FFF2-40B4-BE49-F238E27FC236}">
                <a16:creationId xmlns:a16="http://schemas.microsoft.com/office/drawing/2014/main" id="{5AFC308A-AF7A-4719-B840-C65AFB6EE7E5}"/>
              </a:ext>
            </a:extLst>
          </p:cNvPr>
          <p:cNvSpPr>
            <a:spLocks noGrp="1"/>
          </p:cNvSpPr>
          <p:nvPr>
            <p:ph idx="1"/>
          </p:nvPr>
        </p:nvSpPr>
        <p:spPr>
          <a:xfrm>
            <a:off x="401782" y="1343891"/>
            <a:ext cx="11388436" cy="2285574"/>
          </a:xfrm>
        </p:spPr>
        <p:txBody>
          <a:bodyPr/>
          <a:lstStyle/>
          <a:p>
            <a:r>
              <a:rPr lang="en-US" dirty="0"/>
              <a:t>Directly Density-Reachable</a:t>
            </a:r>
          </a:p>
          <a:p>
            <a:pPr lvl="1"/>
            <a:r>
              <a:rPr lang="en-US" dirty="0"/>
              <a:t>A point q is directly density-reachable from a point p: if p is a core point and q is in p’s </a:t>
            </a:r>
            <a:r>
              <a:rPr lang="en-US" dirty="0">
                <a:sym typeface="Symbol" panose="05050102010706020507" pitchFamily="18" charset="2"/>
              </a:rPr>
              <a:t></a:t>
            </a:r>
            <a:r>
              <a:rPr lang="en-US" dirty="0"/>
              <a:t>-neighborhood</a:t>
            </a:r>
          </a:p>
          <a:p>
            <a:endParaRPr lang="en-US" dirty="0"/>
          </a:p>
        </p:txBody>
      </p:sp>
      <p:pic>
        <p:nvPicPr>
          <p:cNvPr id="4" name="Picture 3">
            <a:extLst>
              <a:ext uri="{FF2B5EF4-FFF2-40B4-BE49-F238E27FC236}">
                <a16:creationId xmlns:a16="http://schemas.microsoft.com/office/drawing/2014/main" id="{F6430537-B578-418E-BF39-AECD5BD243B9}"/>
              </a:ext>
            </a:extLst>
          </p:cNvPr>
          <p:cNvPicPr>
            <a:picLocks noChangeAspect="1"/>
          </p:cNvPicPr>
          <p:nvPr/>
        </p:nvPicPr>
        <p:blipFill>
          <a:blip r:embed="rId2"/>
          <a:stretch>
            <a:fillRect/>
          </a:stretch>
        </p:blipFill>
        <p:spPr>
          <a:xfrm>
            <a:off x="8719869" y="3370984"/>
            <a:ext cx="2855863" cy="2805979"/>
          </a:xfrm>
          <a:prstGeom prst="rect">
            <a:avLst/>
          </a:prstGeom>
        </p:spPr>
      </p:pic>
      <p:sp>
        <p:nvSpPr>
          <p:cNvPr id="5" name="Rectangle 4">
            <a:extLst>
              <a:ext uri="{FF2B5EF4-FFF2-40B4-BE49-F238E27FC236}">
                <a16:creationId xmlns:a16="http://schemas.microsoft.com/office/drawing/2014/main" id="{842E8E51-8548-43F7-91A2-2B05C3C9F862}"/>
              </a:ext>
            </a:extLst>
          </p:cNvPr>
          <p:cNvSpPr/>
          <p:nvPr/>
        </p:nvSpPr>
        <p:spPr>
          <a:xfrm>
            <a:off x="424131" y="3429000"/>
            <a:ext cx="7847671" cy="2062103"/>
          </a:xfrm>
          <a:prstGeom prst="rect">
            <a:avLst/>
          </a:prstGeom>
        </p:spPr>
        <p:txBody>
          <a:bodyPr wrap="square">
            <a:spAutoFit/>
          </a:bodyPr>
          <a:lstStyle/>
          <a:p>
            <a:pPr marL="285750" indent="-285750">
              <a:buFont typeface="Arial" panose="020B0604020202020204" pitchFamily="34" charset="0"/>
              <a:buChar char="•"/>
            </a:pPr>
            <a:r>
              <a:rPr lang="en-US" sz="3200" dirty="0"/>
              <a:t>q is directly density-reachable from p, </a:t>
            </a:r>
            <a:r>
              <a:rPr lang="en-US" sz="3200" dirty="0">
                <a:solidFill>
                  <a:schemeClr val="accent1"/>
                </a:solidFill>
              </a:rPr>
              <a:t>because p is core and q is border</a:t>
            </a:r>
          </a:p>
          <a:p>
            <a:pPr marL="285750" indent="-285750">
              <a:buFont typeface="Arial" panose="020B0604020202020204" pitchFamily="34" charset="0"/>
              <a:buChar char="•"/>
            </a:pPr>
            <a:r>
              <a:rPr lang="en-US" sz="3200" dirty="0"/>
              <a:t>p is not directly density-reachable from q</a:t>
            </a:r>
          </a:p>
          <a:p>
            <a:pPr marL="285750" indent="-285750">
              <a:buFont typeface="Arial" panose="020B0604020202020204" pitchFamily="34" charset="0"/>
              <a:buChar char="•"/>
            </a:pPr>
            <a:r>
              <a:rPr lang="en-US" sz="3200" dirty="0"/>
              <a:t>Density-reachability is asymmetric </a:t>
            </a:r>
          </a:p>
        </p:txBody>
      </p:sp>
      <p:sp>
        <p:nvSpPr>
          <p:cNvPr id="7" name="Slide Number Placeholder 6">
            <a:extLst>
              <a:ext uri="{FF2B5EF4-FFF2-40B4-BE49-F238E27FC236}">
                <a16:creationId xmlns:a16="http://schemas.microsoft.com/office/drawing/2014/main" id="{A44DF91A-2FC8-41A7-A908-1349023B3665}"/>
              </a:ext>
            </a:extLst>
          </p:cNvPr>
          <p:cNvSpPr>
            <a:spLocks noGrp="1"/>
          </p:cNvSpPr>
          <p:nvPr>
            <p:ph type="sldNum" sz="quarter" idx="12"/>
          </p:nvPr>
        </p:nvSpPr>
        <p:spPr/>
        <p:txBody>
          <a:bodyPr/>
          <a:lstStyle/>
          <a:p>
            <a:fld id="{4CC025FC-8595-493D-A46F-2FDFDC85D9BC}" type="slidenum">
              <a:rPr lang="en-US" smtClean="0"/>
              <a:t>72</a:t>
            </a:fld>
            <a:endParaRPr lang="en-US"/>
          </a:p>
        </p:txBody>
      </p:sp>
    </p:spTree>
    <p:extLst>
      <p:ext uri="{BB962C8B-B14F-4D97-AF65-F5344CB8AC3E}">
        <p14:creationId xmlns:p14="http://schemas.microsoft.com/office/powerpoint/2010/main" val="36945251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8B1E-4B3C-4912-9C83-8F123670E598}"/>
              </a:ext>
            </a:extLst>
          </p:cNvPr>
          <p:cNvSpPr>
            <a:spLocks noGrp="1"/>
          </p:cNvSpPr>
          <p:nvPr>
            <p:ph type="title"/>
          </p:nvPr>
        </p:nvSpPr>
        <p:spPr/>
        <p:txBody>
          <a:bodyPr>
            <a:normAutofit fontScale="90000"/>
          </a:bodyPr>
          <a:lstStyle/>
          <a:p>
            <a:r>
              <a:rPr lang="en-US" dirty="0"/>
              <a:t>Density Reachability</a:t>
            </a:r>
          </a:p>
        </p:txBody>
      </p:sp>
      <p:sp>
        <p:nvSpPr>
          <p:cNvPr id="3" name="Content Placeholder 2">
            <a:extLst>
              <a:ext uri="{FF2B5EF4-FFF2-40B4-BE49-F238E27FC236}">
                <a16:creationId xmlns:a16="http://schemas.microsoft.com/office/drawing/2014/main" id="{5AFC308A-AF7A-4719-B840-C65AFB6EE7E5}"/>
              </a:ext>
            </a:extLst>
          </p:cNvPr>
          <p:cNvSpPr>
            <a:spLocks noGrp="1"/>
          </p:cNvSpPr>
          <p:nvPr>
            <p:ph idx="1"/>
          </p:nvPr>
        </p:nvSpPr>
        <p:spPr>
          <a:xfrm>
            <a:off x="401782" y="1343891"/>
            <a:ext cx="11388436" cy="2285574"/>
          </a:xfrm>
        </p:spPr>
        <p:txBody>
          <a:bodyPr>
            <a:normAutofit/>
          </a:bodyPr>
          <a:lstStyle/>
          <a:p>
            <a:r>
              <a:rPr lang="en-US" sz="3600" dirty="0"/>
              <a:t>Density-Reachable</a:t>
            </a:r>
          </a:p>
          <a:p>
            <a:r>
              <a:rPr lang="en-US" sz="3600" dirty="0"/>
              <a:t>A point p is density-reachable from a point q</a:t>
            </a:r>
          </a:p>
          <a:p>
            <a:pPr lvl="1"/>
            <a:r>
              <a:rPr lang="en-US" sz="3200" dirty="0"/>
              <a:t>If there is a chain of points p</a:t>
            </a:r>
            <a:r>
              <a:rPr lang="en-US" sz="3200" baseline="-25000" dirty="0"/>
              <a:t>1</a:t>
            </a:r>
            <a:r>
              <a:rPr lang="en-US" sz="3200" dirty="0"/>
              <a:t>, … , </a:t>
            </a:r>
            <a:r>
              <a:rPr lang="en-US" sz="3200" dirty="0" err="1"/>
              <a:t>p</a:t>
            </a:r>
            <a:r>
              <a:rPr lang="en-US" sz="3200" baseline="-25000" dirty="0" err="1"/>
              <a:t>n</a:t>
            </a:r>
            <a:r>
              <a:rPr lang="en-US" sz="3200" dirty="0"/>
              <a:t>, with p</a:t>
            </a:r>
            <a:r>
              <a:rPr lang="en-US" sz="3200" baseline="-25000" dirty="0"/>
              <a:t>1</a:t>
            </a:r>
            <a:r>
              <a:rPr lang="en-US" sz="3200" dirty="0"/>
              <a:t> = q, </a:t>
            </a:r>
            <a:r>
              <a:rPr lang="en-US" sz="3200" dirty="0" err="1"/>
              <a:t>p</a:t>
            </a:r>
            <a:r>
              <a:rPr lang="en-US" sz="3200" baseline="-25000" dirty="0" err="1"/>
              <a:t>n</a:t>
            </a:r>
            <a:r>
              <a:rPr lang="en-US" sz="3200" dirty="0"/>
              <a:t> = p such that  p</a:t>
            </a:r>
            <a:r>
              <a:rPr lang="en-US" sz="3200" baseline="-25000" dirty="0"/>
              <a:t>i+1</a:t>
            </a:r>
            <a:r>
              <a:rPr lang="en-US" sz="3200" dirty="0"/>
              <a:t> is directly density-reachable from p</a:t>
            </a:r>
            <a:r>
              <a:rPr lang="en-US" sz="3200" baseline="-25000" dirty="0"/>
              <a:t>i</a:t>
            </a:r>
            <a:r>
              <a:rPr lang="en-US" sz="3200" dirty="0"/>
              <a:t> </a:t>
            </a:r>
          </a:p>
        </p:txBody>
      </p:sp>
      <p:sp>
        <p:nvSpPr>
          <p:cNvPr id="5" name="Rectangle 4">
            <a:extLst>
              <a:ext uri="{FF2B5EF4-FFF2-40B4-BE49-F238E27FC236}">
                <a16:creationId xmlns:a16="http://schemas.microsoft.com/office/drawing/2014/main" id="{842E8E51-8548-43F7-91A2-2B05C3C9F862}"/>
              </a:ext>
            </a:extLst>
          </p:cNvPr>
          <p:cNvSpPr/>
          <p:nvPr/>
        </p:nvSpPr>
        <p:spPr>
          <a:xfrm>
            <a:off x="424131" y="3429000"/>
            <a:ext cx="7059881" cy="2554545"/>
          </a:xfrm>
          <a:prstGeom prst="rect">
            <a:avLst/>
          </a:prstGeom>
        </p:spPr>
        <p:txBody>
          <a:bodyPr wrap="square">
            <a:spAutoFit/>
          </a:bodyPr>
          <a:lstStyle/>
          <a:p>
            <a:pPr marL="285750" indent="-285750">
              <a:buFont typeface="Arial" panose="020B0604020202020204" pitchFamily="34" charset="0"/>
              <a:buChar char="•"/>
            </a:pPr>
            <a:r>
              <a:rPr lang="en-US" sz="3200" dirty="0"/>
              <a:t>p</a:t>
            </a:r>
            <a:r>
              <a:rPr lang="en-US" sz="3200" baseline="-25000" dirty="0"/>
              <a:t>1</a:t>
            </a:r>
            <a:r>
              <a:rPr lang="en-US" sz="3200" dirty="0"/>
              <a:t> is directly density-reachable from q</a:t>
            </a:r>
          </a:p>
          <a:p>
            <a:pPr marL="285750" indent="-285750">
              <a:buFont typeface="Arial" panose="020B0604020202020204" pitchFamily="34" charset="0"/>
              <a:buChar char="•"/>
            </a:pPr>
            <a:r>
              <a:rPr lang="en-US" sz="3200" dirty="0"/>
              <a:t>p</a:t>
            </a:r>
            <a:r>
              <a:rPr lang="en-US" sz="3200" baseline="-25000" dirty="0"/>
              <a:t>2</a:t>
            </a:r>
            <a:r>
              <a:rPr lang="en-US" sz="3200" dirty="0"/>
              <a:t> is directly density-reachable from p1</a:t>
            </a:r>
          </a:p>
          <a:p>
            <a:pPr marL="285750" indent="-285750">
              <a:buFont typeface="Arial" panose="020B0604020202020204" pitchFamily="34" charset="0"/>
              <a:buChar char="•"/>
            </a:pPr>
            <a:r>
              <a:rPr lang="en-US" sz="3200" dirty="0"/>
              <a:t>p is directly density-reachable from p</a:t>
            </a:r>
            <a:r>
              <a:rPr lang="en-US" sz="3200" baseline="-25000" dirty="0"/>
              <a:t>2</a:t>
            </a:r>
          </a:p>
          <a:p>
            <a:pPr marL="285750" indent="-285750">
              <a:buFont typeface="Arial" panose="020B0604020202020204" pitchFamily="34" charset="0"/>
              <a:buChar char="•"/>
            </a:pPr>
            <a:r>
              <a:rPr lang="en-US" sz="3200" dirty="0"/>
              <a:t>There is a chain from q to p (q→p</a:t>
            </a:r>
            <a:r>
              <a:rPr lang="en-US" sz="3200" baseline="-25000" dirty="0"/>
              <a:t>1</a:t>
            </a:r>
            <a:r>
              <a:rPr lang="en-US" sz="3200" dirty="0"/>
              <a:t>→p</a:t>
            </a:r>
            <a:r>
              <a:rPr lang="en-US" sz="3200" baseline="-25000" dirty="0"/>
              <a:t>2</a:t>
            </a:r>
            <a:r>
              <a:rPr lang="en-US" sz="3200" dirty="0"/>
              <a:t>→p)</a:t>
            </a:r>
          </a:p>
        </p:txBody>
      </p:sp>
      <p:pic>
        <p:nvPicPr>
          <p:cNvPr id="6" name="Picture 5">
            <a:extLst>
              <a:ext uri="{FF2B5EF4-FFF2-40B4-BE49-F238E27FC236}">
                <a16:creationId xmlns:a16="http://schemas.microsoft.com/office/drawing/2014/main" id="{370661BC-6128-4361-816A-D011477F1B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638757" y="3133386"/>
            <a:ext cx="4151461" cy="3359490"/>
          </a:xfrm>
          <a:prstGeom prst="rect">
            <a:avLst/>
          </a:prstGeom>
        </p:spPr>
      </p:pic>
      <p:sp>
        <p:nvSpPr>
          <p:cNvPr id="7" name="Slide Number Placeholder 6">
            <a:extLst>
              <a:ext uri="{FF2B5EF4-FFF2-40B4-BE49-F238E27FC236}">
                <a16:creationId xmlns:a16="http://schemas.microsoft.com/office/drawing/2014/main" id="{DA2EC2FB-5EB6-4A81-ACE8-94232245B078}"/>
              </a:ext>
            </a:extLst>
          </p:cNvPr>
          <p:cNvSpPr>
            <a:spLocks noGrp="1"/>
          </p:cNvSpPr>
          <p:nvPr>
            <p:ph type="sldNum" sz="quarter" idx="12"/>
          </p:nvPr>
        </p:nvSpPr>
        <p:spPr/>
        <p:txBody>
          <a:bodyPr/>
          <a:lstStyle/>
          <a:p>
            <a:fld id="{4CC025FC-8595-493D-A46F-2FDFDC85D9BC}" type="slidenum">
              <a:rPr lang="en-US" smtClean="0"/>
              <a:t>73</a:t>
            </a:fld>
            <a:endParaRPr lang="en-US"/>
          </a:p>
        </p:txBody>
      </p:sp>
    </p:spTree>
    <p:extLst>
      <p:ext uri="{BB962C8B-B14F-4D97-AF65-F5344CB8AC3E}">
        <p14:creationId xmlns:p14="http://schemas.microsoft.com/office/powerpoint/2010/main" val="32501609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8B1E-4B3C-4912-9C83-8F123670E598}"/>
              </a:ext>
            </a:extLst>
          </p:cNvPr>
          <p:cNvSpPr>
            <a:spLocks noGrp="1"/>
          </p:cNvSpPr>
          <p:nvPr>
            <p:ph type="title"/>
          </p:nvPr>
        </p:nvSpPr>
        <p:spPr/>
        <p:txBody>
          <a:bodyPr>
            <a:normAutofit fontScale="90000"/>
          </a:bodyPr>
          <a:lstStyle/>
          <a:p>
            <a:r>
              <a:rPr lang="en-US" dirty="0"/>
              <a:t>Density Connectivity</a:t>
            </a:r>
          </a:p>
        </p:txBody>
      </p:sp>
      <p:sp>
        <p:nvSpPr>
          <p:cNvPr id="3" name="Content Placeholder 2">
            <a:extLst>
              <a:ext uri="{FF2B5EF4-FFF2-40B4-BE49-F238E27FC236}">
                <a16:creationId xmlns:a16="http://schemas.microsoft.com/office/drawing/2014/main" id="{5AFC308A-AF7A-4719-B840-C65AFB6EE7E5}"/>
              </a:ext>
            </a:extLst>
          </p:cNvPr>
          <p:cNvSpPr>
            <a:spLocks noGrp="1"/>
          </p:cNvSpPr>
          <p:nvPr>
            <p:ph idx="1"/>
          </p:nvPr>
        </p:nvSpPr>
        <p:spPr>
          <a:xfrm>
            <a:off x="401782" y="1343891"/>
            <a:ext cx="11388436" cy="2285574"/>
          </a:xfrm>
        </p:spPr>
        <p:txBody>
          <a:bodyPr>
            <a:normAutofit/>
          </a:bodyPr>
          <a:lstStyle/>
          <a:p>
            <a:r>
              <a:rPr lang="en-US" sz="3600" dirty="0"/>
              <a:t>A pair of points p and q are density-connected</a:t>
            </a:r>
          </a:p>
          <a:p>
            <a:pPr lvl="1"/>
            <a:r>
              <a:rPr lang="en-US" sz="3200" dirty="0"/>
              <a:t>If they are commonly density-reachable from a point o </a:t>
            </a:r>
            <a:endParaRPr lang="en-US" sz="2800" dirty="0"/>
          </a:p>
        </p:txBody>
      </p:sp>
      <p:pic>
        <p:nvPicPr>
          <p:cNvPr id="4" name="Picture 3">
            <a:extLst>
              <a:ext uri="{FF2B5EF4-FFF2-40B4-BE49-F238E27FC236}">
                <a16:creationId xmlns:a16="http://schemas.microsoft.com/office/drawing/2014/main" id="{E0E63E26-3208-4E0A-9DA5-DD4C56C816BC}"/>
              </a:ext>
            </a:extLst>
          </p:cNvPr>
          <p:cNvPicPr>
            <a:picLocks noChangeAspect="1"/>
          </p:cNvPicPr>
          <p:nvPr/>
        </p:nvPicPr>
        <p:blipFill>
          <a:blip r:embed="rId2"/>
          <a:stretch>
            <a:fillRect/>
          </a:stretch>
        </p:blipFill>
        <p:spPr>
          <a:xfrm>
            <a:off x="7751165" y="3429000"/>
            <a:ext cx="3771900" cy="2990850"/>
          </a:xfrm>
          <a:prstGeom prst="rect">
            <a:avLst/>
          </a:prstGeom>
        </p:spPr>
      </p:pic>
      <p:sp>
        <p:nvSpPr>
          <p:cNvPr id="5" name="Slide Number Placeholder 4">
            <a:extLst>
              <a:ext uri="{FF2B5EF4-FFF2-40B4-BE49-F238E27FC236}">
                <a16:creationId xmlns:a16="http://schemas.microsoft.com/office/drawing/2014/main" id="{8176E794-F85D-4A53-8D44-B60646FCAC47}"/>
              </a:ext>
            </a:extLst>
          </p:cNvPr>
          <p:cNvSpPr>
            <a:spLocks noGrp="1"/>
          </p:cNvSpPr>
          <p:nvPr>
            <p:ph type="sldNum" sz="quarter" idx="12"/>
          </p:nvPr>
        </p:nvSpPr>
        <p:spPr/>
        <p:txBody>
          <a:bodyPr/>
          <a:lstStyle/>
          <a:p>
            <a:fld id="{4CC025FC-8595-493D-A46F-2FDFDC85D9BC}" type="slidenum">
              <a:rPr lang="en-US" smtClean="0"/>
              <a:t>74</a:t>
            </a:fld>
            <a:endParaRPr lang="en-US"/>
          </a:p>
        </p:txBody>
      </p:sp>
    </p:spTree>
    <p:extLst>
      <p:ext uri="{BB962C8B-B14F-4D97-AF65-F5344CB8AC3E}">
        <p14:creationId xmlns:p14="http://schemas.microsoft.com/office/powerpoint/2010/main" val="24558681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CF24C-BD73-4570-9F4F-60AF82D7A8D9}"/>
              </a:ext>
            </a:extLst>
          </p:cNvPr>
          <p:cNvSpPr>
            <a:spLocks noGrp="1"/>
          </p:cNvSpPr>
          <p:nvPr>
            <p:ph type="title"/>
          </p:nvPr>
        </p:nvSpPr>
        <p:spPr/>
        <p:txBody>
          <a:bodyPr>
            <a:normAutofit fontScale="90000"/>
          </a:bodyPr>
          <a:lstStyle/>
          <a:p>
            <a:r>
              <a:rPr lang="en-US" dirty="0"/>
              <a:t>DBSCAN Algorithm</a:t>
            </a:r>
          </a:p>
        </p:txBody>
      </p:sp>
      <p:sp>
        <p:nvSpPr>
          <p:cNvPr id="3" name="Content Placeholder 2">
            <a:extLst>
              <a:ext uri="{FF2B5EF4-FFF2-40B4-BE49-F238E27FC236}">
                <a16:creationId xmlns:a16="http://schemas.microsoft.com/office/drawing/2014/main" id="{B43BB927-C6F0-482C-94ED-D4FC843E93FA}"/>
              </a:ext>
            </a:extLst>
          </p:cNvPr>
          <p:cNvSpPr>
            <a:spLocks noGrp="1"/>
          </p:cNvSpPr>
          <p:nvPr>
            <p:ph idx="1"/>
          </p:nvPr>
        </p:nvSpPr>
        <p:spPr/>
        <p:txBody>
          <a:bodyPr>
            <a:normAutofit/>
          </a:bodyPr>
          <a:lstStyle/>
          <a:p>
            <a:pPr marL="0" indent="0">
              <a:buNone/>
            </a:pPr>
            <a:r>
              <a:rPr lang="en-US" sz="3600" b="1" dirty="0">
                <a:latin typeface="Cambria" panose="02040503050406030204" pitchFamily="18" charset="0"/>
                <a:ea typeface="Cambria" panose="02040503050406030204" pitchFamily="18" charset="0"/>
              </a:rPr>
              <a:t>for</a:t>
            </a:r>
            <a:r>
              <a:rPr lang="en-US" sz="3600" dirty="0">
                <a:latin typeface="Cambria" panose="02040503050406030204" pitchFamily="18" charset="0"/>
                <a:ea typeface="Cambria" panose="02040503050406030204" pitchFamily="18" charset="0"/>
              </a:rPr>
              <a:t> each </a:t>
            </a:r>
            <a:r>
              <a:rPr lang="en-US" sz="3600" i="1" dirty="0">
                <a:latin typeface="Cambria" panose="02040503050406030204" pitchFamily="18" charset="0"/>
                <a:ea typeface="Cambria" panose="02040503050406030204" pitchFamily="18" charset="0"/>
              </a:rPr>
              <a:t>o</a:t>
            </a:r>
            <a:r>
              <a:rPr lang="en-US" sz="3600" dirty="0">
                <a:latin typeface="Cambria" panose="02040503050406030204" pitchFamily="18" charset="0"/>
                <a:ea typeface="Cambria" panose="02040503050406030204" pitchFamily="18" charset="0"/>
              </a:rPr>
              <a:t> </a:t>
            </a:r>
            <a:r>
              <a:rPr lang="en-US" sz="3600" dirty="0">
                <a:latin typeface="Cambria" panose="02040503050406030204" pitchFamily="18" charset="0"/>
                <a:ea typeface="Cambria" panose="02040503050406030204" pitchFamily="18" charset="0"/>
                <a:sym typeface="Symbol" panose="05050102010706020507" pitchFamily="18" charset="2"/>
              </a:rPr>
              <a:t></a:t>
            </a:r>
            <a:r>
              <a:rPr lang="en-US" sz="3600" dirty="0">
                <a:latin typeface="Cambria" panose="02040503050406030204" pitchFamily="18" charset="0"/>
                <a:ea typeface="Cambria" panose="02040503050406030204" pitchFamily="18" charset="0"/>
              </a:rPr>
              <a:t> </a:t>
            </a:r>
            <a:r>
              <a:rPr lang="en-US" sz="3600" i="1" dirty="0">
                <a:latin typeface="Cambria" panose="02040503050406030204" pitchFamily="18" charset="0"/>
                <a:ea typeface="Cambria" panose="02040503050406030204" pitchFamily="18" charset="0"/>
              </a:rPr>
              <a:t>D</a:t>
            </a:r>
            <a:r>
              <a:rPr lang="en-US" sz="3600" dirty="0">
                <a:latin typeface="Cambria" panose="02040503050406030204" pitchFamily="18" charset="0"/>
                <a:ea typeface="Cambria" panose="02040503050406030204" pitchFamily="18" charset="0"/>
              </a:rPr>
              <a:t> do</a:t>
            </a:r>
          </a:p>
          <a:p>
            <a:pPr marL="0" indent="0">
              <a:buNone/>
            </a:pPr>
            <a:r>
              <a:rPr lang="en-US" sz="3600" dirty="0">
                <a:latin typeface="Cambria" panose="02040503050406030204" pitchFamily="18" charset="0"/>
                <a:ea typeface="Cambria" panose="02040503050406030204" pitchFamily="18" charset="0"/>
              </a:rPr>
              <a:t>	</a:t>
            </a:r>
            <a:r>
              <a:rPr lang="en-US" sz="3600" b="1" dirty="0">
                <a:latin typeface="Cambria" panose="02040503050406030204" pitchFamily="18" charset="0"/>
                <a:ea typeface="Cambria" panose="02040503050406030204" pitchFamily="18" charset="0"/>
              </a:rPr>
              <a:t>if</a:t>
            </a:r>
            <a:r>
              <a:rPr lang="en-US" sz="3600" dirty="0">
                <a:latin typeface="Cambria" panose="02040503050406030204" pitchFamily="18" charset="0"/>
                <a:ea typeface="Cambria" panose="02040503050406030204" pitchFamily="18" charset="0"/>
              </a:rPr>
              <a:t> </a:t>
            </a:r>
            <a:r>
              <a:rPr lang="en-US" sz="3600" i="1" dirty="0">
                <a:latin typeface="Cambria" panose="02040503050406030204" pitchFamily="18" charset="0"/>
                <a:ea typeface="Cambria" panose="02040503050406030204" pitchFamily="18" charset="0"/>
              </a:rPr>
              <a:t>o</a:t>
            </a:r>
            <a:r>
              <a:rPr lang="en-US" sz="3600" dirty="0">
                <a:latin typeface="Cambria" panose="02040503050406030204" pitchFamily="18" charset="0"/>
                <a:ea typeface="Cambria" panose="02040503050406030204" pitchFamily="18" charset="0"/>
              </a:rPr>
              <a:t> is not yet classified then</a:t>
            </a:r>
          </a:p>
          <a:p>
            <a:pPr marL="0" indent="0">
              <a:buNone/>
            </a:pPr>
            <a:r>
              <a:rPr lang="en-US" sz="3600" dirty="0">
                <a:latin typeface="Cambria" panose="02040503050406030204" pitchFamily="18" charset="0"/>
                <a:ea typeface="Cambria" panose="02040503050406030204" pitchFamily="18" charset="0"/>
              </a:rPr>
              <a:t>		</a:t>
            </a:r>
            <a:r>
              <a:rPr lang="en-US" sz="3600" b="1" dirty="0">
                <a:latin typeface="Cambria" panose="02040503050406030204" pitchFamily="18" charset="0"/>
                <a:ea typeface="Cambria" panose="02040503050406030204" pitchFamily="18" charset="0"/>
              </a:rPr>
              <a:t>if</a:t>
            </a:r>
            <a:r>
              <a:rPr lang="en-US" sz="3600" dirty="0">
                <a:latin typeface="Cambria" panose="02040503050406030204" pitchFamily="18" charset="0"/>
                <a:ea typeface="Cambria" panose="02040503050406030204" pitchFamily="18" charset="0"/>
              </a:rPr>
              <a:t> </a:t>
            </a:r>
            <a:r>
              <a:rPr lang="en-US" sz="3600" i="1" dirty="0">
                <a:latin typeface="Cambria" panose="02040503050406030204" pitchFamily="18" charset="0"/>
                <a:ea typeface="Cambria" panose="02040503050406030204" pitchFamily="18" charset="0"/>
              </a:rPr>
              <a:t>o</a:t>
            </a:r>
            <a:r>
              <a:rPr lang="en-US" sz="3600" dirty="0">
                <a:latin typeface="Cambria" panose="02040503050406030204" pitchFamily="18" charset="0"/>
                <a:ea typeface="Cambria" panose="02040503050406030204" pitchFamily="18" charset="0"/>
              </a:rPr>
              <a:t> is a core-object then</a:t>
            </a:r>
          </a:p>
          <a:p>
            <a:pPr marL="0" indent="0">
              <a:buNone/>
            </a:pPr>
            <a:r>
              <a:rPr lang="en-US" sz="3600" dirty="0">
                <a:latin typeface="Cambria" panose="02040503050406030204" pitchFamily="18" charset="0"/>
                <a:ea typeface="Cambria" panose="02040503050406030204" pitchFamily="18" charset="0"/>
              </a:rPr>
              <a:t>			collect all objects density-reachable from </a:t>
            </a:r>
          </a:p>
          <a:p>
            <a:pPr marL="0" indent="0">
              <a:buNone/>
            </a:pPr>
            <a:r>
              <a:rPr lang="en-US" sz="3600" i="1" dirty="0">
                <a:latin typeface="Cambria" panose="02040503050406030204" pitchFamily="18" charset="0"/>
                <a:ea typeface="Cambria" panose="02040503050406030204" pitchFamily="18" charset="0"/>
              </a:rPr>
              <a:t>			o</a:t>
            </a:r>
            <a:r>
              <a:rPr lang="en-US" sz="3600" dirty="0">
                <a:latin typeface="Cambria" panose="02040503050406030204" pitchFamily="18" charset="0"/>
                <a:ea typeface="Cambria" panose="02040503050406030204" pitchFamily="18" charset="0"/>
              </a:rPr>
              <a:t> and assign them to a new cluster.</a:t>
            </a:r>
          </a:p>
          <a:p>
            <a:pPr marL="0" indent="0">
              <a:buNone/>
            </a:pPr>
            <a:r>
              <a:rPr lang="en-US" sz="3600" dirty="0">
                <a:latin typeface="Cambria" panose="02040503050406030204" pitchFamily="18" charset="0"/>
                <a:ea typeface="Cambria" panose="02040503050406030204" pitchFamily="18" charset="0"/>
              </a:rPr>
              <a:t>		</a:t>
            </a:r>
            <a:r>
              <a:rPr lang="en-US" sz="3600" b="1" dirty="0">
                <a:latin typeface="Cambria" panose="02040503050406030204" pitchFamily="18" charset="0"/>
                <a:ea typeface="Cambria" panose="02040503050406030204" pitchFamily="18" charset="0"/>
              </a:rPr>
              <a:t>else</a:t>
            </a:r>
          </a:p>
          <a:p>
            <a:pPr marL="0" indent="0">
              <a:buNone/>
            </a:pPr>
            <a:r>
              <a:rPr lang="en-US" sz="3600" dirty="0">
                <a:latin typeface="Cambria" panose="02040503050406030204" pitchFamily="18" charset="0"/>
                <a:ea typeface="Cambria" panose="02040503050406030204" pitchFamily="18" charset="0"/>
              </a:rPr>
              <a:t>			assign </a:t>
            </a:r>
            <a:r>
              <a:rPr lang="en-US" sz="3600" i="1" dirty="0">
                <a:latin typeface="Cambria" panose="02040503050406030204" pitchFamily="18" charset="0"/>
                <a:ea typeface="Cambria" panose="02040503050406030204" pitchFamily="18" charset="0"/>
              </a:rPr>
              <a:t>o</a:t>
            </a:r>
            <a:r>
              <a:rPr lang="en-US" sz="3600" dirty="0">
                <a:latin typeface="Cambria" panose="02040503050406030204" pitchFamily="18" charset="0"/>
                <a:ea typeface="Cambria" panose="02040503050406030204" pitchFamily="18" charset="0"/>
              </a:rPr>
              <a:t> to NOISE</a:t>
            </a:r>
          </a:p>
        </p:txBody>
      </p:sp>
      <p:sp>
        <p:nvSpPr>
          <p:cNvPr id="5" name="Slide Number Placeholder 4">
            <a:extLst>
              <a:ext uri="{FF2B5EF4-FFF2-40B4-BE49-F238E27FC236}">
                <a16:creationId xmlns:a16="http://schemas.microsoft.com/office/drawing/2014/main" id="{103E5D89-874D-4F02-B0A5-34E73DB0D583}"/>
              </a:ext>
            </a:extLst>
          </p:cNvPr>
          <p:cNvSpPr>
            <a:spLocks noGrp="1"/>
          </p:cNvSpPr>
          <p:nvPr>
            <p:ph type="sldNum" sz="quarter" idx="12"/>
          </p:nvPr>
        </p:nvSpPr>
        <p:spPr/>
        <p:txBody>
          <a:bodyPr/>
          <a:lstStyle/>
          <a:p>
            <a:fld id="{4CC025FC-8595-493D-A46F-2FDFDC85D9BC}" type="slidenum">
              <a:rPr lang="en-US" smtClean="0"/>
              <a:t>75</a:t>
            </a:fld>
            <a:endParaRPr lang="en-US"/>
          </a:p>
        </p:txBody>
      </p:sp>
    </p:spTree>
    <p:extLst>
      <p:ext uri="{BB962C8B-B14F-4D97-AF65-F5344CB8AC3E}">
        <p14:creationId xmlns:p14="http://schemas.microsoft.com/office/powerpoint/2010/main" val="3928300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5E1E-15A0-48D6-97C4-791B93192BED}"/>
              </a:ext>
            </a:extLst>
          </p:cNvPr>
          <p:cNvSpPr>
            <a:spLocks noGrp="1"/>
          </p:cNvSpPr>
          <p:nvPr>
            <p:ph type="title"/>
          </p:nvPr>
        </p:nvSpPr>
        <p:spPr/>
        <p:txBody>
          <a:bodyPr>
            <a:normAutofit fontScale="90000"/>
          </a:bodyPr>
          <a:lstStyle/>
          <a:p>
            <a:r>
              <a:rPr lang="en-US" dirty="0"/>
              <a:t>Example – Compute Proximity Matrix</a:t>
            </a:r>
          </a:p>
        </p:txBody>
      </p:sp>
      <p:graphicFrame>
        <p:nvGraphicFramePr>
          <p:cNvPr id="4" name="Table 4">
            <a:extLst>
              <a:ext uri="{FF2B5EF4-FFF2-40B4-BE49-F238E27FC236}">
                <a16:creationId xmlns:a16="http://schemas.microsoft.com/office/drawing/2014/main" id="{F308E277-A179-4E35-BBD1-6DE7D88EBFF0}"/>
              </a:ext>
            </a:extLst>
          </p:cNvPr>
          <p:cNvGraphicFramePr>
            <a:graphicFrameLocks noGrp="1"/>
          </p:cNvGraphicFramePr>
          <p:nvPr/>
        </p:nvGraphicFramePr>
        <p:xfrm>
          <a:off x="401782" y="1788811"/>
          <a:ext cx="2833788" cy="4114800"/>
        </p:xfrm>
        <a:graphic>
          <a:graphicData uri="http://schemas.openxmlformats.org/drawingml/2006/table">
            <a:tbl>
              <a:tblPr firstRow="1" bandRow="1">
                <a:tableStyleId>{5C22544A-7EE6-4342-B048-85BDC9FD1C3A}</a:tableStyleId>
              </a:tblPr>
              <a:tblGrid>
                <a:gridCol w="944596">
                  <a:extLst>
                    <a:ext uri="{9D8B030D-6E8A-4147-A177-3AD203B41FA5}">
                      <a16:colId xmlns:a16="http://schemas.microsoft.com/office/drawing/2014/main" val="3307328152"/>
                    </a:ext>
                  </a:extLst>
                </a:gridCol>
                <a:gridCol w="944596">
                  <a:extLst>
                    <a:ext uri="{9D8B030D-6E8A-4147-A177-3AD203B41FA5}">
                      <a16:colId xmlns:a16="http://schemas.microsoft.com/office/drawing/2014/main" val="2523966027"/>
                    </a:ext>
                  </a:extLst>
                </a:gridCol>
                <a:gridCol w="944596">
                  <a:extLst>
                    <a:ext uri="{9D8B030D-6E8A-4147-A177-3AD203B41FA5}">
                      <a16:colId xmlns:a16="http://schemas.microsoft.com/office/drawing/2014/main" val="3807471388"/>
                    </a:ext>
                  </a:extLst>
                </a:gridCol>
              </a:tblGrid>
              <a:tr h="370840">
                <a:tc>
                  <a:txBody>
                    <a:bodyPr/>
                    <a:lstStyle/>
                    <a:p>
                      <a:r>
                        <a:rPr lang="en-US" sz="2400" dirty="0"/>
                        <a:t>ID</a:t>
                      </a:r>
                    </a:p>
                  </a:txBody>
                  <a:tcPr/>
                </a:tc>
                <a:tc>
                  <a:txBody>
                    <a:bodyPr/>
                    <a:lstStyle/>
                    <a:p>
                      <a:r>
                        <a:rPr lang="en-US" sz="2400" dirty="0"/>
                        <a:t>X1</a:t>
                      </a:r>
                    </a:p>
                  </a:txBody>
                  <a:tcPr/>
                </a:tc>
                <a:tc>
                  <a:txBody>
                    <a:bodyPr/>
                    <a:lstStyle/>
                    <a:p>
                      <a:r>
                        <a:rPr lang="en-US" sz="2400" dirty="0"/>
                        <a:t>X2</a:t>
                      </a:r>
                    </a:p>
                  </a:txBody>
                  <a:tcPr/>
                </a:tc>
                <a:extLst>
                  <a:ext uri="{0D108BD9-81ED-4DB2-BD59-A6C34878D82A}">
                    <a16:rowId xmlns:a16="http://schemas.microsoft.com/office/drawing/2014/main" val="4184438245"/>
                  </a:ext>
                </a:extLst>
              </a:tr>
              <a:tr h="370840">
                <a:tc>
                  <a:txBody>
                    <a:bodyPr/>
                    <a:lstStyle/>
                    <a:p>
                      <a:r>
                        <a:rPr lang="en-US" sz="2400" dirty="0"/>
                        <a:t>A1</a:t>
                      </a:r>
                    </a:p>
                  </a:txBody>
                  <a:tcPr/>
                </a:tc>
                <a:tc>
                  <a:txBody>
                    <a:bodyPr/>
                    <a:lstStyle/>
                    <a:p>
                      <a:r>
                        <a:rPr lang="en-US" sz="2400" dirty="0"/>
                        <a:t>2</a:t>
                      </a:r>
                    </a:p>
                  </a:txBody>
                  <a:tcPr/>
                </a:tc>
                <a:tc>
                  <a:txBody>
                    <a:bodyPr/>
                    <a:lstStyle/>
                    <a:p>
                      <a:r>
                        <a:rPr lang="en-US" sz="2400" dirty="0"/>
                        <a:t>10</a:t>
                      </a:r>
                    </a:p>
                  </a:txBody>
                  <a:tcPr/>
                </a:tc>
                <a:extLst>
                  <a:ext uri="{0D108BD9-81ED-4DB2-BD59-A6C34878D82A}">
                    <a16:rowId xmlns:a16="http://schemas.microsoft.com/office/drawing/2014/main" val="1455143019"/>
                  </a:ext>
                </a:extLst>
              </a:tr>
              <a:tr h="370840">
                <a:tc>
                  <a:txBody>
                    <a:bodyPr/>
                    <a:lstStyle/>
                    <a:p>
                      <a:r>
                        <a:rPr lang="en-US" sz="2400" dirty="0"/>
                        <a:t>A2</a:t>
                      </a:r>
                    </a:p>
                  </a:txBody>
                  <a:tcPr/>
                </a:tc>
                <a:tc>
                  <a:txBody>
                    <a:bodyPr/>
                    <a:lstStyle/>
                    <a:p>
                      <a:r>
                        <a:rPr lang="en-US" sz="2400" dirty="0"/>
                        <a:t>2</a:t>
                      </a:r>
                    </a:p>
                  </a:txBody>
                  <a:tcPr/>
                </a:tc>
                <a:tc>
                  <a:txBody>
                    <a:bodyPr/>
                    <a:lstStyle/>
                    <a:p>
                      <a:r>
                        <a:rPr lang="en-US" sz="2400" dirty="0"/>
                        <a:t>5</a:t>
                      </a:r>
                    </a:p>
                  </a:txBody>
                  <a:tcPr/>
                </a:tc>
                <a:extLst>
                  <a:ext uri="{0D108BD9-81ED-4DB2-BD59-A6C34878D82A}">
                    <a16:rowId xmlns:a16="http://schemas.microsoft.com/office/drawing/2014/main" val="468469130"/>
                  </a:ext>
                </a:extLst>
              </a:tr>
              <a:tr h="370840">
                <a:tc>
                  <a:txBody>
                    <a:bodyPr/>
                    <a:lstStyle/>
                    <a:p>
                      <a:r>
                        <a:rPr lang="en-US" sz="2400" dirty="0"/>
                        <a:t>A3</a:t>
                      </a:r>
                    </a:p>
                  </a:txBody>
                  <a:tcPr/>
                </a:tc>
                <a:tc>
                  <a:txBody>
                    <a:bodyPr/>
                    <a:lstStyle/>
                    <a:p>
                      <a:r>
                        <a:rPr lang="en-US" sz="2400" dirty="0"/>
                        <a:t>8</a:t>
                      </a:r>
                    </a:p>
                  </a:txBody>
                  <a:tcPr/>
                </a:tc>
                <a:tc>
                  <a:txBody>
                    <a:bodyPr/>
                    <a:lstStyle/>
                    <a:p>
                      <a:r>
                        <a:rPr lang="en-US" sz="2400" dirty="0"/>
                        <a:t>4</a:t>
                      </a:r>
                    </a:p>
                  </a:txBody>
                  <a:tcPr/>
                </a:tc>
                <a:extLst>
                  <a:ext uri="{0D108BD9-81ED-4DB2-BD59-A6C34878D82A}">
                    <a16:rowId xmlns:a16="http://schemas.microsoft.com/office/drawing/2014/main" val="1802444952"/>
                  </a:ext>
                </a:extLst>
              </a:tr>
              <a:tr h="370840">
                <a:tc>
                  <a:txBody>
                    <a:bodyPr/>
                    <a:lstStyle/>
                    <a:p>
                      <a:r>
                        <a:rPr lang="en-US" sz="2400" dirty="0"/>
                        <a:t>A4</a:t>
                      </a:r>
                    </a:p>
                  </a:txBody>
                  <a:tcPr/>
                </a:tc>
                <a:tc>
                  <a:txBody>
                    <a:bodyPr/>
                    <a:lstStyle/>
                    <a:p>
                      <a:r>
                        <a:rPr lang="en-US" sz="2400" dirty="0"/>
                        <a:t>5</a:t>
                      </a:r>
                    </a:p>
                  </a:txBody>
                  <a:tcPr/>
                </a:tc>
                <a:tc>
                  <a:txBody>
                    <a:bodyPr/>
                    <a:lstStyle/>
                    <a:p>
                      <a:r>
                        <a:rPr lang="en-US" sz="2400" dirty="0"/>
                        <a:t>8</a:t>
                      </a:r>
                    </a:p>
                  </a:txBody>
                  <a:tcPr/>
                </a:tc>
                <a:extLst>
                  <a:ext uri="{0D108BD9-81ED-4DB2-BD59-A6C34878D82A}">
                    <a16:rowId xmlns:a16="http://schemas.microsoft.com/office/drawing/2014/main" val="2526711071"/>
                  </a:ext>
                </a:extLst>
              </a:tr>
              <a:tr h="370840">
                <a:tc>
                  <a:txBody>
                    <a:bodyPr/>
                    <a:lstStyle/>
                    <a:p>
                      <a:r>
                        <a:rPr lang="en-US" sz="2400" dirty="0"/>
                        <a:t>A5</a:t>
                      </a:r>
                    </a:p>
                  </a:txBody>
                  <a:tcPr/>
                </a:tc>
                <a:tc>
                  <a:txBody>
                    <a:bodyPr/>
                    <a:lstStyle/>
                    <a:p>
                      <a:r>
                        <a:rPr lang="en-US" sz="2400" dirty="0"/>
                        <a:t>7</a:t>
                      </a:r>
                    </a:p>
                  </a:txBody>
                  <a:tcPr/>
                </a:tc>
                <a:tc>
                  <a:txBody>
                    <a:bodyPr/>
                    <a:lstStyle/>
                    <a:p>
                      <a:r>
                        <a:rPr lang="en-US" sz="2400" dirty="0"/>
                        <a:t>5</a:t>
                      </a:r>
                    </a:p>
                  </a:txBody>
                  <a:tcPr/>
                </a:tc>
                <a:extLst>
                  <a:ext uri="{0D108BD9-81ED-4DB2-BD59-A6C34878D82A}">
                    <a16:rowId xmlns:a16="http://schemas.microsoft.com/office/drawing/2014/main" val="299807120"/>
                  </a:ext>
                </a:extLst>
              </a:tr>
              <a:tr h="370840">
                <a:tc>
                  <a:txBody>
                    <a:bodyPr/>
                    <a:lstStyle/>
                    <a:p>
                      <a:r>
                        <a:rPr lang="en-US" sz="2400" dirty="0"/>
                        <a:t>A6</a:t>
                      </a:r>
                    </a:p>
                  </a:txBody>
                  <a:tcPr/>
                </a:tc>
                <a:tc>
                  <a:txBody>
                    <a:bodyPr/>
                    <a:lstStyle/>
                    <a:p>
                      <a:r>
                        <a:rPr lang="en-US" sz="2400" dirty="0"/>
                        <a:t>6</a:t>
                      </a:r>
                    </a:p>
                  </a:txBody>
                  <a:tcPr/>
                </a:tc>
                <a:tc>
                  <a:txBody>
                    <a:bodyPr/>
                    <a:lstStyle/>
                    <a:p>
                      <a:r>
                        <a:rPr lang="en-US" sz="2400" dirty="0"/>
                        <a:t>4</a:t>
                      </a:r>
                    </a:p>
                  </a:txBody>
                  <a:tcPr/>
                </a:tc>
                <a:extLst>
                  <a:ext uri="{0D108BD9-81ED-4DB2-BD59-A6C34878D82A}">
                    <a16:rowId xmlns:a16="http://schemas.microsoft.com/office/drawing/2014/main" val="1747340720"/>
                  </a:ext>
                </a:extLst>
              </a:tr>
              <a:tr h="370840">
                <a:tc>
                  <a:txBody>
                    <a:bodyPr/>
                    <a:lstStyle/>
                    <a:p>
                      <a:r>
                        <a:rPr lang="en-US" sz="2400" dirty="0"/>
                        <a:t>A7</a:t>
                      </a:r>
                    </a:p>
                  </a:txBody>
                  <a:tcPr/>
                </a:tc>
                <a:tc>
                  <a:txBody>
                    <a:bodyPr/>
                    <a:lstStyle/>
                    <a:p>
                      <a:r>
                        <a:rPr lang="en-US" sz="2400" dirty="0"/>
                        <a:t>1</a:t>
                      </a:r>
                    </a:p>
                  </a:txBody>
                  <a:tcPr/>
                </a:tc>
                <a:tc>
                  <a:txBody>
                    <a:bodyPr/>
                    <a:lstStyle/>
                    <a:p>
                      <a:r>
                        <a:rPr lang="en-US" sz="2400" dirty="0"/>
                        <a:t>2</a:t>
                      </a:r>
                    </a:p>
                  </a:txBody>
                  <a:tcPr/>
                </a:tc>
                <a:extLst>
                  <a:ext uri="{0D108BD9-81ED-4DB2-BD59-A6C34878D82A}">
                    <a16:rowId xmlns:a16="http://schemas.microsoft.com/office/drawing/2014/main" val="3595537470"/>
                  </a:ext>
                </a:extLst>
              </a:tr>
              <a:tr h="370840">
                <a:tc>
                  <a:txBody>
                    <a:bodyPr/>
                    <a:lstStyle/>
                    <a:p>
                      <a:r>
                        <a:rPr lang="en-US" sz="2400" dirty="0"/>
                        <a:t>A8</a:t>
                      </a:r>
                    </a:p>
                  </a:txBody>
                  <a:tcPr/>
                </a:tc>
                <a:tc>
                  <a:txBody>
                    <a:bodyPr/>
                    <a:lstStyle/>
                    <a:p>
                      <a:r>
                        <a:rPr lang="en-US" sz="2400" dirty="0"/>
                        <a:t>4</a:t>
                      </a:r>
                    </a:p>
                  </a:txBody>
                  <a:tcPr/>
                </a:tc>
                <a:tc>
                  <a:txBody>
                    <a:bodyPr/>
                    <a:lstStyle/>
                    <a:p>
                      <a:r>
                        <a:rPr lang="en-US" sz="2400" dirty="0"/>
                        <a:t>9</a:t>
                      </a:r>
                    </a:p>
                  </a:txBody>
                  <a:tcPr/>
                </a:tc>
                <a:extLst>
                  <a:ext uri="{0D108BD9-81ED-4DB2-BD59-A6C34878D82A}">
                    <a16:rowId xmlns:a16="http://schemas.microsoft.com/office/drawing/2014/main" val="3901043953"/>
                  </a:ext>
                </a:extLst>
              </a:tr>
            </a:tbl>
          </a:graphicData>
        </a:graphic>
      </p:graphicFrame>
      <p:sp>
        <p:nvSpPr>
          <p:cNvPr id="7" name="TextBox 6">
            <a:extLst>
              <a:ext uri="{FF2B5EF4-FFF2-40B4-BE49-F238E27FC236}">
                <a16:creationId xmlns:a16="http://schemas.microsoft.com/office/drawing/2014/main" id="{8A9046F2-5261-4127-86C6-9A98F4ADEDD9}"/>
              </a:ext>
            </a:extLst>
          </p:cNvPr>
          <p:cNvSpPr txBox="1"/>
          <p:nvPr/>
        </p:nvSpPr>
        <p:spPr>
          <a:xfrm>
            <a:off x="401782" y="1300488"/>
            <a:ext cx="2833788" cy="523220"/>
          </a:xfrm>
          <a:prstGeom prst="rect">
            <a:avLst/>
          </a:prstGeom>
          <a:noFill/>
        </p:spPr>
        <p:txBody>
          <a:bodyPr wrap="square" rtlCol="0">
            <a:spAutoFit/>
          </a:bodyPr>
          <a:lstStyle/>
          <a:p>
            <a:r>
              <a:rPr lang="en-US" sz="2800" b="1" dirty="0">
                <a:sym typeface="Symbol" panose="05050102010706020507" pitchFamily="18" charset="2"/>
              </a:rPr>
              <a:t>Dataset</a:t>
            </a:r>
            <a:endParaRPr lang="en-US" sz="2800" b="1" dirty="0"/>
          </a:p>
        </p:txBody>
      </p:sp>
      <p:graphicFrame>
        <p:nvGraphicFramePr>
          <p:cNvPr id="8" name="Table 4">
            <a:extLst>
              <a:ext uri="{FF2B5EF4-FFF2-40B4-BE49-F238E27FC236}">
                <a16:creationId xmlns:a16="http://schemas.microsoft.com/office/drawing/2014/main" id="{2EE332C7-BEEA-460A-93EB-7064F26AED94}"/>
              </a:ext>
            </a:extLst>
          </p:cNvPr>
          <p:cNvGraphicFramePr>
            <a:graphicFrameLocks noGrp="1"/>
          </p:cNvGraphicFramePr>
          <p:nvPr/>
        </p:nvGraphicFramePr>
        <p:xfrm>
          <a:off x="4268052" y="1788811"/>
          <a:ext cx="7522164" cy="4114800"/>
        </p:xfrm>
        <a:graphic>
          <a:graphicData uri="http://schemas.openxmlformats.org/drawingml/2006/table">
            <a:tbl>
              <a:tblPr firstRow="1" bandRow="1">
                <a:tableStyleId>{5C22544A-7EE6-4342-B048-85BDC9FD1C3A}</a:tableStyleId>
              </a:tblPr>
              <a:tblGrid>
                <a:gridCol w="835796">
                  <a:extLst>
                    <a:ext uri="{9D8B030D-6E8A-4147-A177-3AD203B41FA5}">
                      <a16:colId xmlns:a16="http://schemas.microsoft.com/office/drawing/2014/main" val="3307328152"/>
                    </a:ext>
                  </a:extLst>
                </a:gridCol>
                <a:gridCol w="835796">
                  <a:extLst>
                    <a:ext uri="{9D8B030D-6E8A-4147-A177-3AD203B41FA5}">
                      <a16:colId xmlns:a16="http://schemas.microsoft.com/office/drawing/2014/main" val="2523966027"/>
                    </a:ext>
                  </a:extLst>
                </a:gridCol>
                <a:gridCol w="835796">
                  <a:extLst>
                    <a:ext uri="{9D8B030D-6E8A-4147-A177-3AD203B41FA5}">
                      <a16:colId xmlns:a16="http://schemas.microsoft.com/office/drawing/2014/main" val="3807471388"/>
                    </a:ext>
                  </a:extLst>
                </a:gridCol>
                <a:gridCol w="835796">
                  <a:extLst>
                    <a:ext uri="{9D8B030D-6E8A-4147-A177-3AD203B41FA5}">
                      <a16:colId xmlns:a16="http://schemas.microsoft.com/office/drawing/2014/main" val="129287225"/>
                    </a:ext>
                  </a:extLst>
                </a:gridCol>
                <a:gridCol w="835796">
                  <a:extLst>
                    <a:ext uri="{9D8B030D-6E8A-4147-A177-3AD203B41FA5}">
                      <a16:colId xmlns:a16="http://schemas.microsoft.com/office/drawing/2014/main" val="2941690540"/>
                    </a:ext>
                  </a:extLst>
                </a:gridCol>
                <a:gridCol w="835796">
                  <a:extLst>
                    <a:ext uri="{9D8B030D-6E8A-4147-A177-3AD203B41FA5}">
                      <a16:colId xmlns:a16="http://schemas.microsoft.com/office/drawing/2014/main" val="39771652"/>
                    </a:ext>
                  </a:extLst>
                </a:gridCol>
                <a:gridCol w="835796">
                  <a:extLst>
                    <a:ext uri="{9D8B030D-6E8A-4147-A177-3AD203B41FA5}">
                      <a16:colId xmlns:a16="http://schemas.microsoft.com/office/drawing/2014/main" val="563978114"/>
                    </a:ext>
                  </a:extLst>
                </a:gridCol>
                <a:gridCol w="835796">
                  <a:extLst>
                    <a:ext uri="{9D8B030D-6E8A-4147-A177-3AD203B41FA5}">
                      <a16:colId xmlns:a16="http://schemas.microsoft.com/office/drawing/2014/main" val="1980511115"/>
                    </a:ext>
                  </a:extLst>
                </a:gridCol>
                <a:gridCol w="835796">
                  <a:extLst>
                    <a:ext uri="{9D8B030D-6E8A-4147-A177-3AD203B41FA5}">
                      <a16:colId xmlns:a16="http://schemas.microsoft.com/office/drawing/2014/main" val="899188318"/>
                    </a:ext>
                  </a:extLst>
                </a:gridCol>
              </a:tblGrid>
              <a:tr h="370840">
                <a:tc>
                  <a:txBody>
                    <a:bodyPr/>
                    <a:lstStyle/>
                    <a:p>
                      <a:r>
                        <a:rPr lang="en-US" sz="2400" dirty="0"/>
                        <a:t>ID</a:t>
                      </a:r>
                    </a:p>
                  </a:txBody>
                  <a:tcPr/>
                </a:tc>
                <a:tc>
                  <a:txBody>
                    <a:bodyPr/>
                    <a:lstStyle/>
                    <a:p>
                      <a:r>
                        <a:rPr lang="en-US" sz="2400" dirty="0"/>
                        <a:t>A1</a:t>
                      </a:r>
                    </a:p>
                  </a:txBody>
                  <a:tcPr/>
                </a:tc>
                <a:tc>
                  <a:txBody>
                    <a:bodyPr/>
                    <a:lstStyle/>
                    <a:p>
                      <a:r>
                        <a:rPr lang="en-US" sz="2400" dirty="0"/>
                        <a:t>A2</a:t>
                      </a:r>
                    </a:p>
                  </a:txBody>
                  <a:tcPr/>
                </a:tc>
                <a:tc>
                  <a:txBody>
                    <a:bodyPr/>
                    <a:lstStyle/>
                    <a:p>
                      <a:r>
                        <a:rPr lang="en-US" sz="2400" dirty="0"/>
                        <a:t>A3</a:t>
                      </a:r>
                    </a:p>
                  </a:txBody>
                  <a:tcPr/>
                </a:tc>
                <a:tc>
                  <a:txBody>
                    <a:bodyPr/>
                    <a:lstStyle/>
                    <a:p>
                      <a:r>
                        <a:rPr lang="en-US" sz="2400" dirty="0"/>
                        <a:t>A4</a:t>
                      </a:r>
                    </a:p>
                  </a:txBody>
                  <a:tcPr/>
                </a:tc>
                <a:tc>
                  <a:txBody>
                    <a:bodyPr/>
                    <a:lstStyle/>
                    <a:p>
                      <a:r>
                        <a:rPr lang="en-US" sz="2400" dirty="0"/>
                        <a:t>A5</a:t>
                      </a:r>
                    </a:p>
                  </a:txBody>
                  <a:tcPr/>
                </a:tc>
                <a:tc>
                  <a:txBody>
                    <a:bodyPr/>
                    <a:lstStyle/>
                    <a:p>
                      <a:r>
                        <a:rPr lang="en-US" sz="2400" dirty="0"/>
                        <a:t>A6</a:t>
                      </a:r>
                    </a:p>
                  </a:txBody>
                  <a:tcPr/>
                </a:tc>
                <a:tc>
                  <a:txBody>
                    <a:bodyPr/>
                    <a:lstStyle/>
                    <a:p>
                      <a:r>
                        <a:rPr lang="en-US" sz="2400" dirty="0"/>
                        <a:t>A7</a:t>
                      </a:r>
                    </a:p>
                  </a:txBody>
                  <a:tcPr/>
                </a:tc>
                <a:tc>
                  <a:txBody>
                    <a:bodyPr/>
                    <a:lstStyle/>
                    <a:p>
                      <a:r>
                        <a:rPr lang="en-US" sz="2400" dirty="0"/>
                        <a:t>A8</a:t>
                      </a:r>
                    </a:p>
                  </a:txBody>
                  <a:tcPr/>
                </a:tc>
                <a:extLst>
                  <a:ext uri="{0D108BD9-81ED-4DB2-BD59-A6C34878D82A}">
                    <a16:rowId xmlns:a16="http://schemas.microsoft.com/office/drawing/2014/main" val="4184438245"/>
                  </a:ext>
                </a:extLst>
              </a:tr>
              <a:tr h="370840">
                <a:tc>
                  <a:txBody>
                    <a:bodyPr/>
                    <a:lstStyle/>
                    <a:p>
                      <a:r>
                        <a:rPr lang="en-US" sz="2400" dirty="0"/>
                        <a:t>A1</a:t>
                      </a:r>
                    </a:p>
                  </a:txBody>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3.61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7.07</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8.06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2.24</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455143019"/>
                  </a:ext>
                </a:extLst>
              </a:tr>
              <a:tr h="370840">
                <a:tc>
                  <a:txBody>
                    <a:bodyPr/>
                    <a:lstStyle/>
                    <a:p>
                      <a:r>
                        <a:rPr lang="en-US" sz="2400" dirty="0"/>
                        <a:t>A2</a:t>
                      </a:r>
                    </a:p>
                  </a:txBody>
                  <a:tcPr/>
                </a:tc>
                <a:tc>
                  <a:txBody>
                    <a:bodyPr/>
                    <a:lstStyle/>
                    <a:p>
                      <a:pPr algn="r" fontAlgn="b"/>
                      <a:r>
                        <a:rPr lang="en-US" sz="2400" u="none" strike="noStrike" dirty="0">
                          <a:effectLst/>
                        </a:rPr>
                        <a:t>5.00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6.08</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4.24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3.16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4.47</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68469130"/>
                  </a:ext>
                </a:extLst>
              </a:tr>
              <a:tr h="370840">
                <a:tc>
                  <a:txBody>
                    <a:bodyPr/>
                    <a:lstStyle/>
                    <a:p>
                      <a:r>
                        <a:rPr lang="en-US" sz="2400" dirty="0"/>
                        <a:t>A3</a:t>
                      </a:r>
                    </a:p>
                  </a:txBody>
                  <a:tcPr/>
                </a:tc>
                <a:tc>
                  <a:txBody>
                    <a:bodyPr/>
                    <a:lstStyle/>
                    <a:p>
                      <a:pPr algn="r" fontAlgn="b"/>
                      <a:r>
                        <a:rPr lang="en-US" sz="2400" u="none" strike="noStrike" dirty="0">
                          <a:effectLst/>
                        </a:rPr>
                        <a:t>6.00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6.08</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7.28</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6.40</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802444952"/>
                  </a:ext>
                </a:extLst>
              </a:tr>
              <a:tr h="370840">
                <a:tc>
                  <a:txBody>
                    <a:bodyPr/>
                    <a:lstStyle/>
                    <a:p>
                      <a:r>
                        <a:rPr lang="en-US" sz="2400" dirty="0"/>
                        <a:t>A4</a:t>
                      </a:r>
                    </a:p>
                  </a:txBody>
                  <a:tcPr/>
                </a:tc>
                <a:tc>
                  <a:txBody>
                    <a:bodyPr/>
                    <a:lstStyle/>
                    <a:p>
                      <a:pPr algn="r" fontAlgn="b"/>
                      <a:r>
                        <a:rPr lang="en-US" sz="2400" u="none" strike="noStrike">
                          <a:effectLst/>
                        </a:rPr>
                        <a:t>3.61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4.24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5.00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3.61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26711071"/>
                  </a:ext>
                </a:extLst>
              </a:tr>
              <a:tr h="370840">
                <a:tc>
                  <a:txBody>
                    <a:bodyPr/>
                    <a:lstStyle/>
                    <a:p>
                      <a:r>
                        <a:rPr lang="en-US" sz="2400" dirty="0"/>
                        <a:t>A5</a:t>
                      </a:r>
                    </a:p>
                  </a:txBody>
                  <a:tcPr/>
                </a:tc>
                <a:tc>
                  <a:txBody>
                    <a:bodyPr/>
                    <a:lstStyle/>
                    <a:p>
                      <a:pPr algn="r" fontAlgn="b"/>
                      <a:r>
                        <a:rPr lang="en-US" sz="2400" u="none" strike="noStrike">
                          <a:effectLst/>
                        </a:rPr>
                        <a:t>7.07</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6.71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99807120"/>
                  </a:ext>
                </a:extLst>
              </a:tr>
              <a:tr h="370840">
                <a:tc>
                  <a:txBody>
                    <a:bodyPr/>
                    <a:lstStyle/>
                    <a:p>
                      <a:r>
                        <a:rPr lang="en-US" sz="2400" dirty="0"/>
                        <a:t>A6</a:t>
                      </a:r>
                    </a:p>
                  </a:txBody>
                  <a:tcPr/>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1.41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5.39</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5.39</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747340720"/>
                  </a:ext>
                </a:extLst>
              </a:tr>
              <a:tr h="370840">
                <a:tc>
                  <a:txBody>
                    <a:bodyPr/>
                    <a:lstStyle/>
                    <a:p>
                      <a:r>
                        <a:rPr lang="en-US" sz="2400" dirty="0"/>
                        <a:t>A7</a:t>
                      </a:r>
                    </a:p>
                  </a:txBody>
                  <a:tcPr/>
                </a:tc>
                <a:tc>
                  <a:txBody>
                    <a:bodyPr/>
                    <a:lstStyle/>
                    <a:p>
                      <a:pPr algn="r" fontAlgn="b"/>
                      <a:r>
                        <a:rPr lang="en-US" sz="2400" u="none" strike="noStrike">
                          <a:effectLst/>
                        </a:rPr>
                        <a:t>8.06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3.16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7.28</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6.71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5.39</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7.62</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595537470"/>
                  </a:ext>
                </a:extLst>
              </a:tr>
              <a:tr h="370840">
                <a:tc>
                  <a:txBody>
                    <a:bodyPr/>
                    <a:lstStyle/>
                    <a:p>
                      <a:r>
                        <a:rPr lang="en-US" sz="2400" dirty="0"/>
                        <a:t>A8</a:t>
                      </a:r>
                    </a:p>
                  </a:txBody>
                  <a:tcPr/>
                </a:tc>
                <a:tc>
                  <a:txBody>
                    <a:bodyPr/>
                    <a:lstStyle/>
                    <a:p>
                      <a:pPr algn="r" fontAlgn="b"/>
                      <a:r>
                        <a:rPr lang="en-US" sz="2400" u="none" strike="noStrike">
                          <a:effectLst/>
                        </a:rPr>
                        <a:t>2.24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4.47</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6.40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5.39</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7.62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901043953"/>
                  </a:ext>
                </a:extLst>
              </a:tr>
            </a:tbl>
          </a:graphicData>
        </a:graphic>
      </p:graphicFrame>
      <p:sp>
        <p:nvSpPr>
          <p:cNvPr id="9" name="TextBox 8">
            <a:extLst>
              <a:ext uri="{FF2B5EF4-FFF2-40B4-BE49-F238E27FC236}">
                <a16:creationId xmlns:a16="http://schemas.microsoft.com/office/drawing/2014/main" id="{0B6D3285-0837-49F4-AF08-3513823D59DB}"/>
              </a:ext>
            </a:extLst>
          </p:cNvPr>
          <p:cNvSpPr txBox="1"/>
          <p:nvPr/>
        </p:nvSpPr>
        <p:spPr>
          <a:xfrm>
            <a:off x="4268052" y="1300488"/>
            <a:ext cx="7522163" cy="523220"/>
          </a:xfrm>
          <a:prstGeom prst="rect">
            <a:avLst/>
          </a:prstGeom>
          <a:noFill/>
        </p:spPr>
        <p:txBody>
          <a:bodyPr wrap="square" rtlCol="0">
            <a:spAutoFit/>
          </a:bodyPr>
          <a:lstStyle/>
          <a:p>
            <a:r>
              <a:rPr lang="en-US" sz="2800" b="1" dirty="0">
                <a:sym typeface="Symbol" panose="05050102010706020507" pitchFamily="18" charset="2"/>
              </a:rPr>
              <a:t>Proximity/Distance Matrix</a:t>
            </a:r>
            <a:endParaRPr lang="en-US" sz="2800" b="1" dirty="0"/>
          </a:p>
        </p:txBody>
      </p:sp>
      <p:sp>
        <p:nvSpPr>
          <p:cNvPr id="5" name="Slide Number Placeholder 4">
            <a:extLst>
              <a:ext uri="{FF2B5EF4-FFF2-40B4-BE49-F238E27FC236}">
                <a16:creationId xmlns:a16="http://schemas.microsoft.com/office/drawing/2014/main" id="{D6E41D5F-7886-40AF-951F-AFDBA43F8A90}"/>
              </a:ext>
            </a:extLst>
          </p:cNvPr>
          <p:cNvSpPr>
            <a:spLocks noGrp="1"/>
          </p:cNvSpPr>
          <p:nvPr>
            <p:ph type="sldNum" sz="quarter" idx="12"/>
          </p:nvPr>
        </p:nvSpPr>
        <p:spPr/>
        <p:txBody>
          <a:bodyPr/>
          <a:lstStyle/>
          <a:p>
            <a:fld id="{4CC025FC-8595-493D-A46F-2FDFDC85D9BC}" type="slidenum">
              <a:rPr lang="en-US" smtClean="0"/>
              <a:t>76</a:t>
            </a:fld>
            <a:endParaRPr lang="en-US"/>
          </a:p>
        </p:txBody>
      </p:sp>
      <p:sp>
        <p:nvSpPr>
          <p:cNvPr id="3" name="TextBox 2">
            <a:extLst>
              <a:ext uri="{FF2B5EF4-FFF2-40B4-BE49-F238E27FC236}">
                <a16:creationId xmlns:a16="http://schemas.microsoft.com/office/drawing/2014/main" id="{30AB1ACD-7C7B-81F8-F733-F6AE4133871E}"/>
              </a:ext>
            </a:extLst>
          </p:cNvPr>
          <p:cNvSpPr txBox="1"/>
          <p:nvPr/>
        </p:nvSpPr>
        <p:spPr>
          <a:xfrm>
            <a:off x="4905827" y="5869821"/>
            <a:ext cx="6583807" cy="369332"/>
          </a:xfrm>
          <a:prstGeom prst="rect">
            <a:avLst/>
          </a:prstGeom>
          <a:noFill/>
        </p:spPr>
        <p:txBody>
          <a:bodyPr wrap="square" rtlCol="0">
            <a:spAutoFit/>
          </a:bodyPr>
          <a:lstStyle/>
          <a:p>
            <a:r>
              <a:rPr lang="en-US" dirty="0"/>
              <a:t>Use the Euclidean distance formula to calculate the proximity matrix</a:t>
            </a:r>
          </a:p>
        </p:txBody>
      </p:sp>
    </p:spTree>
    <p:extLst>
      <p:ext uri="{BB962C8B-B14F-4D97-AF65-F5344CB8AC3E}">
        <p14:creationId xmlns:p14="http://schemas.microsoft.com/office/powerpoint/2010/main" val="9978990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5E1E-15A0-48D6-97C4-791B93192BED}"/>
              </a:ext>
            </a:extLst>
          </p:cNvPr>
          <p:cNvSpPr>
            <a:spLocks noGrp="1"/>
          </p:cNvSpPr>
          <p:nvPr>
            <p:ph type="title"/>
          </p:nvPr>
        </p:nvSpPr>
        <p:spPr/>
        <p:txBody>
          <a:bodyPr>
            <a:normAutofit fontScale="90000"/>
          </a:bodyPr>
          <a:lstStyle/>
          <a:p>
            <a:r>
              <a:rPr lang="en-US" dirty="0"/>
              <a:t>Example – Compute </a:t>
            </a:r>
            <a:r>
              <a:rPr lang="en-US" dirty="0">
                <a:sym typeface="Symbol" panose="05050102010706020507" pitchFamily="18" charset="2"/>
              </a:rPr>
              <a:t></a:t>
            </a:r>
            <a:r>
              <a:rPr lang="en-US" dirty="0"/>
              <a:t> Neighborhood</a:t>
            </a:r>
          </a:p>
        </p:txBody>
      </p:sp>
      <p:graphicFrame>
        <p:nvGraphicFramePr>
          <p:cNvPr id="4" name="Table 4">
            <a:extLst>
              <a:ext uri="{FF2B5EF4-FFF2-40B4-BE49-F238E27FC236}">
                <a16:creationId xmlns:a16="http://schemas.microsoft.com/office/drawing/2014/main" id="{F308E277-A179-4E35-BBD1-6DE7D88EBFF0}"/>
              </a:ext>
            </a:extLst>
          </p:cNvPr>
          <p:cNvGraphicFramePr>
            <a:graphicFrameLocks noGrp="1"/>
          </p:cNvGraphicFramePr>
          <p:nvPr/>
        </p:nvGraphicFramePr>
        <p:xfrm>
          <a:off x="401782" y="1788811"/>
          <a:ext cx="3424630" cy="4114800"/>
        </p:xfrm>
        <a:graphic>
          <a:graphicData uri="http://schemas.openxmlformats.org/drawingml/2006/table">
            <a:tbl>
              <a:tblPr firstRow="1" bandRow="1">
                <a:tableStyleId>{5C22544A-7EE6-4342-B048-85BDC9FD1C3A}</a:tableStyleId>
              </a:tblPr>
              <a:tblGrid>
                <a:gridCol w="793972">
                  <a:extLst>
                    <a:ext uri="{9D8B030D-6E8A-4147-A177-3AD203B41FA5}">
                      <a16:colId xmlns:a16="http://schemas.microsoft.com/office/drawing/2014/main" val="3307328152"/>
                    </a:ext>
                  </a:extLst>
                </a:gridCol>
                <a:gridCol w="2630658">
                  <a:extLst>
                    <a:ext uri="{9D8B030D-6E8A-4147-A177-3AD203B41FA5}">
                      <a16:colId xmlns:a16="http://schemas.microsoft.com/office/drawing/2014/main" val="2523966027"/>
                    </a:ext>
                  </a:extLst>
                </a:gridCol>
              </a:tblGrid>
              <a:tr h="370840">
                <a:tc>
                  <a:txBody>
                    <a:bodyPr/>
                    <a:lstStyle/>
                    <a:p>
                      <a:r>
                        <a:rPr lang="en-US" sz="2400" dirty="0"/>
                        <a:t>ID</a:t>
                      </a:r>
                    </a:p>
                  </a:txBody>
                  <a:tcPr/>
                </a:tc>
                <a:tc>
                  <a:txBody>
                    <a:bodyPr/>
                    <a:lstStyle/>
                    <a:p>
                      <a:r>
                        <a:rPr lang="en-US" sz="2400" dirty="0">
                          <a:sym typeface="Symbol" panose="05050102010706020507" pitchFamily="18" charset="2"/>
                        </a:rPr>
                        <a:t></a:t>
                      </a:r>
                      <a:r>
                        <a:rPr lang="en-US" sz="2400" dirty="0"/>
                        <a:t> Neighborhood</a:t>
                      </a:r>
                    </a:p>
                  </a:txBody>
                  <a:tcPr/>
                </a:tc>
                <a:extLst>
                  <a:ext uri="{0D108BD9-81ED-4DB2-BD59-A6C34878D82A}">
                    <a16:rowId xmlns:a16="http://schemas.microsoft.com/office/drawing/2014/main" val="4184438245"/>
                  </a:ext>
                </a:extLst>
              </a:tr>
              <a:tr h="370840">
                <a:tc>
                  <a:txBody>
                    <a:bodyPr/>
                    <a:lstStyle/>
                    <a:p>
                      <a:r>
                        <a:rPr lang="en-US" sz="2400" dirty="0"/>
                        <a:t>A1</a:t>
                      </a:r>
                    </a:p>
                  </a:txBody>
                  <a:tcPr/>
                </a:tc>
                <a:tc>
                  <a:txBody>
                    <a:bodyPr/>
                    <a:lstStyle/>
                    <a:p>
                      <a:r>
                        <a:rPr lang="en-US" sz="2400" dirty="0"/>
                        <a:t>{}</a:t>
                      </a:r>
                    </a:p>
                  </a:txBody>
                  <a:tcPr/>
                </a:tc>
                <a:extLst>
                  <a:ext uri="{0D108BD9-81ED-4DB2-BD59-A6C34878D82A}">
                    <a16:rowId xmlns:a16="http://schemas.microsoft.com/office/drawing/2014/main" val="1455143019"/>
                  </a:ext>
                </a:extLst>
              </a:tr>
              <a:tr h="370840">
                <a:tc>
                  <a:txBody>
                    <a:bodyPr/>
                    <a:lstStyle/>
                    <a:p>
                      <a:r>
                        <a:rPr lang="en-US" sz="2400" dirty="0"/>
                        <a:t>A2</a:t>
                      </a:r>
                    </a:p>
                  </a:txBody>
                  <a:tcPr/>
                </a:tc>
                <a:tc>
                  <a:txBody>
                    <a:bodyPr/>
                    <a:lstStyle/>
                    <a:p>
                      <a:r>
                        <a:rPr lang="en-US" sz="2400" dirty="0"/>
                        <a:t>{}</a:t>
                      </a:r>
                    </a:p>
                  </a:txBody>
                  <a:tcPr/>
                </a:tc>
                <a:extLst>
                  <a:ext uri="{0D108BD9-81ED-4DB2-BD59-A6C34878D82A}">
                    <a16:rowId xmlns:a16="http://schemas.microsoft.com/office/drawing/2014/main" val="468469130"/>
                  </a:ext>
                </a:extLst>
              </a:tr>
              <a:tr h="370840">
                <a:tc>
                  <a:txBody>
                    <a:bodyPr/>
                    <a:lstStyle/>
                    <a:p>
                      <a:r>
                        <a:rPr lang="en-US" sz="2400" dirty="0"/>
                        <a:t>A3</a:t>
                      </a:r>
                    </a:p>
                  </a:txBody>
                  <a:tcPr/>
                </a:tc>
                <a:tc>
                  <a:txBody>
                    <a:bodyPr/>
                    <a:lstStyle/>
                    <a:p>
                      <a:r>
                        <a:rPr lang="en-US" sz="2400" dirty="0"/>
                        <a:t>{A5, A6}</a:t>
                      </a:r>
                    </a:p>
                  </a:txBody>
                  <a:tcPr/>
                </a:tc>
                <a:extLst>
                  <a:ext uri="{0D108BD9-81ED-4DB2-BD59-A6C34878D82A}">
                    <a16:rowId xmlns:a16="http://schemas.microsoft.com/office/drawing/2014/main" val="1802444952"/>
                  </a:ext>
                </a:extLst>
              </a:tr>
              <a:tr h="370840">
                <a:tc>
                  <a:txBody>
                    <a:bodyPr/>
                    <a:lstStyle/>
                    <a:p>
                      <a:r>
                        <a:rPr lang="en-US" sz="2400" dirty="0"/>
                        <a:t>A4</a:t>
                      </a:r>
                    </a:p>
                  </a:txBody>
                  <a:tcPr/>
                </a:tc>
                <a:tc>
                  <a:txBody>
                    <a:bodyPr/>
                    <a:lstStyle/>
                    <a:p>
                      <a:r>
                        <a:rPr lang="en-US" sz="2400" dirty="0"/>
                        <a:t>{A8}</a:t>
                      </a:r>
                    </a:p>
                  </a:txBody>
                  <a:tcPr/>
                </a:tc>
                <a:extLst>
                  <a:ext uri="{0D108BD9-81ED-4DB2-BD59-A6C34878D82A}">
                    <a16:rowId xmlns:a16="http://schemas.microsoft.com/office/drawing/2014/main" val="2526711071"/>
                  </a:ext>
                </a:extLst>
              </a:tr>
              <a:tr h="370840">
                <a:tc>
                  <a:txBody>
                    <a:bodyPr/>
                    <a:lstStyle/>
                    <a:p>
                      <a:r>
                        <a:rPr lang="en-US" sz="2400" dirty="0"/>
                        <a:t>A5</a:t>
                      </a:r>
                    </a:p>
                  </a:txBody>
                  <a:tcPr/>
                </a:tc>
                <a:tc>
                  <a:txBody>
                    <a:bodyPr/>
                    <a:lstStyle/>
                    <a:p>
                      <a:r>
                        <a:rPr lang="en-US" sz="2400" dirty="0"/>
                        <a:t>{A3, A6}</a:t>
                      </a:r>
                    </a:p>
                  </a:txBody>
                  <a:tcPr/>
                </a:tc>
                <a:extLst>
                  <a:ext uri="{0D108BD9-81ED-4DB2-BD59-A6C34878D82A}">
                    <a16:rowId xmlns:a16="http://schemas.microsoft.com/office/drawing/2014/main" val="299807120"/>
                  </a:ext>
                </a:extLst>
              </a:tr>
              <a:tr h="370840">
                <a:tc>
                  <a:txBody>
                    <a:bodyPr/>
                    <a:lstStyle/>
                    <a:p>
                      <a:r>
                        <a:rPr lang="en-US" sz="2400" dirty="0"/>
                        <a:t>A6</a:t>
                      </a:r>
                    </a:p>
                  </a:txBody>
                  <a:tcPr/>
                </a:tc>
                <a:tc>
                  <a:txBody>
                    <a:bodyPr/>
                    <a:lstStyle/>
                    <a:p>
                      <a:r>
                        <a:rPr lang="en-US" sz="2400" dirty="0"/>
                        <a:t>{A3, A5}</a:t>
                      </a:r>
                    </a:p>
                  </a:txBody>
                  <a:tcPr/>
                </a:tc>
                <a:extLst>
                  <a:ext uri="{0D108BD9-81ED-4DB2-BD59-A6C34878D82A}">
                    <a16:rowId xmlns:a16="http://schemas.microsoft.com/office/drawing/2014/main" val="1747340720"/>
                  </a:ext>
                </a:extLst>
              </a:tr>
              <a:tr h="370840">
                <a:tc>
                  <a:txBody>
                    <a:bodyPr/>
                    <a:lstStyle/>
                    <a:p>
                      <a:r>
                        <a:rPr lang="en-US" sz="2400" dirty="0"/>
                        <a:t>A7</a:t>
                      </a:r>
                    </a:p>
                  </a:txBody>
                  <a:tcPr/>
                </a:tc>
                <a:tc>
                  <a:txBody>
                    <a:bodyPr/>
                    <a:lstStyle/>
                    <a:p>
                      <a:r>
                        <a:rPr lang="en-US" sz="2400" dirty="0"/>
                        <a:t>{}</a:t>
                      </a:r>
                    </a:p>
                  </a:txBody>
                  <a:tcPr/>
                </a:tc>
                <a:extLst>
                  <a:ext uri="{0D108BD9-81ED-4DB2-BD59-A6C34878D82A}">
                    <a16:rowId xmlns:a16="http://schemas.microsoft.com/office/drawing/2014/main" val="3595537470"/>
                  </a:ext>
                </a:extLst>
              </a:tr>
              <a:tr h="370840">
                <a:tc>
                  <a:txBody>
                    <a:bodyPr/>
                    <a:lstStyle/>
                    <a:p>
                      <a:r>
                        <a:rPr lang="en-US" sz="2400" dirty="0"/>
                        <a:t>A8</a:t>
                      </a:r>
                    </a:p>
                  </a:txBody>
                  <a:tcPr/>
                </a:tc>
                <a:tc>
                  <a:txBody>
                    <a:bodyPr/>
                    <a:lstStyle/>
                    <a:p>
                      <a:r>
                        <a:rPr lang="en-US" sz="2400" dirty="0"/>
                        <a:t>{A4}</a:t>
                      </a:r>
                    </a:p>
                  </a:txBody>
                  <a:tcPr/>
                </a:tc>
                <a:extLst>
                  <a:ext uri="{0D108BD9-81ED-4DB2-BD59-A6C34878D82A}">
                    <a16:rowId xmlns:a16="http://schemas.microsoft.com/office/drawing/2014/main" val="3901043953"/>
                  </a:ext>
                </a:extLst>
              </a:tr>
            </a:tbl>
          </a:graphicData>
        </a:graphic>
      </p:graphicFrame>
      <p:sp>
        <p:nvSpPr>
          <p:cNvPr id="6" name="TextBox 5">
            <a:extLst>
              <a:ext uri="{FF2B5EF4-FFF2-40B4-BE49-F238E27FC236}">
                <a16:creationId xmlns:a16="http://schemas.microsoft.com/office/drawing/2014/main" id="{FE14C832-F210-488C-BCE0-D07C49CC1CA4}"/>
              </a:ext>
            </a:extLst>
          </p:cNvPr>
          <p:cNvSpPr txBox="1"/>
          <p:nvPr/>
        </p:nvSpPr>
        <p:spPr>
          <a:xfrm>
            <a:off x="401782" y="6020969"/>
            <a:ext cx="2833788" cy="523220"/>
          </a:xfrm>
          <a:prstGeom prst="rect">
            <a:avLst/>
          </a:prstGeom>
          <a:noFill/>
        </p:spPr>
        <p:txBody>
          <a:bodyPr wrap="square" rtlCol="0">
            <a:spAutoFit/>
          </a:bodyPr>
          <a:lstStyle/>
          <a:p>
            <a:pPr algn="ctr"/>
            <a:r>
              <a:rPr lang="en-US" sz="2800" dirty="0">
                <a:sym typeface="Symbol" panose="05050102010706020507" pitchFamily="18" charset="2"/>
              </a:rPr>
              <a:t>=2, </a:t>
            </a:r>
            <a:r>
              <a:rPr lang="en-US" sz="2800" dirty="0" err="1">
                <a:sym typeface="Symbol" panose="05050102010706020507" pitchFamily="18" charset="2"/>
              </a:rPr>
              <a:t>MinPts</a:t>
            </a:r>
            <a:r>
              <a:rPr lang="en-US" sz="2800" dirty="0">
                <a:sym typeface="Symbol" panose="05050102010706020507" pitchFamily="18" charset="2"/>
              </a:rPr>
              <a:t>=2</a:t>
            </a:r>
            <a:endParaRPr lang="en-US" sz="2800" dirty="0"/>
          </a:p>
        </p:txBody>
      </p:sp>
      <p:sp>
        <p:nvSpPr>
          <p:cNvPr id="7" name="TextBox 6">
            <a:extLst>
              <a:ext uri="{FF2B5EF4-FFF2-40B4-BE49-F238E27FC236}">
                <a16:creationId xmlns:a16="http://schemas.microsoft.com/office/drawing/2014/main" id="{8A9046F2-5261-4127-86C6-9A98F4ADEDD9}"/>
              </a:ext>
            </a:extLst>
          </p:cNvPr>
          <p:cNvSpPr txBox="1"/>
          <p:nvPr/>
        </p:nvSpPr>
        <p:spPr>
          <a:xfrm>
            <a:off x="401782" y="1300488"/>
            <a:ext cx="2833788" cy="523220"/>
          </a:xfrm>
          <a:prstGeom prst="rect">
            <a:avLst/>
          </a:prstGeom>
          <a:noFill/>
        </p:spPr>
        <p:txBody>
          <a:bodyPr wrap="square" rtlCol="0">
            <a:spAutoFit/>
          </a:bodyPr>
          <a:lstStyle/>
          <a:p>
            <a:r>
              <a:rPr lang="en-US" sz="2800" b="1" dirty="0">
                <a:sym typeface="Symbol" panose="05050102010706020507" pitchFamily="18" charset="2"/>
              </a:rPr>
              <a:t> Neighborhood</a:t>
            </a:r>
            <a:endParaRPr lang="en-US" sz="2800" b="1" dirty="0"/>
          </a:p>
        </p:txBody>
      </p:sp>
      <p:graphicFrame>
        <p:nvGraphicFramePr>
          <p:cNvPr id="8" name="Table 4">
            <a:extLst>
              <a:ext uri="{FF2B5EF4-FFF2-40B4-BE49-F238E27FC236}">
                <a16:creationId xmlns:a16="http://schemas.microsoft.com/office/drawing/2014/main" id="{2EE332C7-BEEA-460A-93EB-7064F26AED94}"/>
              </a:ext>
            </a:extLst>
          </p:cNvPr>
          <p:cNvGraphicFramePr>
            <a:graphicFrameLocks noGrp="1"/>
          </p:cNvGraphicFramePr>
          <p:nvPr/>
        </p:nvGraphicFramePr>
        <p:xfrm>
          <a:off x="4268052" y="1788811"/>
          <a:ext cx="7522164" cy="4114800"/>
        </p:xfrm>
        <a:graphic>
          <a:graphicData uri="http://schemas.openxmlformats.org/drawingml/2006/table">
            <a:tbl>
              <a:tblPr firstRow="1" bandRow="1">
                <a:tableStyleId>{5C22544A-7EE6-4342-B048-85BDC9FD1C3A}</a:tableStyleId>
              </a:tblPr>
              <a:tblGrid>
                <a:gridCol w="835796">
                  <a:extLst>
                    <a:ext uri="{9D8B030D-6E8A-4147-A177-3AD203B41FA5}">
                      <a16:colId xmlns:a16="http://schemas.microsoft.com/office/drawing/2014/main" val="3307328152"/>
                    </a:ext>
                  </a:extLst>
                </a:gridCol>
                <a:gridCol w="835796">
                  <a:extLst>
                    <a:ext uri="{9D8B030D-6E8A-4147-A177-3AD203B41FA5}">
                      <a16:colId xmlns:a16="http://schemas.microsoft.com/office/drawing/2014/main" val="2523966027"/>
                    </a:ext>
                  </a:extLst>
                </a:gridCol>
                <a:gridCol w="835796">
                  <a:extLst>
                    <a:ext uri="{9D8B030D-6E8A-4147-A177-3AD203B41FA5}">
                      <a16:colId xmlns:a16="http://schemas.microsoft.com/office/drawing/2014/main" val="3807471388"/>
                    </a:ext>
                  </a:extLst>
                </a:gridCol>
                <a:gridCol w="835796">
                  <a:extLst>
                    <a:ext uri="{9D8B030D-6E8A-4147-A177-3AD203B41FA5}">
                      <a16:colId xmlns:a16="http://schemas.microsoft.com/office/drawing/2014/main" val="129287225"/>
                    </a:ext>
                  </a:extLst>
                </a:gridCol>
                <a:gridCol w="835796">
                  <a:extLst>
                    <a:ext uri="{9D8B030D-6E8A-4147-A177-3AD203B41FA5}">
                      <a16:colId xmlns:a16="http://schemas.microsoft.com/office/drawing/2014/main" val="2941690540"/>
                    </a:ext>
                  </a:extLst>
                </a:gridCol>
                <a:gridCol w="835796">
                  <a:extLst>
                    <a:ext uri="{9D8B030D-6E8A-4147-A177-3AD203B41FA5}">
                      <a16:colId xmlns:a16="http://schemas.microsoft.com/office/drawing/2014/main" val="39771652"/>
                    </a:ext>
                  </a:extLst>
                </a:gridCol>
                <a:gridCol w="835796">
                  <a:extLst>
                    <a:ext uri="{9D8B030D-6E8A-4147-A177-3AD203B41FA5}">
                      <a16:colId xmlns:a16="http://schemas.microsoft.com/office/drawing/2014/main" val="563978114"/>
                    </a:ext>
                  </a:extLst>
                </a:gridCol>
                <a:gridCol w="835796">
                  <a:extLst>
                    <a:ext uri="{9D8B030D-6E8A-4147-A177-3AD203B41FA5}">
                      <a16:colId xmlns:a16="http://schemas.microsoft.com/office/drawing/2014/main" val="1980511115"/>
                    </a:ext>
                  </a:extLst>
                </a:gridCol>
                <a:gridCol w="835796">
                  <a:extLst>
                    <a:ext uri="{9D8B030D-6E8A-4147-A177-3AD203B41FA5}">
                      <a16:colId xmlns:a16="http://schemas.microsoft.com/office/drawing/2014/main" val="899188318"/>
                    </a:ext>
                  </a:extLst>
                </a:gridCol>
              </a:tblGrid>
              <a:tr h="370840">
                <a:tc>
                  <a:txBody>
                    <a:bodyPr/>
                    <a:lstStyle/>
                    <a:p>
                      <a:r>
                        <a:rPr lang="en-US" sz="2400" dirty="0"/>
                        <a:t>ID</a:t>
                      </a:r>
                    </a:p>
                  </a:txBody>
                  <a:tcPr/>
                </a:tc>
                <a:tc>
                  <a:txBody>
                    <a:bodyPr/>
                    <a:lstStyle/>
                    <a:p>
                      <a:r>
                        <a:rPr lang="en-US" sz="2400" dirty="0"/>
                        <a:t>A1</a:t>
                      </a:r>
                    </a:p>
                  </a:txBody>
                  <a:tcPr/>
                </a:tc>
                <a:tc>
                  <a:txBody>
                    <a:bodyPr/>
                    <a:lstStyle/>
                    <a:p>
                      <a:r>
                        <a:rPr lang="en-US" sz="2400" dirty="0"/>
                        <a:t>A2</a:t>
                      </a:r>
                    </a:p>
                  </a:txBody>
                  <a:tcPr/>
                </a:tc>
                <a:tc>
                  <a:txBody>
                    <a:bodyPr/>
                    <a:lstStyle/>
                    <a:p>
                      <a:r>
                        <a:rPr lang="en-US" sz="2400" dirty="0"/>
                        <a:t>A3</a:t>
                      </a:r>
                    </a:p>
                  </a:txBody>
                  <a:tcPr/>
                </a:tc>
                <a:tc>
                  <a:txBody>
                    <a:bodyPr/>
                    <a:lstStyle/>
                    <a:p>
                      <a:r>
                        <a:rPr lang="en-US" sz="2400" dirty="0"/>
                        <a:t>A4</a:t>
                      </a:r>
                    </a:p>
                  </a:txBody>
                  <a:tcPr/>
                </a:tc>
                <a:tc>
                  <a:txBody>
                    <a:bodyPr/>
                    <a:lstStyle/>
                    <a:p>
                      <a:r>
                        <a:rPr lang="en-US" sz="2400" dirty="0"/>
                        <a:t>A5</a:t>
                      </a:r>
                    </a:p>
                  </a:txBody>
                  <a:tcPr/>
                </a:tc>
                <a:tc>
                  <a:txBody>
                    <a:bodyPr/>
                    <a:lstStyle/>
                    <a:p>
                      <a:r>
                        <a:rPr lang="en-US" sz="2400" dirty="0"/>
                        <a:t>A6</a:t>
                      </a:r>
                    </a:p>
                  </a:txBody>
                  <a:tcPr/>
                </a:tc>
                <a:tc>
                  <a:txBody>
                    <a:bodyPr/>
                    <a:lstStyle/>
                    <a:p>
                      <a:r>
                        <a:rPr lang="en-US" sz="2400" dirty="0"/>
                        <a:t>A7</a:t>
                      </a:r>
                    </a:p>
                  </a:txBody>
                  <a:tcPr/>
                </a:tc>
                <a:tc>
                  <a:txBody>
                    <a:bodyPr/>
                    <a:lstStyle/>
                    <a:p>
                      <a:r>
                        <a:rPr lang="en-US" sz="2400" dirty="0"/>
                        <a:t>A8</a:t>
                      </a:r>
                    </a:p>
                  </a:txBody>
                  <a:tcPr/>
                </a:tc>
                <a:extLst>
                  <a:ext uri="{0D108BD9-81ED-4DB2-BD59-A6C34878D82A}">
                    <a16:rowId xmlns:a16="http://schemas.microsoft.com/office/drawing/2014/main" val="4184438245"/>
                  </a:ext>
                </a:extLst>
              </a:tr>
              <a:tr h="370840">
                <a:tc>
                  <a:txBody>
                    <a:bodyPr/>
                    <a:lstStyle/>
                    <a:p>
                      <a:r>
                        <a:rPr lang="en-US" sz="2400" dirty="0"/>
                        <a:t>A1</a:t>
                      </a:r>
                    </a:p>
                  </a:txBody>
                  <a:tcPr/>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3.61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7.07</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8.06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2.24</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455143019"/>
                  </a:ext>
                </a:extLst>
              </a:tr>
              <a:tr h="370840">
                <a:tc>
                  <a:txBody>
                    <a:bodyPr/>
                    <a:lstStyle/>
                    <a:p>
                      <a:r>
                        <a:rPr lang="en-US" sz="2400" dirty="0"/>
                        <a:t>A2</a:t>
                      </a:r>
                    </a:p>
                  </a:txBody>
                  <a:tcPr/>
                </a:tc>
                <a:tc>
                  <a:txBody>
                    <a:bodyPr/>
                    <a:lstStyle/>
                    <a:p>
                      <a:pPr algn="r" fontAlgn="b"/>
                      <a:r>
                        <a:rPr lang="en-US" sz="2400" u="none" strike="noStrike" dirty="0">
                          <a:effectLst/>
                        </a:rPr>
                        <a:t>5.00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6.08</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4.24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3.16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4.47</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468469130"/>
                  </a:ext>
                </a:extLst>
              </a:tr>
              <a:tr h="370840">
                <a:tc>
                  <a:txBody>
                    <a:bodyPr/>
                    <a:lstStyle/>
                    <a:p>
                      <a:r>
                        <a:rPr lang="en-US" sz="2400" dirty="0"/>
                        <a:t>A3</a:t>
                      </a:r>
                    </a:p>
                  </a:txBody>
                  <a:tcPr/>
                </a:tc>
                <a:tc>
                  <a:txBody>
                    <a:bodyPr/>
                    <a:lstStyle/>
                    <a:p>
                      <a:pPr algn="r" fontAlgn="b"/>
                      <a:r>
                        <a:rPr lang="en-US" sz="2400" u="none" strike="noStrike" dirty="0">
                          <a:effectLst/>
                        </a:rPr>
                        <a:t>6.00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6.08</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7.28</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6.40</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802444952"/>
                  </a:ext>
                </a:extLst>
              </a:tr>
              <a:tr h="370840">
                <a:tc>
                  <a:txBody>
                    <a:bodyPr/>
                    <a:lstStyle/>
                    <a:p>
                      <a:r>
                        <a:rPr lang="en-US" sz="2400" dirty="0"/>
                        <a:t>A4</a:t>
                      </a:r>
                    </a:p>
                  </a:txBody>
                  <a:tcPr/>
                </a:tc>
                <a:tc>
                  <a:txBody>
                    <a:bodyPr/>
                    <a:lstStyle/>
                    <a:p>
                      <a:pPr algn="r" fontAlgn="b"/>
                      <a:r>
                        <a:rPr lang="en-US" sz="2400" u="none" strike="noStrike">
                          <a:effectLst/>
                        </a:rPr>
                        <a:t>3.61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4.24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5.00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3.61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526711071"/>
                  </a:ext>
                </a:extLst>
              </a:tr>
              <a:tr h="370840">
                <a:tc>
                  <a:txBody>
                    <a:bodyPr/>
                    <a:lstStyle/>
                    <a:p>
                      <a:r>
                        <a:rPr lang="en-US" sz="2400" dirty="0"/>
                        <a:t>A5</a:t>
                      </a:r>
                    </a:p>
                  </a:txBody>
                  <a:tcPr/>
                </a:tc>
                <a:tc>
                  <a:txBody>
                    <a:bodyPr/>
                    <a:lstStyle/>
                    <a:p>
                      <a:pPr algn="r" fontAlgn="b"/>
                      <a:r>
                        <a:rPr lang="en-US" sz="2400" u="none" strike="noStrike">
                          <a:effectLst/>
                        </a:rPr>
                        <a:t>7.07</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3.61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6.71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99807120"/>
                  </a:ext>
                </a:extLst>
              </a:tr>
              <a:tr h="370840">
                <a:tc>
                  <a:txBody>
                    <a:bodyPr/>
                    <a:lstStyle/>
                    <a:p>
                      <a:r>
                        <a:rPr lang="en-US" sz="2400" dirty="0"/>
                        <a:t>A6</a:t>
                      </a:r>
                    </a:p>
                  </a:txBody>
                  <a:tcPr/>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4.12</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1.41</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5.39</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5.39</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747340720"/>
                  </a:ext>
                </a:extLst>
              </a:tr>
              <a:tr h="370840">
                <a:tc>
                  <a:txBody>
                    <a:bodyPr/>
                    <a:lstStyle/>
                    <a:p>
                      <a:r>
                        <a:rPr lang="en-US" sz="2400" dirty="0"/>
                        <a:t>A7</a:t>
                      </a:r>
                    </a:p>
                  </a:txBody>
                  <a:tcPr/>
                </a:tc>
                <a:tc>
                  <a:txBody>
                    <a:bodyPr/>
                    <a:lstStyle/>
                    <a:p>
                      <a:pPr algn="r" fontAlgn="b"/>
                      <a:r>
                        <a:rPr lang="en-US" sz="2400" u="none" strike="noStrike">
                          <a:effectLst/>
                        </a:rPr>
                        <a:t>8.06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3.16</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7.28</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7.21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6.71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5.39</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7.62</a:t>
                      </a:r>
                      <a:endParaRPr lang="en-US" sz="2400" b="0" i="0" u="none" strike="noStrike">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595537470"/>
                  </a:ext>
                </a:extLst>
              </a:tr>
              <a:tr h="370840">
                <a:tc>
                  <a:txBody>
                    <a:bodyPr/>
                    <a:lstStyle/>
                    <a:p>
                      <a:r>
                        <a:rPr lang="en-US" sz="2400" dirty="0"/>
                        <a:t>A8</a:t>
                      </a:r>
                    </a:p>
                  </a:txBody>
                  <a:tcPr/>
                </a:tc>
                <a:tc>
                  <a:txBody>
                    <a:bodyPr/>
                    <a:lstStyle/>
                    <a:p>
                      <a:pPr algn="r" fontAlgn="b"/>
                      <a:r>
                        <a:rPr lang="en-US" sz="2400" u="none" strike="noStrike">
                          <a:effectLst/>
                        </a:rPr>
                        <a:t>2.24</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4.47</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6.40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1.41</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5.00</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a:effectLst/>
                        </a:rPr>
                        <a:t>5.39</a:t>
                      </a:r>
                      <a:endParaRPr lang="en-US" sz="2400" b="0" i="0" u="none" strike="noStrike">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7.62</a:t>
                      </a:r>
                      <a:endParaRPr lang="en-US" sz="2400" b="0" i="0" u="none" strike="noStrike" dirty="0">
                        <a:solidFill>
                          <a:srgbClr val="000000"/>
                        </a:solidFill>
                        <a:effectLst/>
                        <a:latin typeface="Calibri" panose="020F0502020204030204" pitchFamily="34" charset="0"/>
                      </a:endParaRPr>
                    </a:p>
                  </a:txBody>
                  <a:tcPr anchor="b"/>
                </a:tc>
                <a:tc>
                  <a:txBody>
                    <a:bodyPr/>
                    <a:lstStyle/>
                    <a:p>
                      <a:pPr algn="r" fontAlgn="b"/>
                      <a:r>
                        <a:rPr lang="en-US" sz="2400" u="none" strike="noStrike" dirty="0">
                          <a:effectLst/>
                        </a:rPr>
                        <a:t>0</a:t>
                      </a:r>
                      <a:endParaRPr lang="en-US" sz="2400" b="0" i="0" u="none" strike="noStrike"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3901043953"/>
                  </a:ext>
                </a:extLst>
              </a:tr>
            </a:tbl>
          </a:graphicData>
        </a:graphic>
      </p:graphicFrame>
      <p:sp>
        <p:nvSpPr>
          <p:cNvPr id="9" name="TextBox 8">
            <a:extLst>
              <a:ext uri="{FF2B5EF4-FFF2-40B4-BE49-F238E27FC236}">
                <a16:creationId xmlns:a16="http://schemas.microsoft.com/office/drawing/2014/main" id="{0B6D3285-0837-49F4-AF08-3513823D59DB}"/>
              </a:ext>
            </a:extLst>
          </p:cNvPr>
          <p:cNvSpPr txBox="1"/>
          <p:nvPr/>
        </p:nvSpPr>
        <p:spPr>
          <a:xfrm>
            <a:off x="4268052" y="1300488"/>
            <a:ext cx="7522163" cy="523220"/>
          </a:xfrm>
          <a:prstGeom prst="rect">
            <a:avLst/>
          </a:prstGeom>
          <a:noFill/>
        </p:spPr>
        <p:txBody>
          <a:bodyPr wrap="square" rtlCol="0">
            <a:spAutoFit/>
          </a:bodyPr>
          <a:lstStyle/>
          <a:p>
            <a:r>
              <a:rPr lang="en-US" sz="2800" b="1" dirty="0">
                <a:sym typeface="Symbol" panose="05050102010706020507" pitchFamily="18" charset="2"/>
              </a:rPr>
              <a:t>Proximity/Distance Matrix</a:t>
            </a:r>
            <a:endParaRPr lang="en-US" sz="2800" b="1" dirty="0"/>
          </a:p>
        </p:txBody>
      </p:sp>
      <p:sp>
        <p:nvSpPr>
          <p:cNvPr id="10" name="Slide Number Placeholder 9">
            <a:extLst>
              <a:ext uri="{FF2B5EF4-FFF2-40B4-BE49-F238E27FC236}">
                <a16:creationId xmlns:a16="http://schemas.microsoft.com/office/drawing/2014/main" id="{3A8B5D1C-1409-4289-ACF4-212DAD0D58AF}"/>
              </a:ext>
            </a:extLst>
          </p:cNvPr>
          <p:cNvSpPr>
            <a:spLocks noGrp="1"/>
          </p:cNvSpPr>
          <p:nvPr>
            <p:ph type="sldNum" sz="quarter" idx="12"/>
          </p:nvPr>
        </p:nvSpPr>
        <p:spPr/>
        <p:txBody>
          <a:bodyPr/>
          <a:lstStyle/>
          <a:p>
            <a:fld id="{4CC025FC-8595-493D-A46F-2FDFDC85D9BC}" type="slidenum">
              <a:rPr lang="en-US" smtClean="0"/>
              <a:t>77</a:t>
            </a:fld>
            <a:endParaRPr lang="en-US"/>
          </a:p>
        </p:txBody>
      </p:sp>
    </p:spTree>
    <p:extLst>
      <p:ext uri="{BB962C8B-B14F-4D97-AF65-F5344CB8AC3E}">
        <p14:creationId xmlns:p14="http://schemas.microsoft.com/office/powerpoint/2010/main" val="7758471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5E1E-15A0-48D6-97C4-791B93192BED}"/>
              </a:ext>
            </a:extLst>
          </p:cNvPr>
          <p:cNvSpPr>
            <a:spLocks noGrp="1"/>
          </p:cNvSpPr>
          <p:nvPr>
            <p:ph type="title"/>
          </p:nvPr>
        </p:nvSpPr>
        <p:spPr/>
        <p:txBody>
          <a:bodyPr>
            <a:normAutofit fontScale="90000"/>
          </a:bodyPr>
          <a:lstStyle/>
          <a:p>
            <a:r>
              <a:rPr lang="en-US" dirty="0"/>
              <a:t>Example – Clusters</a:t>
            </a:r>
          </a:p>
        </p:txBody>
      </p:sp>
      <p:graphicFrame>
        <p:nvGraphicFramePr>
          <p:cNvPr id="4" name="Table 4">
            <a:extLst>
              <a:ext uri="{FF2B5EF4-FFF2-40B4-BE49-F238E27FC236}">
                <a16:creationId xmlns:a16="http://schemas.microsoft.com/office/drawing/2014/main" id="{F308E277-A179-4E35-BBD1-6DE7D88EBFF0}"/>
              </a:ext>
            </a:extLst>
          </p:cNvPr>
          <p:cNvGraphicFramePr>
            <a:graphicFrameLocks noGrp="1"/>
          </p:cNvGraphicFramePr>
          <p:nvPr/>
        </p:nvGraphicFramePr>
        <p:xfrm>
          <a:off x="401782" y="1788811"/>
          <a:ext cx="3424630" cy="4114800"/>
        </p:xfrm>
        <a:graphic>
          <a:graphicData uri="http://schemas.openxmlformats.org/drawingml/2006/table">
            <a:tbl>
              <a:tblPr firstRow="1" bandRow="1">
                <a:tableStyleId>{5C22544A-7EE6-4342-B048-85BDC9FD1C3A}</a:tableStyleId>
              </a:tblPr>
              <a:tblGrid>
                <a:gridCol w="793972">
                  <a:extLst>
                    <a:ext uri="{9D8B030D-6E8A-4147-A177-3AD203B41FA5}">
                      <a16:colId xmlns:a16="http://schemas.microsoft.com/office/drawing/2014/main" val="3307328152"/>
                    </a:ext>
                  </a:extLst>
                </a:gridCol>
                <a:gridCol w="2630658">
                  <a:extLst>
                    <a:ext uri="{9D8B030D-6E8A-4147-A177-3AD203B41FA5}">
                      <a16:colId xmlns:a16="http://schemas.microsoft.com/office/drawing/2014/main" val="2523966027"/>
                    </a:ext>
                  </a:extLst>
                </a:gridCol>
              </a:tblGrid>
              <a:tr h="370840">
                <a:tc>
                  <a:txBody>
                    <a:bodyPr/>
                    <a:lstStyle/>
                    <a:p>
                      <a:r>
                        <a:rPr lang="en-US" sz="2400" dirty="0"/>
                        <a:t>ID</a:t>
                      </a:r>
                    </a:p>
                  </a:txBody>
                  <a:tcPr/>
                </a:tc>
                <a:tc>
                  <a:txBody>
                    <a:bodyPr/>
                    <a:lstStyle/>
                    <a:p>
                      <a:r>
                        <a:rPr lang="en-US" sz="2400" dirty="0"/>
                        <a:t>X1</a:t>
                      </a:r>
                    </a:p>
                  </a:txBody>
                  <a:tcPr/>
                </a:tc>
                <a:extLst>
                  <a:ext uri="{0D108BD9-81ED-4DB2-BD59-A6C34878D82A}">
                    <a16:rowId xmlns:a16="http://schemas.microsoft.com/office/drawing/2014/main" val="4184438245"/>
                  </a:ext>
                </a:extLst>
              </a:tr>
              <a:tr h="370840">
                <a:tc>
                  <a:txBody>
                    <a:bodyPr/>
                    <a:lstStyle/>
                    <a:p>
                      <a:r>
                        <a:rPr lang="en-US" sz="2400" dirty="0"/>
                        <a:t>A1</a:t>
                      </a:r>
                    </a:p>
                  </a:txBody>
                  <a:tcPr/>
                </a:tc>
                <a:tc>
                  <a:txBody>
                    <a:bodyPr/>
                    <a:lstStyle/>
                    <a:p>
                      <a:r>
                        <a:rPr lang="en-US" sz="2400" dirty="0"/>
                        <a:t>{}</a:t>
                      </a:r>
                    </a:p>
                  </a:txBody>
                  <a:tcPr/>
                </a:tc>
                <a:extLst>
                  <a:ext uri="{0D108BD9-81ED-4DB2-BD59-A6C34878D82A}">
                    <a16:rowId xmlns:a16="http://schemas.microsoft.com/office/drawing/2014/main" val="1455143019"/>
                  </a:ext>
                </a:extLst>
              </a:tr>
              <a:tr h="370840">
                <a:tc>
                  <a:txBody>
                    <a:bodyPr/>
                    <a:lstStyle/>
                    <a:p>
                      <a:r>
                        <a:rPr lang="en-US" sz="2400" dirty="0"/>
                        <a:t>A2</a:t>
                      </a:r>
                    </a:p>
                  </a:txBody>
                  <a:tcPr/>
                </a:tc>
                <a:tc>
                  <a:txBody>
                    <a:bodyPr/>
                    <a:lstStyle/>
                    <a:p>
                      <a:r>
                        <a:rPr lang="en-US" sz="2400" dirty="0"/>
                        <a:t>{}</a:t>
                      </a:r>
                    </a:p>
                  </a:txBody>
                  <a:tcPr/>
                </a:tc>
                <a:extLst>
                  <a:ext uri="{0D108BD9-81ED-4DB2-BD59-A6C34878D82A}">
                    <a16:rowId xmlns:a16="http://schemas.microsoft.com/office/drawing/2014/main" val="468469130"/>
                  </a:ext>
                </a:extLst>
              </a:tr>
              <a:tr h="370840">
                <a:tc>
                  <a:txBody>
                    <a:bodyPr/>
                    <a:lstStyle/>
                    <a:p>
                      <a:r>
                        <a:rPr lang="en-US" sz="2400" dirty="0"/>
                        <a:t>A3</a:t>
                      </a:r>
                    </a:p>
                  </a:txBody>
                  <a:tcPr/>
                </a:tc>
                <a:tc>
                  <a:txBody>
                    <a:bodyPr/>
                    <a:lstStyle/>
                    <a:p>
                      <a:r>
                        <a:rPr lang="en-US" sz="2400" dirty="0"/>
                        <a:t>{A5, A6}</a:t>
                      </a:r>
                    </a:p>
                  </a:txBody>
                  <a:tcPr/>
                </a:tc>
                <a:extLst>
                  <a:ext uri="{0D108BD9-81ED-4DB2-BD59-A6C34878D82A}">
                    <a16:rowId xmlns:a16="http://schemas.microsoft.com/office/drawing/2014/main" val="1802444952"/>
                  </a:ext>
                </a:extLst>
              </a:tr>
              <a:tr h="370840">
                <a:tc>
                  <a:txBody>
                    <a:bodyPr/>
                    <a:lstStyle/>
                    <a:p>
                      <a:r>
                        <a:rPr lang="en-US" sz="2400" dirty="0"/>
                        <a:t>A4</a:t>
                      </a:r>
                    </a:p>
                  </a:txBody>
                  <a:tcPr/>
                </a:tc>
                <a:tc>
                  <a:txBody>
                    <a:bodyPr/>
                    <a:lstStyle/>
                    <a:p>
                      <a:r>
                        <a:rPr lang="en-US" sz="2400" dirty="0"/>
                        <a:t>{A8}</a:t>
                      </a:r>
                    </a:p>
                  </a:txBody>
                  <a:tcPr/>
                </a:tc>
                <a:extLst>
                  <a:ext uri="{0D108BD9-81ED-4DB2-BD59-A6C34878D82A}">
                    <a16:rowId xmlns:a16="http://schemas.microsoft.com/office/drawing/2014/main" val="2526711071"/>
                  </a:ext>
                </a:extLst>
              </a:tr>
              <a:tr h="370840">
                <a:tc>
                  <a:txBody>
                    <a:bodyPr/>
                    <a:lstStyle/>
                    <a:p>
                      <a:r>
                        <a:rPr lang="en-US" sz="2400" dirty="0"/>
                        <a:t>A5</a:t>
                      </a:r>
                    </a:p>
                  </a:txBody>
                  <a:tcPr/>
                </a:tc>
                <a:tc>
                  <a:txBody>
                    <a:bodyPr/>
                    <a:lstStyle/>
                    <a:p>
                      <a:r>
                        <a:rPr lang="en-US" sz="2400" dirty="0"/>
                        <a:t>{A3, A6}</a:t>
                      </a:r>
                    </a:p>
                  </a:txBody>
                  <a:tcPr/>
                </a:tc>
                <a:extLst>
                  <a:ext uri="{0D108BD9-81ED-4DB2-BD59-A6C34878D82A}">
                    <a16:rowId xmlns:a16="http://schemas.microsoft.com/office/drawing/2014/main" val="299807120"/>
                  </a:ext>
                </a:extLst>
              </a:tr>
              <a:tr h="370840">
                <a:tc>
                  <a:txBody>
                    <a:bodyPr/>
                    <a:lstStyle/>
                    <a:p>
                      <a:r>
                        <a:rPr lang="en-US" sz="2400" dirty="0"/>
                        <a:t>A6</a:t>
                      </a:r>
                    </a:p>
                  </a:txBody>
                  <a:tcPr/>
                </a:tc>
                <a:tc>
                  <a:txBody>
                    <a:bodyPr/>
                    <a:lstStyle/>
                    <a:p>
                      <a:r>
                        <a:rPr lang="en-US" sz="2400" dirty="0"/>
                        <a:t>{A3, A5}</a:t>
                      </a:r>
                    </a:p>
                  </a:txBody>
                  <a:tcPr/>
                </a:tc>
                <a:extLst>
                  <a:ext uri="{0D108BD9-81ED-4DB2-BD59-A6C34878D82A}">
                    <a16:rowId xmlns:a16="http://schemas.microsoft.com/office/drawing/2014/main" val="1747340720"/>
                  </a:ext>
                </a:extLst>
              </a:tr>
              <a:tr h="370840">
                <a:tc>
                  <a:txBody>
                    <a:bodyPr/>
                    <a:lstStyle/>
                    <a:p>
                      <a:r>
                        <a:rPr lang="en-US" sz="2400" dirty="0"/>
                        <a:t>A7</a:t>
                      </a:r>
                    </a:p>
                  </a:txBody>
                  <a:tcPr/>
                </a:tc>
                <a:tc>
                  <a:txBody>
                    <a:bodyPr/>
                    <a:lstStyle/>
                    <a:p>
                      <a:r>
                        <a:rPr lang="en-US" sz="2400" dirty="0"/>
                        <a:t>{}</a:t>
                      </a:r>
                    </a:p>
                  </a:txBody>
                  <a:tcPr/>
                </a:tc>
                <a:extLst>
                  <a:ext uri="{0D108BD9-81ED-4DB2-BD59-A6C34878D82A}">
                    <a16:rowId xmlns:a16="http://schemas.microsoft.com/office/drawing/2014/main" val="3595537470"/>
                  </a:ext>
                </a:extLst>
              </a:tr>
              <a:tr h="370840">
                <a:tc>
                  <a:txBody>
                    <a:bodyPr/>
                    <a:lstStyle/>
                    <a:p>
                      <a:r>
                        <a:rPr lang="en-US" sz="2400" dirty="0"/>
                        <a:t>A8</a:t>
                      </a:r>
                    </a:p>
                  </a:txBody>
                  <a:tcPr/>
                </a:tc>
                <a:tc>
                  <a:txBody>
                    <a:bodyPr/>
                    <a:lstStyle/>
                    <a:p>
                      <a:r>
                        <a:rPr lang="en-US" sz="2400" dirty="0"/>
                        <a:t>{A4}</a:t>
                      </a:r>
                    </a:p>
                  </a:txBody>
                  <a:tcPr/>
                </a:tc>
                <a:extLst>
                  <a:ext uri="{0D108BD9-81ED-4DB2-BD59-A6C34878D82A}">
                    <a16:rowId xmlns:a16="http://schemas.microsoft.com/office/drawing/2014/main" val="3901043953"/>
                  </a:ext>
                </a:extLst>
              </a:tr>
            </a:tbl>
          </a:graphicData>
        </a:graphic>
      </p:graphicFrame>
      <p:sp>
        <p:nvSpPr>
          <p:cNvPr id="6" name="TextBox 5">
            <a:extLst>
              <a:ext uri="{FF2B5EF4-FFF2-40B4-BE49-F238E27FC236}">
                <a16:creationId xmlns:a16="http://schemas.microsoft.com/office/drawing/2014/main" id="{FE14C832-F210-488C-BCE0-D07C49CC1CA4}"/>
              </a:ext>
            </a:extLst>
          </p:cNvPr>
          <p:cNvSpPr txBox="1"/>
          <p:nvPr/>
        </p:nvSpPr>
        <p:spPr>
          <a:xfrm>
            <a:off x="401782" y="6020969"/>
            <a:ext cx="2833788" cy="523220"/>
          </a:xfrm>
          <a:prstGeom prst="rect">
            <a:avLst/>
          </a:prstGeom>
          <a:noFill/>
        </p:spPr>
        <p:txBody>
          <a:bodyPr wrap="square" rtlCol="0">
            <a:spAutoFit/>
          </a:bodyPr>
          <a:lstStyle/>
          <a:p>
            <a:pPr algn="ctr"/>
            <a:r>
              <a:rPr lang="en-US" sz="2800" dirty="0">
                <a:sym typeface="Symbol" panose="05050102010706020507" pitchFamily="18" charset="2"/>
              </a:rPr>
              <a:t>=2, </a:t>
            </a:r>
            <a:r>
              <a:rPr lang="en-US" sz="2800" dirty="0" err="1">
                <a:sym typeface="Symbol" panose="05050102010706020507" pitchFamily="18" charset="2"/>
              </a:rPr>
              <a:t>MinPts</a:t>
            </a:r>
            <a:r>
              <a:rPr lang="en-US" sz="2800" dirty="0">
                <a:sym typeface="Symbol" panose="05050102010706020507" pitchFamily="18" charset="2"/>
              </a:rPr>
              <a:t>=2</a:t>
            </a:r>
            <a:endParaRPr lang="en-US" sz="2800" dirty="0"/>
          </a:p>
        </p:txBody>
      </p:sp>
      <p:sp>
        <p:nvSpPr>
          <p:cNvPr id="7" name="TextBox 6">
            <a:extLst>
              <a:ext uri="{FF2B5EF4-FFF2-40B4-BE49-F238E27FC236}">
                <a16:creationId xmlns:a16="http://schemas.microsoft.com/office/drawing/2014/main" id="{8A9046F2-5261-4127-86C6-9A98F4ADEDD9}"/>
              </a:ext>
            </a:extLst>
          </p:cNvPr>
          <p:cNvSpPr txBox="1"/>
          <p:nvPr/>
        </p:nvSpPr>
        <p:spPr>
          <a:xfrm>
            <a:off x="401782" y="1300488"/>
            <a:ext cx="2833788" cy="523220"/>
          </a:xfrm>
          <a:prstGeom prst="rect">
            <a:avLst/>
          </a:prstGeom>
          <a:noFill/>
        </p:spPr>
        <p:txBody>
          <a:bodyPr wrap="square" rtlCol="0">
            <a:spAutoFit/>
          </a:bodyPr>
          <a:lstStyle/>
          <a:p>
            <a:r>
              <a:rPr lang="en-US" sz="2800" b="1" dirty="0">
                <a:sym typeface="Symbol" panose="05050102010706020507" pitchFamily="18" charset="2"/>
              </a:rPr>
              <a:t> Neighborhood</a:t>
            </a:r>
            <a:endParaRPr lang="en-US" sz="2800" b="1" dirty="0"/>
          </a:p>
        </p:txBody>
      </p:sp>
      <p:sp>
        <p:nvSpPr>
          <p:cNvPr id="9" name="TextBox 8">
            <a:extLst>
              <a:ext uri="{FF2B5EF4-FFF2-40B4-BE49-F238E27FC236}">
                <a16:creationId xmlns:a16="http://schemas.microsoft.com/office/drawing/2014/main" id="{0B6D3285-0837-49F4-AF08-3513823D59DB}"/>
              </a:ext>
            </a:extLst>
          </p:cNvPr>
          <p:cNvSpPr txBox="1"/>
          <p:nvPr/>
        </p:nvSpPr>
        <p:spPr>
          <a:xfrm>
            <a:off x="4268052" y="1823708"/>
            <a:ext cx="7522163" cy="1384995"/>
          </a:xfrm>
          <a:prstGeom prst="rect">
            <a:avLst/>
          </a:prstGeom>
          <a:noFill/>
        </p:spPr>
        <p:txBody>
          <a:bodyPr wrap="square" rtlCol="0">
            <a:spAutoFit/>
          </a:bodyPr>
          <a:lstStyle/>
          <a:p>
            <a:r>
              <a:rPr lang="en-US" sz="2800" b="1" dirty="0">
                <a:sym typeface="Symbol" panose="05050102010706020507" pitchFamily="18" charset="2"/>
              </a:rPr>
              <a:t>Cluster 1: {A3, A5, A6}</a:t>
            </a:r>
          </a:p>
          <a:p>
            <a:r>
              <a:rPr lang="en-US" sz="2800" b="1" dirty="0">
                <a:sym typeface="Symbol" panose="05050102010706020507" pitchFamily="18" charset="2"/>
              </a:rPr>
              <a:t>Cluster 2: {A4, A8}</a:t>
            </a:r>
          </a:p>
          <a:p>
            <a:r>
              <a:rPr lang="en-US" sz="2800" b="1" dirty="0">
                <a:sym typeface="Symbol" panose="05050102010706020507" pitchFamily="18" charset="2"/>
              </a:rPr>
              <a:t>Outliers: A1, A2, A7</a:t>
            </a:r>
            <a:endParaRPr lang="en-US" sz="2800" b="1" dirty="0"/>
          </a:p>
        </p:txBody>
      </p:sp>
      <p:sp>
        <p:nvSpPr>
          <p:cNvPr id="8" name="Slide Number Placeholder 7">
            <a:extLst>
              <a:ext uri="{FF2B5EF4-FFF2-40B4-BE49-F238E27FC236}">
                <a16:creationId xmlns:a16="http://schemas.microsoft.com/office/drawing/2014/main" id="{3530FBAA-A402-419D-8E79-974C222AD431}"/>
              </a:ext>
            </a:extLst>
          </p:cNvPr>
          <p:cNvSpPr>
            <a:spLocks noGrp="1"/>
          </p:cNvSpPr>
          <p:nvPr>
            <p:ph type="sldNum" sz="quarter" idx="12"/>
          </p:nvPr>
        </p:nvSpPr>
        <p:spPr/>
        <p:txBody>
          <a:bodyPr/>
          <a:lstStyle/>
          <a:p>
            <a:fld id="{4CC025FC-8595-493D-A46F-2FDFDC85D9BC}" type="slidenum">
              <a:rPr lang="en-US" smtClean="0"/>
              <a:t>78</a:t>
            </a:fld>
            <a:endParaRPr lang="en-US"/>
          </a:p>
        </p:txBody>
      </p:sp>
    </p:spTree>
    <p:extLst>
      <p:ext uri="{BB962C8B-B14F-4D97-AF65-F5344CB8AC3E}">
        <p14:creationId xmlns:p14="http://schemas.microsoft.com/office/powerpoint/2010/main" val="37596587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0990A-36DD-F1EF-DC1B-C95EDA2A97AB}"/>
              </a:ext>
            </a:extLst>
          </p:cNvPr>
          <p:cNvSpPr>
            <a:spLocks noGrp="1"/>
          </p:cNvSpPr>
          <p:nvPr>
            <p:ph type="title"/>
          </p:nvPr>
        </p:nvSpPr>
        <p:spPr/>
        <p:txBody>
          <a:bodyPr/>
          <a:lstStyle/>
          <a:p>
            <a:r>
              <a:rPr lang="en-US" dirty="0"/>
              <a:t>Evaluating Clusters</a:t>
            </a:r>
          </a:p>
        </p:txBody>
      </p:sp>
      <p:sp>
        <p:nvSpPr>
          <p:cNvPr id="3" name="Content Placeholder 2">
            <a:extLst>
              <a:ext uri="{FF2B5EF4-FFF2-40B4-BE49-F238E27FC236}">
                <a16:creationId xmlns:a16="http://schemas.microsoft.com/office/drawing/2014/main" id="{1977A667-8738-3A73-7702-193D709E4839}"/>
              </a:ext>
            </a:extLst>
          </p:cNvPr>
          <p:cNvSpPr>
            <a:spLocks noGrp="1"/>
          </p:cNvSpPr>
          <p:nvPr>
            <p:ph idx="1"/>
          </p:nvPr>
        </p:nvSpPr>
        <p:spPr/>
        <p:txBody>
          <a:bodyPr>
            <a:normAutofit fontScale="92500"/>
          </a:bodyPr>
          <a:lstStyle/>
          <a:p>
            <a:pPr algn="just"/>
            <a:r>
              <a:rPr lang="en-US" dirty="0"/>
              <a:t>Evaluating clusters is a critical step in clustering analysis to determine the quality and validity of the generated clusters.</a:t>
            </a:r>
          </a:p>
          <a:p>
            <a:pPr marL="0" indent="0" algn="just">
              <a:buNone/>
            </a:pPr>
            <a:r>
              <a:rPr lang="en-US" b="1" i="0" dirty="0">
                <a:solidFill>
                  <a:srgbClr val="383838"/>
                </a:solidFill>
                <a:effectLst/>
                <a:latin typeface="Inter"/>
              </a:rPr>
              <a:t>Silhouette Coefficient</a:t>
            </a:r>
          </a:p>
          <a:p>
            <a:pPr algn="just"/>
            <a:endParaRPr lang="en-US" b="1" dirty="0">
              <a:solidFill>
                <a:srgbClr val="383838"/>
              </a:solidFill>
              <a:latin typeface="Inter"/>
            </a:endParaRPr>
          </a:p>
          <a:p>
            <a:pPr algn="just">
              <a:lnSpc>
                <a:spcPts val="2700"/>
              </a:lnSpc>
              <a:spcAft>
                <a:spcPts val="750"/>
              </a:spcAft>
              <a:buFont typeface="Arial" panose="020B0604020202020204" pitchFamily="34" charset="0"/>
              <a:buChar char="•"/>
            </a:pPr>
            <a:r>
              <a:rPr lang="en-US" b="0" i="0" dirty="0">
                <a:solidFill>
                  <a:srgbClr val="383838"/>
                </a:solidFill>
                <a:effectLst/>
                <a:latin typeface="Inter"/>
              </a:rPr>
              <a:t>The Silhouette Coefficient is defined for each sample and is composed of two scores:</a:t>
            </a:r>
          </a:p>
          <a:p>
            <a:pPr algn="just">
              <a:lnSpc>
                <a:spcPts val="2700"/>
              </a:lnSpc>
              <a:spcAft>
                <a:spcPts val="750"/>
              </a:spcAft>
              <a:buFont typeface="Arial" panose="020B0604020202020204" pitchFamily="34" charset="0"/>
              <a:buChar char="•"/>
            </a:pPr>
            <a:r>
              <a:rPr lang="en-US" b="0" i="1" dirty="0">
                <a:solidFill>
                  <a:srgbClr val="383838"/>
                </a:solidFill>
                <a:effectLst/>
                <a:latin typeface="Inter"/>
              </a:rPr>
              <a:t>a</a:t>
            </a:r>
            <a:r>
              <a:rPr lang="en-US" b="0" i="0" dirty="0">
                <a:solidFill>
                  <a:srgbClr val="383838"/>
                </a:solidFill>
                <a:effectLst/>
                <a:latin typeface="Inter"/>
              </a:rPr>
              <a:t>: The mean distance between a sample and all other points in the same cluster.</a:t>
            </a:r>
          </a:p>
          <a:p>
            <a:pPr algn="just">
              <a:lnSpc>
                <a:spcPts val="2700"/>
              </a:lnSpc>
              <a:spcAft>
                <a:spcPts val="750"/>
              </a:spcAft>
              <a:buFont typeface="Arial" panose="020B0604020202020204" pitchFamily="34" charset="0"/>
              <a:buChar char="•"/>
            </a:pPr>
            <a:r>
              <a:rPr lang="en-US" b="0" i="1" dirty="0">
                <a:solidFill>
                  <a:srgbClr val="383838"/>
                </a:solidFill>
                <a:effectLst/>
                <a:latin typeface="Inter"/>
              </a:rPr>
              <a:t>b</a:t>
            </a:r>
            <a:r>
              <a:rPr lang="en-US" b="0" i="0" dirty="0">
                <a:solidFill>
                  <a:srgbClr val="383838"/>
                </a:solidFill>
                <a:effectLst/>
                <a:latin typeface="Inter"/>
              </a:rPr>
              <a:t>: The mean distance between a sample and all other points in the next nearest cluster.</a:t>
            </a:r>
          </a:p>
          <a:p>
            <a:pPr algn="just"/>
            <a:r>
              <a:rPr lang="en-US" b="0" i="0" dirty="0">
                <a:solidFill>
                  <a:srgbClr val="383838"/>
                </a:solidFill>
                <a:effectLst/>
                <a:latin typeface="Inter"/>
              </a:rPr>
              <a:t>The score is between -1 for incorrect clustering and +1 for highly dense clustering. Scores around zero indicate overlapping clusters. </a:t>
            </a:r>
            <a:endParaRPr lang="en-US" b="1" i="0" dirty="0">
              <a:solidFill>
                <a:srgbClr val="383838"/>
              </a:solidFill>
              <a:effectLst/>
              <a:latin typeface="Inter"/>
            </a:endParaRPr>
          </a:p>
          <a:p>
            <a:endParaRPr lang="en-US" dirty="0"/>
          </a:p>
        </p:txBody>
      </p:sp>
      <p:sp>
        <p:nvSpPr>
          <p:cNvPr id="4" name="Slide Number Placeholder 3">
            <a:extLst>
              <a:ext uri="{FF2B5EF4-FFF2-40B4-BE49-F238E27FC236}">
                <a16:creationId xmlns:a16="http://schemas.microsoft.com/office/drawing/2014/main" id="{55D64E81-2FB9-477F-211E-E18BB64F0EB2}"/>
              </a:ext>
            </a:extLst>
          </p:cNvPr>
          <p:cNvSpPr>
            <a:spLocks noGrp="1"/>
          </p:cNvSpPr>
          <p:nvPr>
            <p:ph type="sldNum" sz="quarter" idx="12"/>
          </p:nvPr>
        </p:nvSpPr>
        <p:spPr/>
        <p:txBody>
          <a:bodyPr/>
          <a:lstStyle/>
          <a:p>
            <a:fld id="{4CC025FC-8595-493D-A46F-2FDFDC85D9BC}" type="slidenum">
              <a:rPr lang="en-US" smtClean="0"/>
              <a:t>79</a:t>
            </a:fld>
            <a:endParaRPr lang="en-US"/>
          </a:p>
        </p:txBody>
      </p:sp>
      <p:pic>
        <p:nvPicPr>
          <p:cNvPr id="6" name="Picture 5">
            <a:extLst>
              <a:ext uri="{FF2B5EF4-FFF2-40B4-BE49-F238E27FC236}">
                <a16:creationId xmlns:a16="http://schemas.microsoft.com/office/drawing/2014/main" id="{8DB3D2B1-8622-06C0-4203-46D7C254E3F7}"/>
              </a:ext>
            </a:extLst>
          </p:cNvPr>
          <p:cNvPicPr>
            <a:picLocks noChangeAspect="1"/>
          </p:cNvPicPr>
          <p:nvPr/>
        </p:nvPicPr>
        <p:blipFill>
          <a:blip r:embed="rId2"/>
          <a:stretch>
            <a:fillRect/>
          </a:stretch>
        </p:blipFill>
        <p:spPr>
          <a:xfrm>
            <a:off x="4978054" y="1952003"/>
            <a:ext cx="1838325" cy="866775"/>
          </a:xfrm>
          <a:prstGeom prst="rect">
            <a:avLst/>
          </a:prstGeom>
        </p:spPr>
      </p:pic>
    </p:spTree>
    <p:extLst>
      <p:ext uri="{BB962C8B-B14F-4D97-AF65-F5344CB8AC3E}">
        <p14:creationId xmlns:p14="http://schemas.microsoft.com/office/powerpoint/2010/main" val="33709700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DAC2-6CF7-955E-4B35-6A05563EE28F}"/>
              </a:ext>
            </a:extLst>
          </p:cNvPr>
          <p:cNvSpPr>
            <a:spLocks noGrp="1"/>
          </p:cNvSpPr>
          <p:nvPr>
            <p:ph type="title"/>
          </p:nvPr>
        </p:nvSpPr>
        <p:spPr/>
        <p:txBody>
          <a:bodyPr/>
          <a:lstStyle/>
          <a:p>
            <a:r>
              <a:rPr lang="en-US" dirty="0"/>
              <a:t>Evaluating Clusters</a:t>
            </a:r>
          </a:p>
        </p:txBody>
      </p:sp>
      <p:sp>
        <p:nvSpPr>
          <p:cNvPr id="3" name="Content Placeholder 2">
            <a:extLst>
              <a:ext uri="{FF2B5EF4-FFF2-40B4-BE49-F238E27FC236}">
                <a16:creationId xmlns:a16="http://schemas.microsoft.com/office/drawing/2014/main" id="{27736CBC-7479-B018-B0EE-534681A50D7D}"/>
              </a:ext>
            </a:extLst>
          </p:cNvPr>
          <p:cNvSpPr>
            <a:spLocks noGrp="1"/>
          </p:cNvSpPr>
          <p:nvPr>
            <p:ph idx="1"/>
          </p:nvPr>
        </p:nvSpPr>
        <p:spPr/>
        <p:txBody>
          <a:bodyPr/>
          <a:lstStyle/>
          <a:p>
            <a:pPr marL="0" indent="0">
              <a:buNone/>
            </a:pPr>
            <a:r>
              <a:rPr lang="en-US" b="1" dirty="0"/>
              <a:t>Dunn Index</a:t>
            </a:r>
          </a:p>
          <a:p>
            <a:pPr algn="just"/>
            <a:r>
              <a:rPr lang="en-US" dirty="0"/>
              <a:t>The </a:t>
            </a:r>
            <a:r>
              <a:rPr lang="en-US" b="1" dirty="0"/>
              <a:t>Dunn Index</a:t>
            </a:r>
            <a:r>
              <a:rPr lang="en-US" dirty="0"/>
              <a:t> evaluates the quality of clustering by considering the ratio of the minimum inter-cluster distance to the maximum intra-cluster distance. Higher Dunn Index values indicate better clustering.</a:t>
            </a:r>
          </a:p>
          <a:p>
            <a:endParaRPr lang="en-US" dirty="0"/>
          </a:p>
        </p:txBody>
      </p:sp>
      <p:sp>
        <p:nvSpPr>
          <p:cNvPr id="4" name="Slide Number Placeholder 3">
            <a:extLst>
              <a:ext uri="{FF2B5EF4-FFF2-40B4-BE49-F238E27FC236}">
                <a16:creationId xmlns:a16="http://schemas.microsoft.com/office/drawing/2014/main" id="{EA0CEECD-5E41-A14F-8E07-5C164EB789A3}"/>
              </a:ext>
            </a:extLst>
          </p:cNvPr>
          <p:cNvSpPr>
            <a:spLocks noGrp="1"/>
          </p:cNvSpPr>
          <p:nvPr>
            <p:ph type="sldNum" sz="quarter" idx="12"/>
          </p:nvPr>
        </p:nvSpPr>
        <p:spPr/>
        <p:txBody>
          <a:bodyPr/>
          <a:lstStyle/>
          <a:p>
            <a:fld id="{4CC025FC-8595-493D-A46F-2FDFDC85D9BC}" type="slidenum">
              <a:rPr lang="en-US" smtClean="0"/>
              <a:t>80</a:t>
            </a:fld>
            <a:endParaRPr lang="en-US"/>
          </a:p>
        </p:txBody>
      </p:sp>
      <p:pic>
        <p:nvPicPr>
          <p:cNvPr id="6" name="Picture 5">
            <a:extLst>
              <a:ext uri="{FF2B5EF4-FFF2-40B4-BE49-F238E27FC236}">
                <a16:creationId xmlns:a16="http://schemas.microsoft.com/office/drawing/2014/main" id="{C9766D97-B005-896F-1F72-93C5A473B407}"/>
              </a:ext>
            </a:extLst>
          </p:cNvPr>
          <p:cNvPicPr>
            <a:picLocks noChangeAspect="1"/>
          </p:cNvPicPr>
          <p:nvPr/>
        </p:nvPicPr>
        <p:blipFill>
          <a:blip r:embed="rId2"/>
          <a:stretch>
            <a:fillRect/>
          </a:stretch>
        </p:blipFill>
        <p:spPr>
          <a:xfrm>
            <a:off x="2653955" y="2916872"/>
            <a:ext cx="6486525" cy="3371850"/>
          </a:xfrm>
          <a:prstGeom prst="rect">
            <a:avLst/>
          </a:prstGeom>
        </p:spPr>
      </p:pic>
    </p:spTree>
    <p:extLst>
      <p:ext uri="{BB962C8B-B14F-4D97-AF65-F5344CB8AC3E}">
        <p14:creationId xmlns:p14="http://schemas.microsoft.com/office/powerpoint/2010/main" val="3941462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8.4|18.8|13.9"/>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10166</TotalTime>
  <Words>5086</Words>
  <Application>Microsoft Office PowerPoint</Application>
  <PresentationFormat>Widescreen</PresentationFormat>
  <Paragraphs>1722</Paragraphs>
  <Slides>80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80</vt:i4>
      </vt:variant>
    </vt:vector>
  </HeadingPairs>
  <TitlesOfParts>
    <vt:vector size="91" baseType="lpstr">
      <vt:lpstr>Arial</vt:lpstr>
      <vt:lpstr>Arial Rounded MT Bold</vt:lpstr>
      <vt:lpstr>Calibri</vt:lpstr>
      <vt:lpstr>Cambria</vt:lpstr>
      <vt:lpstr>Cambria Math</vt:lpstr>
      <vt:lpstr>CenturyGothic</vt:lpstr>
      <vt:lpstr>CenturyGothic-Bold</vt:lpstr>
      <vt:lpstr>Inter</vt:lpstr>
      <vt:lpstr>Symbol</vt:lpstr>
      <vt:lpstr>Tahoma</vt:lpstr>
      <vt:lpstr>Office Theme</vt:lpstr>
      <vt:lpstr>Clustering</vt:lpstr>
      <vt:lpstr>Unsupervised Mining</vt:lpstr>
      <vt:lpstr>Applications</vt:lpstr>
      <vt:lpstr>Clustering for Understanding</vt:lpstr>
      <vt:lpstr>What is Cluster Analysis?</vt:lpstr>
      <vt:lpstr>Clustering Example – news.google.com</vt:lpstr>
      <vt:lpstr>Cluster formation methods</vt:lpstr>
      <vt:lpstr>PowerPoint Presentation</vt:lpstr>
      <vt:lpstr>Centroid based clusters</vt:lpstr>
      <vt:lpstr>k-Means Clustering Algorithm</vt:lpstr>
      <vt:lpstr>Step 1: Initialization</vt:lpstr>
      <vt:lpstr>Step 2: Cluster Assignment</vt:lpstr>
      <vt:lpstr>Step 3: Moving Centroid</vt:lpstr>
      <vt:lpstr>Step 4: Optimization</vt:lpstr>
      <vt:lpstr>Step 5: Convergence</vt:lpstr>
      <vt:lpstr>Euclidean Distance </vt:lpstr>
      <vt:lpstr>k-Means Demo – Step 1: Initialization</vt:lpstr>
      <vt:lpstr>k-Means Demo – Step 2: Cluster Assignment</vt:lpstr>
      <vt:lpstr>k-Means Demo – Step 2: Cluster Assignment</vt:lpstr>
      <vt:lpstr>k-Means Demo – Step 2: Cluster Assignment</vt:lpstr>
      <vt:lpstr>k-Means Demo – Step 3: Moving Centroid</vt:lpstr>
      <vt:lpstr>k-Means Demo – Step 3: Moving Centroid</vt:lpstr>
      <vt:lpstr>k-Means Demo – Step 4: Optimization</vt:lpstr>
      <vt:lpstr>k-Means Demo – Step 4: Optimization</vt:lpstr>
      <vt:lpstr>k-Means Demo – Step 4: Optimization</vt:lpstr>
      <vt:lpstr>k-Means Demo – Step 5: Convergence</vt:lpstr>
      <vt:lpstr>Another Example</vt:lpstr>
      <vt:lpstr>k-Means Clustering: Discussion</vt:lpstr>
      <vt:lpstr>k-Means Clustering: Advantages</vt:lpstr>
      <vt:lpstr>k-Means Clustering: Disadvantages</vt:lpstr>
      <vt:lpstr>PowerPoint Presentation</vt:lpstr>
      <vt:lpstr>k-Medoid Algorithm – The Idea</vt:lpstr>
      <vt:lpstr>k-Medoid Algorithm</vt:lpstr>
      <vt:lpstr>k-Medoids Summarized</vt:lpstr>
      <vt:lpstr>k-Medoid: Example</vt:lpstr>
      <vt:lpstr>Manhattan Distance</vt:lpstr>
      <vt:lpstr>k-Medoid: Example</vt:lpstr>
      <vt:lpstr>k-Medoid: Example</vt:lpstr>
      <vt:lpstr>k-Medoid: Example</vt:lpstr>
      <vt:lpstr>k-Medoid: Example</vt:lpstr>
      <vt:lpstr>PowerPoint Presentation</vt:lpstr>
      <vt:lpstr>Hierarchical Clustering</vt:lpstr>
      <vt:lpstr>Hierarchical Clustering - Dendrogram</vt:lpstr>
      <vt:lpstr>Hierarchical Clustering - Strategies</vt:lpstr>
      <vt:lpstr>Hierarchical Clustering - Strategies</vt:lpstr>
      <vt:lpstr>Hierarchical Agglomerative Clustering - Steps</vt:lpstr>
      <vt:lpstr>Example - Problem</vt:lpstr>
      <vt:lpstr>Example - Dataset</vt:lpstr>
      <vt:lpstr>Example – Proximity Matrix</vt:lpstr>
      <vt:lpstr>Example – Step 1</vt:lpstr>
      <vt:lpstr>Example – Step 2</vt:lpstr>
      <vt:lpstr>Example – Step 2</vt:lpstr>
      <vt:lpstr>Example – Step 3</vt:lpstr>
      <vt:lpstr>Example – How many clusters?</vt:lpstr>
      <vt:lpstr>Distance Measures</vt:lpstr>
      <vt:lpstr>Summary</vt:lpstr>
      <vt:lpstr>Divisive Hierarchical Clustering</vt:lpstr>
      <vt:lpstr>Hierarchical Clustering - Strategies</vt:lpstr>
      <vt:lpstr>Hierarchical Clustering - Steps</vt:lpstr>
      <vt:lpstr>Example - Divisive Hierarchical Clustering</vt:lpstr>
      <vt:lpstr>Example</vt:lpstr>
      <vt:lpstr>Example</vt:lpstr>
      <vt:lpstr>Example</vt:lpstr>
      <vt:lpstr>Example</vt:lpstr>
      <vt:lpstr>Example</vt:lpstr>
      <vt:lpstr>Example</vt:lpstr>
      <vt:lpstr>Example - Dendrogram</vt:lpstr>
      <vt:lpstr>PowerPoint Presentation</vt:lpstr>
      <vt:lpstr>DBSCAN</vt:lpstr>
      <vt:lpstr>Density Definition</vt:lpstr>
      <vt:lpstr>Core, Border, &amp; Outlier</vt:lpstr>
      <vt:lpstr>Density Reachability</vt:lpstr>
      <vt:lpstr>Density Reachability</vt:lpstr>
      <vt:lpstr>Density Connectivity</vt:lpstr>
      <vt:lpstr>DBSCAN Algorithm</vt:lpstr>
      <vt:lpstr>Example – Compute Proximity Matrix</vt:lpstr>
      <vt:lpstr>Example – Compute  Neighborhood</vt:lpstr>
      <vt:lpstr>Example – Clusters</vt:lpstr>
      <vt:lpstr>Evaluating Clusters</vt:lpstr>
      <vt:lpstr>Evaluating Clusters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Quantification and Classification based on Diverse Feature Sets using Machine Learning</dc:title>
  <dc:creator>Kashif Ayyub</dc:creator>
  <cp:lastModifiedBy>Izzah Fatima</cp:lastModifiedBy>
  <cp:revision>195</cp:revision>
  <dcterms:created xsi:type="dcterms:W3CDTF">2020-07-24T06:55:41Z</dcterms:created>
  <dcterms:modified xsi:type="dcterms:W3CDTF">2025-01-14T17:34:42Z</dcterms:modified>
</cp:coreProperties>
</file>
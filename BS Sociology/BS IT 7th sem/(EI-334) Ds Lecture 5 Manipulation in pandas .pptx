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42"/>
  </p:notesMasterIdLst>
  <p:sldIdLst>
    <p:sldId id="1056" r:id="rId3"/>
    <p:sldId id="256" r:id="rId4"/>
    <p:sldId id="1092" r:id="rId5"/>
    <p:sldId id="1093" r:id="rId6"/>
    <p:sldId id="1094" r:id="rId7"/>
    <p:sldId id="1074" r:id="rId8"/>
    <p:sldId id="1105" r:id="rId9"/>
    <p:sldId id="1100" r:id="rId10"/>
    <p:sldId id="1070" r:id="rId11"/>
    <p:sldId id="1095" r:id="rId12"/>
    <p:sldId id="1106" r:id="rId13"/>
    <p:sldId id="1096" r:id="rId14"/>
    <p:sldId id="1107" r:id="rId15"/>
    <p:sldId id="1108" r:id="rId16"/>
    <p:sldId id="1101" r:id="rId17"/>
    <p:sldId id="1102" r:id="rId18"/>
    <p:sldId id="1109" r:id="rId19"/>
    <p:sldId id="1110" r:id="rId20"/>
    <p:sldId id="1115" r:id="rId21"/>
    <p:sldId id="1117" r:id="rId22"/>
    <p:sldId id="1112" r:id="rId23"/>
    <p:sldId id="1118" r:id="rId24"/>
    <p:sldId id="1116" r:id="rId25"/>
    <p:sldId id="1113" r:id="rId26"/>
    <p:sldId id="1120" r:id="rId27"/>
    <p:sldId id="1119" r:id="rId28"/>
    <p:sldId id="1114" r:id="rId29"/>
    <p:sldId id="1121" r:id="rId30"/>
    <p:sldId id="1123" r:id="rId31"/>
    <p:sldId id="1124" r:id="rId32"/>
    <p:sldId id="1125" r:id="rId33"/>
    <p:sldId id="1127" r:id="rId34"/>
    <p:sldId id="1129" r:id="rId35"/>
    <p:sldId id="1126" r:id="rId36"/>
    <p:sldId id="1128" r:id="rId37"/>
    <p:sldId id="1130" r:id="rId38"/>
    <p:sldId id="1131" r:id="rId39"/>
    <p:sldId id="1132" r:id="rId40"/>
    <p:sldId id="1122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022"/>
    <a:srgbClr val="2460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59" autoAdjust="0"/>
    <p:restoredTop sz="98321" autoAdjust="0"/>
  </p:normalViewPr>
  <p:slideViewPr>
    <p:cSldViewPr snapToGrid="0">
      <p:cViewPr>
        <p:scale>
          <a:sx n="60" d="100"/>
          <a:sy n="60" d="100"/>
        </p:scale>
        <p:origin x="-1038" y="-192"/>
      </p:cViewPr>
      <p:guideLst>
        <p:guide orient="horz" pos="2160"/>
        <p:guide pos="384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78A8E7-B705-47F8-8676-D8A18A11E63F}" type="doc">
      <dgm:prSet loTypeId="urn:microsoft.com/office/officeart/2005/8/layout/chevron2" loCatId="process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n-US"/>
        </a:p>
      </dgm:t>
    </dgm:pt>
    <dgm:pt modelId="{870C2027-F839-434D-9D04-9A353B76812C}">
      <dgm:prSet phldrT="[Text]"/>
      <dgm:spPr/>
      <dgm:t>
        <a:bodyPr/>
        <a:lstStyle/>
        <a:p>
          <a:r>
            <a:rPr lang="en-US" dirty="0" smtClean="0"/>
            <a:t>1</a:t>
          </a:r>
          <a:endParaRPr lang="en-US" dirty="0"/>
        </a:p>
      </dgm:t>
    </dgm:pt>
    <dgm:pt modelId="{CFE280FD-0DE1-48FE-B259-77D197496BFB}" type="parTrans" cxnId="{69839C48-CE5F-4AC3-980E-8597095BA95F}">
      <dgm:prSet/>
      <dgm:spPr/>
      <dgm:t>
        <a:bodyPr/>
        <a:lstStyle/>
        <a:p>
          <a:endParaRPr lang="en-US"/>
        </a:p>
      </dgm:t>
    </dgm:pt>
    <dgm:pt modelId="{0B9931E7-E25A-437D-A2D3-479F458E6598}" type="sibTrans" cxnId="{69839C48-CE5F-4AC3-980E-8597095BA95F}">
      <dgm:prSet/>
      <dgm:spPr/>
      <dgm:t>
        <a:bodyPr/>
        <a:lstStyle/>
        <a:p>
          <a:endParaRPr lang="en-US"/>
        </a:p>
      </dgm:t>
    </dgm:pt>
    <dgm:pt modelId="{69E421D0-436E-4111-9ED0-5E4D226E0722}">
      <dgm:prSet phldrT="[Text]"/>
      <dgm:spPr/>
      <dgm:t>
        <a:bodyPr/>
        <a:lstStyle/>
        <a:p>
          <a:r>
            <a:rPr lang="en-US" b="1" dirty="0" smtClean="0"/>
            <a:t>Loading Data</a:t>
          </a:r>
          <a:endParaRPr lang="en-US" dirty="0"/>
        </a:p>
      </dgm:t>
    </dgm:pt>
    <dgm:pt modelId="{F6B5CD0F-76B7-4A6C-B762-E6D4C55CDE1B}" type="parTrans" cxnId="{486C6CD8-0DCF-48C3-A82F-391619699EC9}">
      <dgm:prSet/>
      <dgm:spPr/>
      <dgm:t>
        <a:bodyPr/>
        <a:lstStyle/>
        <a:p>
          <a:endParaRPr lang="en-US"/>
        </a:p>
      </dgm:t>
    </dgm:pt>
    <dgm:pt modelId="{F83B6F53-1CAE-4646-9C5A-6F2CB193174A}" type="sibTrans" cxnId="{486C6CD8-0DCF-48C3-A82F-391619699EC9}">
      <dgm:prSet/>
      <dgm:spPr/>
      <dgm:t>
        <a:bodyPr/>
        <a:lstStyle/>
        <a:p>
          <a:endParaRPr lang="en-US"/>
        </a:p>
      </dgm:t>
    </dgm:pt>
    <dgm:pt modelId="{2AA1205A-3D35-489B-9529-8C5796DAFA8D}">
      <dgm:prSet phldrT="[Text]"/>
      <dgm:spPr/>
      <dgm:t>
        <a:bodyPr/>
        <a:lstStyle/>
        <a:p>
          <a:r>
            <a:rPr lang="en-US" dirty="0" smtClean="0"/>
            <a:t>2</a:t>
          </a:r>
          <a:endParaRPr lang="en-US" dirty="0"/>
        </a:p>
      </dgm:t>
    </dgm:pt>
    <dgm:pt modelId="{FE73E92D-0FD9-4064-BEEC-D488E497BB16}" type="parTrans" cxnId="{5D4DBD8D-20D1-48CC-A137-BE141842255B}">
      <dgm:prSet/>
      <dgm:spPr/>
      <dgm:t>
        <a:bodyPr/>
        <a:lstStyle/>
        <a:p>
          <a:endParaRPr lang="en-US"/>
        </a:p>
      </dgm:t>
    </dgm:pt>
    <dgm:pt modelId="{07A1B280-096C-4CC7-BBD8-6A8DF02BCBEA}" type="sibTrans" cxnId="{5D4DBD8D-20D1-48CC-A137-BE141842255B}">
      <dgm:prSet/>
      <dgm:spPr/>
      <dgm:t>
        <a:bodyPr/>
        <a:lstStyle/>
        <a:p>
          <a:endParaRPr lang="en-US"/>
        </a:p>
      </dgm:t>
    </dgm:pt>
    <dgm:pt modelId="{6F7D5997-D953-483B-A118-F7B0FCB1CF5D}">
      <dgm:prSet phldrT="[Text]"/>
      <dgm:spPr/>
      <dgm:t>
        <a:bodyPr/>
        <a:lstStyle/>
        <a:p>
          <a:r>
            <a:rPr lang="en-US" b="1" dirty="0" smtClean="0"/>
            <a:t>Inspecting Data</a:t>
          </a:r>
          <a:endParaRPr lang="en-US" dirty="0"/>
        </a:p>
      </dgm:t>
    </dgm:pt>
    <dgm:pt modelId="{1C9059CE-25C5-4C1A-8735-412B8A4EAE18}" type="parTrans" cxnId="{7B3AFED7-5DF0-41D9-A2B6-BF90787A1928}">
      <dgm:prSet/>
      <dgm:spPr/>
      <dgm:t>
        <a:bodyPr/>
        <a:lstStyle/>
        <a:p>
          <a:endParaRPr lang="en-US"/>
        </a:p>
      </dgm:t>
    </dgm:pt>
    <dgm:pt modelId="{97BA49F7-6568-4668-8DBD-040304EC4C95}" type="sibTrans" cxnId="{7B3AFED7-5DF0-41D9-A2B6-BF90787A1928}">
      <dgm:prSet/>
      <dgm:spPr/>
      <dgm:t>
        <a:bodyPr/>
        <a:lstStyle/>
        <a:p>
          <a:endParaRPr lang="en-US"/>
        </a:p>
      </dgm:t>
    </dgm:pt>
    <dgm:pt modelId="{42F6BCAF-DD06-4D8C-AD7E-509AEBB7E1B1}">
      <dgm:prSet phldrT="[Text]"/>
      <dgm:spPr/>
      <dgm:t>
        <a:bodyPr/>
        <a:lstStyle/>
        <a:p>
          <a:r>
            <a:rPr lang="en-US" dirty="0" smtClean="0"/>
            <a:t>3</a:t>
          </a:r>
          <a:endParaRPr lang="en-US" dirty="0"/>
        </a:p>
      </dgm:t>
    </dgm:pt>
    <dgm:pt modelId="{F3622594-C944-4FD8-89DB-D92488080D0D}" type="parTrans" cxnId="{2DF3F458-0801-4C6A-B9B1-D135191EED9C}">
      <dgm:prSet/>
      <dgm:spPr/>
      <dgm:t>
        <a:bodyPr/>
        <a:lstStyle/>
        <a:p>
          <a:endParaRPr lang="en-US"/>
        </a:p>
      </dgm:t>
    </dgm:pt>
    <dgm:pt modelId="{72B12CC2-245A-4EEE-AC5B-FE37642F9761}" type="sibTrans" cxnId="{2DF3F458-0801-4C6A-B9B1-D135191EED9C}">
      <dgm:prSet/>
      <dgm:spPr/>
      <dgm:t>
        <a:bodyPr/>
        <a:lstStyle/>
        <a:p>
          <a:endParaRPr lang="en-US"/>
        </a:p>
      </dgm:t>
    </dgm:pt>
    <dgm:pt modelId="{B767AADA-13D0-4E93-B9E3-53E5C7CB22B5}">
      <dgm:prSet phldrT="[Text]"/>
      <dgm:spPr/>
      <dgm:t>
        <a:bodyPr/>
        <a:lstStyle/>
        <a:p>
          <a:r>
            <a:rPr lang="en-US" b="1" dirty="0" smtClean="0"/>
            <a:t>Data Cleaning</a:t>
          </a:r>
          <a:endParaRPr lang="en-US" dirty="0"/>
        </a:p>
      </dgm:t>
    </dgm:pt>
    <dgm:pt modelId="{A1F3B7D4-8264-4B9C-B8B3-F3868722385B}" type="parTrans" cxnId="{C2C6F651-BDC4-403A-B392-114B43CA13AF}">
      <dgm:prSet/>
      <dgm:spPr/>
      <dgm:t>
        <a:bodyPr/>
        <a:lstStyle/>
        <a:p>
          <a:endParaRPr lang="en-US"/>
        </a:p>
      </dgm:t>
    </dgm:pt>
    <dgm:pt modelId="{4459EEAE-E475-4B03-B839-3C90D673C842}" type="sibTrans" cxnId="{C2C6F651-BDC4-403A-B392-114B43CA13AF}">
      <dgm:prSet/>
      <dgm:spPr/>
      <dgm:t>
        <a:bodyPr/>
        <a:lstStyle/>
        <a:p>
          <a:endParaRPr lang="en-US"/>
        </a:p>
      </dgm:t>
    </dgm:pt>
    <dgm:pt modelId="{765AD62C-4EF5-441B-B63B-FD553FF1A54B}">
      <dgm:prSet phldrT="[Text]"/>
      <dgm:spPr/>
      <dgm:t>
        <a:bodyPr/>
        <a:lstStyle/>
        <a:p>
          <a:r>
            <a:rPr lang="en-US" dirty="0" smtClean="0"/>
            <a:t>4</a:t>
          </a:r>
          <a:endParaRPr lang="en-US" dirty="0"/>
        </a:p>
      </dgm:t>
    </dgm:pt>
    <dgm:pt modelId="{892A4250-588A-48AC-92CF-D9472D8ED28B}" type="parTrans" cxnId="{6ACB8DFC-BEE9-4E18-8B36-2739BD2086D1}">
      <dgm:prSet/>
      <dgm:spPr/>
      <dgm:t>
        <a:bodyPr/>
        <a:lstStyle/>
        <a:p>
          <a:endParaRPr lang="en-US"/>
        </a:p>
      </dgm:t>
    </dgm:pt>
    <dgm:pt modelId="{A4F76E50-C58E-4C8A-BF3C-55F7080585AB}" type="sibTrans" cxnId="{6ACB8DFC-BEE9-4E18-8B36-2739BD2086D1}">
      <dgm:prSet/>
      <dgm:spPr/>
      <dgm:t>
        <a:bodyPr/>
        <a:lstStyle/>
        <a:p>
          <a:endParaRPr lang="en-US"/>
        </a:p>
      </dgm:t>
    </dgm:pt>
    <dgm:pt modelId="{01F1E0A1-8018-4739-AC4A-BBF9BF382B36}">
      <dgm:prSet phldrT="[Text]"/>
      <dgm:spPr/>
      <dgm:t>
        <a:bodyPr/>
        <a:lstStyle/>
        <a:p>
          <a:r>
            <a:rPr lang="en-US" dirty="0" smtClean="0"/>
            <a:t>5</a:t>
          </a:r>
          <a:endParaRPr lang="en-US" dirty="0"/>
        </a:p>
      </dgm:t>
    </dgm:pt>
    <dgm:pt modelId="{F15919D7-FEF5-47A4-88A8-09E015ECE2EA}" type="parTrans" cxnId="{F0A5B4A0-FB31-454E-AD45-15DC2A68ABB7}">
      <dgm:prSet/>
      <dgm:spPr/>
      <dgm:t>
        <a:bodyPr/>
        <a:lstStyle/>
        <a:p>
          <a:endParaRPr lang="en-US"/>
        </a:p>
      </dgm:t>
    </dgm:pt>
    <dgm:pt modelId="{538238BF-E7FB-41DA-A948-7A8162015295}" type="sibTrans" cxnId="{F0A5B4A0-FB31-454E-AD45-15DC2A68ABB7}">
      <dgm:prSet/>
      <dgm:spPr/>
      <dgm:t>
        <a:bodyPr/>
        <a:lstStyle/>
        <a:p>
          <a:endParaRPr lang="en-US"/>
        </a:p>
      </dgm:t>
    </dgm:pt>
    <dgm:pt modelId="{D1B8C961-A901-401A-BE5E-B7515498AEC1}">
      <dgm:prSet phldrT="[Text]"/>
      <dgm:spPr/>
      <dgm:t>
        <a:bodyPr/>
        <a:lstStyle/>
        <a:p>
          <a:r>
            <a:rPr lang="en-US" dirty="0" smtClean="0"/>
            <a:t>6</a:t>
          </a:r>
          <a:endParaRPr lang="en-US" dirty="0"/>
        </a:p>
      </dgm:t>
    </dgm:pt>
    <dgm:pt modelId="{C53AE3BF-9C9B-4BF3-8290-777BC842F8EA}" type="parTrans" cxnId="{BE7767E2-494E-4A4F-AB0D-723CFCF236D7}">
      <dgm:prSet/>
      <dgm:spPr/>
      <dgm:t>
        <a:bodyPr/>
        <a:lstStyle/>
        <a:p>
          <a:endParaRPr lang="en-US"/>
        </a:p>
      </dgm:t>
    </dgm:pt>
    <dgm:pt modelId="{E8D6D1F8-B2DB-4070-9ECC-02B3A2B6433F}" type="sibTrans" cxnId="{BE7767E2-494E-4A4F-AB0D-723CFCF236D7}">
      <dgm:prSet/>
      <dgm:spPr/>
      <dgm:t>
        <a:bodyPr/>
        <a:lstStyle/>
        <a:p>
          <a:endParaRPr lang="en-US"/>
        </a:p>
      </dgm:t>
    </dgm:pt>
    <dgm:pt modelId="{E0A1847E-4C93-440D-8A46-0BF34BF24E54}">
      <dgm:prSet phldrT="[Text]"/>
      <dgm:spPr/>
      <dgm:t>
        <a:bodyPr/>
        <a:lstStyle/>
        <a:p>
          <a:r>
            <a:rPr lang="en-US" dirty="0" smtClean="0"/>
            <a:t>7</a:t>
          </a:r>
          <a:endParaRPr lang="en-US" dirty="0"/>
        </a:p>
      </dgm:t>
    </dgm:pt>
    <dgm:pt modelId="{76F4E4B7-7FD7-4FAA-A882-2D9B15619ED3}" type="parTrans" cxnId="{91EB9917-3578-4346-8B79-4920133CD5AF}">
      <dgm:prSet/>
      <dgm:spPr/>
      <dgm:t>
        <a:bodyPr/>
        <a:lstStyle/>
        <a:p>
          <a:endParaRPr lang="en-US"/>
        </a:p>
      </dgm:t>
    </dgm:pt>
    <dgm:pt modelId="{6D4ABCFC-88B5-4ABF-B733-915B987779B4}" type="sibTrans" cxnId="{91EB9917-3578-4346-8B79-4920133CD5AF}">
      <dgm:prSet/>
      <dgm:spPr/>
      <dgm:t>
        <a:bodyPr/>
        <a:lstStyle/>
        <a:p>
          <a:endParaRPr lang="en-US"/>
        </a:p>
      </dgm:t>
    </dgm:pt>
    <dgm:pt modelId="{8C9382F7-273D-405A-AF39-C8A35E22B6E6}">
      <dgm:prSet phldrT="[Text]"/>
      <dgm:spPr/>
      <dgm:t>
        <a:bodyPr/>
        <a:lstStyle/>
        <a:p>
          <a:r>
            <a:rPr lang="en-US" dirty="0" smtClean="0"/>
            <a:t>8</a:t>
          </a:r>
          <a:endParaRPr lang="en-US" dirty="0"/>
        </a:p>
      </dgm:t>
    </dgm:pt>
    <dgm:pt modelId="{1B98E706-8E05-47E9-9E55-9BD67BC572F5}" type="parTrans" cxnId="{6EA17AE1-84C7-4BC3-8CD5-220E9A88C153}">
      <dgm:prSet/>
      <dgm:spPr/>
      <dgm:t>
        <a:bodyPr/>
        <a:lstStyle/>
        <a:p>
          <a:endParaRPr lang="en-US"/>
        </a:p>
      </dgm:t>
    </dgm:pt>
    <dgm:pt modelId="{E352D8E1-C990-4F93-9853-1BED8F255879}" type="sibTrans" cxnId="{6EA17AE1-84C7-4BC3-8CD5-220E9A88C153}">
      <dgm:prSet/>
      <dgm:spPr/>
      <dgm:t>
        <a:bodyPr/>
        <a:lstStyle/>
        <a:p>
          <a:endParaRPr lang="en-US"/>
        </a:p>
      </dgm:t>
    </dgm:pt>
    <dgm:pt modelId="{8F1FCCC6-993E-4D15-8861-547B72869966}">
      <dgm:prSet phldrT="[Text]"/>
      <dgm:spPr/>
      <dgm:t>
        <a:bodyPr/>
        <a:lstStyle/>
        <a:p>
          <a:r>
            <a:rPr lang="en-US" dirty="0" smtClean="0"/>
            <a:t>9</a:t>
          </a:r>
          <a:endParaRPr lang="en-US" dirty="0"/>
        </a:p>
      </dgm:t>
    </dgm:pt>
    <dgm:pt modelId="{77018E06-8558-4B2F-82AA-BEE1A1951E58}" type="parTrans" cxnId="{E3B90C3C-B6C7-4EF2-851C-90027B173650}">
      <dgm:prSet/>
      <dgm:spPr/>
      <dgm:t>
        <a:bodyPr/>
        <a:lstStyle/>
        <a:p>
          <a:endParaRPr lang="en-US"/>
        </a:p>
      </dgm:t>
    </dgm:pt>
    <dgm:pt modelId="{A8D891D9-C805-4D6A-AFDE-5F1AE2C69F65}" type="sibTrans" cxnId="{E3B90C3C-B6C7-4EF2-851C-90027B173650}">
      <dgm:prSet/>
      <dgm:spPr/>
      <dgm:t>
        <a:bodyPr/>
        <a:lstStyle/>
        <a:p>
          <a:endParaRPr lang="en-US"/>
        </a:p>
      </dgm:t>
    </dgm:pt>
    <dgm:pt modelId="{A0E54741-0011-4FB7-8FB8-988788E57771}">
      <dgm:prSet/>
      <dgm:spPr/>
      <dgm:t>
        <a:bodyPr/>
        <a:lstStyle/>
        <a:p>
          <a:r>
            <a:rPr lang="en-US" b="1" dirty="0" smtClean="0"/>
            <a:t>Data Transformation</a:t>
          </a:r>
          <a:endParaRPr lang="en-US" dirty="0"/>
        </a:p>
      </dgm:t>
    </dgm:pt>
    <dgm:pt modelId="{F12833F1-331E-4CBB-99FB-BFE5CF169C1E}" type="parTrans" cxnId="{42CD3490-ED39-4CE9-8B99-B851BE07BED9}">
      <dgm:prSet/>
      <dgm:spPr/>
      <dgm:t>
        <a:bodyPr/>
        <a:lstStyle/>
        <a:p>
          <a:endParaRPr lang="en-US"/>
        </a:p>
      </dgm:t>
    </dgm:pt>
    <dgm:pt modelId="{F74A9F70-E7BE-4722-956D-37ED6416E000}" type="sibTrans" cxnId="{42CD3490-ED39-4CE9-8B99-B851BE07BED9}">
      <dgm:prSet/>
      <dgm:spPr/>
      <dgm:t>
        <a:bodyPr/>
        <a:lstStyle/>
        <a:p>
          <a:endParaRPr lang="en-US"/>
        </a:p>
      </dgm:t>
    </dgm:pt>
    <dgm:pt modelId="{2B7F4CBA-3B6B-4850-BA58-F95FA957F549}">
      <dgm:prSet/>
      <dgm:spPr/>
      <dgm:t>
        <a:bodyPr/>
        <a:lstStyle/>
        <a:p>
          <a:r>
            <a:rPr lang="en-US" b="1" dirty="0" smtClean="0"/>
            <a:t>Aggregation and Grouping</a:t>
          </a:r>
          <a:endParaRPr lang="en-US" dirty="0"/>
        </a:p>
      </dgm:t>
    </dgm:pt>
    <dgm:pt modelId="{33275DC5-F782-45ED-8CB2-96944A955B70}" type="parTrans" cxnId="{6B1E4272-AE1F-41E9-A4CE-C0FC85E09531}">
      <dgm:prSet/>
      <dgm:spPr/>
      <dgm:t>
        <a:bodyPr/>
        <a:lstStyle/>
        <a:p>
          <a:endParaRPr lang="en-US"/>
        </a:p>
      </dgm:t>
    </dgm:pt>
    <dgm:pt modelId="{89011507-82A5-4D90-B222-864B54D8A771}" type="sibTrans" cxnId="{6B1E4272-AE1F-41E9-A4CE-C0FC85E09531}">
      <dgm:prSet/>
      <dgm:spPr/>
      <dgm:t>
        <a:bodyPr/>
        <a:lstStyle/>
        <a:p>
          <a:endParaRPr lang="en-US"/>
        </a:p>
      </dgm:t>
    </dgm:pt>
    <dgm:pt modelId="{E7B22805-AD17-4A09-9516-FEBCDBC8BFF0}">
      <dgm:prSet/>
      <dgm:spPr/>
      <dgm:t>
        <a:bodyPr/>
        <a:lstStyle/>
        <a:p>
          <a:r>
            <a:rPr lang="en-US" b="1" dirty="0" smtClean="0"/>
            <a:t>Merging Data</a:t>
          </a:r>
          <a:endParaRPr lang="en-US" dirty="0"/>
        </a:p>
      </dgm:t>
    </dgm:pt>
    <dgm:pt modelId="{316791C9-D043-4366-A3B0-63FC2B4D851B}" type="parTrans" cxnId="{6A38D3D5-1D9D-4428-847A-1946FFDFDA7E}">
      <dgm:prSet/>
      <dgm:spPr/>
      <dgm:t>
        <a:bodyPr/>
        <a:lstStyle/>
        <a:p>
          <a:endParaRPr lang="en-US"/>
        </a:p>
      </dgm:t>
    </dgm:pt>
    <dgm:pt modelId="{C1BFAD60-3D55-45DE-AF5B-F269A72BD9AB}" type="sibTrans" cxnId="{6A38D3D5-1D9D-4428-847A-1946FFDFDA7E}">
      <dgm:prSet/>
      <dgm:spPr/>
      <dgm:t>
        <a:bodyPr/>
        <a:lstStyle/>
        <a:p>
          <a:endParaRPr lang="en-US"/>
        </a:p>
      </dgm:t>
    </dgm:pt>
    <dgm:pt modelId="{AE438AF5-32AA-4002-BCDD-16AAFABCAE7C}">
      <dgm:prSet/>
      <dgm:spPr/>
      <dgm:t>
        <a:bodyPr/>
        <a:lstStyle/>
        <a:p>
          <a:r>
            <a:rPr lang="en-US" b="1" dirty="0" smtClean="0"/>
            <a:t>Reshaping Data</a:t>
          </a:r>
          <a:endParaRPr lang="en-US" dirty="0"/>
        </a:p>
      </dgm:t>
    </dgm:pt>
    <dgm:pt modelId="{1F1F7E4D-F8D2-4C52-88B2-5FF0A35D83E2}" type="parTrans" cxnId="{09C3AE43-637D-4634-B678-9500B9636DAF}">
      <dgm:prSet/>
      <dgm:spPr/>
      <dgm:t>
        <a:bodyPr/>
        <a:lstStyle/>
        <a:p>
          <a:endParaRPr lang="en-US"/>
        </a:p>
      </dgm:t>
    </dgm:pt>
    <dgm:pt modelId="{6FD729AD-771E-47FA-B95D-B6BFFECC9378}" type="sibTrans" cxnId="{09C3AE43-637D-4634-B678-9500B9636DAF}">
      <dgm:prSet/>
      <dgm:spPr/>
      <dgm:t>
        <a:bodyPr/>
        <a:lstStyle/>
        <a:p>
          <a:endParaRPr lang="en-US"/>
        </a:p>
      </dgm:t>
    </dgm:pt>
    <dgm:pt modelId="{BBE24896-DBC3-4B34-A76E-BDCF50AEF535}">
      <dgm:prSet/>
      <dgm:spPr/>
      <dgm:t>
        <a:bodyPr/>
        <a:lstStyle/>
        <a:p>
          <a:r>
            <a:rPr lang="en-US" b="1" dirty="0" smtClean="0"/>
            <a:t>Exporting Data</a:t>
          </a:r>
          <a:endParaRPr lang="en-US" dirty="0"/>
        </a:p>
      </dgm:t>
    </dgm:pt>
    <dgm:pt modelId="{DEFBB9D1-126B-4245-B112-EC222E360601}" type="parTrans" cxnId="{B5CB6903-B188-4C16-AA5B-9D96F6324C37}">
      <dgm:prSet/>
      <dgm:spPr/>
      <dgm:t>
        <a:bodyPr/>
        <a:lstStyle/>
        <a:p>
          <a:endParaRPr lang="en-US"/>
        </a:p>
      </dgm:t>
    </dgm:pt>
    <dgm:pt modelId="{EB53054F-55D2-46E4-8770-7AF90438A543}" type="sibTrans" cxnId="{B5CB6903-B188-4C16-AA5B-9D96F6324C37}">
      <dgm:prSet/>
      <dgm:spPr/>
      <dgm:t>
        <a:bodyPr/>
        <a:lstStyle/>
        <a:p>
          <a:endParaRPr lang="en-US"/>
        </a:p>
      </dgm:t>
    </dgm:pt>
    <dgm:pt modelId="{ABA67E04-5024-4AA6-8B65-FE20F8B25EE4}">
      <dgm:prSet/>
      <dgm:spPr/>
      <dgm:t>
        <a:bodyPr/>
        <a:lstStyle/>
        <a:p>
          <a:r>
            <a:rPr lang="en-US" b="1" dirty="0" smtClean="0"/>
            <a:t>Data Filtering and Selection</a:t>
          </a:r>
          <a:endParaRPr lang="en-US" dirty="0"/>
        </a:p>
      </dgm:t>
    </dgm:pt>
    <dgm:pt modelId="{C88B187F-86E4-421F-B1FD-8999E32A8119}" type="parTrans" cxnId="{D9B9B51E-4C6B-4F4D-9DA9-D2FF55CFEF72}">
      <dgm:prSet/>
      <dgm:spPr/>
      <dgm:t>
        <a:bodyPr/>
        <a:lstStyle/>
        <a:p>
          <a:endParaRPr lang="en-US"/>
        </a:p>
      </dgm:t>
    </dgm:pt>
    <dgm:pt modelId="{AB1F09EF-C0A2-4CDE-A1A8-24B4D054E178}" type="sibTrans" cxnId="{D9B9B51E-4C6B-4F4D-9DA9-D2FF55CFEF72}">
      <dgm:prSet/>
      <dgm:spPr/>
      <dgm:t>
        <a:bodyPr/>
        <a:lstStyle/>
        <a:p>
          <a:endParaRPr lang="en-US"/>
        </a:p>
      </dgm:t>
    </dgm:pt>
    <dgm:pt modelId="{EC025252-052F-492C-83A7-BFE9CDD40EF6}" type="pres">
      <dgm:prSet presAssocID="{CE78A8E7-B705-47F8-8676-D8A18A11E63F}" presName="linearFlow" presStyleCnt="0">
        <dgm:presLayoutVars>
          <dgm:dir/>
          <dgm:animLvl val="lvl"/>
          <dgm:resizeHandles val="exact"/>
        </dgm:presLayoutVars>
      </dgm:prSet>
      <dgm:spPr/>
    </dgm:pt>
    <dgm:pt modelId="{83925C94-8E1D-4248-9FE2-9E80E7361B70}" type="pres">
      <dgm:prSet presAssocID="{870C2027-F839-434D-9D04-9A353B76812C}" presName="composite" presStyleCnt="0"/>
      <dgm:spPr/>
    </dgm:pt>
    <dgm:pt modelId="{9A317988-42B9-42A1-99D4-A5E571563499}" type="pres">
      <dgm:prSet presAssocID="{870C2027-F839-434D-9D04-9A353B76812C}" presName="parentText" presStyleLbl="alignNode1" presStyleIdx="0" presStyleCnt="9">
        <dgm:presLayoutVars>
          <dgm:chMax val="1"/>
          <dgm:bulletEnabled val="1"/>
        </dgm:presLayoutVars>
      </dgm:prSet>
      <dgm:spPr/>
    </dgm:pt>
    <dgm:pt modelId="{C5487E0A-78D8-4916-AD43-2753935D33F6}" type="pres">
      <dgm:prSet presAssocID="{870C2027-F839-434D-9D04-9A353B76812C}" presName="descendantText" presStyleLbl="alignAcc1" presStyleIdx="0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8E8F31-A3C5-4CC7-8E62-7A0715EAFB50}" type="pres">
      <dgm:prSet presAssocID="{0B9931E7-E25A-437D-A2D3-479F458E6598}" presName="sp" presStyleCnt="0"/>
      <dgm:spPr/>
    </dgm:pt>
    <dgm:pt modelId="{8D4DB60A-4B51-4471-A4B3-42533D73AE29}" type="pres">
      <dgm:prSet presAssocID="{2AA1205A-3D35-489B-9529-8C5796DAFA8D}" presName="composite" presStyleCnt="0"/>
      <dgm:spPr/>
    </dgm:pt>
    <dgm:pt modelId="{7141C705-B1AC-49AE-8A93-B06E201CFDD1}" type="pres">
      <dgm:prSet presAssocID="{2AA1205A-3D35-489B-9529-8C5796DAFA8D}" presName="parentText" presStyleLbl="alignNode1" presStyleIdx="1" presStyleCnt="9">
        <dgm:presLayoutVars>
          <dgm:chMax val="1"/>
          <dgm:bulletEnabled val="1"/>
        </dgm:presLayoutVars>
      </dgm:prSet>
      <dgm:spPr/>
    </dgm:pt>
    <dgm:pt modelId="{6224248F-1E06-4A44-A529-6AE1ED0AF64A}" type="pres">
      <dgm:prSet presAssocID="{2AA1205A-3D35-489B-9529-8C5796DAFA8D}" presName="descendantText" presStyleLbl="alignAcc1" presStyleIdx="1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3CEBDF-FD3E-4612-B6E8-E338E54ACBAC}" type="pres">
      <dgm:prSet presAssocID="{07A1B280-096C-4CC7-BBD8-6A8DF02BCBEA}" presName="sp" presStyleCnt="0"/>
      <dgm:spPr/>
    </dgm:pt>
    <dgm:pt modelId="{211C03BE-4848-4514-B06E-9F15380DC48C}" type="pres">
      <dgm:prSet presAssocID="{42F6BCAF-DD06-4D8C-AD7E-509AEBB7E1B1}" presName="composite" presStyleCnt="0"/>
      <dgm:spPr/>
    </dgm:pt>
    <dgm:pt modelId="{DFF03F07-E643-4F54-9FC9-71AE621C9798}" type="pres">
      <dgm:prSet presAssocID="{42F6BCAF-DD06-4D8C-AD7E-509AEBB7E1B1}" presName="parentText" presStyleLbl="alignNode1" presStyleIdx="2" presStyleCnt="9">
        <dgm:presLayoutVars>
          <dgm:chMax val="1"/>
          <dgm:bulletEnabled val="1"/>
        </dgm:presLayoutVars>
      </dgm:prSet>
      <dgm:spPr/>
    </dgm:pt>
    <dgm:pt modelId="{C557D613-88E4-4560-ACA7-3BD49D65EAFE}" type="pres">
      <dgm:prSet presAssocID="{42F6BCAF-DD06-4D8C-AD7E-509AEBB7E1B1}" presName="descendantText" presStyleLbl="alignAcc1" presStyleIdx="2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7207C0-6997-42A7-BCDF-F15AB2BF966D}" type="pres">
      <dgm:prSet presAssocID="{72B12CC2-245A-4EEE-AC5B-FE37642F9761}" presName="sp" presStyleCnt="0"/>
      <dgm:spPr/>
    </dgm:pt>
    <dgm:pt modelId="{E9647229-0D87-49FA-A4F6-5608A6D4D115}" type="pres">
      <dgm:prSet presAssocID="{765AD62C-4EF5-441B-B63B-FD553FF1A54B}" presName="composite" presStyleCnt="0"/>
      <dgm:spPr/>
    </dgm:pt>
    <dgm:pt modelId="{DC867959-4E4E-4EED-AC79-6FB02E99491F}" type="pres">
      <dgm:prSet presAssocID="{765AD62C-4EF5-441B-B63B-FD553FF1A54B}" presName="parentText" presStyleLbl="alignNode1" presStyleIdx="3" presStyleCnt="9">
        <dgm:presLayoutVars>
          <dgm:chMax val="1"/>
          <dgm:bulletEnabled val="1"/>
        </dgm:presLayoutVars>
      </dgm:prSet>
      <dgm:spPr/>
    </dgm:pt>
    <dgm:pt modelId="{F075C17F-7D34-4B85-93F2-3B99F006616F}" type="pres">
      <dgm:prSet presAssocID="{765AD62C-4EF5-441B-B63B-FD553FF1A54B}" presName="descendantText" presStyleLbl="alignAcc1" presStyleIdx="3" presStyleCnt="9" custLinFactY="42199" custLinFactNeighborX="0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CDF7E0-EEBC-4DCB-BFA3-99DC6B4E5299}" type="pres">
      <dgm:prSet presAssocID="{A4F76E50-C58E-4C8A-BF3C-55F7080585AB}" presName="sp" presStyleCnt="0"/>
      <dgm:spPr/>
    </dgm:pt>
    <dgm:pt modelId="{7B30B986-AF6E-4231-ADFC-4389AB6AD064}" type="pres">
      <dgm:prSet presAssocID="{01F1E0A1-8018-4739-AC4A-BBF9BF382B36}" presName="composite" presStyleCnt="0"/>
      <dgm:spPr/>
    </dgm:pt>
    <dgm:pt modelId="{8B29E212-CE74-488E-882A-A1CFCE32EE75}" type="pres">
      <dgm:prSet presAssocID="{01F1E0A1-8018-4739-AC4A-BBF9BF382B36}" presName="parentText" presStyleLbl="alignNode1" presStyleIdx="4" presStyleCnt="9">
        <dgm:presLayoutVars>
          <dgm:chMax val="1"/>
          <dgm:bulletEnabled val="1"/>
        </dgm:presLayoutVars>
      </dgm:prSet>
      <dgm:spPr/>
    </dgm:pt>
    <dgm:pt modelId="{5047E357-3179-4A22-9165-1D5966779125}" type="pres">
      <dgm:prSet presAssocID="{01F1E0A1-8018-4739-AC4A-BBF9BF382B36}" presName="descendantText" presStyleLbl="alignAcc1" presStyleIdx="4" presStyleCnt="9" custLinFactY="33107" custLinFactNeighborX="798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C7026A-63DA-4F8E-AC40-3D152F0CCF6A}" type="pres">
      <dgm:prSet presAssocID="{538238BF-E7FB-41DA-A948-7A8162015295}" presName="sp" presStyleCnt="0"/>
      <dgm:spPr/>
    </dgm:pt>
    <dgm:pt modelId="{8D045FA5-C30A-4E49-A969-DC534865DDB0}" type="pres">
      <dgm:prSet presAssocID="{D1B8C961-A901-401A-BE5E-B7515498AEC1}" presName="composite" presStyleCnt="0"/>
      <dgm:spPr/>
    </dgm:pt>
    <dgm:pt modelId="{A7A3482B-5423-4031-A323-8641A960C651}" type="pres">
      <dgm:prSet presAssocID="{D1B8C961-A901-401A-BE5E-B7515498AEC1}" presName="parentText" presStyleLbl="alignNode1" presStyleIdx="5" presStyleCnt="9">
        <dgm:presLayoutVars>
          <dgm:chMax val="1"/>
          <dgm:bulletEnabled val="1"/>
        </dgm:presLayoutVars>
      </dgm:prSet>
      <dgm:spPr/>
    </dgm:pt>
    <dgm:pt modelId="{A97FA612-0A8C-480F-AC3C-CE8E4F96B974}" type="pres">
      <dgm:prSet presAssocID="{D1B8C961-A901-401A-BE5E-B7515498AEC1}" presName="descendantText" presStyleLbl="alignAcc1" presStyleIdx="5" presStyleCnt="9" custLinFactY="42198" custLinFactNeighborX="0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72610A-B02D-4B50-B0AC-3EFB7EA5FCD6}" type="pres">
      <dgm:prSet presAssocID="{E8D6D1F8-B2DB-4070-9ECC-02B3A2B6433F}" presName="sp" presStyleCnt="0"/>
      <dgm:spPr/>
    </dgm:pt>
    <dgm:pt modelId="{FF0DFE41-DAE9-4D5A-BF1B-A8B8B0005CBE}" type="pres">
      <dgm:prSet presAssocID="{E0A1847E-4C93-440D-8A46-0BF34BF24E54}" presName="composite" presStyleCnt="0"/>
      <dgm:spPr/>
    </dgm:pt>
    <dgm:pt modelId="{2AD44107-C06F-4E22-B1F9-F8FC38B94086}" type="pres">
      <dgm:prSet presAssocID="{E0A1847E-4C93-440D-8A46-0BF34BF24E54}" presName="parentText" presStyleLbl="alignNode1" presStyleIdx="6" presStyleCnt="9">
        <dgm:presLayoutVars>
          <dgm:chMax val="1"/>
          <dgm:bulletEnabled val="1"/>
        </dgm:presLayoutVars>
      </dgm:prSet>
      <dgm:spPr/>
    </dgm:pt>
    <dgm:pt modelId="{24AD0516-FD1E-44F5-92AD-FA4F8E5FDBC0}" type="pres">
      <dgm:prSet presAssocID="{E0A1847E-4C93-440D-8A46-0BF34BF24E54}" presName="descendantText" presStyleLbl="alignAcc1" presStyleIdx="6" presStyleCnt="9" custLinFactY="34512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8B65F6F-4C22-4842-80C4-1598A5466F20}" type="pres">
      <dgm:prSet presAssocID="{6D4ABCFC-88B5-4ABF-B733-915B987779B4}" presName="sp" presStyleCnt="0"/>
      <dgm:spPr/>
    </dgm:pt>
    <dgm:pt modelId="{CB860689-86F1-405D-B754-79854BF25E3E}" type="pres">
      <dgm:prSet presAssocID="{8C9382F7-273D-405A-AF39-C8A35E22B6E6}" presName="composite" presStyleCnt="0"/>
      <dgm:spPr/>
    </dgm:pt>
    <dgm:pt modelId="{90837FDC-CCFD-4086-9191-5F4E3B233F04}" type="pres">
      <dgm:prSet presAssocID="{8C9382F7-273D-405A-AF39-C8A35E22B6E6}" presName="parentText" presStyleLbl="alignNode1" presStyleIdx="7" presStyleCnt="9">
        <dgm:presLayoutVars>
          <dgm:chMax val="1"/>
          <dgm:bulletEnabled val="1"/>
        </dgm:presLayoutVars>
      </dgm:prSet>
      <dgm:spPr/>
    </dgm:pt>
    <dgm:pt modelId="{F52BACC5-9C37-4076-B8AE-316840495FFD}" type="pres">
      <dgm:prSet presAssocID="{8C9382F7-273D-405A-AF39-C8A35E22B6E6}" presName="descendantText" presStyleLbl="alignAcc1" presStyleIdx="7" presStyleCnt="9" custLinFactY="34512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49ADD9-66BF-4DE6-AFAA-45CBE47D46A1}" type="pres">
      <dgm:prSet presAssocID="{E352D8E1-C990-4F93-9853-1BED8F255879}" presName="sp" presStyleCnt="0"/>
      <dgm:spPr/>
    </dgm:pt>
    <dgm:pt modelId="{ED0FA987-11BD-4453-9072-E575946A2FA7}" type="pres">
      <dgm:prSet presAssocID="{8F1FCCC6-993E-4D15-8861-547B72869966}" presName="composite" presStyleCnt="0"/>
      <dgm:spPr/>
    </dgm:pt>
    <dgm:pt modelId="{B3DF706E-A711-4C4E-BAA8-2AA1C6DF7BE1}" type="pres">
      <dgm:prSet presAssocID="{8F1FCCC6-993E-4D15-8861-547B72869966}" presName="parentText" presStyleLbl="alignNode1" presStyleIdx="8" presStyleCnt="9">
        <dgm:presLayoutVars>
          <dgm:chMax val="1"/>
          <dgm:bulletEnabled val="1"/>
        </dgm:presLayoutVars>
      </dgm:prSet>
      <dgm:spPr/>
    </dgm:pt>
    <dgm:pt modelId="{64D11360-71F2-4EBD-B509-6CF2851E19F5}" type="pres">
      <dgm:prSet presAssocID="{8F1FCCC6-993E-4D15-8861-547B72869966}" presName="descendantText" presStyleLbl="alignAcc1" presStyleIdx="8" presStyleCnt="9" custLinFactY="-300000" custLinFactNeighborX="0" custLinFactNeighborY="-37944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0A5B4A0-FB31-454E-AD45-15DC2A68ABB7}" srcId="{CE78A8E7-B705-47F8-8676-D8A18A11E63F}" destId="{01F1E0A1-8018-4739-AC4A-BBF9BF382B36}" srcOrd="4" destOrd="0" parTransId="{F15919D7-FEF5-47A4-88A8-09E015ECE2EA}" sibTransId="{538238BF-E7FB-41DA-A948-7A8162015295}"/>
    <dgm:cxn modelId="{F76C673E-C405-4303-BAFA-0D52CAD9DE84}" type="presOf" srcId="{CE78A8E7-B705-47F8-8676-D8A18A11E63F}" destId="{EC025252-052F-492C-83A7-BFE9CDD40EF6}" srcOrd="0" destOrd="0" presId="urn:microsoft.com/office/officeart/2005/8/layout/chevron2"/>
    <dgm:cxn modelId="{91EB9917-3578-4346-8B79-4920133CD5AF}" srcId="{CE78A8E7-B705-47F8-8676-D8A18A11E63F}" destId="{E0A1847E-4C93-440D-8A46-0BF34BF24E54}" srcOrd="6" destOrd="0" parTransId="{76F4E4B7-7FD7-4FAA-A882-2D9B15619ED3}" sibTransId="{6D4ABCFC-88B5-4ABF-B733-915B987779B4}"/>
    <dgm:cxn modelId="{44C5CBB9-4D88-43BB-8251-9DBC00797CE2}" type="presOf" srcId="{BBE24896-DBC3-4B34-A76E-BDCF50AEF535}" destId="{F52BACC5-9C37-4076-B8AE-316840495FFD}" srcOrd="0" destOrd="0" presId="urn:microsoft.com/office/officeart/2005/8/layout/chevron2"/>
    <dgm:cxn modelId="{086BA508-58DC-4BD1-8D43-A67946EFA1AB}" type="presOf" srcId="{AE438AF5-32AA-4002-BCDD-16AAFABCAE7C}" destId="{24AD0516-FD1E-44F5-92AD-FA4F8E5FDBC0}" srcOrd="0" destOrd="0" presId="urn:microsoft.com/office/officeart/2005/8/layout/chevron2"/>
    <dgm:cxn modelId="{6DF58F0F-0D5D-429E-930A-87C7F5A77AAD}" type="presOf" srcId="{6F7D5997-D953-483B-A118-F7B0FCB1CF5D}" destId="{6224248F-1E06-4A44-A529-6AE1ED0AF64A}" srcOrd="0" destOrd="0" presId="urn:microsoft.com/office/officeart/2005/8/layout/chevron2"/>
    <dgm:cxn modelId="{5D4DBD8D-20D1-48CC-A137-BE141842255B}" srcId="{CE78A8E7-B705-47F8-8676-D8A18A11E63F}" destId="{2AA1205A-3D35-489B-9529-8C5796DAFA8D}" srcOrd="1" destOrd="0" parTransId="{FE73E92D-0FD9-4064-BEEC-D488E497BB16}" sibTransId="{07A1B280-096C-4CC7-BBD8-6A8DF02BCBEA}"/>
    <dgm:cxn modelId="{2DF3F458-0801-4C6A-B9B1-D135191EED9C}" srcId="{CE78A8E7-B705-47F8-8676-D8A18A11E63F}" destId="{42F6BCAF-DD06-4D8C-AD7E-509AEBB7E1B1}" srcOrd="2" destOrd="0" parTransId="{F3622594-C944-4FD8-89DB-D92488080D0D}" sibTransId="{72B12CC2-245A-4EEE-AC5B-FE37642F9761}"/>
    <dgm:cxn modelId="{9F29FE86-553F-4F60-8FFF-E0A15C0EE936}" type="presOf" srcId="{ABA67E04-5024-4AA6-8B65-FE20F8B25EE4}" destId="{64D11360-71F2-4EBD-B509-6CF2851E19F5}" srcOrd="0" destOrd="0" presId="urn:microsoft.com/office/officeart/2005/8/layout/chevron2"/>
    <dgm:cxn modelId="{BAD5E6D6-BCCF-45E7-A886-9420C77BA254}" type="presOf" srcId="{2AA1205A-3D35-489B-9529-8C5796DAFA8D}" destId="{7141C705-B1AC-49AE-8A93-B06E201CFDD1}" srcOrd="0" destOrd="0" presId="urn:microsoft.com/office/officeart/2005/8/layout/chevron2"/>
    <dgm:cxn modelId="{56890BDB-3651-4004-BC34-D9E5F862A847}" type="presOf" srcId="{42F6BCAF-DD06-4D8C-AD7E-509AEBB7E1B1}" destId="{DFF03F07-E643-4F54-9FC9-71AE621C9798}" srcOrd="0" destOrd="0" presId="urn:microsoft.com/office/officeart/2005/8/layout/chevron2"/>
    <dgm:cxn modelId="{C2C6F651-BDC4-403A-B392-114B43CA13AF}" srcId="{42F6BCAF-DD06-4D8C-AD7E-509AEBB7E1B1}" destId="{B767AADA-13D0-4E93-B9E3-53E5C7CB22B5}" srcOrd="0" destOrd="0" parTransId="{A1F3B7D4-8264-4B9C-B8B3-F3868722385B}" sibTransId="{4459EEAE-E475-4B03-B839-3C90D673C842}"/>
    <dgm:cxn modelId="{B5CB6903-B188-4C16-AA5B-9D96F6324C37}" srcId="{8C9382F7-273D-405A-AF39-C8A35E22B6E6}" destId="{BBE24896-DBC3-4B34-A76E-BDCF50AEF535}" srcOrd="0" destOrd="0" parTransId="{DEFBB9D1-126B-4245-B112-EC222E360601}" sibTransId="{EB53054F-55D2-46E4-8770-7AF90438A543}"/>
    <dgm:cxn modelId="{7566D9A4-6468-45DF-A3C7-748D38BE17BE}" type="presOf" srcId="{69E421D0-436E-4111-9ED0-5E4D226E0722}" destId="{C5487E0A-78D8-4916-AD43-2753935D33F6}" srcOrd="0" destOrd="0" presId="urn:microsoft.com/office/officeart/2005/8/layout/chevron2"/>
    <dgm:cxn modelId="{09C3AE43-637D-4634-B678-9500B9636DAF}" srcId="{E0A1847E-4C93-440D-8A46-0BF34BF24E54}" destId="{AE438AF5-32AA-4002-BCDD-16AAFABCAE7C}" srcOrd="0" destOrd="0" parTransId="{1F1F7E4D-F8D2-4C52-88B2-5FF0A35D83E2}" sibTransId="{6FD729AD-771E-47FA-B95D-B6BFFECC9378}"/>
    <dgm:cxn modelId="{E16C26A0-D4F5-4C9E-9566-47730FB38C24}" type="presOf" srcId="{870C2027-F839-434D-9D04-9A353B76812C}" destId="{9A317988-42B9-42A1-99D4-A5E571563499}" srcOrd="0" destOrd="0" presId="urn:microsoft.com/office/officeart/2005/8/layout/chevron2"/>
    <dgm:cxn modelId="{D9B9B51E-4C6B-4F4D-9DA9-D2FF55CFEF72}" srcId="{8F1FCCC6-993E-4D15-8861-547B72869966}" destId="{ABA67E04-5024-4AA6-8B65-FE20F8B25EE4}" srcOrd="0" destOrd="0" parTransId="{C88B187F-86E4-421F-B1FD-8999E32A8119}" sibTransId="{AB1F09EF-C0A2-4CDE-A1A8-24B4D054E178}"/>
    <dgm:cxn modelId="{A9DA7DD2-57E1-49CE-8E28-FF39A8D8DCC8}" type="presOf" srcId="{765AD62C-4EF5-441B-B63B-FD553FF1A54B}" destId="{DC867959-4E4E-4EED-AC79-6FB02E99491F}" srcOrd="0" destOrd="0" presId="urn:microsoft.com/office/officeart/2005/8/layout/chevron2"/>
    <dgm:cxn modelId="{6EA17AE1-84C7-4BC3-8CD5-220E9A88C153}" srcId="{CE78A8E7-B705-47F8-8676-D8A18A11E63F}" destId="{8C9382F7-273D-405A-AF39-C8A35E22B6E6}" srcOrd="7" destOrd="0" parTransId="{1B98E706-8E05-47E9-9E55-9BD67BC572F5}" sibTransId="{E352D8E1-C990-4F93-9853-1BED8F255879}"/>
    <dgm:cxn modelId="{7B3AFED7-5DF0-41D9-A2B6-BF90787A1928}" srcId="{2AA1205A-3D35-489B-9529-8C5796DAFA8D}" destId="{6F7D5997-D953-483B-A118-F7B0FCB1CF5D}" srcOrd="0" destOrd="0" parTransId="{1C9059CE-25C5-4C1A-8735-412B8A4EAE18}" sibTransId="{97BA49F7-6568-4668-8DBD-040304EC4C95}"/>
    <dgm:cxn modelId="{BF5EC3BA-4358-4B53-831D-26E68ED31DD2}" type="presOf" srcId="{2B7F4CBA-3B6B-4850-BA58-F95FA957F549}" destId="{5047E357-3179-4A22-9165-1D5966779125}" srcOrd="0" destOrd="0" presId="urn:microsoft.com/office/officeart/2005/8/layout/chevron2"/>
    <dgm:cxn modelId="{486C6CD8-0DCF-48C3-A82F-391619699EC9}" srcId="{870C2027-F839-434D-9D04-9A353B76812C}" destId="{69E421D0-436E-4111-9ED0-5E4D226E0722}" srcOrd="0" destOrd="0" parTransId="{F6B5CD0F-76B7-4A6C-B762-E6D4C55CDE1B}" sibTransId="{F83B6F53-1CAE-4646-9C5A-6F2CB193174A}"/>
    <dgm:cxn modelId="{BE7767E2-494E-4A4F-AB0D-723CFCF236D7}" srcId="{CE78A8E7-B705-47F8-8676-D8A18A11E63F}" destId="{D1B8C961-A901-401A-BE5E-B7515498AEC1}" srcOrd="5" destOrd="0" parTransId="{C53AE3BF-9C9B-4BF3-8290-777BC842F8EA}" sibTransId="{E8D6D1F8-B2DB-4070-9ECC-02B3A2B6433F}"/>
    <dgm:cxn modelId="{42CD3490-ED39-4CE9-8B99-B851BE07BED9}" srcId="{765AD62C-4EF5-441B-B63B-FD553FF1A54B}" destId="{A0E54741-0011-4FB7-8FB8-988788E57771}" srcOrd="0" destOrd="0" parTransId="{F12833F1-331E-4CBB-99FB-BFE5CF169C1E}" sibTransId="{F74A9F70-E7BE-4722-956D-37ED6416E000}"/>
    <dgm:cxn modelId="{E3B90C3C-B6C7-4EF2-851C-90027B173650}" srcId="{CE78A8E7-B705-47F8-8676-D8A18A11E63F}" destId="{8F1FCCC6-993E-4D15-8861-547B72869966}" srcOrd="8" destOrd="0" parTransId="{77018E06-8558-4B2F-82AA-BEE1A1951E58}" sibTransId="{A8D891D9-C805-4D6A-AFDE-5F1AE2C69F65}"/>
    <dgm:cxn modelId="{6B1E4272-AE1F-41E9-A4CE-C0FC85E09531}" srcId="{01F1E0A1-8018-4739-AC4A-BBF9BF382B36}" destId="{2B7F4CBA-3B6B-4850-BA58-F95FA957F549}" srcOrd="0" destOrd="0" parTransId="{33275DC5-F782-45ED-8CB2-96944A955B70}" sibTransId="{89011507-82A5-4D90-B222-864B54D8A771}"/>
    <dgm:cxn modelId="{0F15CE27-647A-4CCC-802A-448BB060751C}" type="presOf" srcId="{01F1E0A1-8018-4739-AC4A-BBF9BF382B36}" destId="{8B29E212-CE74-488E-882A-A1CFCE32EE75}" srcOrd="0" destOrd="0" presId="urn:microsoft.com/office/officeart/2005/8/layout/chevron2"/>
    <dgm:cxn modelId="{6A38D3D5-1D9D-4428-847A-1946FFDFDA7E}" srcId="{D1B8C961-A901-401A-BE5E-B7515498AEC1}" destId="{E7B22805-AD17-4A09-9516-FEBCDBC8BFF0}" srcOrd="0" destOrd="0" parTransId="{316791C9-D043-4366-A3B0-63FC2B4D851B}" sibTransId="{C1BFAD60-3D55-45DE-AF5B-F269A72BD9AB}"/>
    <dgm:cxn modelId="{562CBE8B-D394-45FD-B61B-1ED0237681FC}" type="presOf" srcId="{E0A1847E-4C93-440D-8A46-0BF34BF24E54}" destId="{2AD44107-C06F-4E22-B1F9-F8FC38B94086}" srcOrd="0" destOrd="0" presId="urn:microsoft.com/office/officeart/2005/8/layout/chevron2"/>
    <dgm:cxn modelId="{77ECD8ED-A8C2-44FF-89D2-14AC8DB4E3FB}" type="presOf" srcId="{8C9382F7-273D-405A-AF39-C8A35E22B6E6}" destId="{90837FDC-CCFD-4086-9191-5F4E3B233F04}" srcOrd="0" destOrd="0" presId="urn:microsoft.com/office/officeart/2005/8/layout/chevron2"/>
    <dgm:cxn modelId="{50FB791D-AAE8-40FC-84BB-1DB8F89E2EF3}" type="presOf" srcId="{E7B22805-AD17-4A09-9516-FEBCDBC8BFF0}" destId="{A97FA612-0A8C-480F-AC3C-CE8E4F96B974}" srcOrd="0" destOrd="0" presId="urn:microsoft.com/office/officeart/2005/8/layout/chevron2"/>
    <dgm:cxn modelId="{69839C48-CE5F-4AC3-980E-8597095BA95F}" srcId="{CE78A8E7-B705-47F8-8676-D8A18A11E63F}" destId="{870C2027-F839-434D-9D04-9A353B76812C}" srcOrd="0" destOrd="0" parTransId="{CFE280FD-0DE1-48FE-B259-77D197496BFB}" sibTransId="{0B9931E7-E25A-437D-A2D3-479F458E6598}"/>
    <dgm:cxn modelId="{F7A3071E-A208-4395-A95D-C400A3AC2127}" type="presOf" srcId="{A0E54741-0011-4FB7-8FB8-988788E57771}" destId="{F075C17F-7D34-4B85-93F2-3B99F006616F}" srcOrd="0" destOrd="0" presId="urn:microsoft.com/office/officeart/2005/8/layout/chevron2"/>
    <dgm:cxn modelId="{8D32B538-B1F2-4D42-8192-883EC0E7B444}" type="presOf" srcId="{8F1FCCC6-993E-4D15-8861-547B72869966}" destId="{B3DF706E-A711-4C4E-BAA8-2AA1C6DF7BE1}" srcOrd="0" destOrd="0" presId="urn:microsoft.com/office/officeart/2005/8/layout/chevron2"/>
    <dgm:cxn modelId="{6ACB8DFC-BEE9-4E18-8B36-2739BD2086D1}" srcId="{CE78A8E7-B705-47F8-8676-D8A18A11E63F}" destId="{765AD62C-4EF5-441B-B63B-FD553FF1A54B}" srcOrd="3" destOrd="0" parTransId="{892A4250-588A-48AC-92CF-D9472D8ED28B}" sibTransId="{A4F76E50-C58E-4C8A-BF3C-55F7080585AB}"/>
    <dgm:cxn modelId="{EB15C3A8-71FF-452A-B297-29E0F73D3409}" type="presOf" srcId="{D1B8C961-A901-401A-BE5E-B7515498AEC1}" destId="{A7A3482B-5423-4031-A323-8641A960C651}" srcOrd="0" destOrd="0" presId="urn:microsoft.com/office/officeart/2005/8/layout/chevron2"/>
    <dgm:cxn modelId="{33399FCC-7907-42AE-9FA6-3060EC65BCEF}" type="presOf" srcId="{B767AADA-13D0-4E93-B9E3-53E5C7CB22B5}" destId="{C557D613-88E4-4560-ACA7-3BD49D65EAFE}" srcOrd="0" destOrd="0" presId="urn:microsoft.com/office/officeart/2005/8/layout/chevron2"/>
    <dgm:cxn modelId="{1B3BC972-3049-44FC-9C28-3D6ACD0D20FB}" type="presParOf" srcId="{EC025252-052F-492C-83A7-BFE9CDD40EF6}" destId="{83925C94-8E1D-4248-9FE2-9E80E7361B70}" srcOrd="0" destOrd="0" presId="urn:microsoft.com/office/officeart/2005/8/layout/chevron2"/>
    <dgm:cxn modelId="{E495D277-B235-4CBF-917B-877BA98F830D}" type="presParOf" srcId="{83925C94-8E1D-4248-9FE2-9E80E7361B70}" destId="{9A317988-42B9-42A1-99D4-A5E571563499}" srcOrd="0" destOrd="0" presId="urn:microsoft.com/office/officeart/2005/8/layout/chevron2"/>
    <dgm:cxn modelId="{BD7CF7B1-9C30-4E76-9E47-B7633E714D91}" type="presParOf" srcId="{83925C94-8E1D-4248-9FE2-9E80E7361B70}" destId="{C5487E0A-78D8-4916-AD43-2753935D33F6}" srcOrd="1" destOrd="0" presId="urn:microsoft.com/office/officeart/2005/8/layout/chevron2"/>
    <dgm:cxn modelId="{57114183-719F-4BDB-80DF-E2971C35FB8E}" type="presParOf" srcId="{EC025252-052F-492C-83A7-BFE9CDD40EF6}" destId="{178E8F31-A3C5-4CC7-8E62-7A0715EAFB50}" srcOrd="1" destOrd="0" presId="urn:microsoft.com/office/officeart/2005/8/layout/chevron2"/>
    <dgm:cxn modelId="{337A148A-0DFF-495D-B83C-E819FAA312A6}" type="presParOf" srcId="{EC025252-052F-492C-83A7-BFE9CDD40EF6}" destId="{8D4DB60A-4B51-4471-A4B3-42533D73AE29}" srcOrd="2" destOrd="0" presId="urn:microsoft.com/office/officeart/2005/8/layout/chevron2"/>
    <dgm:cxn modelId="{4D25AF03-D1B8-4CC9-BE7E-E9608CC54A66}" type="presParOf" srcId="{8D4DB60A-4B51-4471-A4B3-42533D73AE29}" destId="{7141C705-B1AC-49AE-8A93-B06E201CFDD1}" srcOrd="0" destOrd="0" presId="urn:microsoft.com/office/officeart/2005/8/layout/chevron2"/>
    <dgm:cxn modelId="{1F912FD0-0D13-4A1A-9A7E-6B7B2FAE68DB}" type="presParOf" srcId="{8D4DB60A-4B51-4471-A4B3-42533D73AE29}" destId="{6224248F-1E06-4A44-A529-6AE1ED0AF64A}" srcOrd="1" destOrd="0" presId="urn:microsoft.com/office/officeart/2005/8/layout/chevron2"/>
    <dgm:cxn modelId="{51D14873-AC87-4032-9413-BFB1E8E36DAA}" type="presParOf" srcId="{EC025252-052F-492C-83A7-BFE9CDD40EF6}" destId="{A53CEBDF-FD3E-4612-B6E8-E338E54ACBAC}" srcOrd="3" destOrd="0" presId="urn:microsoft.com/office/officeart/2005/8/layout/chevron2"/>
    <dgm:cxn modelId="{71851A19-C7EC-4ACA-87A5-95055C99A28F}" type="presParOf" srcId="{EC025252-052F-492C-83A7-BFE9CDD40EF6}" destId="{211C03BE-4848-4514-B06E-9F15380DC48C}" srcOrd="4" destOrd="0" presId="urn:microsoft.com/office/officeart/2005/8/layout/chevron2"/>
    <dgm:cxn modelId="{4C4CFEF2-AEFF-4072-BF96-323C28F4838B}" type="presParOf" srcId="{211C03BE-4848-4514-B06E-9F15380DC48C}" destId="{DFF03F07-E643-4F54-9FC9-71AE621C9798}" srcOrd="0" destOrd="0" presId="urn:microsoft.com/office/officeart/2005/8/layout/chevron2"/>
    <dgm:cxn modelId="{911AAFF9-FE64-44DA-968F-23EEB378E909}" type="presParOf" srcId="{211C03BE-4848-4514-B06E-9F15380DC48C}" destId="{C557D613-88E4-4560-ACA7-3BD49D65EAFE}" srcOrd="1" destOrd="0" presId="urn:microsoft.com/office/officeart/2005/8/layout/chevron2"/>
    <dgm:cxn modelId="{AB19B710-3217-4FC3-B16B-8CB6AFC79690}" type="presParOf" srcId="{EC025252-052F-492C-83A7-BFE9CDD40EF6}" destId="{A57207C0-6997-42A7-BCDF-F15AB2BF966D}" srcOrd="5" destOrd="0" presId="urn:microsoft.com/office/officeart/2005/8/layout/chevron2"/>
    <dgm:cxn modelId="{DB3936F7-CFBC-40DF-8CDB-AAE154DC3A10}" type="presParOf" srcId="{EC025252-052F-492C-83A7-BFE9CDD40EF6}" destId="{E9647229-0D87-49FA-A4F6-5608A6D4D115}" srcOrd="6" destOrd="0" presId="urn:microsoft.com/office/officeart/2005/8/layout/chevron2"/>
    <dgm:cxn modelId="{F11B6315-8D49-489A-9BF3-04A212BEA93C}" type="presParOf" srcId="{E9647229-0D87-49FA-A4F6-5608A6D4D115}" destId="{DC867959-4E4E-4EED-AC79-6FB02E99491F}" srcOrd="0" destOrd="0" presId="urn:microsoft.com/office/officeart/2005/8/layout/chevron2"/>
    <dgm:cxn modelId="{9F533E76-5951-48B6-90CB-94C5F3F73DAA}" type="presParOf" srcId="{E9647229-0D87-49FA-A4F6-5608A6D4D115}" destId="{F075C17F-7D34-4B85-93F2-3B99F006616F}" srcOrd="1" destOrd="0" presId="urn:microsoft.com/office/officeart/2005/8/layout/chevron2"/>
    <dgm:cxn modelId="{7A55B0F6-FB17-40F5-9D24-1E22DE6FEAA0}" type="presParOf" srcId="{EC025252-052F-492C-83A7-BFE9CDD40EF6}" destId="{CACDF7E0-EEBC-4DCB-BFA3-99DC6B4E5299}" srcOrd="7" destOrd="0" presId="urn:microsoft.com/office/officeart/2005/8/layout/chevron2"/>
    <dgm:cxn modelId="{BF9FC7F1-25C2-47CA-ACFB-30E56100AFEE}" type="presParOf" srcId="{EC025252-052F-492C-83A7-BFE9CDD40EF6}" destId="{7B30B986-AF6E-4231-ADFC-4389AB6AD064}" srcOrd="8" destOrd="0" presId="urn:microsoft.com/office/officeart/2005/8/layout/chevron2"/>
    <dgm:cxn modelId="{87DAB324-70AF-44CF-B78E-F4E179107DC5}" type="presParOf" srcId="{7B30B986-AF6E-4231-ADFC-4389AB6AD064}" destId="{8B29E212-CE74-488E-882A-A1CFCE32EE75}" srcOrd="0" destOrd="0" presId="urn:microsoft.com/office/officeart/2005/8/layout/chevron2"/>
    <dgm:cxn modelId="{14D191FF-B126-4480-B7A3-A16BA43DE6B4}" type="presParOf" srcId="{7B30B986-AF6E-4231-ADFC-4389AB6AD064}" destId="{5047E357-3179-4A22-9165-1D5966779125}" srcOrd="1" destOrd="0" presId="urn:microsoft.com/office/officeart/2005/8/layout/chevron2"/>
    <dgm:cxn modelId="{67B853F2-CF11-4B7A-A274-17ADCE6DDC98}" type="presParOf" srcId="{EC025252-052F-492C-83A7-BFE9CDD40EF6}" destId="{39C7026A-63DA-4F8E-AC40-3D152F0CCF6A}" srcOrd="9" destOrd="0" presId="urn:microsoft.com/office/officeart/2005/8/layout/chevron2"/>
    <dgm:cxn modelId="{92ACDEC0-30AB-4AF4-A876-2A4BEB911DAE}" type="presParOf" srcId="{EC025252-052F-492C-83A7-BFE9CDD40EF6}" destId="{8D045FA5-C30A-4E49-A969-DC534865DDB0}" srcOrd="10" destOrd="0" presId="urn:microsoft.com/office/officeart/2005/8/layout/chevron2"/>
    <dgm:cxn modelId="{041F4473-B654-4032-94A5-03109BDF0DC0}" type="presParOf" srcId="{8D045FA5-C30A-4E49-A969-DC534865DDB0}" destId="{A7A3482B-5423-4031-A323-8641A960C651}" srcOrd="0" destOrd="0" presId="urn:microsoft.com/office/officeart/2005/8/layout/chevron2"/>
    <dgm:cxn modelId="{1F0A4CD1-431F-4A02-AD43-09910F6D8D13}" type="presParOf" srcId="{8D045FA5-C30A-4E49-A969-DC534865DDB0}" destId="{A97FA612-0A8C-480F-AC3C-CE8E4F96B974}" srcOrd="1" destOrd="0" presId="urn:microsoft.com/office/officeart/2005/8/layout/chevron2"/>
    <dgm:cxn modelId="{BA27413E-40A8-4EA5-8BDE-522319AD84E6}" type="presParOf" srcId="{EC025252-052F-492C-83A7-BFE9CDD40EF6}" destId="{0572610A-B02D-4B50-B0AC-3EFB7EA5FCD6}" srcOrd="11" destOrd="0" presId="urn:microsoft.com/office/officeart/2005/8/layout/chevron2"/>
    <dgm:cxn modelId="{75AF9BF0-4EE8-40CD-B335-D14099D9D31C}" type="presParOf" srcId="{EC025252-052F-492C-83A7-BFE9CDD40EF6}" destId="{FF0DFE41-DAE9-4D5A-BF1B-A8B8B0005CBE}" srcOrd="12" destOrd="0" presId="urn:microsoft.com/office/officeart/2005/8/layout/chevron2"/>
    <dgm:cxn modelId="{41CE8C1C-6060-4B25-AE7A-9F62596EB07F}" type="presParOf" srcId="{FF0DFE41-DAE9-4D5A-BF1B-A8B8B0005CBE}" destId="{2AD44107-C06F-4E22-B1F9-F8FC38B94086}" srcOrd="0" destOrd="0" presId="urn:microsoft.com/office/officeart/2005/8/layout/chevron2"/>
    <dgm:cxn modelId="{BEBB03D6-8AF7-4918-94E6-DEFE03D23E9D}" type="presParOf" srcId="{FF0DFE41-DAE9-4D5A-BF1B-A8B8B0005CBE}" destId="{24AD0516-FD1E-44F5-92AD-FA4F8E5FDBC0}" srcOrd="1" destOrd="0" presId="urn:microsoft.com/office/officeart/2005/8/layout/chevron2"/>
    <dgm:cxn modelId="{C72CEF0E-A0CB-4DD2-9E9D-CD98D90ECCAE}" type="presParOf" srcId="{EC025252-052F-492C-83A7-BFE9CDD40EF6}" destId="{C8B65F6F-4C22-4842-80C4-1598A5466F20}" srcOrd="13" destOrd="0" presId="urn:microsoft.com/office/officeart/2005/8/layout/chevron2"/>
    <dgm:cxn modelId="{6F33AAEA-F515-4B04-84DF-B9707627F01C}" type="presParOf" srcId="{EC025252-052F-492C-83A7-BFE9CDD40EF6}" destId="{CB860689-86F1-405D-B754-79854BF25E3E}" srcOrd="14" destOrd="0" presId="urn:microsoft.com/office/officeart/2005/8/layout/chevron2"/>
    <dgm:cxn modelId="{EF4359CE-6D66-4FC2-AEEB-294D3989F289}" type="presParOf" srcId="{CB860689-86F1-405D-B754-79854BF25E3E}" destId="{90837FDC-CCFD-4086-9191-5F4E3B233F04}" srcOrd="0" destOrd="0" presId="urn:microsoft.com/office/officeart/2005/8/layout/chevron2"/>
    <dgm:cxn modelId="{1C7464EC-1343-4228-BB24-5D344D0D034E}" type="presParOf" srcId="{CB860689-86F1-405D-B754-79854BF25E3E}" destId="{F52BACC5-9C37-4076-B8AE-316840495FFD}" srcOrd="1" destOrd="0" presId="urn:microsoft.com/office/officeart/2005/8/layout/chevron2"/>
    <dgm:cxn modelId="{C15439BB-D2E5-4AB8-B7CA-C61539F6936B}" type="presParOf" srcId="{EC025252-052F-492C-83A7-BFE9CDD40EF6}" destId="{FC49ADD9-66BF-4DE6-AFAA-45CBE47D46A1}" srcOrd="15" destOrd="0" presId="urn:microsoft.com/office/officeart/2005/8/layout/chevron2"/>
    <dgm:cxn modelId="{B631FFED-0D1A-4BF6-8038-9BAB8E586F3A}" type="presParOf" srcId="{EC025252-052F-492C-83A7-BFE9CDD40EF6}" destId="{ED0FA987-11BD-4453-9072-E575946A2FA7}" srcOrd="16" destOrd="0" presId="urn:microsoft.com/office/officeart/2005/8/layout/chevron2"/>
    <dgm:cxn modelId="{865519D6-EBC6-4D25-9FDB-8CEB4BD01CF4}" type="presParOf" srcId="{ED0FA987-11BD-4453-9072-E575946A2FA7}" destId="{B3DF706E-A711-4C4E-BAA8-2AA1C6DF7BE1}" srcOrd="0" destOrd="0" presId="urn:microsoft.com/office/officeart/2005/8/layout/chevron2"/>
    <dgm:cxn modelId="{A2C83FFE-24CE-4FA4-9941-FE74ECE76EAA}" type="presParOf" srcId="{ED0FA987-11BD-4453-9072-E575946A2FA7}" destId="{64D11360-71F2-4EBD-B509-6CF2851E19F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317988-42B9-42A1-99D4-A5E571563499}">
      <dsp:nvSpPr>
        <dsp:cNvPr id="0" name=""/>
        <dsp:cNvSpPr/>
      </dsp:nvSpPr>
      <dsp:spPr>
        <a:xfrm rot="5400000">
          <a:off x="-94666" y="96624"/>
          <a:ext cx="631107" cy="44177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1</a:t>
          </a:r>
          <a:endParaRPr lang="en-US" sz="1200" kern="1200" dirty="0"/>
        </a:p>
      </dsp:txBody>
      <dsp:txXfrm rot="-5400000">
        <a:off x="1" y="222846"/>
        <a:ext cx="441775" cy="189332"/>
      </dsp:txXfrm>
    </dsp:sp>
    <dsp:sp modelId="{C5487E0A-78D8-4916-AD43-2753935D33F6}">
      <dsp:nvSpPr>
        <dsp:cNvPr id="0" name=""/>
        <dsp:cNvSpPr/>
      </dsp:nvSpPr>
      <dsp:spPr>
        <a:xfrm rot="5400000">
          <a:off x="3618198" y="-3174464"/>
          <a:ext cx="410219" cy="6763066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1" kern="1200" dirty="0" smtClean="0"/>
            <a:t>Loading Data</a:t>
          </a:r>
          <a:endParaRPr lang="en-US" sz="2400" kern="1200" dirty="0"/>
        </a:p>
      </dsp:txBody>
      <dsp:txXfrm rot="-5400000">
        <a:off x="441775" y="21984"/>
        <a:ext cx="6743041" cy="370169"/>
      </dsp:txXfrm>
    </dsp:sp>
    <dsp:sp modelId="{7141C705-B1AC-49AE-8A93-B06E201CFDD1}">
      <dsp:nvSpPr>
        <dsp:cNvPr id="0" name=""/>
        <dsp:cNvSpPr/>
      </dsp:nvSpPr>
      <dsp:spPr>
        <a:xfrm rot="5400000">
          <a:off x="-94666" y="662210"/>
          <a:ext cx="631107" cy="44177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2</a:t>
          </a:r>
          <a:endParaRPr lang="en-US" sz="1200" kern="1200" dirty="0"/>
        </a:p>
      </dsp:txBody>
      <dsp:txXfrm rot="-5400000">
        <a:off x="1" y="788432"/>
        <a:ext cx="441775" cy="189332"/>
      </dsp:txXfrm>
    </dsp:sp>
    <dsp:sp modelId="{6224248F-1E06-4A44-A529-6AE1ED0AF64A}">
      <dsp:nvSpPr>
        <dsp:cNvPr id="0" name=""/>
        <dsp:cNvSpPr/>
      </dsp:nvSpPr>
      <dsp:spPr>
        <a:xfrm rot="5400000">
          <a:off x="3618198" y="-2608878"/>
          <a:ext cx="410219" cy="6763066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1" kern="1200" dirty="0" smtClean="0"/>
            <a:t>Inspecting Data</a:t>
          </a:r>
          <a:endParaRPr lang="en-US" sz="2400" kern="1200" dirty="0"/>
        </a:p>
      </dsp:txBody>
      <dsp:txXfrm rot="-5400000">
        <a:off x="441775" y="587570"/>
        <a:ext cx="6743041" cy="370169"/>
      </dsp:txXfrm>
    </dsp:sp>
    <dsp:sp modelId="{DFF03F07-E643-4F54-9FC9-71AE621C9798}">
      <dsp:nvSpPr>
        <dsp:cNvPr id="0" name=""/>
        <dsp:cNvSpPr/>
      </dsp:nvSpPr>
      <dsp:spPr>
        <a:xfrm rot="5400000">
          <a:off x="-94666" y="1227796"/>
          <a:ext cx="631107" cy="44177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3</a:t>
          </a:r>
          <a:endParaRPr lang="en-US" sz="1200" kern="1200" dirty="0"/>
        </a:p>
      </dsp:txBody>
      <dsp:txXfrm rot="-5400000">
        <a:off x="1" y="1354018"/>
        <a:ext cx="441775" cy="189332"/>
      </dsp:txXfrm>
    </dsp:sp>
    <dsp:sp modelId="{C557D613-88E4-4560-ACA7-3BD49D65EAFE}">
      <dsp:nvSpPr>
        <dsp:cNvPr id="0" name=""/>
        <dsp:cNvSpPr/>
      </dsp:nvSpPr>
      <dsp:spPr>
        <a:xfrm rot="5400000">
          <a:off x="3618198" y="-2043292"/>
          <a:ext cx="410219" cy="6763066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1" kern="1200" dirty="0" smtClean="0"/>
            <a:t>Data Cleaning</a:t>
          </a:r>
          <a:endParaRPr lang="en-US" sz="2400" kern="1200" dirty="0"/>
        </a:p>
      </dsp:txBody>
      <dsp:txXfrm rot="-5400000">
        <a:off x="441775" y="1153156"/>
        <a:ext cx="6743041" cy="370169"/>
      </dsp:txXfrm>
    </dsp:sp>
    <dsp:sp modelId="{DC867959-4E4E-4EED-AC79-6FB02E99491F}">
      <dsp:nvSpPr>
        <dsp:cNvPr id="0" name=""/>
        <dsp:cNvSpPr/>
      </dsp:nvSpPr>
      <dsp:spPr>
        <a:xfrm rot="5400000">
          <a:off x="-94666" y="1793382"/>
          <a:ext cx="631107" cy="44177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4</a:t>
          </a:r>
          <a:endParaRPr lang="en-US" sz="1200" kern="1200" dirty="0"/>
        </a:p>
      </dsp:txBody>
      <dsp:txXfrm rot="-5400000">
        <a:off x="1" y="1919604"/>
        <a:ext cx="441775" cy="189332"/>
      </dsp:txXfrm>
    </dsp:sp>
    <dsp:sp modelId="{F075C17F-7D34-4B85-93F2-3B99F006616F}">
      <dsp:nvSpPr>
        <dsp:cNvPr id="0" name=""/>
        <dsp:cNvSpPr/>
      </dsp:nvSpPr>
      <dsp:spPr>
        <a:xfrm rot="5400000">
          <a:off x="3618198" y="-894378"/>
          <a:ext cx="410219" cy="6763066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1" kern="1200" dirty="0" smtClean="0"/>
            <a:t>Data Transformation</a:t>
          </a:r>
          <a:endParaRPr lang="en-US" sz="2400" kern="1200" dirty="0"/>
        </a:p>
      </dsp:txBody>
      <dsp:txXfrm rot="-5400000">
        <a:off x="441775" y="2302070"/>
        <a:ext cx="6743041" cy="370169"/>
      </dsp:txXfrm>
    </dsp:sp>
    <dsp:sp modelId="{8B29E212-CE74-488E-882A-A1CFCE32EE75}">
      <dsp:nvSpPr>
        <dsp:cNvPr id="0" name=""/>
        <dsp:cNvSpPr/>
      </dsp:nvSpPr>
      <dsp:spPr>
        <a:xfrm rot="5400000">
          <a:off x="-94666" y="2358968"/>
          <a:ext cx="631107" cy="44177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5</a:t>
          </a:r>
          <a:endParaRPr lang="en-US" sz="1200" kern="1200" dirty="0"/>
        </a:p>
      </dsp:txBody>
      <dsp:txXfrm rot="-5400000">
        <a:off x="1" y="2485190"/>
        <a:ext cx="441775" cy="189332"/>
      </dsp:txXfrm>
    </dsp:sp>
    <dsp:sp modelId="{5047E357-3179-4A22-9165-1D5966779125}">
      <dsp:nvSpPr>
        <dsp:cNvPr id="0" name=""/>
        <dsp:cNvSpPr/>
      </dsp:nvSpPr>
      <dsp:spPr>
        <a:xfrm rot="5400000">
          <a:off x="3618198" y="-366089"/>
          <a:ext cx="410219" cy="6763066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1" kern="1200" dirty="0" smtClean="0"/>
            <a:t>Aggregation and Grouping</a:t>
          </a:r>
          <a:endParaRPr lang="en-US" sz="2400" kern="1200" dirty="0"/>
        </a:p>
      </dsp:txBody>
      <dsp:txXfrm rot="-5400000">
        <a:off x="441775" y="2830359"/>
        <a:ext cx="6743041" cy="370169"/>
      </dsp:txXfrm>
    </dsp:sp>
    <dsp:sp modelId="{A7A3482B-5423-4031-A323-8641A960C651}">
      <dsp:nvSpPr>
        <dsp:cNvPr id="0" name=""/>
        <dsp:cNvSpPr/>
      </dsp:nvSpPr>
      <dsp:spPr>
        <a:xfrm rot="5400000">
          <a:off x="-94666" y="2924554"/>
          <a:ext cx="631107" cy="44177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6</a:t>
          </a:r>
          <a:endParaRPr lang="en-US" sz="1200" kern="1200" dirty="0"/>
        </a:p>
      </dsp:txBody>
      <dsp:txXfrm rot="-5400000">
        <a:off x="1" y="3050776"/>
        <a:ext cx="441775" cy="189332"/>
      </dsp:txXfrm>
    </dsp:sp>
    <dsp:sp modelId="{A97FA612-0A8C-480F-AC3C-CE8E4F96B974}">
      <dsp:nvSpPr>
        <dsp:cNvPr id="0" name=""/>
        <dsp:cNvSpPr/>
      </dsp:nvSpPr>
      <dsp:spPr>
        <a:xfrm rot="5400000">
          <a:off x="3618198" y="236789"/>
          <a:ext cx="410219" cy="6763066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1" kern="1200" dirty="0" smtClean="0"/>
            <a:t>Merging Data</a:t>
          </a:r>
          <a:endParaRPr lang="en-US" sz="2400" kern="1200" dirty="0"/>
        </a:p>
      </dsp:txBody>
      <dsp:txXfrm rot="-5400000">
        <a:off x="441775" y="3433238"/>
        <a:ext cx="6743041" cy="370169"/>
      </dsp:txXfrm>
    </dsp:sp>
    <dsp:sp modelId="{2AD44107-C06F-4E22-B1F9-F8FC38B94086}">
      <dsp:nvSpPr>
        <dsp:cNvPr id="0" name=""/>
        <dsp:cNvSpPr/>
      </dsp:nvSpPr>
      <dsp:spPr>
        <a:xfrm rot="5400000">
          <a:off x="-94666" y="3490141"/>
          <a:ext cx="631107" cy="44177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7</a:t>
          </a:r>
          <a:endParaRPr lang="en-US" sz="1200" kern="1200" dirty="0"/>
        </a:p>
      </dsp:txBody>
      <dsp:txXfrm rot="-5400000">
        <a:off x="1" y="3616363"/>
        <a:ext cx="441775" cy="189332"/>
      </dsp:txXfrm>
    </dsp:sp>
    <dsp:sp modelId="{24AD0516-FD1E-44F5-92AD-FA4F8E5FDBC0}">
      <dsp:nvSpPr>
        <dsp:cNvPr id="0" name=""/>
        <dsp:cNvSpPr/>
      </dsp:nvSpPr>
      <dsp:spPr>
        <a:xfrm rot="5400000">
          <a:off x="3618198" y="770846"/>
          <a:ext cx="410219" cy="6763066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1" kern="1200" dirty="0" smtClean="0"/>
            <a:t>Reshaping Data</a:t>
          </a:r>
          <a:endParaRPr lang="en-US" sz="2400" kern="1200" dirty="0"/>
        </a:p>
      </dsp:txBody>
      <dsp:txXfrm rot="-5400000">
        <a:off x="441775" y="3967295"/>
        <a:ext cx="6743041" cy="370169"/>
      </dsp:txXfrm>
    </dsp:sp>
    <dsp:sp modelId="{90837FDC-CCFD-4086-9191-5F4E3B233F04}">
      <dsp:nvSpPr>
        <dsp:cNvPr id="0" name=""/>
        <dsp:cNvSpPr/>
      </dsp:nvSpPr>
      <dsp:spPr>
        <a:xfrm rot="5400000">
          <a:off x="-94666" y="4055727"/>
          <a:ext cx="631107" cy="44177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8</a:t>
          </a:r>
          <a:endParaRPr lang="en-US" sz="1200" kern="1200" dirty="0"/>
        </a:p>
      </dsp:txBody>
      <dsp:txXfrm rot="-5400000">
        <a:off x="1" y="4181949"/>
        <a:ext cx="441775" cy="189332"/>
      </dsp:txXfrm>
    </dsp:sp>
    <dsp:sp modelId="{F52BACC5-9C37-4076-B8AE-316840495FFD}">
      <dsp:nvSpPr>
        <dsp:cNvPr id="0" name=""/>
        <dsp:cNvSpPr/>
      </dsp:nvSpPr>
      <dsp:spPr>
        <a:xfrm rot="5400000">
          <a:off x="3618198" y="1336432"/>
          <a:ext cx="410219" cy="6763066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1" kern="1200" dirty="0" smtClean="0"/>
            <a:t>Exporting Data</a:t>
          </a:r>
          <a:endParaRPr lang="en-US" sz="2400" kern="1200" dirty="0"/>
        </a:p>
      </dsp:txBody>
      <dsp:txXfrm rot="-5400000">
        <a:off x="441775" y="4532881"/>
        <a:ext cx="6743041" cy="370169"/>
      </dsp:txXfrm>
    </dsp:sp>
    <dsp:sp modelId="{B3DF706E-A711-4C4E-BAA8-2AA1C6DF7BE1}">
      <dsp:nvSpPr>
        <dsp:cNvPr id="0" name=""/>
        <dsp:cNvSpPr/>
      </dsp:nvSpPr>
      <dsp:spPr>
        <a:xfrm rot="5400000">
          <a:off x="-94666" y="4621313"/>
          <a:ext cx="631107" cy="441775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9</a:t>
          </a:r>
          <a:endParaRPr lang="en-US" sz="1200" kern="1200" dirty="0"/>
        </a:p>
      </dsp:txBody>
      <dsp:txXfrm rot="-5400000">
        <a:off x="1" y="4747535"/>
        <a:ext cx="441775" cy="189332"/>
      </dsp:txXfrm>
    </dsp:sp>
    <dsp:sp modelId="{64D11360-71F2-4EBD-B509-6CF2851E19F5}">
      <dsp:nvSpPr>
        <dsp:cNvPr id="0" name=""/>
        <dsp:cNvSpPr/>
      </dsp:nvSpPr>
      <dsp:spPr>
        <a:xfrm rot="5400000">
          <a:off x="3618198" y="-1437011"/>
          <a:ext cx="410219" cy="6763066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1" kern="1200" dirty="0" smtClean="0"/>
            <a:t>Data Filtering and Selection</a:t>
          </a:r>
          <a:endParaRPr lang="en-US" sz="2400" kern="1200" dirty="0"/>
        </a:p>
      </dsp:txBody>
      <dsp:txXfrm rot="-5400000">
        <a:off x="441775" y="1759437"/>
        <a:ext cx="6743041" cy="3701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41F0B-E64A-4355-99C5-8BA3385D271D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5E292-06FB-44DC-BB7C-DF202842EA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62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29476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9dc25e60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9dc25e60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6842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609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32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200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88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305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50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18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296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60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63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48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164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472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78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5871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503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6238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0881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2225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9944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147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2122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69DDC-A0D7-48BB-B727-162CF63964E3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DD4BE-C717-421A-8997-D80BE809E7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xmlns="" id="{D0759A2F-F78F-3FF5-0179-0BA53E3CA16A}"/>
              </a:ext>
            </a:extLst>
          </p:cNvPr>
          <p:cNvSpPr/>
          <p:nvPr/>
        </p:nvSpPr>
        <p:spPr>
          <a:xfrm>
            <a:off x="2" y="609600"/>
            <a:ext cx="12191999" cy="1320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1355313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69DDC-A0D7-48BB-B727-162CF63964E3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DD4BE-C717-421A-8997-D80BE809E78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xmlns="" id="{D0759A2F-F78F-3FF5-0179-0BA53E3CA16A}"/>
              </a:ext>
            </a:extLst>
          </p:cNvPr>
          <p:cNvSpPr/>
          <p:nvPr/>
        </p:nvSpPr>
        <p:spPr>
          <a:xfrm>
            <a:off x="2" y="609600"/>
            <a:ext cx="12191999" cy="1320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626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332093" y="1303958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sz="18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sz="1800" dirty="0" smtClean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800" dirty="0" smtClean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700" dirty="0" smtClean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700" dirty="0" smtClean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700" b="1" dirty="0">
                <a:latin typeface="Times New Roman"/>
                <a:ea typeface="Times New Roman"/>
                <a:cs typeface="Times New Roman"/>
                <a:sym typeface="Times New Roman"/>
              </a:rPr>
              <a:t>DATA SCIENCE </a:t>
            </a:r>
            <a:br>
              <a:rPr lang="en-US" sz="27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700" b="1" dirty="0">
                <a:latin typeface="Times New Roman"/>
                <a:ea typeface="Times New Roman"/>
                <a:cs typeface="Times New Roman"/>
                <a:sym typeface="Times New Roman"/>
              </a:rPr>
              <a:t>EL-334</a:t>
            </a:r>
            <a:br>
              <a:rPr lang="en-US" sz="27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7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BSIT</a:t>
            </a:r>
            <a:r>
              <a:rPr lang="en-US" sz="1800" dirty="0" smtClean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1800" dirty="0" smtClean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/>
          </a:p>
        </p:txBody>
      </p:sp>
      <p:sp>
        <p:nvSpPr>
          <p:cNvPr id="85" name="Google Shape;85;p1"/>
          <p:cNvSpPr txBox="1"/>
          <p:nvPr/>
        </p:nvSpPr>
        <p:spPr>
          <a:xfrm>
            <a:off x="3172537" y="2737491"/>
            <a:ext cx="5993444" cy="129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6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 # </a:t>
            </a:r>
            <a:r>
              <a:rPr lang="en-US" sz="26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</a:t>
            </a:r>
            <a:endParaRPr lang="en-US" sz="2600" b="1" i="0" u="none" strike="noStrike" cap="none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Clr>
                <a:srgbClr val="000000"/>
              </a:buClr>
              <a:buSzPts val="1800"/>
            </a:pPr>
            <a:r>
              <a:rPr lang="en-US" sz="2600" b="1" dirty="0" smtClean="0">
                <a:latin typeface="Times New Roman" pitchFamily="18" charset="0"/>
                <a:cs typeface="Times New Roman" pitchFamily="18" charset="0"/>
              </a:rPr>
              <a:t>Data manipulation and Cleaning</a:t>
            </a:r>
          </a:p>
          <a:p>
            <a:pPr algn="ctr">
              <a:buClr>
                <a:srgbClr val="000000"/>
              </a:buClr>
              <a:buSzPts val="1800"/>
            </a:pPr>
            <a:r>
              <a:rPr lang="en-US" sz="2600" i="0" u="none" strike="noStrike" cap="none" dirty="0" smtClean="0">
                <a:solidFill>
                  <a:schemeClr val="dk1"/>
                </a:solidFill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Python Pandas: A Data Science Library</a:t>
            </a:r>
          </a:p>
        </p:txBody>
      </p:sp>
      <p:sp>
        <p:nvSpPr>
          <p:cNvPr id="86" name="Google Shape;86;p1"/>
          <p:cNvSpPr txBox="1">
            <a:spLocks noGrp="1"/>
          </p:cNvSpPr>
          <p:nvPr>
            <p:ph type="subTitle" idx="1"/>
          </p:nvPr>
        </p:nvSpPr>
        <p:spPr>
          <a:xfrm>
            <a:off x="3999757" y="5120608"/>
            <a:ext cx="4339004" cy="578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8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Safoora Qurban</a:t>
            </a:r>
            <a:endParaRPr sz="2800" dirty="0"/>
          </a:p>
        </p:txBody>
      </p:sp>
      <p:pic>
        <p:nvPicPr>
          <p:cNvPr id="1026" name="Picture 2" descr="Free Python Logo Icon - Free Download Logos Logo Icons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7991" y="2303915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andas - Python Data Analysis Librar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65" y="2571929"/>
            <a:ext cx="3286520" cy="232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90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938"/>
            <a:ext cx="12191998" cy="685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xmlns="" id="{6CED6318-9AD9-F68F-507F-88DDDB182BB8}"/>
              </a:ext>
            </a:extLst>
          </p:cNvPr>
          <p:cNvSpPr/>
          <p:nvPr/>
        </p:nvSpPr>
        <p:spPr>
          <a:xfrm>
            <a:off x="1" y="5766357"/>
            <a:ext cx="12191998" cy="53418"/>
          </a:xfrm>
          <a:prstGeom prst="rect">
            <a:avLst/>
          </a:pr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FD435CB8-DDC7-C561-8E2D-7B50C159B7B0}"/>
              </a:ext>
            </a:extLst>
          </p:cNvPr>
          <p:cNvSpPr txBox="1">
            <a:spLocks/>
          </p:cNvSpPr>
          <p:nvPr/>
        </p:nvSpPr>
        <p:spPr>
          <a:xfrm>
            <a:off x="1524000" y="865066"/>
            <a:ext cx="9144000" cy="884906"/>
          </a:xfrm>
          <a:prstGeom prst="rect">
            <a:avLst/>
          </a:prstGeom>
          <a:solidFill>
            <a:srgbClr val="123022"/>
          </a:solidFill>
        </p:spPr>
        <p:txBody>
          <a:bodyPr vert="horz" lIns="91440" tIns="45720" rIns="91440" bIns="45720" rtlCol="0" anchor="b">
            <a:normAutofit fontScale="8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 smtClean="0">
                <a:solidFill>
                  <a:srgbClr val="FFFF00"/>
                </a:solidFill>
                <a:latin typeface="Google Sans"/>
              </a:rPr>
              <a:t>Python </a:t>
            </a:r>
            <a:r>
              <a:rPr lang="en-US" sz="4400" b="1" dirty="0">
                <a:solidFill>
                  <a:srgbClr val="FFFF00"/>
                </a:solidFill>
                <a:latin typeface="Google Sans"/>
              </a:rPr>
              <a:t>Pandas: A Data Science Library</a:t>
            </a:r>
          </a:p>
        </p:txBody>
      </p:sp>
      <p:sp>
        <p:nvSpPr>
          <p:cNvPr id="2" name="AutoShape 2" descr="Python 3.12 - A quality upgrade with many desirable features!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73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1056291" y="332389"/>
            <a:ext cx="88448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The </a:t>
            </a:r>
            <a:r>
              <a:rPr lang="en-US" sz="3600" b="1" dirty="0" smtClean="0"/>
              <a:t>pandas DataFrame object</a:t>
            </a:r>
            <a:endParaRPr lang="en-US" sz="36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537663" y="1097620"/>
            <a:ext cx="11113054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SzPct val="170000"/>
              <a:buFont typeface="Arial" pitchFamily="34" charset="0"/>
              <a:buChar char="•"/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The pandas DataFrame object extends the capabilities of the Series object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into two-dimensions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. </a:t>
            </a:r>
          </a:p>
          <a:p>
            <a:pPr marL="342900" indent="-342900" algn="just">
              <a:lnSpc>
                <a:spcPct val="150000"/>
              </a:lnSpc>
              <a:buSzPct val="170000"/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A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Series object adds an index to a </a:t>
            </a:r>
            <a:r>
              <a:rPr lang="en-US" sz="2200" dirty="0" err="1">
                <a:latin typeface="Verdana" pitchFamily="34" charset="0"/>
                <a:ea typeface="Verdana" pitchFamily="34" charset="0"/>
              </a:rPr>
              <a:t>NumPy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 array but can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only associate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a single data item per index label, a DataFrame integrates multiple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Series objects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by aligning them along common index labels. </a:t>
            </a:r>
          </a:p>
          <a:p>
            <a:pPr marL="342900" indent="-342900" algn="just">
              <a:lnSpc>
                <a:spcPct val="150000"/>
              </a:lnSpc>
              <a:buSzPct val="170000"/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This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automatic alignment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by index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label provides a seamless view across all the Series at each index label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that has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the appearance of a row in a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table.</a:t>
            </a:r>
          </a:p>
          <a:p>
            <a:pPr marL="342900" indent="-342900" algn="just">
              <a:lnSpc>
                <a:spcPct val="150000"/>
              </a:lnSpc>
              <a:buSzPct val="170000"/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A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DataFrame object can be thought of as a dictionary-like container of one or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more Series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objects, or as a spreadsheet</a:t>
            </a:r>
            <a:endParaRPr lang="en-US" sz="22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13" name="Picture 12" descr="pandas - Python Data Analysis Librar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1101" y="30745"/>
            <a:ext cx="1481959" cy="1049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239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1497723" y="332389"/>
            <a:ext cx="7696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The pandas </a:t>
            </a:r>
            <a:r>
              <a:rPr lang="en-US" sz="3600" b="1" dirty="0" smtClean="0"/>
              <a:t>DataFrame object(cont.)</a:t>
            </a:r>
            <a:endParaRPr lang="en-US" sz="36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537663" y="1256098"/>
            <a:ext cx="11199412" cy="3070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SzPct val="170000"/>
              <a:buFont typeface="Arial" pitchFamily="34" charset="0"/>
              <a:buChar char="•"/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A DataFrame also introduces the concept of multiple axes, specifically the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horizontal and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vertical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axis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 </a:t>
            </a:r>
            <a:r>
              <a:rPr lang="en-US" sz="2200" dirty="0" err="1" smtClean="0">
                <a:latin typeface="Verdana" pitchFamily="34" charset="0"/>
                <a:ea typeface="Verdana" pitchFamily="34" charset="0"/>
              </a:rPr>
              <a:t>i.e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 rows and columns.</a:t>
            </a:r>
          </a:p>
          <a:p>
            <a:pPr marL="342900" indent="-342900" algn="just">
              <a:lnSpc>
                <a:spcPct val="150000"/>
              </a:lnSpc>
              <a:buSzPct val="170000"/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Functions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from pandas can then be applied to either axis,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the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operation be applied horizontally to all the values in the rows, or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up and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down each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column.</a:t>
            </a:r>
          </a:p>
          <a:p>
            <a:pPr algn="just">
              <a:lnSpc>
                <a:spcPct val="150000"/>
              </a:lnSpc>
            </a:pPr>
            <a:endParaRPr lang="en-US" sz="2200" dirty="0" smtClean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13" name="Picture 12" descr="pandas - Python Data Analysis Librar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6238" y="30745"/>
            <a:ext cx="1481959" cy="1049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1251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1971366" y="332389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Creating DataFrame</a:t>
            </a:r>
            <a:endParaRPr lang="en-US" sz="36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537663" y="1256098"/>
            <a:ext cx="1108152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SzPct val="170000"/>
              <a:buFont typeface="Arial" pitchFamily="34" charset="0"/>
              <a:buChar char="•"/>
            </a:pPr>
            <a:r>
              <a:rPr lang="en-US" sz="2200" dirty="0" smtClean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There </a:t>
            </a:r>
            <a:r>
              <a:rPr lang="en-US" sz="22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are several ways to create a DataFrame. Probably the most </a:t>
            </a:r>
            <a:r>
              <a:rPr lang="en-US" sz="2200" dirty="0" smtClean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straightforward way</a:t>
            </a:r>
            <a:r>
              <a:rPr lang="en-US" sz="22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, is by creating it from a </a:t>
            </a:r>
            <a:r>
              <a:rPr lang="en-US" sz="2200" dirty="0" err="1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NumPy</a:t>
            </a:r>
            <a:r>
              <a:rPr lang="en-US" sz="22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 array. </a:t>
            </a:r>
            <a:endParaRPr lang="en-US" sz="2200" dirty="0" smtClean="0">
              <a:solidFill>
                <a:prstClr val="black"/>
              </a:solidFill>
              <a:latin typeface="Verdana" pitchFamily="34" charset="0"/>
              <a:ea typeface="Verdana" pitchFamily="34" charset="0"/>
            </a:endParaRPr>
          </a:p>
          <a:p>
            <a:pPr marL="342900" indent="-342900" algn="just">
              <a:lnSpc>
                <a:spcPct val="150000"/>
              </a:lnSpc>
              <a:buSzPct val="170000"/>
              <a:buFont typeface="Arial" pitchFamily="34" charset="0"/>
              <a:buChar char="•"/>
            </a:pPr>
            <a:r>
              <a:rPr lang="en-US" sz="2200" dirty="0" smtClean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The </a:t>
            </a:r>
            <a:r>
              <a:rPr lang="en-US" sz="22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following code creates a </a:t>
            </a:r>
            <a:r>
              <a:rPr lang="en-US" sz="2200" dirty="0" smtClean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DataFrame from </a:t>
            </a:r>
            <a:r>
              <a:rPr lang="en-US" sz="22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a two dimensional </a:t>
            </a:r>
            <a:r>
              <a:rPr lang="en-US" sz="2200" dirty="0" err="1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NumPy</a:t>
            </a:r>
            <a:r>
              <a:rPr lang="en-US" sz="22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 array</a:t>
            </a:r>
            <a:r>
              <a:rPr lang="en-US" sz="2200" dirty="0" smtClean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SzPct val="170000"/>
              <a:buFont typeface="Arial" pitchFamily="34" charset="0"/>
              <a:buChar char="•"/>
            </a:pPr>
            <a:endParaRPr lang="en-US" sz="2200" dirty="0">
              <a:solidFill>
                <a:prstClr val="black"/>
              </a:solidFill>
              <a:latin typeface="Verdana" pitchFamily="34" charset="0"/>
              <a:ea typeface="Verdana" pitchFamily="34" charset="0"/>
            </a:endParaRPr>
          </a:p>
          <a:p>
            <a:pPr marL="342900" indent="-342900" algn="just">
              <a:lnSpc>
                <a:spcPct val="150000"/>
              </a:lnSpc>
              <a:buSzPct val="170000"/>
              <a:buFont typeface="Arial" pitchFamily="34" charset="0"/>
              <a:buChar char="•"/>
            </a:pPr>
            <a:endParaRPr lang="en-US" sz="2200" dirty="0" smtClean="0">
              <a:solidFill>
                <a:prstClr val="black"/>
              </a:solidFill>
              <a:latin typeface="Verdana" pitchFamily="34" charset="0"/>
              <a:ea typeface="Verdana" pitchFamily="34" charset="0"/>
            </a:endParaRPr>
          </a:p>
          <a:p>
            <a:pPr algn="just">
              <a:lnSpc>
                <a:spcPct val="150000"/>
              </a:lnSpc>
              <a:buSzPct val="170000"/>
            </a:pPr>
            <a:endParaRPr lang="en-US" sz="2200" dirty="0">
              <a:solidFill>
                <a:prstClr val="black"/>
              </a:solidFill>
              <a:latin typeface="Verdana" pitchFamily="34" charset="0"/>
              <a:ea typeface="Verdana" pitchFamily="34" charset="0"/>
            </a:endParaRPr>
          </a:p>
          <a:p>
            <a:pPr algn="just">
              <a:lnSpc>
                <a:spcPct val="150000"/>
              </a:lnSpc>
              <a:buSzPct val="170000"/>
            </a:pPr>
            <a:endParaRPr lang="en-US" sz="2000" dirty="0" smtClean="0">
              <a:solidFill>
                <a:prstClr val="black"/>
              </a:solidFill>
              <a:latin typeface="Verdana" pitchFamily="34" charset="0"/>
              <a:ea typeface="Verdana" pitchFamily="34" charset="0"/>
            </a:endParaRPr>
          </a:p>
          <a:p>
            <a:pPr>
              <a:lnSpc>
                <a:spcPct val="150000"/>
              </a:lnSpc>
              <a:buSzPct val="170000"/>
            </a:pPr>
            <a:r>
              <a:rPr lang="en-US" sz="1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Each row of the array forms a row in the DataFrame object. Since we did not </a:t>
            </a:r>
            <a:r>
              <a:rPr lang="en-US" sz="1400" dirty="0" smtClean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specify an </a:t>
            </a:r>
            <a:r>
              <a:rPr lang="en-US" sz="1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index, pandas creates a default int64 index in the same manner as a </a:t>
            </a:r>
            <a:r>
              <a:rPr lang="en-US" sz="1400" dirty="0" smtClean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Series object</a:t>
            </a:r>
            <a:r>
              <a:rPr lang="en-US" sz="1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. Since we did not specify column names, pandas also assigns the names </a:t>
            </a:r>
            <a:r>
              <a:rPr lang="en-US" sz="1400" dirty="0" smtClean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for each </a:t>
            </a:r>
            <a:r>
              <a:rPr lang="en-US" sz="14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column with a zero-based integer series.</a:t>
            </a:r>
            <a:endParaRPr lang="en-US" sz="1400" dirty="0" smtClean="0">
              <a:solidFill>
                <a:prstClr val="black"/>
              </a:solidFill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13" name="Picture 12" descr="pandas - Python Data Analysis Librar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8827" y="30745"/>
            <a:ext cx="1481959" cy="1049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1" t="60344" r="55046" b="14009"/>
          <a:stretch/>
        </p:blipFill>
        <p:spPr bwMode="auto">
          <a:xfrm>
            <a:off x="3286646" y="2987566"/>
            <a:ext cx="5321325" cy="2096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5924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995448" y="232094"/>
            <a:ext cx="54788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Creating </a:t>
            </a:r>
            <a:r>
              <a:rPr lang="en-US" sz="3600" b="1" dirty="0" smtClean="0"/>
              <a:t>DataFrame (cont.)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409903" y="1256098"/>
            <a:ext cx="5912069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SzPct val="170000"/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A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DataFrame can also be initialized by passing a list of Series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objects.</a:t>
            </a:r>
          </a:p>
          <a:p>
            <a:pPr marL="285750" indent="-285750" algn="just">
              <a:lnSpc>
                <a:spcPct val="150000"/>
              </a:lnSpc>
              <a:buSzPct val="170000"/>
              <a:buFont typeface="Arial" panose="020B0604020202020204" pitchFamily="34" charset="0"/>
              <a:buChar char="•"/>
            </a:pPr>
            <a:endParaRPr lang="en-US" sz="2200" dirty="0">
              <a:latin typeface="Verdana" pitchFamily="34" charset="0"/>
              <a:ea typeface="Verdana" pitchFamily="34" charset="0"/>
            </a:endParaRPr>
          </a:p>
          <a:p>
            <a:pPr marL="285750" indent="-285750" algn="just">
              <a:lnSpc>
                <a:spcPct val="150000"/>
              </a:lnSpc>
              <a:buSzPct val="170000"/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Column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names can be specified at the time of creating the DataFrame by using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the columns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parameter of the DataFrame constructor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.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And The names of the columns of a DataFrame can be accessed with its .columns property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 smtClean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9" t="55172" r="34868" b="18534"/>
          <a:stretch/>
        </p:blipFill>
        <p:spPr bwMode="auto">
          <a:xfrm>
            <a:off x="6359929" y="1567832"/>
            <a:ext cx="5832071" cy="1923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7" t="58835" r="43657" b="16401"/>
          <a:stretch/>
        </p:blipFill>
        <p:spPr bwMode="auto">
          <a:xfrm>
            <a:off x="6321972" y="4114799"/>
            <a:ext cx="5870028" cy="1811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2251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1971366" y="332389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Creating </a:t>
            </a:r>
            <a:r>
              <a:rPr lang="en-US" sz="3600" b="1" dirty="0" smtClean="0"/>
              <a:t>DataFrame </a:t>
            </a:r>
            <a:r>
              <a:rPr lang="en-US" sz="3600" b="1" dirty="0"/>
              <a:t>(cont</a:t>
            </a:r>
            <a:r>
              <a:rPr lang="en-US" sz="3600" b="1" dirty="0" smtClean="0"/>
              <a:t>.)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537663" y="1256098"/>
            <a:ext cx="11081523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SzPct val="170000"/>
              <a:buFont typeface="Arial" pitchFamily="34" charset="0"/>
              <a:buChar char="•"/>
            </a:pPr>
            <a:r>
              <a:rPr lang="en-US" sz="22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A DataFrame object can also be created by passing a dictionary containing one </a:t>
            </a:r>
            <a:r>
              <a:rPr lang="en-US" sz="2200" dirty="0" smtClean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or more </a:t>
            </a:r>
            <a:r>
              <a:rPr lang="en-US" sz="22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Series objects, where the dictionary keys contain the </a:t>
            </a:r>
            <a:r>
              <a:rPr lang="en-US" sz="2200" dirty="0" smtClean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column names </a:t>
            </a:r>
            <a:r>
              <a:rPr lang="en-US" sz="22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and </a:t>
            </a:r>
            <a:r>
              <a:rPr lang="en-US" sz="2200" dirty="0" smtClean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each series </a:t>
            </a:r>
            <a:r>
              <a:rPr lang="en-US" sz="2200" dirty="0">
                <a:solidFill>
                  <a:prstClr val="black"/>
                </a:solidFill>
                <a:latin typeface="Verdana" pitchFamily="34" charset="0"/>
                <a:ea typeface="Verdana" pitchFamily="34" charset="0"/>
              </a:rPr>
              <a:t>is one column of data:</a:t>
            </a:r>
          </a:p>
          <a:p>
            <a:pPr marL="342900" indent="-342900" algn="just">
              <a:lnSpc>
                <a:spcPct val="150000"/>
              </a:lnSpc>
              <a:buSzPct val="170000"/>
              <a:buFont typeface="Arial" pitchFamily="34" charset="0"/>
              <a:buChar char="•"/>
            </a:pPr>
            <a:endParaRPr lang="en-US" sz="2200" dirty="0" smtClean="0">
              <a:solidFill>
                <a:prstClr val="black"/>
              </a:solidFill>
              <a:latin typeface="Verdana" pitchFamily="34" charset="0"/>
              <a:ea typeface="Verdana" pitchFamily="34" charset="0"/>
            </a:endParaRPr>
          </a:p>
          <a:p>
            <a:pPr algn="just">
              <a:lnSpc>
                <a:spcPct val="150000"/>
              </a:lnSpc>
              <a:buSzPct val="170000"/>
            </a:pPr>
            <a:endParaRPr lang="en-US" sz="2200" dirty="0">
              <a:solidFill>
                <a:prstClr val="black"/>
              </a:solidFill>
              <a:latin typeface="Verdana" pitchFamily="34" charset="0"/>
              <a:ea typeface="Verdana" pitchFamily="34" charset="0"/>
            </a:endParaRPr>
          </a:p>
          <a:p>
            <a:pPr algn="just">
              <a:lnSpc>
                <a:spcPct val="150000"/>
              </a:lnSpc>
              <a:buSzPct val="170000"/>
            </a:pPr>
            <a:endParaRPr lang="en-US" sz="2000" dirty="0" smtClean="0">
              <a:solidFill>
                <a:prstClr val="black"/>
              </a:solidFill>
              <a:latin typeface="Verdana" pitchFamily="34" charset="0"/>
              <a:ea typeface="Verdana" pitchFamily="34" charset="0"/>
            </a:endParaRPr>
          </a:p>
          <a:p>
            <a:pPr algn="just">
              <a:lnSpc>
                <a:spcPct val="150000"/>
              </a:lnSpc>
              <a:buSzPct val="170000"/>
            </a:pPr>
            <a:endParaRPr lang="en-US" sz="2000" dirty="0">
              <a:solidFill>
                <a:prstClr val="black"/>
              </a:solidFill>
              <a:latin typeface="Verdana" pitchFamily="34" charset="0"/>
              <a:ea typeface="Verdana" pitchFamily="34" charset="0"/>
            </a:endParaRPr>
          </a:p>
          <a:p>
            <a:pPr algn="just">
              <a:lnSpc>
                <a:spcPct val="150000"/>
              </a:lnSpc>
              <a:buSzPct val="170000"/>
            </a:pPr>
            <a:endParaRPr lang="en-US" sz="2000" dirty="0" smtClean="0">
              <a:solidFill>
                <a:prstClr val="black"/>
              </a:solidFill>
              <a:latin typeface="Verdana" pitchFamily="34" charset="0"/>
              <a:ea typeface="Verdana" pitchFamily="34" charset="0"/>
            </a:endParaRPr>
          </a:p>
          <a:p>
            <a:pPr algn="just">
              <a:lnSpc>
                <a:spcPct val="150000"/>
              </a:lnSpc>
              <a:buSzPct val="170000"/>
            </a:pPr>
            <a:endParaRPr lang="en-US" sz="2000" dirty="0" smtClean="0">
              <a:solidFill>
                <a:prstClr val="black"/>
              </a:solidFill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13" name="Picture 12" descr="pandas - Python Data Analysis Librar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8827" y="30745"/>
            <a:ext cx="1481959" cy="1049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8" t="42242" r="57470" b="18318"/>
          <a:stretch/>
        </p:blipFill>
        <p:spPr bwMode="auto">
          <a:xfrm>
            <a:off x="2806262" y="2940507"/>
            <a:ext cx="5252565" cy="3384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207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1970690" y="232094"/>
            <a:ext cx="84165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 smtClean="0"/>
              <a:t>Changing DataFrame columns and index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537663" y="1256098"/>
            <a:ext cx="11144585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The names of the columns can be changed by assigning a list of the new names to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the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.columns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property just like changing index in series.</a:t>
            </a:r>
            <a:endParaRPr lang="en-US" sz="2200" dirty="0">
              <a:latin typeface="Verdana" pitchFamily="34" charset="0"/>
              <a:ea typeface="Verdana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Index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labels can likewise be assigned using the index parameter of the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constructor or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by assigning a list directly to the .index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property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The dimensions of a DataFrame object can be determined using its .shape property. A DataFrame is always two-dimensional. The first value informs us about the number of rows and the second value is the number of columns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627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Selecting columns of a DataFrame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537663" y="1256098"/>
            <a:ext cx="11223413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Selecting the data in specific columns of a DataFrame is performed by using the </a:t>
            </a:r>
            <a:r>
              <a:rPr lang="en-US" sz="2200" b="1" dirty="0" smtClean="0">
                <a:latin typeface="Verdana" pitchFamily="34" charset="0"/>
                <a:ea typeface="Verdana" pitchFamily="34" charset="0"/>
              </a:rPr>
              <a:t>[]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 operator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. </a:t>
            </a:r>
            <a:endParaRPr lang="en-US" sz="2200" dirty="0" smtClean="0">
              <a:latin typeface="Verdana" pitchFamily="34" charset="0"/>
              <a:ea typeface="Verdana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Passing a single integer, or a list of integers, to [] will have the DataFrame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object attempt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to perform a location based lookup of the columns. </a:t>
            </a:r>
            <a:endParaRPr lang="en-US" sz="2200" dirty="0" smtClean="0">
              <a:latin typeface="Verdana" pitchFamily="34" charset="0"/>
              <a:ea typeface="Verdana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The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following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code retrieves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the data in the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first and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third columns:</a:t>
            </a:r>
            <a:endParaRPr lang="en-US" sz="22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5" t="53144" r="55894" b="20043"/>
          <a:stretch/>
        </p:blipFill>
        <p:spPr bwMode="auto">
          <a:xfrm>
            <a:off x="5176190" y="4029478"/>
            <a:ext cx="4855779" cy="1961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82" t="27478" r="77585" b="46444"/>
          <a:stretch/>
        </p:blipFill>
        <p:spPr bwMode="auto">
          <a:xfrm>
            <a:off x="1860521" y="3999335"/>
            <a:ext cx="1292393" cy="1907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4863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1670670" y="232094"/>
            <a:ext cx="80053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Selecting columns of a </a:t>
            </a:r>
            <a:r>
              <a:rPr lang="en-US" sz="3600" b="1" dirty="0" smtClean="0"/>
              <a:t>DataFrame (cont.)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537663" y="1256098"/>
            <a:ext cx="11223413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If the values passed to [] consist of </a:t>
            </a:r>
            <a:r>
              <a:rPr lang="en-US" sz="2200" dirty="0" err="1">
                <a:latin typeface="Verdana" pitchFamily="34" charset="0"/>
                <a:ea typeface="Verdana" pitchFamily="34" charset="0"/>
              </a:rPr>
              <a:t>nonintegers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, then the DataFrame will attempt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to match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the values to the values in the columns index. The following code retrieves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the c2 column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by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name 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endParaRPr lang="en-US" sz="2200" dirty="0">
              <a:latin typeface="Verdana" pitchFamily="34" charset="0"/>
              <a:ea typeface="Verdana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endParaRPr lang="en-US" sz="2200" dirty="0" smtClean="0">
              <a:latin typeface="Verdana" pitchFamily="34" charset="0"/>
              <a:ea typeface="Verdana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endParaRPr lang="en-US" sz="2200" dirty="0" smtClean="0">
              <a:latin typeface="Verdana" pitchFamily="34" charset="0"/>
              <a:ea typeface="Verdana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endParaRPr lang="en-US" sz="2200" dirty="0">
              <a:latin typeface="Verdana" pitchFamily="34" charset="0"/>
              <a:ea typeface="Verdana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Multiple columns can be selected by name by passing a list of the values, and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results in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a DataFrame (even if a single item is passed in the list)</a:t>
            </a:r>
            <a:endParaRPr lang="en-US" sz="22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5" t="57974" r="69950" b="14871"/>
          <a:stretch/>
        </p:blipFill>
        <p:spPr bwMode="auto">
          <a:xfrm>
            <a:off x="7894923" y="2594277"/>
            <a:ext cx="3151868" cy="1986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0265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1670670" y="232094"/>
            <a:ext cx="80053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Selecting columns of a DataFrame (cont.)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537663" y="1256098"/>
            <a:ext cx="1122341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Columns can also be retrieved using what is referred to as attribute access.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Each column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in a DataFrame dynamically adds a property to the DataFrame for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each column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where the name of the property is the name of the column. Since this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selects a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single column, the resulting value is a Series:</a:t>
            </a:r>
            <a:endParaRPr lang="en-US" sz="22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0" t="67888" r="71162" b="9017"/>
          <a:stretch/>
        </p:blipFill>
        <p:spPr bwMode="auto">
          <a:xfrm>
            <a:off x="4430110" y="3799489"/>
            <a:ext cx="2806262" cy="1689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4307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1797269" y="232094"/>
            <a:ext cx="85899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Selecting rows by index label </a:t>
            </a:r>
            <a:r>
              <a:rPr lang="en-US" sz="3600" b="1" dirty="0" smtClean="0"/>
              <a:t>and location: .</a:t>
            </a:r>
            <a:r>
              <a:rPr lang="en-US" sz="3600" b="1" dirty="0" err="1"/>
              <a:t>loc</a:t>
            </a:r>
            <a:r>
              <a:rPr lang="en-US" sz="3600" b="1" dirty="0"/>
              <a:t>[] and .</a:t>
            </a:r>
            <a:r>
              <a:rPr lang="en-US" sz="3600" b="1" dirty="0" err="1"/>
              <a:t>iloc</a:t>
            </a:r>
            <a:r>
              <a:rPr lang="en-US" sz="3600" b="1" dirty="0"/>
              <a:t>[]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537663" y="1573824"/>
            <a:ext cx="11223413" cy="953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Rows can be retrieved via an index label value using .</a:t>
            </a:r>
            <a:r>
              <a:rPr lang="en-US" sz="2000" dirty="0" err="1">
                <a:latin typeface="Verdana" pitchFamily="34" charset="0"/>
                <a:ea typeface="Verdana" pitchFamily="34" charset="0"/>
              </a:rPr>
              <a:t>loc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[]. This is shown in the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following code:</a:t>
            </a:r>
            <a:endParaRPr lang="en-US" sz="20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6" t="32759" r="71162" b="13578"/>
          <a:stretch/>
        </p:blipFill>
        <p:spPr bwMode="auto">
          <a:xfrm>
            <a:off x="4336752" y="2396357"/>
            <a:ext cx="2994213" cy="3925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0355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1797269" y="232094"/>
            <a:ext cx="85899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Selecting rows by index label </a:t>
            </a:r>
            <a:r>
              <a:rPr lang="en-US" sz="3600" b="1" dirty="0" smtClean="0"/>
              <a:t>and location: .</a:t>
            </a:r>
            <a:r>
              <a:rPr lang="en-US" sz="3600" b="1" dirty="0" err="1"/>
              <a:t>loc</a:t>
            </a:r>
            <a:r>
              <a:rPr lang="en-US" sz="3600" b="1" dirty="0"/>
              <a:t>[] and .</a:t>
            </a:r>
            <a:r>
              <a:rPr lang="en-US" sz="3600" b="1" dirty="0" err="1"/>
              <a:t>iloc</a:t>
            </a:r>
            <a:r>
              <a:rPr lang="en-US" sz="3600" b="1" dirty="0"/>
              <a:t>[]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537663" y="1573824"/>
            <a:ext cx="11223413" cy="953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Rows can also be retrieved by location using .</a:t>
            </a:r>
            <a:r>
              <a:rPr lang="en-US" sz="2000" dirty="0" err="1">
                <a:latin typeface="Verdana" pitchFamily="34" charset="0"/>
                <a:ea typeface="Verdana" pitchFamily="34" charset="0"/>
              </a:rPr>
              <a:t>iloc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[]. It takes integer index and return whole row corresponding to that index in dataframe.</a:t>
            </a:r>
            <a:endParaRPr lang="en-US" sz="20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7" t="35130" r="67648" b="16399"/>
          <a:stretch/>
        </p:blipFill>
        <p:spPr bwMode="auto">
          <a:xfrm>
            <a:off x="4435211" y="2907420"/>
            <a:ext cx="3168869" cy="3545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7309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1797269" y="232094"/>
            <a:ext cx="85899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Selecting rows of a DataFrame by</a:t>
            </a:r>
          </a:p>
          <a:p>
            <a:pPr algn="ctr"/>
            <a:r>
              <a:rPr lang="en-US" sz="3600" b="1" dirty="0"/>
              <a:t>Boolean selection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537664" y="1452340"/>
            <a:ext cx="706641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Rows can also be selected by using Boolean selection, using an array calculated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from the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result of applying a logical condition on the values in any of the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columns. 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Verdana" pitchFamily="34" charset="0"/>
                <a:ea typeface="Verdana" pitchFamily="34" charset="0"/>
              </a:rPr>
              <a:t>This allows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us to build more complicated selections than those based simply upon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index labels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or positions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This results in a Series that can be used to select the rows where the value is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True. </a:t>
            </a:r>
            <a:endParaRPr lang="en-US" sz="20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3" t="59914" r="68617" b="13577"/>
          <a:stretch/>
        </p:blipFill>
        <p:spPr bwMode="auto">
          <a:xfrm>
            <a:off x="8205952" y="1567832"/>
            <a:ext cx="3105807" cy="1939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0" t="69504" r="66075" b="8200"/>
          <a:stretch/>
        </p:blipFill>
        <p:spPr bwMode="auto">
          <a:xfrm>
            <a:off x="7844982" y="4190169"/>
            <a:ext cx="3466777" cy="1630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8986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A42210A-7EC0-9044-AB29-B19B8DD30EBD}"/>
              </a:ext>
            </a:extLst>
          </p:cNvPr>
          <p:cNvSpPr txBox="1"/>
          <p:nvPr/>
        </p:nvSpPr>
        <p:spPr>
          <a:xfrm>
            <a:off x="1876097" y="3067174"/>
            <a:ext cx="7594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ED7D31"/>
                </a:solidFill>
              </a:rPr>
              <a:t>Data Manipulation and Cleaning </a:t>
            </a:r>
            <a:endParaRPr lang="en-US" sz="4000" b="1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63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What is Data Manipulation?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757979" y="1256098"/>
            <a:ext cx="1054589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Verdana" pitchFamily="34" charset="0"/>
                <a:ea typeface="Verdana" pitchFamily="34" charset="0"/>
              </a:rPr>
              <a:t>Data Manipulation refers to the process of adjusting, transforming, or organizing data to make it more suitable for analysis or further processing. </a:t>
            </a:r>
            <a:endParaRPr lang="en-US" sz="2400" dirty="0" smtClean="0">
              <a:latin typeface="Verdana" pitchFamily="34" charset="0"/>
              <a:ea typeface="Verdana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Verdana" pitchFamily="34" charset="0"/>
                <a:ea typeface="Verdana" pitchFamily="34" charset="0"/>
              </a:rPr>
              <a:t>It </a:t>
            </a:r>
            <a:r>
              <a:rPr lang="en-US" sz="2400" dirty="0">
                <a:latin typeface="Verdana" pitchFamily="34" charset="0"/>
                <a:ea typeface="Verdana" pitchFamily="34" charset="0"/>
              </a:rPr>
              <a:t>involves cleaning, filtering, aggregating, and reshaping data to extract meaningful insights.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 smtClean="0">
                <a:latin typeface="Verdana" pitchFamily="34" charset="0"/>
                <a:ea typeface="Verdana" pitchFamily="34" charset="0"/>
              </a:rPr>
              <a:t>Pandas </a:t>
            </a:r>
            <a:r>
              <a:rPr lang="en-US" sz="2400" dirty="0">
                <a:latin typeface="Verdana" pitchFamily="34" charset="0"/>
                <a:ea typeface="Verdana" pitchFamily="34" charset="0"/>
              </a:rPr>
              <a:t>is a powerful library for data manipulation. </a:t>
            </a:r>
          </a:p>
        </p:txBody>
      </p:sp>
    </p:spTree>
    <p:extLst>
      <p:ext uri="{BB962C8B-B14F-4D97-AF65-F5344CB8AC3E}">
        <p14:creationId xmlns:p14="http://schemas.microsoft.com/office/powerpoint/2010/main" val="1063637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/>
              <a:t>Data </a:t>
            </a:r>
            <a:r>
              <a:rPr lang="en-US" sz="3600" b="1" dirty="0"/>
              <a:t>manipulation using Pandas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757979" y="878425"/>
            <a:ext cx="10545897" cy="1125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400" dirty="0">
                <a:latin typeface="Verdana" pitchFamily="34" charset="0"/>
                <a:ea typeface="Verdana" pitchFamily="34" charset="0"/>
              </a:rPr>
              <a:t>Here are the common steps involved in data manipulation using </a:t>
            </a:r>
            <a:r>
              <a:rPr lang="en-US" sz="2400" dirty="0" smtClean="0">
                <a:latin typeface="Verdana" pitchFamily="34" charset="0"/>
                <a:ea typeface="Verdana" pitchFamily="34" charset="0"/>
              </a:rPr>
              <a:t>Pandas: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139159727"/>
              </p:ext>
            </p:extLst>
          </p:nvPr>
        </p:nvGraphicFramePr>
        <p:xfrm>
          <a:off x="3389587" y="1567832"/>
          <a:ext cx="7204842" cy="5159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70635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/>
              <a:t>1. Loading </a:t>
            </a:r>
            <a:r>
              <a:rPr lang="en-US" sz="3600" b="1" dirty="0"/>
              <a:t>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757979" y="1256098"/>
            <a:ext cx="10971566" cy="418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First, data is loaded into a Pandas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DataFrame. It involves the process of reading data from external source on which you want to work,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often from CSV, Excel, or other file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formats :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T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o read CSV data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into a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DataFrame, the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pandas 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pd.read_csv()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function is  used 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To read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EXCEL data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into a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DataFrame, the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pandas </a:t>
            </a:r>
            <a:r>
              <a:rPr lang="en-US" sz="2000" b="1" dirty="0" err="1" smtClean="0">
                <a:latin typeface="Verdana" pitchFamily="34" charset="0"/>
                <a:ea typeface="Verdana" pitchFamily="34" charset="0"/>
              </a:rPr>
              <a:t>pd.excel_csv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()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function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is  used 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Y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ou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can specify which column(s)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should be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the index in the call to </a:t>
            </a:r>
            <a:r>
              <a:rPr lang="en-US" sz="2000" b="1" dirty="0" err="1">
                <a:latin typeface="Verdana" pitchFamily="34" charset="0"/>
                <a:ea typeface="Verdana" pitchFamily="34" charset="0"/>
              </a:rPr>
              <a:t>read_csv</a:t>
            </a:r>
            <a:r>
              <a:rPr lang="en-US" sz="2000" b="1" dirty="0" smtClean="0">
                <a:latin typeface="Verdana" pitchFamily="34" charset="0"/>
                <a:ea typeface="Verdana" pitchFamily="34" charset="0"/>
              </a:rPr>
              <a:t>()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using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the 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index_col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 parameter by assigning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it the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zero-based position of the column to be used as the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index.</a:t>
            </a:r>
            <a:endParaRPr lang="en-US" sz="20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710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1. Loading Data (Cont</a:t>
            </a:r>
            <a:r>
              <a:rPr lang="en-US" sz="3600" b="1" dirty="0" smtClean="0"/>
              <a:t>.)</a:t>
            </a:r>
            <a:endParaRPr lang="en-US" sz="3600" b="1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1" t="29743" r="38697" b="11785"/>
          <a:stretch/>
        </p:blipFill>
        <p:spPr bwMode="auto">
          <a:xfrm>
            <a:off x="1554585" y="1201175"/>
            <a:ext cx="7916272" cy="4838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360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/>
              <a:t>1. Loading Data (Cont.)</a:t>
            </a:r>
            <a:endParaRPr lang="en-US" sz="3600" b="1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6" t="35560" r="5003" b="18965"/>
          <a:stretch/>
        </p:blipFill>
        <p:spPr bwMode="auto">
          <a:xfrm>
            <a:off x="537663" y="1480837"/>
            <a:ext cx="11335407" cy="3326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5011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/>
              <a:t>2. Inspecting </a:t>
            </a:r>
            <a:r>
              <a:rPr lang="en-US" sz="3600" b="1" dirty="0"/>
              <a:t>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537663" y="948690"/>
            <a:ext cx="1119188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Verdana" pitchFamily="34" charset="0"/>
                <a:ea typeface="Verdana" pitchFamily="34" charset="0"/>
                <a:cs typeface="Arial Unicode MS" pitchFamily="34" charset="-128"/>
              </a:rPr>
              <a:t>After loading data, it's important to inspect the data 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structure it includes: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Printing </a:t>
            </a:r>
            <a:r>
              <a:rPr lang="en-US" dirty="0">
                <a:latin typeface="Verdana" pitchFamily="34" charset="0"/>
                <a:ea typeface="Verdana" pitchFamily="34" charset="0"/>
                <a:cs typeface="Arial Unicode MS" pitchFamily="34" charset="-128"/>
              </a:rPr>
              <a:t>first few rows of 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data:</a:t>
            </a:r>
          </a:p>
          <a:p>
            <a:pPr lvl="2">
              <a:lnSpc>
                <a:spcPct val="150000"/>
              </a:lnSpc>
            </a:pPr>
            <a:r>
              <a:rPr lang="en-US" b="1" dirty="0" err="1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df.head</a:t>
            </a:r>
            <a:r>
              <a:rPr lang="en-US" b="1" dirty="0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() 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function </a:t>
            </a:r>
            <a:r>
              <a:rPr lang="en-US" dirty="0">
                <a:latin typeface="Verdana" pitchFamily="34" charset="0"/>
                <a:ea typeface="Verdana" pitchFamily="34" charset="0"/>
                <a:cs typeface="Arial Unicode MS" pitchFamily="34" charset="-128"/>
              </a:rPr>
              <a:t>of pandas is used to print first few records of data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. 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Printing last few </a:t>
            </a:r>
            <a:r>
              <a:rPr lang="en-US" dirty="0">
                <a:latin typeface="Verdana" pitchFamily="34" charset="0"/>
                <a:ea typeface="Verdana" pitchFamily="34" charset="0"/>
                <a:cs typeface="Arial Unicode MS" pitchFamily="34" charset="-128"/>
              </a:rPr>
              <a:t>records of 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data:</a:t>
            </a:r>
          </a:p>
          <a:p>
            <a:pPr lvl="2">
              <a:lnSpc>
                <a:spcPct val="150000"/>
              </a:lnSpc>
            </a:pPr>
            <a:r>
              <a:rPr lang="en-US" b="1" dirty="0" err="1" smtClean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Arial Unicode MS" pitchFamily="34" charset="-128"/>
              </a:rPr>
              <a:t>df.tail</a:t>
            </a:r>
            <a:r>
              <a:rPr lang="en-US" b="1" dirty="0" smtClean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Arial Unicode MS" pitchFamily="34" charset="-128"/>
              </a:rPr>
              <a:t> () </a:t>
            </a:r>
            <a:r>
              <a:rPr lang="en-US" dirty="0" smtClean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Arial Unicode MS" pitchFamily="34" charset="-128"/>
              </a:rPr>
              <a:t>function of pandas is used to 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Arial Unicode MS" pitchFamily="34" charset="-128"/>
              </a:rPr>
              <a:t>Checking number of rows and columns in data:</a:t>
            </a:r>
          </a:p>
          <a:p>
            <a:pPr lvl="2">
              <a:lnSpc>
                <a:spcPct val="150000"/>
              </a:lnSpc>
            </a:pPr>
            <a:r>
              <a:rPr lang="en-US" b="1" dirty="0" err="1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Arial Unicode MS" pitchFamily="34" charset="-128"/>
              </a:rPr>
              <a:t>df.shape</a:t>
            </a:r>
            <a:r>
              <a:rPr lang="en-US" dirty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Arial Unicode MS" pitchFamily="34" charset="-128"/>
              </a:rPr>
              <a:t> is used to get shape of data which tells the number of rows and columns in </a:t>
            </a:r>
            <a:r>
              <a:rPr lang="en-US" dirty="0" smtClean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Arial Unicode MS" pitchFamily="34" charset="-128"/>
              </a:rPr>
              <a:t>data</a:t>
            </a:r>
            <a:endParaRPr lang="en-US" dirty="0" smtClean="0">
              <a:latin typeface="Verdana" pitchFamily="34" charset="0"/>
              <a:ea typeface="Verdana" pitchFamily="34" charset="0"/>
              <a:cs typeface="Arial Unicode MS" pitchFamily="34" charset="-128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Checking </a:t>
            </a:r>
            <a:r>
              <a:rPr lang="en-US" dirty="0">
                <a:latin typeface="Verdana" pitchFamily="34" charset="0"/>
                <a:ea typeface="Verdana" pitchFamily="34" charset="0"/>
                <a:cs typeface="Arial Unicode MS" pitchFamily="34" charset="-128"/>
              </a:rPr>
              <a:t>data types of each column in data: </a:t>
            </a:r>
          </a:p>
          <a:p>
            <a:pPr lvl="2">
              <a:lnSpc>
                <a:spcPct val="150000"/>
              </a:lnSpc>
            </a:pPr>
            <a:r>
              <a:rPr lang="en-US" b="1" dirty="0" err="1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df.dtypes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 </a:t>
            </a:r>
            <a:r>
              <a:rPr lang="en-US" dirty="0">
                <a:latin typeface="Verdana" pitchFamily="34" charset="0"/>
                <a:ea typeface="Verdana" pitchFamily="34" charset="0"/>
                <a:cs typeface="Arial Unicode MS" pitchFamily="34" charset="-128"/>
              </a:rPr>
              <a:t>function of pandas is used to 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check </a:t>
            </a:r>
            <a:r>
              <a:rPr lang="en-US" dirty="0">
                <a:latin typeface="Verdana" pitchFamily="34" charset="0"/>
                <a:ea typeface="Verdana" pitchFamily="34" charset="0"/>
                <a:cs typeface="Arial Unicode MS" pitchFamily="34" charset="-128"/>
              </a:rPr>
              <a:t>data types of each column in 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data.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err="1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Calulating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 statistical </a:t>
            </a:r>
            <a:r>
              <a:rPr lang="en-US" dirty="0">
                <a:latin typeface="Verdana" pitchFamily="34" charset="0"/>
                <a:ea typeface="Verdana" pitchFamily="34" charset="0"/>
                <a:cs typeface="Arial Unicode MS" pitchFamily="34" charset="-128"/>
              </a:rPr>
              <a:t>description of data: </a:t>
            </a:r>
            <a:endParaRPr lang="en-US" dirty="0" smtClean="0">
              <a:latin typeface="Verdana" pitchFamily="34" charset="0"/>
              <a:ea typeface="Verdana" pitchFamily="34" charset="0"/>
              <a:cs typeface="Arial Unicode MS" pitchFamily="34" charset="-128"/>
            </a:endParaRPr>
          </a:p>
          <a:p>
            <a:pPr lvl="2">
              <a:lnSpc>
                <a:spcPct val="150000"/>
              </a:lnSpc>
            </a:pPr>
            <a:r>
              <a:rPr lang="en-US" b="1" dirty="0" err="1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df.describe</a:t>
            </a:r>
            <a:r>
              <a:rPr lang="en-US" b="1" dirty="0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() 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function of pandas provides statistical description of data.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Checking columns and index : </a:t>
            </a:r>
            <a:r>
              <a:rPr lang="en-US" b="1" dirty="0" err="1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df.columns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 and </a:t>
            </a:r>
            <a:r>
              <a:rPr lang="en-US" b="1" dirty="0" err="1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df.index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Arial Unicode MS" pitchFamily="34" charset="-128"/>
              </a:rPr>
              <a:t> used to get columns and index of dataframe</a:t>
            </a:r>
            <a:endParaRPr lang="en-US" dirty="0">
              <a:latin typeface="Verdana" pitchFamily="34" charset="0"/>
              <a:ea typeface="Verdana" pitchFamily="34" charset="0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98774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/>
              <a:t>2. Inspecting Data (Cont.)</a:t>
            </a:r>
            <a:endParaRPr lang="en-US" sz="3600" b="1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40" t="28017" r="57712" b="9017"/>
          <a:stretch/>
        </p:blipFill>
        <p:spPr bwMode="auto">
          <a:xfrm>
            <a:off x="1404366" y="1322783"/>
            <a:ext cx="3831496" cy="4606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80" t="28233" r="59772" b="6250"/>
          <a:stretch/>
        </p:blipFill>
        <p:spPr bwMode="auto">
          <a:xfrm>
            <a:off x="6183165" y="1322783"/>
            <a:ext cx="3831496" cy="4792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2271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2. Inspecting Data (Cont.)</a:t>
            </a:r>
            <a:endParaRPr lang="en-US" sz="3600" b="1" dirty="0"/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8" t="32543" r="40143" b="36423"/>
          <a:stretch/>
        </p:blipFill>
        <p:spPr bwMode="auto">
          <a:xfrm>
            <a:off x="1072055" y="1567832"/>
            <a:ext cx="9315163" cy="3342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3612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3. Data Cleaning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268011" y="1180966"/>
            <a:ext cx="11650717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Data cleansing is an essential part of the data analytics process. Data cleaning using Pandas removes incorrect, corrupted, garbage, incorrectly formatted, duplicate, or incomplete data within a dataset. </a:t>
            </a:r>
            <a:endParaRPr lang="en-US" sz="2000" dirty="0" smtClean="0">
              <a:latin typeface="Verdana" pitchFamily="34" charset="0"/>
              <a:ea typeface="Verdana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Verdana" pitchFamily="34" charset="0"/>
                <a:ea typeface="Verdana" pitchFamily="34" charset="0"/>
              </a:rPr>
              <a:t>Data often requires cleaning by: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latin typeface="Verdana" pitchFamily="34" charset="0"/>
                <a:ea typeface="Verdana" pitchFamily="34" charset="0"/>
              </a:rPr>
              <a:t>Checking Missing values: </a:t>
            </a:r>
            <a:r>
              <a:rPr lang="en-US" sz="2000" b="1" dirty="0" err="1" smtClean="0">
                <a:latin typeface="Verdana" pitchFamily="34" charset="0"/>
                <a:ea typeface="Verdana" pitchFamily="34" charset="0"/>
              </a:rPr>
              <a:t>df.isnull</a:t>
            </a:r>
            <a:r>
              <a:rPr lang="en-US" sz="2000" b="1" dirty="0" smtClean="0">
                <a:latin typeface="Verdana" pitchFamily="34" charset="0"/>
                <a:ea typeface="Verdana" pitchFamily="34" charset="0"/>
              </a:rPr>
              <a:t>().sum()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function returns number of missing values in each column in data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latin typeface="Verdana" pitchFamily="34" charset="0"/>
                <a:ea typeface="Verdana" pitchFamily="34" charset="0"/>
              </a:rPr>
              <a:t>Handling missing values: </a:t>
            </a:r>
          </a:p>
          <a:p>
            <a:pPr marL="800100" lvl="1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Verdana" pitchFamily="34" charset="0"/>
                <a:ea typeface="Verdana" pitchFamily="34" charset="0"/>
              </a:rPr>
              <a:t>Missing rows can be dropped by  </a:t>
            </a:r>
            <a:r>
              <a:rPr lang="en-US" sz="2000" b="1" dirty="0" err="1" smtClean="0">
                <a:latin typeface="Verdana" pitchFamily="34" charset="0"/>
                <a:ea typeface="Verdana" pitchFamily="34" charset="0"/>
              </a:rPr>
              <a:t>df.dropna</a:t>
            </a:r>
            <a:r>
              <a:rPr lang="en-US" sz="2000" b="1" dirty="0" smtClean="0">
                <a:latin typeface="Verdana" pitchFamily="34" charset="0"/>
                <a:ea typeface="Verdana" pitchFamily="34" charset="0"/>
              </a:rPr>
              <a:t>()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function of pandas</a:t>
            </a:r>
          </a:p>
          <a:p>
            <a:pPr marL="800100" lvl="1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Verdana" pitchFamily="34" charset="0"/>
                <a:ea typeface="Verdana" pitchFamily="34" charset="0"/>
              </a:rPr>
              <a:t>Missing values can be filled using </a:t>
            </a:r>
            <a:r>
              <a:rPr lang="en-US" sz="2000" b="1" dirty="0" err="1" smtClean="0">
                <a:latin typeface="Verdana" pitchFamily="34" charset="0"/>
                <a:ea typeface="Verdana" pitchFamily="34" charset="0"/>
              </a:rPr>
              <a:t>df.fillna</a:t>
            </a:r>
            <a:r>
              <a:rPr lang="en-US" sz="2000" b="1" dirty="0" smtClean="0">
                <a:latin typeface="Verdana" pitchFamily="34" charset="0"/>
                <a:ea typeface="Verdana" pitchFamily="34" charset="0"/>
              </a:rPr>
              <a:t>(value)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function </a:t>
            </a:r>
          </a:p>
          <a:p>
            <a:pPr marL="1257300" lvl="2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Verdana" pitchFamily="34" charset="0"/>
                <a:ea typeface="Verdana" pitchFamily="34" charset="0"/>
              </a:rPr>
              <a:t>Missing values can also be filled with special methods i.e. mean, median, mode</a:t>
            </a:r>
            <a:endParaRPr lang="en-US" sz="2000" dirty="0">
              <a:latin typeface="Verdana" pitchFamily="34" charset="0"/>
              <a:ea typeface="Verdana" pitchFamily="34" charset="0"/>
            </a:endParaRPr>
          </a:p>
          <a:p>
            <a:pPr lvl="2" algn="ctr">
              <a:lnSpc>
                <a:spcPct val="150000"/>
              </a:lnSpc>
            </a:pPr>
            <a:r>
              <a:rPr lang="en-US" sz="2000" b="1" i="1" dirty="0" err="1" smtClean="0">
                <a:latin typeface="Verdana" pitchFamily="34" charset="0"/>
                <a:ea typeface="Verdana" pitchFamily="34" charset="0"/>
              </a:rPr>
              <a:t>df.fillna</a:t>
            </a:r>
            <a:r>
              <a:rPr lang="en-US" sz="2000" b="1" i="1" dirty="0" smtClean="0">
                <a:latin typeface="Verdana" pitchFamily="34" charset="0"/>
                <a:ea typeface="Verdana" pitchFamily="34" charset="0"/>
              </a:rPr>
              <a:t>(</a:t>
            </a:r>
            <a:r>
              <a:rPr lang="en-US" sz="2000" b="1" i="1" dirty="0" err="1" smtClean="0">
                <a:latin typeface="Verdana" pitchFamily="34" charset="0"/>
                <a:ea typeface="Verdana" pitchFamily="34" charset="0"/>
              </a:rPr>
              <a:t>df.mean</a:t>
            </a:r>
            <a:r>
              <a:rPr lang="en-US" sz="2000" b="1" i="1" dirty="0">
                <a:latin typeface="Verdana" pitchFamily="34" charset="0"/>
                <a:ea typeface="Verdana" pitchFamily="34" charset="0"/>
              </a:rPr>
              <a:t>())</a:t>
            </a:r>
            <a:endParaRPr lang="en-US" sz="2000" b="1" i="1" dirty="0" smtClean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288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3. Data </a:t>
            </a:r>
            <a:r>
              <a:rPr lang="en-US" sz="3600" b="1" dirty="0" smtClean="0"/>
              <a:t>Cleaning (cont.)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268011" y="1180966"/>
            <a:ext cx="11650717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Verdana" pitchFamily="34" charset="0"/>
                <a:ea typeface="Verdana" pitchFamily="34" charset="0"/>
              </a:rPr>
              <a:t>Removing duplicates: </a:t>
            </a:r>
          </a:p>
          <a:p>
            <a:pPr marL="800100" lvl="1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err="1">
                <a:latin typeface="Verdana" pitchFamily="34" charset="0"/>
                <a:ea typeface="Verdana" pitchFamily="34" charset="0"/>
              </a:rPr>
              <a:t>df.drop_duplicates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()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function of pandas used to drop duplicate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values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latin typeface="Verdana" pitchFamily="34" charset="0"/>
                <a:ea typeface="Verdana" pitchFamily="34" charset="0"/>
              </a:rPr>
              <a:t>Renaming columns/</a:t>
            </a:r>
            <a:r>
              <a:rPr lang="en-US" sz="2000" b="1" dirty="0" err="1" smtClean="0">
                <a:latin typeface="Verdana" pitchFamily="34" charset="0"/>
                <a:ea typeface="Verdana" pitchFamily="34" charset="0"/>
              </a:rPr>
              <a:t>indexe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 labels:</a:t>
            </a:r>
            <a:endParaRPr lang="en-US" sz="2000" b="1" dirty="0" smtClean="0">
              <a:latin typeface="Verdana" pitchFamily="34" charset="0"/>
              <a:ea typeface="Verdana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i="1" dirty="0" err="1" smtClean="0">
                <a:latin typeface="Verdana" pitchFamily="34" charset="0"/>
                <a:ea typeface="Verdana" pitchFamily="34" charset="0"/>
              </a:rPr>
              <a:t>DataFrame.rename</a:t>
            </a:r>
            <a:r>
              <a:rPr lang="en-US" sz="2000" b="1" i="1" dirty="0" smtClean="0">
                <a:latin typeface="Verdana" pitchFamily="34" charset="0"/>
                <a:ea typeface="Verdana" pitchFamily="34" charset="0"/>
              </a:rPr>
              <a:t>() </a:t>
            </a:r>
            <a:r>
              <a:rPr lang="en-US" sz="2000" i="1" dirty="0" smtClean="0">
                <a:latin typeface="Verdana" pitchFamily="34" charset="0"/>
                <a:ea typeface="Verdana" pitchFamily="34" charset="0"/>
              </a:rPr>
              <a:t>is used for renaming columns or </a:t>
            </a:r>
            <a:r>
              <a:rPr lang="en-US" sz="2000" i="1" dirty="0" err="1" smtClean="0">
                <a:latin typeface="Verdana" pitchFamily="34" charset="0"/>
                <a:ea typeface="Verdana" pitchFamily="34" charset="0"/>
              </a:rPr>
              <a:t>indexe</a:t>
            </a:r>
            <a:r>
              <a:rPr lang="en-US" sz="2000" i="1" dirty="0">
                <a:latin typeface="Verdana" pitchFamily="34" charset="0"/>
                <a:ea typeface="Verdana" pitchFamily="34" charset="0"/>
              </a:rPr>
              <a:t> labels </a:t>
            </a:r>
            <a:r>
              <a:rPr lang="en-US" sz="2000" i="1" dirty="0" smtClean="0">
                <a:latin typeface="Verdana" pitchFamily="34" charset="0"/>
                <a:ea typeface="Verdana" pitchFamily="34" charset="0"/>
              </a:rPr>
              <a:t>of a dataframe</a:t>
            </a:r>
          </a:p>
        </p:txBody>
      </p:sp>
    </p:spTree>
    <p:extLst>
      <p:ext uri="{BB962C8B-B14F-4D97-AF65-F5344CB8AC3E}">
        <p14:creationId xmlns:p14="http://schemas.microsoft.com/office/powerpoint/2010/main" val="3363656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847576" y="111658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3. Data </a:t>
            </a:r>
            <a:r>
              <a:rPr lang="en-US" sz="3600" b="1" dirty="0" smtClean="0"/>
              <a:t>Cleaning </a:t>
            </a:r>
            <a:r>
              <a:rPr lang="en-US" sz="3600" b="1" dirty="0"/>
              <a:t>(cont</a:t>
            </a:r>
            <a:r>
              <a:rPr lang="en-US" sz="3600" b="1" dirty="0" smtClean="0"/>
              <a:t>.)</a:t>
            </a:r>
            <a:endParaRPr lang="en-US" sz="3600" b="1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88" t="39440" r="66194" b="18534"/>
          <a:stretch/>
        </p:blipFill>
        <p:spPr bwMode="auto">
          <a:xfrm>
            <a:off x="757979" y="685965"/>
            <a:ext cx="3274501" cy="4391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74" t="37500" r="57106" b="6250"/>
          <a:stretch/>
        </p:blipFill>
        <p:spPr bwMode="auto">
          <a:xfrm>
            <a:off x="4088370" y="824332"/>
            <a:ext cx="351571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7" t="36638" r="57106" b="6250"/>
          <a:stretch/>
        </p:blipFill>
        <p:spPr bwMode="auto">
          <a:xfrm>
            <a:off x="7736650" y="824332"/>
            <a:ext cx="3468414" cy="4177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73" t="63147" r="57712" b="14439"/>
          <a:stretch/>
        </p:blipFill>
        <p:spPr bwMode="auto">
          <a:xfrm>
            <a:off x="823928" y="5077499"/>
            <a:ext cx="3436883" cy="1639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089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/>
              <a:t>4. Data </a:t>
            </a:r>
            <a:r>
              <a:rPr lang="en-US" sz="3600" b="1" dirty="0"/>
              <a:t>Filtering and Selection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757979" y="1256098"/>
            <a:ext cx="1097156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>
                <a:latin typeface="Verdana" pitchFamily="34" charset="0"/>
                <a:ea typeface="Verdana" pitchFamily="34" charset="0"/>
              </a:rPr>
              <a:t>Filter rows based on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conditions: </a:t>
            </a:r>
            <a:r>
              <a:rPr lang="en-US" sz="2200" i="1" dirty="0" err="1" smtClean="0">
                <a:latin typeface="Verdana" pitchFamily="34" charset="0"/>
                <a:ea typeface="Verdana" pitchFamily="34" charset="0"/>
              </a:rPr>
              <a:t>data_filtered</a:t>
            </a:r>
            <a:r>
              <a:rPr lang="en-US" sz="2200" i="1" dirty="0" smtClean="0">
                <a:latin typeface="Verdana" pitchFamily="34" charset="0"/>
                <a:ea typeface="Verdana" pitchFamily="34" charset="0"/>
              </a:rPr>
              <a:t> </a:t>
            </a:r>
            <a:r>
              <a:rPr lang="en-US" sz="2200" i="1" dirty="0">
                <a:latin typeface="Verdana" pitchFamily="34" charset="0"/>
                <a:ea typeface="Verdana" pitchFamily="34" charset="0"/>
              </a:rPr>
              <a:t>= </a:t>
            </a:r>
            <a:r>
              <a:rPr lang="en-US" sz="2200" i="1" dirty="0" smtClean="0">
                <a:latin typeface="Verdana" pitchFamily="34" charset="0"/>
                <a:ea typeface="Verdana" pitchFamily="34" charset="0"/>
              </a:rPr>
              <a:t>data[data[Deaths'] </a:t>
            </a:r>
            <a:r>
              <a:rPr lang="en-US" sz="2200" i="1" dirty="0">
                <a:latin typeface="Verdana" pitchFamily="34" charset="0"/>
                <a:ea typeface="Verdana" pitchFamily="34" charset="0"/>
              </a:rPr>
              <a:t>&gt; 5</a:t>
            </a:r>
            <a:r>
              <a:rPr lang="en-US" sz="2200" i="1" dirty="0" smtClean="0">
                <a:latin typeface="Verdana" pitchFamily="34" charset="0"/>
                <a:ea typeface="Verdana" pitchFamily="34" charset="0"/>
              </a:rPr>
              <a:t>]</a:t>
            </a:r>
          </a:p>
          <a:p>
            <a:pPr lvl="2" algn="ctr">
              <a:lnSpc>
                <a:spcPct val="150000"/>
              </a:lnSpc>
            </a:pPr>
            <a:endParaRPr lang="en-US" sz="2200" i="1" dirty="0">
              <a:latin typeface="Verdana" pitchFamily="34" charset="0"/>
              <a:ea typeface="Verdana" pitchFamily="34" charset="0"/>
            </a:endParaRPr>
          </a:p>
          <a:p>
            <a:pPr lvl="2" algn="ctr">
              <a:lnSpc>
                <a:spcPct val="150000"/>
              </a:lnSpc>
            </a:pPr>
            <a:endParaRPr lang="en-US" sz="2200" i="1" dirty="0" smtClean="0">
              <a:latin typeface="Verdana" pitchFamily="34" charset="0"/>
              <a:ea typeface="Verdana" pitchFamily="34" charset="0"/>
            </a:endParaRPr>
          </a:p>
          <a:p>
            <a:pPr lvl="2" algn="ctr">
              <a:lnSpc>
                <a:spcPct val="150000"/>
              </a:lnSpc>
            </a:pPr>
            <a:endParaRPr lang="en-US" sz="2200" i="1" dirty="0">
              <a:latin typeface="Verdana" pitchFamily="34" charset="0"/>
              <a:ea typeface="Verdana" pitchFamily="34" charset="0"/>
            </a:endParaRPr>
          </a:p>
          <a:p>
            <a:pPr lvl="2" algn="ctr">
              <a:lnSpc>
                <a:spcPct val="150000"/>
              </a:lnSpc>
            </a:pPr>
            <a:endParaRPr lang="en-US" sz="2200" i="1" dirty="0" smtClean="0">
              <a:latin typeface="Verdana" pitchFamily="34" charset="0"/>
              <a:ea typeface="Verdana" pitchFamily="34" charset="0"/>
            </a:endParaRPr>
          </a:p>
          <a:p>
            <a:pPr lvl="2" algn="ctr">
              <a:lnSpc>
                <a:spcPct val="150000"/>
              </a:lnSpc>
            </a:pPr>
            <a:endParaRPr lang="en-US" sz="2200" i="1" dirty="0" smtClean="0">
              <a:latin typeface="Verdana" pitchFamily="34" charset="0"/>
              <a:ea typeface="Verdana" pitchFamily="34" charset="0"/>
            </a:endParaRPr>
          </a:p>
          <a:p>
            <a:pPr lvl="1" algn="ctr">
              <a:lnSpc>
                <a:spcPct val="150000"/>
              </a:lnSpc>
            </a:pPr>
            <a:r>
              <a:rPr lang="en-US" i="1" dirty="0" smtClean="0">
                <a:latin typeface="Verdana" pitchFamily="34" charset="0"/>
                <a:ea typeface="Verdana" pitchFamily="34" charset="0"/>
              </a:rPr>
              <a:t>This </a:t>
            </a:r>
            <a:r>
              <a:rPr lang="en-US" i="1" dirty="0">
                <a:latin typeface="Verdana" pitchFamily="34" charset="0"/>
                <a:ea typeface="Verdana" pitchFamily="34" charset="0"/>
              </a:rPr>
              <a:t>will </a:t>
            </a:r>
            <a:r>
              <a:rPr lang="en-US" i="1" dirty="0" smtClean="0">
                <a:latin typeface="Verdana" pitchFamily="34" charset="0"/>
                <a:ea typeface="Verdana" pitchFamily="34" charset="0"/>
              </a:rPr>
              <a:t>select records </a:t>
            </a:r>
            <a:r>
              <a:rPr lang="en-US" i="1" dirty="0">
                <a:latin typeface="Verdana" pitchFamily="34" charset="0"/>
                <a:ea typeface="Verdana" pitchFamily="34" charset="0"/>
              </a:rPr>
              <a:t>with deaths more than </a:t>
            </a:r>
            <a:r>
              <a:rPr lang="en-US" i="1" dirty="0" smtClean="0">
                <a:latin typeface="Verdana" pitchFamily="34" charset="0"/>
                <a:ea typeface="Verdana" pitchFamily="34" charset="0"/>
              </a:rPr>
              <a:t>5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Selecting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specific columns:</a:t>
            </a:r>
          </a:p>
          <a:p>
            <a:pPr algn="ctr">
              <a:lnSpc>
                <a:spcPct val="150000"/>
              </a:lnSpc>
            </a:pPr>
            <a:r>
              <a:rPr lang="en-US" sz="2200" i="1" dirty="0" err="1">
                <a:latin typeface="Verdana" pitchFamily="34" charset="0"/>
                <a:ea typeface="Verdana" pitchFamily="34" charset="0"/>
              </a:rPr>
              <a:t>selected_columns</a:t>
            </a:r>
            <a:r>
              <a:rPr lang="en-US" sz="2200" i="1" dirty="0">
                <a:latin typeface="Verdana" pitchFamily="34" charset="0"/>
                <a:ea typeface="Verdana" pitchFamily="34" charset="0"/>
              </a:rPr>
              <a:t> = </a:t>
            </a:r>
            <a:r>
              <a:rPr lang="en-US" sz="2200" i="1" dirty="0" smtClean="0">
                <a:latin typeface="Verdana" pitchFamily="34" charset="0"/>
                <a:ea typeface="Verdana" pitchFamily="34" charset="0"/>
              </a:rPr>
              <a:t>data[[‘Cases', ‘City']]</a:t>
            </a:r>
          </a:p>
          <a:p>
            <a:pPr algn="ctr">
              <a:lnSpc>
                <a:spcPct val="150000"/>
              </a:lnSpc>
            </a:pPr>
            <a:r>
              <a:rPr lang="en-US" dirty="0" smtClean="0">
                <a:latin typeface="Verdana" pitchFamily="34" charset="0"/>
                <a:ea typeface="Verdana" pitchFamily="34" charset="0"/>
              </a:rPr>
              <a:t>This will select only columns “Cases”, and “City</a:t>
            </a:r>
            <a:r>
              <a:rPr lang="en-US" i="1" dirty="0" smtClean="0">
                <a:latin typeface="Verdana" pitchFamily="34" charset="0"/>
                <a:ea typeface="Verdana" pitchFamily="34" charset="0"/>
              </a:rPr>
              <a:t>”</a:t>
            </a:r>
            <a:endParaRPr lang="en-US" i="1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84" t="50000" r="56379" b="16400"/>
          <a:stretch/>
        </p:blipFill>
        <p:spPr bwMode="auto">
          <a:xfrm>
            <a:off x="3959772" y="1915510"/>
            <a:ext cx="4272456" cy="2457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3781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847576" y="23209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5. Data Transformation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757979" y="1256098"/>
            <a:ext cx="10971566" cy="4086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Data Transformation is the process of converting raw data into a format or structure that would be more suitable for discovering insights or pass it to an algorithm or a model.</a:t>
            </a:r>
            <a:endParaRPr lang="en-US" sz="2200" dirty="0">
              <a:latin typeface="Verdana" pitchFamily="34" charset="0"/>
              <a:ea typeface="Verdana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It involves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transforming existing data into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another presentation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. This may be needed for the following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reasons:</a:t>
            </a:r>
          </a:p>
          <a:p>
            <a:pPr marL="800100" lvl="1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Values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are not in the correct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units</a:t>
            </a:r>
          </a:p>
          <a:p>
            <a:pPr marL="800100" lvl="1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200" dirty="0" smtClean="0">
                <a:latin typeface="Verdana" pitchFamily="34" charset="0"/>
                <a:ea typeface="Verdana" pitchFamily="34" charset="0"/>
              </a:rPr>
              <a:t>Values </a:t>
            </a:r>
            <a:r>
              <a:rPr lang="en-US" sz="2200" dirty="0">
                <a:latin typeface="Verdana" pitchFamily="34" charset="0"/>
                <a:ea typeface="Verdana" pitchFamily="34" charset="0"/>
              </a:rPr>
              <a:t>are qualitative and need to be converted to appropriate numeric </a:t>
            </a:r>
            <a:r>
              <a:rPr lang="en-US" sz="2200" dirty="0" smtClean="0">
                <a:latin typeface="Verdana" pitchFamily="34" charset="0"/>
                <a:ea typeface="Verdana" pitchFamily="34" charset="0"/>
              </a:rPr>
              <a:t>values</a:t>
            </a:r>
            <a:endParaRPr lang="en-US" sz="22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881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847576" y="421664"/>
            <a:ext cx="68284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5. Data </a:t>
            </a:r>
            <a:r>
              <a:rPr lang="en-US" sz="3600" b="1" dirty="0" smtClean="0"/>
              <a:t>Transformation (cont.)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757979" y="1256098"/>
            <a:ext cx="1097156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Data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Transformation may consists on following:</a:t>
            </a:r>
            <a:endParaRPr lang="en-US" sz="2000" dirty="0">
              <a:latin typeface="Verdana" pitchFamily="34" charset="0"/>
              <a:ea typeface="Verdana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latin typeface="Verdana" pitchFamily="34" charset="0"/>
                <a:ea typeface="Verdana" pitchFamily="34" charset="0"/>
              </a:rPr>
              <a:t>Converting 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data types: </a:t>
            </a:r>
            <a:endParaRPr lang="en-US" sz="2000" b="1" dirty="0" smtClean="0">
              <a:latin typeface="Verdana" pitchFamily="34" charset="0"/>
              <a:ea typeface="Verdana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Verdana" pitchFamily="34" charset="0"/>
                <a:ea typeface="Verdana" pitchFamily="34" charset="0"/>
              </a:rPr>
              <a:t>Data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type of a specific column can be changed using 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.</a:t>
            </a:r>
            <a:r>
              <a:rPr lang="en-US" sz="2000" b="1" dirty="0" err="1">
                <a:latin typeface="Verdana" pitchFamily="34" charset="0"/>
                <a:ea typeface="Verdana" pitchFamily="34" charset="0"/>
              </a:rPr>
              <a:t>astype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(</a:t>
            </a:r>
            <a:r>
              <a:rPr lang="en-US" sz="2000" b="1" dirty="0" err="1">
                <a:latin typeface="Verdana" pitchFamily="34" charset="0"/>
                <a:ea typeface="Verdana" pitchFamily="34" charset="0"/>
              </a:rPr>
              <a:t>int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)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function on that column like </a:t>
            </a:r>
          </a:p>
          <a:p>
            <a:pPr lvl="1" algn="ctr">
              <a:lnSpc>
                <a:spcPct val="150000"/>
              </a:lnSpc>
            </a:pPr>
            <a:r>
              <a:rPr lang="en-US" sz="2000" i="1" dirty="0" err="1">
                <a:latin typeface="Verdana" pitchFamily="34" charset="0"/>
                <a:ea typeface="Verdana" pitchFamily="34" charset="0"/>
              </a:rPr>
              <a:t>df</a:t>
            </a:r>
            <a:r>
              <a:rPr lang="en-US" sz="2000" i="1" dirty="0">
                <a:latin typeface="Verdana" pitchFamily="34" charset="0"/>
                <a:ea typeface="Verdana" pitchFamily="34" charset="0"/>
              </a:rPr>
              <a:t>['column'] = </a:t>
            </a:r>
            <a:r>
              <a:rPr lang="en-US" sz="2000" i="1" dirty="0" err="1">
                <a:latin typeface="Verdana" pitchFamily="34" charset="0"/>
                <a:ea typeface="Verdana" pitchFamily="34" charset="0"/>
              </a:rPr>
              <a:t>df</a:t>
            </a:r>
            <a:r>
              <a:rPr lang="en-US" sz="2000" i="1" dirty="0">
                <a:latin typeface="Verdana" pitchFamily="34" charset="0"/>
                <a:ea typeface="Verdana" pitchFamily="34" charset="0"/>
              </a:rPr>
              <a:t>['column'].</a:t>
            </a:r>
            <a:r>
              <a:rPr lang="en-US" sz="2000" i="1" dirty="0" err="1">
                <a:latin typeface="Verdana" pitchFamily="34" charset="0"/>
                <a:ea typeface="Verdana" pitchFamily="34" charset="0"/>
              </a:rPr>
              <a:t>astype</a:t>
            </a:r>
            <a:r>
              <a:rPr lang="en-US" sz="2000" i="1" dirty="0">
                <a:latin typeface="Verdana" pitchFamily="34" charset="0"/>
                <a:ea typeface="Verdana" pitchFamily="34" charset="0"/>
              </a:rPr>
              <a:t>(</a:t>
            </a:r>
            <a:r>
              <a:rPr lang="en-US" sz="2000" i="1" dirty="0" err="1">
                <a:latin typeface="Verdana" pitchFamily="34" charset="0"/>
                <a:ea typeface="Verdana" pitchFamily="34" charset="0"/>
              </a:rPr>
              <a:t>int</a:t>
            </a:r>
            <a:r>
              <a:rPr lang="en-US" sz="2000" i="1" dirty="0" smtClean="0">
                <a:latin typeface="Verdana" pitchFamily="34" charset="0"/>
                <a:ea typeface="Verdana" pitchFamily="34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latin typeface="Verdana" pitchFamily="34" charset="0"/>
                <a:ea typeface="Verdana" pitchFamily="34" charset="0"/>
              </a:rPr>
              <a:t>Apply 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functions to columns: </a:t>
            </a:r>
            <a:endParaRPr lang="en-US" sz="2000" b="1" dirty="0" smtClean="0">
              <a:latin typeface="Verdana" pitchFamily="34" charset="0"/>
              <a:ea typeface="Verdana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i="1" dirty="0" err="1" smtClean="0">
                <a:latin typeface="Verdana" pitchFamily="34" charset="0"/>
                <a:ea typeface="Verdana" pitchFamily="34" charset="0"/>
              </a:rPr>
              <a:t>df</a:t>
            </a:r>
            <a:r>
              <a:rPr lang="en-US" sz="2000" i="1" dirty="0">
                <a:latin typeface="Verdana" pitchFamily="34" charset="0"/>
                <a:ea typeface="Verdana" pitchFamily="34" charset="0"/>
              </a:rPr>
              <a:t>['</a:t>
            </a:r>
            <a:r>
              <a:rPr lang="en-US" sz="2000" i="1" dirty="0" err="1">
                <a:latin typeface="Verdana" pitchFamily="34" charset="0"/>
                <a:ea typeface="Verdana" pitchFamily="34" charset="0"/>
              </a:rPr>
              <a:t>new_column</a:t>
            </a:r>
            <a:r>
              <a:rPr lang="en-US" sz="2000" i="1" dirty="0">
                <a:latin typeface="Verdana" pitchFamily="34" charset="0"/>
                <a:ea typeface="Verdana" pitchFamily="34" charset="0"/>
              </a:rPr>
              <a:t>'] = </a:t>
            </a:r>
            <a:r>
              <a:rPr lang="en-US" sz="2000" i="1" dirty="0" err="1">
                <a:latin typeface="Verdana" pitchFamily="34" charset="0"/>
                <a:ea typeface="Verdana" pitchFamily="34" charset="0"/>
              </a:rPr>
              <a:t>df</a:t>
            </a:r>
            <a:r>
              <a:rPr lang="en-US" sz="2000" i="1" dirty="0">
                <a:latin typeface="Verdana" pitchFamily="34" charset="0"/>
                <a:ea typeface="Verdana" pitchFamily="34" charset="0"/>
              </a:rPr>
              <a:t>['</a:t>
            </a:r>
            <a:r>
              <a:rPr lang="en-US" sz="2000" i="1" dirty="0" err="1">
                <a:latin typeface="Verdana" pitchFamily="34" charset="0"/>
                <a:ea typeface="Verdana" pitchFamily="34" charset="0"/>
              </a:rPr>
              <a:t>existing_column</a:t>
            </a:r>
            <a:r>
              <a:rPr lang="en-US" sz="2000" i="1" dirty="0">
                <a:latin typeface="Verdana" pitchFamily="34" charset="0"/>
                <a:ea typeface="Verdana" pitchFamily="34" charset="0"/>
              </a:rPr>
              <a:t>'].apply(lambda x: x * </a:t>
            </a:r>
            <a:r>
              <a:rPr lang="en-US" sz="2000" i="1" dirty="0" smtClean="0">
                <a:latin typeface="Verdana" pitchFamily="34" charset="0"/>
                <a:ea typeface="Verdana" pitchFamily="34" charset="0"/>
              </a:rPr>
              <a:t>2)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latin typeface="Verdana" pitchFamily="34" charset="0"/>
                <a:ea typeface="Verdana" pitchFamily="34" charset="0"/>
              </a:rPr>
              <a:t>Creating 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new </a:t>
            </a:r>
            <a:r>
              <a:rPr lang="en-US" sz="2000" b="1" dirty="0" smtClean="0">
                <a:latin typeface="Verdana" pitchFamily="34" charset="0"/>
                <a:ea typeface="Verdana" pitchFamily="34" charset="0"/>
              </a:rPr>
              <a:t>columns: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i="1" dirty="0" err="1" smtClean="0">
                <a:latin typeface="Verdana" pitchFamily="34" charset="0"/>
                <a:ea typeface="Verdana" pitchFamily="34" charset="0"/>
              </a:rPr>
              <a:t>df</a:t>
            </a:r>
            <a:r>
              <a:rPr lang="en-US" sz="2000" i="1" dirty="0">
                <a:latin typeface="Verdana" pitchFamily="34" charset="0"/>
                <a:ea typeface="Verdana" pitchFamily="34" charset="0"/>
              </a:rPr>
              <a:t>['</a:t>
            </a:r>
            <a:r>
              <a:rPr lang="en-US" sz="2000" i="1" dirty="0" err="1">
                <a:latin typeface="Verdana" pitchFamily="34" charset="0"/>
                <a:ea typeface="Verdana" pitchFamily="34" charset="0"/>
              </a:rPr>
              <a:t>new_column</a:t>
            </a:r>
            <a:r>
              <a:rPr lang="en-US" sz="2000" i="1" dirty="0">
                <a:latin typeface="Verdana" pitchFamily="34" charset="0"/>
                <a:ea typeface="Verdana" pitchFamily="34" charset="0"/>
              </a:rPr>
              <a:t>'] = </a:t>
            </a:r>
            <a:r>
              <a:rPr lang="en-US" sz="2000" i="1" dirty="0" err="1">
                <a:latin typeface="Verdana" pitchFamily="34" charset="0"/>
                <a:ea typeface="Verdana" pitchFamily="34" charset="0"/>
              </a:rPr>
              <a:t>df</a:t>
            </a:r>
            <a:r>
              <a:rPr lang="en-US" sz="2000" i="1" dirty="0">
                <a:latin typeface="Verdana" pitchFamily="34" charset="0"/>
                <a:ea typeface="Verdana" pitchFamily="34" charset="0"/>
              </a:rPr>
              <a:t>['column1'] + </a:t>
            </a:r>
            <a:r>
              <a:rPr lang="en-US" sz="2000" i="1" dirty="0" err="1">
                <a:latin typeface="Verdana" pitchFamily="34" charset="0"/>
                <a:ea typeface="Verdana" pitchFamily="34" charset="0"/>
              </a:rPr>
              <a:t>df</a:t>
            </a:r>
            <a:r>
              <a:rPr lang="en-US" sz="2000" i="1" dirty="0">
                <a:latin typeface="Verdana" pitchFamily="34" charset="0"/>
                <a:ea typeface="Verdana" pitchFamily="34" charset="0"/>
              </a:rPr>
              <a:t>['column2']</a:t>
            </a:r>
          </a:p>
          <a:p>
            <a:pPr lvl="1">
              <a:lnSpc>
                <a:spcPct val="150000"/>
              </a:lnSpc>
            </a:pPr>
            <a:endParaRPr lang="en-US" sz="2000" i="1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821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475186" y="352545"/>
            <a:ext cx="72008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/>
              <a:t>6. Grouping and Aggregation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757979" y="1256098"/>
            <a:ext cx="1097156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Grouping data by specific columns and applying aggregate functions:</a:t>
            </a:r>
          </a:p>
          <a:p>
            <a:pPr algn="ctr">
              <a:lnSpc>
                <a:spcPct val="150000"/>
              </a:lnSpc>
            </a:pPr>
            <a:r>
              <a:rPr lang="en-US" sz="2000" i="1" dirty="0" err="1">
                <a:latin typeface="Verdana" pitchFamily="34" charset="0"/>
                <a:ea typeface="Verdana" pitchFamily="34" charset="0"/>
              </a:rPr>
              <a:t>df_grouped</a:t>
            </a:r>
            <a:r>
              <a:rPr lang="en-US" sz="2000" i="1" dirty="0">
                <a:latin typeface="Verdana" pitchFamily="34" charset="0"/>
                <a:ea typeface="Verdana" pitchFamily="34" charset="0"/>
              </a:rPr>
              <a:t> = </a:t>
            </a:r>
            <a:r>
              <a:rPr lang="en-US" sz="2000" i="1" dirty="0" err="1">
                <a:latin typeface="Verdana" pitchFamily="34" charset="0"/>
                <a:ea typeface="Verdana" pitchFamily="34" charset="0"/>
              </a:rPr>
              <a:t>df.groupby</a:t>
            </a:r>
            <a:r>
              <a:rPr lang="en-US" sz="2000" i="1" dirty="0">
                <a:latin typeface="Verdana" pitchFamily="34" charset="0"/>
                <a:ea typeface="Verdana" pitchFamily="34" charset="0"/>
              </a:rPr>
              <a:t>('category').</a:t>
            </a:r>
            <a:r>
              <a:rPr lang="en-US" sz="2000" i="1" dirty="0" err="1">
                <a:latin typeface="Verdana" pitchFamily="34" charset="0"/>
                <a:ea typeface="Verdana" pitchFamily="34" charset="0"/>
              </a:rPr>
              <a:t>agg</a:t>
            </a:r>
            <a:r>
              <a:rPr lang="en-US" sz="2000" i="1" dirty="0">
                <a:latin typeface="Verdana" pitchFamily="34" charset="0"/>
                <a:ea typeface="Verdana" pitchFamily="34" charset="0"/>
              </a:rPr>
              <a:t>({'value': 'sum</a:t>
            </a:r>
            <a:r>
              <a:rPr lang="en-US" sz="2000" i="1" dirty="0" smtClean="0">
                <a:latin typeface="Verdana" pitchFamily="34" charset="0"/>
                <a:ea typeface="Verdana" pitchFamily="34" charset="0"/>
              </a:rPr>
              <a:t>'})</a:t>
            </a:r>
          </a:p>
          <a:p>
            <a:pPr algn="ctr">
              <a:lnSpc>
                <a:spcPct val="150000"/>
              </a:lnSpc>
            </a:pPr>
            <a:endParaRPr lang="en-US" sz="2000" i="1" dirty="0">
              <a:latin typeface="Verdana" pitchFamily="34" charset="0"/>
              <a:ea typeface="Verdana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A </a:t>
            </a:r>
            <a:r>
              <a:rPr lang="en-US" sz="2000" b="1" dirty="0" err="1">
                <a:latin typeface="Verdana" pitchFamily="34" charset="0"/>
                <a:ea typeface="Verdana" pitchFamily="34" charset="0"/>
              </a:rPr>
              <a:t>groupby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 operation involves some combination of splitting the object, applying a function, and combining the results. This can be used to group large amounts of data and compute operations on these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groups.</a:t>
            </a:r>
          </a:p>
          <a:p>
            <a:pPr>
              <a:lnSpc>
                <a:spcPct val="150000"/>
              </a:lnSpc>
            </a:pPr>
            <a:endParaRPr lang="en-US" sz="2000" dirty="0" smtClean="0">
              <a:latin typeface="Verdana" pitchFamily="34" charset="0"/>
              <a:ea typeface="Verdana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The 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aggregation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 operations are always performed over an axis, either the index (default) or the column axis.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For example apply mean median mode functions on each group.</a:t>
            </a:r>
            <a:endParaRPr lang="en-US" sz="20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80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475186" y="352545"/>
            <a:ext cx="72008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/>
              <a:t>6. </a:t>
            </a:r>
            <a:r>
              <a:rPr lang="en-US" sz="3600" b="1" dirty="0"/>
              <a:t>Aggregation and Grouping</a:t>
            </a:r>
            <a:r>
              <a:rPr lang="en-US" sz="3600" b="1" dirty="0" smtClean="0"/>
              <a:t> </a:t>
            </a:r>
            <a:r>
              <a:rPr lang="en-US" sz="3600" b="1" dirty="0"/>
              <a:t>(cont</a:t>
            </a:r>
            <a:r>
              <a:rPr lang="en-US" sz="3600" b="1" dirty="0" smtClean="0"/>
              <a:t>.)</a:t>
            </a:r>
            <a:endParaRPr lang="en-US" sz="3600" b="1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32" t="25646" r="58802" b="16400"/>
          <a:stretch/>
        </p:blipFill>
        <p:spPr bwMode="auto">
          <a:xfrm>
            <a:off x="1513490" y="1309297"/>
            <a:ext cx="3846786" cy="4239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30" t="26616" r="50157" b="13275"/>
          <a:stretch/>
        </p:blipFill>
        <p:spPr bwMode="auto">
          <a:xfrm>
            <a:off x="6237592" y="1309297"/>
            <a:ext cx="4972015" cy="4397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9686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475186" y="352545"/>
            <a:ext cx="72008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7. </a:t>
            </a:r>
            <a:r>
              <a:rPr lang="en-US" sz="3600" b="1" dirty="0" smtClean="0"/>
              <a:t>Merging and joining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757979" y="1256098"/>
            <a:ext cx="1097156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The pandas library has a method called 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merge()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for combining DataFrames or named Series into a singular DataFrame for better data analysis. </a:t>
            </a:r>
            <a:endParaRPr lang="en-US" sz="2000" dirty="0" smtClean="0">
              <a:latin typeface="Verdana" pitchFamily="34" charset="0"/>
              <a:ea typeface="Verdana" pitchFamily="34" charset="0"/>
            </a:endParaRPr>
          </a:p>
          <a:p>
            <a:pPr algn="ctr">
              <a:lnSpc>
                <a:spcPct val="150000"/>
              </a:lnSpc>
            </a:pPr>
            <a:endParaRPr lang="en-US" sz="2000" dirty="0" smtClean="0">
              <a:latin typeface="Verdana" pitchFamily="34" charset="0"/>
              <a:ea typeface="Verdana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Verdana" pitchFamily="34" charset="0"/>
                <a:ea typeface="Verdana" pitchFamily="34" charset="0"/>
              </a:rPr>
              <a:t>The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pandas merge operation combines two or more DataFrame objects based on columns or indexes in a similar fashion as join operations performed on databases. The goal is to have a new dataset while the sources remain unchanged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.</a:t>
            </a:r>
            <a:endParaRPr lang="en-US" sz="2000" dirty="0">
              <a:latin typeface="Verdana" pitchFamily="34" charset="0"/>
              <a:ea typeface="Verdana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A pandas merge can be performed using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the merge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()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function.</a:t>
            </a:r>
          </a:p>
          <a:p>
            <a:pPr marL="342900" indent="-342900" algn="just">
              <a:lnSpc>
                <a:spcPct val="150000"/>
              </a:lnSpc>
              <a:buFont typeface="Arial" pitchFamily="34" charset="0"/>
              <a:buChar char="•"/>
            </a:pPr>
            <a:endParaRPr lang="en-US" sz="2000" dirty="0" smtClean="0">
              <a:latin typeface="Verdana" pitchFamily="34" charset="0"/>
              <a:ea typeface="Verdana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b="1" i="1" dirty="0" err="1" smtClean="0">
                <a:latin typeface="Verdana" pitchFamily="34" charset="0"/>
                <a:ea typeface="Verdana" pitchFamily="34" charset="0"/>
              </a:rPr>
              <a:t>merged_df</a:t>
            </a:r>
            <a:r>
              <a:rPr lang="en-US" sz="2000" b="1" i="1" dirty="0" smtClean="0">
                <a:latin typeface="Verdana" pitchFamily="34" charset="0"/>
                <a:ea typeface="Verdana" pitchFamily="34" charset="0"/>
              </a:rPr>
              <a:t> = df1.merge(df2, on='</a:t>
            </a:r>
            <a:r>
              <a:rPr lang="en-US" sz="2000" b="1" i="1" dirty="0" err="1" smtClean="0">
                <a:latin typeface="Verdana" pitchFamily="34" charset="0"/>
                <a:ea typeface="Verdana" pitchFamily="34" charset="0"/>
              </a:rPr>
              <a:t>key_column</a:t>
            </a:r>
            <a:r>
              <a:rPr lang="en-US" sz="2000" b="1" i="1" dirty="0">
                <a:latin typeface="Verdana" pitchFamily="34" charset="0"/>
                <a:ea typeface="Verdana" pitchFamily="34" charset="0"/>
              </a:rPr>
              <a:t>‘, how='inner</a:t>
            </a:r>
            <a:r>
              <a:rPr lang="en-US" sz="2000" b="1" i="1" dirty="0" smtClean="0">
                <a:latin typeface="Verdana" pitchFamily="34" charset="0"/>
                <a:ea typeface="Verdana" pitchFamily="34" charset="0"/>
              </a:rPr>
              <a:t>')</a:t>
            </a:r>
            <a:endParaRPr lang="en-US" sz="2000" i="1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3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475186" y="352545"/>
            <a:ext cx="72008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7. Merging and </a:t>
            </a:r>
            <a:r>
              <a:rPr lang="en-US" sz="3600" b="1" dirty="0" smtClean="0"/>
              <a:t>joining (cont.)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757979" y="1256098"/>
            <a:ext cx="1097156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 smtClean="0">
                <a:latin typeface="Verdana" pitchFamily="34" charset="0"/>
                <a:ea typeface="Verdana" pitchFamily="34" charset="0"/>
              </a:rPr>
              <a:t>How parameter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: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This defines the type of merge to be performed. The default is 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inner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; others include 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outer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, 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cross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, 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left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, and 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right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latin typeface="Verdana" pitchFamily="34" charset="0"/>
                <a:ea typeface="Verdana" pitchFamily="34" charset="0"/>
              </a:rPr>
              <a:t>left: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use only keys from left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frame;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preserve key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order.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latin typeface="Verdana" pitchFamily="34" charset="0"/>
                <a:ea typeface="Verdana" pitchFamily="34" charset="0"/>
              </a:rPr>
              <a:t>right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: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use only keys from right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frame;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preserve key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order.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latin typeface="Verdana" pitchFamily="34" charset="0"/>
                <a:ea typeface="Verdana" pitchFamily="34" charset="0"/>
              </a:rPr>
              <a:t>outer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: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use union of keys from both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frames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latin typeface="Verdana" pitchFamily="34" charset="0"/>
                <a:ea typeface="Verdana" pitchFamily="34" charset="0"/>
              </a:rPr>
              <a:t>inner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: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use intersection of keys from both frames,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preserve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the order of the left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keys.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 smtClean="0">
                <a:latin typeface="Verdana" pitchFamily="34" charset="0"/>
                <a:ea typeface="Verdana" pitchFamily="34" charset="0"/>
              </a:rPr>
              <a:t>cross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: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creates the </a:t>
            </a:r>
            <a:r>
              <a:rPr lang="en-US" sz="2000" dirty="0" err="1">
                <a:latin typeface="Verdana" pitchFamily="34" charset="0"/>
                <a:ea typeface="Verdana" pitchFamily="34" charset="0"/>
              </a:rPr>
              <a:t>cartesian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 product from both frames, preserves the order of the left keys.</a:t>
            </a:r>
          </a:p>
        </p:txBody>
      </p:sp>
    </p:spTree>
    <p:extLst>
      <p:ext uri="{BB962C8B-B14F-4D97-AF65-F5344CB8AC3E}">
        <p14:creationId xmlns:p14="http://schemas.microsoft.com/office/powerpoint/2010/main" val="798963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</a:t>
            </a:r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1670671" y="352545"/>
            <a:ext cx="80053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7. </a:t>
            </a:r>
            <a:r>
              <a:rPr lang="en-US" sz="3600" b="1" dirty="0"/>
              <a:t>Merging and </a:t>
            </a:r>
            <a:r>
              <a:rPr lang="en-US" sz="3600" b="1" dirty="0" smtClean="0"/>
              <a:t>joining (cont.)</a:t>
            </a:r>
            <a:endParaRPr lang="en-US" sz="3600" b="1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32" t="29526" r="50000" b="37931"/>
          <a:stretch/>
        </p:blipFill>
        <p:spPr bwMode="auto">
          <a:xfrm>
            <a:off x="1214323" y="1093180"/>
            <a:ext cx="4992085" cy="2380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30" t="62177" r="50929" b="8659"/>
          <a:stretch/>
        </p:blipFill>
        <p:spPr bwMode="auto">
          <a:xfrm>
            <a:off x="6546561" y="1201175"/>
            <a:ext cx="4871545" cy="2133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8" t="48709" r="69589" b="28341"/>
          <a:stretch/>
        </p:blipFill>
        <p:spPr bwMode="auto">
          <a:xfrm>
            <a:off x="252246" y="3906555"/>
            <a:ext cx="2475186" cy="1980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3174" y="5975860"/>
            <a:ext cx="3294994" cy="4572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Default </a:t>
            </a:r>
            <a:r>
              <a:rPr lang="en-US" b="1" dirty="0" smtClean="0">
                <a:solidFill>
                  <a:schemeClr val="tx1"/>
                </a:solidFill>
              </a:rPr>
              <a:t>how</a:t>
            </a:r>
            <a:r>
              <a:rPr lang="en-US" dirty="0" smtClean="0">
                <a:solidFill>
                  <a:schemeClr val="tx1"/>
                </a:solidFill>
              </a:rPr>
              <a:t> parameter is ‘inner’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7413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11" t="41379" r="62680" b="33673"/>
          <a:stretch/>
        </p:blipFill>
        <p:spPr bwMode="auto">
          <a:xfrm>
            <a:off x="3090276" y="3906555"/>
            <a:ext cx="2809900" cy="1980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4" name="Picture 6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7" t="61315" r="61087" b="13275"/>
          <a:stretch/>
        </p:blipFill>
        <p:spPr bwMode="auto">
          <a:xfrm>
            <a:off x="6038207" y="3872683"/>
            <a:ext cx="3130424" cy="2014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5" name="Picture 7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88" t="61099" r="61956" b="10150"/>
          <a:stretch/>
        </p:blipFill>
        <p:spPr bwMode="auto">
          <a:xfrm>
            <a:off x="9357040" y="3872683"/>
            <a:ext cx="2869798" cy="2103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4436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475186" y="352545"/>
            <a:ext cx="72008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7. Merging and joining (cont.)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757979" y="1256098"/>
            <a:ext cx="109715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•	</a:t>
            </a:r>
            <a:r>
              <a:rPr lang="en-US" sz="2000" b="1" dirty="0" smtClean="0">
                <a:latin typeface="Verdana" pitchFamily="34" charset="0"/>
                <a:ea typeface="Verdana" pitchFamily="34" charset="0"/>
              </a:rPr>
              <a:t>Concatenate/Joining 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DataFrames: </a:t>
            </a:r>
            <a:endParaRPr lang="en-US" sz="2000" b="1" dirty="0" smtClean="0">
              <a:latin typeface="Verdana" pitchFamily="34" charset="0"/>
              <a:ea typeface="Verdana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Verdana" pitchFamily="34" charset="0"/>
                <a:ea typeface="Verdana" pitchFamily="34" charset="0"/>
              </a:rPr>
              <a:t>Stacking two or more dataframes vertically or horizontally</a:t>
            </a:r>
            <a:endParaRPr lang="en-US" sz="2000" dirty="0">
              <a:latin typeface="Verdana" pitchFamily="34" charset="0"/>
              <a:ea typeface="Verdana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i="1" dirty="0" err="1" smtClean="0">
                <a:latin typeface="Verdana" pitchFamily="34" charset="0"/>
                <a:ea typeface="Verdana" pitchFamily="34" charset="0"/>
              </a:rPr>
              <a:t>concatenated_df</a:t>
            </a:r>
            <a:r>
              <a:rPr lang="en-US" sz="2000" i="1" dirty="0" smtClean="0">
                <a:latin typeface="Verdana" pitchFamily="34" charset="0"/>
                <a:ea typeface="Verdana" pitchFamily="34" charset="0"/>
              </a:rPr>
              <a:t> </a:t>
            </a:r>
            <a:r>
              <a:rPr lang="en-US" sz="2000" i="1" dirty="0">
                <a:latin typeface="Verdana" pitchFamily="34" charset="0"/>
                <a:ea typeface="Verdana" pitchFamily="34" charset="0"/>
              </a:rPr>
              <a:t>= </a:t>
            </a:r>
            <a:r>
              <a:rPr lang="en-US" sz="2000" i="1" dirty="0" err="1">
                <a:latin typeface="Verdana" pitchFamily="34" charset="0"/>
                <a:ea typeface="Verdana" pitchFamily="34" charset="0"/>
              </a:rPr>
              <a:t>pd.concat</a:t>
            </a:r>
            <a:r>
              <a:rPr lang="en-US" sz="2000" i="1" dirty="0">
                <a:latin typeface="Verdana" pitchFamily="34" charset="0"/>
                <a:ea typeface="Verdana" pitchFamily="34" charset="0"/>
              </a:rPr>
              <a:t>([df1, df2], axis=0</a:t>
            </a:r>
            <a:r>
              <a:rPr lang="en-US" sz="2000" i="1" dirty="0" smtClean="0">
                <a:latin typeface="Verdana" pitchFamily="34" charset="0"/>
                <a:ea typeface="Verdana" pitchFamily="34" charset="0"/>
              </a:rPr>
              <a:t>)</a:t>
            </a:r>
            <a:endParaRPr lang="en-US" sz="2000" i="1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33" t="43966" r="55531" b="14655"/>
          <a:stretch/>
        </p:blipFill>
        <p:spPr bwMode="auto">
          <a:xfrm>
            <a:off x="3939373" y="2930867"/>
            <a:ext cx="4272455" cy="3026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7630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475186" y="352545"/>
            <a:ext cx="72008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8. Reshaping Data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537663" y="1025264"/>
            <a:ext cx="11191882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>
                <a:latin typeface="Verdana" pitchFamily="34" charset="0"/>
                <a:ea typeface="Verdana" pitchFamily="34" charset="0"/>
              </a:rPr>
              <a:t>Reshaping data involves altering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the representation of the data for further data processing or data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summarization most common technique is creating </a:t>
            </a:r>
            <a:r>
              <a:rPr lang="en-US" sz="2000" b="1" dirty="0" smtClean="0">
                <a:latin typeface="Verdana" pitchFamily="34" charset="0"/>
                <a:ea typeface="Verdana" pitchFamily="34" charset="0"/>
              </a:rPr>
              <a:t>pivot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 and </a:t>
            </a:r>
            <a:r>
              <a:rPr lang="en-US" sz="2000" b="1" dirty="0" smtClean="0">
                <a:latin typeface="Verdana" pitchFamily="34" charset="0"/>
                <a:ea typeface="Verdana" pitchFamily="34" charset="0"/>
              </a:rPr>
              <a:t>pivot tables.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These</a:t>
            </a:r>
            <a:r>
              <a:rPr lang="en-US" sz="2000" b="1" dirty="0" smtClean="0">
                <a:latin typeface="Verdana" pitchFamily="34" charset="0"/>
                <a:ea typeface="Verdana" pitchFamily="34" charset="0"/>
              </a:rPr>
              <a:t>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g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roup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unique values within one or more discrete 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categories.</a:t>
            </a:r>
            <a:endParaRPr lang="en-US" sz="2000" b="1" dirty="0" smtClean="0">
              <a:latin typeface="Verdana" pitchFamily="34" charset="0"/>
              <a:ea typeface="Verdana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Verdana" pitchFamily="34" charset="0"/>
                <a:ea typeface="Verdana" pitchFamily="34" charset="0"/>
              </a:rPr>
              <a:t>Pivot: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 The pivot method reshape the data in the DataFrame to match the specified index, columns, and values</a:t>
            </a:r>
            <a:endParaRPr lang="en-US" sz="2000" dirty="0" smtClean="0">
              <a:latin typeface="Verdana" pitchFamily="34" charset="0"/>
              <a:ea typeface="Verdana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i="1" dirty="0">
                <a:latin typeface="Verdana" pitchFamily="34" charset="0"/>
                <a:ea typeface="Verdana" pitchFamily="34" charset="0"/>
              </a:rPr>
              <a:t>pivoted = </a:t>
            </a:r>
            <a:r>
              <a:rPr lang="en-US" sz="2000" i="1" dirty="0" err="1">
                <a:latin typeface="Verdana" pitchFamily="34" charset="0"/>
                <a:ea typeface="Verdana" pitchFamily="34" charset="0"/>
              </a:rPr>
              <a:t>df.pivot</a:t>
            </a:r>
            <a:r>
              <a:rPr lang="en-US" sz="2000" i="1" dirty="0">
                <a:latin typeface="Verdana" pitchFamily="34" charset="0"/>
                <a:ea typeface="Verdana" pitchFamily="34" charset="0"/>
              </a:rPr>
              <a:t>(index="date", columns="variable", values="value</a:t>
            </a:r>
            <a:r>
              <a:rPr lang="en-US" sz="2000" i="1" dirty="0" smtClean="0">
                <a:latin typeface="Verdana" pitchFamily="34" charset="0"/>
                <a:ea typeface="Verdana" pitchFamily="34" charset="0"/>
              </a:rPr>
              <a:t>")</a:t>
            </a:r>
          </a:p>
          <a:p>
            <a:pPr>
              <a:lnSpc>
                <a:spcPct val="150000"/>
              </a:lnSpc>
            </a:pPr>
            <a:r>
              <a:rPr lang="en-US" sz="2000" b="1" dirty="0" smtClean="0">
                <a:latin typeface="Verdana" pitchFamily="34" charset="0"/>
                <a:ea typeface="Verdana" pitchFamily="34" charset="0"/>
              </a:rPr>
              <a:t>Pivot Table: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  A pivot table is a table that summarizes data by grouping it into categories and calculating various aggregate statistics.</a:t>
            </a:r>
          </a:p>
          <a:p>
            <a:pPr algn="ctr">
              <a:lnSpc>
                <a:spcPct val="150000"/>
              </a:lnSpc>
            </a:pPr>
            <a:r>
              <a:rPr lang="en-US" i="1" dirty="0" smtClean="0">
                <a:latin typeface="Verdana" pitchFamily="34" charset="0"/>
                <a:ea typeface="Verdana" pitchFamily="34" charset="0"/>
              </a:rPr>
              <a:t>table=</a:t>
            </a:r>
            <a:r>
              <a:rPr lang="en-US" i="1" dirty="0" err="1" smtClean="0">
                <a:latin typeface="Verdana" pitchFamily="34" charset="0"/>
                <a:ea typeface="Verdana" pitchFamily="34" charset="0"/>
              </a:rPr>
              <a:t>pd.pivot_table</a:t>
            </a:r>
            <a:r>
              <a:rPr lang="en-US" i="1" dirty="0" smtClean="0">
                <a:latin typeface="Verdana" pitchFamily="34" charset="0"/>
                <a:ea typeface="Verdana" pitchFamily="34" charset="0"/>
              </a:rPr>
              <a:t> (</a:t>
            </a:r>
            <a:r>
              <a:rPr lang="en-US" i="1" dirty="0" err="1" smtClean="0">
                <a:latin typeface="Verdana" pitchFamily="34" charset="0"/>
                <a:ea typeface="Verdana" pitchFamily="34" charset="0"/>
              </a:rPr>
              <a:t>df</a:t>
            </a:r>
            <a:r>
              <a:rPr lang="en-US" i="1" dirty="0" smtClean="0">
                <a:latin typeface="Verdana" pitchFamily="34" charset="0"/>
                <a:ea typeface="Verdana" pitchFamily="34" charset="0"/>
              </a:rPr>
              <a:t>,</a:t>
            </a:r>
            <a:r>
              <a:rPr lang="en-US" i="1" dirty="0">
                <a:latin typeface="Verdana" pitchFamily="34" charset="0"/>
                <a:ea typeface="Verdana" pitchFamily="34" charset="0"/>
              </a:rPr>
              <a:t> </a:t>
            </a:r>
            <a:r>
              <a:rPr lang="en-US" i="1" dirty="0" smtClean="0">
                <a:latin typeface="Verdana" pitchFamily="34" charset="0"/>
                <a:ea typeface="Verdana" pitchFamily="34" charset="0"/>
              </a:rPr>
              <a:t>values=‘Sales’, index=‘Product’, columns=‘Month’, </a:t>
            </a:r>
            <a:r>
              <a:rPr lang="en-US" i="1" dirty="0" err="1" smtClean="0">
                <a:latin typeface="Verdana" pitchFamily="34" charset="0"/>
                <a:ea typeface="Verdana" pitchFamily="34" charset="0"/>
              </a:rPr>
              <a:t>aggfunc</a:t>
            </a:r>
            <a:r>
              <a:rPr lang="en-US" i="1" dirty="0" smtClean="0">
                <a:latin typeface="Verdana" pitchFamily="34" charset="0"/>
                <a:ea typeface="Verdana" pitchFamily="34" charset="0"/>
              </a:rPr>
              <a:t>=‘mean’)</a:t>
            </a:r>
            <a:endParaRPr lang="en-US" i="1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23663" y="5699099"/>
            <a:ext cx="11303876" cy="61208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pivot() can only handle unique rows specified by index and columns. If you data contains duplicates, </a:t>
            </a:r>
            <a:r>
              <a:rPr lang="en-US" sz="2000" dirty="0" smtClean="0">
                <a:solidFill>
                  <a:schemeClr val="tx1"/>
                </a:solidFill>
              </a:rPr>
              <a:t>use </a:t>
            </a:r>
            <a:r>
              <a:rPr lang="en-US" sz="2000" dirty="0" err="1">
                <a:solidFill>
                  <a:schemeClr val="tx1"/>
                </a:solidFill>
              </a:rPr>
              <a:t>pivot_table</a:t>
            </a:r>
            <a:r>
              <a:rPr lang="en-US" sz="2000" dirty="0">
                <a:solidFill>
                  <a:schemeClr val="tx1"/>
                </a:solidFill>
              </a:rPr>
              <a:t>().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007" y="6453143"/>
            <a:ext cx="11923986" cy="3051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/>
                </a:solidFill>
              </a:rPr>
              <a:t>For further understanding : https</a:t>
            </a:r>
            <a:r>
              <a:rPr lang="en-US" sz="1400" dirty="0">
                <a:solidFill>
                  <a:schemeClr val="tx1"/>
                </a:solidFill>
              </a:rPr>
              <a:t>://medium.com/@filip.sekan/pivot-vs-pivot-table-methods-in-pandas-definitions-examples-differences-dcc9e14e667f</a:t>
            </a:r>
          </a:p>
        </p:txBody>
      </p:sp>
    </p:spTree>
    <p:extLst>
      <p:ext uri="{BB962C8B-B14F-4D97-AF65-F5344CB8AC3E}">
        <p14:creationId xmlns:p14="http://schemas.microsoft.com/office/powerpoint/2010/main" val="511246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475186" y="352545"/>
            <a:ext cx="72008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8. Reshaping Data</a:t>
            </a:r>
            <a:endParaRPr lang="en-US" sz="3600" b="1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27" t="28664" r="21845" b="25647"/>
          <a:stretch/>
        </p:blipFill>
        <p:spPr bwMode="auto">
          <a:xfrm>
            <a:off x="1704217" y="1345380"/>
            <a:ext cx="8196884" cy="4167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335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A42210A-7EC0-9044-AB29-B19B8DD30EBD}"/>
              </a:ext>
            </a:extLst>
          </p:cNvPr>
          <p:cNvSpPr txBox="1"/>
          <p:nvPr/>
        </p:nvSpPr>
        <p:spPr>
          <a:xfrm>
            <a:off x="2475186" y="352545"/>
            <a:ext cx="72008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10. Exporting Data</a:t>
            </a:r>
            <a:endParaRPr lang="en-US" sz="3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0778C02-DAB7-65FA-AB76-FF0250D760FE}"/>
              </a:ext>
            </a:extLst>
          </p:cNvPr>
          <p:cNvSpPr txBox="1"/>
          <p:nvPr/>
        </p:nvSpPr>
        <p:spPr>
          <a:xfrm>
            <a:off x="537663" y="1025264"/>
            <a:ext cx="1119188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>
                <a:latin typeface="Verdana" pitchFamily="34" charset="0"/>
                <a:ea typeface="Verdana" pitchFamily="34" charset="0"/>
              </a:rPr>
              <a:t>After manipulation, data is often saved to a new file:</a:t>
            </a:r>
          </a:p>
          <a:p>
            <a:pPr algn="ctr">
              <a:lnSpc>
                <a:spcPct val="150000"/>
              </a:lnSpc>
            </a:pPr>
            <a:r>
              <a:rPr lang="en-US" sz="2000" i="1" dirty="0" err="1">
                <a:latin typeface="Verdana" pitchFamily="34" charset="0"/>
                <a:ea typeface="Verdana" pitchFamily="34" charset="0"/>
              </a:rPr>
              <a:t>df.to_csv</a:t>
            </a:r>
            <a:r>
              <a:rPr lang="en-US" sz="2000" i="1" dirty="0">
                <a:latin typeface="Verdana" pitchFamily="34" charset="0"/>
                <a:ea typeface="Verdana" pitchFamily="34" charset="0"/>
              </a:rPr>
              <a:t>('processed_file.csv</a:t>
            </a:r>
            <a:r>
              <a:rPr lang="en-US" sz="2000" i="1" dirty="0" smtClean="0">
                <a:latin typeface="Verdana" pitchFamily="34" charset="0"/>
                <a:ea typeface="Verdana" pitchFamily="34" charset="0"/>
              </a:rPr>
              <a:t>')</a:t>
            </a:r>
          </a:p>
          <a:p>
            <a:pPr algn="ctr">
              <a:lnSpc>
                <a:spcPct val="150000"/>
              </a:lnSpc>
            </a:pPr>
            <a:r>
              <a:rPr lang="en-US" sz="2000" i="1" dirty="0" err="1" smtClean="0">
                <a:latin typeface="Verdana" pitchFamily="34" charset="0"/>
                <a:ea typeface="Verdana" pitchFamily="34" charset="0"/>
              </a:rPr>
              <a:t>df.to_exce</a:t>
            </a:r>
            <a:r>
              <a:rPr lang="en-US" sz="2000" i="1" dirty="0" err="1">
                <a:latin typeface="Verdana" pitchFamily="34" charset="0"/>
                <a:ea typeface="Verdana" pitchFamily="34" charset="0"/>
              </a:rPr>
              <a:t>l</a:t>
            </a:r>
            <a:r>
              <a:rPr lang="en-US" sz="2000" i="1" dirty="0" smtClean="0">
                <a:latin typeface="Verdana" pitchFamily="34" charset="0"/>
                <a:ea typeface="Verdana" pitchFamily="34" charset="0"/>
              </a:rPr>
              <a:t>('processed_file.xlsx')</a:t>
            </a:r>
            <a:endParaRPr lang="en-US" sz="2000" i="1" dirty="0">
              <a:latin typeface="Verdana" pitchFamily="34" charset="0"/>
              <a:ea typeface="Verdana" pitchFamily="34" charset="0"/>
            </a:endParaRPr>
          </a:p>
          <a:p>
            <a:pPr algn="ctr">
              <a:lnSpc>
                <a:spcPct val="150000"/>
              </a:lnSpc>
            </a:pPr>
            <a:endParaRPr lang="en-US" sz="2000" i="1" dirty="0">
              <a:latin typeface="Verdana" pitchFamily="34" charset="0"/>
              <a:ea typeface="Verdana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000" b="1" dirty="0" err="1" smtClean="0">
                <a:latin typeface="Verdana" pitchFamily="34" charset="0"/>
                <a:ea typeface="Verdana" pitchFamily="34" charset="0"/>
              </a:rPr>
              <a:t>df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: processed dataframe that you want to save/export</a:t>
            </a:r>
          </a:p>
          <a:p>
            <a:pPr lvl="1">
              <a:lnSpc>
                <a:spcPct val="150000"/>
              </a:lnSpc>
            </a:pPr>
            <a:r>
              <a:rPr lang="en-US" sz="2000" b="1" dirty="0" smtClean="0">
                <a:latin typeface="Verdana" pitchFamily="34" charset="0"/>
                <a:ea typeface="Verdana" pitchFamily="34" charset="0"/>
              </a:rPr>
              <a:t>‘processed_file.csv’</a:t>
            </a:r>
            <a:r>
              <a:rPr lang="en-US" sz="2000" dirty="0" smtClean="0">
                <a:latin typeface="Verdana" pitchFamily="34" charset="0"/>
                <a:ea typeface="Verdana" pitchFamily="34" charset="0"/>
              </a:rPr>
              <a:t>: file path where you want to save with file name</a:t>
            </a:r>
          </a:p>
          <a:p>
            <a:pPr lvl="1">
              <a:lnSpc>
                <a:spcPct val="150000"/>
              </a:lnSpc>
            </a:pPr>
            <a:endParaRPr lang="en-US" sz="2000" dirty="0" smtClean="0">
              <a:latin typeface="Verdana" pitchFamily="34" charset="0"/>
              <a:ea typeface="Verdana" pitchFamily="34" charset="0"/>
            </a:endParaRPr>
          </a:p>
          <a:p>
            <a:pPr lvl="1">
              <a:lnSpc>
                <a:spcPct val="150000"/>
              </a:lnSpc>
            </a:pPr>
            <a:endParaRPr lang="en-US" sz="2000" dirty="0">
              <a:latin typeface="Verdana" pitchFamily="34" charset="0"/>
              <a:ea typeface="Verdana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Verdana" pitchFamily="34" charset="0"/>
                <a:ea typeface="Verdana" pitchFamily="34" charset="0"/>
              </a:rPr>
              <a:t>These are the steps </a:t>
            </a:r>
            <a:r>
              <a:rPr lang="en-US" sz="2000" dirty="0">
                <a:latin typeface="Verdana" pitchFamily="34" charset="0"/>
                <a:ea typeface="Verdana" pitchFamily="34" charset="0"/>
              </a:rPr>
              <a:t>provide a foundation for handling, cleaning, and transforming data efficiently in Pandas.</a:t>
            </a:r>
          </a:p>
        </p:txBody>
      </p:sp>
    </p:spTree>
    <p:extLst>
      <p:ext uri="{BB962C8B-B14F-4D97-AF65-F5344CB8AC3E}">
        <p14:creationId xmlns:p14="http://schemas.microsoft.com/office/powerpoint/2010/main" val="1113432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558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ecture 4 Python Pandas 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4 Python Pandas </Template>
  <TotalTime>3589</TotalTime>
  <Words>2127</Words>
  <Application>Microsoft Office PowerPoint</Application>
  <PresentationFormat>Custom</PresentationFormat>
  <Paragraphs>195</Paragraphs>
  <Slides>39</Slides>
  <Notes>37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1" baseType="lpstr">
      <vt:lpstr>Lecture 4 Python Pandas </vt:lpstr>
      <vt:lpstr>1_Office 2013 - 2022 Theme</vt:lpstr>
      <vt:lpstr>   DATA SCIENCE  EL-334 BSIT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 EL-334 BSIT</dc:title>
  <dc:creator>My Computer</dc:creator>
  <cp:lastModifiedBy>My Computer</cp:lastModifiedBy>
  <cp:revision>58</cp:revision>
  <dcterms:created xsi:type="dcterms:W3CDTF">2024-11-28T16:13:25Z</dcterms:created>
  <dcterms:modified xsi:type="dcterms:W3CDTF">2024-12-01T04:03:07Z</dcterms:modified>
</cp:coreProperties>
</file>
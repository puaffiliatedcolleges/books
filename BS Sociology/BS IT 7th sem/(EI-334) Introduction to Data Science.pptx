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 id="2147484410" r:id="rId2"/>
  </p:sldMasterIdLst>
  <p:notesMasterIdLst>
    <p:notesMasterId r:id="rId28"/>
  </p:notesMasterIdLst>
  <p:handoutMasterIdLst>
    <p:handoutMasterId r:id="rId29"/>
  </p:handoutMasterIdLst>
  <p:sldIdLst>
    <p:sldId id="256" r:id="rId3"/>
    <p:sldId id="320" r:id="rId4"/>
    <p:sldId id="401" r:id="rId5"/>
    <p:sldId id="402" r:id="rId6"/>
    <p:sldId id="406" r:id="rId7"/>
    <p:sldId id="403" r:id="rId8"/>
    <p:sldId id="404" r:id="rId9"/>
    <p:sldId id="322" r:id="rId10"/>
    <p:sldId id="397" r:id="rId11"/>
    <p:sldId id="407" r:id="rId12"/>
    <p:sldId id="408" r:id="rId13"/>
    <p:sldId id="411" r:id="rId14"/>
    <p:sldId id="398" r:id="rId15"/>
    <p:sldId id="413" r:id="rId16"/>
    <p:sldId id="409" r:id="rId17"/>
    <p:sldId id="414" r:id="rId18"/>
    <p:sldId id="415" r:id="rId19"/>
    <p:sldId id="416" r:id="rId20"/>
    <p:sldId id="419" r:id="rId21"/>
    <p:sldId id="421" r:id="rId22"/>
    <p:sldId id="417" r:id="rId23"/>
    <p:sldId id="418" r:id="rId24"/>
    <p:sldId id="422" r:id="rId25"/>
    <p:sldId id="423" r:id="rId26"/>
    <p:sldId id="420" r:id="rId27"/>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atthew Hayes"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66"/>
    <a:srgbClr val="BBAE54"/>
    <a:srgbClr val="5A8DE6"/>
    <a:srgbClr val="FF3300"/>
    <a:srgbClr val="000050"/>
    <a:srgbClr val="2C0000"/>
    <a:srgbClr val="320000"/>
    <a:srgbClr val="4E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0" d="100"/>
          <a:sy n="60" d="100"/>
        </p:scale>
        <p:origin x="-1566" y="-96"/>
      </p:cViewPr>
      <p:guideLst>
        <p:guide orient="horz" pos="2160"/>
        <p:guide pos="2880"/>
      </p:guideLst>
    </p:cSldViewPr>
  </p:slideViewPr>
  <p:outlineViewPr>
    <p:cViewPr>
      <p:scale>
        <a:sx n="33" d="100"/>
        <a:sy n="33" d="100"/>
      </p:scale>
      <p:origin x="0" y="7240"/>
    </p:cViewPr>
  </p:outlineViewPr>
  <p:notesTextViewPr>
    <p:cViewPr>
      <p:scale>
        <a:sx n="100" d="100"/>
        <a:sy n="100" d="100"/>
      </p:scale>
      <p:origin x="0" y="0"/>
    </p:cViewPr>
  </p:notesTextViewPr>
  <p:notesViewPr>
    <p:cSldViewPr>
      <p:cViewPr varScale="1">
        <p:scale>
          <a:sx n="60" d="100"/>
          <a:sy n="60" d="100"/>
        </p:scale>
        <p:origin x="-2490"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ea typeface="+mn-ea"/>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Arial" pitchFamily="34" charset="0"/>
              </a:defRPr>
            </a:lvl1pPr>
          </a:lstStyle>
          <a:p>
            <a:pPr>
              <a:defRPr/>
            </a:pPr>
            <a:fld id="{260F0ECF-F84D-43BE-A58E-0DB2F99E2671}" type="datetimeFigureOut">
              <a:rPr lang="en-US" altLang="en-US"/>
              <a:pPr>
                <a:defRPr/>
              </a:pPr>
              <a:t>11/13/2024</a:t>
            </a:fld>
            <a:endParaRPr lang="en-US" alt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atin typeface="Arial" charset="0"/>
                <a:ea typeface="+mn-ea"/>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Arial" pitchFamily="34" charset="0"/>
              </a:defRPr>
            </a:lvl1pPr>
          </a:lstStyle>
          <a:p>
            <a:pPr>
              <a:defRPr/>
            </a:pPr>
            <a:fld id="{A312E49B-09D1-47A2-B871-8DE206184B02}" type="slidenum">
              <a:rPr lang="en-US" altLang="en-US"/>
              <a:pPr>
                <a:defRPr/>
              </a:pPr>
              <a:t>‹#›</a:t>
            </a:fld>
            <a:endParaRPr lang="en-US" altLang="en-US"/>
          </a:p>
        </p:txBody>
      </p:sp>
    </p:spTree>
    <p:extLst>
      <p:ext uri="{BB962C8B-B14F-4D97-AF65-F5344CB8AC3E}">
        <p14:creationId xmlns:p14="http://schemas.microsoft.com/office/powerpoint/2010/main" val="8713037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ea typeface="+mn-ea"/>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Arial" pitchFamily="34" charset="0"/>
              </a:defRPr>
            </a:lvl1pPr>
          </a:lstStyle>
          <a:p>
            <a:pPr>
              <a:defRPr/>
            </a:pPr>
            <a:fld id="{FCC8B620-7FB1-4D4A-893E-5909C901B9B8}" type="datetimeFigureOut">
              <a:rPr lang="en-US" altLang="en-US"/>
              <a:pPr>
                <a:defRPr/>
              </a:pPr>
              <a:t>11/13/2024</a:t>
            </a:fld>
            <a:endParaRPr lang="en-US" alt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ea typeface="+mn-ea"/>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Arial" pitchFamily="34" charset="0"/>
              </a:defRPr>
            </a:lvl1pPr>
          </a:lstStyle>
          <a:p>
            <a:pPr>
              <a:defRPr/>
            </a:pPr>
            <a:fld id="{5929A2E2-B731-4145-A8A4-FEBDEFC5FF59}" type="slidenum">
              <a:rPr lang="en-US" altLang="en-US"/>
              <a:pPr>
                <a:defRPr/>
              </a:pPr>
              <a:t>‹#›</a:t>
            </a:fld>
            <a:endParaRPr lang="en-US" altLang="en-US"/>
          </a:p>
        </p:txBody>
      </p:sp>
    </p:spTree>
    <p:extLst>
      <p:ext uri="{BB962C8B-B14F-4D97-AF65-F5344CB8AC3E}">
        <p14:creationId xmlns:p14="http://schemas.microsoft.com/office/powerpoint/2010/main" val="356179171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0"/>
        <a:cs typeface="+mn-cs"/>
      </a:defRPr>
    </a:lvl1pPr>
    <a:lvl2pPr marL="457200" algn="l"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34ABD08F-CE5D-4B1B-9BE2-D656CAB2FB39}" type="datetimeFigureOut">
              <a:rPr lang="en-US" altLang="en-US"/>
              <a:pPr>
                <a:defRPr/>
              </a:pPr>
              <a:t>11/13/2024</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BA585E1-CF01-406D-858C-101913AACD92}" type="slidenum">
              <a:rPr lang="en-US" altLang="en-US"/>
              <a:pPr>
                <a:defRPr/>
              </a:pPr>
              <a:t>‹#›</a:t>
            </a:fld>
            <a:endParaRPr lang="en-US" altLang="en-US"/>
          </a:p>
        </p:txBody>
      </p:sp>
    </p:spTree>
    <p:extLst>
      <p:ext uri="{BB962C8B-B14F-4D97-AF65-F5344CB8AC3E}">
        <p14:creationId xmlns:p14="http://schemas.microsoft.com/office/powerpoint/2010/main" val="31827284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2A2A3A5C-E650-40C6-B69D-1C90188E35C6}" type="datetimeFigureOut">
              <a:rPr lang="en-US" altLang="en-US"/>
              <a:pPr>
                <a:defRPr/>
              </a:pPr>
              <a:t>11/13/2024</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A7BED28-CF36-4AE1-B3BC-441DDA300B8C}" type="slidenum">
              <a:rPr lang="en-US" altLang="en-US"/>
              <a:pPr>
                <a:defRPr/>
              </a:pPr>
              <a:t>‹#›</a:t>
            </a:fld>
            <a:endParaRPr lang="en-US" altLang="en-US"/>
          </a:p>
        </p:txBody>
      </p:sp>
    </p:spTree>
    <p:extLst>
      <p:ext uri="{BB962C8B-B14F-4D97-AF65-F5344CB8AC3E}">
        <p14:creationId xmlns:p14="http://schemas.microsoft.com/office/powerpoint/2010/main" val="22983907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CA24804C-99D6-4146-BFCE-E4AC6E23C39C}" type="datetimeFigureOut">
              <a:rPr lang="en-US" altLang="en-US"/>
              <a:pPr>
                <a:defRPr/>
              </a:pPr>
              <a:t>11/13/2024</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A7AB5C3-E46F-47EA-B2C7-0537058F2BAD}" type="slidenum">
              <a:rPr lang="en-US" altLang="en-US"/>
              <a:pPr>
                <a:defRPr/>
              </a:pPr>
              <a:t>‹#›</a:t>
            </a:fld>
            <a:endParaRPr lang="en-US" altLang="en-US"/>
          </a:p>
        </p:txBody>
      </p:sp>
    </p:spTree>
    <p:extLst>
      <p:ext uri="{BB962C8B-B14F-4D97-AF65-F5344CB8AC3E}">
        <p14:creationId xmlns:p14="http://schemas.microsoft.com/office/powerpoint/2010/main" val="31015900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73F71678-BDBD-46FE-8288-C5CCB00C6D31}" type="datetimeFigureOut">
              <a:rPr lang="en-US" altLang="en-US"/>
              <a:pPr>
                <a:defRPr/>
              </a:pPr>
              <a:t>11/13/2024</a:t>
            </a:fld>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2B11607-FEDE-4B3C-B093-8F69E31FE090}" type="slidenum">
              <a:rPr lang="en-US" altLang="en-US"/>
              <a:pPr>
                <a:defRPr/>
              </a:pPr>
              <a:t>‹#›</a:t>
            </a:fld>
            <a:endParaRPr lang="en-US" altLang="en-US"/>
          </a:p>
        </p:txBody>
      </p:sp>
    </p:spTree>
    <p:extLst>
      <p:ext uri="{BB962C8B-B14F-4D97-AF65-F5344CB8AC3E}">
        <p14:creationId xmlns:p14="http://schemas.microsoft.com/office/powerpoint/2010/main" val="255359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D85CA9CE-C5D6-4877-B9D1-0058692680AC}" type="datetimeFigureOut">
              <a:rPr lang="en-US" altLang="en-US"/>
              <a:pPr>
                <a:defRPr/>
              </a:pPr>
              <a:t>11/13/2024</a:t>
            </a:fld>
            <a:endParaRPr lang="en-US" alt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53A3879A-5510-441C-AF5A-BB7EDDA5696E}" type="slidenum">
              <a:rPr lang="en-US" altLang="en-US"/>
              <a:pPr>
                <a:defRPr/>
              </a:pPr>
              <a:t>‹#›</a:t>
            </a:fld>
            <a:endParaRPr lang="en-US" altLang="en-US"/>
          </a:p>
        </p:txBody>
      </p:sp>
    </p:spTree>
    <p:extLst>
      <p:ext uri="{BB962C8B-B14F-4D97-AF65-F5344CB8AC3E}">
        <p14:creationId xmlns:p14="http://schemas.microsoft.com/office/powerpoint/2010/main" val="4073037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0277F4D7-A21F-4895-ABE7-14330F364AD2}" type="datetimeFigureOut">
              <a:rPr lang="en-US" altLang="en-US"/>
              <a:pPr>
                <a:defRPr/>
              </a:pPr>
              <a:t>11/13/2024</a:t>
            </a:fld>
            <a:endParaRPr lang="en-US" alt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B40A0A3C-4E93-4AE8-9691-5880DE951956}" type="slidenum">
              <a:rPr lang="en-US" altLang="en-US"/>
              <a:pPr>
                <a:defRPr/>
              </a:pPr>
              <a:t>‹#›</a:t>
            </a:fld>
            <a:endParaRPr lang="en-US" altLang="en-US"/>
          </a:p>
        </p:txBody>
      </p:sp>
    </p:spTree>
    <p:extLst>
      <p:ext uri="{BB962C8B-B14F-4D97-AF65-F5344CB8AC3E}">
        <p14:creationId xmlns:p14="http://schemas.microsoft.com/office/powerpoint/2010/main" val="22664784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4EFA4E7F-56C6-4B3E-91D8-6AF7995D8851}" type="datetimeFigureOut">
              <a:rPr lang="en-US" altLang="en-US"/>
              <a:pPr>
                <a:defRPr/>
              </a:pPr>
              <a:t>11/13/2024</a:t>
            </a:fld>
            <a:endParaRPr lang="en-US" alt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19190B27-A95E-4E85-A968-48FC38C18BEA}" type="slidenum">
              <a:rPr lang="en-US" altLang="en-US"/>
              <a:pPr>
                <a:defRPr/>
              </a:pPr>
              <a:t>‹#›</a:t>
            </a:fld>
            <a:endParaRPr lang="en-US" altLang="en-US"/>
          </a:p>
        </p:txBody>
      </p:sp>
    </p:spTree>
    <p:extLst>
      <p:ext uri="{BB962C8B-B14F-4D97-AF65-F5344CB8AC3E}">
        <p14:creationId xmlns:p14="http://schemas.microsoft.com/office/powerpoint/2010/main" val="40396243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B852FA5-6149-45B9-9854-FA3FECEC63AF}" type="datetimeFigureOut">
              <a:rPr lang="en-US" altLang="en-US"/>
              <a:pPr>
                <a:defRPr/>
              </a:pPr>
              <a:t>11/13/2024</a:t>
            </a:fld>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65B2C8D-9373-4A5C-966D-3D5A3E53D1AD}" type="slidenum">
              <a:rPr lang="en-US" altLang="en-US"/>
              <a:pPr>
                <a:defRPr/>
              </a:pPr>
              <a:t>‹#›</a:t>
            </a:fld>
            <a:endParaRPr lang="en-US" altLang="en-US"/>
          </a:p>
        </p:txBody>
      </p:sp>
    </p:spTree>
    <p:extLst>
      <p:ext uri="{BB962C8B-B14F-4D97-AF65-F5344CB8AC3E}">
        <p14:creationId xmlns:p14="http://schemas.microsoft.com/office/powerpoint/2010/main" val="7759022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2B44E064-F66F-4ED7-91BE-B22FA2C7EB57}" type="datetimeFigureOut">
              <a:rPr lang="en-US" altLang="en-US"/>
              <a:pPr>
                <a:defRPr/>
              </a:pPr>
              <a:t>11/13/2024</a:t>
            </a:fld>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25217E3-9142-477F-B01F-5956A03AE788}" type="slidenum">
              <a:rPr lang="en-US" altLang="en-US"/>
              <a:pPr>
                <a:defRPr/>
              </a:pPr>
              <a:t>‹#›</a:t>
            </a:fld>
            <a:endParaRPr lang="en-US" altLang="en-US"/>
          </a:p>
        </p:txBody>
      </p:sp>
    </p:spTree>
    <p:extLst>
      <p:ext uri="{BB962C8B-B14F-4D97-AF65-F5344CB8AC3E}">
        <p14:creationId xmlns:p14="http://schemas.microsoft.com/office/powerpoint/2010/main" val="23985203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60FFA219-D2BF-481F-8215-4F855145B3DF}" type="datetimeFigureOut">
              <a:rPr lang="en-US" altLang="en-US"/>
              <a:pPr>
                <a:defRPr/>
              </a:pPr>
              <a:t>11/13/2024</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C82FD06C-BD9A-4128-BB6C-2F9A3DB4FAFE}" type="slidenum">
              <a:rPr lang="en-US" altLang="en-US"/>
              <a:pPr>
                <a:defRPr/>
              </a:pPr>
              <a:t>‹#›</a:t>
            </a:fld>
            <a:endParaRPr lang="en-US" altLang="en-US"/>
          </a:p>
        </p:txBody>
      </p:sp>
    </p:spTree>
    <p:extLst>
      <p:ext uri="{BB962C8B-B14F-4D97-AF65-F5344CB8AC3E}">
        <p14:creationId xmlns:p14="http://schemas.microsoft.com/office/powerpoint/2010/main" val="21243557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6A1C37FD-82AD-4DDF-87FF-97EDB1790654}" type="datetimeFigureOut">
              <a:rPr lang="en-US" altLang="en-US"/>
              <a:pPr>
                <a:defRPr/>
              </a:pPr>
              <a:t>11/13/2024</a:t>
            </a:fld>
            <a:endParaRPr lang="en-US" alt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CFAFB62-30DA-4A3E-98AA-4C489BA2EE23}" type="slidenum">
              <a:rPr lang="en-US" altLang="en-US"/>
              <a:pPr>
                <a:defRPr/>
              </a:pPr>
              <a:t>‹#›</a:t>
            </a:fld>
            <a:endParaRPr lang="en-US" altLang="en-US"/>
          </a:p>
        </p:txBody>
      </p:sp>
    </p:spTree>
    <p:extLst>
      <p:ext uri="{BB962C8B-B14F-4D97-AF65-F5344CB8AC3E}">
        <p14:creationId xmlns:p14="http://schemas.microsoft.com/office/powerpoint/2010/main" val="40365834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eaLnBrk="1" latinLnBrk="0" hangingPunct="1"/>
            <a:fld id="{C699CB88-5E1A-4FAC-892A-60949ACB1F6F}" type="datetimeFigureOut">
              <a:rPr lang="en-US" smtClean="0"/>
              <a:pPr eaLnBrk="1" latinLnBrk="0" hangingPunct="1"/>
              <a:t>11/13/2024</a:t>
            </a:fld>
            <a:endParaRPr lang="en-US"/>
          </a:p>
        </p:txBody>
      </p:sp>
      <p:sp>
        <p:nvSpPr>
          <p:cNvPr id="5" name="Footer Placeholder 4"/>
          <p:cNvSpPr>
            <a:spLocks noGrp="1"/>
          </p:cNvSpPr>
          <p:nvPr>
            <p:ph type="ftr" sz="quarter" idx="11"/>
          </p:nvPr>
        </p:nvSpPr>
        <p:spPr/>
        <p:txBody>
          <a:bodyPr/>
          <a:lstStyle/>
          <a:p>
            <a:pPr>
              <a:defRPr/>
            </a:pPr>
            <a:r>
              <a:rPr lang="en-US" smtClean="0"/>
              <a:t>December 16, 2010</a:t>
            </a:r>
            <a:endParaRPr lang="en-US"/>
          </a:p>
        </p:txBody>
      </p:sp>
      <p:sp>
        <p:nvSpPr>
          <p:cNvPr id="6" name="Slide Number Placeholder 5"/>
          <p:cNvSpPr>
            <a:spLocks noGrp="1"/>
          </p:cNvSpPr>
          <p:nvPr>
            <p:ph type="sldNum" sz="quarter" idx="12"/>
          </p:nvPr>
        </p:nvSpPr>
        <p:spPr/>
        <p:txBody>
          <a:bodyPr/>
          <a:lstStyle/>
          <a:p>
            <a:fld id="{91974DF9-AD47-4691-BA21-BBFCE3637A9A}" type="slidenum">
              <a:rPr kumimoji="0" lang="en-US" smtClean="0"/>
              <a:pPr eaLnBrk="1" latinLnBrk="0" hangingPunct="1"/>
              <a:t>‹#›</a:t>
            </a:fld>
            <a:endParaRPr kumimoji="0" lang="en-US"/>
          </a:p>
        </p:txBody>
      </p:sp>
      <p:pic>
        <p:nvPicPr>
          <p:cNvPr id="7"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5875" y="0"/>
            <a:ext cx="9105900" cy="952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502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eaLnBrk="1" latinLnBrk="0" hangingPunct="1"/>
            <a:fld id="{C699CB88-5E1A-4FAC-892A-60949ACB1F6F}" type="datetimeFigureOut">
              <a:rPr lang="en-US" smtClean="0"/>
              <a:pPr eaLnBrk="1" latinLnBrk="0" hangingPunct="1"/>
              <a:t>11/13/2024</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91974DF9-AD47-4691-BA21-BBFCE3637A9A}" type="slidenum">
              <a:rPr kumimoji="0" lang="en-US" smtClean="0"/>
              <a:pPr eaLnBrk="1" latinLnBrk="0" hangingPunct="1"/>
              <a:t>‹#›</a:t>
            </a:fld>
            <a:endParaRPr kumimoji="0" lang="en-US"/>
          </a:p>
        </p:txBody>
      </p:sp>
    </p:spTree>
    <p:extLst>
      <p:ext uri="{BB962C8B-B14F-4D97-AF65-F5344CB8AC3E}">
        <p14:creationId xmlns:p14="http://schemas.microsoft.com/office/powerpoint/2010/main" val="13737387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eaLnBrk="1" latinLnBrk="0" hangingPunct="1"/>
            <a:fld id="{C699CB88-5E1A-4FAC-892A-60949ACB1F6F}" type="datetimeFigureOut">
              <a:rPr lang="en-US" smtClean="0"/>
              <a:pPr eaLnBrk="1" latinLnBrk="0" hangingPunct="1"/>
              <a:t>11/13/2024</a:t>
            </a:fld>
            <a:endParaRPr lang="en-US"/>
          </a:p>
        </p:txBody>
      </p:sp>
      <p:sp>
        <p:nvSpPr>
          <p:cNvPr id="5" name="Footer Placeholder 4"/>
          <p:cNvSpPr>
            <a:spLocks noGrp="1"/>
          </p:cNvSpPr>
          <p:nvPr>
            <p:ph type="ftr" sz="quarter" idx="11"/>
          </p:nvPr>
        </p:nvSpPr>
        <p:spPr/>
        <p:txBody>
          <a:bodyPr/>
          <a:lstStyle/>
          <a:p>
            <a:pPr>
              <a:defRPr/>
            </a:pPr>
            <a:r>
              <a:rPr lang="en-US" smtClean="0"/>
              <a:t>November 8, 2006</a:t>
            </a:r>
            <a:endParaRPr lang="en-US"/>
          </a:p>
        </p:txBody>
      </p:sp>
      <p:sp>
        <p:nvSpPr>
          <p:cNvPr id="6" name="Slide Number Placeholder 5"/>
          <p:cNvSpPr>
            <a:spLocks noGrp="1"/>
          </p:cNvSpPr>
          <p:nvPr>
            <p:ph type="sldNum" sz="quarter" idx="12"/>
          </p:nvPr>
        </p:nvSpPr>
        <p:spPr/>
        <p:txBody>
          <a:bodyPr/>
          <a:lstStyle/>
          <a:p>
            <a:fld id="{91974DF9-AD47-4691-BA21-BBFCE3637A9A}" type="slidenum">
              <a:rPr kumimoji="0" lang="en-US" smtClean="0"/>
              <a:pPr eaLnBrk="1" latinLnBrk="0" hangingPunct="1"/>
              <a:t>‹#›</a:t>
            </a:fld>
            <a:endParaRPr kumimoji="0" lang="en-US"/>
          </a:p>
        </p:txBody>
      </p:sp>
    </p:spTree>
    <p:extLst>
      <p:ext uri="{BB962C8B-B14F-4D97-AF65-F5344CB8AC3E}">
        <p14:creationId xmlns:p14="http://schemas.microsoft.com/office/powerpoint/2010/main" val="35370803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eaLnBrk="1" latinLnBrk="0" hangingPunct="1"/>
            <a:fld id="{C699CB88-5E1A-4FAC-892A-60949ACB1F6F}" type="datetimeFigureOut">
              <a:rPr lang="en-US" smtClean="0"/>
              <a:pPr eaLnBrk="1" latinLnBrk="0" hangingPunct="1"/>
              <a:t>11/13/2024</a:t>
            </a:fld>
            <a:endParaRPr lang="en-US"/>
          </a:p>
        </p:txBody>
      </p:sp>
      <p:sp>
        <p:nvSpPr>
          <p:cNvPr id="6" name="Footer Placeholder 5"/>
          <p:cNvSpPr>
            <a:spLocks noGrp="1"/>
          </p:cNvSpPr>
          <p:nvPr>
            <p:ph type="ftr" sz="quarter" idx="11"/>
          </p:nvPr>
        </p:nvSpPr>
        <p:spPr/>
        <p:txBody>
          <a:bodyPr/>
          <a:lstStyle/>
          <a:p>
            <a:pPr>
              <a:defRPr/>
            </a:pPr>
            <a:r>
              <a:rPr lang="en-US" smtClean="0"/>
              <a:t>November 8, 2006</a:t>
            </a:r>
            <a:endParaRPr lang="en-US"/>
          </a:p>
        </p:txBody>
      </p:sp>
      <p:sp>
        <p:nvSpPr>
          <p:cNvPr id="7" name="Slide Number Placeholder 6"/>
          <p:cNvSpPr>
            <a:spLocks noGrp="1"/>
          </p:cNvSpPr>
          <p:nvPr>
            <p:ph type="sldNum" sz="quarter" idx="12"/>
          </p:nvPr>
        </p:nvSpPr>
        <p:spPr/>
        <p:txBody>
          <a:bodyPr/>
          <a:lstStyle/>
          <a:p>
            <a:fld id="{91974DF9-AD47-4691-BA21-BBFCE3637A9A}" type="slidenum">
              <a:rPr kumimoji="0" lang="en-US" smtClean="0"/>
              <a:pPr eaLnBrk="1" latinLnBrk="0" hangingPunct="1"/>
              <a:t>‹#›</a:t>
            </a:fld>
            <a:endParaRPr kumimoji="0" lang="en-US"/>
          </a:p>
        </p:txBody>
      </p:sp>
    </p:spTree>
    <p:extLst>
      <p:ext uri="{BB962C8B-B14F-4D97-AF65-F5344CB8AC3E}">
        <p14:creationId xmlns:p14="http://schemas.microsoft.com/office/powerpoint/2010/main" val="28043397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eaLnBrk="1" latinLnBrk="0" hangingPunct="1"/>
            <a:fld id="{C699CB88-5E1A-4FAC-892A-60949ACB1F6F}" type="datetimeFigureOut">
              <a:rPr lang="en-US" smtClean="0"/>
              <a:pPr eaLnBrk="1" latinLnBrk="0" hangingPunct="1"/>
              <a:t>11/13/2024</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91974DF9-AD47-4691-BA21-BBFCE3637A9A}" type="slidenum">
              <a:rPr kumimoji="0" lang="en-US" smtClean="0"/>
              <a:pPr eaLnBrk="1" latinLnBrk="0" hangingPunct="1"/>
              <a:t>‹#›</a:t>
            </a:fld>
            <a:endParaRPr kumimoji="0" lang="en-US"/>
          </a:p>
        </p:txBody>
      </p:sp>
    </p:spTree>
    <p:extLst>
      <p:ext uri="{BB962C8B-B14F-4D97-AF65-F5344CB8AC3E}">
        <p14:creationId xmlns:p14="http://schemas.microsoft.com/office/powerpoint/2010/main" val="8926761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eaLnBrk="1" latinLnBrk="0" hangingPunct="1"/>
            <a:fld id="{C699CB88-5E1A-4FAC-892A-60949ACB1F6F}" type="datetimeFigureOut">
              <a:rPr lang="en-US" smtClean="0"/>
              <a:pPr eaLnBrk="1" latinLnBrk="0" hangingPunct="1"/>
              <a:t>11/13/2024</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91974DF9-AD47-4691-BA21-BBFCE3637A9A}" type="slidenum">
              <a:rPr kumimoji="0" lang="en-US" smtClean="0"/>
              <a:pPr eaLnBrk="1" latinLnBrk="0" hangingPunct="1"/>
              <a:t>‹#›</a:t>
            </a:fld>
            <a:endParaRPr kumimoji="0" lang="en-US"/>
          </a:p>
        </p:txBody>
      </p:sp>
    </p:spTree>
    <p:extLst>
      <p:ext uri="{BB962C8B-B14F-4D97-AF65-F5344CB8AC3E}">
        <p14:creationId xmlns:p14="http://schemas.microsoft.com/office/powerpoint/2010/main" val="1447524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eaLnBrk="1" latinLnBrk="0" hangingPunct="1"/>
            <a:fld id="{C699CB88-5E1A-4FAC-892A-60949ACB1F6F}" type="datetimeFigureOut">
              <a:rPr lang="en-US" smtClean="0"/>
              <a:pPr eaLnBrk="1" latinLnBrk="0" hangingPunct="1"/>
              <a:t>11/13/2024</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91974DF9-AD47-4691-BA21-BBFCE3637A9A}" type="slidenum">
              <a:rPr kumimoji="0" lang="en-US" smtClean="0"/>
              <a:pPr eaLnBrk="1" latinLnBrk="0" hangingPunct="1"/>
              <a:t>‹#›</a:t>
            </a:fld>
            <a:endParaRPr kumimoji="0" lang="en-US"/>
          </a:p>
        </p:txBody>
      </p:sp>
    </p:spTree>
    <p:extLst>
      <p:ext uri="{BB962C8B-B14F-4D97-AF65-F5344CB8AC3E}">
        <p14:creationId xmlns:p14="http://schemas.microsoft.com/office/powerpoint/2010/main" val="25052976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eaLnBrk="1" latinLnBrk="0" hangingPunct="1"/>
            <a:fld id="{C699CB88-5E1A-4FAC-892A-60949ACB1F6F}" type="datetimeFigureOut">
              <a:rPr lang="en-US" smtClean="0"/>
              <a:pPr eaLnBrk="1" latinLnBrk="0" hangingPunct="1"/>
              <a:t>11/13/2024</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91974DF9-AD47-4691-BA21-BBFCE3637A9A}" type="slidenum">
              <a:rPr kumimoji="0" lang="en-US" smtClean="0"/>
              <a:pPr eaLnBrk="1" latinLnBrk="0" hangingPunct="1"/>
              <a:t>‹#›</a:t>
            </a:fld>
            <a:endParaRPr kumimoji="0" lang="en-US"/>
          </a:p>
        </p:txBody>
      </p:sp>
    </p:spTree>
    <p:extLst>
      <p:ext uri="{BB962C8B-B14F-4D97-AF65-F5344CB8AC3E}">
        <p14:creationId xmlns:p14="http://schemas.microsoft.com/office/powerpoint/2010/main" val="30060806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eaLnBrk="1" latinLnBrk="0" hangingPunct="1"/>
            <a:fld id="{C699CB88-5E1A-4FAC-892A-60949ACB1F6F}" type="datetimeFigureOut">
              <a:rPr lang="en-US" smtClean="0"/>
              <a:pPr eaLnBrk="1" latinLnBrk="0" hangingPunct="1"/>
              <a:t>11/13/2024</a:t>
            </a:fld>
            <a:endParaRPr lang="en-US"/>
          </a:p>
        </p:txBody>
      </p:sp>
      <p:sp>
        <p:nvSpPr>
          <p:cNvPr id="6" name="Footer Placeholder 5"/>
          <p:cNvSpPr>
            <a:spLocks noGrp="1"/>
          </p:cNvSpPr>
          <p:nvPr>
            <p:ph type="ftr" sz="quarter" idx="11"/>
          </p:nvPr>
        </p:nvSpPr>
        <p:spPr/>
        <p:txBody>
          <a:bodyPr/>
          <a:lstStyle/>
          <a:p>
            <a:pPr>
              <a:defRPr/>
            </a:pPr>
            <a:r>
              <a:rPr lang="en-US" smtClean="0"/>
              <a:t>November 8, 2006</a:t>
            </a:r>
            <a:endParaRPr lang="en-US"/>
          </a:p>
        </p:txBody>
      </p:sp>
      <p:sp>
        <p:nvSpPr>
          <p:cNvPr id="7" name="Slide Number Placeholder 6"/>
          <p:cNvSpPr>
            <a:spLocks noGrp="1"/>
          </p:cNvSpPr>
          <p:nvPr>
            <p:ph type="sldNum" sz="quarter" idx="12"/>
          </p:nvPr>
        </p:nvSpPr>
        <p:spPr/>
        <p:txBody>
          <a:bodyPr/>
          <a:lstStyle/>
          <a:p>
            <a:fld id="{91974DF9-AD47-4691-BA21-BBFCE3637A9A}" type="slidenum">
              <a:rPr kumimoji="0" lang="en-US" smtClean="0"/>
              <a:pPr eaLnBrk="1" latinLnBrk="0" hangingPunct="1"/>
              <a:t>‹#›</a:t>
            </a:fld>
            <a:endParaRPr kumimoji="0" lang="en-US"/>
          </a:p>
        </p:txBody>
      </p:sp>
    </p:spTree>
    <p:extLst>
      <p:ext uri="{BB962C8B-B14F-4D97-AF65-F5344CB8AC3E}">
        <p14:creationId xmlns:p14="http://schemas.microsoft.com/office/powerpoint/2010/main" val="35388593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eaLnBrk="1" latinLnBrk="0" hangingPunct="1"/>
            <a:fld id="{C699CB88-5E1A-4FAC-892A-60949ACB1F6F}" type="datetimeFigureOut">
              <a:rPr lang="en-US" smtClean="0"/>
              <a:pPr eaLnBrk="1" latinLnBrk="0" hangingPunct="1"/>
              <a:t>11/13/2024</a:t>
            </a:fld>
            <a:endParaRPr lang="en-US"/>
          </a:p>
        </p:txBody>
      </p:sp>
      <p:sp>
        <p:nvSpPr>
          <p:cNvPr id="5" name="Footer Placeholder 4"/>
          <p:cNvSpPr>
            <a:spLocks noGrp="1"/>
          </p:cNvSpPr>
          <p:nvPr>
            <p:ph type="ftr" sz="quarter" idx="11"/>
          </p:nvPr>
        </p:nvSpPr>
        <p:spPr/>
        <p:txBody>
          <a:bodyPr/>
          <a:lstStyle/>
          <a:p>
            <a:pPr>
              <a:defRPr/>
            </a:pPr>
            <a:r>
              <a:rPr lang="en-US" smtClean="0"/>
              <a:t>November 8, 2006</a:t>
            </a:r>
            <a:endParaRPr lang="en-US"/>
          </a:p>
        </p:txBody>
      </p:sp>
      <p:sp>
        <p:nvSpPr>
          <p:cNvPr id="6" name="Slide Number Placeholder 5"/>
          <p:cNvSpPr>
            <a:spLocks noGrp="1"/>
          </p:cNvSpPr>
          <p:nvPr>
            <p:ph type="sldNum" sz="quarter" idx="12"/>
          </p:nvPr>
        </p:nvSpPr>
        <p:spPr/>
        <p:txBody>
          <a:bodyPr/>
          <a:lstStyle/>
          <a:p>
            <a:fld id="{91974DF9-AD47-4691-BA21-BBFCE3637A9A}" type="slidenum">
              <a:rPr kumimoji="0" lang="en-US" smtClean="0"/>
              <a:pPr eaLnBrk="1" latinLnBrk="0" hangingPunct="1"/>
              <a:t>‹#›</a:t>
            </a:fld>
            <a:endParaRPr kumimoji="0" lang="en-US"/>
          </a:p>
        </p:txBody>
      </p:sp>
    </p:spTree>
    <p:extLst>
      <p:ext uri="{BB962C8B-B14F-4D97-AF65-F5344CB8AC3E}">
        <p14:creationId xmlns:p14="http://schemas.microsoft.com/office/powerpoint/2010/main" val="29288638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eaLnBrk="1" latinLnBrk="0" hangingPunct="1"/>
            <a:fld id="{C699CB88-5E1A-4FAC-892A-60949ACB1F6F}" type="datetimeFigureOut">
              <a:rPr lang="en-US" smtClean="0"/>
              <a:pPr eaLnBrk="1" latinLnBrk="0" hangingPunct="1"/>
              <a:t>11/13/2024</a:t>
            </a:fld>
            <a:endParaRPr lang="en-US"/>
          </a:p>
        </p:txBody>
      </p:sp>
      <p:sp>
        <p:nvSpPr>
          <p:cNvPr id="5" name="Footer Placeholder 4"/>
          <p:cNvSpPr>
            <a:spLocks noGrp="1"/>
          </p:cNvSpPr>
          <p:nvPr>
            <p:ph type="ftr" sz="quarter" idx="11"/>
          </p:nvPr>
        </p:nvSpPr>
        <p:spPr/>
        <p:txBody>
          <a:bodyPr/>
          <a:lstStyle/>
          <a:p>
            <a:pPr>
              <a:defRPr/>
            </a:pPr>
            <a:r>
              <a:rPr lang="en-US" smtClean="0"/>
              <a:t>November 8, 2006</a:t>
            </a:r>
            <a:endParaRPr lang="en-US"/>
          </a:p>
        </p:txBody>
      </p:sp>
      <p:sp>
        <p:nvSpPr>
          <p:cNvPr id="6" name="Slide Number Placeholder 5"/>
          <p:cNvSpPr>
            <a:spLocks noGrp="1"/>
          </p:cNvSpPr>
          <p:nvPr>
            <p:ph type="sldNum" sz="quarter" idx="12"/>
          </p:nvPr>
        </p:nvSpPr>
        <p:spPr/>
        <p:txBody>
          <a:bodyPr/>
          <a:lstStyle/>
          <a:p>
            <a:fld id="{91974DF9-AD47-4691-BA21-BBFCE3637A9A}" type="slidenum">
              <a:rPr kumimoji="0" lang="en-US" smtClean="0"/>
              <a:pPr eaLnBrk="1" latinLnBrk="0" hangingPunct="1"/>
              <a:t>‹#›</a:t>
            </a:fld>
            <a:endParaRPr kumimoji="0" lang="en-US"/>
          </a:p>
        </p:txBody>
      </p:sp>
    </p:spTree>
    <p:extLst>
      <p:ext uri="{BB962C8B-B14F-4D97-AF65-F5344CB8AC3E}">
        <p14:creationId xmlns:p14="http://schemas.microsoft.com/office/powerpoint/2010/main" val="31495156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Arial" pitchFamily="34" charset="0"/>
              </a:defRPr>
            </a:lvl1pPr>
          </a:lstStyle>
          <a:p>
            <a:pPr>
              <a:defRPr/>
            </a:pPr>
            <a:fld id="{9571B826-9F58-4BE7-AD59-B8D87D637A41}" type="datetimeFigureOut">
              <a:rPr lang="en-US" altLang="en-US"/>
              <a:pPr>
                <a:defRPr/>
              </a:pPr>
              <a:t>11/13/2024</a:t>
            </a:fld>
            <a:endParaRPr lang="en-US" alt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charset="0"/>
                <a:ea typeface="+mn-ea"/>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Arial" pitchFamily="34" charset="0"/>
              </a:defRPr>
            </a:lvl1pPr>
          </a:lstStyle>
          <a:p>
            <a:pPr>
              <a:defRPr/>
            </a:pPr>
            <a:fld id="{0BFDEB6E-1DDE-4718-956D-E92CB94A556C}"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381" r:id="rId1"/>
    <p:sldLayoutId id="2147484382" r:id="rId2"/>
    <p:sldLayoutId id="2147484383" r:id="rId3"/>
    <p:sldLayoutId id="2147484384" r:id="rId4"/>
    <p:sldLayoutId id="2147484385" r:id="rId5"/>
    <p:sldLayoutId id="2147484386" r:id="rId6"/>
    <p:sldLayoutId id="2147484387" r:id="rId7"/>
    <p:sldLayoutId id="2147484388" r:id="rId8"/>
    <p:sldLayoutId id="2147484389" r:id="rId9"/>
    <p:sldLayoutId id="2147484390" r:id="rId10"/>
    <p:sldLayoutId id="2147484391" r:id="rId11"/>
  </p:sldLayoutIdLst>
  <p:txStyles>
    <p:titleStyle>
      <a:lvl1pPr algn="ctr" rtl="0" eaLnBrk="0" fontAlgn="base" hangingPunct="0">
        <a:spcBef>
          <a:spcPct val="0"/>
        </a:spcBef>
        <a:spcAft>
          <a:spcPct val="0"/>
        </a:spcAft>
        <a:defRPr sz="4400" kern="1200">
          <a:solidFill>
            <a:schemeClr val="tx1"/>
          </a:solidFill>
          <a:latin typeface="+mj-lt"/>
          <a:ea typeface="ＭＳ Ｐゴシック" charset="0"/>
          <a:cs typeface="+mj-cs"/>
        </a:defRPr>
      </a:lvl1pPr>
      <a:lvl2pPr algn="ctr" rtl="0" eaLnBrk="0" fontAlgn="base" hangingPunct="0">
        <a:spcBef>
          <a:spcPct val="0"/>
        </a:spcBef>
        <a:spcAft>
          <a:spcPct val="0"/>
        </a:spcAft>
        <a:defRPr sz="4400">
          <a:solidFill>
            <a:schemeClr val="tx1"/>
          </a:solidFill>
          <a:latin typeface="Calibri" pitchFamily="34" charset="0"/>
          <a:ea typeface="ＭＳ Ｐゴシック" charset="0"/>
        </a:defRPr>
      </a:lvl2pPr>
      <a:lvl3pPr algn="ctr" rtl="0" eaLnBrk="0" fontAlgn="base" hangingPunct="0">
        <a:spcBef>
          <a:spcPct val="0"/>
        </a:spcBef>
        <a:spcAft>
          <a:spcPct val="0"/>
        </a:spcAft>
        <a:defRPr sz="4400">
          <a:solidFill>
            <a:schemeClr val="tx1"/>
          </a:solidFill>
          <a:latin typeface="Calibri" pitchFamily="34" charset="0"/>
          <a:ea typeface="ＭＳ Ｐゴシック" charset="0"/>
        </a:defRPr>
      </a:lvl3pPr>
      <a:lvl4pPr algn="ctr" rtl="0" eaLnBrk="0" fontAlgn="base" hangingPunct="0">
        <a:spcBef>
          <a:spcPct val="0"/>
        </a:spcBef>
        <a:spcAft>
          <a:spcPct val="0"/>
        </a:spcAft>
        <a:defRPr sz="4400">
          <a:solidFill>
            <a:schemeClr val="tx1"/>
          </a:solidFill>
          <a:latin typeface="Calibri" pitchFamily="34" charset="0"/>
          <a:ea typeface="ＭＳ Ｐゴシック" charset="0"/>
        </a:defRPr>
      </a:lvl4pPr>
      <a:lvl5pPr algn="ctr" rtl="0" eaLnBrk="0" fontAlgn="base" hangingPunct="0">
        <a:spcBef>
          <a:spcPct val="0"/>
        </a:spcBef>
        <a:spcAft>
          <a:spcPct val="0"/>
        </a:spcAft>
        <a:defRPr sz="4400">
          <a:solidFill>
            <a:schemeClr val="tx1"/>
          </a:solidFill>
          <a:latin typeface="Calibri" pitchFamily="34" charset="0"/>
          <a:ea typeface="ＭＳ Ｐゴシック"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ＭＳ Ｐゴシック" charset="0"/>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ＭＳ Ｐゴシック" charset="0"/>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ＭＳ Ｐゴシック" charset="0"/>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ＭＳ Ｐゴシック" charset="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9571B826-9F58-4BE7-AD59-B8D87D637A41}" type="datetimeFigureOut">
              <a:rPr lang="en-US" altLang="en-US" smtClean="0"/>
              <a:pPr>
                <a:defRPr/>
              </a:pPr>
              <a:t>11/13/2024</a:t>
            </a:fld>
            <a:endParaRPr lang="en-US" alt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BFDEB6E-1DDE-4718-956D-E92CB94A556C}" type="slidenum">
              <a:rPr lang="en-US" altLang="en-US" smtClean="0"/>
              <a:pPr>
                <a:defRPr/>
              </a:pPr>
              <a:t>‹#›</a:t>
            </a:fld>
            <a:endParaRPr lang="en-US" altLang="en-US"/>
          </a:p>
        </p:txBody>
      </p:sp>
    </p:spTree>
    <p:extLst>
      <p:ext uri="{BB962C8B-B14F-4D97-AF65-F5344CB8AC3E}">
        <p14:creationId xmlns:p14="http://schemas.microsoft.com/office/powerpoint/2010/main" val="2974902895"/>
      </p:ext>
    </p:extLst>
  </p:cSld>
  <p:clrMap bg1="lt1" tx1="dk1" bg2="lt2" tx2="dk2" accent1="accent1" accent2="accent2" accent3="accent3" accent4="accent4" accent5="accent5" accent6="accent6" hlink="hlink" folHlink="folHlink"/>
  <p:sldLayoutIdLst>
    <p:sldLayoutId id="2147484411" r:id="rId1"/>
    <p:sldLayoutId id="2147484412" r:id="rId2"/>
    <p:sldLayoutId id="2147484413" r:id="rId3"/>
    <p:sldLayoutId id="2147484414" r:id="rId4"/>
    <p:sldLayoutId id="2147484415" r:id="rId5"/>
    <p:sldLayoutId id="2147484416" r:id="rId6"/>
    <p:sldLayoutId id="2147484417" r:id="rId7"/>
    <p:sldLayoutId id="2147484418" r:id="rId8"/>
    <p:sldLayoutId id="2147484419" r:id="rId9"/>
    <p:sldLayoutId id="2147484420" r:id="rId10"/>
    <p:sldLayoutId id="214748442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13.xml"/><Relationship Id="rId5" Type="http://schemas.openxmlformats.org/officeDocument/2006/relationships/image" Target="../media/image5.jpeg"/><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hyperlink" Target="http://www.nytimes.com/2012/02/19/magazine/shopping-habits.html?pagewanted=1&amp;_r=2&amp;hp&amp;" TargetMode="Externa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a:xfrm>
            <a:off x="722313" y="987425"/>
            <a:ext cx="7772400" cy="1470025"/>
          </a:xfrm>
        </p:spPr>
        <p:txBody>
          <a:bodyPr/>
          <a:lstStyle/>
          <a:p>
            <a:pPr eaLnBrk="1" hangingPunct="1"/>
            <a:r>
              <a:rPr lang="en-US" altLang="en-US" sz="4400" dirty="0" smtClean="0">
                <a:ea typeface="ＭＳ Ｐゴシック" pitchFamily="34" charset="-128"/>
              </a:rPr>
              <a:t>Introduction to Data Science</a:t>
            </a:r>
          </a:p>
        </p:txBody>
      </p:sp>
      <p:sp>
        <p:nvSpPr>
          <p:cNvPr id="2" name="Subtitle 1"/>
          <p:cNvSpPr>
            <a:spLocks noGrp="1"/>
          </p:cNvSpPr>
          <p:nvPr>
            <p:ph type="subTitle" idx="1"/>
          </p:nvPr>
        </p:nvSpPr>
        <p:spPr/>
        <p:txBody>
          <a:bodyPr/>
          <a:lstStyle/>
          <a:p>
            <a:endParaRPr lang="en-US"/>
          </a:p>
        </p:txBody>
      </p:sp>
      <p:sp>
        <p:nvSpPr>
          <p:cNvPr id="11" name="Title 1"/>
          <p:cNvSpPr txBox="1">
            <a:spLocks/>
          </p:cNvSpPr>
          <p:nvPr/>
        </p:nvSpPr>
        <p:spPr bwMode="auto">
          <a:xfrm>
            <a:off x="1371600" y="0"/>
            <a:ext cx="6477000" cy="990600"/>
          </a:xfrm>
          <a:prstGeom prst="rect">
            <a:avLst/>
          </a:prstGeom>
          <a:noFill/>
          <a:ln w="9525">
            <a:noFill/>
            <a:miter lim="800000"/>
            <a:headEnd/>
            <a:tailEnd/>
          </a:ln>
        </p:spPr>
        <p:txBody>
          <a:bodyPr anchor="ctr"/>
          <a:lstStyle/>
          <a:p>
            <a:pPr algn="ctr" eaLnBrk="0" hangingPunct="0">
              <a:defRPr/>
            </a:pPr>
            <a:endParaRPr lang="en-US" sz="3200" b="1" kern="0" dirty="0">
              <a:solidFill>
                <a:srgbClr val="C00000"/>
              </a:solidFill>
              <a:effectLst>
                <a:outerShdw blurRad="38100" dist="38100" dir="2700000" algn="tl">
                  <a:srgbClr val="000000">
                    <a:alpha val="43137"/>
                  </a:srgbClr>
                </a:outerShdw>
              </a:effectLst>
              <a:latin typeface="+mj-lt"/>
              <a:ea typeface="+mj-ea"/>
              <a:cs typeface="+mj-c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altLang="en-US" smtClean="0">
                <a:ea typeface="ＭＳ Ｐゴシック" pitchFamily="34" charset="-128"/>
              </a:rPr>
              <a:t>Outline</a:t>
            </a:r>
          </a:p>
        </p:txBody>
      </p:sp>
      <p:sp>
        <p:nvSpPr>
          <p:cNvPr id="10243" name="Content Placeholder 2"/>
          <p:cNvSpPr>
            <a:spLocks noGrp="1"/>
          </p:cNvSpPr>
          <p:nvPr>
            <p:ph idx="1"/>
          </p:nvPr>
        </p:nvSpPr>
        <p:spPr>
          <a:xfrm>
            <a:off x="457200" y="1295400"/>
            <a:ext cx="8229600" cy="5334000"/>
          </a:xfrm>
        </p:spPr>
        <p:txBody>
          <a:bodyPr>
            <a:normAutofit/>
          </a:bodyPr>
          <a:lstStyle/>
          <a:p>
            <a:pPr eaLnBrk="1" hangingPunct="1">
              <a:defRPr/>
            </a:pPr>
            <a:r>
              <a:rPr lang="en-US" altLang="en-US" dirty="0" smtClean="0">
                <a:ea typeface="+mn-ea"/>
              </a:rPr>
              <a:t>Data, Big Data and Challenges</a:t>
            </a:r>
          </a:p>
          <a:p>
            <a:pPr eaLnBrk="1" hangingPunct="1">
              <a:defRPr/>
            </a:pPr>
            <a:r>
              <a:rPr lang="en-US" altLang="en-US" dirty="0" smtClean="0">
                <a:ea typeface="+mn-ea"/>
              </a:rPr>
              <a:t>Data Science</a:t>
            </a:r>
          </a:p>
          <a:p>
            <a:pPr lvl="1" eaLnBrk="1" hangingPunct="1">
              <a:defRPr/>
            </a:pPr>
            <a:r>
              <a:rPr lang="en-US" altLang="en-US" dirty="0" smtClean="0"/>
              <a:t>Introduction</a:t>
            </a:r>
          </a:p>
          <a:p>
            <a:pPr lvl="1" eaLnBrk="1" hangingPunct="1">
              <a:defRPr/>
            </a:pPr>
            <a:r>
              <a:rPr lang="en-US" altLang="en-US" dirty="0" smtClean="0"/>
              <a:t>Why Data Science</a:t>
            </a:r>
          </a:p>
          <a:p>
            <a:pPr>
              <a:defRPr/>
            </a:pPr>
            <a:r>
              <a:rPr lang="en-US" altLang="en-US" dirty="0" smtClean="0"/>
              <a:t>Data Scientists</a:t>
            </a:r>
          </a:p>
          <a:p>
            <a:pPr lvl="1">
              <a:defRPr/>
            </a:pPr>
            <a:r>
              <a:rPr lang="en-US" altLang="en-US" dirty="0" smtClean="0"/>
              <a:t>What do they do</a:t>
            </a:r>
            <a:r>
              <a:rPr lang="en-US" altLang="en-US" dirty="0" smtClean="0"/>
              <a:t>?</a:t>
            </a:r>
          </a:p>
          <a:p>
            <a:pPr>
              <a:defRPr/>
            </a:pPr>
            <a:r>
              <a:rPr lang="en-US" altLang="en-US" dirty="0" smtClean="0"/>
              <a:t>Python Introduction</a:t>
            </a:r>
          </a:p>
          <a:p>
            <a:pPr lvl="1">
              <a:defRPr/>
            </a:pPr>
            <a:r>
              <a:rPr lang="en-US" altLang="en-US" dirty="0" smtClean="0"/>
              <a:t>Data Science libraries.</a:t>
            </a:r>
            <a:endParaRPr lang="en-US" altLang="en-US"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All Around</a:t>
            </a:r>
            <a:endParaRPr lang="en-US" dirty="0"/>
          </a:p>
        </p:txBody>
      </p:sp>
      <p:sp>
        <p:nvSpPr>
          <p:cNvPr id="3" name="Content Placeholder 2"/>
          <p:cNvSpPr>
            <a:spLocks noGrp="1"/>
          </p:cNvSpPr>
          <p:nvPr>
            <p:ph idx="1"/>
          </p:nvPr>
        </p:nvSpPr>
        <p:spPr/>
        <p:txBody>
          <a:bodyPr/>
          <a:lstStyle/>
          <a:p>
            <a:r>
              <a:rPr lang="en-US" dirty="0"/>
              <a:t>Lots of data is being collected </a:t>
            </a:r>
            <a:br>
              <a:rPr lang="en-US" dirty="0"/>
            </a:br>
            <a:r>
              <a:rPr lang="en-US" dirty="0"/>
              <a:t>and warehoused </a:t>
            </a:r>
          </a:p>
          <a:p>
            <a:pPr lvl="1"/>
            <a:r>
              <a:rPr lang="en-US" dirty="0"/>
              <a:t>Web data, e-commerce</a:t>
            </a:r>
          </a:p>
          <a:p>
            <a:pPr lvl="1"/>
            <a:r>
              <a:rPr lang="en-US" dirty="0" smtClean="0"/>
              <a:t>Financial transactions, bank/credit transactions</a:t>
            </a:r>
          </a:p>
          <a:p>
            <a:pPr lvl="1"/>
            <a:r>
              <a:rPr lang="en-US" dirty="0" smtClean="0"/>
              <a:t>Online trading and purchasing</a:t>
            </a:r>
            <a:endParaRPr lang="en-US" dirty="0"/>
          </a:p>
          <a:p>
            <a:pPr lvl="1"/>
            <a:r>
              <a:rPr lang="en-US" dirty="0" smtClean="0"/>
              <a:t>Social </a:t>
            </a:r>
            <a:r>
              <a:rPr lang="en-US" dirty="0"/>
              <a:t>Network</a:t>
            </a:r>
          </a:p>
          <a:p>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34200" y="1524000"/>
            <a:ext cx="1840230" cy="1600200"/>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600" y="4876800"/>
            <a:ext cx="2425700" cy="1631834"/>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38650" y="4944052"/>
            <a:ext cx="2495550" cy="1497330"/>
          </a:xfrm>
          <a:prstGeom prst="rect">
            <a:avLst/>
          </a:prstGeom>
        </p:spPr>
      </p:pic>
      <p:pic>
        <p:nvPicPr>
          <p:cNvPr id="9" name="Picture 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674264" y="3588848"/>
            <a:ext cx="2220252" cy="1328928"/>
          </a:xfrm>
          <a:prstGeom prst="rect">
            <a:avLst/>
          </a:prstGeom>
        </p:spPr>
      </p:pic>
    </p:spTree>
    <p:extLst>
      <p:ext uri="{BB962C8B-B14F-4D97-AF65-F5344CB8AC3E}">
        <p14:creationId xmlns:p14="http://schemas.microsoft.com/office/powerpoint/2010/main" val="234896752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Much Data Do We have?</a:t>
            </a:r>
            <a:endParaRPr lang="en-US" dirty="0"/>
          </a:p>
        </p:txBody>
      </p:sp>
      <p:sp>
        <p:nvSpPr>
          <p:cNvPr id="3" name="Content Placeholder 2"/>
          <p:cNvSpPr>
            <a:spLocks noGrp="1"/>
          </p:cNvSpPr>
          <p:nvPr>
            <p:ph idx="1"/>
          </p:nvPr>
        </p:nvSpPr>
        <p:spPr/>
        <p:txBody>
          <a:bodyPr>
            <a:normAutofit fontScale="92500" lnSpcReduction="10000"/>
          </a:bodyPr>
          <a:lstStyle/>
          <a:p>
            <a:r>
              <a:rPr lang="en-US" dirty="0"/>
              <a:t>Google processes 20 PB a day (2008)</a:t>
            </a:r>
          </a:p>
          <a:p>
            <a:r>
              <a:rPr lang="en-US" dirty="0" smtClean="0"/>
              <a:t>Facebook </a:t>
            </a:r>
            <a:r>
              <a:rPr lang="en-US" dirty="0"/>
              <a:t>has </a:t>
            </a:r>
            <a:r>
              <a:rPr lang="en-US" dirty="0" smtClean="0"/>
              <a:t>60 TB of daily logs</a:t>
            </a:r>
            <a:endParaRPr lang="en-US" dirty="0"/>
          </a:p>
          <a:p>
            <a:r>
              <a:rPr lang="en-US" dirty="0"/>
              <a:t>eBay has 6.5 PB of user data + 50 TB/day (5/2009)</a:t>
            </a:r>
          </a:p>
          <a:p>
            <a:r>
              <a:rPr lang="en-US" dirty="0"/>
              <a:t>1000 </a:t>
            </a:r>
            <a:r>
              <a:rPr lang="en-US" dirty="0" smtClean="0"/>
              <a:t>genomes </a:t>
            </a:r>
            <a:r>
              <a:rPr lang="en-US" dirty="0"/>
              <a:t>project: 200 </a:t>
            </a:r>
            <a:r>
              <a:rPr lang="en-US" dirty="0" smtClean="0"/>
              <a:t>TB</a:t>
            </a:r>
          </a:p>
          <a:p>
            <a:endParaRPr lang="en-US" dirty="0" smtClean="0"/>
          </a:p>
          <a:p>
            <a:endParaRPr lang="en-US" dirty="0"/>
          </a:p>
          <a:p>
            <a:r>
              <a:rPr lang="en-US" sz="2000" dirty="0"/>
              <a:t>Cost of 1 TB of disk: $35</a:t>
            </a:r>
          </a:p>
          <a:p>
            <a:r>
              <a:rPr lang="en-US" sz="2000" dirty="0"/>
              <a:t>Time to read 1 TB disk: 3 </a:t>
            </a:r>
            <a:r>
              <a:rPr lang="en-US" sz="2000" dirty="0" err="1" smtClean="0"/>
              <a:t>hrs</a:t>
            </a:r>
            <a:r>
              <a:rPr lang="en-US" sz="2000" dirty="0" smtClean="0"/>
              <a:t> </a:t>
            </a:r>
          </a:p>
          <a:p>
            <a:pPr marL="0" indent="0">
              <a:buNone/>
            </a:pPr>
            <a:r>
              <a:rPr lang="en-US" sz="2000" dirty="0"/>
              <a:t> </a:t>
            </a:r>
            <a:r>
              <a:rPr lang="en-US" sz="2000" dirty="0" smtClean="0"/>
              <a:t>     (</a:t>
            </a:r>
            <a:r>
              <a:rPr lang="en-US" sz="2000" dirty="0"/>
              <a:t>100 MB/s)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99233" y="4069142"/>
            <a:ext cx="4449661" cy="2790256"/>
          </a:xfrm>
          <a:prstGeom prst="rect">
            <a:avLst/>
          </a:prstGeom>
        </p:spPr>
      </p:pic>
    </p:spTree>
    <p:extLst>
      <p:ext uri="{BB962C8B-B14F-4D97-AF65-F5344CB8AC3E}">
        <p14:creationId xmlns:p14="http://schemas.microsoft.com/office/powerpoint/2010/main" val="292677450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dirty="0" smtClean="0"/>
              <a:t>Big Data</a:t>
            </a:r>
            <a:endParaRPr lang="en-US" altLang="en-US" dirty="0" smtClean="0">
              <a:ea typeface="ＭＳ Ｐゴシック" panose="020B0600070205080204" pitchFamily="34" charset="-128"/>
            </a:endParaRPr>
          </a:p>
        </p:txBody>
      </p:sp>
      <p:sp>
        <p:nvSpPr>
          <p:cNvPr id="3" name="Content Placeholder 2"/>
          <p:cNvSpPr>
            <a:spLocks noGrp="1"/>
          </p:cNvSpPr>
          <p:nvPr>
            <p:ph idx="1"/>
          </p:nvPr>
        </p:nvSpPr>
        <p:spPr>
          <a:xfrm>
            <a:off x="304800" y="1143000"/>
            <a:ext cx="8382000" cy="5029200"/>
          </a:xfrm>
        </p:spPr>
        <p:txBody>
          <a:bodyPr/>
          <a:lstStyle/>
          <a:p>
            <a:pPr marL="342900" lvl="1" indent="-342900" eaLnBrk="1" hangingPunct="1">
              <a:buSzPct val="75000"/>
              <a:buBlip>
                <a:blip r:embed="rId2"/>
              </a:buBlip>
              <a:defRPr/>
            </a:pPr>
            <a:r>
              <a:rPr lang="en-US" altLang="en-US" dirty="0" smtClean="0">
                <a:solidFill>
                  <a:schemeClr val="tx1"/>
                </a:solidFill>
              </a:rPr>
              <a:t>Big </a:t>
            </a:r>
            <a:r>
              <a:rPr lang="en-US" altLang="en-US" dirty="0">
                <a:solidFill>
                  <a:schemeClr val="tx1"/>
                </a:solidFill>
              </a:rPr>
              <a:t>Data </a:t>
            </a:r>
            <a:r>
              <a:rPr lang="en-US" dirty="0" smtClean="0">
                <a:solidFill>
                  <a:schemeClr val="tx1"/>
                </a:solidFill>
              </a:rPr>
              <a:t>is </a:t>
            </a:r>
            <a:r>
              <a:rPr lang="en-US" dirty="0">
                <a:solidFill>
                  <a:schemeClr val="tx1"/>
                </a:solidFill>
              </a:rPr>
              <a:t>any data that is expensive to manage and hard to extract value from </a:t>
            </a:r>
            <a:endParaRPr lang="en-US" dirty="0" smtClean="0">
              <a:solidFill>
                <a:schemeClr val="tx1"/>
              </a:solidFill>
            </a:endParaRPr>
          </a:p>
          <a:p>
            <a:pPr lvl="1" eaLnBrk="1" hangingPunct="1">
              <a:defRPr/>
            </a:pPr>
            <a:r>
              <a:rPr lang="en-US" altLang="en-US" dirty="0" smtClean="0"/>
              <a:t>Volume</a:t>
            </a:r>
          </a:p>
          <a:p>
            <a:pPr lvl="2" eaLnBrk="1" hangingPunct="1">
              <a:defRPr/>
            </a:pPr>
            <a:r>
              <a:rPr lang="en-US" altLang="en-US" dirty="0" smtClean="0"/>
              <a:t>The size of the data</a:t>
            </a:r>
            <a:endParaRPr lang="en-US" altLang="en-US" dirty="0"/>
          </a:p>
          <a:p>
            <a:pPr lvl="1" eaLnBrk="1" hangingPunct="1">
              <a:defRPr/>
            </a:pPr>
            <a:r>
              <a:rPr lang="en-US" altLang="en-US" dirty="0" smtClean="0"/>
              <a:t>Velocity</a:t>
            </a:r>
          </a:p>
          <a:p>
            <a:pPr lvl="2" eaLnBrk="1" hangingPunct="1">
              <a:defRPr/>
            </a:pPr>
            <a:r>
              <a:rPr lang="en-US" dirty="0" smtClean="0"/>
              <a:t>The </a:t>
            </a:r>
            <a:r>
              <a:rPr lang="en-US" dirty="0"/>
              <a:t>latency of data processing relative to the growing demand for </a:t>
            </a:r>
            <a:r>
              <a:rPr lang="en-US" dirty="0" smtClean="0"/>
              <a:t>interactivity</a:t>
            </a:r>
          </a:p>
          <a:p>
            <a:pPr lvl="1" eaLnBrk="1" hangingPunct="1">
              <a:defRPr/>
            </a:pPr>
            <a:r>
              <a:rPr lang="en-US" altLang="en-US" dirty="0" smtClean="0"/>
              <a:t>Variety and Complexity</a:t>
            </a:r>
          </a:p>
          <a:p>
            <a:pPr lvl="2" eaLnBrk="1" hangingPunct="1">
              <a:defRPr/>
            </a:pPr>
            <a:r>
              <a:rPr lang="en-US" dirty="0"/>
              <a:t>the diversity of sources, formats, quality, structures.</a:t>
            </a:r>
          </a:p>
          <a:p>
            <a:pPr marL="914400" lvl="2" indent="0" eaLnBrk="1" hangingPunct="1">
              <a:buNone/>
              <a:defRPr/>
            </a:pPr>
            <a:endParaRPr lang="en-US" altLang="en-US" dirty="0"/>
          </a:p>
        </p:txBody>
      </p:sp>
    </p:spTree>
    <p:extLst>
      <p:ext uri="{BB962C8B-B14F-4D97-AF65-F5344CB8AC3E}">
        <p14:creationId xmlns:p14="http://schemas.microsoft.com/office/powerpoint/2010/main" val="32540173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Data We </a:t>
            </a:r>
            <a:r>
              <a:rPr lang="en-US" dirty="0"/>
              <a:t>H</a:t>
            </a:r>
            <a:r>
              <a:rPr lang="en-US" dirty="0" smtClean="0"/>
              <a:t>ave</a:t>
            </a:r>
            <a:endParaRPr lang="en-US" dirty="0"/>
          </a:p>
        </p:txBody>
      </p:sp>
      <p:sp>
        <p:nvSpPr>
          <p:cNvPr id="3" name="Content Placeholder 2"/>
          <p:cNvSpPr>
            <a:spLocks noGrp="1"/>
          </p:cNvSpPr>
          <p:nvPr>
            <p:ph idx="1"/>
          </p:nvPr>
        </p:nvSpPr>
        <p:spPr/>
        <p:txBody>
          <a:bodyPr>
            <a:normAutofit lnSpcReduction="10000"/>
          </a:bodyPr>
          <a:lstStyle/>
          <a:p>
            <a:r>
              <a:rPr lang="en-US" dirty="0"/>
              <a:t>Relational Data (Tables/Transaction/Legacy Data)</a:t>
            </a:r>
          </a:p>
          <a:p>
            <a:r>
              <a:rPr lang="en-US" dirty="0"/>
              <a:t>Text Data (Web)</a:t>
            </a:r>
          </a:p>
          <a:p>
            <a:r>
              <a:rPr lang="en-US" dirty="0"/>
              <a:t>Semi-structured Data (XML) </a:t>
            </a:r>
          </a:p>
          <a:p>
            <a:r>
              <a:rPr lang="en-US" dirty="0"/>
              <a:t>Graph Data</a:t>
            </a:r>
          </a:p>
          <a:p>
            <a:r>
              <a:rPr lang="en-US" dirty="0"/>
              <a:t>Social Network, Semantic Web (RDF), … </a:t>
            </a:r>
          </a:p>
          <a:p>
            <a:r>
              <a:rPr lang="en-US" dirty="0" smtClean="0"/>
              <a:t>Streaming </a:t>
            </a:r>
            <a:r>
              <a:rPr lang="en-US" dirty="0"/>
              <a:t>Data </a:t>
            </a:r>
          </a:p>
          <a:p>
            <a:r>
              <a:rPr lang="en-US" dirty="0">
                <a:solidFill>
                  <a:srgbClr val="000066"/>
                </a:solidFill>
              </a:rPr>
              <a:t>You </a:t>
            </a:r>
            <a:r>
              <a:rPr lang="en-US" dirty="0" smtClean="0">
                <a:solidFill>
                  <a:srgbClr val="000066"/>
                </a:solidFill>
              </a:rPr>
              <a:t>can afford to scan </a:t>
            </a:r>
            <a:r>
              <a:rPr lang="en-US" dirty="0">
                <a:solidFill>
                  <a:srgbClr val="000066"/>
                </a:solidFill>
              </a:rPr>
              <a:t>the data once</a:t>
            </a:r>
          </a:p>
          <a:p>
            <a:endParaRPr lang="en-US" dirty="0"/>
          </a:p>
        </p:txBody>
      </p:sp>
    </p:spTree>
    <p:extLst>
      <p:ext uri="{BB962C8B-B14F-4D97-AF65-F5344CB8AC3E}">
        <p14:creationId xmlns:p14="http://schemas.microsoft.com/office/powerpoint/2010/main" val="159491367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a:t>
            </a:r>
            <a:r>
              <a:rPr lang="en-US" dirty="0"/>
              <a:t>T</a:t>
            </a:r>
            <a:r>
              <a:rPr lang="en-US" dirty="0" smtClean="0"/>
              <a:t>o </a:t>
            </a:r>
            <a:r>
              <a:rPr lang="en-US" dirty="0"/>
              <a:t>D</a:t>
            </a:r>
            <a:r>
              <a:rPr lang="en-US" dirty="0" smtClean="0"/>
              <a:t>o With </a:t>
            </a:r>
            <a:r>
              <a:rPr lang="en-US" dirty="0"/>
              <a:t>T</a:t>
            </a:r>
            <a:r>
              <a:rPr lang="en-US" dirty="0" smtClean="0"/>
              <a:t>hese Data?</a:t>
            </a:r>
            <a:endParaRPr lang="en-US" dirty="0"/>
          </a:p>
        </p:txBody>
      </p:sp>
      <p:sp>
        <p:nvSpPr>
          <p:cNvPr id="3" name="Content Placeholder 2"/>
          <p:cNvSpPr>
            <a:spLocks noGrp="1"/>
          </p:cNvSpPr>
          <p:nvPr>
            <p:ph idx="1"/>
          </p:nvPr>
        </p:nvSpPr>
        <p:spPr/>
        <p:txBody>
          <a:bodyPr>
            <a:normAutofit/>
          </a:bodyPr>
          <a:lstStyle/>
          <a:p>
            <a:r>
              <a:rPr lang="en-US" dirty="0"/>
              <a:t>Aggregation and Statistics </a:t>
            </a:r>
          </a:p>
          <a:p>
            <a:pPr lvl="1"/>
            <a:r>
              <a:rPr lang="en-US" dirty="0"/>
              <a:t>Data </a:t>
            </a:r>
            <a:r>
              <a:rPr lang="en-US" dirty="0" smtClean="0"/>
              <a:t>warehousing </a:t>
            </a:r>
            <a:r>
              <a:rPr lang="en-US" dirty="0"/>
              <a:t>and </a:t>
            </a:r>
            <a:r>
              <a:rPr lang="en-US" dirty="0" smtClean="0"/>
              <a:t>OLAP</a:t>
            </a:r>
            <a:r>
              <a:rPr lang="en-US" sz="2000" dirty="0" smtClean="0"/>
              <a:t> (</a:t>
            </a:r>
            <a:r>
              <a:rPr lang="en-US" sz="2000" dirty="0"/>
              <a:t>Online analytical </a:t>
            </a:r>
            <a:r>
              <a:rPr lang="en-US" sz="2000" dirty="0" smtClean="0"/>
              <a:t>processing)</a:t>
            </a:r>
            <a:endParaRPr lang="en-US" dirty="0"/>
          </a:p>
          <a:p>
            <a:r>
              <a:rPr lang="en-US" dirty="0"/>
              <a:t>Indexing, Searching, and Querying</a:t>
            </a:r>
          </a:p>
          <a:p>
            <a:pPr lvl="1"/>
            <a:r>
              <a:rPr lang="en-US" dirty="0"/>
              <a:t>Keyword based search </a:t>
            </a:r>
          </a:p>
          <a:p>
            <a:pPr lvl="1"/>
            <a:r>
              <a:rPr lang="en-US" dirty="0"/>
              <a:t>Pattern matching (</a:t>
            </a:r>
            <a:r>
              <a:rPr lang="en-US" dirty="0" smtClean="0"/>
              <a:t>XML)</a:t>
            </a:r>
            <a:endParaRPr lang="en-US" dirty="0"/>
          </a:p>
          <a:p>
            <a:r>
              <a:rPr lang="en-US" dirty="0"/>
              <a:t>Knowledge discovery</a:t>
            </a:r>
          </a:p>
          <a:p>
            <a:pPr lvl="1"/>
            <a:r>
              <a:rPr lang="en-US" dirty="0"/>
              <a:t>Data Mining</a:t>
            </a:r>
          </a:p>
          <a:p>
            <a:pPr lvl="1"/>
            <a:r>
              <a:rPr lang="en-US" dirty="0"/>
              <a:t>Statistical Modeling</a:t>
            </a:r>
          </a:p>
          <a:p>
            <a:endParaRPr lang="en-US" dirty="0"/>
          </a:p>
        </p:txBody>
      </p:sp>
    </p:spTree>
    <p:extLst>
      <p:ext uri="{BB962C8B-B14F-4D97-AF65-F5344CB8AC3E}">
        <p14:creationId xmlns:p14="http://schemas.microsoft.com/office/powerpoint/2010/main" val="209656680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altLang="en-US" dirty="0" smtClean="0">
                <a:ea typeface="ＭＳ Ｐゴシック" pitchFamily="34" charset="-128"/>
              </a:rPr>
              <a:t>What is Data Science?</a:t>
            </a:r>
          </a:p>
        </p:txBody>
      </p:sp>
      <p:sp>
        <p:nvSpPr>
          <p:cNvPr id="3" name="Content Placeholder 2"/>
          <p:cNvSpPr>
            <a:spLocks noGrp="1"/>
          </p:cNvSpPr>
          <p:nvPr>
            <p:ph idx="1"/>
          </p:nvPr>
        </p:nvSpPr>
        <p:spPr/>
        <p:txBody>
          <a:bodyPr/>
          <a:lstStyle/>
          <a:p>
            <a:pPr>
              <a:defRPr/>
            </a:pPr>
            <a:r>
              <a:rPr lang="en-US" dirty="0" smtClean="0">
                <a:ea typeface="+mn-ea"/>
              </a:rPr>
              <a:t>An </a:t>
            </a:r>
            <a:r>
              <a:rPr lang="en-US" dirty="0">
                <a:ea typeface="+mn-ea"/>
              </a:rPr>
              <a:t>area that manages, manipulates, extracts, and interprets knowledge from </a:t>
            </a:r>
            <a:r>
              <a:rPr lang="en-US" dirty="0" smtClean="0">
                <a:ea typeface="+mn-ea"/>
              </a:rPr>
              <a:t>large amount </a:t>
            </a:r>
            <a:r>
              <a:rPr lang="en-US" dirty="0">
                <a:ea typeface="+mn-ea"/>
              </a:rPr>
              <a:t>of </a:t>
            </a:r>
            <a:r>
              <a:rPr lang="en-US" dirty="0" smtClean="0">
                <a:ea typeface="+mn-ea"/>
              </a:rPr>
              <a:t>data</a:t>
            </a:r>
          </a:p>
          <a:p>
            <a:pPr>
              <a:defRPr/>
            </a:pPr>
            <a:r>
              <a:rPr lang="en-US" dirty="0" smtClean="0">
                <a:ea typeface="+mn-ea"/>
              </a:rPr>
              <a:t>Data </a:t>
            </a:r>
            <a:r>
              <a:rPr lang="en-US" dirty="0">
                <a:ea typeface="+mn-ea"/>
              </a:rPr>
              <a:t>science </a:t>
            </a:r>
            <a:r>
              <a:rPr lang="en-US" dirty="0" smtClean="0">
                <a:ea typeface="+mn-ea"/>
              </a:rPr>
              <a:t>(DS) is </a:t>
            </a:r>
            <a:r>
              <a:rPr lang="en-US" dirty="0">
                <a:ea typeface="+mn-ea"/>
              </a:rPr>
              <a:t>a multidisciplinary field of study with goal to address </a:t>
            </a:r>
            <a:r>
              <a:rPr lang="en-US" dirty="0" smtClean="0">
                <a:ea typeface="+mn-ea"/>
              </a:rPr>
              <a:t>the challenges in </a:t>
            </a:r>
            <a:r>
              <a:rPr lang="en-US" dirty="0">
                <a:ea typeface="+mn-ea"/>
              </a:rPr>
              <a:t>big </a:t>
            </a:r>
            <a:r>
              <a:rPr lang="en-US" dirty="0" smtClean="0">
                <a:ea typeface="+mn-ea"/>
              </a:rPr>
              <a:t>data</a:t>
            </a:r>
            <a:endParaRPr lang="en-US" dirty="0">
              <a:ea typeface="+mn-ea"/>
            </a:endParaRPr>
          </a:p>
          <a:p>
            <a:pPr>
              <a:defRPr/>
            </a:pPr>
            <a:r>
              <a:rPr lang="en-US" dirty="0">
                <a:solidFill>
                  <a:srgbClr val="000066"/>
                </a:solidFill>
                <a:ea typeface="+mn-ea"/>
              </a:rPr>
              <a:t>Data science principles apply to all data – big and </a:t>
            </a:r>
            <a:r>
              <a:rPr lang="en-US" dirty="0" smtClean="0">
                <a:solidFill>
                  <a:srgbClr val="000066"/>
                </a:solidFill>
                <a:ea typeface="+mn-ea"/>
              </a:rPr>
              <a:t>small</a:t>
            </a:r>
          </a:p>
        </p:txBody>
      </p:sp>
      <p:sp>
        <p:nvSpPr>
          <p:cNvPr id="2" name="TextBox 1"/>
          <p:cNvSpPr txBox="1"/>
          <p:nvPr/>
        </p:nvSpPr>
        <p:spPr>
          <a:xfrm>
            <a:off x="1600200" y="6324600"/>
            <a:ext cx="5483745" cy="276999"/>
          </a:xfrm>
          <a:prstGeom prst="rect">
            <a:avLst/>
          </a:prstGeom>
          <a:noFill/>
        </p:spPr>
        <p:txBody>
          <a:bodyPr wrap="none" rtlCol="0">
            <a:spAutoFit/>
          </a:bodyPr>
          <a:lstStyle/>
          <a:p>
            <a:r>
              <a:rPr lang="en-US" sz="1200" b="1" dirty="0">
                <a:solidFill>
                  <a:schemeClr val="bg1">
                    <a:lumMod val="65000"/>
                  </a:schemeClr>
                </a:solidFill>
              </a:rPr>
              <a:t>https://</a:t>
            </a:r>
            <a:r>
              <a:rPr lang="en-US" sz="1200" b="1" dirty="0" smtClean="0">
                <a:solidFill>
                  <a:schemeClr val="bg1">
                    <a:lumMod val="65000"/>
                  </a:schemeClr>
                </a:solidFill>
              </a:rPr>
              <a:t>hbr.org/2012/10/data-scientist-the-sexiest-job-of-the-21st-century</a:t>
            </a:r>
            <a:r>
              <a:rPr lang="en-US" sz="1200" b="1" dirty="0">
                <a:solidFill>
                  <a:schemeClr val="bg1">
                    <a:lumMod val="65000"/>
                  </a:schemeClr>
                </a:solidFill>
              </a:rPr>
              <a:t>/</a:t>
            </a:r>
            <a:endParaRPr lang="en-US" sz="1200" dirty="0">
              <a:solidFill>
                <a:schemeClr val="bg1">
                  <a:lumMod val="65000"/>
                </a:schemeClr>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Data Science?</a:t>
            </a:r>
            <a:endParaRPr lang="en-US" dirty="0"/>
          </a:p>
        </p:txBody>
      </p:sp>
      <p:sp>
        <p:nvSpPr>
          <p:cNvPr id="3" name="Content Placeholder 2"/>
          <p:cNvSpPr>
            <a:spLocks noGrp="1"/>
          </p:cNvSpPr>
          <p:nvPr>
            <p:ph idx="1"/>
          </p:nvPr>
        </p:nvSpPr>
        <p:spPr/>
        <p:txBody>
          <a:bodyPr>
            <a:normAutofit fontScale="92500" lnSpcReduction="10000"/>
          </a:bodyPr>
          <a:lstStyle/>
          <a:p>
            <a:r>
              <a:rPr lang="en-US" sz="2800" dirty="0"/>
              <a:t>Theories and techniques from many fields and disciplines are used to investigate and analyze a large amount of data to help decision makers in many industries such as science, engineering, economics, politics, finance, and </a:t>
            </a:r>
            <a:r>
              <a:rPr lang="en-US" sz="2800" dirty="0" smtClean="0"/>
              <a:t>education</a:t>
            </a:r>
          </a:p>
          <a:p>
            <a:pPr lvl="1"/>
            <a:r>
              <a:rPr lang="en-US" sz="2400" dirty="0" smtClean="0"/>
              <a:t>Computer Science</a:t>
            </a:r>
          </a:p>
          <a:p>
            <a:pPr lvl="2"/>
            <a:r>
              <a:rPr lang="en-US" sz="2000" dirty="0" smtClean="0"/>
              <a:t>Pattern recognition, visualization, data warehousing, High performance computing, Databases, AI</a:t>
            </a:r>
          </a:p>
          <a:p>
            <a:pPr lvl="1"/>
            <a:r>
              <a:rPr lang="en-US" sz="2400" dirty="0" smtClean="0"/>
              <a:t>Mathematics</a:t>
            </a:r>
          </a:p>
          <a:p>
            <a:pPr lvl="2"/>
            <a:r>
              <a:rPr lang="en-US" sz="2000" dirty="0" smtClean="0"/>
              <a:t>Mathematical Modeling</a:t>
            </a:r>
          </a:p>
          <a:p>
            <a:pPr lvl="1"/>
            <a:r>
              <a:rPr lang="en-US" sz="2400" dirty="0" smtClean="0"/>
              <a:t>Statistics</a:t>
            </a:r>
          </a:p>
          <a:p>
            <a:pPr lvl="2"/>
            <a:r>
              <a:rPr lang="en-US" sz="2000" dirty="0"/>
              <a:t>Statistical and Stochastic modeling, </a:t>
            </a:r>
            <a:r>
              <a:rPr lang="en-US" sz="2000" dirty="0" smtClean="0"/>
              <a:t>Probability.</a:t>
            </a:r>
            <a:endParaRPr lang="en-US" dirty="0"/>
          </a:p>
        </p:txBody>
      </p:sp>
    </p:spTree>
    <p:extLst>
      <p:ext uri="{BB962C8B-B14F-4D97-AF65-F5344CB8AC3E}">
        <p14:creationId xmlns:p14="http://schemas.microsoft.com/office/powerpoint/2010/main" val="311024902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dirty="0" smtClean="0"/>
              <a:t>Data Science</a:t>
            </a:r>
            <a:endParaRPr lang="en-US" altLang="en-US" dirty="0" smtClean="0">
              <a:ea typeface="ＭＳ Ｐゴシック" panose="020B0600070205080204" pitchFamily="34" charset="-128"/>
            </a:endParaRPr>
          </a:p>
        </p:txBody>
      </p:sp>
      <p:pic>
        <p:nvPicPr>
          <p:cNvPr id="5" name="Picture 2" descr="[image%255B3%255D.png]"/>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024491" y="1600200"/>
            <a:ext cx="5095017"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942766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dirty="0" smtClean="0"/>
              <a:t>Data Science</a:t>
            </a:r>
            <a:endParaRPr lang="en-US" altLang="en-US" dirty="0" smtClean="0">
              <a:ea typeface="ＭＳ Ｐゴシック" panose="020B0600070205080204" pitchFamily="34" charset="-128"/>
            </a:endParaRPr>
          </a:p>
        </p:txBody>
      </p:sp>
      <p:pic>
        <p:nvPicPr>
          <p:cNvPr id="6" name="Picture 2" descr="https://upload.wikimedia.org/wikipedia/commons/4/44/DataScienceDisciplines.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 y="1066800"/>
            <a:ext cx="8305800" cy="5527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066771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Real Life </a:t>
            </a:r>
            <a:r>
              <a:rPr lang="en-US" dirty="0"/>
              <a:t>E</a:t>
            </a:r>
            <a:r>
              <a:rPr lang="en-US" dirty="0" smtClean="0"/>
              <a:t>xamples</a:t>
            </a:r>
            <a:endParaRPr lang="en-US" dirty="0"/>
          </a:p>
        </p:txBody>
      </p:sp>
      <p:sp>
        <p:nvSpPr>
          <p:cNvPr id="3" name="Content Placeholder 2"/>
          <p:cNvSpPr>
            <a:spLocks noGrp="1"/>
          </p:cNvSpPr>
          <p:nvPr>
            <p:ph idx="1"/>
          </p:nvPr>
        </p:nvSpPr>
        <p:spPr/>
        <p:txBody>
          <a:bodyPr/>
          <a:lstStyle/>
          <a:p>
            <a:r>
              <a:rPr lang="en-US" dirty="0" smtClean="0"/>
              <a:t>Companies learn your secrets, shopping patterns, and preferences</a:t>
            </a:r>
          </a:p>
          <a:p>
            <a:pPr lvl="1"/>
            <a:r>
              <a:rPr lang="en-US" dirty="0" smtClean="0"/>
              <a:t>For example, </a:t>
            </a:r>
            <a:r>
              <a:rPr lang="en-US" dirty="0"/>
              <a:t>c</a:t>
            </a:r>
            <a:r>
              <a:rPr lang="en-US" dirty="0" smtClean="0"/>
              <a:t>an we know if a woman is pregnant, even if she doesn’t want us to know? </a:t>
            </a:r>
            <a:r>
              <a:rPr lang="en-US" dirty="0" smtClean="0">
                <a:hlinkClick r:id="rId2"/>
              </a:rPr>
              <a:t>Target case study</a:t>
            </a:r>
            <a:endParaRPr lang="en-US" dirty="0" smtClean="0"/>
          </a:p>
          <a:p>
            <a:r>
              <a:rPr lang="en-US" dirty="0" smtClean="0"/>
              <a:t>Data Science and election (2008, 2012)</a:t>
            </a:r>
          </a:p>
          <a:p>
            <a:pPr lvl="1"/>
            <a:r>
              <a:rPr lang="en-US" dirty="0"/>
              <a:t>1 million people installed the Obama Facebook app that gave access to info on “friends</a:t>
            </a:r>
            <a:r>
              <a:rPr lang="en-US" dirty="0" smtClean="0"/>
              <a:t>”</a:t>
            </a:r>
            <a:endParaRPr lang="en-US" dirty="0"/>
          </a:p>
          <a:p>
            <a:endParaRPr lang="en-US" dirty="0"/>
          </a:p>
        </p:txBody>
      </p:sp>
    </p:spTree>
    <p:extLst>
      <p:ext uri="{BB962C8B-B14F-4D97-AF65-F5344CB8AC3E}">
        <p14:creationId xmlns:p14="http://schemas.microsoft.com/office/powerpoint/2010/main" val="225908843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Scientists</a:t>
            </a:r>
            <a:endParaRPr lang="en-US" dirty="0"/>
          </a:p>
        </p:txBody>
      </p:sp>
      <p:sp>
        <p:nvSpPr>
          <p:cNvPr id="3" name="Content Placeholder 2"/>
          <p:cNvSpPr>
            <a:spLocks noGrp="1"/>
          </p:cNvSpPr>
          <p:nvPr>
            <p:ph idx="1"/>
          </p:nvPr>
        </p:nvSpPr>
        <p:spPr/>
        <p:txBody>
          <a:bodyPr/>
          <a:lstStyle/>
          <a:p>
            <a:pPr>
              <a:defRPr/>
            </a:pPr>
            <a:r>
              <a:rPr lang="en-US" dirty="0"/>
              <a:t>Data Scientist</a:t>
            </a:r>
          </a:p>
          <a:p>
            <a:pPr lvl="1">
              <a:defRPr/>
            </a:pPr>
            <a:r>
              <a:rPr lang="en-US" dirty="0"/>
              <a:t>The </a:t>
            </a:r>
            <a:r>
              <a:rPr lang="en-US" dirty="0" smtClean="0"/>
              <a:t>highly paid Job </a:t>
            </a:r>
            <a:r>
              <a:rPr lang="en-US" dirty="0"/>
              <a:t>of the 21</a:t>
            </a:r>
            <a:r>
              <a:rPr lang="en-US" baseline="30000" dirty="0"/>
              <a:t>st</a:t>
            </a:r>
            <a:r>
              <a:rPr lang="en-US" dirty="0"/>
              <a:t> Century</a:t>
            </a:r>
          </a:p>
          <a:p>
            <a:r>
              <a:rPr lang="en-US" dirty="0" smtClean="0"/>
              <a:t>They find stories, extract knowledge. They are not reporters </a:t>
            </a:r>
            <a:endParaRPr lang="en-US"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09999" y="3561588"/>
            <a:ext cx="4262255" cy="2839212"/>
          </a:xfrm>
          <a:prstGeom prst="rect">
            <a:avLst/>
          </a:prstGeom>
        </p:spPr>
      </p:pic>
    </p:spTree>
    <p:extLst>
      <p:ext uri="{BB962C8B-B14F-4D97-AF65-F5344CB8AC3E}">
        <p14:creationId xmlns:p14="http://schemas.microsoft.com/office/powerpoint/2010/main" val="17645016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Scientists</a:t>
            </a:r>
            <a:endParaRPr lang="en-US" dirty="0"/>
          </a:p>
        </p:txBody>
      </p:sp>
      <p:sp>
        <p:nvSpPr>
          <p:cNvPr id="3" name="Content Placeholder 2"/>
          <p:cNvSpPr>
            <a:spLocks noGrp="1"/>
          </p:cNvSpPr>
          <p:nvPr>
            <p:ph idx="1"/>
          </p:nvPr>
        </p:nvSpPr>
        <p:spPr/>
        <p:txBody>
          <a:bodyPr/>
          <a:lstStyle/>
          <a:p>
            <a:r>
              <a:rPr lang="en-US" dirty="0"/>
              <a:t>Data scientists are the key to realizing the opportunities presented by big data. They bring structure to it, find compelling patterns in it, and advise executives on the implications for products, processes, and </a:t>
            </a:r>
            <a:r>
              <a:rPr lang="en-US" dirty="0" smtClean="0"/>
              <a:t>decisions</a:t>
            </a:r>
            <a:endParaRPr lang="en-US" dirty="0"/>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86400" y="4419600"/>
            <a:ext cx="2714625" cy="1685925"/>
          </a:xfrm>
          <a:prstGeom prst="rect">
            <a:avLst/>
          </a:prstGeom>
        </p:spPr>
      </p:pic>
    </p:spTree>
    <p:extLst>
      <p:ext uri="{BB962C8B-B14F-4D97-AF65-F5344CB8AC3E}">
        <p14:creationId xmlns:p14="http://schemas.microsoft.com/office/powerpoint/2010/main" val="249449095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600200" y="-76200"/>
            <a:ext cx="6477000" cy="990600"/>
          </a:xfrm>
        </p:spPr>
        <p:txBody>
          <a:bodyPr>
            <a:normAutofit fontScale="90000"/>
          </a:bodyPr>
          <a:lstStyle/>
          <a:p>
            <a:r>
              <a:rPr lang="en-US" dirty="0"/>
              <a:t>What do Data Scientists do</a:t>
            </a:r>
            <a:r>
              <a:rPr lang="en-US" altLang="en-US" dirty="0" smtClean="0"/>
              <a:t>?</a:t>
            </a:r>
            <a:endParaRPr lang="en-US" altLang="en-US" dirty="0" smtClean="0">
              <a:ea typeface="ＭＳ Ｐゴシック" panose="020B0600070205080204" pitchFamily="34" charset="-128"/>
            </a:endParaRPr>
          </a:p>
        </p:txBody>
      </p:sp>
      <p:sp>
        <p:nvSpPr>
          <p:cNvPr id="3" name="Content Placeholder 2"/>
          <p:cNvSpPr>
            <a:spLocks noGrp="1"/>
          </p:cNvSpPr>
          <p:nvPr>
            <p:ph idx="1"/>
          </p:nvPr>
        </p:nvSpPr>
        <p:spPr>
          <a:xfrm>
            <a:off x="381000" y="1219200"/>
            <a:ext cx="8458200" cy="4038600"/>
          </a:xfrm>
        </p:spPr>
        <p:txBody>
          <a:bodyPr/>
          <a:lstStyle/>
          <a:p>
            <a:pPr algn="just"/>
            <a:r>
              <a:rPr lang="en-US" sz="2800" dirty="0" smtClean="0"/>
              <a:t>National Security</a:t>
            </a:r>
          </a:p>
          <a:p>
            <a:pPr algn="just"/>
            <a:r>
              <a:rPr lang="en-US" sz="2800" dirty="0" smtClean="0"/>
              <a:t>Cyber Security</a:t>
            </a:r>
          </a:p>
          <a:p>
            <a:pPr algn="just"/>
            <a:r>
              <a:rPr lang="en-US" sz="2800" dirty="0" smtClean="0"/>
              <a:t>Business Analytics</a:t>
            </a:r>
          </a:p>
          <a:p>
            <a:pPr algn="just"/>
            <a:r>
              <a:rPr lang="en-US" sz="2800" dirty="0" smtClean="0"/>
              <a:t>Engineering </a:t>
            </a:r>
          </a:p>
          <a:p>
            <a:pPr algn="just"/>
            <a:r>
              <a:rPr lang="en-US" sz="2800" dirty="0" smtClean="0"/>
              <a:t>Healthcare </a:t>
            </a:r>
          </a:p>
          <a:p>
            <a:pPr algn="just"/>
            <a:r>
              <a:rPr lang="en-US" sz="2800" dirty="0" smtClean="0"/>
              <a:t>And more ….</a:t>
            </a:r>
          </a:p>
          <a:p>
            <a:pPr marL="0" indent="0" algn="just">
              <a:buNone/>
            </a:pPr>
            <a:endParaRPr lang="en-US" sz="2800" dirty="0" smtClean="0"/>
          </a:p>
          <a:p>
            <a:pPr algn="just"/>
            <a:endParaRPr lang="en-US" sz="2800" dirty="0" smtClean="0"/>
          </a:p>
          <a:p>
            <a:pPr algn="just"/>
            <a:endParaRPr lang="en-US" sz="2800" dirty="0" smtClean="0"/>
          </a:p>
          <a:p>
            <a:pPr algn="just"/>
            <a:endParaRPr lang="en-US" sz="2800" dirty="0"/>
          </a:p>
          <a:p>
            <a:pPr marL="0" indent="0">
              <a:buFontTx/>
              <a:buNone/>
              <a:defRPr/>
            </a:pPr>
            <a:endParaRPr lang="en-US" sz="3000" dirty="0">
              <a:ea typeface="+mn-ea"/>
            </a:endParaRPr>
          </a:p>
        </p:txBody>
      </p:sp>
    </p:spTree>
    <p:extLst>
      <p:ext uri="{BB962C8B-B14F-4D97-AF65-F5344CB8AC3E}">
        <p14:creationId xmlns:p14="http://schemas.microsoft.com/office/powerpoint/2010/main" val="365270610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Python programming</a:t>
            </a:r>
            <a:endParaRPr lang="en-US" dirty="0"/>
          </a:p>
        </p:txBody>
      </p:sp>
      <p:sp>
        <p:nvSpPr>
          <p:cNvPr id="7" name="Text Placeholder 6"/>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934758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Overview of </a:t>
            </a:r>
            <a:r>
              <a:rPr lang="en-US" dirty="0" smtClean="0"/>
              <a:t>Python</a:t>
            </a:r>
            <a:endParaRPr lang="en-US" dirty="0"/>
          </a:p>
        </p:txBody>
      </p:sp>
      <p:sp>
        <p:nvSpPr>
          <p:cNvPr id="5" name="Content Placeholder 4"/>
          <p:cNvSpPr>
            <a:spLocks noGrp="1"/>
          </p:cNvSpPr>
          <p:nvPr>
            <p:ph idx="1"/>
          </p:nvPr>
        </p:nvSpPr>
        <p:spPr/>
        <p:txBody>
          <a:bodyPr>
            <a:normAutofit/>
          </a:bodyPr>
          <a:lstStyle/>
          <a:p>
            <a:pPr algn="just"/>
            <a:r>
              <a:rPr lang="en-US" dirty="0" smtClean="0"/>
              <a:t>Python </a:t>
            </a:r>
            <a:r>
              <a:rPr lang="en-US" dirty="0"/>
              <a:t>is a high-level, interpreted language known for its readability and simplicity.</a:t>
            </a:r>
          </a:p>
          <a:p>
            <a:pPr algn="just"/>
            <a:r>
              <a:rPr lang="en-US" dirty="0"/>
              <a:t>Developed in the late 1980s by Guido van </a:t>
            </a:r>
            <a:r>
              <a:rPr lang="en-US" dirty="0" err="1"/>
              <a:t>Rossum</a:t>
            </a:r>
            <a:r>
              <a:rPr lang="en-US" dirty="0"/>
              <a:t>, Python has evolved into one of the most popular programming languages.</a:t>
            </a:r>
          </a:p>
          <a:p>
            <a:pPr algn="just"/>
            <a:r>
              <a:rPr lang="en-US" dirty="0"/>
              <a:t>It is widely used in various fields, especially data science, due to its extensive libraries and community support.</a:t>
            </a:r>
          </a:p>
          <a:p>
            <a:pPr algn="just"/>
            <a:endParaRPr lang="en-US" dirty="0"/>
          </a:p>
        </p:txBody>
      </p:sp>
    </p:spTree>
    <p:extLst>
      <p:ext uri="{BB962C8B-B14F-4D97-AF65-F5344CB8AC3E}">
        <p14:creationId xmlns:p14="http://schemas.microsoft.com/office/powerpoint/2010/main" val="13921463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Why Python for Data Science</a:t>
            </a:r>
            <a:r>
              <a:rPr lang="en-US" dirty="0" smtClean="0"/>
              <a:t>?</a:t>
            </a:r>
            <a:endParaRPr lang="en-US" dirty="0"/>
          </a:p>
        </p:txBody>
      </p:sp>
      <p:sp>
        <p:nvSpPr>
          <p:cNvPr id="3" name="Content Placeholder 2"/>
          <p:cNvSpPr>
            <a:spLocks noGrp="1"/>
          </p:cNvSpPr>
          <p:nvPr>
            <p:ph idx="1"/>
          </p:nvPr>
        </p:nvSpPr>
        <p:spPr/>
        <p:txBody>
          <a:bodyPr>
            <a:normAutofit fontScale="85000" lnSpcReduction="20000"/>
          </a:bodyPr>
          <a:lstStyle/>
          <a:p>
            <a:pPr algn="just"/>
            <a:r>
              <a:rPr lang="en-US" b="1" dirty="0" smtClean="0"/>
              <a:t>Ease </a:t>
            </a:r>
            <a:r>
              <a:rPr lang="en-US" b="1" dirty="0"/>
              <a:t>of Learning</a:t>
            </a:r>
            <a:r>
              <a:rPr lang="en-US" dirty="0"/>
              <a:t>: Python’s syntax resembles English, making it accessible to beginners.</a:t>
            </a:r>
          </a:p>
          <a:p>
            <a:pPr algn="just"/>
            <a:r>
              <a:rPr lang="en-US" b="1" dirty="0"/>
              <a:t>Community and Libraries</a:t>
            </a:r>
            <a:r>
              <a:rPr lang="en-US" dirty="0"/>
              <a:t>: Massive support from the developer and scientific community. Key libraries for data science include:</a:t>
            </a:r>
          </a:p>
          <a:p>
            <a:pPr lvl="1" algn="just"/>
            <a:r>
              <a:rPr lang="en-US" b="1" dirty="0" err="1"/>
              <a:t>NumPy</a:t>
            </a:r>
            <a:r>
              <a:rPr lang="en-US" dirty="0"/>
              <a:t> (numerical operations)</a:t>
            </a:r>
          </a:p>
          <a:p>
            <a:pPr lvl="1" algn="just"/>
            <a:r>
              <a:rPr lang="en-US" b="1" dirty="0"/>
              <a:t>Pandas</a:t>
            </a:r>
            <a:r>
              <a:rPr lang="en-US" dirty="0"/>
              <a:t> (data manipulation)</a:t>
            </a:r>
          </a:p>
          <a:p>
            <a:pPr lvl="1" algn="just"/>
            <a:r>
              <a:rPr lang="en-US" b="1" dirty="0" err="1"/>
              <a:t>Matplotlib</a:t>
            </a:r>
            <a:r>
              <a:rPr lang="en-US" b="1" dirty="0"/>
              <a:t> and </a:t>
            </a:r>
            <a:r>
              <a:rPr lang="en-US" b="1" dirty="0" err="1"/>
              <a:t>Seaborn</a:t>
            </a:r>
            <a:r>
              <a:rPr lang="en-US" dirty="0"/>
              <a:t> (data visualization)</a:t>
            </a:r>
          </a:p>
          <a:p>
            <a:pPr lvl="1" algn="just"/>
            <a:r>
              <a:rPr lang="en-US" b="1" dirty="0" err="1"/>
              <a:t>Scikit</a:t>
            </a:r>
            <a:r>
              <a:rPr lang="en-US" b="1" dirty="0"/>
              <a:t>-Learn</a:t>
            </a:r>
            <a:r>
              <a:rPr lang="en-US" dirty="0"/>
              <a:t> (machine learning)</a:t>
            </a:r>
          </a:p>
          <a:p>
            <a:pPr algn="just"/>
            <a:r>
              <a:rPr lang="en-US" b="1" dirty="0"/>
              <a:t>Interdisciplinary Use</a:t>
            </a:r>
            <a:r>
              <a:rPr lang="en-US" dirty="0"/>
              <a:t>: Python is versatile and is used in web development, machine learning, artificial intelligence, and automation—adding career flexibility.</a:t>
            </a:r>
          </a:p>
          <a:p>
            <a:pPr algn="just"/>
            <a:endParaRPr lang="en-US" dirty="0"/>
          </a:p>
        </p:txBody>
      </p:sp>
    </p:spTree>
    <p:extLst>
      <p:ext uri="{BB962C8B-B14F-4D97-AF65-F5344CB8AC3E}">
        <p14:creationId xmlns:p14="http://schemas.microsoft.com/office/powerpoint/2010/main" val="29392738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Python Basics for Data Science</a:t>
            </a:r>
          </a:p>
        </p:txBody>
      </p:sp>
      <p:sp>
        <p:nvSpPr>
          <p:cNvPr id="4" name="Subtitle 3"/>
          <p:cNvSpPr>
            <a:spLocks noGrp="1"/>
          </p:cNvSpPr>
          <p:nvPr>
            <p:ph type="subTitle" idx="1"/>
          </p:nvPr>
        </p:nvSpPr>
        <p:spPr/>
        <p:txBody>
          <a:bodyPr/>
          <a:lstStyle/>
          <a:p>
            <a:endParaRPr lang="en-US"/>
          </a:p>
        </p:txBody>
      </p:sp>
    </p:spTree>
    <p:extLst>
      <p:ext uri="{BB962C8B-B14F-4D97-AF65-F5344CB8AC3E}">
        <p14:creationId xmlns:p14="http://schemas.microsoft.com/office/powerpoint/2010/main" val="9102935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 variable</a:t>
            </a:r>
            <a:r>
              <a:rPr lang="en-US" dirty="0" smtClean="0"/>
              <a:t>?</a:t>
            </a:r>
            <a:endParaRPr lang="en-US" dirty="0"/>
          </a:p>
        </p:txBody>
      </p:sp>
      <p:sp>
        <p:nvSpPr>
          <p:cNvPr id="3" name="Content Placeholder 2"/>
          <p:cNvSpPr>
            <a:spLocks noGrp="1"/>
          </p:cNvSpPr>
          <p:nvPr>
            <p:ph idx="1"/>
          </p:nvPr>
        </p:nvSpPr>
        <p:spPr/>
        <p:txBody>
          <a:bodyPr/>
          <a:lstStyle/>
          <a:p>
            <a:pPr algn="just"/>
            <a:r>
              <a:rPr lang="en-US" dirty="0"/>
              <a:t>A variable is a named memory block, which means it is a section of memory that can be accessed using a predetermined name</a:t>
            </a:r>
            <a:r>
              <a:rPr lang="en-US" dirty="0" smtClean="0"/>
              <a:t>.</a:t>
            </a:r>
          </a:p>
          <a:p>
            <a:pPr algn="just"/>
            <a:r>
              <a:rPr lang="en-US" dirty="0" smtClean="0"/>
              <a:t> </a:t>
            </a:r>
            <a:r>
              <a:rPr lang="en-US" dirty="0"/>
              <a:t>In low-level programming languages, a variable must have its data type defined, as different data types require varying amounts of memory. However, Python is an interpreted language, so we don’t need to specify the data type of variables when declaring </a:t>
            </a:r>
            <a:r>
              <a:rPr lang="en-US" dirty="0" smtClean="0"/>
              <a:t>them explicitly</a:t>
            </a:r>
            <a:r>
              <a:rPr lang="en-US" dirty="0"/>
              <a:t>.</a:t>
            </a:r>
          </a:p>
        </p:txBody>
      </p:sp>
    </p:spTree>
    <p:extLst>
      <p:ext uri="{BB962C8B-B14F-4D97-AF65-F5344CB8AC3E}">
        <p14:creationId xmlns:p14="http://schemas.microsoft.com/office/powerpoint/2010/main" val="3802575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Data Types &amp; Structures</a:t>
            </a:r>
            <a:r>
              <a:rPr lang="en-US" dirty="0" smtClean="0"/>
              <a:t>:</a:t>
            </a:r>
            <a:endParaRPr lang="en-US" dirty="0"/>
          </a:p>
        </p:txBody>
      </p:sp>
      <p:sp>
        <p:nvSpPr>
          <p:cNvPr id="3" name="Content Placeholder 2"/>
          <p:cNvSpPr>
            <a:spLocks noGrp="1"/>
          </p:cNvSpPr>
          <p:nvPr>
            <p:ph idx="1"/>
          </p:nvPr>
        </p:nvSpPr>
        <p:spPr/>
        <p:txBody>
          <a:bodyPr/>
          <a:lstStyle/>
          <a:p>
            <a:r>
              <a:rPr lang="en-US" b="1" dirty="0" smtClean="0"/>
              <a:t>Variables</a:t>
            </a:r>
            <a:r>
              <a:rPr lang="en-US" dirty="0"/>
              <a:t>: </a:t>
            </a:r>
            <a:r>
              <a:rPr lang="en-US" dirty="0" smtClean="0"/>
              <a:t>Containers </a:t>
            </a:r>
            <a:r>
              <a:rPr lang="en-US" dirty="0"/>
              <a:t>for storing data values. e.g., x = </a:t>
            </a:r>
            <a:r>
              <a:rPr lang="en-US" dirty="0" smtClean="0"/>
              <a:t>10, name=‘Ali’</a:t>
            </a:r>
            <a:endParaRPr lang="en-US" dirty="0"/>
          </a:p>
          <a:p>
            <a:r>
              <a:rPr lang="en-US" b="1" dirty="0"/>
              <a:t>Basic Data Types</a:t>
            </a:r>
            <a:r>
              <a:rPr lang="en-US" dirty="0"/>
              <a:t>:</a:t>
            </a:r>
          </a:p>
          <a:p>
            <a:pPr lvl="1"/>
            <a:r>
              <a:rPr lang="en-US" b="1" dirty="0" err="1"/>
              <a:t>int</a:t>
            </a:r>
            <a:r>
              <a:rPr lang="en-US" dirty="0"/>
              <a:t> (integer), </a:t>
            </a:r>
            <a:endParaRPr lang="en-US" dirty="0" smtClean="0"/>
          </a:p>
          <a:p>
            <a:pPr lvl="1"/>
            <a:r>
              <a:rPr lang="en-US" b="1" dirty="0" smtClean="0"/>
              <a:t>float</a:t>
            </a:r>
            <a:r>
              <a:rPr lang="en-US" dirty="0" smtClean="0"/>
              <a:t> </a:t>
            </a:r>
            <a:r>
              <a:rPr lang="en-US" dirty="0"/>
              <a:t>(decimal), </a:t>
            </a:r>
            <a:endParaRPr lang="en-US" dirty="0" smtClean="0"/>
          </a:p>
          <a:p>
            <a:pPr lvl="1"/>
            <a:r>
              <a:rPr lang="en-US" b="1" dirty="0" err="1" smtClean="0"/>
              <a:t>str</a:t>
            </a:r>
            <a:r>
              <a:rPr lang="en-US" dirty="0" smtClean="0"/>
              <a:t> </a:t>
            </a:r>
            <a:r>
              <a:rPr lang="en-US" dirty="0"/>
              <a:t>(string), </a:t>
            </a:r>
            <a:endParaRPr lang="en-US" dirty="0" smtClean="0"/>
          </a:p>
          <a:p>
            <a:pPr lvl="1"/>
            <a:r>
              <a:rPr lang="en-US" b="1" dirty="0" err="1" smtClean="0"/>
              <a:t>bool</a:t>
            </a:r>
            <a:r>
              <a:rPr lang="en-US" dirty="0" smtClean="0"/>
              <a:t> </a:t>
            </a:r>
            <a:r>
              <a:rPr lang="en-US" dirty="0"/>
              <a:t>(Boolean)</a:t>
            </a:r>
          </a:p>
          <a:p>
            <a:endParaRPr lang="en-US" dirty="0"/>
          </a:p>
        </p:txBody>
      </p:sp>
    </p:spTree>
    <p:extLst>
      <p:ext uri="{BB962C8B-B14F-4D97-AF65-F5344CB8AC3E}">
        <p14:creationId xmlns:p14="http://schemas.microsoft.com/office/powerpoint/2010/main" val="32243071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Modules</a:t>
            </a:r>
            <a:endParaRPr lang="en-US" dirty="0"/>
          </a:p>
        </p:txBody>
      </p:sp>
      <p:sp>
        <p:nvSpPr>
          <p:cNvPr id="3" name="Content Placeholder 2"/>
          <p:cNvSpPr>
            <a:spLocks noGrp="1"/>
          </p:cNvSpPr>
          <p:nvPr>
            <p:ph idx="1"/>
          </p:nvPr>
        </p:nvSpPr>
        <p:spPr/>
        <p:txBody>
          <a:bodyPr/>
          <a:lstStyle/>
          <a:p>
            <a:r>
              <a:rPr lang="en-US" dirty="0"/>
              <a:t>Files containing Python code, allowing for code organization and reusability. </a:t>
            </a:r>
          </a:p>
          <a:p>
            <a:r>
              <a:rPr lang="en-US" dirty="0" smtClean="0"/>
              <a:t>Example</a:t>
            </a:r>
            <a:r>
              <a:rPr lang="en-US" dirty="0" smtClean="0"/>
              <a:t>:</a:t>
            </a:r>
          </a:p>
          <a:p>
            <a:pPr marL="0" indent="0">
              <a:buNone/>
            </a:pPr>
            <a:r>
              <a:rPr lang="en-US" dirty="0" smtClean="0"/>
              <a:t> </a:t>
            </a:r>
            <a:r>
              <a:rPr lang="en-US" dirty="0"/>
              <a:t>import </a:t>
            </a:r>
            <a:r>
              <a:rPr lang="en-US" dirty="0" smtClean="0"/>
              <a:t>math, Import pandas, import </a:t>
            </a:r>
            <a:r>
              <a:rPr lang="en-US" dirty="0" err="1" smtClean="0"/>
              <a:t>numpy</a:t>
            </a:r>
            <a:endParaRPr lang="en-US" dirty="0" smtClean="0"/>
          </a:p>
          <a:p>
            <a:r>
              <a:rPr lang="en-US" dirty="0" smtClean="0"/>
              <a:t>To call a function from a module dot operator is used, for example </a:t>
            </a:r>
          </a:p>
          <a:p>
            <a:r>
              <a:rPr lang="en-US" dirty="0" err="1" smtClean="0"/>
              <a:t>Pandas.Dataframe</a:t>
            </a:r>
            <a:r>
              <a:rPr lang="en-US" dirty="0" smtClean="0"/>
              <a:t>()</a:t>
            </a:r>
          </a:p>
          <a:p>
            <a:endParaRPr lang="en-US" dirty="0"/>
          </a:p>
        </p:txBody>
      </p:sp>
    </p:spTree>
    <p:extLst>
      <p:ext uri="{BB962C8B-B14F-4D97-AF65-F5344CB8AC3E}">
        <p14:creationId xmlns:p14="http://schemas.microsoft.com/office/powerpoint/2010/main" val="34192095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Input: Receiving Data from Users</a:t>
            </a:r>
          </a:p>
        </p:txBody>
      </p:sp>
      <p:sp>
        <p:nvSpPr>
          <p:cNvPr id="5" name="Content Placeholder 4"/>
          <p:cNvSpPr>
            <a:spLocks noGrp="1"/>
          </p:cNvSpPr>
          <p:nvPr>
            <p:ph idx="1"/>
          </p:nvPr>
        </p:nvSpPr>
        <p:spPr/>
        <p:txBody>
          <a:bodyPr/>
          <a:lstStyle/>
          <a:p>
            <a:r>
              <a:rPr lang="en-US" b="1" dirty="0"/>
              <a:t>Using input() </a:t>
            </a:r>
            <a:r>
              <a:rPr lang="en-US" b="1" dirty="0" smtClean="0"/>
              <a:t>function</a:t>
            </a:r>
          </a:p>
          <a:p>
            <a:r>
              <a:rPr lang="en-US" dirty="0" smtClean="0"/>
              <a:t>input</a:t>
            </a:r>
            <a:r>
              <a:rPr lang="en-US" dirty="0"/>
              <a:t>() is used to capture user input as a string.</a:t>
            </a:r>
          </a:p>
          <a:p>
            <a:pPr marL="0" indent="0">
              <a:buNone/>
            </a:pPr>
            <a:r>
              <a:rPr lang="en-US" dirty="0" smtClean="0"/>
              <a:t>     Syntax</a:t>
            </a:r>
            <a:r>
              <a:rPr lang="en-US" dirty="0"/>
              <a:t>: </a:t>
            </a:r>
            <a:r>
              <a:rPr lang="en-US" dirty="0" smtClean="0"/>
              <a:t>name = </a:t>
            </a:r>
            <a:r>
              <a:rPr lang="en-US" dirty="0"/>
              <a:t>input</a:t>
            </a:r>
            <a:r>
              <a:rPr lang="en-US" dirty="0" smtClean="0"/>
              <a:t>(“Enter your name: ")</a:t>
            </a:r>
            <a:endParaRPr lang="en-US" dirty="0"/>
          </a:p>
          <a:p>
            <a:r>
              <a:rPr lang="en-US" dirty="0"/>
              <a:t>Note: input() always returns data as a string, so you may need to convert it for numerical input</a:t>
            </a:r>
            <a:r>
              <a:rPr lang="en-US" dirty="0" smtClean="0"/>
              <a:t>: </a:t>
            </a:r>
          </a:p>
          <a:p>
            <a:pPr marL="0" indent="0">
              <a:buNone/>
            </a:pPr>
            <a:r>
              <a:rPr lang="en-US" dirty="0" smtClean="0"/>
              <a:t>         age </a:t>
            </a:r>
            <a:r>
              <a:rPr lang="en-US" dirty="0"/>
              <a:t>= </a:t>
            </a:r>
            <a:r>
              <a:rPr lang="en-US" dirty="0" err="1"/>
              <a:t>int</a:t>
            </a:r>
            <a:r>
              <a:rPr lang="en-US" dirty="0"/>
              <a:t>(input("Enter your age: "))</a:t>
            </a:r>
          </a:p>
        </p:txBody>
      </p:sp>
    </p:spTree>
    <p:extLst>
      <p:ext uri="{BB962C8B-B14F-4D97-AF65-F5344CB8AC3E}">
        <p14:creationId xmlns:p14="http://schemas.microsoft.com/office/powerpoint/2010/main" val="17656974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Output: Displaying Data to Users</a:t>
            </a:r>
          </a:p>
        </p:txBody>
      </p:sp>
      <p:sp>
        <p:nvSpPr>
          <p:cNvPr id="3" name="Content Placeholder 2"/>
          <p:cNvSpPr>
            <a:spLocks noGrp="1"/>
          </p:cNvSpPr>
          <p:nvPr>
            <p:ph idx="1"/>
          </p:nvPr>
        </p:nvSpPr>
        <p:spPr>
          <a:xfrm>
            <a:off x="457200" y="1600200"/>
            <a:ext cx="8229600" cy="5105400"/>
          </a:xfrm>
        </p:spPr>
        <p:txBody>
          <a:bodyPr>
            <a:normAutofit fontScale="85000" lnSpcReduction="10000"/>
          </a:bodyPr>
          <a:lstStyle/>
          <a:p>
            <a:pPr marL="0" indent="0">
              <a:buNone/>
            </a:pPr>
            <a:r>
              <a:rPr lang="en-US" b="1" dirty="0"/>
              <a:t>Using print() </a:t>
            </a:r>
            <a:r>
              <a:rPr lang="en-US" b="1" dirty="0" smtClean="0"/>
              <a:t>function</a:t>
            </a:r>
          </a:p>
          <a:p>
            <a:r>
              <a:rPr lang="en-US" dirty="0"/>
              <a:t>print() displays data on the screen</a:t>
            </a:r>
            <a:r>
              <a:rPr lang="en-US" dirty="0" smtClean="0"/>
              <a:t>.</a:t>
            </a:r>
          </a:p>
          <a:p>
            <a:r>
              <a:rPr lang="en-US" dirty="0" smtClean="0"/>
              <a:t>Can </a:t>
            </a:r>
            <a:r>
              <a:rPr lang="en-US" dirty="0"/>
              <a:t>output strings, variables, or even results of </a:t>
            </a:r>
            <a:r>
              <a:rPr lang="en-US" dirty="0" smtClean="0"/>
              <a:t>expressions.</a:t>
            </a:r>
          </a:p>
          <a:p>
            <a:r>
              <a:rPr lang="en-US" dirty="0"/>
              <a:t>print("Hello", "</a:t>
            </a:r>
            <a:r>
              <a:rPr lang="en-US" dirty="0" smtClean="0"/>
              <a:t>World“)</a:t>
            </a:r>
          </a:p>
          <a:p>
            <a:pPr marL="0" indent="0">
              <a:buNone/>
            </a:pPr>
            <a:r>
              <a:rPr lang="en-US" b="1" dirty="0" smtClean="0"/>
              <a:t>Common formatting:</a:t>
            </a:r>
          </a:p>
          <a:p>
            <a:r>
              <a:rPr lang="en-US" dirty="0" smtClean="0"/>
              <a:t>Concatenation</a:t>
            </a:r>
            <a:r>
              <a:rPr lang="en-US" dirty="0"/>
              <a:t>: Combine text with + </a:t>
            </a:r>
            <a:endParaRPr lang="en-US" dirty="0" smtClean="0"/>
          </a:p>
          <a:p>
            <a:pPr marL="0" indent="0">
              <a:buNone/>
            </a:pPr>
            <a:r>
              <a:rPr lang="en-US" dirty="0"/>
              <a:t> </a:t>
            </a:r>
            <a:r>
              <a:rPr lang="en-US" dirty="0" smtClean="0"/>
              <a:t>         e.g</a:t>
            </a:r>
            <a:r>
              <a:rPr lang="en-US" dirty="0"/>
              <a:t>., print("Name: " + name</a:t>
            </a:r>
            <a:r>
              <a:rPr lang="en-US" dirty="0" smtClean="0"/>
              <a:t>)</a:t>
            </a:r>
            <a:endParaRPr lang="en-US" dirty="0"/>
          </a:p>
          <a:p>
            <a:r>
              <a:rPr lang="en-US" dirty="0"/>
              <a:t>Formatted Strings (f-strings): Simplifies embedding expressions in strings</a:t>
            </a:r>
            <a:r>
              <a:rPr lang="en-US" dirty="0" smtClean="0"/>
              <a:t>:</a:t>
            </a:r>
          </a:p>
          <a:p>
            <a:pPr marL="0" indent="0">
              <a:buNone/>
            </a:pPr>
            <a:r>
              <a:rPr lang="en-US" dirty="0" smtClean="0"/>
              <a:t>            print(</a:t>
            </a:r>
            <a:r>
              <a:rPr lang="en-US" dirty="0" err="1" smtClean="0"/>
              <a:t>f"Hello</a:t>
            </a:r>
            <a:r>
              <a:rPr lang="en-US" dirty="0"/>
              <a:t>, {name}. You are {age} years old.")</a:t>
            </a:r>
          </a:p>
          <a:p>
            <a:endParaRPr lang="en-US" dirty="0"/>
          </a:p>
        </p:txBody>
      </p:sp>
    </p:spTree>
    <p:extLst>
      <p:ext uri="{BB962C8B-B14F-4D97-AF65-F5344CB8AC3E}">
        <p14:creationId xmlns:p14="http://schemas.microsoft.com/office/powerpoint/2010/main" val="10520610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242021"/>
                </a:solidFill>
                <a:ea typeface="MyriadPro-SemiboldCond"/>
                <a:cs typeface="Arial" pitchFamily="34" charset="0"/>
              </a:rPr>
              <a:t>Whitespace Formatting</a:t>
            </a:r>
            <a:endParaRPr lang="en-US" dirty="0"/>
          </a:p>
        </p:txBody>
      </p:sp>
      <p:graphicFrame>
        <p:nvGraphicFramePr>
          <p:cNvPr id="6" name="Content Placeholder 5"/>
          <p:cNvGraphicFramePr>
            <a:graphicFrameLocks noGrp="1"/>
          </p:cNvGraphicFramePr>
          <p:nvPr>
            <p:ph sz="half" idx="1"/>
            <p:extLst>
              <p:ext uri="{D42A27DB-BD31-4B8C-83A1-F6EECF244321}">
                <p14:modId xmlns:p14="http://schemas.microsoft.com/office/powerpoint/2010/main" val="162983596"/>
              </p:ext>
            </p:extLst>
          </p:nvPr>
        </p:nvGraphicFramePr>
        <p:xfrm>
          <a:off x="609600" y="2438400"/>
          <a:ext cx="8001000" cy="2385060"/>
        </p:xfrm>
        <a:graphic>
          <a:graphicData uri="http://schemas.openxmlformats.org/drawingml/2006/table">
            <a:tbl>
              <a:tblPr/>
              <a:tblGrid>
                <a:gridCol w="8001000"/>
              </a:tblGrid>
              <a:tr h="2270760">
                <a:tc>
                  <a:txBody>
                    <a:bodyPr/>
                    <a:lstStyle/>
                    <a:p>
                      <a:r>
                        <a:rPr lang="en-US" sz="1050" dirty="0" smtClean="0">
                          <a:solidFill>
                            <a:srgbClr val="242021"/>
                          </a:solidFill>
                          <a:latin typeface="Arial" pitchFamily="34" charset="0"/>
                          <a:ea typeface="MinionPro-Regular"/>
                          <a:cs typeface="Arial" pitchFamily="34" charset="0"/>
                        </a:rPr>
                        <a:t/>
                      </a:r>
                      <a:br>
                        <a:rPr lang="en-US" sz="1050" dirty="0" smtClean="0">
                          <a:solidFill>
                            <a:srgbClr val="242021"/>
                          </a:solidFill>
                          <a:latin typeface="Arial" pitchFamily="34" charset="0"/>
                          <a:ea typeface="MinionPro-Regular"/>
                          <a:cs typeface="Arial" pitchFamily="34" charset="0"/>
                        </a:rPr>
                      </a:br>
                      <a:r>
                        <a:rPr lang="en-US" sz="2000" b="1" dirty="0" smtClean="0">
                          <a:solidFill>
                            <a:srgbClr val="006699"/>
                          </a:solidFill>
                          <a:latin typeface="Arial" pitchFamily="34" charset="0"/>
                          <a:ea typeface="UbuntuMono-Bold"/>
                          <a:cs typeface="Arial" pitchFamily="34" charset="0"/>
                        </a:rPr>
                        <a:t>for </a:t>
                      </a:r>
                      <a:r>
                        <a:rPr lang="en-US" sz="2000" dirty="0" smtClean="0">
                          <a:solidFill>
                            <a:srgbClr val="000088"/>
                          </a:solidFill>
                          <a:latin typeface="Arial" pitchFamily="34" charset="0"/>
                          <a:ea typeface="UbuntuMono-Regular"/>
                          <a:cs typeface="Arial" pitchFamily="34" charset="0"/>
                        </a:rPr>
                        <a:t>i </a:t>
                      </a:r>
                      <a:r>
                        <a:rPr lang="en-US" sz="2000" b="1" dirty="0" smtClean="0">
                          <a:solidFill>
                            <a:srgbClr val="000000"/>
                          </a:solidFill>
                          <a:latin typeface="Arial" pitchFamily="34" charset="0"/>
                          <a:ea typeface="UbuntuMono-Bold"/>
                          <a:cs typeface="Arial" pitchFamily="34" charset="0"/>
                        </a:rPr>
                        <a:t>in </a:t>
                      </a:r>
                      <a:r>
                        <a:rPr lang="en-US" sz="2000" dirty="0" smtClean="0">
                          <a:solidFill>
                            <a:srgbClr val="000000"/>
                          </a:solidFill>
                          <a:latin typeface="Arial" pitchFamily="34" charset="0"/>
                          <a:ea typeface="UbuntuMono-Regular"/>
                          <a:cs typeface="Arial" pitchFamily="34" charset="0"/>
                        </a:rPr>
                        <a:t>[</a:t>
                      </a:r>
                      <a:r>
                        <a:rPr lang="en-US" sz="2000" dirty="0" smtClean="0">
                          <a:solidFill>
                            <a:srgbClr val="FF6600"/>
                          </a:solidFill>
                          <a:latin typeface="Arial" pitchFamily="34" charset="0"/>
                          <a:ea typeface="UbuntuMono-Regular"/>
                          <a:cs typeface="Arial" pitchFamily="34" charset="0"/>
                        </a:rPr>
                        <a:t>1</a:t>
                      </a:r>
                      <a:r>
                        <a:rPr lang="en-US" sz="2000" dirty="0" smtClean="0">
                          <a:solidFill>
                            <a:srgbClr val="000000"/>
                          </a:solidFill>
                          <a:latin typeface="Arial" pitchFamily="34" charset="0"/>
                          <a:ea typeface="UbuntuMono-Regular"/>
                          <a:cs typeface="Arial" pitchFamily="34" charset="0"/>
                        </a:rPr>
                        <a:t>, </a:t>
                      </a:r>
                      <a:r>
                        <a:rPr lang="en-US" sz="2000" dirty="0" smtClean="0">
                          <a:solidFill>
                            <a:srgbClr val="FF6600"/>
                          </a:solidFill>
                          <a:latin typeface="Arial" pitchFamily="34" charset="0"/>
                          <a:ea typeface="UbuntuMono-Regular"/>
                          <a:cs typeface="Arial" pitchFamily="34" charset="0"/>
                        </a:rPr>
                        <a:t>2</a:t>
                      </a:r>
                      <a:r>
                        <a:rPr lang="en-US" sz="2000" dirty="0" smtClean="0">
                          <a:solidFill>
                            <a:srgbClr val="000000"/>
                          </a:solidFill>
                          <a:latin typeface="Arial" pitchFamily="34" charset="0"/>
                          <a:ea typeface="UbuntuMono-Regular"/>
                          <a:cs typeface="Arial" pitchFamily="34" charset="0"/>
                        </a:rPr>
                        <a:t>, </a:t>
                      </a:r>
                      <a:r>
                        <a:rPr lang="en-US" sz="2000" dirty="0" smtClean="0">
                          <a:solidFill>
                            <a:srgbClr val="FF6600"/>
                          </a:solidFill>
                          <a:latin typeface="Arial" pitchFamily="34" charset="0"/>
                          <a:ea typeface="UbuntuMono-Regular"/>
                          <a:cs typeface="Arial" pitchFamily="34" charset="0"/>
                        </a:rPr>
                        <a:t>3</a:t>
                      </a:r>
                      <a:r>
                        <a:rPr lang="en-US" sz="2000" dirty="0" smtClean="0">
                          <a:solidFill>
                            <a:srgbClr val="000000"/>
                          </a:solidFill>
                          <a:latin typeface="Arial" pitchFamily="34" charset="0"/>
                          <a:ea typeface="UbuntuMono-Regular"/>
                          <a:cs typeface="Arial" pitchFamily="34" charset="0"/>
                        </a:rPr>
                        <a:t>, </a:t>
                      </a:r>
                      <a:r>
                        <a:rPr lang="en-US" sz="2000" dirty="0" smtClean="0">
                          <a:solidFill>
                            <a:srgbClr val="FF6600"/>
                          </a:solidFill>
                          <a:latin typeface="Arial" pitchFamily="34" charset="0"/>
                          <a:ea typeface="UbuntuMono-Regular"/>
                          <a:cs typeface="Arial" pitchFamily="34" charset="0"/>
                        </a:rPr>
                        <a:t>4</a:t>
                      </a:r>
                      <a:r>
                        <a:rPr lang="en-US" sz="2000" dirty="0" smtClean="0">
                          <a:solidFill>
                            <a:srgbClr val="000000"/>
                          </a:solidFill>
                          <a:latin typeface="Arial" pitchFamily="34" charset="0"/>
                          <a:ea typeface="UbuntuMono-Regular"/>
                          <a:cs typeface="Arial" pitchFamily="34" charset="0"/>
                        </a:rPr>
                        <a:t>, </a:t>
                      </a:r>
                      <a:r>
                        <a:rPr lang="en-US" sz="2000" dirty="0" smtClean="0">
                          <a:solidFill>
                            <a:srgbClr val="FF6600"/>
                          </a:solidFill>
                          <a:latin typeface="Arial" pitchFamily="34" charset="0"/>
                          <a:ea typeface="UbuntuMono-Regular"/>
                          <a:cs typeface="Arial" pitchFamily="34" charset="0"/>
                        </a:rPr>
                        <a:t>5</a:t>
                      </a:r>
                      <a:r>
                        <a:rPr lang="en-US" sz="2000" dirty="0" smtClean="0">
                          <a:solidFill>
                            <a:srgbClr val="000000"/>
                          </a:solidFill>
                          <a:latin typeface="Arial" pitchFamily="34" charset="0"/>
                          <a:ea typeface="UbuntuMono-Regular"/>
                          <a:cs typeface="Arial" pitchFamily="34" charset="0"/>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sz="2000" b="1" i="0" baseline="0" dirty="0" smtClean="0">
                          <a:solidFill>
                            <a:srgbClr val="000000"/>
                          </a:solidFill>
                          <a:effectLst/>
                          <a:latin typeface="Arial" pitchFamily="34" charset="0"/>
                          <a:cs typeface="Arial" pitchFamily="34" charset="0"/>
                        </a:rPr>
                        <a:t>      </a:t>
                      </a:r>
                      <a:r>
                        <a:rPr lang="en-US" sz="2000" b="1" i="0" dirty="0" smtClean="0">
                          <a:solidFill>
                            <a:srgbClr val="006699"/>
                          </a:solidFill>
                          <a:effectLst/>
                          <a:latin typeface="UbuntuMono-Bold"/>
                        </a:rPr>
                        <a:t>Print </a:t>
                      </a:r>
                      <a:r>
                        <a:rPr lang="en-US" sz="2000" b="0" i="0" dirty="0">
                          <a:solidFill>
                            <a:srgbClr val="000088"/>
                          </a:solidFill>
                          <a:effectLst/>
                          <a:latin typeface="UbuntuMono-Regular"/>
                        </a:rPr>
                        <a:t>i </a:t>
                      </a:r>
                      <a:r>
                        <a:rPr lang="en-US" sz="2000" b="0" i="0" dirty="0" smtClean="0">
                          <a:solidFill>
                            <a:srgbClr val="000088"/>
                          </a:solidFill>
                          <a:effectLst/>
                          <a:latin typeface="UbuntuMono-Regular"/>
                        </a:rPr>
                        <a:t>         </a:t>
                      </a:r>
                      <a:r>
                        <a:rPr lang="en-US" sz="1200" b="0" i="1" dirty="0" smtClean="0">
                          <a:solidFill>
                            <a:srgbClr val="0099FF"/>
                          </a:solidFill>
                          <a:effectLst/>
                          <a:latin typeface="UbuntuMono-Italic"/>
                        </a:rPr>
                        <a:t># first line in "for i" block</a:t>
                      </a:r>
                      <a:r>
                        <a:rPr lang="en-US" sz="2000" b="0" i="0" dirty="0">
                          <a:solidFill>
                            <a:srgbClr val="000088"/>
                          </a:solidFill>
                          <a:effectLst/>
                          <a:latin typeface="UbuntuMono-Regular"/>
                        </a:rPr>
                        <a:t/>
                      </a:r>
                      <a:br>
                        <a:rPr lang="en-US" sz="2000" b="0" i="0" dirty="0">
                          <a:solidFill>
                            <a:srgbClr val="000088"/>
                          </a:solidFill>
                          <a:effectLst/>
                          <a:latin typeface="UbuntuMono-Regular"/>
                        </a:rPr>
                      </a:br>
                      <a:r>
                        <a:rPr lang="en-US" sz="2000" b="0" i="0" dirty="0" smtClean="0">
                          <a:solidFill>
                            <a:srgbClr val="000088"/>
                          </a:solidFill>
                          <a:effectLst/>
                          <a:latin typeface="UbuntuMono-Regular"/>
                        </a:rPr>
                        <a:t>      </a:t>
                      </a:r>
                      <a:r>
                        <a:rPr lang="en-US" sz="2000" b="1" i="0" dirty="0" smtClean="0">
                          <a:solidFill>
                            <a:srgbClr val="006699"/>
                          </a:solidFill>
                          <a:effectLst/>
                          <a:latin typeface="UbuntuMono-Bold"/>
                        </a:rPr>
                        <a:t>for </a:t>
                      </a:r>
                      <a:r>
                        <a:rPr lang="en-US" sz="2000" b="0" i="0" dirty="0">
                          <a:solidFill>
                            <a:srgbClr val="000088"/>
                          </a:solidFill>
                          <a:effectLst/>
                          <a:latin typeface="UbuntuMono-Regular"/>
                        </a:rPr>
                        <a:t>j </a:t>
                      </a:r>
                      <a:r>
                        <a:rPr lang="en-US" sz="2000" b="1" i="0" dirty="0">
                          <a:solidFill>
                            <a:srgbClr val="000000"/>
                          </a:solidFill>
                          <a:effectLst/>
                          <a:latin typeface="UbuntuMono-Bold"/>
                        </a:rPr>
                        <a:t>in </a:t>
                      </a:r>
                      <a:r>
                        <a:rPr lang="en-US" sz="2000" b="0" i="0" dirty="0">
                          <a:solidFill>
                            <a:srgbClr val="000000"/>
                          </a:solidFill>
                          <a:effectLst/>
                          <a:latin typeface="UbuntuMono-Regular"/>
                        </a:rPr>
                        <a:t>[</a:t>
                      </a:r>
                      <a:r>
                        <a:rPr lang="en-US" sz="2000" b="0" i="0" dirty="0">
                          <a:solidFill>
                            <a:srgbClr val="FF6600"/>
                          </a:solidFill>
                          <a:effectLst/>
                          <a:latin typeface="UbuntuMono-Regular"/>
                        </a:rPr>
                        <a:t>1</a:t>
                      </a:r>
                      <a:r>
                        <a:rPr lang="en-US" sz="2000" b="0" i="0" dirty="0">
                          <a:solidFill>
                            <a:srgbClr val="000000"/>
                          </a:solidFill>
                          <a:effectLst/>
                          <a:latin typeface="UbuntuMono-Regular"/>
                        </a:rPr>
                        <a:t>, </a:t>
                      </a:r>
                      <a:r>
                        <a:rPr lang="en-US" sz="2000" b="0" i="0" dirty="0">
                          <a:solidFill>
                            <a:srgbClr val="FF6600"/>
                          </a:solidFill>
                          <a:effectLst/>
                          <a:latin typeface="UbuntuMono-Regular"/>
                        </a:rPr>
                        <a:t>2</a:t>
                      </a:r>
                      <a:r>
                        <a:rPr lang="en-US" sz="2000" b="0" i="0" dirty="0">
                          <a:solidFill>
                            <a:srgbClr val="000000"/>
                          </a:solidFill>
                          <a:effectLst/>
                          <a:latin typeface="UbuntuMono-Regular"/>
                        </a:rPr>
                        <a:t>, </a:t>
                      </a:r>
                      <a:r>
                        <a:rPr lang="en-US" sz="2000" b="0" i="0" dirty="0">
                          <a:solidFill>
                            <a:srgbClr val="FF6600"/>
                          </a:solidFill>
                          <a:effectLst/>
                          <a:latin typeface="UbuntuMono-Regular"/>
                        </a:rPr>
                        <a:t>3</a:t>
                      </a:r>
                      <a:r>
                        <a:rPr lang="en-US" sz="2000" b="0" i="0" dirty="0">
                          <a:solidFill>
                            <a:srgbClr val="000000"/>
                          </a:solidFill>
                          <a:effectLst/>
                          <a:latin typeface="UbuntuMono-Regular"/>
                        </a:rPr>
                        <a:t>, </a:t>
                      </a:r>
                      <a:r>
                        <a:rPr lang="en-US" sz="2000" b="0" i="0" dirty="0">
                          <a:solidFill>
                            <a:srgbClr val="FF6600"/>
                          </a:solidFill>
                          <a:effectLst/>
                          <a:latin typeface="UbuntuMono-Regular"/>
                        </a:rPr>
                        <a:t>4</a:t>
                      </a:r>
                      <a:r>
                        <a:rPr lang="en-US" sz="2000" b="0" i="0" dirty="0">
                          <a:solidFill>
                            <a:srgbClr val="000000"/>
                          </a:solidFill>
                          <a:effectLst/>
                          <a:latin typeface="UbuntuMono-Regular"/>
                        </a:rPr>
                        <a:t>, </a:t>
                      </a:r>
                      <a:r>
                        <a:rPr lang="en-US" sz="2000" b="0" i="0" dirty="0">
                          <a:solidFill>
                            <a:srgbClr val="FF6600"/>
                          </a:solidFill>
                          <a:effectLst/>
                          <a:latin typeface="UbuntuMono-Regular"/>
                        </a:rPr>
                        <a:t>5</a:t>
                      </a:r>
                      <a:r>
                        <a:rPr lang="en-US" sz="2000" b="0" i="0" dirty="0">
                          <a:solidFill>
                            <a:srgbClr val="000000"/>
                          </a:solidFill>
                          <a:effectLst/>
                          <a:latin typeface="UbuntuMono-Regular"/>
                        </a:rPr>
                        <a:t>]:</a:t>
                      </a:r>
                      <a:br>
                        <a:rPr lang="en-US" sz="2000" b="0" i="0" dirty="0">
                          <a:solidFill>
                            <a:srgbClr val="000000"/>
                          </a:solidFill>
                          <a:effectLst/>
                          <a:latin typeface="UbuntuMono-Regular"/>
                        </a:rPr>
                      </a:br>
                      <a:r>
                        <a:rPr lang="en-US" sz="2000" b="0" i="0" dirty="0" smtClean="0">
                          <a:solidFill>
                            <a:srgbClr val="000000"/>
                          </a:solidFill>
                          <a:effectLst/>
                          <a:latin typeface="UbuntuMono-Regular"/>
                        </a:rPr>
                        <a:t>            </a:t>
                      </a:r>
                      <a:r>
                        <a:rPr lang="en-US" sz="2000" b="1" i="0" dirty="0" smtClean="0">
                          <a:solidFill>
                            <a:srgbClr val="006699"/>
                          </a:solidFill>
                          <a:effectLst/>
                          <a:latin typeface="UbuntuMono-Bold"/>
                        </a:rPr>
                        <a:t>print </a:t>
                      </a:r>
                      <a:r>
                        <a:rPr lang="en-US" sz="2000" b="0" i="0" dirty="0">
                          <a:solidFill>
                            <a:srgbClr val="000088"/>
                          </a:solidFill>
                          <a:effectLst/>
                          <a:latin typeface="UbuntuMono-Regular"/>
                        </a:rPr>
                        <a:t>j </a:t>
                      </a:r>
                      <a:r>
                        <a:rPr lang="en-US" sz="2000" b="0" i="0" dirty="0" smtClean="0">
                          <a:solidFill>
                            <a:srgbClr val="000088"/>
                          </a:solidFill>
                          <a:effectLst/>
                          <a:latin typeface="UbuntuMono-Regular"/>
                        </a:rPr>
                        <a:t>   </a:t>
                      </a:r>
                      <a:r>
                        <a:rPr lang="en-US" sz="1200" b="0" i="1" dirty="0" smtClean="0">
                          <a:solidFill>
                            <a:srgbClr val="0099FF"/>
                          </a:solidFill>
                          <a:effectLst/>
                          <a:latin typeface="UbuntuMono-Italic"/>
                        </a:rPr>
                        <a:t># first line in "for j" block</a:t>
                      </a:r>
                      <a:r>
                        <a:rPr lang="en-US" sz="2000" b="0" i="0" dirty="0">
                          <a:solidFill>
                            <a:srgbClr val="000088"/>
                          </a:solidFill>
                          <a:effectLst/>
                          <a:latin typeface="UbuntuMono-Regular"/>
                        </a:rPr>
                        <a:t/>
                      </a:r>
                      <a:br>
                        <a:rPr lang="en-US" sz="2000" b="0" i="0" dirty="0">
                          <a:solidFill>
                            <a:srgbClr val="000088"/>
                          </a:solidFill>
                          <a:effectLst/>
                          <a:latin typeface="UbuntuMono-Regular"/>
                        </a:rPr>
                      </a:br>
                      <a:r>
                        <a:rPr lang="en-US" sz="2000" b="0" i="0" dirty="0" smtClean="0">
                          <a:solidFill>
                            <a:srgbClr val="000088"/>
                          </a:solidFill>
                          <a:effectLst/>
                          <a:latin typeface="UbuntuMono-Regular"/>
                        </a:rPr>
                        <a:t>            </a:t>
                      </a:r>
                      <a:r>
                        <a:rPr lang="en-US" sz="2000" b="1" i="0" dirty="0" smtClean="0">
                          <a:solidFill>
                            <a:srgbClr val="006699"/>
                          </a:solidFill>
                          <a:effectLst/>
                          <a:latin typeface="UbuntuMono-Bold"/>
                        </a:rPr>
                        <a:t>print </a:t>
                      </a:r>
                      <a:r>
                        <a:rPr lang="en-US" sz="2000" b="0" i="0" dirty="0">
                          <a:solidFill>
                            <a:srgbClr val="000088"/>
                          </a:solidFill>
                          <a:effectLst/>
                          <a:latin typeface="UbuntuMono-Regular"/>
                        </a:rPr>
                        <a:t>i </a:t>
                      </a:r>
                      <a:r>
                        <a:rPr lang="en-US" sz="2000" b="0" i="0" dirty="0">
                          <a:solidFill>
                            <a:srgbClr val="555555"/>
                          </a:solidFill>
                          <a:effectLst/>
                          <a:latin typeface="UbuntuMono-Regular"/>
                        </a:rPr>
                        <a:t>+ </a:t>
                      </a:r>
                      <a:r>
                        <a:rPr lang="en-US" sz="2000" b="0" i="0" dirty="0">
                          <a:solidFill>
                            <a:srgbClr val="000088"/>
                          </a:solidFill>
                          <a:effectLst/>
                          <a:latin typeface="UbuntuMono-Regular"/>
                        </a:rPr>
                        <a:t>j </a:t>
                      </a:r>
                      <a:r>
                        <a:rPr lang="en-US" sz="1200" b="0" i="1" dirty="0" smtClean="0">
                          <a:solidFill>
                            <a:srgbClr val="0099FF"/>
                          </a:solidFill>
                          <a:effectLst/>
                          <a:latin typeface="UbuntuMono-Italic"/>
                        </a:rPr>
                        <a:t># last line in "for j" block</a:t>
                      </a:r>
                      <a:r>
                        <a:rPr lang="en-US" sz="2000" b="0" i="0" dirty="0">
                          <a:solidFill>
                            <a:srgbClr val="000088"/>
                          </a:solidFill>
                          <a:effectLst/>
                          <a:latin typeface="UbuntuMono-Regular"/>
                        </a:rPr>
                        <a:t/>
                      </a:r>
                      <a:br>
                        <a:rPr lang="en-US" sz="2000" b="0" i="0" dirty="0">
                          <a:solidFill>
                            <a:srgbClr val="000088"/>
                          </a:solidFill>
                          <a:effectLst/>
                          <a:latin typeface="UbuntuMono-Regular"/>
                        </a:rPr>
                      </a:br>
                      <a:r>
                        <a:rPr lang="en-US" sz="2000" b="0" i="0" dirty="0" smtClean="0">
                          <a:solidFill>
                            <a:srgbClr val="000088"/>
                          </a:solidFill>
                          <a:effectLst/>
                          <a:latin typeface="UbuntuMono-Regular"/>
                        </a:rPr>
                        <a:t>       </a:t>
                      </a:r>
                      <a:r>
                        <a:rPr lang="en-US" sz="2000" b="0" i="0" baseline="0" dirty="0" smtClean="0">
                          <a:solidFill>
                            <a:srgbClr val="000088"/>
                          </a:solidFill>
                          <a:effectLst/>
                          <a:latin typeface="UbuntuMono-Regular"/>
                        </a:rPr>
                        <a:t> </a:t>
                      </a:r>
                      <a:r>
                        <a:rPr lang="en-US" sz="2000" b="1" i="0" dirty="0" smtClean="0">
                          <a:solidFill>
                            <a:srgbClr val="006699"/>
                          </a:solidFill>
                          <a:effectLst/>
                          <a:latin typeface="UbuntuMono-Bold"/>
                        </a:rPr>
                        <a:t>print </a:t>
                      </a:r>
                      <a:r>
                        <a:rPr lang="en-US" sz="2000" b="0" i="0" dirty="0">
                          <a:solidFill>
                            <a:srgbClr val="000088"/>
                          </a:solidFill>
                          <a:effectLst/>
                          <a:latin typeface="UbuntuMono-Regular"/>
                        </a:rPr>
                        <a:t>i </a:t>
                      </a:r>
                      <a:r>
                        <a:rPr lang="en-US" sz="2000" b="0" i="0" dirty="0" smtClean="0">
                          <a:solidFill>
                            <a:srgbClr val="000088"/>
                          </a:solidFill>
                          <a:effectLst/>
                          <a:latin typeface="UbuntuMono-Regular"/>
                        </a:rPr>
                        <a:t>    </a:t>
                      </a:r>
                      <a:r>
                        <a:rPr lang="en-US" sz="1200" b="0" i="1" dirty="0" smtClean="0">
                          <a:solidFill>
                            <a:srgbClr val="0099FF"/>
                          </a:solidFill>
                          <a:effectLst/>
                          <a:latin typeface="UbuntuMono-Italic"/>
                        </a:rPr>
                        <a:t># last line in "for i" block</a:t>
                      </a:r>
                      <a:endParaRPr lang="en-US" sz="1200" dirty="0" smtClean="0">
                        <a:effectLst/>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2000" b="1" i="0" dirty="0" smtClean="0">
                          <a:solidFill>
                            <a:srgbClr val="006699"/>
                          </a:solidFill>
                          <a:effectLst/>
                          <a:latin typeface="UbuntuMono-Bold"/>
                        </a:rPr>
                        <a:t>print </a:t>
                      </a:r>
                      <a:r>
                        <a:rPr lang="en-US" sz="2000" b="0" i="0" dirty="0">
                          <a:solidFill>
                            <a:srgbClr val="CC3300"/>
                          </a:solidFill>
                          <a:effectLst/>
                          <a:latin typeface="UbuntuMono-Regular"/>
                        </a:rPr>
                        <a:t>"done </a:t>
                      </a:r>
                      <a:r>
                        <a:rPr lang="en-US" sz="2000" b="0" i="0" dirty="0" smtClean="0">
                          <a:solidFill>
                            <a:srgbClr val="CC3300"/>
                          </a:solidFill>
                          <a:effectLst/>
                          <a:latin typeface="UbuntuMono-Regular"/>
                        </a:rPr>
                        <a:t>looping“</a:t>
                      </a:r>
                    </a:p>
                  </a:txBody>
                  <a:tcPr marL="113697" marR="11369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8" name="Content Placeholder 7"/>
          <p:cNvSpPr>
            <a:spLocks noGrp="1"/>
          </p:cNvSpPr>
          <p:nvPr>
            <p:ph sz="half" idx="2"/>
          </p:nvPr>
        </p:nvSpPr>
        <p:spPr>
          <a:xfrm>
            <a:off x="286407" y="1447800"/>
            <a:ext cx="8305800" cy="1142999"/>
          </a:xfrm>
        </p:spPr>
        <p:txBody>
          <a:bodyPr>
            <a:normAutofit/>
          </a:bodyPr>
          <a:lstStyle/>
          <a:p>
            <a:pPr lvl="0" algn="just"/>
            <a:r>
              <a:rPr lang="en-US" dirty="0" smtClean="0">
                <a:solidFill>
                  <a:srgbClr val="242021"/>
                </a:solidFill>
                <a:ea typeface="MinionPro-Regular"/>
                <a:cs typeface="Arial" pitchFamily="34" charset="0"/>
              </a:rPr>
              <a:t>Many </a:t>
            </a:r>
            <a:r>
              <a:rPr lang="en-US" dirty="0">
                <a:solidFill>
                  <a:srgbClr val="242021"/>
                </a:solidFill>
                <a:ea typeface="MinionPro-Regular"/>
                <a:cs typeface="Arial" pitchFamily="34" charset="0"/>
              </a:rPr>
              <a:t>languages use curly braces to delimit blocks of code. Python uses indentation</a:t>
            </a:r>
            <a:r>
              <a:rPr lang="en-US" dirty="0" smtClean="0">
                <a:solidFill>
                  <a:srgbClr val="242021"/>
                </a:solidFill>
                <a:ea typeface="MinionPro-Regular"/>
                <a:cs typeface="Arial" pitchFamily="34" charset="0"/>
              </a:rPr>
              <a:t>:</a:t>
            </a:r>
            <a:endParaRPr lang="en-US" sz="4400" dirty="0" smtClean="0">
              <a:cs typeface="Arial" pitchFamily="34" charset="0"/>
            </a:endParaRPr>
          </a:p>
        </p:txBody>
      </p:sp>
      <p:sp>
        <p:nvSpPr>
          <p:cNvPr id="9" name="Rectangle 8"/>
          <p:cNvSpPr/>
          <p:nvPr/>
        </p:nvSpPr>
        <p:spPr>
          <a:xfrm>
            <a:off x="609600" y="4876800"/>
            <a:ext cx="8001000" cy="1815882"/>
          </a:xfrm>
          <a:prstGeom prst="rect">
            <a:avLst/>
          </a:prstGeom>
        </p:spPr>
        <p:txBody>
          <a:bodyPr wrap="square">
            <a:spAutoFit/>
          </a:bodyPr>
          <a:lstStyle/>
          <a:p>
            <a:pPr lvl="0" algn="just"/>
            <a:r>
              <a:rPr lang="en-US" sz="2800" dirty="0" smtClean="0">
                <a:solidFill>
                  <a:srgbClr val="242021"/>
                </a:solidFill>
                <a:latin typeface="+mn-lt"/>
                <a:ea typeface="MinionPro-Regular"/>
                <a:cs typeface="Arial" pitchFamily="34" charset="0"/>
              </a:rPr>
              <a:t>This </a:t>
            </a:r>
            <a:r>
              <a:rPr lang="en-US" sz="2800" dirty="0">
                <a:solidFill>
                  <a:srgbClr val="242021"/>
                </a:solidFill>
                <a:latin typeface="+mn-lt"/>
                <a:ea typeface="MinionPro-Regular"/>
                <a:cs typeface="Arial" pitchFamily="34" charset="0"/>
              </a:rPr>
              <a:t>makes Python code very readable, but it also means that you have to </a:t>
            </a:r>
            <a:r>
              <a:rPr lang="en-US" sz="2800" dirty="0" smtClean="0">
                <a:solidFill>
                  <a:srgbClr val="242021"/>
                </a:solidFill>
                <a:latin typeface="+mn-lt"/>
                <a:ea typeface="MinionPro-Regular"/>
                <a:cs typeface="Arial" pitchFamily="34" charset="0"/>
              </a:rPr>
              <a:t>be very careful </a:t>
            </a:r>
            <a:r>
              <a:rPr lang="en-US" sz="2800" dirty="0">
                <a:solidFill>
                  <a:srgbClr val="242021"/>
                </a:solidFill>
                <a:latin typeface="+mn-lt"/>
                <a:ea typeface="MinionPro-Regular"/>
                <a:cs typeface="Arial" pitchFamily="34" charset="0"/>
              </a:rPr>
              <a:t>with your formatting. </a:t>
            </a:r>
            <a:r>
              <a:rPr lang="en-US" sz="2800" dirty="0" smtClean="0">
                <a:solidFill>
                  <a:srgbClr val="242021"/>
                </a:solidFill>
                <a:latin typeface="+mn-lt"/>
                <a:ea typeface="MinionPro-Regular"/>
                <a:cs typeface="Arial" pitchFamily="34" charset="0"/>
              </a:rPr>
              <a:t>Whitespace </a:t>
            </a:r>
            <a:r>
              <a:rPr lang="en-US" sz="2800" dirty="0">
                <a:solidFill>
                  <a:srgbClr val="242021"/>
                </a:solidFill>
                <a:latin typeface="+mn-lt"/>
                <a:ea typeface="MinionPro-Regular"/>
                <a:cs typeface="Arial" pitchFamily="34" charset="0"/>
              </a:rPr>
              <a:t>is ignored inside </a:t>
            </a:r>
            <a:r>
              <a:rPr lang="en-US" sz="2800" dirty="0" smtClean="0">
                <a:solidFill>
                  <a:srgbClr val="242021"/>
                </a:solidFill>
                <a:latin typeface="+mn-lt"/>
                <a:ea typeface="MinionPro-Regular"/>
                <a:cs typeface="Arial" pitchFamily="34" charset="0"/>
              </a:rPr>
              <a:t>parentheses and </a:t>
            </a:r>
            <a:r>
              <a:rPr lang="en-US" sz="2800" dirty="0">
                <a:solidFill>
                  <a:srgbClr val="242021"/>
                </a:solidFill>
                <a:latin typeface="+mn-lt"/>
                <a:ea typeface="MinionPro-Regular"/>
                <a:cs typeface="Arial" pitchFamily="34" charset="0"/>
              </a:rPr>
              <a:t>brackets</a:t>
            </a:r>
            <a:r>
              <a:rPr lang="en-US" sz="2800" dirty="0">
                <a:latin typeface="+mn-lt"/>
                <a:cs typeface="Arial" pitchFamily="34" charset="0"/>
              </a:rPr>
              <a:t> </a:t>
            </a:r>
            <a:endParaRPr lang="en-US" sz="2800" dirty="0" smtClean="0">
              <a:latin typeface="+mn-lt"/>
              <a:cs typeface="Arial" pitchFamily="34" charset="0"/>
            </a:endParaRPr>
          </a:p>
        </p:txBody>
      </p:sp>
    </p:spTree>
    <p:extLst>
      <p:ext uri="{BB962C8B-B14F-4D97-AF65-F5344CB8AC3E}">
        <p14:creationId xmlns:p14="http://schemas.microsoft.com/office/powerpoint/2010/main" val="3078784821"/>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DataScience</Template>
  <TotalTime>420</TotalTime>
  <Words>1024</Words>
  <Application>Microsoft Office PowerPoint</Application>
  <PresentationFormat>On-screen Show (4:3)</PresentationFormat>
  <Paragraphs>139</Paragraphs>
  <Slides>25</Slides>
  <Notes>0</Notes>
  <HiddenSlides>0</HiddenSlides>
  <MMClips>0</MMClips>
  <ScaleCrop>false</ScaleCrop>
  <HeadingPairs>
    <vt:vector size="4" baseType="variant">
      <vt:variant>
        <vt:lpstr>Theme</vt:lpstr>
      </vt:variant>
      <vt:variant>
        <vt:i4>2</vt:i4>
      </vt:variant>
      <vt:variant>
        <vt:lpstr>Slide Titles</vt:lpstr>
      </vt:variant>
      <vt:variant>
        <vt:i4>25</vt:i4>
      </vt:variant>
    </vt:vector>
  </HeadingPairs>
  <TitlesOfParts>
    <vt:vector size="27" baseType="lpstr">
      <vt:lpstr>Custom Design</vt:lpstr>
      <vt:lpstr>Office Theme</vt:lpstr>
      <vt:lpstr>Introduction to Data Science</vt:lpstr>
      <vt:lpstr>Outline</vt:lpstr>
      <vt:lpstr>Data All Around</vt:lpstr>
      <vt:lpstr>How Much Data Do We have?</vt:lpstr>
      <vt:lpstr>Big Data</vt:lpstr>
      <vt:lpstr>Types of Data We Have</vt:lpstr>
      <vt:lpstr>What To Do With These Data?</vt:lpstr>
      <vt:lpstr>What is Data Science?</vt:lpstr>
      <vt:lpstr>What is Data Science?</vt:lpstr>
      <vt:lpstr>Data Science</vt:lpstr>
      <vt:lpstr>Data Science</vt:lpstr>
      <vt:lpstr>Real Life Examples</vt:lpstr>
      <vt:lpstr>Data Scientists</vt:lpstr>
      <vt:lpstr>Data Scientists</vt:lpstr>
      <vt:lpstr>What do Data Scientists do?</vt:lpstr>
      <vt:lpstr>Python programming</vt:lpstr>
      <vt:lpstr>Overview of Python</vt:lpstr>
      <vt:lpstr>Why Python for Data Science?</vt:lpstr>
      <vt:lpstr>Python Basics for Data Science</vt:lpstr>
      <vt:lpstr>What is a variable?</vt:lpstr>
      <vt:lpstr>Data Types &amp; Structures:</vt:lpstr>
      <vt:lpstr>Modules</vt:lpstr>
      <vt:lpstr>Input: Receiving Data from Users</vt:lpstr>
      <vt:lpstr>Output: Displaying Data to Users</vt:lpstr>
      <vt:lpstr>Whitespace Formatting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Data Science</dc:title>
  <dc:creator>kal; Kamal Al Nasr</dc:creator>
  <cp:lastModifiedBy>My Computer</cp:lastModifiedBy>
  <cp:revision>32</cp:revision>
  <dcterms:created xsi:type="dcterms:W3CDTF">2015-03-22T23:49:48Z</dcterms:created>
  <dcterms:modified xsi:type="dcterms:W3CDTF">2024-11-13T13:49:57Z</dcterms:modified>
</cp:coreProperties>
</file>